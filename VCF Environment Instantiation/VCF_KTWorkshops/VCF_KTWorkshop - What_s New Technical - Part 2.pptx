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48.xml" ContentType="application/vnd.openxmlformats-officedocument.presentationml.slideLayout+xml"/>
  <Override PartName="/ppt/slideMasters/slideMaster1.xml" ContentType="application/vnd.openxmlformats-officedocument.presentationml.slideMaster+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slideLayouts/slideLayout47.xml" ContentType="application/vnd.openxmlformats-officedocument.presentationml.slideLayou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slideLayouts/slideLayout40.xml" ContentType="application/vnd.openxmlformats-officedocument.presentationml.slideLayout+xml"/>
  <Override PartName="/ppt/notesSlides/notesSlide41.xml" ContentType="application/vnd.openxmlformats-officedocument.presentationml.notesSlide+xml"/>
  <Override PartName="/ppt/slideLayouts/slideLayout39.xml" ContentType="application/vnd.openxmlformats-officedocument.presentationml.slideLayout+xml"/>
  <Override PartName="/ppt/notesSlides/notesSlide42.xml" ContentType="application/vnd.openxmlformats-officedocument.presentationml.notesSlide+xml"/>
  <Override PartName="/ppt/slideLayouts/slideLayout38.xml" ContentType="application/vnd.openxmlformats-officedocument.presentationml.slideLayout+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slideLayouts/slideLayout37.xml" ContentType="application/vnd.openxmlformats-officedocument.presentationml.slideLayout+xml"/>
  <Override PartName="/ppt/notesSlides/notesSlide47.xml" ContentType="application/vnd.openxmlformats-officedocument.presentationml.notesSlide+xml"/>
  <Override PartName="/ppt/slideLayouts/slideLayout36.xml" ContentType="application/vnd.openxmlformats-officedocument.presentationml.slideLayout+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slideLayouts/slideLayout35.xml" ContentType="application/vnd.openxmlformats-officedocument.presentationml.slideLayout+xml"/>
  <Override PartName="/ppt/notesSlides/notesSlide50.xml" ContentType="application/vnd.openxmlformats-officedocument.presentationml.notesSlide+xml"/>
  <Override PartName="/ppt/slideLayouts/slideLayout34.xml" ContentType="application/vnd.openxmlformats-officedocument.presentationml.slideLayout+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4"/>
  </p:notesMasterIdLst>
  <p:sldIdLst>
    <p:sldId id="257" r:id="rId2"/>
    <p:sldId id="305" r:id="rId3"/>
    <p:sldId id="306" r:id="rId4"/>
    <p:sldId id="307" r:id="rId5"/>
    <p:sldId id="308" r:id="rId6"/>
    <p:sldId id="309" r:id="rId7"/>
    <p:sldId id="310" r:id="rId8"/>
    <p:sldId id="450" r:id="rId9"/>
    <p:sldId id="312" r:id="rId10"/>
    <p:sldId id="313" r:id="rId11"/>
    <p:sldId id="314" r:id="rId12"/>
    <p:sldId id="315" r:id="rId13"/>
    <p:sldId id="316" r:id="rId14"/>
    <p:sldId id="317" r:id="rId15"/>
    <p:sldId id="318" r:id="rId16"/>
    <p:sldId id="319" r:id="rId17"/>
    <p:sldId id="280" r:id="rId18"/>
    <p:sldId id="286" r:id="rId19"/>
    <p:sldId id="288" r:id="rId20"/>
    <p:sldId id="298" r:id="rId21"/>
    <p:sldId id="311" r:id="rId22"/>
    <p:sldId id="325" r:id="rId23"/>
    <p:sldId id="326" r:id="rId24"/>
    <p:sldId id="327" r:id="rId25"/>
    <p:sldId id="328" r:id="rId26"/>
    <p:sldId id="329" r:id="rId27"/>
    <p:sldId id="330" r:id="rId28"/>
    <p:sldId id="331" r:id="rId29"/>
    <p:sldId id="332" r:id="rId30"/>
    <p:sldId id="333" r:id="rId31"/>
    <p:sldId id="334" r:id="rId32"/>
    <p:sldId id="321" r:id="rId33"/>
    <p:sldId id="336" r:id="rId34"/>
    <p:sldId id="337" r:id="rId35"/>
    <p:sldId id="338" r:id="rId36"/>
    <p:sldId id="339" r:id="rId37"/>
    <p:sldId id="340" r:id="rId38"/>
    <p:sldId id="341" r:id="rId39"/>
    <p:sldId id="342" r:id="rId40"/>
    <p:sldId id="343" r:id="rId41"/>
    <p:sldId id="344" r:id="rId42"/>
    <p:sldId id="345" r:id="rId43"/>
    <p:sldId id="346" r:id="rId44"/>
    <p:sldId id="347" r:id="rId45"/>
    <p:sldId id="348" r:id="rId46"/>
    <p:sldId id="349" r:id="rId47"/>
    <p:sldId id="350" r:id="rId48"/>
    <p:sldId id="351" r:id="rId49"/>
    <p:sldId id="352" r:id="rId50"/>
    <p:sldId id="353" r:id="rId51"/>
    <p:sldId id="354" r:id="rId52"/>
    <p:sldId id="355" r:id="rId53"/>
  </p:sldIdLst>
  <p:sldSz cx="12188825"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5" roundtripDataSignature="AMtx7mhrAy3MDiDb9WM82IZCBXGCMD5J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17D872-F00E-4F84-AD6C-63B9452FA8F9}">
  <a:tblStyle styleId="{F117D872-F00E-4F84-AD6C-63B9452FA8F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9"/>
    <p:restoredTop sz="92925" autoAdjust="0"/>
  </p:normalViewPr>
  <p:slideViewPr>
    <p:cSldViewPr snapToGrid="0">
      <p:cViewPr varScale="1">
        <p:scale>
          <a:sx n="119" d="100"/>
          <a:sy n="119" d="100"/>
        </p:scale>
        <p:origin x="856" y="176"/>
      </p:cViewPr>
      <p:guideLst/>
    </p:cSldViewPr>
  </p:slideViewPr>
  <p:notesTextViewPr>
    <p:cViewPr>
      <p:scale>
        <a:sx n="1" d="1"/>
        <a:sy n="1" d="1"/>
      </p:scale>
      <p:origin x="0" y="0"/>
    </p:cViewPr>
  </p:notesTextViewPr>
  <p:sorterViewPr>
    <p:cViewPr>
      <p:scale>
        <a:sx n="1" d="1"/>
        <a:sy n="1" d="1"/>
      </p:scale>
      <p:origin x="0" y="-11232"/>
    </p:cViewPr>
  </p:sorter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138" Type="http://schemas.openxmlformats.org/officeDocument/2006/relationships/theme" Target="theme/theme1.xml"/><Relationship Id="rId141"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136"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13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142"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4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13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9"/>
        <p:cNvGrpSpPr/>
        <p:nvPr/>
      </p:nvGrpSpPr>
      <p:grpSpPr>
        <a:xfrm>
          <a:off x="0" y="0"/>
          <a:ext cx="0" cy="0"/>
          <a:chOff x="0" y="0"/>
          <a:chExt cx="0" cy="0"/>
        </a:xfrm>
      </p:grpSpPr>
      <p:sp>
        <p:nvSpPr>
          <p:cNvPr id="4230" name="Google Shape;4230;p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1" name="Google Shape;4231;p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Key Message:</a:t>
            </a:r>
            <a:endParaRPr/>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rPr>
              <a:t>Opening slide</a:t>
            </a:r>
            <a:endParaRPr/>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Talk Track: </a:t>
            </a:r>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rPr>
              <a:t>Welcome!</a:t>
            </a:r>
            <a:r>
              <a:rPr lang="en-US"/>
              <a:t>  </a:t>
            </a:r>
            <a:r>
              <a:rPr lang="en-US" sz="1200">
                <a:solidFill>
                  <a:schemeClr val="dk1"/>
                </a:solidFill>
              </a:rPr>
              <a:t>My name is &lt;name&gt; and I work in the &lt;name or organization&gt; at Broadcom. Today, I want to talk to you about the new features and functionality that have been added into VMware Cloud Foundation 9.</a:t>
            </a:r>
            <a:endParaRPr/>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Notes:</a:t>
            </a:r>
            <a:endParaRPr/>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Resources:</a:t>
            </a:r>
            <a:endParaRPr/>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rPr>
              <a:t>To gain a greater understanding of VCF features, key concepts and how they are used please refer to the VCF Technical Overview presentation.</a:t>
            </a:r>
            <a:endParaRPr/>
          </a:p>
          <a:p>
            <a:pPr marL="0" lvl="0" indent="0" algn="l" rtl="0">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rPr>
              <a:t>VMware Cloud Foundation 9.0 Release Notes: </a:t>
            </a:r>
            <a:endParaRPr/>
          </a:p>
          <a:p>
            <a:pPr marL="0" marR="0" lvl="0" indent="0" algn="l" rtl="0">
              <a:lnSpc>
                <a:spcPct val="100000"/>
              </a:lnSpc>
              <a:spcBef>
                <a:spcPts val="0"/>
              </a:spcBef>
              <a:spcAft>
                <a:spcPts val="0"/>
              </a:spcAft>
              <a:buClr>
                <a:srgbClr val="0563C1"/>
              </a:buClr>
              <a:buSzPts val="1800"/>
              <a:buFont typeface="Arial"/>
              <a:buNone/>
            </a:pPr>
            <a:r>
              <a:rPr lang="en-US" sz="1800" u="sng">
                <a:solidFill>
                  <a:srgbClr val="0563C1"/>
                </a:solidFill>
                <a:hlinkClick r:id="rId3">
                  <a:extLst>
                    <a:ext uri="{A12FA001-AC4F-418D-AE19-62706E023703}">
                      <ahyp:hlinkClr xmlns:ahyp="http://schemas.microsoft.com/office/drawing/2018/hyperlinkcolor" val="tx"/>
                    </a:ext>
                  </a:extLst>
                </a:hlinkClick>
              </a:rPr>
              <a:t>https://docs.vmware.com/en/VMware-Cloud-Foundation/index.html</a:t>
            </a:r>
            <a:r>
              <a:rPr lang="en-US" sz="1800"/>
              <a:t> </a:t>
            </a:r>
            <a:endParaRPr strike="noStrike"/>
          </a:p>
          <a:p>
            <a:pPr marL="0" lvl="0" indent="0" algn="l" rtl="0">
              <a:spcBef>
                <a:spcPts val="0"/>
              </a:spcBef>
              <a:spcAft>
                <a:spcPts val="0"/>
              </a:spcAft>
              <a:buClr>
                <a:schemeClr val="dk1"/>
              </a:buClr>
              <a:buSzPts val="1200"/>
              <a:buFont typeface="Arial"/>
              <a:buNone/>
            </a:pPr>
            <a:endParaRPr/>
          </a:p>
        </p:txBody>
      </p:sp>
      <p:sp>
        <p:nvSpPr>
          <p:cNvPr id="4232" name="Google Shape;423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4"/>
        <p:cNvGrpSpPr/>
        <p:nvPr/>
      </p:nvGrpSpPr>
      <p:grpSpPr>
        <a:xfrm>
          <a:off x="0" y="0"/>
          <a:ext cx="0" cy="0"/>
          <a:chOff x="0" y="0"/>
          <a:chExt cx="0" cy="0"/>
        </a:xfrm>
      </p:grpSpPr>
      <p:sp>
        <p:nvSpPr>
          <p:cNvPr id="7065" name="Google Shape;7065;p5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66" name="Google Shape;7066;p5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chemeClr val="dk1"/>
              </a:buClr>
              <a:buSzPts val="1200"/>
              <a:buFont typeface="Arial"/>
              <a:buNone/>
            </a:pPr>
            <a:endParaRPr/>
          </a:p>
        </p:txBody>
      </p:sp>
      <p:sp>
        <p:nvSpPr>
          <p:cNvPr id="7067" name="Google Shape;7067;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2</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2"/>
        <p:cNvGrpSpPr/>
        <p:nvPr/>
      </p:nvGrpSpPr>
      <p:grpSpPr>
        <a:xfrm>
          <a:off x="0" y="0"/>
          <a:ext cx="0" cy="0"/>
          <a:chOff x="0" y="0"/>
          <a:chExt cx="0" cy="0"/>
        </a:xfrm>
      </p:grpSpPr>
      <p:sp>
        <p:nvSpPr>
          <p:cNvPr id="7073" name="Google Shape;7073;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t>Key Message:</a:t>
            </a:r>
            <a:endParaRPr dirty="0"/>
          </a:p>
          <a:p>
            <a:pPr marL="0" lvl="0" indent="0" algn="l" rtl="0">
              <a:spcBef>
                <a:spcPts val="0"/>
              </a:spcBef>
              <a:spcAft>
                <a:spcPts val="0"/>
              </a:spcAft>
              <a:buNone/>
            </a:pPr>
            <a:r>
              <a:rPr lang="en-US" sz="1200" dirty="0"/>
              <a:t>VCF Automation empowers you to consume the cloud by offering an integrated experience  </a:t>
            </a:r>
            <a:endParaRPr dirty="0"/>
          </a:p>
          <a:p>
            <a:pPr marL="0" lvl="0" indent="0" algn="l" rtl="0">
              <a:spcBef>
                <a:spcPts val="0"/>
              </a:spcBef>
              <a:spcAft>
                <a:spcPts val="0"/>
              </a:spcAft>
              <a:buNone/>
            </a:pPr>
            <a:br>
              <a:rPr lang="en-US" sz="1200" dirty="0"/>
            </a:br>
            <a:r>
              <a:rPr lang="en-US" sz="1200" b="1" dirty="0"/>
              <a:t>Talk Track:</a:t>
            </a:r>
            <a:endParaRPr dirty="0"/>
          </a:p>
          <a:p>
            <a:pPr marL="0" lvl="0" indent="0" algn="l" rtl="0">
              <a:lnSpc>
                <a:spcPct val="100000"/>
              </a:lnSpc>
              <a:spcBef>
                <a:spcPts val="0"/>
              </a:spcBef>
              <a:spcAft>
                <a:spcPts val="0"/>
              </a:spcAft>
              <a:buClr>
                <a:schemeClr val="dk1"/>
              </a:buClr>
              <a:buSzPts val="1400"/>
              <a:buFont typeface="Arial"/>
              <a:buNone/>
            </a:pPr>
            <a:r>
              <a:rPr lang="en-US" dirty="0"/>
              <a:t>If we want to talk about what’s NEW in VCF Automation in one snapshot slide, this is it. Three key strategic pillars comprise VCF Automation.</a:t>
            </a:r>
            <a:endParaRPr dirty="0"/>
          </a:p>
          <a:p>
            <a:pPr marL="0" lvl="0" indent="0" algn="l" rtl="0">
              <a:lnSpc>
                <a:spcPct val="100000"/>
              </a:lnSpc>
              <a:spcBef>
                <a:spcPts val="0"/>
              </a:spcBef>
              <a:spcAft>
                <a:spcPts val="0"/>
              </a:spcAft>
              <a:buClr>
                <a:schemeClr val="dk1"/>
              </a:buClr>
              <a:buSzPts val="1400"/>
              <a:buFont typeface="Arial"/>
              <a:buNone/>
            </a:pPr>
            <a:endParaRPr dirty="0"/>
          </a:p>
          <a:p>
            <a:pPr marL="0" lvl="0" indent="0" algn="l" rtl="0">
              <a:lnSpc>
                <a:spcPct val="100000"/>
              </a:lnSpc>
              <a:spcBef>
                <a:spcPts val="0"/>
              </a:spcBef>
              <a:spcAft>
                <a:spcPts val="0"/>
              </a:spcAft>
              <a:buClr>
                <a:schemeClr val="dk1"/>
              </a:buClr>
              <a:buSzPts val="1400"/>
              <a:buFont typeface="Arial"/>
              <a:buNone/>
            </a:pPr>
            <a:r>
              <a:rPr lang="en-US" dirty="0"/>
              <a:t>One is </a:t>
            </a:r>
            <a:r>
              <a:rPr lang="en-US" b="0" u="sng" dirty="0"/>
              <a:t>Tenant Management</a:t>
            </a:r>
            <a:r>
              <a:rPr lang="en-US" b="0" dirty="0"/>
              <a:t>, which helps the IT Admins and the Service Providers take their VCF Infrastructure and allocate pieces of the infrastructure to tenants. These tenants could be either end customers in the case of a Service Provider or just internal lines of businesses in the case of Enterprise IT. </a:t>
            </a:r>
            <a:endParaRPr dirty="0"/>
          </a:p>
          <a:p>
            <a:pPr marL="0" lvl="0" indent="0" algn="l" rtl="0">
              <a:lnSpc>
                <a:spcPct val="100000"/>
              </a:lnSpc>
              <a:spcBef>
                <a:spcPts val="0"/>
              </a:spcBef>
              <a:spcAft>
                <a:spcPts val="0"/>
              </a:spcAft>
              <a:buClr>
                <a:schemeClr val="dk1"/>
              </a:buClr>
              <a:buSzPts val="1400"/>
              <a:buFont typeface="Arial"/>
              <a:buNone/>
            </a:pPr>
            <a:r>
              <a:rPr lang="en-US" b="0" dirty="0"/>
              <a:t>A good example would be Rackspace, a Service Provider with Coke and Pepsi as tenants. </a:t>
            </a:r>
            <a:endParaRPr dirty="0"/>
          </a:p>
          <a:p>
            <a:pPr marL="0" lvl="0" indent="0" algn="l" rtl="0">
              <a:lnSpc>
                <a:spcPct val="100000"/>
              </a:lnSpc>
              <a:spcBef>
                <a:spcPts val="0"/>
              </a:spcBef>
              <a:spcAft>
                <a:spcPts val="0"/>
              </a:spcAft>
              <a:buClr>
                <a:schemeClr val="dk1"/>
              </a:buClr>
              <a:buSzPts val="1400"/>
              <a:buFont typeface="Arial"/>
              <a:buNone/>
            </a:pPr>
            <a:endParaRPr b="0" dirty="0"/>
          </a:p>
          <a:p>
            <a:pPr marL="0" lvl="0" indent="0" algn="l" rtl="0">
              <a:lnSpc>
                <a:spcPct val="100000"/>
              </a:lnSpc>
              <a:spcBef>
                <a:spcPts val="0"/>
              </a:spcBef>
              <a:spcAft>
                <a:spcPts val="0"/>
              </a:spcAft>
              <a:buClr>
                <a:schemeClr val="dk1"/>
              </a:buClr>
              <a:buSzPts val="1400"/>
              <a:buFont typeface="Arial"/>
              <a:buNone/>
            </a:pPr>
            <a:r>
              <a:rPr lang="en-US" b="0" dirty="0"/>
              <a:t>The Service Provider can use the </a:t>
            </a:r>
            <a:r>
              <a:rPr lang="en-US" b="0" u="sng" dirty="0"/>
              <a:t>Tenant Management </a:t>
            </a:r>
            <a:r>
              <a:rPr lang="en-US" b="0" dirty="0"/>
              <a:t>functionality to carve out the VCF infrastructure among one or many tenants.</a:t>
            </a:r>
            <a:endParaRPr dirty="0"/>
          </a:p>
          <a:p>
            <a:pPr marL="0" lvl="0" indent="0" algn="l" rtl="0">
              <a:lnSpc>
                <a:spcPct val="100000"/>
              </a:lnSpc>
              <a:spcBef>
                <a:spcPts val="0"/>
              </a:spcBef>
              <a:spcAft>
                <a:spcPts val="0"/>
              </a:spcAft>
              <a:buClr>
                <a:schemeClr val="dk1"/>
              </a:buClr>
              <a:buSzPts val="1400"/>
              <a:buFont typeface="Arial"/>
              <a:buNone/>
            </a:pPr>
            <a:r>
              <a:rPr lang="en-US" b="0" dirty="0"/>
              <a:t>Another example in the enterprise use case is Broadcom IT. They are using this capability for their 26 divisions to share one extensive VCF infrastructure, and they are using </a:t>
            </a:r>
            <a:r>
              <a:rPr lang="en-US" b="0" u="sng" dirty="0"/>
              <a:t>Tenant Management</a:t>
            </a:r>
            <a:r>
              <a:rPr lang="en-US" b="0" dirty="0"/>
              <a:t> to allocate infrastructure to each division, like the VCF division, Tanzu division, ANS division, etc. </a:t>
            </a:r>
            <a:endParaRPr dirty="0"/>
          </a:p>
          <a:p>
            <a:pPr marL="0" lvl="0" indent="0" algn="l" rtl="0">
              <a:lnSpc>
                <a:spcPct val="100000"/>
              </a:lnSpc>
              <a:spcBef>
                <a:spcPts val="0"/>
              </a:spcBef>
              <a:spcAft>
                <a:spcPts val="0"/>
              </a:spcAft>
              <a:buClr>
                <a:schemeClr val="dk1"/>
              </a:buClr>
              <a:buSzPts val="1400"/>
              <a:buFont typeface="Arial"/>
              <a:buNone/>
            </a:pPr>
            <a:r>
              <a:rPr lang="en-US" b="0" dirty="0"/>
              <a:t>Beyond organizing and allocating resources in </a:t>
            </a:r>
            <a:r>
              <a:rPr lang="en-US" b="0" u="sng" dirty="0"/>
              <a:t>Tenant Management, </a:t>
            </a:r>
            <a:r>
              <a:rPr lang="en-US" b="0" dirty="0"/>
              <a:t>we also consider tenant identity providers. Each tenant may have their own identity providers.</a:t>
            </a:r>
            <a:endParaRPr dirty="0"/>
          </a:p>
          <a:p>
            <a:pPr marL="0" lvl="0" indent="0" algn="l" rtl="0">
              <a:lnSpc>
                <a:spcPct val="100000"/>
              </a:lnSpc>
              <a:spcBef>
                <a:spcPts val="0"/>
              </a:spcBef>
              <a:spcAft>
                <a:spcPts val="0"/>
              </a:spcAft>
              <a:buClr>
                <a:schemeClr val="dk1"/>
              </a:buClr>
              <a:buSzPts val="1400"/>
              <a:buFont typeface="Arial"/>
              <a:buNone/>
            </a:pPr>
            <a:endParaRPr b="0" dirty="0"/>
          </a:p>
          <a:p>
            <a:pPr marL="0" lvl="0" indent="0" algn="l" rtl="0">
              <a:lnSpc>
                <a:spcPct val="100000"/>
              </a:lnSpc>
              <a:spcBef>
                <a:spcPts val="0"/>
              </a:spcBef>
              <a:spcAft>
                <a:spcPts val="0"/>
              </a:spcAft>
              <a:buClr>
                <a:schemeClr val="dk1"/>
              </a:buClr>
              <a:buSzPts val="1400"/>
              <a:buFont typeface="Arial"/>
              <a:buNone/>
            </a:pPr>
            <a:r>
              <a:rPr lang="en-US" b="0" dirty="0"/>
              <a:t>Last but not least, once the provider allocates these tenants, they want to be able to manage how the tenants are utilizing the environment, so they can perform chargeback functions. </a:t>
            </a:r>
            <a:endParaRPr dirty="0"/>
          </a:p>
          <a:p>
            <a:pPr marL="0" lvl="0" indent="0" algn="l" rtl="0">
              <a:lnSpc>
                <a:spcPct val="100000"/>
              </a:lnSpc>
              <a:spcBef>
                <a:spcPts val="0"/>
              </a:spcBef>
              <a:spcAft>
                <a:spcPts val="0"/>
              </a:spcAft>
              <a:buClr>
                <a:schemeClr val="dk1"/>
              </a:buClr>
              <a:buSzPts val="1400"/>
              <a:buFont typeface="Arial"/>
              <a:buNone/>
            </a:pPr>
            <a:endParaRPr b="0" dirty="0"/>
          </a:p>
          <a:p>
            <a:pPr marL="0" lvl="0" indent="0" algn="l" rtl="0">
              <a:lnSpc>
                <a:spcPct val="100000"/>
              </a:lnSpc>
              <a:spcBef>
                <a:spcPts val="0"/>
              </a:spcBef>
              <a:spcAft>
                <a:spcPts val="0"/>
              </a:spcAft>
              <a:buClr>
                <a:schemeClr val="dk1"/>
              </a:buClr>
              <a:buSzPts val="1400"/>
              <a:buFont typeface="Arial"/>
              <a:buNone/>
            </a:pPr>
            <a:r>
              <a:rPr lang="en-US" b="0" dirty="0"/>
              <a:t>The middle pillar is </a:t>
            </a:r>
            <a:r>
              <a:rPr lang="en-US" b="0" u="sng" dirty="0"/>
              <a:t>Cloud Governance.</a:t>
            </a:r>
            <a:endParaRPr dirty="0"/>
          </a:p>
          <a:p>
            <a:pPr marL="0" lvl="0" indent="0" algn="l" rtl="0">
              <a:lnSpc>
                <a:spcPct val="100000"/>
              </a:lnSpc>
              <a:spcBef>
                <a:spcPts val="0"/>
              </a:spcBef>
              <a:spcAft>
                <a:spcPts val="0"/>
              </a:spcAft>
              <a:buClr>
                <a:schemeClr val="dk1"/>
              </a:buClr>
              <a:buSzPts val="1400"/>
              <a:buFont typeface="Arial"/>
              <a:buNone/>
            </a:pPr>
            <a:r>
              <a:rPr lang="en-US" b="0" u="sng" dirty="0"/>
              <a:t>Cloud Governance </a:t>
            </a:r>
            <a:r>
              <a:rPr lang="en-US" b="0" dirty="0"/>
              <a:t>is all about the tenants or the lines of business admins. Once they receive the allocated infrastructure, they can apply governance policies for their different application teams.</a:t>
            </a:r>
            <a:endParaRPr dirty="0"/>
          </a:p>
          <a:p>
            <a:pPr marL="0" lvl="0" indent="0" algn="l" rtl="0">
              <a:lnSpc>
                <a:spcPct val="100000"/>
              </a:lnSpc>
              <a:spcBef>
                <a:spcPts val="0"/>
              </a:spcBef>
              <a:spcAft>
                <a:spcPts val="0"/>
              </a:spcAft>
              <a:buClr>
                <a:schemeClr val="dk1"/>
              </a:buClr>
              <a:buSzPts val="1400"/>
              <a:buFont typeface="Arial"/>
              <a:buNone/>
            </a:pPr>
            <a:r>
              <a:rPr lang="en-US" b="0" dirty="0"/>
              <a:t>This could be quotas, leases, naming, and even resource level policies. Another part of governance among application team admins would be enforcing only specific configuration workloads being provisioned by their end users. They don’t want their end user to be provisioning anything they want.</a:t>
            </a:r>
            <a:endParaRPr dirty="0"/>
          </a:p>
          <a:p>
            <a:pPr marL="0" lvl="0" indent="0" algn="l" rtl="0">
              <a:lnSpc>
                <a:spcPct val="100000"/>
              </a:lnSpc>
              <a:spcBef>
                <a:spcPts val="0"/>
              </a:spcBef>
              <a:spcAft>
                <a:spcPts val="0"/>
              </a:spcAft>
              <a:buClr>
                <a:schemeClr val="dk1"/>
              </a:buClr>
              <a:buSzPts val="1400"/>
              <a:buFont typeface="Arial"/>
              <a:buNone/>
            </a:pPr>
            <a:r>
              <a:rPr lang="en-US" b="0" dirty="0"/>
              <a:t>The application team admins may wish to create a blueprint that mandates you must have these kinds of VMs configured in a specific manner, with a particular load balancer connected to it, and the software to install. </a:t>
            </a:r>
            <a:endParaRPr dirty="0"/>
          </a:p>
          <a:p>
            <a:pPr marL="0" lvl="0" indent="0" algn="l" rtl="0">
              <a:lnSpc>
                <a:spcPct val="100000"/>
              </a:lnSpc>
              <a:spcBef>
                <a:spcPts val="0"/>
              </a:spcBef>
              <a:spcAft>
                <a:spcPts val="0"/>
              </a:spcAft>
              <a:buClr>
                <a:schemeClr val="dk1"/>
              </a:buClr>
              <a:buSzPts val="1400"/>
              <a:buFont typeface="Arial"/>
              <a:buNone/>
            </a:pPr>
            <a:endParaRPr b="0" dirty="0"/>
          </a:p>
          <a:p>
            <a:pPr marL="0" lvl="0" indent="0" algn="l" rtl="0">
              <a:lnSpc>
                <a:spcPct val="100000"/>
              </a:lnSpc>
              <a:spcBef>
                <a:spcPts val="0"/>
              </a:spcBef>
              <a:spcAft>
                <a:spcPts val="0"/>
              </a:spcAft>
              <a:buClr>
                <a:schemeClr val="dk1"/>
              </a:buClr>
              <a:buSzPts val="1400"/>
              <a:buFont typeface="Arial"/>
              <a:buNone/>
            </a:pPr>
            <a:r>
              <a:rPr lang="en-US" b="0" dirty="0"/>
              <a:t>So, you can define a blueprint and then publish it as a catalog item for self-service consumption, which is a form of governance that our customers love today.</a:t>
            </a:r>
            <a:endParaRPr dirty="0"/>
          </a:p>
          <a:p>
            <a:pPr marL="0" lvl="0" indent="0" algn="l" rtl="0">
              <a:lnSpc>
                <a:spcPct val="100000"/>
              </a:lnSpc>
              <a:spcBef>
                <a:spcPts val="0"/>
              </a:spcBef>
              <a:spcAft>
                <a:spcPts val="0"/>
              </a:spcAft>
              <a:buClr>
                <a:schemeClr val="dk1"/>
              </a:buClr>
              <a:buSzPts val="1400"/>
              <a:buFont typeface="Arial"/>
              <a:buNone/>
            </a:pPr>
            <a:endParaRPr b="0" dirty="0"/>
          </a:p>
          <a:p>
            <a:pPr marL="0" lvl="0" indent="0" algn="l" rtl="0">
              <a:lnSpc>
                <a:spcPct val="100000"/>
              </a:lnSpc>
              <a:spcBef>
                <a:spcPts val="0"/>
              </a:spcBef>
              <a:spcAft>
                <a:spcPts val="0"/>
              </a:spcAft>
              <a:buClr>
                <a:schemeClr val="dk1"/>
              </a:buClr>
              <a:buSzPts val="1400"/>
              <a:buFont typeface="Arial"/>
              <a:buNone/>
            </a:pPr>
            <a:r>
              <a:rPr lang="en-US" b="0" dirty="0"/>
              <a:t>The third piece of governance is around workflow orchestration. If you think about any kind of provisioning VMs or Kubernetes clusters or anything in the cloud, it’s not a standalone thing. Every VM that is provisioned inevitably requires you to orchestrate many workflows. It could be registering the VM in a CMDB and integrating it with other software. We see this as a norm in every company where they have some workflow orchestration that is required as part of their provisioning process.</a:t>
            </a:r>
            <a:endParaRPr dirty="0"/>
          </a:p>
          <a:p>
            <a:pPr marL="0" lvl="0" indent="0" algn="l" rtl="0">
              <a:lnSpc>
                <a:spcPct val="100000"/>
              </a:lnSpc>
              <a:spcBef>
                <a:spcPts val="0"/>
              </a:spcBef>
              <a:spcAft>
                <a:spcPts val="0"/>
              </a:spcAft>
              <a:buClr>
                <a:schemeClr val="dk1"/>
              </a:buClr>
              <a:buSzPts val="1400"/>
              <a:buFont typeface="Arial"/>
              <a:buNone/>
            </a:pPr>
            <a:endParaRPr b="0" dirty="0"/>
          </a:p>
          <a:p>
            <a:pPr marL="0" lvl="0" indent="0" algn="l" rtl="0">
              <a:lnSpc>
                <a:spcPct val="100000"/>
              </a:lnSpc>
              <a:spcBef>
                <a:spcPts val="0"/>
              </a:spcBef>
              <a:spcAft>
                <a:spcPts val="0"/>
              </a:spcAft>
              <a:buClr>
                <a:schemeClr val="dk1"/>
              </a:buClr>
              <a:buSzPts val="1400"/>
              <a:buFont typeface="Arial"/>
              <a:buNone/>
            </a:pPr>
            <a:r>
              <a:rPr lang="en-US" b="0" dirty="0"/>
              <a:t>The last pillar, the most important from my perspective, is the </a:t>
            </a:r>
            <a:r>
              <a:rPr lang="en-US" b="0" u="sng" dirty="0"/>
              <a:t>End User Experience</a:t>
            </a:r>
            <a:r>
              <a:rPr lang="en-US" b="0" dirty="0"/>
              <a:t>.</a:t>
            </a:r>
            <a:endParaRPr dirty="0"/>
          </a:p>
          <a:p>
            <a:pPr marL="0" lvl="0" indent="0" algn="l" rtl="0">
              <a:lnSpc>
                <a:spcPct val="100000"/>
              </a:lnSpc>
              <a:spcBef>
                <a:spcPts val="0"/>
              </a:spcBef>
              <a:spcAft>
                <a:spcPts val="0"/>
              </a:spcAft>
              <a:buClr>
                <a:schemeClr val="dk1"/>
              </a:buClr>
              <a:buSzPts val="1400"/>
              <a:buFont typeface="Arial"/>
              <a:buNone/>
            </a:pPr>
            <a:r>
              <a:rPr lang="en-US" b="0" dirty="0"/>
              <a:t>The End User we mentioned before gets a self-service catalog-based experience of curated blueprint content from the providers, the line of business admins, or the application team admins. In addition, these end users, for the first time, also get a public cloud-like IaaS surface for VCF. When they enter the VCF private cloud organization portal, they automatically start seeing IaaS services like virtual machine provisioning, Kubernetes provisioning, network, etc. </a:t>
            </a:r>
            <a:endParaRPr dirty="0"/>
          </a:p>
          <a:p>
            <a:pPr marL="0" lvl="0" indent="0" algn="l" rtl="0">
              <a:lnSpc>
                <a:spcPct val="100000"/>
              </a:lnSpc>
              <a:spcBef>
                <a:spcPts val="0"/>
              </a:spcBef>
              <a:spcAft>
                <a:spcPts val="0"/>
              </a:spcAft>
              <a:buClr>
                <a:schemeClr val="dk1"/>
              </a:buClr>
              <a:buSzPts val="1400"/>
              <a:buFont typeface="Arial"/>
              <a:buNone/>
            </a:pPr>
            <a:endParaRPr b="0" dirty="0"/>
          </a:p>
          <a:p>
            <a:pPr marL="0" lvl="0" indent="0" algn="l" rtl="0">
              <a:lnSpc>
                <a:spcPct val="100000"/>
              </a:lnSpc>
              <a:spcBef>
                <a:spcPts val="0"/>
              </a:spcBef>
              <a:spcAft>
                <a:spcPts val="0"/>
              </a:spcAft>
              <a:buClr>
                <a:schemeClr val="dk1"/>
              </a:buClr>
              <a:buSzPts val="1400"/>
              <a:buFont typeface="Arial"/>
              <a:buNone/>
            </a:pPr>
            <a:r>
              <a:rPr lang="en-US" b="0" dirty="0"/>
              <a:t>With this </a:t>
            </a:r>
            <a:r>
              <a:rPr lang="en-US" b="0" u="sng" dirty="0"/>
              <a:t>End User Experience</a:t>
            </a:r>
            <a:r>
              <a:rPr lang="en-US" b="1" dirty="0"/>
              <a:t>, </a:t>
            </a:r>
            <a:r>
              <a:rPr lang="en-US" b="0" dirty="0"/>
              <a:t>we offer a wide range of extensible services like object storage, data services, and backup, with the vSphere supervisor providing this capability. We take the power of the supervisor-based services and expose them to the end users through VCF Automation.</a:t>
            </a:r>
            <a:endParaRPr dirty="0"/>
          </a:p>
          <a:p>
            <a:pPr marL="0" lvl="0" indent="0" algn="l" rtl="0">
              <a:lnSpc>
                <a:spcPct val="100000"/>
              </a:lnSpc>
              <a:spcBef>
                <a:spcPts val="0"/>
              </a:spcBef>
              <a:spcAft>
                <a:spcPts val="0"/>
              </a:spcAft>
              <a:buClr>
                <a:schemeClr val="dk1"/>
              </a:buClr>
              <a:buSzPts val="1400"/>
              <a:buFont typeface="Arial"/>
              <a:buNone/>
            </a:pPr>
            <a:endParaRPr b="0" dirty="0"/>
          </a:p>
          <a:p>
            <a:pPr marL="0" lvl="0" indent="0" algn="l" rtl="0">
              <a:lnSpc>
                <a:spcPct val="100000"/>
              </a:lnSpc>
              <a:spcBef>
                <a:spcPts val="0"/>
              </a:spcBef>
              <a:spcAft>
                <a:spcPts val="0"/>
              </a:spcAft>
              <a:buClr>
                <a:schemeClr val="dk1"/>
              </a:buClr>
              <a:buSzPts val="1400"/>
              <a:buFont typeface="Arial"/>
              <a:buNone/>
            </a:pPr>
            <a:r>
              <a:rPr lang="en-US" b="0" dirty="0"/>
              <a:t>So, looking at these three pillars, you will know that it’s not just an incremental upgrade. This brings together the tenant management, governance, projects, and blueprint capabilities, along with the new supervisor-based capabilities in vSphere for the end users. All of this put together is the new VCF Automation.</a:t>
            </a:r>
            <a:endParaRPr dirty="0"/>
          </a:p>
          <a:p>
            <a:pPr marL="0" lvl="0" indent="0" algn="l" rtl="0">
              <a:lnSpc>
                <a:spcPct val="100000"/>
              </a:lnSpc>
              <a:spcBef>
                <a:spcPts val="0"/>
              </a:spcBef>
              <a:spcAft>
                <a:spcPts val="0"/>
              </a:spcAft>
              <a:buClr>
                <a:schemeClr val="dk1"/>
              </a:buClr>
              <a:buSzPts val="1400"/>
              <a:buFont typeface="Arial"/>
              <a:buNone/>
            </a:pPr>
            <a:endParaRPr sz="1200" b="1" dirty="0">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dirty="0">
                <a:latin typeface="Arial"/>
                <a:ea typeface="Arial"/>
                <a:cs typeface="Arial"/>
                <a:sym typeface="Arial"/>
              </a:rPr>
              <a:t>Notes:</a:t>
            </a:r>
            <a:endParaRPr b="1" dirty="0">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r>
              <a:rPr lang="en-US" b="0" u="sng" dirty="0"/>
              <a:t>Tenant Management</a:t>
            </a:r>
            <a:endParaRPr dirty="0"/>
          </a:p>
          <a:p>
            <a:pPr marL="457200" lvl="0" indent="-304800" algn="l" rtl="0">
              <a:lnSpc>
                <a:spcPct val="100000"/>
              </a:lnSpc>
              <a:spcBef>
                <a:spcPts val="0"/>
              </a:spcBef>
              <a:spcAft>
                <a:spcPts val="0"/>
              </a:spcAft>
              <a:buClr>
                <a:schemeClr val="dk1"/>
              </a:buClr>
              <a:buSzPts val="1200"/>
              <a:buFont typeface="Arial"/>
              <a:buAutoNum type="arabicPeriod"/>
            </a:pPr>
            <a:r>
              <a:rPr lang="en-US" b="0" u="sng" dirty="0"/>
              <a:t>Organizing and Allocating Tenant Resources</a:t>
            </a:r>
            <a:endParaRPr dirty="0"/>
          </a:p>
          <a:p>
            <a:pPr marL="838200" lvl="1" indent="-228600" algn="l" rtl="0">
              <a:lnSpc>
                <a:spcPct val="100000"/>
              </a:lnSpc>
              <a:spcBef>
                <a:spcPts val="0"/>
              </a:spcBef>
              <a:spcAft>
                <a:spcPts val="0"/>
              </a:spcAft>
              <a:buClr>
                <a:schemeClr val="dk1"/>
              </a:buClr>
              <a:buSzPts val="1200"/>
              <a:buFont typeface="Arial"/>
              <a:buAutoNum type="alphaLcPeriod"/>
            </a:pPr>
            <a:r>
              <a:rPr lang="en-US" dirty="0"/>
              <a:t>VMware Cloud Director provides embedded tenant management capabilities, enabling seamless resource allocation for tenants across your cloud environment.</a:t>
            </a:r>
            <a:endParaRPr dirty="0"/>
          </a:p>
          <a:p>
            <a:pPr marL="457200" lvl="0" indent="-304800" algn="l" rtl="0">
              <a:lnSpc>
                <a:spcPct val="100000"/>
              </a:lnSpc>
              <a:spcBef>
                <a:spcPts val="0"/>
              </a:spcBef>
              <a:spcAft>
                <a:spcPts val="0"/>
              </a:spcAft>
              <a:buClr>
                <a:schemeClr val="dk1"/>
              </a:buClr>
              <a:buSzPts val="1200"/>
              <a:buFont typeface="Arial"/>
              <a:buAutoNum type="arabicPeriod"/>
            </a:pPr>
            <a:r>
              <a:rPr lang="en-US" b="0" u="sng" dirty="0"/>
              <a:t>Tenant / Line of Business Admin Identity Management</a:t>
            </a:r>
            <a:endParaRPr dirty="0"/>
          </a:p>
          <a:p>
            <a:pPr marL="609600" lvl="1" indent="0" algn="l" rtl="0">
              <a:lnSpc>
                <a:spcPct val="100000"/>
              </a:lnSpc>
              <a:spcBef>
                <a:spcPts val="0"/>
              </a:spcBef>
              <a:spcAft>
                <a:spcPts val="0"/>
              </a:spcAft>
              <a:buClr>
                <a:schemeClr val="dk1"/>
              </a:buClr>
              <a:buSzPts val="1200"/>
              <a:buFont typeface="Arial"/>
              <a:buNone/>
            </a:pPr>
            <a:r>
              <a:rPr lang="en-US" dirty="0"/>
              <a:t>Ensure secure and flexible user management with:</a:t>
            </a:r>
            <a:endParaRPr dirty="0"/>
          </a:p>
          <a:p>
            <a:pPr marL="838200" marR="0" lvl="1" indent="-228600" algn="l" rtl="0">
              <a:lnSpc>
                <a:spcPct val="100000"/>
              </a:lnSpc>
              <a:spcBef>
                <a:spcPts val="0"/>
              </a:spcBef>
              <a:spcAft>
                <a:spcPts val="0"/>
              </a:spcAft>
              <a:buClr>
                <a:schemeClr val="dk1"/>
              </a:buClr>
              <a:buSzPts val="1200"/>
              <a:buFont typeface="Arial"/>
              <a:buAutoNum type="alphaLcPeriod"/>
            </a:pPr>
            <a:r>
              <a:rPr lang="en-US" b="0" u="none" dirty="0"/>
              <a:t>Federated Identity: Single sign-on capabilities across the VCF components.</a:t>
            </a:r>
            <a:endParaRPr dirty="0"/>
          </a:p>
          <a:p>
            <a:pPr marL="838200" lvl="1" indent="-228600" algn="l" rtl="0">
              <a:lnSpc>
                <a:spcPct val="100000"/>
              </a:lnSpc>
              <a:spcBef>
                <a:spcPts val="0"/>
              </a:spcBef>
              <a:spcAft>
                <a:spcPts val="0"/>
              </a:spcAft>
              <a:buClr>
                <a:schemeClr val="dk1"/>
              </a:buClr>
              <a:buSzPts val="1200"/>
              <a:buFont typeface="Arial"/>
              <a:buAutoNum type="alphaLcPeriod"/>
            </a:pPr>
            <a:r>
              <a:rPr lang="en-US" b="0" u="none" dirty="0"/>
              <a:t>Groups: Simplified management of user groups for policy enforcement.</a:t>
            </a:r>
            <a:endParaRPr dirty="0"/>
          </a:p>
          <a:p>
            <a:pPr marL="838200" lvl="1" indent="-228600" algn="l" rtl="0">
              <a:lnSpc>
                <a:spcPct val="100000"/>
              </a:lnSpc>
              <a:spcBef>
                <a:spcPts val="0"/>
              </a:spcBef>
              <a:spcAft>
                <a:spcPts val="0"/>
              </a:spcAft>
              <a:buClr>
                <a:schemeClr val="dk1"/>
              </a:buClr>
              <a:buSzPts val="1200"/>
              <a:buFont typeface="Arial"/>
              <a:buAutoNum type="alphaLcPeriod"/>
            </a:pPr>
            <a:r>
              <a:rPr lang="en-US" b="0" u="none" dirty="0"/>
              <a:t>Custom Roles: Tailor access </a:t>
            </a:r>
            <a:r>
              <a:rPr lang="en-US" dirty="0"/>
              <a:t>control to meet specific tenant or business requirements.</a:t>
            </a:r>
            <a:endParaRPr dirty="0"/>
          </a:p>
          <a:p>
            <a:pPr marL="457200" lvl="0" indent="-304800" algn="l" rtl="0">
              <a:lnSpc>
                <a:spcPct val="100000"/>
              </a:lnSpc>
              <a:spcBef>
                <a:spcPts val="0"/>
              </a:spcBef>
              <a:spcAft>
                <a:spcPts val="0"/>
              </a:spcAft>
              <a:buClr>
                <a:schemeClr val="dk1"/>
              </a:buClr>
              <a:buSzPts val="1200"/>
              <a:buFont typeface="Arial"/>
              <a:buAutoNum type="arabicPeriod" startAt="3"/>
            </a:pPr>
            <a:r>
              <a:rPr lang="en-US" b="0" u="sng" dirty="0"/>
              <a:t>Tenant Operations</a:t>
            </a:r>
            <a:endParaRPr dirty="0"/>
          </a:p>
          <a:p>
            <a:pPr marL="609600" lvl="1" indent="0" algn="l" rtl="0">
              <a:lnSpc>
                <a:spcPct val="100000"/>
              </a:lnSpc>
              <a:spcBef>
                <a:spcPts val="0"/>
              </a:spcBef>
              <a:spcAft>
                <a:spcPts val="0"/>
              </a:spcAft>
              <a:buClr>
                <a:schemeClr val="dk1"/>
              </a:buClr>
              <a:buSzPts val="1200"/>
              <a:buFont typeface="Arial"/>
              <a:buNone/>
            </a:pPr>
            <a:r>
              <a:rPr lang="en-US" dirty="0"/>
              <a:t>Streamline operational management through:</a:t>
            </a:r>
            <a:endParaRPr dirty="0"/>
          </a:p>
          <a:p>
            <a:pPr marL="838200" lvl="1" indent="-228600" algn="l" rtl="0">
              <a:lnSpc>
                <a:spcPct val="100000"/>
              </a:lnSpc>
              <a:spcBef>
                <a:spcPts val="0"/>
              </a:spcBef>
              <a:spcAft>
                <a:spcPts val="0"/>
              </a:spcAft>
              <a:buClr>
                <a:schemeClr val="dk1"/>
              </a:buClr>
              <a:buSzPts val="1200"/>
              <a:buFont typeface="Arial"/>
              <a:buAutoNum type="alphaLcPeriod"/>
            </a:pPr>
            <a:r>
              <a:rPr lang="en-US" b="0" dirty="0"/>
              <a:t>Out of the Box Operations: Access predefined operational workflows for smooth and quick consumption.</a:t>
            </a:r>
            <a:endParaRPr dirty="0"/>
          </a:p>
          <a:p>
            <a:pPr marL="838200" lvl="1" indent="-228600" algn="l" rtl="0">
              <a:lnSpc>
                <a:spcPct val="100000"/>
              </a:lnSpc>
              <a:spcBef>
                <a:spcPts val="0"/>
              </a:spcBef>
              <a:spcAft>
                <a:spcPts val="0"/>
              </a:spcAft>
              <a:buClr>
                <a:schemeClr val="dk1"/>
              </a:buClr>
              <a:buSzPts val="1200"/>
              <a:buFont typeface="Arial"/>
              <a:buAutoNum type="alphaLcPeriod"/>
            </a:pPr>
            <a:r>
              <a:rPr lang="en-US" b="0" dirty="0"/>
              <a:t>Capacity and Cost Management: Monitor and optimize cloud resource usage, ensuring efficient utilization and cost savings.</a:t>
            </a:r>
            <a:endParaRPr dirty="0"/>
          </a:p>
          <a:p>
            <a:pPr marL="838200" lvl="1" indent="-228600" algn="l" rtl="0">
              <a:lnSpc>
                <a:spcPct val="100000"/>
              </a:lnSpc>
              <a:spcBef>
                <a:spcPts val="0"/>
              </a:spcBef>
              <a:spcAft>
                <a:spcPts val="0"/>
              </a:spcAft>
              <a:buClr>
                <a:schemeClr val="dk1"/>
              </a:buClr>
              <a:buSzPts val="1200"/>
              <a:buFont typeface="Arial"/>
              <a:buAutoNum type="alphaLcPeriod"/>
            </a:pPr>
            <a:r>
              <a:rPr lang="en-US" b="0" dirty="0"/>
              <a:t>Chargeback: Implement </a:t>
            </a:r>
            <a:r>
              <a:rPr lang="en-US" dirty="0"/>
              <a:t>chargeback mechanisms to accurately allocate costs back to business units or tenants.</a:t>
            </a:r>
            <a:endParaRPr dirty="0"/>
          </a:p>
          <a:p>
            <a:pPr marL="0" lvl="0" indent="0" algn="l" rtl="0">
              <a:lnSpc>
                <a:spcPct val="100000"/>
              </a:lnSpc>
              <a:spcBef>
                <a:spcPts val="0"/>
              </a:spcBef>
              <a:spcAft>
                <a:spcPts val="0"/>
              </a:spcAft>
              <a:buClr>
                <a:schemeClr val="dk1"/>
              </a:buClr>
              <a:buSzPts val="1400"/>
              <a:buFont typeface="Arial"/>
              <a:buNone/>
            </a:pPr>
            <a:endParaRPr b="1" dirty="0"/>
          </a:p>
          <a:p>
            <a:pPr marL="0" lvl="0" indent="0" algn="l" rtl="0">
              <a:lnSpc>
                <a:spcPct val="100000"/>
              </a:lnSpc>
              <a:spcBef>
                <a:spcPts val="0"/>
              </a:spcBef>
              <a:spcAft>
                <a:spcPts val="0"/>
              </a:spcAft>
              <a:buClr>
                <a:schemeClr val="dk1"/>
              </a:buClr>
              <a:buSzPts val="1400"/>
              <a:buFont typeface="Arial"/>
              <a:buNone/>
            </a:pPr>
            <a:r>
              <a:rPr lang="en-US" b="0" u="sng" dirty="0"/>
              <a:t>Governance and Policies</a:t>
            </a:r>
            <a:endParaRPr dirty="0"/>
          </a:p>
          <a:p>
            <a:pPr marL="457200" lvl="0" indent="-304800" algn="l" rtl="0">
              <a:lnSpc>
                <a:spcPct val="100000"/>
              </a:lnSpc>
              <a:spcBef>
                <a:spcPts val="0"/>
              </a:spcBef>
              <a:spcAft>
                <a:spcPts val="0"/>
              </a:spcAft>
              <a:buClr>
                <a:schemeClr val="dk1"/>
              </a:buClr>
              <a:buSzPts val="1200"/>
              <a:buFont typeface="Arial"/>
              <a:buAutoNum type="arabicPeriod"/>
            </a:pPr>
            <a:r>
              <a:rPr lang="en-US" b="0" u="sng" dirty="0"/>
              <a:t>Governance Policies</a:t>
            </a:r>
            <a:endParaRPr dirty="0"/>
          </a:p>
          <a:p>
            <a:pPr marL="609600" lvl="1" indent="0" algn="l" rtl="0">
              <a:lnSpc>
                <a:spcPct val="100000"/>
              </a:lnSpc>
              <a:spcBef>
                <a:spcPts val="0"/>
              </a:spcBef>
              <a:spcAft>
                <a:spcPts val="0"/>
              </a:spcAft>
              <a:buClr>
                <a:schemeClr val="dk1"/>
              </a:buClr>
              <a:buSzPts val="1200"/>
              <a:buFont typeface="Arial"/>
              <a:buNone/>
            </a:pPr>
            <a:r>
              <a:rPr lang="en-US" dirty="0"/>
              <a:t>Enforce critical policies for:</a:t>
            </a:r>
            <a:endParaRPr dirty="0"/>
          </a:p>
          <a:p>
            <a:pPr marL="838200" lvl="1" indent="-228600" algn="l" rtl="0">
              <a:lnSpc>
                <a:spcPct val="100000"/>
              </a:lnSpc>
              <a:spcBef>
                <a:spcPts val="0"/>
              </a:spcBef>
              <a:spcAft>
                <a:spcPts val="0"/>
              </a:spcAft>
              <a:buClr>
                <a:schemeClr val="dk1"/>
              </a:buClr>
              <a:buSzPts val="1200"/>
              <a:buFont typeface="Arial"/>
              <a:buAutoNum type="alphaLcPeriod"/>
            </a:pPr>
            <a:r>
              <a:rPr lang="en-US" b="0" dirty="0"/>
              <a:t>Quotas, Leases, Naming, and Showback: Manage resource consumption, naming conventions, and visibility into usage for accountability.</a:t>
            </a:r>
            <a:endParaRPr b="0" i="0" dirty="0"/>
          </a:p>
          <a:p>
            <a:pPr marL="457200" lvl="0" indent="-304800" algn="l" rtl="0">
              <a:lnSpc>
                <a:spcPct val="100000"/>
              </a:lnSpc>
              <a:spcBef>
                <a:spcPts val="0"/>
              </a:spcBef>
              <a:spcAft>
                <a:spcPts val="0"/>
              </a:spcAft>
              <a:buClr>
                <a:schemeClr val="dk1"/>
              </a:buClr>
              <a:buSzPts val="1200"/>
              <a:buFont typeface="Arial"/>
              <a:buAutoNum type="arabicPeriod" startAt="2"/>
            </a:pPr>
            <a:r>
              <a:rPr lang="en-US" b="0" dirty="0"/>
              <a:t>Application Blueprints</a:t>
            </a:r>
            <a:endParaRPr dirty="0"/>
          </a:p>
          <a:p>
            <a:pPr marL="609600" lvl="1" indent="0" algn="l" rtl="0">
              <a:lnSpc>
                <a:spcPct val="100000"/>
              </a:lnSpc>
              <a:spcBef>
                <a:spcPts val="0"/>
              </a:spcBef>
              <a:spcAft>
                <a:spcPts val="0"/>
              </a:spcAft>
              <a:buClr>
                <a:schemeClr val="dk1"/>
              </a:buClr>
              <a:buSzPts val="1200"/>
              <a:buFont typeface="Arial"/>
              <a:buNone/>
            </a:pPr>
            <a:r>
              <a:rPr lang="en-US" b="0" dirty="0"/>
              <a:t>Simplify application deployment and management with pre-defined templates for:</a:t>
            </a:r>
            <a:endParaRPr dirty="0"/>
          </a:p>
          <a:p>
            <a:pPr marL="914400" lvl="1" indent="-304800" algn="l" rtl="0">
              <a:lnSpc>
                <a:spcPct val="100000"/>
              </a:lnSpc>
              <a:spcBef>
                <a:spcPts val="0"/>
              </a:spcBef>
              <a:spcAft>
                <a:spcPts val="0"/>
              </a:spcAft>
              <a:buClr>
                <a:schemeClr val="dk1"/>
              </a:buClr>
              <a:buSzPts val="1200"/>
              <a:buFont typeface="Arial"/>
              <a:buAutoNum type="alphaLcPeriod"/>
            </a:pPr>
            <a:r>
              <a:rPr lang="en-US" b="0" dirty="0"/>
              <a:t>Traditional Apps, Modern Apps, and AI/ML Applications: Support </a:t>
            </a:r>
            <a:r>
              <a:rPr lang="en-US" dirty="0"/>
              <a:t>for both legacy applications and modern, dynamic workloads.</a:t>
            </a:r>
            <a:endParaRPr i="0" dirty="0"/>
          </a:p>
          <a:p>
            <a:pPr marL="457200" lvl="0" indent="-304800" algn="l" rtl="0">
              <a:lnSpc>
                <a:spcPct val="100000"/>
              </a:lnSpc>
              <a:spcBef>
                <a:spcPts val="0"/>
              </a:spcBef>
              <a:spcAft>
                <a:spcPts val="0"/>
              </a:spcAft>
              <a:buClr>
                <a:schemeClr val="dk1"/>
              </a:buClr>
              <a:buSzPts val="1200"/>
              <a:buFont typeface="Arial"/>
              <a:buAutoNum type="arabicPeriod" startAt="3"/>
            </a:pPr>
            <a:r>
              <a:rPr lang="en-US" b="0" u="sng" dirty="0"/>
              <a:t>Workflow Orchestration</a:t>
            </a:r>
            <a:endParaRPr dirty="0"/>
          </a:p>
          <a:p>
            <a:pPr marL="609600" lvl="1" indent="0" algn="l" rtl="0">
              <a:lnSpc>
                <a:spcPct val="100000"/>
              </a:lnSpc>
              <a:spcBef>
                <a:spcPts val="0"/>
              </a:spcBef>
              <a:spcAft>
                <a:spcPts val="0"/>
              </a:spcAft>
              <a:buClr>
                <a:schemeClr val="dk1"/>
              </a:buClr>
              <a:buSzPts val="1200"/>
              <a:buFont typeface="Arial"/>
              <a:buNone/>
            </a:pPr>
            <a:r>
              <a:rPr lang="en-US" dirty="0"/>
              <a:t>Automate business and IT processes through:</a:t>
            </a:r>
            <a:endParaRPr dirty="0"/>
          </a:p>
          <a:p>
            <a:pPr marL="838200" lvl="1" indent="-228600" algn="l" rtl="0">
              <a:lnSpc>
                <a:spcPct val="100000"/>
              </a:lnSpc>
              <a:spcBef>
                <a:spcPts val="0"/>
              </a:spcBef>
              <a:spcAft>
                <a:spcPts val="0"/>
              </a:spcAft>
              <a:buClr>
                <a:schemeClr val="dk1"/>
              </a:buClr>
              <a:buSzPts val="1200"/>
              <a:buFont typeface="Arial"/>
              <a:buAutoNum type="alphaLcPeriod"/>
            </a:pPr>
            <a:r>
              <a:rPr lang="en-US" b="0" dirty="0"/>
              <a:t>Event-based Extensibility: Trigger workflows based on specific events, ensuring timely and responsive automation.</a:t>
            </a:r>
            <a:endParaRPr dirty="0"/>
          </a:p>
          <a:p>
            <a:pPr marL="838200" lvl="1" indent="-228600" algn="l" rtl="0">
              <a:lnSpc>
                <a:spcPct val="100000"/>
              </a:lnSpc>
              <a:spcBef>
                <a:spcPts val="0"/>
              </a:spcBef>
              <a:spcAft>
                <a:spcPts val="0"/>
              </a:spcAft>
              <a:buClr>
                <a:schemeClr val="dk1"/>
              </a:buClr>
              <a:buSzPts val="1200"/>
              <a:buFont typeface="Arial"/>
              <a:buAutoNum type="alphaLcPeriod"/>
            </a:pPr>
            <a:r>
              <a:rPr lang="en-US" b="0" dirty="0"/>
              <a:t>Workflow Orchestration for IT/Business Processes</a:t>
            </a:r>
            <a:r>
              <a:rPr lang="en-US" dirty="0"/>
              <a:t>: Align IT processes with business needs, driving efficiency and flexibility.</a:t>
            </a:r>
            <a:endParaRPr dirty="0"/>
          </a:p>
          <a:p>
            <a:pPr marL="914400" lvl="1" indent="-228600" algn="l" rtl="0">
              <a:lnSpc>
                <a:spcPct val="100000"/>
              </a:lnSpc>
              <a:spcBef>
                <a:spcPts val="0"/>
              </a:spcBef>
              <a:spcAft>
                <a:spcPts val="0"/>
              </a:spcAft>
              <a:buClr>
                <a:schemeClr val="dk1"/>
              </a:buClr>
              <a:buSzPts val="1200"/>
              <a:buFont typeface="Arial"/>
              <a:buNone/>
            </a:pPr>
            <a:endParaRPr dirty="0"/>
          </a:p>
          <a:p>
            <a:pPr marL="0" lvl="0" indent="0" algn="l" rtl="0">
              <a:lnSpc>
                <a:spcPct val="100000"/>
              </a:lnSpc>
              <a:spcBef>
                <a:spcPts val="0"/>
              </a:spcBef>
              <a:spcAft>
                <a:spcPts val="0"/>
              </a:spcAft>
              <a:buClr>
                <a:schemeClr val="dk1"/>
              </a:buClr>
              <a:buSzPts val="450"/>
              <a:buFont typeface="Arial"/>
              <a:buNone/>
            </a:pPr>
            <a:r>
              <a:rPr lang="en-US" b="0" u="sng" dirty="0"/>
              <a:t>Modern Cloud Interface</a:t>
            </a:r>
            <a:endParaRPr dirty="0"/>
          </a:p>
          <a:p>
            <a:pPr marL="457200" marR="0" lvl="0" indent="-304800" algn="l" rtl="0">
              <a:lnSpc>
                <a:spcPct val="100000"/>
              </a:lnSpc>
              <a:spcBef>
                <a:spcPts val="0"/>
              </a:spcBef>
              <a:spcAft>
                <a:spcPts val="0"/>
              </a:spcAft>
              <a:buClr>
                <a:srgbClr val="3C3C3C"/>
              </a:buClr>
              <a:buSzPts val="1200"/>
              <a:buFont typeface="Arial"/>
              <a:buAutoNum type="arabicPeriod"/>
            </a:pPr>
            <a:r>
              <a:rPr lang="en-US" sz="1200" b="0" u="sng" dirty="0">
                <a:solidFill>
                  <a:srgbClr val="3C3C3C"/>
                </a:solidFill>
                <a:latin typeface="Arial"/>
                <a:ea typeface="Arial"/>
                <a:cs typeface="Arial"/>
                <a:sym typeface="Arial"/>
              </a:rPr>
              <a:t>IaaS Surface for VCF</a:t>
            </a:r>
            <a:endParaRPr dirty="0"/>
          </a:p>
          <a:p>
            <a:pPr marL="609600" marR="0" lvl="1" indent="0" algn="l" rtl="0">
              <a:lnSpc>
                <a:spcPct val="100000"/>
              </a:lnSpc>
              <a:spcBef>
                <a:spcPts val="0"/>
              </a:spcBef>
              <a:spcAft>
                <a:spcPts val="0"/>
              </a:spcAft>
              <a:buClr>
                <a:schemeClr val="dk1"/>
              </a:buClr>
              <a:buSzPts val="1200"/>
              <a:buFont typeface="Arial"/>
              <a:buNone/>
            </a:pPr>
            <a:r>
              <a:rPr lang="en-US" dirty="0"/>
              <a:t>Access out-of-the-box IaaS services, which include:</a:t>
            </a:r>
            <a:endParaRPr dirty="0"/>
          </a:p>
          <a:p>
            <a:pPr marL="914400" lvl="1" indent="-304800" algn="l" rtl="0">
              <a:lnSpc>
                <a:spcPct val="100000"/>
              </a:lnSpc>
              <a:spcBef>
                <a:spcPts val="0"/>
              </a:spcBef>
              <a:spcAft>
                <a:spcPts val="0"/>
              </a:spcAft>
              <a:buClr>
                <a:schemeClr val="dk1"/>
              </a:buClr>
              <a:buSzPts val="1200"/>
              <a:buFont typeface="Arial"/>
              <a:buAutoNum type="alphaLcPeriod"/>
            </a:pPr>
            <a:r>
              <a:rPr lang="en-US" b="0" dirty="0"/>
              <a:t>VM, Kubernetes, Network, and Storage: Provide </a:t>
            </a:r>
            <a:r>
              <a:rPr lang="en-US" dirty="0"/>
              <a:t>a full spectrum of cloud services to your tenants with a flexible, scalable infrastructure.</a:t>
            </a:r>
            <a:endParaRPr dirty="0"/>
          </a:p>
          <a:p>
            <a:pPr marL="457200" lvl="0" indent="-304800" algn="l" rtl="0">
              <a:lnSpc>
                <a:spcPct val="100000"/>
              </a:lnSpc>
              <a:spcBef>
                <a:spcPts val="0"/>
              </a:spcBef>
              <a:spcAft>
                <a:spcPts val="0"/>
              </a:spcAft>
              <a:buClr>
                <a:schemeClr val="dk1"/>
              </a:buClr>
              <a:buSzPts val="1200"/>
              <a:buFont typeface="Arial"/>
              <a:buAutoNum type="arabicPeriod" startAt="2"/>
            </a:pPr>
            <a:r>
              <a:rPr lang="en-US" b="0" u="sng" dirty="0"/>
              <a:t>Application Catalog</a:t>
            </a:r>
            <a:endParaRPr dirty="0"/>
          </a:p>
          <a:p>
            <a:pPr marL="609600" lvl="1" indent="0" algn="l" rtl="0">
              <a:lnSpc>
                <a:spcPct val="100000"/>
              </a:lnSpc>
              <a:spcBef>
                <a:spcPts val="0"/>
              </a:spcBef>
              <a:spcAft>
                <a:spcPts val="0"/>
              </a:spcAft>
              <a:buClr>
                <a:schemeClr val="dk1"/>
              </a:buClr>
              <a:buSzPts val="1200"/>
              <a:buFont typeface="Arial"/>
              <a:buNone/>
            </a:pPr>
            <a:r>
              <a:rPr lang="en-US" dirty="0"/>
              <a:t>Access a rich catalog of services with:</a:t>
            </a:r>
            <a:endParaRPr dirty="0"/>
          </a:p>
          <a:p>
            <a:pPr marL="914400" lvl="1" indent="-304800" algn="l" rtl="0">
              <a:lnSpc>
                <a:spcPct val="100000"/>
              </a:lnSpc>
              <a:spcBef>
                <a:spcPts val="0"/>
              </a:spcBef>
              <a:spcAft>
                <a:spcPts val="0"/>
              </a:spcAft>
              <a:buClr>
                <a:schemeClr val="dk1"/>
              </a:buClr>
              <a:buSzPts val="1200"/>
              <a:buFont typeface="Arial"/>
              <a:buAutoNum type="alphaLcPeriod"/>
            </a:pPr>
            <a:r>
              <a:rPr lang="en-US" b="0" dirty="0"/>
              <a:t>Pre-curated content from vCenters and application catalogs: Simplify </a:t>
            </a:r>
            <a:r>
              <a:rPr lang="en-US" dirty="0"/>
              <a:t>the deployment and management of applications with ready-to-use templates and resources.</a:t>
            </a:r>
            <a:endParaRPr dirty="0">
              <a:highlight>
                <a:srgbClr val="FFFF00"/>
              </a:highlight>
            </a:endParaRPr>
          </a:p>
          <a:p>
            <a:pPr marL="457200" marR="0" lvl="0" indent="-304800" algn="l" rtl="0">
              <a:lnSpc>
                <a:spcPct val="100000"/>
              </a:lnSpc>
              <a:spcBef>
                <a:spcPts val="0"/>
              </a:spcBef>
              <a:spcAft>
                <a:spcPts val="0"/>
              </a:spcAft>
              <a:buClr>
                <a:srgbClr val="3C3C3C"/>
              </a:buClr>
              <a:buSzPts val="1200"/>
              <a:buFont typeface="Arial"/>
              <a:buAutoNum type="arabicPeriod" startAt="3"/>
            </a:pPr>
            <a:r>
              <a:rPr lang="en-US" sz="1200" b="0" u="sng" dirty="0">
                <a:solidFill>
                  <a:srgbClr val="3C3C3C"/>
                </a:solidFill>
                <a:latin typeface="Arial"/>
                <a:ea typeface="Arial"/>
                <a:cs typeface="Arial"/>
                <a:sym typeface="Arial"/>
              </a:rPr>
              <a:t>Extensible Services Ecosystem</a:t>
            </a:r>
            <a:endParaRPr dirty="0"/>
          </a:p>
          <a:p>
            <a:pPr marL="609600" marR="0" lvl="1" indent="0" algn="l" rtl="0">
              <a:lnSpc>
                <a:spcPct val="100000"/>
              </a:lnSpc>
              <a:spcBef>
                <a:spcPts val="0"/>
              </a:spcBef>
              <a:spcAft>
                <a:spcPts val="0"/>
              </a:spcAft>
              <a:buClr>
                <a:schemeClr val="dk1"/>
              </a:buClr>
              <a:buSzPts val="1200"/>
              <a:buFont typeface="Arial"/>
              <a:buNone/>
            </a:pPr>
            <a:r>
              <a:rPr lang="en-US" dirty="0"/>
              <a:t>Manage extensible services through a centralized interface:</a:t>
            </a:r>
            <a:endParaRPr dirty="0"/>
          </a:p>
          <a:p>
            <a:pPr marL="914400" lvl="1" indent="-304800" algn="l" rtl="0">
              <a:lnSpc>
                <a:spcPct val="100000"/>
              </a:lnSpc>
              <a:spcBef>
                <a:spcPts val="0"/>
              </a:spcBef>
              <a:spcAft>
                <a:spcPts val="0"/>
              </a:spcAft>
              <a:buClr>
                <a:schemeClr val="dk1"/>
              </a:buClr>
              <a:buSzPts val="1200"/>
              <a:buFont typeface="Arial"/>
              <a:buAutoNum type="alphaLcPeriod"/>
            </a:pPr>
            <a:r>
              <a:rPr lang="en-US" b="0" dirty="0"/>
              <a:t>Object Storage, Data Services, Backup, DR, etc.: Integrate and manage services like object storage, disaster recovery, and backup seamlessly within the </a:t>
            </a:r>
            <a:r>
              <a:rPr lang="en-US" dirty="0"/>
              <a:t>cloud environment.</a:t>
            </a:r>
            <a:endParaRPr sz="1200" dirty="0">
              <a:latin typeface="Arial"/>
              <a:ea typeface="Arial"/>
              <a:cs typeface="Arial"/>
              <a:sym typeface="Arial"/>
            </a:endParaRPr>
          </a:p>
          <a:p>
            <a:pPr marL="0" lvl="0" indent="0" algn="l" rtl="0">
              <a:spcBef>
                <a:spcPts val="0"/>
              </a:spcBef>
              <a:spcAft>
                <a:spcPts val="0"/>
              </a:spcAft>
              <a:buNone/>
            </a:pPr>
            <a:br>
              <a:rPr lang="en-US" sz="1200" dirty="0"/>
            </a:br>
            <a:r>
              <a:rPr lang="en-US" sz="1200" b="1" dirty="0"/>
              <a:t>Resources:</a:t>
            </a:r>
            <a:br>
              <a:rPr lang="en-US" sz="1200" dirty="0"/>
            </a:br>
            <a:endParaRPr dirty="0"/>
          </a:p>
        </p:txBody>
      </p:sp>
      <p:sp>
        <p:nvSpPr>
          <p:cNvPr id="7074" name="Google Shape;7074;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2"/>
        <p:cNvGrpSpPr/>
        <p:nvPr/>
      </p:nvGrpSpPr>
      <p:grpSpPr>
        <a:xfrm>
          <a:off x="0" y="0"/>
          <a:ext cx="0" cy="0"/>
          <a:chOff x="0" y="0"/>
          <a:chExt cx="0" cy="0"/>
        </a:xfrm>
      </p:grpSpPr>
      <p:sp>
        <p:nvSpPr>
          <p:cNvPr id="7123" name="Google Shape;7123;p5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24" name="Google Shape;7124;p5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fontScale="92500" lnSpcReduction="10000"/>
          </a:bodyPr>
          <a:lstStyle/>
          <a:p>
            <a:pPr marL="0" lvl="0" indent="0" algn="l" rtl="0">
              <a:lnSpc>
                <a:spcPct val="60000"/>
              </a:lnSpc>
              <a:spcBef>
                <a:spcPts val="0"/>
              </a:spcBef>
              <a:spcAft>
                <a:spcPts val="0"/>
              </a:spcAft>
              <a:buClr>
                <a:schemeClr val="dk1"/>
              </a:buClr>
              <a:buSzPts val="500"/>
              <a:buFont typeface="Arial"/>
              <a:buNone/>
            </a:pPr>
            <a:r>
              <a:rPr lang="en-US" sz="500" b="1" i="0"/>
              <a:t>Key Message:</a:t>
            </a:r>
            <a:endParaRPr sz="500" i="0"/>
          </a:p>
          <a:p>
            <a:pPr marL="0" lvl="0" indent="0" algn="l" rtl="0">
              <a:lnSpc>
                <a:spcPct val="60000"/>
              </a:lnSpc>
              <a:spcBef>
                <a:spcPts val="0"/>
              </a:spcBef>
              <a:spcAft>
                <a:spcPts val="0"/>
              </a:spcAft>
              <a:buClr>
                <a:srgbClr val="717074"/>
              </a:buClr>
              <a:buSzPts val="625"/>
              <a:buFont typeface="Arial"/>
              <a:buNone/>
            </a:pPr>
            <a:r>
              <a:rPr lang="en-US" sz="625" b="0" i="0" u="none" strike="noStrike">
                <a:solidFill>
                  <a:srgbClr val="717074"/>
                </a:solidFill>
                <a:latin typeface="Arial"/>
                <a:ea typeface="Arial"/>
                <a:cs typeface="Arial"/>
                <a:sym typeface="Arial"/>
              </a:rPr>
              <a:t>In VCF 9.x, Supervisor Services are exposed across your environments and users have a choice to consume these services via UI, CLI, or Kubernetes-native APIs, they’ve got multiple ways to access and consume services — just like they would in a public cloud. Each service is namespace-scoped, meaning they operate within defined resource boundaries. The model provides a self-service experience, and dev teams can move fast as they can consume infrastructure without complexity and ticket wait times. </a:t>
            </a:r>
            <a:endParaRPr sz="500" i="0"/>
          </a:p>
          <a:p>
            <a:pPr marL="0" lvl="0" indent="0" algn="l" rtl="0">
              <a:lnSpc>
                <a:spcPct val="60000"/>
              </a:lnSpc>
              <a:spcBef>
                <a:spcPts val="0"/>
              </a:spcBef>
              <a:spcAft>
                <a:spcPts val="0"/>
              </a:spcAft>
              <a:buClr>
                <a:schemeClr val="dk1"/>
              </a:buClr>
              <a:buSzPts val="500"/>
              <a:buFont typeface="Arial"/>
              <a:buNone/>
            </a:pPr>
            <a:endParaRPr sz="500" i="0"/>
          </a:p>
          <a:p>
            <a:pPr marL="0" lvl="0" indent="0" algn="l" rtl="0">
              <a:lnSpc>
                <a:spcPct val="60000"/>
              </a:lnSpc>
              <a:spcBef>
                <a:spcPts val="0"/>
              </a:spcBef>
              <a:spcAft>
                <a:spcPts val="0"/>
              </a:spcAft>
              <a:buClr>
                <a:schemeClr val="dk1"/>
              </a:buClr>
              <a:buSzPts val="500"/>
              <a:buFont typeface="Arial"/>
              <a:buNone/>
            </a:pPr>
            <a:r>
              <a:rPr lang="en-US" sz="500" b="1" i="0"/>
              <a:t>Talk Track:</a:t>
            </a:r>
            <a:endParaRPr/>
          </a:p>
          <a:p>
            <a:pPr marL="0" marR="0" lvl="0" indent="0" algn="l" rtl="0">
              <a:lnSpc>
                <a:spcPct val="60000"/>
              </a:lnSpc>
              <a:spcBef>
                <a:spcPts val="0"/>
              </a:spcBef>
              <a:spcAft>
                <a:spcPts val="0"/>
              </a:spcAft>
              <a:buClr>
                <a:srgbClr val="000000"/>
              </a:buClr>
              <a:buSzPts val="1400"/>
              <a:buFont typeface="Arial"/>
              <a:buNone/>
            </a:pPr>
            <a:r>
              <a:rPr lang="en-US" sz="500" b="0" i="0" u="none" strike="noStrike">
                <a:solidFill>
                  <a:srgbClr val="717074"/>
                </a:solidFill>
                <a:latin typeface="Arial"/>
                <a:ea typeface="Arial"/>
                <a:cs typeface="Arial"/>
                <a:sym typeface="Arial"/>
              </a:rPr>
              <a:t>In VCF 9.x, Supervisor Services are exposed across your environments, and users have a choice to consume these services via UI, CLI, or Kubernetes-native APIs; they’ve got multiple ways to access and consume services, just like they would in a public cloud. Each service is namespace-scoped, meaning it operates within defined resource boundaries. The model provides a self-service experience; dev teams can move fast as they can consume infrastructure without complexity and wait times for tickets. </a:t>
            </a:r>
            <a:endParaRPr sz="312" i="0"/>
          </a:p>
          <a:p>
            <a:pPr marL="0" lvl="0" indent="0" algn="l" rtl="0">
              <a:lnSpc>
                <a:spcPct val="60000"/>
              </a:lnSpc>
              <a:spcBef>
                <a:spcPts val="0"/>
              </a:spcBef>
              <a:spcAft>
                <a:spcPts val="0"/>
              </a:spcAft>
              <a:buClr>
                <a:schemeClr val="dk1"/>
              </a:buClr>
              <a:buSzPts val="500"/>
              <a:buFont typeface="Arial"/>
              <a:buNone/>
            </a:pPr>
            <a:endParaRPr sz="500" b="1" i="0"/>
          </a:p>
          <a:p>
            <a:pPr marL="0" marR="0" lvl="0" indent="0" algn="l" rtl="0">
              <a:lnSpc>
                <a:spcPct val="60000"/>
              </a:lnSpc>
              <a:spcBef>
                <a:spcPts val="0"/>
              </a:spcBef>
              <a:spcAft>
                <a:spcPts val="0"/>
              </a:spcAft>
              <a:buClr>
                <a:schemeClr val="dk1"/>
              </a:buClr>
              <a:buSzPts val="500"/>
              <a:buFont typeface="Arial"/>
              <a:buNone/>
            </a:pPr>
            <a:r>
              <a:rPr lang="en-US" sz="500" b="1"/>
              <a:t>Notes:</a:t>
            </a:r>
            <a:endParaRPr sz="500" b="1" i="0"/>
          </a:p>
          <a:p>
            <a:pPr marL="0" lvl="0" indent="0" algn="l" rtl="0">
              <a:lnSpc>
                <a:spcPct val="60000"/>
              </a:lnSpc>
              <a:spcBef>
                <a:spcPts val="0"/>
              </a:spcBef>
              <a:spcAft>
                <a:spcPts val="0"/>
              </a:spcAft>
              <a:buClr>
                <a:srgbClr val="717074"/>
              </a:buClr>
              <a:buSzPts val="625"/>
              <a:buFont typeface="Arial"/>
              <a:buNone/>
            </a:pPr>
            <a:r>
              <a:rPr lang="en-US" sz="625" b="0" i="0" u="sng" strike="noStrike">
                <a:solidFill>
                  <a:srgbClr val="717074"/>
                </a:solidFill>
                <a:latin typeface="Arial"/>
                <a:ea typeface="Arial"/>
                <a:cs typeface="Arial"/>
                <a:sym typeface="Arial"/>
              </a:rPr>
              <a:t>Let’s walk through some of the key Core services available out of the box:</a:t>
            </a:r>
            <a:endParaRPr/>
          </a:p>
          <a:p>
            <a:pPr marL="0" lvl="0" indent="0" algn="l" rtl="0">
              <a:lnSpc>
                <a:spcPct val="216000"/>
              </a:lnSpc>
              <a:spcBef>
                <a:spcPts val="0"/>
              </a:spcBef>
              <a:spcAft>
                <a:spcPts val="0"/>
              </a:spcAft>
              <a:buClr>
                <a:schemeClr val="dk1"/>
              </a:buClr>
              <a:buSzPts val="625"/>
              <a:buFont typeface="Arial"/>
              <a:buNone/>
            </a:pPr>
            <a:endParaRPr sz="625" b="0" i="0" u="sng" strike="noStrike">
              <a:solidFill>
                <a:srgbClr val="717074"/>
              </a:solidFill>
              <a:latin typeface="Arial"/>
              <a:ea typeface="Arial"/>
              <a:cs typeface="Arial"/>
              <a:sym typeface="Arial"/>
            </a:endParaRPr>
          </a:p>
          <a:p>
            <a:pPr marL="0" lvl="0" indent="0" algn="l" rtl="0">
              <a:lnSpc>
                <a:spcPct val="216000"/>
              </a:lnSpc>
              <a:spcBef>
                <a:spcPts val="0"/>
              </a:spcBef>
              <a:spcAft>
                <a:spcPts val="0"/>
              </a:spcAft>
              <a:buClr>
                <a:srgbClr val="1F2328"/>
              </a:buClr>
              <a:buSzPts val="625"/>
              <a:buFont typeface="Arial"/>
              <a:buNone/>
            </a:pPr>
            <a:r>
              <a:rPr lang="en-US" sz="625" b="0" u="sng">
                <a:solidFill>
                  <a:srgbClr val="1F2328"/>
                </a:solidFill>
                <a:latin typeface="Arial"/>
                <a:ea typeface="Arial"/>
                <a:cs typeface="Arial"/>
                <a:sym typeface="Arial"/>
              </a:rPr>
              <a:t>VM Service </a:t>
            </a:r>
            <a:r>
              <a:rPr lang="en-US" sz="625" b="0">
                <a:solidFill>
                  <a:srgbClr val="1F2328"/>
                </a:solidFill>
                <a:latin typeface="Arial"/>
                <a:ea typeface="Arial"/>
                <a:cs typeface="Arial"/>
                <a:sym typeface="Arial"/>
              </a:rPr>
              <a:t>- lets users declaratively define and deploy virtual machines using the VM Operator. The VM Service </a:t>
            </a:r>
            <a:r>
              <a:rPr lang="en-US" sz="625" b="0" i="0" u="none" strike="noStrike">
                <a:solidFill>
                  <a:srgbClr val="717074"/>
                </a:solidFill>
                <a:latin typeface="Arial"/>
                <a:ea typeface="Arial"/>
                <a:cs typeface="Arial"/>
                <a:sym typeface="Arial"/>
              </a:rPr>
              <a:t>defines VM specs like CPU, memory, networks, power state, etc. The end user can also configure additional settings like Persistent Volume Claims, Load Balancers, Cloud-Init Scripts. This provides a comprehensive way to deploy a modern app onto a VM.</a:t>
            </a:r>
            <a:endParaRPr/>
          </a:p>
          <a:p>
            <a:pPr marL="0" lvl="0" indent="0" algn="l" rtl="0">
              <a:lnSpc>
                <a:spcPct val="216000"/>
              </a:lnSpc>
              <a:spcBef>
                <a:spcPts val="0"/>
              </a:spcBef>
              <a:spcAft>
                <a:spcPts val="0"/>
              </a:spcAft>
              <a:buClr>
                <a:schemeClr val="dk1"/>
              </a:buClr>
              <a:buSzPts val="625"/>
              <a:buFont typeface="Arial"/>
              <a:buNone/>
            </a:pPr>
            <a:endParaRPr sz="625" b="0">
              <a:solidFill>
                <a:srgbClr val="1F2328"/>
              </a:solidFill>
              <a:latin typeface="Arial"/>
              <a:ea typeface="Arial"/>
              <a:cs typeface="Arial"/>
              <a:sym typeface="Arial"/>
            </a:endParaRPr>
          </a:p>
          <a:p>
            <a:pPr marL="0" lvl="0" indent="0" algn="l" rtl="0">
              <a:lnSpc>
                <a:spcPct val="216000"/>
              </a:lnSpc>
              <a:spcBef>
                <a:spcPts val="0"/>
              </a:spcBef>
              <a:spcAft>
                <a:spcPts val="0"/>
              </a:spcAft>
              <a:buClr>
                <a:srgbClr val="1F2328"/>
              </a:buClr>
              <a:buSzPts val="625"/>
              <a:buFont typeface="Arial"/>
              <a:buNone/>
            </a:pPr>
            <a:r>
              <a:rPr lang="en-US" sz="625" b="0" u="sng">
                <a:solidFill>
                  <a:srgbClr val="1F2328"/>
                </a:solidFill>
                <a:latin typeface="Arial"/>
                <a:ea typeface="Arial"/>
                <a:cs typeface="Arial"/>
                <a:sym typeface="Arial"/>
              </a:rPr>
              <a:t>K8s Service </a:t>
            </a:r>
            <a:r>
              <a:rPr lang="en-US" sz="625" b="0">
                <a:solidFill>
                  <a:srgbClr val="1F2328"/>
                </a:solidFill>
                <a:latin typeface="Arial"/>
                <a:ea typeface="Arial"/>
                <a:cs typeface="Arial"/>
                <a:sym typeface="Arial"/>
              </a:rPr>
              <a:t>- allows you to spin up Kubernetes clusters on demand. </a:t>
            </a:r>
            <a:r>
              <a:rPr lang="en-US" sz="625" b="0" i="0" u="none" strike="noStrike">
                <a:solidFill>
                  <a:srgbClr val="717074"/>
                </a:solidFill>
                <a:latin typeface="Arial"/>
                <a:ea typeface="Arial"/>
                <a:cs typeface="Arial"/>
                <a:sym typeface="Arial"/>
              </a:rPr>
              <a:t>The vSphere Kubernetes Service can be used to deploy Kubernetes clusters quickly and easily, without the overhead of managing complex infrastructure manually. This service handles resource allocation, scalability, fault isolation, certificate management, and much more. One advantage to using this service is that you can deploy multiple versions of Kubernetes, making it perfect for testing new features or ensuring version compatibility for different applications.</a:t>
            </a:r>
            <a:endParaRPr/>
          </a:p>
          <a:p>
            <a:pPr marL="0" lvl="0" indent="0" algn="l" rtl="0">
              <a:lnSpc>
                <a:spcPct val="216000"/>
              </a:lnSpc>
              <a:spcBef>
                <a:spcPts val="0"/>
              </a:spcBef>
              <a:spcAft>
                <a:spcPts val="0"/>
              </a:spcAft>
              <a:buClr>
                <a:schemeClr val="dk1"/>
              </a:buClr>
              <a:buSzPts val="625"/>
              <a:buFont typeface="Arial"/>
              <a:buNone/>
            </a:pPr>
            <a:endParaRPr sz="625" b="0">
              <a:solidFill>
                <a:srgbClr val="1F2328"/>
              </a:solidFill>
              <a:latin typeface="Arial"/>
              <a:ea typeface="Arial"/>
              <a:cs typeface="Arial"/>
              <a:sym typeface="Arial"/>
            </a:endParaRPr>
          </a:p>
          <a:p>
            <a:pPr marL="0" lvl="0" indent="0" algn="l" rtl="0">
              <a:lnSpc>
                <a:spcPct val="216000"/>
              </a:lnSpc>
              <a:spcBef>
                <a:spcPts val="0"/>
              </a:spcBef>
              <a:spcAft>
                <a:spcPts val="0"/>
              </a:spcAft>
              <a:buClr>
                <a:srgbClr val="717074"/>
              </a:buClr>
              <a:buSzPts val="625"/>
              <a:buFont typeface="Arial"/>
              <a:buNone/>
            </a:pPr>
            <a:r>
              <a:rPr lang="en-US" sz="625" b="0" i="0" u="sng" strike="noStrike">
                <a:solidFill>
                  <a:srgbClr val="717074"/>
                </a:solidFill>
                <a:latin typeface="Arial"/>
                <a:ea typeface="Arial"/>
                <a:cs typeface="Arial"/>
                <a:sym typeface="Arial"/>
              </a:rPr>
              <a:t>Networking Service </a:t>
            </a:r>
            <a:r>
              <a:rPr lang="en-US" sz="625" b="0" i="0" u="none" strike="noStrike">
                <a:solidFill>
                  <a:srgbClr val="717074"/>
                </a:solidFill>
                <a:latin typeface="Arial"/>
                <a:ea typeface="Arial"/>
                <a:cs typeface="Arial"/>
                <a:sym typeface="Arial"/>
              </a:rPr>
              <a:t>– is mapped to at least one VPC to a namespace, and within a network service, we can offer full self-service networking, starting from viewing already created VPCs. Networking Service can offer full self-service networking, starting from viewing already created VPCs, networks, and SGs, and then allowing the creation of new subnets and SGs. This is a different approach than creating a catalog item for this, and we are offering much more self-service here that we don’t plan to offer in the traditional approach in previous slide. In the future, we will also allow creation of new VPCs here and offer more complex connectivity for more advanced consumers. </a:t>
            </a:r>
            <a:endParaRPr/>
          </a:p>
          <a:p>
            <a:pPr marL="0" lvl="0" indent="0" algn="l" rtl="0">
              <a:lnSpc>
                <a:spcPct val="216000"/>
              </a:lnSpc>
              <a:spcBef>
                <a:spcPts val="0"/>
              </a:spcBef>
              <a:spcAft>
                <a:spcPts val="0"/>
              </a:spcAft>
              <a:buNone/>
            </a:pPr>
            <a:endParaRPr sz="625" b="0" i="0" u="none" strike="noStrike">
              <a:solidFill>
                <a:srgbClr val="717074"/>
              </a:solidFill>
              <a:latin typeface="Arial"/>
              <a:ea typeface="Arial"/>
              <a:cs typeface="Arial"/>
              <a:sym typeface="Arial"/>
            </a:endParaRPr>
          </a:p>
          <a:p>
            <a:pPr marL="0" lvl="0" indent="0" algn="l" rtl="0">
              <a:lnSpc>
                <a:spcPct val="216000"/>
              </a:lnSpc>
              <a:spcBef>
                <a:spcPts val="0"/>
              </a:spcBef>
              <a:spcAft>
                <a:spcPts val="0"/>
              </a:spcAft>
              <a:buNone/>
            </a:pPr>
            <a:r>
              <a:rPr lang="en-US" sz="625" b="0" i="0" u="sng" strike="noStrike">
                <a:solidFill>
                  <a:srgbClr val="717074"/>
                </a:solidFill>
                <a:latin typeface="Arial"/>
                <a:ea typeface="Arial"/>
                <a:cs typeface="Arial"/>
                <a:sym typeface="Arial"/>
              </a:rPr>
              <a:t>Now let’s discuss some of the Extended Services:</a:t>
            </a:r>
            <a:endParaRPr/>
          </a:p>
          <a:p>
            <a:pPr marL="0" lvl="0" indent="0" algn="l" rtl="0">
              <a:lnSpc>
                <a:spcPct val="216000"/>
              </a:lnSpc>
              <a:spcBef>
                <a:spcPts val="0"/>
              </a:spcBef>
              <a:spcAft>
                <a:spcPts val="0"/>
              </a:spcAft>
              <a:buNone/>
            </a:pPr>
            <a:endParaRPr sz="625" b="0" i="0" u="none" strike="noStrike">
              <a:solidFill>
                <a:srgbClr val="717074"/>
              </a:solidFill>
              <a:latin typeface="Arial"/>
              <a:ea typeface="Arial"/>
              <a:cs typeface="Arial"/>
              <a:sym typeface="Arial"/>
            </a:endParaRPr>
          </a:p>
          <a:p>
            <a:pPr marL="514350" lvl="0" indent="-285750" algn="l" rtl="0">
              <a:lnSpc>
                <a:spcPct val="80000"/>
              </a:lnSpc>
              <a:spcBef>
                <a:spcPts val="0"/>
              </a:spcBef>
              <a:spcAft>
                <a:spcPts val="0"/>
              </a:spcAft>
              <a:buClr>
                <a:srgbClr val="717074"/>
              </a:buClr>
              <a:buSzPts val="625"/>
              <a:buFont typeface="Arial"/>
              <a:buChar char="•"/>
            </a:pPr>
            <a:r>
              <a:rPr lang="en-US" sz="625" b="0" i="0" u="sng" strike="noStrike">
                <a:solidFill>
                  <a:srgbClr val="717074"/>
                </a:solidFill>
                <a:latin typeface="Arial"/>
                <a:ea typeface="Arial"/>
                <a:cs typeface="Arial"/>
                <a:sym typeface="Arial"/>
              </a:rPr>
              <a:t>Velero</a:t>
            </a:r>
            <a:r>
              <a:rPr lang="en-US" sz="625" b="1" i="0" u="none" strike="noStrike">
                <a:solidFill>
                  <a:srgbClr val="717074"/>
                </a:solidFill>
                <a:latin typeface="Arial"/>
                <a:ea typeface="Arial"/>
                <a:cs typeface="Arial"/>
                <a:sym typeface="Arial"/>
              </a:rPr>
              <a:t> - </a:t>
            </a:r>
            <a:r>
              <a:rPr lang="en-US" sz="625" b="0" i="0" u="none" strike="noStrike">
                <a:solidFill>
                  <a:srgbClr val="717074"/>
                </a:solidFill>
                <a:latin typeface="Arial"/>
                <a:ea typeface="Arial"/>
                <a:cs typeface="Arial"/>
                <a:sym typeface="Arial"/>
              </a:rPr>
              <a:t>used for data protection in Kubernetes environments. Velero is an open-source tool that helps you </a:t>
            </a:r>
            <a:r>
              <a:rPr lang="en-US" sz="625" b="0" i="0" u="sng" strike="noStrike">
                <a:solidFill>
                  <a:srgbClr val="717074"/>
                </a:solidFill>
                <a:latin typeface="Arial"/>
                <a:ea typeface="Arial"/>
                <a:cs typeface="Arial"/>
                <a:sym typeface="Arial"/>
              </a:rPr>
              <a:t>safely back up and restore cluster resources</a:t>
            </a:r>
            <a:r>
              <a:rPr lang="en-US" sz="625" b="0" i="0" u="none" strike="noStrike">
                <a:solidFill>
                  <a:srgbClr val="717074"/>
                </a:solidFill>
                <a:latin typeface="Arial"/>
                <a:ea typeface="Arial"/>
                <a:cs typeface="Arial"/>
                <a:sym typeface="Arial"/>
              </a:rPr>
              <a:t>, perform disaster recovery, and even </a:t>
            </a:r>
            <a:r>
              <a:rPr lang="en-US" sz="625" b="0" i="0" u="sng" strike="noStrike">
                <a:solidFill>
                  <a:srgbClr val="717074"/>
                </a:solidFill>
                <a:latin typeface="Arial"/>
                <a:ea typeface="Arial"/>
                <a:cs typeface="Arial"/>
                <a:sym typeface="Arial"/>
              </a:rPr>
              <a:t>migrate workloads </a:t>
            </a:r>
            <a:r>
              <a:rPr lang="en-US" sz="625" b="0" i="0" u="none" strike="noStrike">
                <a:solidFill>
                  <a:srgbClr val="717074"/>
                </a:solidFill>
                <a:latin typeface="Arial"/>
                <a:ea typeface="Arial"/>
                <a:cs typeface="Arial"/>
                <a:sym typeface="Arial"/>
              </a:rPr>
              <a:t>between clusters.</a:t>
            </a:r>
            <a:endParaRPr/>
          </a:p>
          <a:p>
            <a:pPr marL="514350" lvl="0" indent="-246062" algn="l" rtl="0">
              <a:lnSpc>
                <a:spcPct val="80000"/>
              </a:lnSpc>
              <a:spcBef>
                <a:spcPts val="0"/>
              </a:spcBef>
              <a:spcAft>
                <a:spcPts val="0"/>
              </a:spcAft>
              <a:buClr>
                <a:schemeClr val="dk1"/>
              </a:buClr>
              <a:buSzPts val="625"/>
              <a:buFont typeface="Arial"/>
              <a:buNone/>
            </a:pPr>
            <a:endParaRPr sz="625" b="0" i="0" u="none" strike="noStrike">
              <a:solidFill>
                <a:srgbClr val="717074"/>
              </a:solidFill>
              <a:latin typeface="Arial"/>
              <a:ea typeface="Arial"/>
              <a:cs typeface="Arial"/>
              <a:sym typeface="Arial"/>
            </a:endParaRPr>
          </a:p>
          <a:p>
            <a:pPr marL="514350" lvl="0" indent="-285750" algn="l" rtl="0">
              <a:lnSpc>
                <a:spcPct val="80000"/>
              </a:lnSpc>
              <a:spcBef>
                <a:spcPts val="0"/>
              </a:spcBef>
              <a:spcAft>
                <a:spcPts val="0"/>
              </a:spcAft>
              <a:buClr>
                <a:srgbClr val="717074"/>
              </a:buClr>
              <a:buSzPts val="625"/>
              <a:buFont typeface="Arial"/>
              <a:buChar char="•"/>
            </a:pPr>
            <a:r>
              <a:rPr lang="en-US" sz="625" b="0" i="0" u="sng" strike="noStrike">
                <a:solidFill>
                  <a:srgbClr val="717074"/>
                </a:solidFill>
                <a:latin typeface="Arial"/>
                <a:ea typeface="Arial"/>
                <a:cs typeface="Arial"/>
                <a:sym typeface="Arial"/>
              </a:rPr>
              <a:t>Cert Manager </a:t>
            </a:r>
            <a:r>
              <a:rPr lang="en-US" sz="625" b="1" i="0" u="none" strike="noStrike">
                <a:solidFill>
                  <a:srgbClr val="717074"/>
                </a:solidFill>
                <a:latin typeface="Arial"/>
                <a:ea typeface="Arial"/>
                <a:cs typeface="Arial"/>
                <a:sym typeface="Arial"/>
              </a:rPr>
              <a:t>- </a:t>
            </a:r>
            <a:r>
              <a:rPr lang="en-US" sz="625" b="0" i="0" u="none" strike="noStrike">
                <a:solidFill>
                  <a:srgbClr val="717074"/>
                </a:solidFill>
                <a:latin typeface="Arial"/>
                <a:ea typeface="Arial"/>
                <a:cs typeface="Arial"/>
                <a:sym typeface="Arial"/>
              </a:rPr>
              <a:t>managing SSL/TLS certificates in Kubernetes.  Manage security of apps without having to manage certs manually.</a:t>
            </a:r>
            <a:endParaRPr/>
          </a:p>
          <a:p>
            <a:pPr marL="685800" lvl="0" indent="-409575" algn="l" rtl="0">
              <a:lnSpc>
                <a:spcPct val="80000"/>
              </a:lnSpc>
              <a:spcBef>
                <a:spcPts val="0"/>
              </a:spcBef>
              <a:spcAft>
                <a:spcPts val="0"/>
              </a:spcAft>
              <a:buClr>
                <a:schemeClr val="dk1"/>
              </a:buClr>
              <a:buSzPts val="750"/>
              <a:buFont typeface="Arial"/>
              <a:buNone/>
            </a:pPr>
            <a:endParaRPr sz="750" b="0"/>
          </a:p>
          <a:p>
            <a:pPr marL="514350" lvl="0" indent="-285750" algn="l" rtl="0">
              <a:lnSpc>
                <a:spcPct val="80000"/>
              </a:lnSpc>
              <a:spcBef>
                <a:spcPts val="0"/>
              </a:spcBef>
              <a:spcAft>
                <a:spcPts val="0"/>
              </a:spcAft>
              <a:buClr>
                <a:srgbClr val="717074"/>
              </a:buClr>
              <a:buSzPts val="625"/>
              <a:buFont typeface="Arial"/>
              <a:buChar char="•"/>
            </a:pPr>
            <a:r>
              <a:rPr lang="en-US" sz="625" b="0" i="0" u="sng" strike="noStrike">
                <a:solidFill>
                  <a:srgbClr val="717074"/>
                </a:solidFill>
                <a:latin typeface="Arial"/>
                <a:ea typeface="Arial"/>
                <a:cs typeface="Arial"/>
                <a:sym typeface="Arial"/>
              </a:rPr>
              <a:t>Harbor</a:t>
            </a:r>
            <a:r>
              <a:rPr lang="en-US" sz="625" b="1" i="0" u="none" strike="noStrike">
                <a:solidFill>
                  <a:srgbClr val="717074"/>
                </a:solidFill>
                <a:latin typeface="Arial"/>
                <a:ea typeface="Arial"/>
                <a:cs typeface="Arial"/>
                <a:sym typeface="Arial"/>
              </a:rPr>
              <a:t> - </a:t>
            </a:r>
            <a:r>
              <a:rPr lang="en-US" sz="625" b="0" i="0" u="none" strike="noStrike">
                <a:solidFill>
                  <a:srgbClr val="717074"/>
                </a:solidFill>
                <a:latin typeface="Arial"/>
                <a:ea typeface="Arial"/>
                <a:cs typeface="Arial"/>
                <a:sym typeface="Arial"/>
              </a:rPr>
              <a:t>open-source, cloud-native container image registry that doesn’t just store your images. It also signs and scans them, adding layers of </a:t>
            </a:r>
            <a:r>
              <a:rPr lang="en-US" sz="625" b="0" i="0" u="sng" strike="noStrike">
                <a:solidFill>
                  <a:srgbClr val="717074"/>
                </a:solidFill>
                <a:latin typeface="Arial"/>
                <a:ea typeface="Arial"/>
                <a:cs typeface="Arial"/>
                <a:sym typeface="Arial"/>
              </a:rPr>
              <a:t>security and trust </a:t>
            </a:r>
            <a:r>
              <a:rPr lang="en-US" sz="625" b="0" i="0" u="none" strike="noStrike">
                <a:solidFill>
                  <a:srgbClr val="717074"/>
                </a:solidFill>
                <a:latin typeface="Arial"/>
                <a:ea typeface="Arial"/>
                <a:cs typeface="Arial"/>
                <a:sym typeface="Arial"/>
              </a:rPr>
              <a:t>to your container supply chain</a:t>
            </a:r>
            <a:endParaRPr/>
          </a:p>
          <a:p>
            <a:pPr marL="514350" lvl="0" indent="-246062" algn="l" rtl="0">
              <a:lnSpc>
                <a:spcPct val="80000"/>
              </a:lnSpc>
              <a:spcBef>
                <a:spcPts val="0"/>
              </a:spcBef>
              <a:spcAft>
                <a:spcPts val="0"/>
              </a:spcAft>
              <a:buClr>
                <a:schemeClr val="dk1"/>
              </a:buClr>
              <a:buSzPts val="625"/>
              <a:buFont typeface="Arial"/>
              <a:buNone/>
            </a:pPr>
            <a:endParaRPr sz="625" b="0" i="0" u="none" strike="noStrike">
              <a:solidFill>
                <a:srgbClr val="717074"/>
              </a:solidFill>
              <a:latin typeface="Arial"/>
              <a:ea typeface="Arial"/>
              <a:cs typeface="Arial"/>
              <a:sym typeface="Arial"/>
            </a:endParaRPr>
          </a:p>
          <a:p>
            <a:pPr marL="514350" lvl="0" indent="-285750" algn="l" rtl="0">
              <a:lnSpc>
                <a:spcPct val="80000"/>
              </a:lnSpc>
              <a:spcBef>
                <a:spcPts val="0"/>
              </a:spcBef>
              <a:spcAft>
                <a:spcPts val="0"/>
              </a:spcAft>
              <a:buClr>
                <a:srgbClr val="717074"/>
              </a:buClr>
              <a:buSzPts val="625"/>
              <a:buFont typeface="Arial"/>
              <a:buChar char="•"/>
            </a:pPr>
            <a:r>
              <a:rPr lang="en-US" sz="625" b="0" i="0" u="sng" strike="noStrike">
                <a:solidFill>
                  <a:srgbClr val="717074"/>
                </a:solidFill>
                <a:latin typeface="Arial"/>
                <a:ea typeface="Arial"/>
                <a:cs typeface="Arial"/>
                <a:sym typeface="Arial"/>
              </a:rPr>
              <a:t>ExternalDNS</a:t>
            </a:r>
            <a:r>
              <a:rPr lang="en-US" sz="625" b="0" i="0" u="none" strike="noStrike">
                <a:solidFill>
                  <a:srgbClr val="717074"/>
                </a:solidFill>
                <a:latin typeface="Arial"/>
                <a:ea typeface="Arial"/>
                <a:cs typeface="Arial"/>
                <a:sym typeface="Arial"/>
              </a:rPr>
              <a:t> - publishes </a:t>
            </a:r>
            <a:r>
              <a:rPr lang="en-US" sz="625" b="0" i="0" u="sng" strike="noStrike">
                <a:solidFill>
                  <a:srgbClr val="717074"/>
                </a:solidFill>
                <a:latin typeface="Arial"/>
                <a:ea typeface="Arial"/>
                <a:cs typeface="Arial"/>
                <a:sym typeface="Arial"/>
              </a:rPr>
              <a:t>DNS records automatically </a:t>
            </a:r>
            <a:r>
              <a:rPr lang="en-US" sz="625" b="0" i="0" u="none" strike="noStrike">
                <a:solidFill>
                  <a:srgbClr val="717074"/>
                </a:solidFill>
                <a:latin typeface="Arial"/>
                <a:ea typeface="Arial"/>
                <a:cs typeface="Arial"/>
                <a:sym typeface="Arial"/>
              </a:rPr>
              <a:t>for your Kubernetes services and ingresses — using a declarative, Kubernetes-native approach. </a:t>
            </a:r>
            <a:endParaRPr/>
          </a:p>
          <a:p>
            <a:pPr marL="0" lvl="0" indent="0" algn="l" rtl="0">
              <a:lnSpc>
                <a:spcPct val="216000"/>
              </a:lnSpc>
              <a:spcBef>
                <a:spcPts val="0"/>
              </a:spcBef>
              <a:spcAft>
                <a:spcPts val="0"/>
              </a:spcAft>
              <a:buNone/>
            </a:pPr>
            <a:endParaRPr sz="625" b="0" i="0" u="none" strike="noStrike">
              <a:solidFill>
                <a:srgbClr val="717074"/>
              </a:solidFill>
              <a:latin typeface="Arial"/>
              <a:ea typeface="Arial"/>
              <a:cs typeface="Arial"/>
              <a:sym typeface="Arial"/>
            </a:endParaRPr>
          </a:p>
          <a:p>
            <a:pPr marL="0" lvl="0" indent="0" algn="l" rtl="0">
              <a:lnSpc>
                <a:spcPct val="216000"/>
              </a:lnSpc>
              <a:spcBef>
                <a:spcPts val="0"/>
              </a:spcBef>
              <a:spcAft>
                <a:spcPts val="0"/>
              </a:spcAft>
              <a:buNone/>
            </a:pPr>
            <a:r>
              <a:rPr lang="en-US" sz="625" b="1" i="0" u="none" strike="noStrike">
                <a:solidFill>
                  <a:srgbClr val="717074"/>
                </a:solidFill>
                <a:latin typeface="Arial"/>
                <a:ea typeface="Arial"/>
                <a:cs typeface="Arial"/>
                <a:sym typeface="Arial"/>
              </a:rPr>
              <a:t>Resources:</a:t>
            </a:r>
            <a:br>
              <a:rPr lang="en-US" sz="625" b="0" i="0" u="none" strike="noStrike">
                <a:solidFill>
                  <a:srgbClr val="717074"/>
                </a:solidFill>
                <a:latin typeface="Arial"/>
                <a:ea typeface="Arial"/>
                <a:cs typeface="Arial"/>
                <a:sym typeface="Arial"/>
              </a:rPr>
            </a:br>
            <a:endParaRPr sz="625" b="0" i="0" u="none" strike="noStrike">
              <a:solidFill>
                <a:srgbClr val="717074"/>
              </a:solidFill>
              <a:latin typeface="Arial"/>
              <a:ea typeface="Arial"/>
              <a:cs typeface="Arial"/>
              <a:sym typeface="Arial"/>
            </a:endParaRPr>
          </a:p>
          <a:p>
            <a:pPr marL="0" lvl="0" indent="0" algn="l" rtl="0">
              <a:lnSpc>
                <a:spcPct val="80000"/>
              </a:lnSpc>
              <a:spcBef>
                <a:spcPts val="0"/>
              </a:spcBef>
              <a:spcAft>
                <a:spcPts val="0"/>
              </a:spcAft>
              <a:buNone/>
            </a:pPr>
            <a:endParaRPr sz="625"/>
          </a:p>
        </p:txBody>
      </p:sp>
      <p:sp>
        <p:nvSpPr>
          <p:cNvPr id="7125" name="Google Shape;7125;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4</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0"/>
        <p:cNvGrpSpPr/>
        <p:nvPr/>
      </p:nvGrpSpPr>
      <p:grpSpPr>
        <a:xfrm>
          <a:off x="0" y="0"/>
          <a:ext cx="0" cy="0"/>
          <a:chOff x="0" y="0"/>
          <a:chExt cx="0" cy="0"/>
        </a:xfrm>
      </p:grpSpPr>
      <p:sp>
        <p:nvSpPr>
          <p:cNvPr id="7281" name="Google Shape;7281;p5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2" name="Google Shape;7282;p5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None/>
            </a:pPr>
            <a:r>
              <a:rPr lang="en-US" sz="660" b="1" i="0" dirty="0"/>
              <a:t>Presenter Note:  This slide contains animation</a:t>
            </a:r>
            <a:endParaRPr dirty="0"/>
          </a:p>
          <a:p>
            <a:pPr marL="0" lvl="0" indent="0" algn="l" rtl="0">
              <a:lnSpc>
                <a:spcPct val="80000"/>
              </a:lnSpc>
              <a:spcBef>
                <a:spcPts val="0"/>
              </a:spcBef>
              <a:spcAft>
                <a:spcPts val="0"/>
              </a:spcAft>
              <a:buNone/>
            </a:pPr>
            <a:endParaRPr sz="660" b="1" i="0" dirty="0"/>
          </a:p>
          <a:p>
            <a:pPr marL="0" lvl="0" indent="0" algn="l" rtl="0">
              <a:lnSpc>
                <a:spcPct val="80000"/>
              </a:lnSpc>
              <a:spcBef>
                <a:spcPts val="0"/>
              </a:spcBef>
              <a:spcAft>
                <a:spcPts val="0"/>
              </a:spcAft>
              <a:buNone/>
            </a:pPr>
            <a:r>
              <a:rPr lang="en-US" sz="660" b="1" i="0" dirty="0"/>
              <a:t>Key Message:</a:t>
            </a:r>
            <a:endParaRPr sz="660" i="0" dirty="0"/>
          </a:p>
          <a:p>
            <a:pPr marL="0" lvl="0" indent="0" algn="l" rtl="0">
              <a:lnSpc>
                <a:spcPct val="80000"/>
              </a:lnSpc>
              <a:spcBef>
                <a:spcPts val="0"/>
              </a:spcBef>
              <a:spcAft>
                <a:spcPts val="0"/>
              </a:spcAft>
              <a:buNone/>
            </a:pPr>
            <a:r>
              <a:rPr lang="en-US" sz="660" i="0" dirty="0"/>
              <a:t>VMware Cloud Foundation enables secure multi-tenancy by allowing isolated teams to share infrastructure through constructs such as vSphere Zones, Supervisors, Regions, Projects, and VPCs. Developers gain self-service access to VMs and containers, while IT controls security, policies, and resource governance.</a:t>
            </a:r>
            <a:endParaRPr dirty="0"/>
          </a:p>
          <a:p>
            <a:pPr marL="0" lvl="0" indent="0" algn="l" rtl="0">
              <a:lnSpc>
                <a:spcPct val="80000"/>
              </a:lnSpc>
              <a:spcBef>
                <a:spcPts val="0"/>
              </a:spcBef>
              <a:spcAft>
                <a:spcPts val="0"/>
              </a:spcAft>
              <a:buNone/>
            </a:pPr>
            <a:endParaRPr sz="660" i="0" dirty="0"/>
          </a:p>
          <a:p>
            <a:pPr marL="0" lvl="0" indent="0" algn="l" rtl="0">
              <a:lnSpc>
                <a:spcPct val="80000"/>
              </a:lnSpc>
              <a:spcBef>
                <a:spcPts val="0"/>
              </a:spcBef>
              <a:spcAft>
                <a:spcPts val="0"/>
              </a:spcAft>
              <a:buNone/>
            </a:pPr>
            <a:r>
              <a:rPr lang="en-US" sz="660" b="1" i="0" dirty="0"/>
              <a:t>Talk Track:</a:t>
            </a:r>
            <a:endParaRPr sz="660" i="0" dirty="0"/>
          </a:p>
          <a:p>
            <a:pPr marL="0" lvl="0" indent="0" algn="l" rtl="0">
              <a:lnSpc>
                <a:spcPct val="80000"/>
              </a:lnSpc>
              <a:spcBef>
                <a:spcPts val="0"/>
              </a:spcBef>
              <a:spcAft>
                <a:spcPts val="0"/>
              </a:spcAft>
              <a:buNone/>
            </a:pPr>
            <a:r>
              <a:rPr lang="en-US" sz="660" dirty="0"/>
              <a:t>A modern private cloud provides multi-tenancy. Multi-tenancy is an architecture in which a software platform and infrastructure serve multiple isolated tenants, such as different teams, departments, or customers. Each tenant utilizes the underlying hardware and software resources but operates in a logically isolated environment with separate resources, data, configurations, and access controls. Let’s look at how VMware Cloud Foundation achieves this.</a:t>
            </a:r>
            <a:endParaRPr dirty="0"/>
          </a:p>
          <a:p>
            <a:pPr marL="0" lvl="0" indent="0" algn="l" rtl="0">
              <a:lnSpc>
                <a:spcPct val="80000"/>
              </a:lnSpc>
              <a:spcBef>
                <a:spcPts val="0"/>
              </a:spcBef>
              <a:spcAft>
                <a:spcPts val="0"/>
              </a:spcAft>
              <a:buNone/>
            </a:pPr>
            <a:endParaRPr sz="660" dirty="0"/>
          </a:p>
          <a:p>
            <a:pPr marL="0" lvl="0" indent="0" algn="l" rtl="0">
              <a:lnSpc>
                <a:spcPct val="80000"/>
              </a:lnSpc>
              <a:spcBef>
                <a:spcPts val="0"/>
              </a:spcBef>
              <a:spcAft>
                <a:spcPts val="0"/>
              </a:spcAft>
              <a:buNone/>
            </a:pPr>
            <a:r>
              <a:rPr lang="en-US" sz="660" dirty="0"/>
              <a:t>vSphere Zones correspond to vSphere clusters and delineate CPU and memory resources for workload placement. They do not include storage and networking. Zones are isolated to ensure that failures in one Zone do not affect others. Zones operate with the Supervisor to direct Kubernetes and VM scheduling, facilitating resilient workload distribution across fault domains.</a:t>
            </a:r>
            <a:endParaRPr dirty="0"/>
          </a:p>
          <a:p>
            <a:pPr marL="0" lvl="0" indent="0" algn="l" rtl="0">
              <a:lnSpc>
                <a:spcPct val="80000"/>
              </a:lnSpc>
              <a:spcBef>
                <a:spcPts val="0"/>
              </a:spcBef>
              <a:spcAft>
                <a:spcPts val="0"/>
              </a:spcAft>
              <a:buNone/>
            </a:pPr>
            <a:endParaRPr sz="660" dirty="0"/>
          </a:p>
          <a:p>
            <a:pPr marL="0" lvl="0" indent="0" algn="l" rtl="0">
              <a:lnSpc>
                <a:spcPct val="80000"/>
              </a:lnSpc>
              <a:spcBef>
                <a:spcPts val="0"/>
              </a:spcBef>
              <a:spcAft>
                <a:spcPts val="0"/>
              </a:spcAft>
              <a:buNone/>
            </a:pPr>
            <a:r>
              <a:rPr lang="en-US" sz="660" dirty="0"/>
              <a:t>&lt;click 1&gt;</a:t>
            </a:r>
            <a:endParaRPr dirty="0"/>
          </a:p>
          <a:p>
            <a:pPr marL="0" lvl="0" indent="0" algn="l" rtl="0">
              <a:lnSpc>
                <a:spcPct val="80000"/>
              </a:lnSpc>
              <a:spcBef>
                <a:spcPts val="0"/>
              </a:spcBef>
              <a:spcAft>
                <a:spcPts val="0"/>
              </a:spcAft>
              <a:buNone/>
            </a:pPr>
            <a:r>
              <a:rPr lang="en-US" sz="660" dirty="0"/>
              <a:t>The vSphere Supervisor integrates a Kubernetes control plane into vSphere, enabling clusters to run both VMs and containerized applications. Developers use Kubernetes tools, while IT manages resources through the vSphere interface. There is no need for a separate container platform. This unifies virtual machines and cloud-native applications on a single infrastructure.</a:t>
            </a:r>
            <a:endParaRPr dirty="0"/>
          </a:p>
          <a:p>
            <a:pPr marL="0" lvl="0" indent="0" algn="l" rtl="0">
              <a:lnSpc>
                <a:spcPct val="80000"/>
              </a:lnSpc>
              <a:spcBef>
                <a:spcPts val="0"/>
              </a:spcBef>
              <a:spcAft>
                <a:spcPts val="0"/>
              </a:spcAft>
              <a:buNone/>
            </a:pPr>
            <a:endParaRPr sz="660" dirty="0"/>
          </a:p>
          <a:p>
            <a:pPr marL="0" lvl="0" indent="0" algn="l" rtl="0">
              <a:lnSpc>
                <a:spcPct val="80000"/>
              </a:lnSpc>
              <a:spcBef>
                <a:spcPts val="0"/>
              </a:spcBef>
              <a:spcAft>
                <a:spcPts val="0"/>
              </a:spcAft>
              <a:buNone/>
            </a:pPr>
            <a:r>
              <a:rPr lang="en-US" sz="660" dirty="0"/>
              <a:t>&lt;click 2&gt;</a:t>
            </a:r>
            <a:endParaRPr dirty="0"/>
          </a:p>
          <a:p>
            <a:pPr marL="0" lvl="0" indent="0" algn="l" rtl="0">
              <a:lnSpc>
                <a:spcPct val="80000"/>
              </a:lnSpc>
              <a:spcBef>
                <a:spcPts val="0"/>
              </a:spcBef>
              <a:spcAft>
                <a:spcPts val="0"/>
              </a:spcAft>
              <a:buNone/>
            </a:pPr>
            <a:r>
              <a:rPr lang="en-US" sz="660" dirty="0"/>
              <a:t>At the VCF Automation level, regions are a logical grouping of compute, storage, VM Classes, and network resources, typically aligned with a geographic location. They facilitate resource allocation for tenants with different service levels. Each region comprises one or more Supervisors and supports performance, capacity, and feature-based segmentation.</a:t>
            </a:r>
            <a:endParaRPr dirty="0"/>
          </a:p>
          <a:p>
            <a:pPr marL="0" lvl="0" indent="0" algn="l" rtl="0">
              <a:lnSpc>
                <a:spcPct val="80000"/>
              </a:lnSpc>
              <a:spcBef>
                <a:spcPts val="0"/>
              </a:spcBef>
              <a:spcAft>
                <a:spcPts val="0"/>
              </a:spcAft>
              <a:buNone/>
            </a:pPr>
            <a:endParaRPr sz="660" dirty="0"/>
          </a:p>
          <a:p>
            <a:pPr marL="0" lvl="0" indent="0" algn="l" rtl="0">
              <a:lnSpc>
                <a:spcPct val="80000"/>
              </a:lnSpc>
              <a:spcBef>
                <a:spcPts val="0"/>
              </a:spcBef>
              <a:spcAft>
                <a:spcPts val="0"/>
              </a:spcAft>
              <a:buNone/>
            </a:pPr>
            <a:r>
              <a:rPr lang="en-US" sz="660" dirty="0"/>
              <a:t>&lt;click 3&gt;</a:t>
            </a:r>
            <a:endParaRPr dirty="0"/>
          </a:p>
          <a:p>
            <a:pPr marL="0" lvl="0" indent="0" algn="l" rtl="0">
              <a:lnSpc>
                <a:spcPct val="80000"/>
              </a:lnSpc>
              <a:spcBef>
                <a:spcPts val="0"/>
              </a:spcBef>
              <a:spcAft>
                <a:spcPts val="0"/>
              </a:spcAft>
              <a:buNone/>
            </a:pPr>
            <a:r>
              <a:rPr lang="en-US" sz="660" dirty="0"/>
              <a:t>Organizations are top-level constructs that isolate tenants and group users, policies, services, and resources within defined boundaries. They provide centralized access control, governance, and usage-based billing. Providers assign regional quotas to organizations, specifying the capacity and number of vSphere zones available to each.</a:t>
            </a:r>
            <a:endParaRPr dirty="0"/>
          </a:p>
          <a:p>
            <a:pPr marL="0" lvl="0" indent="0" algn="l" rtl="0">
              <a:lnSpc>
                <a:spcPct val="80000"/>
              </a:lnSpc>
              <a:spcBef>
                <a:spcPts val="0"/>
              </a:spcBef>
              <a:spcAft>
                <a:spcPts val="0"/>
              </a:spcAft>
              <a:buNone/>
            </a:pPr>
            <a:endParaRPr sz="660" dirty="0"/>
          </a:p>
          <a:p>
            <a:pPr marL="0" lvl="0" indent="0" algn="l" rtl="0">
              <a:lnSpc>
                <a:spcPct val="80000"/>
              </a:lnSpc>
              <a:spcBef>
                <a:spcPts val="0"/>
              </a:spcBef>
              <a:spcAft>
                <a:spcPts val="0"/>
              </a:spcAft>
              <a:buNone/>
            </a:pPr>
            <a:r>
              <a:rPr lang="en-US" sz="660" dirty="0"/>
              <a:t>&lt;click 4&gt;</a:t>
            </a:r>
            <a:endParaRPr dirty="0"/>
          </a:p>
          <a:p>
            <a:pPr marL="0" lvl="0" indent="0" algn="l" rtl="0">
              <a:lnSpc>
                <a:spcPct val="80000"/>
              </a:lnSpc>
              <a:spcBef>
                <a:spcPts val="0"/>
              </a:spcBef>
              <a:spcAft>
                <a:spcPts val="0"/>
              </a:spcAft>
              <a:buNone/>
            </a:pPr>
            <a:r>
              <a:rPr lang="en-US" sz="660" dirty="0"/>
              <a:t>With the underlying infrastructure, services, and controls in place, the organization admin creates projects. A Project is a logical construct that groups namespaces and their related VPCs (Virtual Private Clouds), users, and policies under a single administrative boundary. This simplifies management by allowing each project to have dedicated IP spaces, access controls, and security policies that do not interfere with other projects.</a:t>
            </a:r>
            <a:endParaRPr dirty="0"/>
          </a:p>
          <a:p>
            <a:pPr marL="0" lvl="0" indent="0" algn="l" rtl="0">
              <a:lnSpc>
                <a:spcPct val="80000"/>
              </a:lnSpc>
              <a:spcBef>
                <a:spcPts val="0"/>
              </a:spcBef>
              <a:spcAft>
                <a:spcPts val="0"/>
              </a:spcAft>
              <a:buNone/>
            </a:pPr>
            <a:endParaRPr sz="660" dirty="0"/>
          </a:p>
          <a:p>
            <a:pPr marL="0" lvl="0" indent="0" algn="l" rtl="0">
              <a:lnSpc>
                <a:spcPct val="80000"/>
              </a:lnSpc>
              <a:spcBef>
                <a:spcPts val="0"/>
              </a:spcBef>
              <a:spcAft>
                <a:spcPts val="0"/>
              </a:spcAft>
              <a:buNone/>
            </a:pPr>
            <a:r>
              <a:rPr lang="en-US" sz="660" dirty="0"/>
              <a:t>&lt;click 5&gt;</a:t>
            </a:r>
            <a:endParaRPr dirty="0"/>
          </a:p>
          <a:p>
            <a:pPr marL="0" lvl="0" indent="0" algn="l" rtl="0">
              <a:lnSpc>
                <a:spcPct val="80000"/>
              </a:lnSpc>
              <a:spcBef>
                <a:spcPts val="0"/>
              </a:spcBef>
              <a:spcAft>
                <a:spcPts val="0"/>
              </a:spcAft>
              <a:buNone/>
            </a:pPr>
            <a:r>
              <a:rPr lang="en-US" sz="660" dirty="0"/>
              <a:t>A VPC (Virtual Private Cloud) is an isolated virtual network environment that delivers cloud-like networking capabilities within your on-premises data center. It includes components configured by the organization admin, such as subnets, routers, and NAT, to enable easy self-service access to networking resources for tenants. Each VPC provides isolation, making it ideal for multi-tenancy, development environments, application owner segmentation, etc.</a:t>
            </a:r>
            <a:endParaRPr dirty="0"/>
          </a:p>
          <a:p>
            <a:pPr marL="0" lvl="0" indent="0" algn="l" rtl="0">
              <a:lnSpc>
                <a:spcPct val="80000"/>
              </a:lnSpc>
              <a:spcBef>
                <a:spcPts val="0"/>
              </a:spcBef>
              <a:spcAft>
                <a:spcPts val="0"/>
              </a:spcAft>
              <a:buNone/>
            </a:pPr>
            <a:endParaRPr sz="660" dirty="0"/>
          </a:p>
          <a:p>
            <a:pPr marL="0" lvl="0" indent="0" algn="l" rtl="0">
              <a:lnSpc>
                <a:spcPct val="80000"/>
              </a:lnSpc>
              <a:spcBef>
                <a:spcPts val="0"/>
              </a:spcBef>
              <a:spcAft>
                <a:spcPts val="0"/>
              </a:spcAft>
              <a:buNone/>
            </a:pPr>
            <a:r>
              <a:rPr lang="en-US" sz="660" dirty="0"/>
              <a:t>Within a VPC, one or more vSphere Namespaces provide the resources from a vSphere Supervisor cluster where Kubernetes workloads can operate. It serves as a container for applications, integrating the concept of Kubernetes namespaces with vSphere-specific features such as resource limits, access control, storage policies, and container network settings.</a:t>
            </a:r>
            <a:endParaRPr dirty="0"/>
          </a:p>
          <a:p>
            <a:pPr marL="0" lvl="0" indent="0" algn="l" rtl="0">
              <a:lnSpc>
                <a:spcPct val="80000"/>
              </a:lnSpc>
              <a:spcBef>
                <a:spcPts val="0"/>
              </a:spcBef>
              <a:spcAft>
                <a:spcPts val="0"/>
              </a:spcAft>
              <a:buNone/>
            </a:pPr>
            <a:endParaRPr sz="660" dirty="0"/>
          </a:p>
          <a:p>
            <a:pPr marL="0" lvl="0" indent="0" algn="l" rtl="0">
              <a:lnSpc>
                <a:spcPct val="80000"/>
              </a:lnSpc>
              <a:spcBef>
                <a:spcPts val="0"/>
              </a:spcBef>
              <a:spcAft>
                <a:spcPts val="0"/>
              </a:spcAft>
              <a:buNone/>
            </a:pPr>
            <a:r>
              <a:rPr lang="en-US" sz="660" dirty="0"/>
              <a:t>&lt;click 6&gt;</a:t>
            </a:r>
            <a:endParaRPr dirty="0"/>
          </a:p>
          <a:p>
            <a:pPr marL="0" lvl="0" indent="0" algn="l" rtl="0">
              <a:lnSpc>
                <a:spcPct val="80000"/>
              </a:lnSpc>
              <a:spcBef>
                <a:spcPts val="0"/>
              </a:spcBef>
              <a:spcAft>
                <a:spcPts val="0"/>
              </a:spcAft>
              <a:buNone/>
            </a:pPr>
            <a:r>
              <a:rPr lang="en-US" sz="660" dirty="0"/>
              <a:t>End users, such as developers and app owners, can access these resources in a self-service manner while organization admins and provider admins ensure security and governance. End Users can deploy virtual machines and modern applications without configuring or understanding the underlying infrastructure. This approach helps control costs and facilitates faster development cycles, enhancing speed to market.</a:t>
            </a:r>
            <a:endParaRPr dirty="0"/>
          </a:p>
          <a:p>
            <a:pPr marL="0" lvl="0" indent="0" algn="l" rtl="0">
              <a:lnSpc>
                <a:spcPct val="80000"/>
              </a:lnSpc>
              <a:spcBef>
                <a:spcPts val="0"/>
              </a:spcBef>
              <a:spcAft>
                <a:spcPts val="0"/>
              </a:spcAft>
              <a:buNone/>
            </a:pPr>
            <a:endParaRPr sz="660" dirty="0"/>
          </a:p>
          <a:p>
            <a:pPr marL="0" lvl="0" indent="0" algn="l" rtl="0">
              <a:lnSpc>
                <a:spcPct val="80000"/>
              </a:lnSpc>
              <a:spcBef>
                <a:spcPts val="0"/>
              </a:spcBef>
              <a:spcAft>
                <a:spcPts val="0"/>
              </a:spcAft>
              <a:buNone/>
            </a:pPr>
            <a:r>
              <a:rPr lang="en-US" sz="660" b="1" dirty="0"/>
              <a:t>Notes:</a:t>
            </a:r>
            <a:br>
              <a:rPr lang="en-US" sz="660" dirty="0"/>
            </a:br>
            <a:br>
              <a:rPr lang="en-US" sz="660" dirty="0"/>
            </a:br>
            <a:r>
              <a:rPr lang="en-US" sz="660" b="1" dirty="0"/>
              <a:t>Resources:</a:t>
            </a:r>
            <a:br>
              <a:rPr lang="en-US" sz="660" dirty="0"/>
            </a:br>
            <a:endParaRPr sz="660" dirty="0"/>
          </a:p>
        </p:txBody>
      </p:sp>
      <p:sp>
        <p:nvSpPr>
          <p:cNvPr id="7283" name="Google Shape;7283;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5</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4"/>
        <p:cNvGrpSpPr/>
        <p:nvPr/>
      </p:nvGrpSpPr>
      <p:grpSpPr>
        <a:xfrm>
          <a:off x="0" y="0"/>
          <a:ext cx="0" cy="0"/>
          <a:chOff x="0" y="0"/>
          <a:chExt cx="0" cy="0"/>
        </a:xfrm>
      </p:grpSpPr>
      <p:sp>
        <p:nvSpPr>
          <p:cNvPr id="7465" name="Google Shape;7465;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6" name="Google Shape;7466;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sz="800" b="1" i="0" dirty="0"/>
              <a:t>Presenter Note:  This slide contains animation</a:t>
            </a:r>
            <a:endParaRPr lang="en-US" dirty="0"/>
          </a:p>
          <a:p>
            <a:pPr marL="0" lvl="0" indent="0" algn="l" rtl="0">
              <a:lnSpc>
                <a:spcPct val="60000"/>
              </a:lnSpc>
              <a:spcBef>
                <a:spcPts val="0"/>
              </a:spcBef>
              <a:spcAft>
                <a:spcPts val="0"/>
              </a:spcAft>
              <a:buClr>
                <a:schemeClr val="dk1"/>
              </a:buClr>
              <a:buSzPts val="713"/>
              <a:buFont typeface="Arial"/>
              <a:buNone/>
            </a:pPr>
            <a:endParaRPr lang="en-US" sz="12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sz="20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dirty="0">
                <a:latin typeface="Arial"/>
                <a:ea typeface="Arial"/>
                <a:cs typeface="Arial"/>
                <a:sym typeface="Arial"/>
              </a:rPr>
              <a:t>With guided workflows in the quick setup, a customer can easily adopt VCFA 9 for the first time.</a:t>
            </a:r>
            <a:endParaRPr dirty="0"/>
          </a:p>
          <a:p>
            <a:pPr marL="0" lvl="0" indent="0" algn="l" rtl="0">
              <a:lnSpc>
                <a:spcPct val="60000"/>
              </a:lnSpc>
              <a:spcBef>
                <a:spcPts val="0"/>
              </a:spcBef>
              <a:spcAft>
                <a:spcPts val="0"/>
              </a:spcAft>
              <a:buClr>
                <a:schemeClr val="dk1"/>
              </a:buClr>
              <a:buSzPts val="713"/>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endParaRPr dirty="0"/>
          </a:p>
          <a:p>
            <a:pPr marL="0" marR="0" lvl="0" indent="0" algn="l" rtl="0">
              <a:lnSpc>
                <a:spcPct val="60000"/>
              </a:lnSpc>
              <a:spcBef>
                <a:spcPts val="0"/>
              </a:spcBef>
              <a:spcAft>
                <a:spcPts val="0"/>
              </a:spcAft>
              <a:buClr>
                <a:schemeClr val="dk1"/>
              </a:buClr>
              <a:buSzPts val="713"/>
              <a:buFont typeface="Arial"/>
              <a:buNone/>
            </a:pPr>
            <a:r>
              <a:rPr lang="en-US" sz="1200" b="0" dirty="0">
                <a:latin typeface="Arial"/>
                <a:ea typeface="Arial"/>
                <a:cs typeface="Arial"/>
                <a:sym typeface="Arial"/>
              </a:rPr>
              <a:t>With t</a:t>
            </a:r>
            <a:r>
              <a:rPr lang="en-US" dirty="0"/>
              <a:t>he Quick Setup feature, we have streamlined the process for IT Admins, enabling them to establish organizations more efficiently.</a:t>
            </a:r>
            <a:endParaRPr dirty="0"/>
          </a:p>
          <a:p>
            <a:pPr marL="0" marR="0" lvl="0" indent="0" algn="l" rtl="0">
              <a:lnSpc>
                <a:spcPct val="60000"/>
              </a:lnSpc>
              <a:spcBef>
                <a:spcPts val="0"/>
              </a:spcBef>
              <a:spcAft>
                <a:spcPts val="0"/>
              </a:spcAft>
              <a:buClr>
                <a:schemeClr val="dk1"/>
              </a:buClr>
              <a:buSzPts val="713"/>
              <a:buFont typeface="Arial"/>
              <a:buNone/>
            </a:pPr>
            <a:r>
              <a:rPr lang="en-US" dirty="0"/>
              <a:t>Instead of thinking about every detail from the beginning, they can start with a basic setup, with VCF Automation guiding IT Admins through the initial setup tasks.</a:t>
            </a:r>
            <a:endParaRPr dirty="0"/>
          </a:p>
          <a:p>
            <a:pPr marL="0" marR="0" lvl="0" indent="0" algn="l" rtl="0">
              <a:lnSpc>
                <a:spcPct val="60000"/>
              </a:lnSpc>
              <a:spcBef>
                <a:spcPts val="0"/>
              </a:spcBef>
              <a:spcAft>
                <a:spcPts val="0"/>
              </a:spcAft>
              <a:buClr>
                <a:schemeClr val="dk1"/>
              </a:buClr>
              <a:buSzPts val="713"/>
              <a:buFont typeface="Arial"/>
              <a:buNone/>
            </a:pPr>
            <a:endParaRPr dirty="0"/>
          </a:p>
          <a:p>
            <a:pPr marL="0" marR="0" lvl="0" indent="0" algn="l" rtl="0">
              <a:lnSpc>
                <a:spcPct val="60000"/>
              </a:lnSpc>
              <a:spcBef>
                <a:spcPts val="0"/>
              </a:spcBef>
              <a:spcAft>
                <a:spcPts val="0"/>
              </a:spcAft>
              <a:buClr>
                <a:schemeClr val="dk1"/>
              </a:buClr>
              <a:buSzPts val="713"/>
              <a:buFont typeface="Arial"/>
              <a:buNone/>
            </a:pPr>
            <a:r>
              <a:rPr lang="en-US" dirty="0"/>
              <a:t>The automatic creation of projects and vSphere namespaces by default accelerates the process of provisioning workloads almost immediately. </a:t>
            </a:r>
            <a:endParaRPr dirty="0"/>
          </a:p>
          <a:p>
            <a:pPr marL="0" marR="0" lvl="0" indent="0" algn="l" rtl="0">
              <a:lnSpc>
                <a:spcPct val="60000"/>
              </a:lnSpc>
              <a:spcBef>
                <a:spcPts val="0"/>
              </a:spcBef>
              <a:spcAft>
                <a:spcPts val="0"/>
              </a:spcAft>
              <a:buClr>
                <a:schemeClr val="dk1"/>
              </a:buClr>
              <a:buSzPts val="713"/>
              <a:buFont typeface="Arial"/>
              <a:buNone/>
            </a:pPr>
            <a:r>
              <a:rPr lang="en-US" dirty="0"/>
              <a:t>Additionally, having a default Virtual Private Cloud (VPC) setup establishes a network isolation domain within the organization, laying the groundwork for future scalability when multiple network isolation domains are needed.</a:t>
            </a:r>
            <a:endParaRPr dirty="0"/>
          </a:p>
          <a:p>
            <a:pPr marL="0" marR="0" lvl="0" indent="0" algn="l" rtl="0">
              <a:lnSpc>
                <a:spcPct val="60000"/>
              </a:lnSpc>
              <a:spcBef>
                <a:spcPts val="0"/>
              </a:spcBef>
              <a:spcAft>
                <a:spcPts val="0"/>
              </a:spcAft>
              <a:buClr>
                <a:schemeClr val="dk1"/>
              </a:buClr>
              <a:buSzPts val="713"/>
              <a:buFont typeface="Arial"/>
              <a:buNone/>
            </a:pPr>
            <a:endParaRPr dirty="0"/>
          </a:p>
          <a:p>
            <a:pPr marL="0" marR="0" lvl="0" indent="0" algn="l" rtl="0">
              <a:lnSpc>
                <a:spcPct val="60000"/>
              </a:lnSpc>
              <a:spcBef>
                <a:spcPts val="0"/>
              </a:spcBef>
              <a:spcAft>
                <a:spcPts val="0"/>
              </a:spcAft>
              <a:buClr>
                <a:schemeClr val="dk1"/>
              </a:buClr>
              <a:buSzPts val="713"/>
              <a:buFont typeface="Arial"/>
              <a:buNone/>
            </a:pPr>
            <a:r>
              <a:rPr lang="en-US" dirty="0"/>
              <a:t>&lt;click&gt;</a:t>
            </a:r>
            <a:endParaRPr dirty="0"/>
          </a:p>
          <a:p>
            <a:pPr marL="0" marR="0" lvl="0" indent="0" algn="l" rtl="0">
              <a:lnSpc>
                <a:spcPct val="60000"/>
              </a:lnSpc>
              <a:spcBef>
                <a:spcPts val="0"/>
              </a:spcBef>
              <a:spcAft>
                <a:spcPts val="0"/>
              </a:spcAft>
              <a:buClr>
                <a:schemeClr val="dk1"/>
              </a:buClr>
              <a:buSzPts val="713"/>
              <a:buFont typeface="Arial"/>
              <a:buNone/>
            </a:pPr>
            <a:r>
              <a:rPr lang="en-US" dirty="0"/>
              <a:t>When opting out of the Quick Setup, no configurations are set up. However, the product provides get-started guided workflows to assist in completing the necessary steps, which enhances organization onboarding and support.</a:t>
            </a:r>
            <a:endParaRPr dirty="0"/>
          </a:p>
          <a:p>
            <a:pPr marL="0" marR="0" lvl="0" indent="0" algn="l" rtl="0">
              <a:lnSpc>
                <a:spcPct val="60000"/>
              </a:lnSpc>
              <a:spcBef>
                <a:spcPts val="0"/>
              </a:spcBef>
              <a:spcAft>
                <a:spcPts val="0"/>
              </a:spcAft>
              <a:buClr>
                <a:schemeClr val="dk1"/>
              </a:buClr>
              <a:buSzPts val="713"/>
              <a:buFont typeface="Arial"/>
              <a:buNone/>
            </a:pPr>
            <a:endParaRPr dirty="0"/>
          </a:p>
          <a:p>
            <a:pPr marL="0" marR="0" lvl="0" indent="0" algn="l" rtl="0">
              <a:lnSpc>
                <a:spcPct val="60000"/>
              </a:lnSpc>
              <a:spcBef>
                <a:spcPts val="0"/>
              </a:spcBef>
              <a:spcAft>
                <a:spcPts val="0"/>
              </a:spcAft>
              <a:buClr>
                <a:schemeClr val="dk1"/>
              </a:buClr>
              <a:buSzPts val="713"/>
              <a:buFont typeface="Arial"/>
              <a:buNone/>
            </a:pPr>
            <a:r>
              <a:rPr lang="en-US" dirty="0"/>
              <a:t>These guided workflows can help to streamline the learning process, making it easier for administrators to understand and effectively utilize the system, ultimately leading to better user satisfaction and engagement.</a:t>
            </a:r>
            <a:endParaRPr dirty="0"/>
          </a:p>
          <a:p>
            <a:pPr marL="0" marR="0" lvl="0" indent="0" algn="l" rtl="0">
              <a:lnSpc>
                <a:spcPct val="60000"/>
              </a:lnSpc>
              <a:spcBef>
                <a:spcPts val="0"/>
              </a:spcBef>
              <a:spcAft>
                <a:spcPts val="0"/>
              </a:spcAft>
              <a:buClr>
                <a:schemeClr val="dk1"/>
              </a:buClr>
              <a:buSzPts val="713"/>
              <a:buFont typeface="Arial"/>
              <a:buNone/>
            </a:pPr>
            <a:endParaRPr sz="1200" b="1" dirty="0">
              <a:latin typeface="Arial"/>
              <a:ea typeface="Arial"/>
              <a:cs typeface="Arial"/>
              <a:sym typeface="Arial"/>
            </a:endParaRPr>
          </a:p>
          <a:p>
            <a:pPr marL="0" marR="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Notes:</a:t>
            </a:r>
            <a:endParaRPr dirty="0"/>
          </a:p>
          <a:p>
            <a:pPr marL="0" lvl="0" indent="0" algn="l" rtl="0">
              <a:lnSpc>
                <a:spcPct val="90000"/>
              </a:lnSpc>
              <a:spcBef>
                <a:spcPts val="0"/>
              </a:spcBef>
              <a:spcAft>
                <a:spcPts val="0"/>
              </a:spcAft>
              <a:buClr>
                <a:schemeClr val="dk2"/>
              </a:buClr>
              <a:buSzPts val="1100"/>
              <a:buFont typeface="Arial"/>
              <a:buNone/>
            </a:pPr>
            <a:r>
              <a:rPr lang="en-US" b="0" u="sng" dirty="0"/>
              <a:t>Customer Benefits:</a:t>
            </a:r>
            <a:endParaRPr dirty="0"/>
          </a:p>
          <a:p>
            <a:pPr marL="457200" lvl="0" indent="-317500" algn="l" rtl="0">
              <a:lnSpc>
                <a:spcPct val="90000"/>
              </a:lnSpc>
              <a:spcBef>
                <a:spcPts val="0"/>
              </a:spcBef>
              <a:spcAft>
                <a:spcPts val="0"/>
              </a:spcAft>
              <a:buClr>
                <a:schemeClr val="dk1"/>
              </a:buClr>
              <a:buSzPts val="1400"/>
              <a:buFont typeface="Arial"/>
              <a:buChar char="•"/>
            </a:pPr>
            <a:r>
              <a:rPr lang="en-US" dirty="0"/>
              <a:t>The Quick Setup feature streamlines the process for IT Admins, enabling them to establish organizations more efficiently. Instead of thinking about every detail from the beginning, they can start with a basic setup, with VCF Automation guiding IT Admins through the initial setup tasks. This allows them to gradually gain proficiency and take on manual configurations as they become more familiar with the system. </a:t>
            </a:r>
            <a:endParaRPr dirty="0"/>
          </a:p>
          <a:p>
            <a:pPr marL="914400" lvl="1" indent="-317500" algn="l" rtl="0">
              <a:lnSpc>
                <a:spcPct val="90000"/>
              </a:lnSpc>
              <a:spcBef>
                <a:spcPts val="0"/>
              </a:spcBef>
              <a:spcAft>
                <a:spcPts val="0"/>
              </a:spcAft>
              <a:buClr>
                <a:schemeClr val="dk1"/>
              </a:buClr>
              <a:buSzPts val="1400"/>
              <a:buFont typeface="Arial"/>
              <a:buChar char="•"/>
            </a:pPr>
            <a:r>
              <a:rPr lang="en-US" b="1" i="1" dirty="0"/>
              <a:t>Note</a:t>
            </a:r>
            <a:r>
              <a:rPr lang="en-US" i="1" dirty="0"/>
              <a:t>: There is a Quick Setup at the Org level and that is the Quick Setup Wizard for Private AI but this is use-case specific (not everyone will have access). </a:t>
            </a:r>
            <a:endParaRPr dirty="0"/>
          </a:p>
          <a:p>
            <a:pPr marL="457200" lvl="0" indent="-317500" algn="l" rtl="0">
              <a:lnSpc>
                <a:spcPct val="90000"/>
              </a:lnSpc>
              <a:spcBef>
                <a:spcPts val="0"/>
              </a:spcBef>
              <a:spcAft>
                <a:spcPts val="0"/>
              </a:spcAft>
              <a:buClr>
                <a:schemeClr val="dk1"/>
              </a:buClr>
              <a:buSzPts val="1400"/>
              <a:buFont typeface="Arial"/>
              <a:buChar char="•"/>
            </a:pPr>
            <a:r>
              <a:rPr lang="en-US" dirty="0"/>
              <a:t>So, one main benefits of providing guided workflows for users who opt out of the Quick Start and have no configurations is that it enhances user onboarding and support. These guided workflows can help to streamline the learning process, making it easier for users to understand and effectively utilize the system, ultimately leading to better user satisfaction and engagement.</a:t>
            </a:r>
            <a:endParaRPr i="1" dirty="0"/>
          </a:p>
          <a:p>
            <a:pPr marL="457200" lvl="0" indent="-317500" algn="l" rtl="0">
              <a:lnSpc>
                <a:spcPct val="90000"/>
              </a:lnSpc>
              <a:spcBef>
                <a:spcPts val="0"/>
              </a:spcBef>
              <a:spcAft>
                <a:spcPts val="0"/>
              </a:spcAft>
              <a:buClr>
                <a:schemeClr val="dk1"/>
              </a:buClr>
              <a:buSzPts val="1400"/>
              <a:buFont typeface="Arial"/>
              <a:buChar char="•"/>
            </a:pPr>
            <a:r>
              <a:rPr lang="en-US" dirty="0"/>
              <a:t>When opting out of the Quick Start, no configurations are set up. However, the product provides guided workflows to assist in configuring the necessary resources.</a:t>
            </a:r>
            <a:endParaRPr dirty="0"/>
          </a:p>
          <a:p>
            <a:pPr marL="0" lvl="0" indent="0" algn="l" rtl="0">
              <a:lnSpc>
                <a:spcPct val="60000"/>
              </a:lnSpc>
              <a:spcBef>
                <a:spcPts val="0"/>
              </a:spcBef>
              <a:spcAft>
                <a:spcPts val="0"/>
              </a:spcAft>
              <a:buClr>
                <a:schemeClr val="dk1"/>
              </a:buClr>
              <a:buSzPts val="713"/>
              <a:buFont typeface="Arial"/>
              <a:buNone/>
            </a:pPr>
            <a:endParaRPr sz="1200" b="1" dirty="0"/>
          </a:p>
          <a:p>
            <a:pPr marL="0" lvl="0" indent="0" algn="l" rtl="0">
              <a:lnSpc>
                <a:spcPct val="90000"/>
              </a:lnSpc>
              <a:spcBef>
                <a:spcPts val="0"/>
              </a:spcBef>
              <a:spcAft>
                <a:spcPts val="0"/>
              </a:spcAft>
              <a:buClr>
                <a:schemeClr val="dk2"/>
              </a:buClr>
              <a:buSzPts val="1100"/>
              <a:buFont typeface="Arial"/>
              <a:buNone/>
            </a:pPr>
            <a:r>
              <a:rPr lang="en-US" b="0" u="sng" dirty="0"/>
              <a:t>Key Attributes:</a:t>
            </a:r>
            <a:endParaRPr dirty="0"/>
          </a:p>
          <a:p>
            <a:pPr marL="457200" lvl="0" indent="-317500" algn="l" rtl="0">
              <a:lnSpc>
                <a:spcPct val="90000"/>
              </a:lnSpc>
              <a:spcBef>
                <a:spcPts val="0"/>
              </a:spcBef>
              <a:spcAft>
                <a:spcPts val="0"/>
              </a:spcAft>
              <a:buClr>
                <a:schemeClr val="dk1"/>
              </a:buClr>
              <a:buSzPts val="1400"/>
              <a:buFont typeface="Arial"/>
              <a:buChar char="•"/>
            </a:pPr>
            <a:r>
              <a:rPr lang="en-US" dirty="0"/>
              <a:t>Enterprise IT administrators can quickly move from zero to a fully functional organization capable of creating network-isolated workloads with external connectivity. The automatic creation of projects and vSphere namespaces by default accelerates the process of provisioning workloads almost immediately. Additionally, having a default Virtual Private Cloud (VPC) setup establishes a network isolation domain within the organization, laying the groundwork for future scalability when multiple network isolation domains are needed.</a:t>
            </a:r>
            <a:endParaRPr dirty="0"/>
          </a:p>
          <a:p>
            <a:pPr marL="457200" lvl="0" indent="-317500" algn="l" rtl="0">
              <a:lnSpc>
                <a:spcPct val="90000"/>
              </a:lnSpc>
              <a:spcBef>
                <a:spcPts val="0"/>
              </a:spcBef>
              <a:spcAft>
                <a:spcPts val="0"/>
              </a:spcAft>
              <a:buClr>
                <a:schemeClr val="dk1"/>
              </a:buClr>
              <a:buSzPts val="1400"/>
              <a:buFont typeface="Arial"/>
              <a:buChar char="•"/>
            </a:pPr>
            <a:r>
              <a:rPr lang="en-US" dirty="0"/>
              <a:t>When opting out of the Quick Setup, no configurations are set up. However, the product provides guided workflows to assist in configuring the necessary resources.</a:t>
            </a:r>
            <a:endParaRPr dirty="0"/>
          </a:p>
          <a:p>
            <a:pPr marL="0" lvl="0" indent="0" algn="l" rtl="0">
              <a:spcBef>
                <a:spcPts val="0"/>
              </a:spcBef>
              <a:spcAft>
                <a:spcPts val="0"/>
              </a:spcAft>
              <a:buNone/>
            </a:pPr>
            <a:br>
              <a:rPr lang="en-US" sz="1200" dirty="0"/>
            </a:br>
            <a:r>
              <a:rPr lang="en-US" sz="1200" b="1" dirty="0"/>
              <a:t>Resources:</a:t>
            </a:r>
            <a:br>
              <a:rPr lang="en-US" sz="1200" dirty="0"/>
            </a:br>
            <a:endParaRPr dirty="0"/>
          </a:p>
        </p:txBody>
      </p:sp>
      <p:sp>
        <p:nvSpPr>
          <p:cNvPr id="7467" name="Google Shape;7467;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5"/>
        <p:cNvGrpSpPr/>
        <p:nvPr/>
      </p:nvGrpSpPr>
      <p:grpSpPr>
        <a:xfrm>
          <a:off x="0" y="0"/>
          <a:ext cx="0" cy="0"/>
          <a:chOff x="0" y="0"/>
          <a:chExt cx="0" cy="0"/>
        </a:xfrm>
      </p:grpSpPr>
      <p:sp>
        <p:nvSpPr>
          <p:cNvPr id="7476" name="Google Shape;7476;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7" name="Google Shape;7477;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sz="20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dirty="0">
                <a:latin typeface="Arial"/>
                <a:ea typeface="Arial"/>
                <a:cs typeface="Arial"/>
                <a:sym typeface="Arial"/>
              </a:rPr>
              <a:t>With VCFA 9, we provide out-of-the-box Supervisor Services to simplify the deployment of IT resources while increasing user productivity by reducing the dependence on IT Admins with a time-saving user-friendly interface to simplify operations.</a:t>
            </a:r>
            <a:endParaRPr dirty="0"/>
          </a:p>
          <a:p>
            <a:pPr marL="0" lvl="0" indent="0" algn="l" rtl="0">
              <a:lnSpc>
                <a:spcPct val="60000"/>
              </a:lnSpc>
              <a:spcBef>
                <a:spcPts val="0"/>
              </a:spcBef>
              <a:spcAft>
                <a:spcPts val="0"/>
              </a:spcAft>
              <a:buClr>
                <a:schemeClr val="dk1"/>
              </a:buClr>
              <a:buSzPts val="713"/>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endParaRPr sz="1200" b="0"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b="0" dirty="0"/>
              <a:t>With our c</a:t>
            </a:r>
            <a:r>
              <a:rPr lang="en-US" sz="1200" dirty="0"/>
              <a:t>omprehensive suite of out-of-the-box services (Core “VM, Kubernetes, Network, Volume” Extended “Data Services, Object Store Services” etc.), we simplify the deployment and management of IT resources.</a:t>
            </a:r>
            <a:endParaRPr dirty="0"/>
          </a:p>
          <a:p>
            <a:pPr marL="0" lvl="0" indent="0" algn="l" rtl="0">
              <a:lnSpc>
                <a:spcPct val="60000"/>
              </a:lnSpc>
              <a:spcBef>
                <a:spcPts val="0"/>
              </a:spcBef>
              <a:spcAft>
                <a:spcPts val="0"/>
              </a:spcAft>
              <a:buClr>
                <a:schemeClr val="dk1"/>
              </a:buClr>
              <a:buSzPts val="713"/>
              <a:buFont typeface="Arial"/>
              <a:buNone/>
            </a:pPr>
            <a:r>
              <a:rPr lang="en-US" sz="1200" dirty="0"/>
              <a:t>This allows organizations to quickly scale their infrastructure needs, reduce operational complexities, and focus more on innovation and development rather than on maintaining disparate systems.</a:t>
            </a:r>
            <a:endParaRPr dirty="0"/>
          </a:p>
          <a:p>
            <a:pPr marL="0" lvl="0" indent="0" algn="l" rtl="0">
              <a:lnSpc>
                <a:spcPct val="60000"/>
              </a:lnSpc>
              <a:spcBef>
                <a:spcPts val="0"/>
              </a:spcBef>
              <a:spcAft>
                <a:spcPts val="0"/>
              </a:spcAft>
              <a:buClr>
                <a:schemeClr val="dk1"/>
              </a:buClr>
              <a:buSzPts val="713"/>
              <a:buFont typeface="Arial"/>
              <a:buNone/>
            </a:pPr>
            <a:endParaRPr sz="1200" dirty="0"/>
          </a:p>
          <a:p>
            <a:pPr marL="0" lvl="0" indent="0" algn="l" rtl="0">
              <a:lnSpc>
                <a:spcPct val="60000"/>
              </a:lnSpc>
              <a:spcBef>
                <a:spcPts val="0"/>
              </a:spcBef>
              <a:spcAft>
                <a:spcPts val="0"/>
              </a:spcAft>
              <a:buClr>
                <a:schemeClr val="dk1"/>
              </a:buClr>
              <a:buSzPts val="713"/>
              <a:buFont typeface="Arial"/>
              <a:buNone/>
            </a:pPr>
            <a:r>
              <a:rPr lang="en-US" sz="1200" dirty="0"/>
              <a:t>OOTB Supervisor services (Supervisor and associated services) are exposed across VCF environments and aggregated into a common endpoint that can be accessed through a choice of interfaces: UI, CLI, or the declarative Kubernetes IaaS API for self-service consumption.</a:t>
            </a:r>
            <a:endParaRPr dirty="0"/>
          </a:p>
          <a:p>
            <a:pPr marL="0" lvl="0" indent="0" algn="l" rtl="0">
              <a:lnSpc>
                <a:spcPct val="60000"/>
              </a:lnSpc>
              <a:spcBef>
                <a:spcPts val="0"/>
              </a:spcBef>
              <a:spcAft>
                <a:spcPts val="0"/>
              </a:spcAft>
              <a:buClr>
                <a:schemeClr val="dk1"/>
              </a:buClr>
              <a:buSzPts val="713"/>
              <a:buFont typeface="Arial"/>
              <a:buNone/>
            </a:pPr>
            <a:r>
              <a:rPr lang="en-US" sz="1200" dirty="0"/>
              <a:t>Users can leverage a variety of </a:t>
            </a:r>
            <a:r>
              <a:rPr lang="en-US" sz="1200" dirty="0">
                <a:latin typeface="Arial"/>
                <a:ea typeface="Arial"/>
                <a:cs typeface="Arial"/>
                <a:sym typeface="Arial"/>
              </a:rPr>
              <a:t>Supervisor</a:t>
            </a:r>
            <a:r>
              <a:rPr lang="en-US" sz="1200" dirty="0"/>
              <a:t> Services such as VM Service that allows you to declaratively define and provision VMs, VKS Service for deploying Kubernetes Clusters, Network Service to deploy Load balancers, Volume Service to deploy Persistent Volumes, Supervisor Services that help you extend the capabilities of the IaaS Platform like, Harbor for OCI Image registry, or Cert Manager for certificate management and the list can go on.</a:t>
            </a:r>
            <a:endParaRPr dirty="0"/>
          </a:p>
          <a:p>
            <a:pPr marL="0" lvl="0" indent="0" algn="l" rtl="0">
              <a:lnSpc>
                <a:spcPct val="60000"/>
              </a:lnSpc>
              <a:spcBef>
                <a:spcPts val="0"/>
              </a:spcBef>
              <a:spcAft>
                <a:spcPts val="0"/>
              </a:spcAft>
              <a:buClr>
                <a:schemeClr val="dk1"/>
              </a:buClr>
              <a:buSzPts val="713"/>
              <a:buFont typeface="Arial"/>
              <a:buNone/>
            </a:pPr>
            <a:endParaRPr sz="1200" dirty="0"/>
          </a:p>
          <a:p>
            <a:pPr marL="0" lvl="0" indent="0" algn="l" rtl="0">
              <a:lnSpc>
                <a:spcPct val="60000"/>
              </a:lnSpc>
              <a:spcBef>
                <a:spcPts val="0"/>
              </a:spcBef>
              <a:spcAft>
                <a:spcPts val="0"/>
              </a:spcAft>
              <a:buClr>
                <a:schemeClr val="dk1"/>
              </a:buClr>
              <a:buSzPts val="713"/>
              <a:buFont typeface="Arial"/>
              <a:buNone/>
            </a:pPr>
            <a:r>
              <a:rPr lang="en-US" sz="1200" dirty="0"/>
              <a:t>The Self-Service IaaS is an end-user-oriented approach. End users and app teams can freely consume the OOTB </a:t>
            </a:r>
            <a:r>
              <a:rPr lang="en-US" sz="1200" dirty="0">
                <a:latin typeface="Arial"/>
                <a:ea typeface="Arial"/>
                <a:cs typeface="Arial"/>
                <a:sym typeface="Arial"/>
              </a:rPr>
              <a:t>Supervisor</a:t>
            </a:r>
            <a:r>
              <a:rPr lang="en-US" sz="1200" dirty="0"/>
              <a:t> services just like a public cloud for maximum productivity and efficiency.</a:t>
            </a:r>
            <a:endParaRPr dirty="0"/>
          </a:p>
          <a:p>
            <a:pPr marL="0" lvl="0" indent="0" algn="l" rtl="0">
              <a:lnSpc>
                <a:spcPct val="60000"/>
              </a:lnSpc>
              <a:spcBef>
                <a:spcPts val="0"/>
              </a:spcBef>
              <a:spcAft>
                <a:spcPts val="0"/>
              </a:spcAft>
              <a:buClr>
                <a:schemeClr val="dk1"/>
              </a:buClr>
              <a:buSzPts val="713"/>
              <a:buFont typeface="Arial"/>
              <a:buNone/>
            </a:pPr>
            <a:endParaRPr sz="1200" dirty="0"/>
          </a:p>
          <a:p>
            <a:pPr marL="0" lvl="0" indent="0" algn="l" rtl="0">
              <a:lnSpc>
                <a:spcPct val="60000"/>
              </a:lnSpc>
              <a:spcBef>
                <a:spcPts val="0"/>
              </a:spcBef>
              <a:spcAft>
                <a:spcPts val="0"/>
              </a:spcAft>
              <a:buClr>
                <a:schemeClr val="dk1"/>
              </a:buClr>
              <a:buSzPts val="713"/>
              <a:buFont typeface="Arial"/>
              <a:buNone/>
            </a:pPr>
            <a:r>
              <a:rPr lang="en-US" sz="1200" dirty="0"/>
              <a:t>End users and app teams can deploy and manage VMs alongside Kubernetes clusters and other vSphere-based resources using a unified management experience.</a:t>
            </a:r>
            <a:endParaRPr sz="12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endParaRPr sz="1200" b="1" dirty="0"/>
          </a:p>
          <a:p>
            <a:pPr marL="0" lvl="0" indent="0" algn="l" rtl="0">
              <a:lnSpc>
                <a:spcPct val="60000"/>
              </a:lnSpc>
              <a:spcBef>
                <a:spcPts val="0"/>
              </a:spcBef>
              <a:spcAft>
                <a:spcPts val="0"/>
              </a:spcAft>
              <a:buClr>
                <a:schemeClr val="dk1"/>
              </a:buClr>
              <a:buSzPts val="713"/>
              <a:buFont typeface="Arial"/>
              <a:buNone/>
            </a:pPr>
            <a:r>
              <a:rPr lang="en-US" sz="1200" b="1" dirty="0"/>
              <a:t>Notes:</a:t>
            </a:r>
            <a:endParaRPr dirty="0"/>
          </a:p>
          <a:p>
            <a:pPr marL="0" lvl="0" indent="0" algn="l" rtl="0">
              <a:lnSpc>
                <a:spcPct val="90000"/>
              </a:lnSpc>
              <a:spcBef>
                <a:spcPts val="0"/>
              </a:spcBef>
              <a:spcAft>
                <a:spcPts val="0"/>
              </a:spcAft>
              <a:buClr>
                <a:schemeClr val="dk2"/>
              </a:buClr>
              <a:buSzPts val="1100"/>
              <a:buFont typeface="Arial"/>
              <a:buNone/>
            </a:pPr>
            <a:r>
              <a:rPr lang="en-US" sz="1200" b="0" u="sng" dirty="0"/>
              <a:t>Customer Benefits:</a:t>
            </a:r>
            <a:endParaRPr b="0" u="sng" dirty="0"/>
          </a:p>
          <a:p>
            <a:pPr marL="457200" lvl="0" indent="-317500" algn="l" rtl="0">
              <a:lnSpc>
                <a:spcPct val="90000"/>
              </a:lnSpc>
              <a:spcBef>
                <a:spcPts val="0"/>
              </a:spcBef>
              <a:spcAft>
                <a:spcPts val="0"/>
              </a:spcAft>
              <a:buClr>
                <a:schemeClr val="dk1"/>
              </a:buClr>
              <a:buSzPts val="1400"/>
              <a:buFont typeface="Arial"/>
              <a:buChar char="•"/>
            </a:pPr>
            <a:r>
              <a:rPr lang="en-US" sz="1200" dirty="0"/>
              <a:t>Offer a comprehensive suite of out-of-the-box services (VM, Kubernetes, Network, Volume, Data Services, Object Store Services etc.), which simplifies the deployment and management of IT resources. This allows organizations to quickly scale their infrastructure needs, reduce operational complexities, and focus more on innovation and development rather than on maintaining disparate systems.</a:t>
            </a:r>
            <a:endParaRPr dirty="0"/>
          </a:p>
          <a:p>
            <a:pPr marL="457200" lvl="0" indent="-317500" algn="l" rtl="0">
              <a:lnSpc>
                <a:spcPct val="90000"/>
              </a:lnSpc>
              <a:spcBef>
                <a:spcPts val="0"/>
              </a:spcBef>
              <a:spcAft>
                <a:spcPts val="0"/>
              </a:spcAft>
              <a:buClr>
                <a:schemeClr val="dk1"/>
              </a:buClr>
              <a:buSzPts val="1400"/>
              <a:buFont typeface="Arial"/>
              <a:buChar char="•"/>
            </a:pPr>
            <a:r>
              <a:rPr lang="en-US" sz="1200" dirty="0"/>
              <a:t>Increase end-user satisfaction &amp; productivity – they can get the infrastructure they need when they need it, the way they want it, and w/out having to rely on or wait for other teams. </a:t>
            </a:r>
            <a:endParaRPr dirty="0"/>
          </a:p>
          <a:p>
            <a:pPr marL="457200" lvl="0" indent="-317500" algn="l" rtl="0">
              <a:lnSpc>
                <a:spcPct val="90000"/>
              </a:lnSpc>
              <a:spcBef>
                <a:spcPts val="0"/>
              </a:spcBef>
              <a:spcAft>
                <a:spcPts val="0"/>
              </a:spcAft>
              <a:buClr>
                <a:schemeClr val="dk1"/>
              </a:buClr>
              <a:buSzPts val="1400"/>
              <a:buFont typeface="Arial"/>
              <a:buChar char="•"/>
            </a:pPr>
            <a:r>
              <a:rPr lang="en-US" sz="1200" dirty="0"/>
              <a:t>Leveraging a unified management interface means having a streamlined and user-friendly platform to oversee all Infrastructure as a Service (IaaS) offerings. This can enhance efficiency by reducing the complexity of managing multiple services separately. Customers can expect to easily deploy, monitor, and scale their infrastructure resources from one central location, which saves time and simplifies operations. Additionally, this unified approach can lead to better resource allocation and cost management, ultimately contributing to a more effective use of their IT investments.</a:t>
            </a:r>
            <a:endParaRPr sz="1050" dirty="0"/>
          </a:p>
          <a:p>
            <a:pPr marL="0" lvl="0" indent="0" algn="l" rtl="0">
              <a:lnSpc>
                <a:spcPct val="60000"/>
              </a:lnSpc>
              <a:spcBef>
                <a:spcPts val="0"/>
              </a:spcBef>
              <a:spcAft>
                <a:spcPts val="0"/>
              </a:spcAft>
              <a:buClr>
                <a:schemeClr val="dk1"/>
              </a:buClr>
              <a:buSzPts val="713"/>
              <a:buFont typeface="Arial"/>
              <a:buNone/>
            </a:pPr>
            <a:endParaRPr sz="1200" b="1" dirty="0"/>
          </a:p>
          <a:p>
            <a:pPr marL="0" lvl="0" indent="0" algn="l" rtl="0">
              <a:lnSpc>
                <a:spcPct val="90000"/>
              </a:lnSpc>
              <a:spcBef>
                <a:spcPts val="0"/>
              </a:spcBef>
              <a:spcAft>
                <a:spcPts val="0"/>
              </a:spcAft>
              <a:buClr>
                <a:schemeClr val="dk2"/>
              </a:buClr>
              <a:buSzPts val="1100"/>
              <a:buFont typeface="Arial"/>
              <a:buNone/>
            </a:pPr>
            <a:r>
              <a:rPr lang="en-US" sz="1200" b="0" u="sng" dirty="0"/>
              <a:t>Key Attributes:</a:t>
            </a:r>
            <a:endParaRPr b="0" u="sng" dirty="0"/>
          </a:p>
          <a:p>
            <a:pPr marL="457200" lvl="0" indent="-317500" algn="l" rtl="0">
              <a:lnSpc>
                <a:spcPct val="90000"/>
              </a:lnSpc>
              <a:spcBef>
                <a:spcPts val="0"/>
              </a:spcBef>
              <a:spcAft>
                <a:spcPts val="0"/>
              </a:spcAft>
              <a:buClr>
                <a:schemeClr val="dk1"/>
              </a:buClr>
              <a:buSzPts val="1400"/>
              <a:buFont typeface="Arial"/>
              <a:buChar char="•"/>
            </a:pPr>
            <a:r>
              <a:rPr lang="en-US" sz="1200" dirty="0"/>
              <a:t>OOTB Supervisor services (Supervisor and associated services) are exposed across VCF environments and aggregated into a common endpoint that can be accessed through a choice of interfaces: UI, CLI, or the declarative Kubernetes IaaS API for self-service consumption. Users can leverage a variety of </a:t>
            </a:r>
            <a:r>
              <a:rPr lang="en-US" sz="1200" dirty="0">
                <a:latin typeface="Arial"/>
                <a:ea typeface="Arial"/>
                <a:cs typeface="Arial"/>
                <a:sym typeface="Arial"/>
              </a:rPr>
              <a:t>Supervisor</a:t>
            </a:r>
            <a:r>
              <a:rPr lang="en-US" sz="1200" dirty="0"/>
              <a:t> Services such as VM Service that allows you to declaratively define and provision VMs, VKS Service for deploying Kubernetes Clusters, Network Service to deploy LBs, Volume Service to deploy Persistent Volumes, Supervisor Services that help you extend the capabilities of the IaaS Platform (e.g., Harbor for OCI Image registry, or Cert Manager for certificate management) and the list can go on. </a:t>
            </a:r>
            <a:endParaRPr dirty="0"/>
          </a:p>
          <a:p>
            <a:pPr marL="457200" lvl="0" indent="-317500" algn="l" rtl="0">
              <a:lnSpc>
                <a:spcPct val="90000"/>
              </a:lnSpc>
              <a:spcBef>
                <a:spcPts val="0"/>
              </a:spcBef>
              <a:spcAft>
                <a:spcPts val="0"/>
              </a:spcAft>
              <a:buClr>
                <a:schemeClr val="dk1"/>
              </a:buClr>
              <a:buSzPts val="1400"/>
              <a:buFont typeface="Arial"/>
              <a:buChar char="•"/>
            </a:pPr>
            <a:r>
              <a:rPr lang="en-US" sz="1200" dirty="0"/>
              <a:t>Self-Service IaaS is an end user-oriented approach, which is ideal for dev/test environments, where end users and app teams can freely consume the OOTB </a:t>
            </a:r>
            <a:r>
              <a:rPr lang="en-US" sz="1200" dirty="0">
                <a:latin typeface="Arial"/>
                <a:ea typeface="Arial"/>
                <a:cs typeface="Arial"/>
                <a:sym typeface="Arial"/>
              </a:rPr>
              <a:t>Supervisor</a:t>
            </a:r>
            <a:r>
              <a:rPr lang="en-US" sz="1200" dirty="0"/>
              <a:t> services just like a public cloud for maximum productivity and efficiency. </a:t>
            </a:r>
            <a:endParaRPr dirty="0"/>
          </a:p>
          <a:p>
            <a:pPr marL="457200" lvl="0" indent="-317500" algn="l" rtl="0">
              <a:lnSpc>
                <a:spcPct val="90000"/>
              </a:lnSpc>
              <a:spcBef>
                <a:spcPts val="0"/>
              </a:spcBef>
              <a:spcAft>
                <a:spcPts val="0"/>
              </a:spcAft>
              <a:buClr>
                <a:schemeClr val="dk1"/>
              </a:buClr>
              <a:buSzPts val="1400"/>
              <a:buFont typeface="Arial"/>
              <a:buChar char="•"/>
            </a:pPr>
            <a:r>
              <a:rPr lang="en-US" sz="1200" dirty="0"/>
              <a:t>End users and app teams deploy and manage VMs alongside Kubernetes clusters and other vSphere-based resources using a unified management experience.</a:t>
            </a:r>
            <a:endParaRPr sz="1200" b="1" dirty="0">
              <a:latin typeface="Arial"/>
              <a:ea typeface="Arial"/>
              <a:cs typeface="Arial"/>
              <a:sym typeface="Arial"/>
            </a:endParaRPr>
          </a:p>
          <a:p>
            <a:pPr marL="0" lvl="0" indent="0" algn="l" rtl="0">
              <a:spcBef>
                <a:spcPts val="0"/>
              </a:spcBef>
              <a:spcAft>
                <a:spcPts val="0"/>
              </a:spcAft>
              <a:buNone/>
            </a:pPr>
            <a:br>
              <a:rPr lang="en-US" sz="1200" dirty="0"/>
            </a:br>
            <a:r>
              <a:rPr lang="en-US" sz="1200" b="1" dirty="0"/>
              <a:t>Resources:</a:t>
            </a:r>
            <a:br>
              <a:rPr lang="en-US" sz="1200" dirty="0"/>
            </a:br>
            <a:endParaRPr dirty="0"/>
          </a:p>
        </p:txBody>
      </p:sp>
      <p:sp>
        <p:nvSpPr>
          <p:cNvPr id="7478" name="Google Shape;7478;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3"/>
        <p:cNvGrpSpPr/>
        <p:nvPr/>
      </p:nvGrpSpPr>
      <p:grpSpPr>
        <a:xfrm>
          <a:off x="0" y="0"/>
          <a:ext cx="0" cy="0"/>
          <a:chOff x="0" y="0"/>
          <a:chExt cx="0" cy="0"/>
        </a:xfrm>
      </p:grpSpPr>
      <p:sp>
        <p:nvSpPr>
          <p:cNvPr id="3374" name="Google Shape;3374;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5" name="Google Shape;3375;p1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lang="en-US" sz="20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dirty="0"/>
              <a:t>Each org can have specific infrastructure quotas for their region. Orgs enjoy complete network and computing isolation, which means they are entirely separate from one another. This setup makes Org Admins feel like they have their own private cloud, even though the Enterprise IT Admin manages shared VCF vCenter resources in the background. The Org Admin can log into their own portal to create PROJECTS and assign it to different LOBs. In each project, Org Admins can create IaaS NAMESPACES, which define application boundaries, limits on infrastructure use, and reservations so end-users and application teams can easily access modern IaaS services. Each vSphere Namespace can be under an isolated networking domain (VPC).</a:t>
            </a:r>
            <a:endParaRPr lang="en-US" sz="1200" dirty="0">
              <a:latin typeface="Arial"/>
              <a:ea typeface="Arial"/>
              <a:cs typeface="Arial"/>
              <a:sym typeface="Arial"/>
            </a:endParaRPr>
          </a:p>
          <a:p>
            <a:pPr marL="0" lvl="0" indent="0" algn="l" rtl="0">
              <a:lnSpc>
                <a:spcPct val="80000"/>
              </a:lnSpc>
              <a:spcBef>
                <a:spcPts val="0"/>
              </a:spcBef>
              <a:spcAft>
                <a:spcPts val="0"/>
              </a:spcAft>
              <a:buClr>
                <a:schemeClr val="dk2"/>
              </a:buClr>
              <a:buSzPts val="1100"/>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b="0" dirty="0">
                <a:latin typeface="Arial"/>
                <a:cs typeface="Arial"/>
                <a:sym typeface="Arial"/>
              </a:rPr>
              <a:t>With governance for users and resources, IT Admins can e</a:t>
            </a:r>
            <a:r>
              <a:rPr lang="en-US" sz="1200" dirty="0"/>
              <a:t>nable effective resource management through capabilities like reservations and limits, ensuring that critical applications receive the necessary resources while avoiding over-provisioning, which leads to cost savings. </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endParaRPr lang="en-US" sz="1200" dirty="0"/>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Organization Admins can create and manage multiple projects while assigning specific users to each project (LOBs). </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After the creation of a project, vSphere Namespaces can be created.</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endParaRPr lang="en-US" sz="1200" dirty="0"/>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Org Admins can create and configure namespaces, with namespace classes, to set quotas, reservations, content libraries, and Virtual Private Clouds (VPC). </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endParaRPr lang="en-US" sz="1200" dirty="0"/>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The vSphere Namespace is an advanced resource pool that provides features such as utilization, reservations, limits, and the ability to provision various IaaS Services.</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The Namespace class is a template that can be tailored based on the specific needs of the namespace, whether they are small, medium, or large. It enforces limits on resource consumption to prevent individual users from monopolizing resources, especially in multi-tenant environments.</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endParaRPr lang="en-US" sz="1200" dirty="0"/>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Org Admins can also gain insights into utilization at the organizational, project, vSphere Namespace, and infrastructure level (VM and VKS clusters).</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Also, Org admins can view costs at the organizational level, region quota, and namespace levels.</a:t>
            </a:r>
          </a:p>
          <a:p>
            <a:pPr marL="0" lvl="0" indent="0" algn="l" rtl="0">
              <a:lnSpc>
                <a:spcPct val="80000"/>
              </a:lnSpc>
              <a:spcBef>
                <a:spcPts val="0"/>
              </a:spcBef>
              <a:spcAft>
                <a:spcPts val="0"/>
              </a:spcAft>
              <a:buClr>
                <a:schemeClr val="dk2"/>
              </a:buClr>
              <a:buSzPts val="1100"/>
              <a:buFont typeface="Arial"/>
              <a:buNone/>
            </a:pPr>
            <a:endParaRPr lang="en-US" sz="1200" b="0" dirty="0">
              <a:latin typeface="Arial"/>
              <a:ea typeface="Arial"/>
              <a:cs typeface="Arial"/>
              <a:sym typeface="Arial"/>
            </a:endParaRPr>
          </a:p>
          <a:p>
            <a:pPr marL="0" lvl="0" indent="0" algn="l" rtl="0">
              <a:lnSpc>
                <a:spcPct val="80000"/>
              </a:lnSpc>
              <a:spcBef>
                <a:spcPts val="0"/>
              </a:spcBef>
              <a:spcAft>
                <a:spcPts val="0"/>
              </a:spcAft>
              <a:buClr>
                <a:schemeClr val="dk2"/>
              </a:buClr>
              <a:buSzPts val="1100"/>
              <a:buFont typeface="Arial"/>
              <a:buNone/>
            </a:pPr>
            <a:r>
              <a:rPr lang="en-US" sz="1200" b="1" dirty="0">
                <a:latin typeface="Arial"/>
                <a:ea typeface="Arial"/>
                <a:cs typeface="Arial"/>
                <a:sym typeface="Arial"/>
              </a:rPr>
              <a:t>Notes:</a:t>
            </a:r>
            <a:endParaRPr lang="en-US" dirty="0"/>
          </a:p>
          <a:p>
            <a:pPr marL="0" lvl="0" indent="0" algn="l" rtl="0">
              <a:lnSpc>
                <a:spcPct val="80000"/>
              </a:lnSpc>
              <a:spcBef>
                <a:spcPts val="0"/>
              </a:spcBef>
              <a:spcAft>
                <a:spcPts val="0"/>
              </a:spcAft>
              <a:buClr>
                <a:schemeClr val="dk2"/>
              </a:buClr>
              <a:buSzPts val="1100"/>
              <a:buFont typeface="Arial"/>
              <a:buNone/>
            </a:pPr>
            <a:r>
              <a:rPr lang="en-US" sz="1200" b="0" u="sng" dirty="0"/>
              <a:t>Customer Benefits:</a:t>
            </a:r>
          </a:p>
          <a:p>
            <a:pPr marL="457200" lvl="0" indent="-317500" algn="l" rtl="0">
              <a:lnSpc>
                <a:spcPct val="80000"/>
              </a:lnSpc>
              <a:spcBef>
                <a:spcPts val="0"/>
              </a:spcBef>
              <a:spcAft>
                <a:spcPts val="0"/>
              </a:spcAft>
              <a:buClr>
                <a:schemeClr val="dk1"/>
              </a:buClr>
              <a:buSzPts val="1400"/>
              <a:buFont typeface="Arial"/>
              <a:buChar char="•"/>
            </a:pPr>
            <a:r>
              <a:rPr lang="en-US" sz="1200" dirty="0"/>
              <a:t>Establishing a well-defined distribution of infrastructure resources, including quotas and policies, for each application team is essential. This approach not only fosters accountability and clarity among teams but also ensures that resources are utilized effectively, promoting collaboration and reducing potential conflicts over resource allocation. By doing so, Org Admins can enhance overall productivity and allow each app team to focus on their specific goals with the necessary support.</a:t>
            </a:r>
            <a:endParaRPr lang="en-US" dirty="0"/>
          </a:p>
          <a:p>
            <a:pPr marL="457200" lvl="0" indent="-317500" algn="l" rtl="0">
              <a:lnSpc>
                <a:spcPct val="80000"/>
              </a:lnSpc>
              <a:spcBef>
                <a:spcPts val="0"/>
              </a:spcBef>
              <a:spcAft>
                <a:spcPts val="0"/>
              </a:spcAft>
              <a:buClr>
                <a:schemeClr val="dk1"/>
              </a:buClr>
              <a:buSzPts val="1400"/>
              <a:buFont typeface="Arial"/>
              <a:buChar char="•"/>
            </a:pPr>
            <a:r>
              <a:rPr lang="en-US" sz="1200" dirty="0"/>
              <a:t>Enable effective resource management through capabilities like reservations and limits, ensuring that critical applications receive the necessary resources while avoiding over-provisioning, which leads to cost savings. The flexibility to customize namespace classes allows for efficient scaling to meet changing business demands.</a:t>
            </a:r>
            <a:endParaRPr lang="en-US" dirty="0"/>
          </a:p>
          <a:p>
            <a:pPr marL="0" lvl="0" indent="0" algn="l" rtl="0">
              <a:lnSpc>
                <a:spcPct val="60000"/>
              </a:lnSpc>
              <a:spcBef>
                <a:spcPts val="0"/>
              </a:spcBef>
              <a:spcAft>
                <a:spcPts val="0"/>
              </a:spcAft>
              <a:buClr>
                <a:schemeClr val="dk1"/>
              </a:buClr>
              <a:buSzPts val="713"/>
              <a:buFont typeface="Arial"/>
              <a:buNone/>
            </a:pPr>
            <a:endParaRPr lang="en-US" sz="1200" b="1" dirty="0"/>
          </a:p>
          <a:p>
            <a:pPr marL="0" lvl="0" indent="0" algn="l" rtl="0">
              <a:lnSpc>
                <a:spcPct val="80000"/>
              </a:lnSpc>
              <a:spcBef>
                <a:spcPts val="0"/>
              </a:spcBef>
              <a:spcAft>
                <a:spcPts val="0"/>
              </a:spcAft>
              <a:buClr>
                <a:schemeClr val="dk2"/>
              </a:buClr>
              <a:buSzPts val="1100"/>
              <a:buFont typeface="Arial"/>
              <a:buNone/>
            </a:pPr>
            <a:r>
              <a:rPr lang="en-US" sz="1200" b="0" u="sng" dirty="0"/>
              <a:t>Key Attributes:</a:t>
            </a:r>
            <a:endParaRPr lang="en-US" b="0" u="sng" dirty="0"/>
          </a:p>
          <a:p>
            <a:pPr marL="457200" lvl="0" indent="-317500" algn="l" rtl="0">
              <a:lnSpc>
                <a:spcPct val="80000"/>
              </a:lnSpc>
              <a:spcBef>
                <a:spcPts val="0"/>
              </a:spcBef>
              <a:spcAft>
                <a:spcPts val="0"/>
              </a:spcAft>
              <a:buClr>
                <a:schemeClr val="dk1"/>
              </a:buClr>
              <a:buSzPts val="1400"/>
              <a:buFont typeface="Arial"/>
              <a:buChar char="•"/>
            </a:pPr>
            <a:r>
              <a:rPr lang="en-US" sz="1200" dirty="0"/>
              <a:t>Org Admins can create and manage multiple projects while assigning specific users to each project (LOBs). Org Admins can also gain insights into utilization and costs at the organizational, project, and vSphere Namespace levels. During the creation of a project, vSphere Namespaces can be dynamically created and attached. Org Admins can customize namespaces by setting quotas, reservations, content policies, and Virtual Private Clouds (VPC). </a:t>
            </a:r>
            <a:endParaRPr lang="en-US" dirty="0"/>
          </a:p>
          <a:p>
            <a:pPr marL="457200" lvl="0" indent="-317500" algn="l" rtl="0">
              <a:lnSpc>
                <a:spcPct val="80000"/>
              </a:lnSpc>
              <a:spcBef>
                <a:spcPts val="0"/>
              </a:spcBef>
              <a:spcAft>
                <a:spcPts val="0"/>
              </a:spcAft>
              <a:buClr>
                <a:schemeClr val="dk1"/>
              </a:buClr>
              <a:buSzPts val="1400"/>
              <a:buFont typeface="Arial"/>
              <a:buChar char="•"/>
            </a:pPr>
            <a:r>
              <a:rPr lang="en-US" sz="1200" dirty="0"/>
              <a:t>The vSphere Namespace is an advanced resource pool that provides features such as utilization, reservations, limits, and the ability to provision various IaaS Services. The Namespace class is a template that can be tailored based on the specific needs of the namespace, whether they are small, medium, or large. It enforces limits on resource consumption to prevent individual users from monopolizing resources, especially in multi-tenant environments. The built-in reservations ensure guaranteed resource availability for critical applications, while quotas help control resource usage and spending, aligning with organizational policies. </a:t>
            </a:r>
            <a:endParaRPr lang="en-US" dirty="0"/>
          </a:p>
          <a:p>
            <a:br>
              <a:rPr lang="en-US" sz="1200" dirty="0"/>
            </a:br>
            <a:r>
              <a:rPr lang="en-US" sz="1200" b="1" dirty="0"/>
              <a:t>Resources:</a:t>
            </a:r>
            <a:br>
              <a:rPr lang="en-US" sz="1200" dirty="0"/>
            </a:br>
            <a:endParaRPr lang="en-US" dirty="0"/>
          </a:p>
        </p:txBody>
      </p:sp>
      <p:sp>
        <p:nvSpPr>
          <p:cNvPr id="3376" name="Google Shape;3376;p1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a:t>
            </a:fld>
            <a:endParaRPr kumimoji="0" sz="1200" b="0" i="0" u="none" strike="noStrike" kern="120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8"/>
        <p:cNvGrpSpPr/>
        <p:nvPr/>
      </p:nvGrpSpPr>
      <p:grpSpPr>
        <a:xfrm>
          <a:off x="0" y="0"/>
          <a:ext cx="0" cy="0"/>
          <a:chOff x="0" y="0"/>
          <a:chExt cx="0" cy="0"/>
        </a:xfrm>
      </p:grpSpPr>
      <p:sp>
        <p:nvSpPr>
          <p:cNvPr id="7499" name="Google Shape;7499;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0" name="Google Shape;7500;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Presenter Note:  This slide contains animation.</a:t>
            </a:r>
            <a:endParaRPr dirty="0"/>
          </a:p>
          <a:p>
            <a:pPr marL="0" lvl="0" indent="0" algn="l" rtl="0">
              <a:lnSpc>
                <a:spcPct val="60000"/>
              </a:lnSpc>
              <a:spcBef>
                <a:spcPts val="0"/>
              </a:spcBef>
              <a:spcAft>
                <a:spcPts val="0"/>
              </a:spcAft>
              <a:buClr>
                <a:schemeClr val="dk1"/>
              </a:buClr>
              <a:buSzPts val="713"/>
              <a:buFont typeface="Arial"/>
              <a:buNone/>
            </a:pPr>
            <a:endParaRPr sz="12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sz="20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dirty="0">
                <a:latin typeface="Arial"/>
                <a:ea typeface="Arial"/>
                <a:cs typeface="Arial"/>
                <a:sym typeface="Arial"/>
              </a:rPr>
              <a:t>With VCFA 9 you can implement resource policies with policies-as-code to enforce bast practices for your resources and apply security configurations.</a:t>
            </a:r>
            <a:endParaRPr dirty="0"/>
          </a:p>
          <a:p>
            <a:pPr marL="0" lvl="0" indent="0" algn="l" rtl="0">
              <a:lnSpc>
                <a:spcPct val="60000"/>
              </a:lnSpc>
              <a:spcBef>
                <a:spcPts val="0"/>
              </a:spcBef>
              <a:spcAft>
                <a:spcPts val="0"/>
              </a:spcAft>
              <a:buClr>
                <a:schemeClr val="dk1"/>
              </a:buClr>
              <a:buSzPts val="713"/>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endParaRPr sz="1200" b="1" dirty="0"/>
          </a:p>
          <a:p>
            <a:pPr marL="0" marR="0" lvl="0" indent="0" algn="l" rtl="0">
              <a:lnSpc>
                <a:spcPct val="90000"/>
              </a:lnSpc>
              <a:spcBef>
                <a:spcPts val="0"/>
              </a:spcBef>
              <a:spcAft>
                <a:spcPts val="0"/>
              </a:spcAft>
              <a:buClr>
                <a:schemeClr val="dk2"/>
              </a:buClr>
              <a:buSzPts val="1100"/>
              <a:buFont typeface="Arial"/>
              <a:buNone/>
            </a:pPr>
            <a:r>
              <a:rPr lang="en-US" sz="1200" dirty="0">
                <a:latin typeface="Arial"/>
                <a:ea typeface="Arial"/>
                <a:cs typeface="Arial"/>
                <a:sym typeface="Arial"/>
              </a:rPr>
              <a:t>With VCF Automation 9 you can implement a</a:t>
            </a:r>
            <a:r>
              <a:rPr lang="en-US" sz="1200" dirty="0"/>
              <a:t> YAML-based approach to policy as code</a:t>
            </a:r>
            <a:r>
              <a:rPr lang="en-US" sz="1200" dirty="0">
                <a:latin typeface="Arial"/>
                <a:ea typeface="Arial"/>
                <a:cs typeface="Arial"/>
                <a:sym typeface="Arial"/>
              </a:rPr>
              <a:t> to enforce best practices for your resources and apply security configurations.</a:t>
            </a:r>
            <a:endParaRPr sz="1200" dirty="0"/>
          </a:p>
          <a:p>
            <a:pPr marL="0" marR="0" lvl="0" indent="0" algn="l" rtl="0">
              <a:lnSpc>
                <a:spcPct val="90000"/>
              </a:lnSpc>
              <a:spcBef>
                <a:spcPts val="0"/>
              </a:spcBef>
              <a:spcAft>
                <a:spcPts val="0"/>
              </a:spcAft>
              <a:buClr>
                <a:schemeClr val="dk2"/>
              </a:buClr>
              <a:buSzPts val="1100"/>
              <a:buFont typeface="Arial"/>
              <a:buNone/>
            </a:pPr>
            <a:endParaRPr sz="1200" dirty="0"/>
          </a:p>
          <a:p>
            <a:pPr marL="0" marR="0" lvl="0" indent="0" algn="l" rtl="0">
              <a:lnSpc>
                <a:spcPct val="90000"/>
              </a:lnSpc>
              <a:spcBef>
                <a:spcPts val="0"/>
              </a:spcBef>
              <a:spcAft>
                <a:spcPts val="0"/>
              </a:spcAft>
              <a:buClr>
                <a:schemeClr val="dk2"/>
              </a:buClr>
              <a:buSzPts val="1100"/>
              <a:buFont typeface="Arial"/>
              <a:buNone/>
            </a:pPr>
            <a:r>
              <a:rPr lang="en-US" dirty="0"/>
              <a:t>Let’s scroll down to view the policy as code.</a:t>
            </a:r>
            <a:endParaRPr dirty="0"/>
          </a:p>
          <a:p>
            <a:pPr marL="0" marR="0" lvl="0" indent="0" algn="l" rtl="0">
              <a:lnSpc>
                <a:spcPct val="90000"/>
              </a:lnSpc>
              <a:spcBef>
                <a:spcPts val="0"/>
              </a:spcBef>
              <a:spcAft>
                <a:spcPts val="0"/>
              </a:spcAft>
              <a:buClr>
                <a:schemeClr val="dk2"/>
              </a:buClr>
              <a:buSzPts val="1100"/>
              <a:buFont typeface="Arial"/>
              <a:buNone/>
            </a:pPr>
            <a:endParaRPr dirty="0"/>
          </a:p>
          <a:p>
            <a:pPr marL="0" marR="0" lvl="0" indent="0" algn="l" rtl="0">
              <a:lnSpc>
                <a:spcPct val="90000"/>
              </a:lnSpc>
              <a:spcBef>
                <a:spcPts val="0"/>
              </a:spcBef>
              <a:spcAft>
                <a:spcPts val="0"/>
              </a:spcAft>
              <a:buClr>
                <a:schemeClr val="dk2"/>
              </a:buClr>
              <a:buSzPts val="1100"/>
              <a:buFont typeface="Arial"/>
              <a:buNone/>
            </a:pPr>
            <a:r>
              <a:rPr lang="en-US" dirty="0"/>
              <a:t>&lt;click 1&gt;</a:t>
            </a:r>
            <a:endParaRPr dirty="0"/>
          </a:p>
          <a:p>
            <a:pPr marL="0" marR="0" lvl="0" indent="0" algn="l" rtl="0">
              <a:lnSpc>
                <a:spcPct val="90000"/>
              </a:lnSpc>
              <a:spcBef>
                <a:spcPts val="0"/>
              </a:spcBef>
              <a:spcAft>
                <a:spcPts val="0"/>
              </a:spcAft>
              <a:buClr>
                <a:schemeClr val="dk2"/>
              </a:buClr>
              <a:buSzPts val="1100"/>
              <a:buFont typeface="Arial"/>
              <a:buNone/>
            </a:pPr>
            <a:r>
              <a:rPr lang="en-US" dirty="0"/>
              <a:t>and click Load Policy Template.</a:t>
            </a:r>
            <a:endParaRPr dirty="0"/>
          </a:p>
          <a:p>
            <a:pPr marL="0" marR="0" lvl="0" indent="0" algn="l" rtl="0">
              <a:lnSpc>
                <a:spcPct val="90000"/>
              </a:lnSpc>
              <a:spcBef>
                <a:spcPts val="0"/>
              </a:spcBef>
              <a:spcAft>
                <a:spcPts val="0"/>
              </a:spcAft>
              <a:buClr>
                <a:schemeClr val="dk2"/>
              </a:buClr>
              <a:buSzPts val="1100"/>
              <a:buFont typeface="Arial"/>
              <a:buNone/>
            </a:pPr>
            <a:endParaRPr dirty="0"/>
          </a:p>
          <a:p>
            <a:pPr marL="0" marR="0" lvl="0" indent="0" algn="l" rtl="0">
              <a:lnSpc>
                <a:spcPct val="90000"/>
              </a:lnSpc>
              <a:spcBef>
                <a:spcPts val="0"/>
              </a:spcBef>
              <a:spcAft>
                <a:spcPts val="0"/>
              </a:spcAft>
              <a:buClr>
                <a:schemeClr val="dk2"/>
              </a:buClr>
              <a:buSzPts val="1100"/>
              <a:buFont typeface="Arial"/>
              <a:buNone/>
            </a:pPr>
            <a:r>
              <a:rPr lang="en-US" dirty="0"/>
              <a:t>&lt;click 2&gt;</a:t>
            </a:r>
            <a:endParaRPr dirty="0"/>
          </a:p>
          <a:p>
            <a:pPr marL="0" marR="0" lvl="0" indent="0" algn="l" rtl="0">
              <a:lnSpc>
                <a:spcPct val="90000"/>
              </a:lnSpc>
              <a:spcBef>
                <a:spcPts val="0"/>
              </a:spcBef>
              <a:spcAft>
                <a:spcPts val="0"/>
              </a:spcAft>
              <a:buClr>
                <a:schemeClr val="dk2"/>
              </a:buClr>
              <a:buSzPts val="1100"/>
              <a:buFont typeface="Arial"/>
              <a:buNone/>
            </a:pPr>
            <a:endParaRPr sz="1200" dirty="0"/>
          </a:p>
          <a:p>
            <a:pPr marL="0" marR="0" lvl="0" indent="0" algn="l" rtl="0">
              <a:lnSpc>
                <a:spcPct val="90000"/>
              </a:lnSpc>
              <a:spcBef>
                <a:spcPts val="0"/>
              </a:spcBef>
              <a:spcAft>
                <a:spcPts val="0"/>
              </a:spcAft>
              <a:buClr>
                <a:schemeClr val="dk2"/>
              </a:buClr>
              <a:buSzPts val="1100"/>
              <a:buFont typeface="Arial"/>
              <a:buNone/>
            </a:pPr>
            <a:r>
              <a:rPr lang="en-US" sz="1200" dirty="0"/>
              <a:t>The pre-defined OOTB templates are designed to streamline the implementation of policies as code for both initial setup (day 0) and ongoing management (day 2) of Kubernetes and VM environments. These templates serve as a solid foundation, allowing users to easily customize and fine-tune their policies through a user-friendly interface or directly via the Kubernetes command-line interface (CLI), ensuring a tailored approach to meet specific operational needs. </a:t>
            </a:r>
            <a:endParaRPr dirty="0"/>
          </a:p>
          <a:p>
            <a:pPr marL="0" marR="0" lvl="0" indent="0" algn="l" rtl="0">
              <a:lnSpc>
                <a:spcPct val="80000"/>
              </a:lnSpc>
              <a:spcBef>
                <a:spcPts val="0"/>
              </a:spcBef>
              <a:spcAft>
                <a:spcPts val="0"/>
              </a:spcAft>
              <a:buClr>
                <a:schemeClr val="dk2"/>
              </a:buClr>
              <a:buSzPts val="1100"/>
              <a:buFont typeface="Arial"/>
              <a:buNone/>
            </a:pPr>
            <a:endParaRPr sz="1050" dirty="0"/>
          </a:p>
          <a:p>
            <a:pPr marL="0" marR="0" lvl="0" indent="0" algn="l" rtl="0">
              <a:lnSpc>
                <a:spcPct val="80000"/>
              </a:lnSpc>
              <a:spcBef>
                <a:spcPts val="0"/>
              </a:spcBef>
              <a:spcAft>
                <a:spcPts val="0"/>
              </a:spcAft>
              <a:buClr>
                <a:schemeClr val="dk2"/>
              </a:buClr>
              <a:buSzPts val="1100"/>
              <a:buFont typeface="Arial"/>
              <a:buNone/>
            </a:pPr>
            <a:r>
              <a:rPr lang="en-US" sz="1050" dirty="0"/>
              <a:t>With Label enforcement selected click load.</a:t>
            </a:r>
            <a:endParaRPr dirty="0"/>
          </a:p>
          <a:p>
            <a:pPr marL="0" marR="0" lvl="0" indent="0" algn="l" rtl="0">
              <a:lnSpc>
                <a:spcPct val="80000"/>
              </a:lnSpc>
              <a:spcBef>
                <a:spcPts val="0"/>
              </a:spcBef>
              <a:spcAft>
                <a:spcPts val="0"/>
              </a:spcAft>
              <a:buClr>
                <a:schemeClr val="dk2"/>
              </a:buClr>
              <a:buSzPts val="1100"/>
              <a:buFont typeface="Arial"/>
              <a:buNone/>
            </a:pPr>
            <a:endParaRPr sz="1050" dirty="0"/>
          </a:p>
          <a:p>
            <a:pPr marL="0" marR="0" lvl="0" indent="0" algn="l" rtl="0">
              <a:lnSpc>
                <a:spcPct val="80000"/>
              </a:lnSpc>
              <a:spcBef>
                <a:spcPts val="0"/>
              </a:spcBef>
              <a:spcAft>
                <a:spcPts val="0"/>
              </a:spcAft>
              <a:buClr>
                <a:schemeClr val="dk2"/>
              </a:buClr>
              <a:buSzPts val="1100"/>
              <a:buFont typeface="Arial"/>
              <a:buNone/>
            </a:pPr>
            <a:r>
              <a:rPr lang="en-US" sz="1050" dirty="0"/>
              <a:t>&lt;click 3&gt;</a:t>
            </a:r>
            <a:endParaRPr sz="1050" b="0" u="sng" dirty="0"/>
          </a:p>
          <a:p>
            <a:pPr marL="0" lvl="0" indent="0" algn="l" rtl="0">
              <a:lnSpc>
                <a:spcPct val="80000"/>
              </a:lnSpc>
              <a:spcBef>
                <a:spcPts val="0"/>
              </a:spcBef>
              <a:spcAft>
                <a:spcPts val="0"/>
              </a:spcAft>
              <a:buClr>
                <a:schemeClr val="dk2"/>
              </a:buClr>
              <a:buSzPts val="1100"/>
              <a:buFont typeface="Arial"/>
              <a:buNone/>
            </a:pPr>
            <a:r>
              <a:rPr lang="en-US" sz="1050" b="0" u="none" dirty="0"/>
              <a:t>In this example we are enforcing the label prod is applied to all virtual machine resources.</a:t>
            </a:r>
            <a:endParaRPr u="none" dirty="0"/>
          </a:p>
          <a:p>
            <a:pPr marL="0" lvl="0" indent="0" algn="l" rtl="0">
              <a:lnSpc>
                <a:spcPct val="90000"/>
              </a:lnSpc>
              <a:spcBef>
                <a:spcPts val="0"/>
              </a:spcBef>
              <a:spcAft>
                <a:spcPts val="0"/>
              </a:spcAft>
              <a:buClr>
                <a:schemeClr val="dk2"/>
              </a:buClr>
              <a:buSzPts val="1100"/>
              <a:buFont typeface="Arial"/>
              <a:buNone/>
            </a:pPr>
            <a:endParaRPr sz="1200" b="0" u="sng" dirty="0">
              <a:latin typeface="Arial"/>
              <a:ea typeface="Arial"/>
              <a:cs typeface="Arial"/>
              <a:sym typeface="Arial"/>
            </a:endParaRPr>
          </a:p>
          <a:p>
            <a:pPr marL="0" lvl="0" indent="0" algn="l" rtl="0">
              <a:lnSpc>
                <a:spcPct val="90000"/>
              </a:lnSpc>
              <a:spcBef>
                <a:spcPts val="0"/>
              </a:spcBef>
              <a:spcAft>
                <a:spcPts val="0"/>
              </a:spcAft>
              <a:buClr>
                <a:schemeClr val="dk2"/>
              </a:buClr>
              <a:buSzPts val="1100"/>
              <a:buFont typeface="Arial"/>
              <a:buNone/>
            </a:pPr>
            <a:r>
              <a:rPr lang="en-US" sz="1200" b="1" dirty="0">
                <a:latin typeface="Arial"/>
                <a:ea typeface="Arial"/>
                <a:cs typeface="Arial"/>
                <a:sym typeface="Arial"/>
              </a:rPr>
              <a:t>Notes:</a:t>
            </a:r>
            <a:endParaRPr sz="1200" b="0" u="sng" dirty="0"/>
          </a:p>
          <a:p>
            <a:pPr marL="0" lvl="0" indent="0" algn="l" rtl="0">
              <a:lnSpc>
                <a:spcPct val="90000"/>
              </a:lnSpc>
              <a:spcBef>
                <a:spcPts val="0"/>
              </a:spcBef>
              <a:spcAft>
                <a:spcPts val="0"/>
              </a:spcAft>
              <a:buClr>
                <a:schemeClr val="dk2"/>
              </a:buClr>
              <a:buSzPts val="1100"/>
              <a:buFont typeface="Arial"/>
              <a:buNone/>
            </a:pPr>
            <a:r>
              <a:rPr lang="en-US" sz="1200" b="0" u="sng" dirty="0"/>
              <a:t>Customer Benefits:</a:t>
            </a:r>
            <a:endParaRPr b="0" u="sng" dirty="0"/>
          </a:p>
          <a:p>
            <a:pPr marL="457200" lvl="0" indent="-317500" algn="l" rtl="0">
              <a:lnSpc>
                <a:spcPct val="90000"/>
              </a:lnSpc>
              <a:spcBef>
                <a:spcPts val="0"/>
              </a:spcBef>
              <a:spcAft>
                <a:spcPts val="0"/>
              </a:spcAft>
              <a:buClr>
                <a:schemeClr val="dk1"/>
              </a:buClr>
              <a:buSzPts val="1400"/>
              <a:buFont typeface="Arial"/>
              <a:buChar char="•"/>
            </a:pPr>
            <a:r>
              <a:rPr lang="en-US" sz="1200" dirty="0"/>
              <a:t>Using a YAML-based Policy-as-Code framework with </a:t>
            </a:r>
            <a:r>
              <a:rPr lang="en-US" sz="1200" dirty="0" err="1"/>
              <a:t>Kyverno</a:t>
            </a:r>
            <a:r>
              <a:rPr lang="en-US" sz="1200" dirty="0"/>
              <a:t> for IaaS and Kubernetes offers multiple benefits, including flexibility in adapting policies, automation for consistent enforcement, and improved compliance with security and regulatory standards. It fosters collaboration within the open-source community, enables easy tracking of policy changes through version control, and provides clarity for auditing. Additionally, leveraging an open-source solution helps reduce licensing costs, ultimately enhancing security, compliance, and efficiency in cloud infrastructure.</a:t>
            </a:r>
            <a:endParaRPr dirty="0"/>
          </a:p>
          <a:p>
            <a:pPr marL="457200" lvl="0" indent="-317500" algn="l" rtl="0">
              <a:lnSpc>
                <a:spcPct val="90000"/>
              </a:lnSpc>
              <a:spcBef>
                <a:spcPts val="0"/>
              </a:spcBef>
              <a:spcAft>
                <a:spcPts val="0"/>
              </a:spcAft>
              <a:buClr>
                <a:schemeClr val="dk1"/>
              </a:buClr>
              <a:buSzPts val="1400"/>
              <a:buFont typeface="Arial"/>
              <a:buChar char="•"/>
            </a:pPr>
            <a:r>
              <a:rPr lang="en-US" sz="1200" dirty="0"/>
              <a:t>Customers benefit from pre-defined Out-of-the-Box (OOTB) templates through quick deployment, easy customization, and best practice integration. These templates ensure consistency, reduce complexity, enhance agility, and improve governance, enabling organizations to focus on innovation.</a:t>
            </a:r>
            <a:endParaRPr sz="1050" dirty="0"/>
          </a:p>
          <a:p>
            <a:pPr marL="0" lvl="0" indent="0" algn="l" rtl="0">
              <a:lnSpc>
                <a:spcPct val="90000"/>
              </a:lnSpc>
              <a:spcBef>
                <a:spcPts val="0"/>
              </a:spcBef>
              <a:spcAft>
                <a:spcPts val="0"/>
              </a:spcAft>
              <a:buClr>
                <a:schemeClr val="dk2"/>
              </a:buClr>
              <a:buSzPts val="1100"/>
              <a:buFont typeface="Arial"/>
              <a:buNone/>
            </a:pPr>
            <a:endParaRPr sz="1200" b="1" dirty="0"/>
          </a:p>
          <a:p>
            <a:pPr marL="0" lvl="0" indent="0" algn="l" rtl="0">
              <a:lnSpc>
                <a:spcPct val="90000"/>
              </a:lnSpc>
              <a:spcBef>
                <a:spcPts val="0"/>
              </a:spcBef>
              <a:spcAft>
                <a:spcPts val="0"/>
              </a:spcAft>
              <a:buClr>
                <a:schemeClr val="dk2"/>
              </a:buClr>
              <a:buSzPts val="1100"/>
              <a:buFont typeface="Arial"/>
              <a:buNone/>
            </a:pPr>
            <a:r>
              <a:rPr lang="en-US" sz="1200" b="0" u="sng" dirty="0"/>
              <a:t>Key Attributes:</a:t>
            </a:r>
            <a:endParaRPr b="0" u="sng" dirty="0"/>
          </a:p>
          <a:p>
            <a:pPr marL="457200" lvl="0" indent="-317500" algn="l" rtl="0">
              <a:lnSpc>
                <a:spcPct val="90000"/>
              </a:lnSpc>
              <a:spcBef>
                <a:spcPts val="0"/>
              </a:spcBef>
              <a:spcAft>
                <a:spcPts val="0"/>
              </a:spcAft>
              <a:buClr>
                <a:schemeClr val="dk1"/>
              </a:buClr>
              <a:buSzPts val="1400"/>
              <a:buFont typeface="Arial"/>
              <a:buChar char="•"/>
            </a:pPr>
            <a:r>
              <a:rPr lang="en-US" sz="1200" dirty="0"/>
              <a:t>Introducing new governance policies that leverage a YAML-based approach to policy as code. To support this initiative, we are using </a:t>
            </a:r>
            <a:r>
              <a:rPr lang="en-US" sz="1200" dirty="0" err="1"/>
              <a:t>Kyverno</a:t>
            </a:r>
            <a:r>
              <a:rPr lang="en-US" sz="1200" dirty="0"/>
              <a:t>, an open-source technology that operates on the backend, enabling us to seamlessly integrate and enforce these policies in a robust and efficient manner. </a:t>
            </a:r>
            <a:endParaRPr dirty="0"/>
          </a:p>
          <a:p>
            <a:pPr marL="0" lvl="0" indent="0" algn="l" rtl="0">
              <a:spcBef>
                <a:spcPts val="0"/>
              </a:spcBef>
              <a:spcAft>
                <a:spcPts val="0"/>
              </a:spcAft>
              <a:buNone/>
            </a:pPr>
            <a:br>
              <a:rPr lang="en-US" sz="1200" dirty="0"/>
            </a:br>
            <a:r>
              <a:rPr lang="en-US" sz="1200" b="1" dirty="0"/>
              <a:t>Resources:</a:t>
            </a:r>
            <a:br>
              <a:rPr lang="en-US" sz="1200" dirty="0"/>
            </a:br>
            <a:endParaRPr dirty="0"/>
          </a:p>
        </p:txBody>
      </p:sp>
      <p:sp>
        <p:nvSpPr>
          <p:cNvPr id="7501" name="Google Shape;7501;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9</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4"/>
        <p:cNvGrpSpPr/>
        <p:nvPr/>
      </p:nvGrpSpPr>
      <p:grpSpPr>
        <a:xfrm>
          <a:off x="0" y="0"/>
          <a:ext cx="0" cy="0"/>
          <a:chOff x="0" y="0"/>
          <a:chExt cx="0" cy="0"/>
        </a:xfrm>
      </p:grpSpPr>
      <p:sp>
        <p:nvSpPr>
          <p:cNvPr id="7515" name="Google Shape;7515;p5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6" name="Google Shape;7516;p5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Presenter Note:  This slide contains animation.</a:t>
            </a:r>
            <a:endParaRPr dirty="0"/>
          </a:p>
          <a:p>
            <a:pPr marL="0" lvl="0" indent="0" algn="l" rtl="0">
              <a:lnSpc>
                <a:spcPct val="60000"/>
              </a:lnSpc>
              <a:spcBef>
                <a:spcPts val="0"/>
              </a:spcBef>
              <a:spcAft>
                <a:spcPts val="0"/>
              </a:spcAft>
              <a:buClr>
                <a:schemeClr val="dk1"/>
              </a:buClr>
              <a:buSzPts val="713"/>
              <a:buFont typeface="Arial"/>
              <a:buNone/>
            </a:pPr>
            <a:endParaRPr sz="12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dirty="0"/>
          </a:p>
          <a:p>
            <a:pPr marL="0" lvl="0" indent="0" algn="l" rtl="0">
              <a:lnSpc>
                <a:spcPct val="100000"/>
              </a:lnSpc>
              <a:spcBef>
                <a:spcPts val="0"/>
              </a:spcBef>
              <a:spcAft>
                <a:spcPts val="0"/>
              </a:spcAft>
              <a:buClr>
                <a:schemeClr val="dk1"/>
              </a:buClr>
              <a:buSzPts val="1400"/>
              <a:buFont typeface="Arial"/>
              <a:buNone/>
            </a:pPr>
            <a:r>
              <a:rPr lang="en-US" dirty="0"/>
              <a:t>Features:</a:t>
            </a:r>
            <a:endParaRPr dirty="0"/>
          </a:p>
          <a:p>
            <a:pPr marL="285664" marR="0" lvl="0" indent="-285664" algn="l" rtl="0">
              <a:spcBef>
                <a:spcPts val="900"/>
              </a:spcBef>
              <a:spcAft>
                <a:spcPts val="0"/>
              </a:spcAft>
              <a:buClr>
                <a:srgbClr val="666666"/>
              </a:buClr>
              <a:buSzPts val="1260"/>
              <a:buFont typeface="Arial"/>
              <a:buChar char="•"/>
            </a:pPr>
            <a:r>
              <a:rPr lang="en-US" sz="1200" dirty="0">
                <a:solidFill>
                  <a:schemeClr val="dk1"/>
                </a:solidFill>
                <a:latin typeface="Arial"/>
                <a:ea typeface="Arial"/>
                <a:cs typeface="Arial"/>
                <a:sym typeface="Arial"/>
              </a:rPr>
              <a:t>Rich set of metrics for VMs and K8s clusters that can be accessed directly by end-users and developers</a:t>
            </a:r>
            <a:endParaRPr dirty="0"/>
          </a:p>
          <a:p>
            <a:pPr marL="285664" marR="0" lvl="0" indent="-285664" algn="l" rtl="0">
              <a:spcBef>
                <a:spcPts val="900"/>
              </a:spcBef>
              <a:spcAft>
                <a:spcPts val="0"/>
              </a:spcAft>
              <a:buClr>
                <a:srgbClr val="666666"/>
              </a:buClr>
              <a:buSzPts val="1260"/>
              <a:buFont typeface="Arial"/>
              <a:buChar char="•"/>
            </a:pPr>
            <a:r>
              <a:rPr lang="en-US" sz="1200" dirty="0">
                <a:solidFill>
                  <a:schemeClr val="dk1"/>
                </a:solidFill>
                <a:latin typeface="Arial"/>
                <a:ea typeface="Arial"/>
                <a:cs typeface="Arial"/>
                <a:sym typeface="Arial"/>
              </a:rPr>
              <a:t>VM – Utilization metric for CPU, Mem, Disk IOPS and Network throughput </a:t>
            </a:r>
            <a:endParaRPr dirty="0"/>
          </a:p>
          <a:p>
            <a:pPr marL="285664" marR="0" lvl="0" indent="-285664" algn="l" rtl="0">
              <a:spcBef>
                <a:spcPts val="900"/>
              </a:spcBef>
              <a:spcAft>
                <a:spcPts val="0"/>
              </a:spcAft>
              <a:buClr>
                <a:srgbClr val="666666"/>
              </a:buClr>
              <a:buSzPts val="1260"/>
              <a:buFont typeface="Arial"/>
              <a:buChar char="•"/>
            </a:pPr>
            <a:r>
              <a:rPr lang="en-US" sz="1200" dirty="0">
                <a:solidFill>
                  <a:schemeClr val="dk1"/>
                </a:solidFill>
                <a:latin typeface="Arial"/>
                <a:ea typeface="Arial"/>
                <a:cs typeface="Arial"/>
                <a:sym typeface="Arial"/>
              </a:rPr>
              <a:t>K8s cluster – K8s version, Utilization metrics for CPU, Memory</a:t>
            </a:r>
            <a:endParaRPr dirty="0"/>
          </a:p>
          <a:p>
            <a:pPr marL="0" lvl="0" indent="0" algn="l" rtl="0">
              <a:lnSpc>
                <a:spcPct val="100000"/>
              </a:lnSpc>
              <a:spcBef>
                <a:spcPts val="0"/>
              </a:spcBef>
              <a:spcAft>
                <a:spcPts val="0"/>
              </a:spcAft>
              <a:buClr>
                <a:schemeClr val="dk1"/>
              </a:buClr>
              <a:buSzPts val="1400"/>
              <a:buFont typeface="Arial"/>
              <a:buNone/>
            </a:pPr>
            <a:endParaRPr dirty="0"/>
          </a:p>
          <a:p>
            <a:pPr marL="0" lvl="0" indent="0" algn="l" rtl="0">
              <a:lnSpc>
                <a:spcPct val="100000"/>
              </a:lnSpc>
              <a:spcBef>
                <a:spcPts val="0"/>
              </a:spcBef>
              <a:spcAft>
                <a:spcPts val="0"/>
              </a:spcAft>
              <a:buClr>
                <a:schemeClr val="dk1"/>
              </a:buClr>
              <a:buSzPts val="1400"/>
              <a:buFont typeface="Arial"/>
              <a:buNone/>
            </a:pPr>
            <a:r>
              <a:rPr lang="en-US" dirty="0"/>
              <a:t>Benefits:</a:t>
            </a:r>
            <a:endParaRPr dirty="0"/>
          </a:p>
          <a:p>
            <a:pPr marL="285664" marR="0" lvl="0" indent="-285664" algn="l" rtl="0">
              <a:spcBef>
                <a:spcPts val="900"/>
              </a:spcBef>
              <a:spcAft>
                <a:spcPts val="0"/>
              </a:spcAft>
              <a:buClr>
                <a:srgbClr val="666666"/>
              </a:buClr>
              <a:buSzPts val="1260"/>
              <a:buFont typeface="Arial"/>
              <a:buChar char="•"/>
            </a:pPr>
            <a:r>
              <a:rPr lang="en-US" sz="1200" dirty="0">
                <a:solidFill>
                  <a:schemeClr val="dk1"/>
                </a:solidFill>
                <a:latin typeface="Arial"/>
                <a:ea typeface="Arial"/>
                <a:cs typeface="Arial"/>
                <a:sym typeface="Arial"/>
              </a:rPr>
              <a:t>Visibility for End users and Developers, not just Admin</a:t>
            </a:r>
            <a:br>
              <a:rPr lang="en-US" sz="1200" dirty="0">
                <a:solidFill>
                  <a:schemeClr val="dk1"/>
                </a:solidFill>
                <a:latin typeface="Arial"/>
                <a:ea typeface="Arial"/>
                <a:cs typeface="Arial"/>
                <a:sym typeface="Arial"/>
              </a:rPr>
            </a:br>
            <a:endParaRPr sz="1200" dirty="0">
              <a:solidFill>
                <a:srgbClr val="000000"/>
              </a:solidFill>
              <a:latin typeface="Arial"/>
              <a:ea typeface="Arial"/>
              <a:cs typeface="Arial"/>
              <a:sym typeface="Arial"/>
            </a:endParaRPr>
          </a:p>
          <a:p>
            <a:pPr marL="0" lvl="0" indent="0" algn="l" rtl="0">
              <a:spcBef>
                <a:spcPts val="0"/>
              </a:spcBef>
              <a:spcAft>
                <a:spcPts val="0"/>
              </a:spcAft>
              <a:buNone/>
            </a:pPr>
            <a:r>
              <a:rPr lang="en-US" sz="1200" b="1" dirty="0">
                <a:latin typeface="Arial"/>
                <a:ea typeface="Arial"/>
                <a:cs typeface="Arial"/>
                <a:sym typeface="Arial"/>
              </a:rPr>
              <a:t>Talk Track:</a:t>
            </a:r>
            <a:endParaRPr dirty="0"/>
          </a:p>
          <a:p>
            <a:pPr marL="0" marR="0" lvl="0" indent="0" algn="l" rtl="0">
              <a:lnSpc>
                <a:spcPct val="100000"/>
              </a:lnSpc>
              <a:spcBef>
                <a:spcPts val="0"/>
              </a:spcBef>
              <a:spcAft>
                <a:spcPts val="0"/>
              </a:spcAft>
              <a:buClr>
                <a:schemeClr val="dk1"/>
              </a:buClr>
              <a:buSzPts val="1200"/>
              <a:buFont typeface="Arial"/>
              <a:buNone/>
            </a:pPr>
            <a:r>
              <a:rPr lang="en-US" sz="1200" b="0" dirty="0">
                <a:latin typeface="Arial"/>
                <a:ea typeface="Arial"/>
                <a:cs typeface="Arial"/>
                <a:sym typeface="Arial"/>
              </a:rPr>
              <a:t>With VCF Automation and Operations, </a:t>
            </a:r>
            <a:r>
              <a:rPr lang="en-US" sz="1200" dirty="0">
                <a:solidFill>
                  <a:schemeClr val="dk1"/>
                </a:solidFill>
                <a:latin typeface="Arial"/>
                <a:ea typeface="Arial"/>
                <a:cs typeface="Arial"/>
                <a:sym typeface="Arial"/>
              </a:rPr>
              <a:t>end-users and developers</a:t>
            </a:r>
            <a:r>
              <a:rPr lang="en-US" sz="1200" b="0" dirty="0">
                <a:latin typeface="Arial"/>
                <a:ea typeface="Arial"/>
                <a:cs typeface="Arial"/>
                <a:sym typeface="Arial"/>
              </a:rPr>
              <a:t> can easily review a rich set of </a:t>
            </a:r>
            <a:r>
              <a:rPr lang="en-US" sz="1200" dirty="0">
                <a:solidFill>
                  <a:schemeClr val="dk1"/>
                </a:solidFill>
                <a:latin typeface="Arial"/>
                <a:ea typeface="Arial"/>
                <a:cs typeface="Arial"/>
                <a:sym typeface="Arial"/>
              </a:rPr>
              <a:t>metrics for VMs and K8s clusters.</a:t>
            </a:r>
            <a:endParaRPr dirty="0"/>
          </a:p>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&lt;click&gt;</a:t>
            </a:r>
            <a:endParaRPr dirty="0"/>
          </a:p>
          <a:p>
            <a:pPr marL="0" marR="0" lvl="0" indent="0" algn="l" rtl="0">
              <a:lnSpc>
                <a:spcPct val="100000"/>
              </a:lnSpc>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These metrics for VMs include utilization for CPU, memory, disk IOPS, and Network throughput. For Kubernetes clusters, users can review the Kubernetes version and utilization metrics for CPU and memory consumption.</a:t>
            </a:r>
            <a:endParaRPr dirty="0"/>
          </a:p>
        </p:txBody>
      </p:sp>
      <p:sp>
        <p:nvSpPr>
          <p:cNvPr id="7517" name="Google Shape;7517;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10</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7"/>
        <p:cNvGrpSpPr/>
        <p:nvPr/>
      </p:nvGrpSpPr>
      <p:grpSpPr>
        <a:xfrm>
          <a:off x="0" y="0"/>
          <a:ext cx="0" cy="0"/>
          <a:chOff x="0" y="0"/>
          <a:chExt cx="0" cy="0"/>
        </a:xfrm>
      </p:grpSpPr>
      <p:sp>
        <p:nvSpPr>
          <p:cNvPr id="7528" name="Google Shape;7528;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9" name="Google Shape;7529;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a:latin typeface="Arial"/>
                <a:ea typeface="Arial"/>
                <a:cs typeface="Arial"/>
                <a:sym typeface="Arial"/>
              </a:rPr>
              <a:t>Key Message:</a:t>
            </a:r>
            <a:endParaRPr sz="2000" b="1">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a:latin typeface="Arial"/>
                <a:ea typeface="Arial"/>
                <a:cs typeface="Arial"/>
                <a:sym typeface="Arial"/>
              </a:rPr>
              <a:t>With VCFA 9 customers can create custom blueprints tailored to IaaS Services, while enforcing infrastructure governance and enabling self-service consumption.</a:t>
            </a:r>
            <a:endParaRPr/>
          </a:p>
          <a:p>
            <a:pPr marL="0" lvl="0" indent="0" algn="l" rtl="0">
              <a:lnSpc>
                <a:spcPct val="60000"/>
              </a:lnSpc>
              <a:spcBef>
                <a:spcPts val="0"/>
              </a:spcBef>
              <a:spcAft>
                <a:spcPts val="0"/>
              </a:spcAft>
              <a:buClr>
                <a:schemeClr val="dk1"/>
              </a:buClr>
              <a:buSzPts val="713"/>
              <a:buFont typeface="Arial"/>
              <a:buNone/>
            </a:pPr>
            <a:br>
              <a:rPr lang="en-US" sz="1200">
                <a:latin typeface="Arial"/>
                <a:ea typeface="Arial"/>
                <a:cs typeface="Arial"/>
                <a:sym typeface="Arial"/>
              </a:rPr>
            </a:br>
            <a:r>
              <a:rPr lang="en-US" sz="1200" b="1">
                <a:latin typeface="Arial"/>
                <a:ea typeface="Arial"/>
                <a:cs typeface="Arial"/>
                <a:sym typeface="Arial"/>
              </a:rPr>
              <a:t>Talk Track:</a:t>
            </a:r>
            <a:endParaRPr sz="1200" b="0">
              <a:latin typeface="Arial"/>
              <a:ea typeface="Arial"/>
              <a:cs typeface="Arial"/>
              <a:sym typeface="Arial"/>
            </a:endParaRPr>
          </a:p>
          <a:p>
            <a:pPr marL="0" marR="0" lvl="0" indent="0" algn="l" rtl="0">
              <a:lnSpc>
                <a:spcPct val="60000"/>
              </a:lnSpc>
              <a:spcBef>
                <a:spcPts val="0"/>
              </a:spcBef>
              <a:spcAft>
                <a:spcPts val="0"/>
              </a:spcAft>
              <a:buClr>
                <a:schemeClr val="dk1"/>
              </a:buClr>
              <a:buSzPts val="713"/>
              <a:buFont typeface="Arial"/>
              <a:buNone/>
            </a:pPr>
            <a:r>
              <a:rPr lang="en-US"/>
              <a:t>One benefit of allowing Enterprise IT Admins to have more control in production environments is enhanced security. With increased control, admins can implement stricter access controls, monitor system activities more closely, and enforce compliance with organizational policies, reducing the risk of unauthorized access or data breaches; ideal for in-production environments. </a:t>
            </a:r>
            <a:endParaRPr/>
          </a:p>
          <a:p>
            <a:pPr marL="0" lvl="0" indent="0" algn="l" rtl="0">
              <a:lnSpc>
                <a:spcPct val="60000"/>
              </a:lnSpc>
              <a:spcBef>
                <a:spcPts val="0"/>
              </a:spcBef>
              <a:spcAft>
                <a:spcPts val="0"/>
              </a:spcAft>
              <a:buClr>
                <a:schemeClr val="dk1"/>
              </a:buClr>
              <a:buSzPts val="713"/>
              <a:buFont typeface="Arial"/>
              <a:buNone/>
            </a:pPr>
            <a:endParaRPr sz="1200" b="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a:t>Providing application teams more flexibility to consume self-service IaaS resources accelerates development and testing cycles. By allowing teams to quickly provision and configure the necessary infrastructure on demand, they can focus more on writing and testing code rather than waiting for resources, leading to faster time-to-market for new features and enhancements.</a:t>
            </a:r>
            <a:endParaRPr/>
          </a:p>
          <a:p>
            <a:pPr marL="0" lvl="0" indent="0" algn="l" rtl="0">
              <a:lnSpc>
                <a:spcPct val="60000"/>
              </a:lnSpc>
              <a:spcBef>
                <a:spcPts val="0"/>
              </a:spcBef>
              <a:spcAft>
                <a:spcPts val="0"/>
              </a:spcAft>
              <a:buClr>
                <a:schemeClr val="dk1"/>
              </a:buClr>
              <a:buSzPts val="713"/>
              <a:buFont typeface="Arial"/>
              <a:buNone/>
            </a:pPr>
            <a:endParaRPr/>
          </a:p>
          <a:p>
            <a:pPr marL="0" lvl="0" indent="0" algn="l" rtl="0">
              <a:lnSpc>
                <a:spcPct val="60000"/>
              </a:lnSpc>
              <a:spcBef>
                <a:spcPts val="0"/>
              </a:spcBef>
              <a:spcAft>
                <a:spcPts val="0"/>
              </a:spcAft>
              <a:buClr>
                <a:schemeClr val="dk1"/>
              </a:buClr>
              <a:buSzPts val="713"/>
              <a:buFont typeface="Arial"/>
              <a:buNone/>
            </a:pPr>
            <a:r>
              <a:rPr lang="en-US"/>
              <a:t>The catalog experience allows users to provision traditional, modern, and generative AI applications. Each catalog item is supported by blueprints developed and published for the project teams. </a:t>
            </a:r>
            <a:endParaRPr/>
          </a:p>
          <a:p>
            <a:pPr marL="0" lvl="0" indent="0" algn="l" rtl="0">
              <a:lnSpc>
                <a:spcPct val="60000"/>
              </a:lnSpc>
              <a:spcBef>
                <a:spcPts val="0"/>
              </a:spcBef>
              <a:spcAft>
                <a:spcPts val="0"/>
              </a:spcAft>
              <a:buClr>
                <a:schemeClr val="dk1"/>
              </a:buClr>
              <a:buSzPts val="713"/>
              <a:buFont typeface="Arial"/>
              <a:buNone/>
            </a:pPr>
            <a:endParaRPr/>
          </a:p>
          <a:p>
            <a:pPr marL="0" lvl="0" indent="0" algn="l" rtl="0">
              <a:lnSpc>
                <a:spcPct val="60000"/>
              </a:lnSpc>
              <a:spcBef>
                <a:spcPts val="0"/>
              </a:spcBef>
              <a:spcAft>
                <a:spcPts val="0"/>
              </a:spcAft>
              <a:buClr>
                <a:schemeClr val="dk1"/>
              </a:buClr>
              <a:buSzPts val="713"/>
              <a:buFont typeface="Arial"/>
              <a:buNone/>
            </a:pPr>
            <a:r>
              <a:rPr lang="en-US"/>
              <a:t>Using the design canvas, advanced users can create on-demand resources like VMs, Kubernetes, volumes, networks, and storage from scratch and publish them in the catalog. </a:t>
            </a:r>
            <a:endParaRPr sz="1200" b="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endParaRPr sz="1200" b="0">
              <a:latin typeface="Arial"/>
              <a:ea typeface="Arial"/>
              <a:cs typeface="Arial"/>
              <a:sym typeface="Arial"/>
            </a:endParaRPr>
          </a:p>
          <a:p>
            <a:pPr marL="0" lvl="0" indent="0" algn="l" rtl="0">
              <a:lnSpc>
                <a:spcPct val="100000"/>
              </a:lnSpc>
              <a:spcBef>
                <a:spcPts val="0"/>
              </a:spcBef>
              <a:spcAft>
                <a:spcPts val="0"/>
              </a:spcAft>
              <a:buClr>
                <a:schemeClr val="dk2"/>
              </a:buClr>
              <a:buSzPts val="1100"/>
              <a:buFont typeface="Arial"/>
              <a:buNone/>
            </a:pPr>
            <a:r>
              <a:rPr lang="en-US" sz="1200" b="1">
                <a:latin typeface="Arial"/>
                <a:ea typeface="Arial"/>
                <a:cs typeface="Arial"/>
                <a:sym typeface="Arial"/>
              </a:rPr>
              <a:t>Notes:</a:t>
            </a:r>
            <a:br>
              <a:rPr lang="en-US" sz="1200" b="1">
                <a:latin typeface="Arial"/>
                <a:ea typeface="Arial"/>
                <a:cs typeface="Arial"/>
                <a:sym typeface="Arial"/>
              </a:rPr>
            </a:br>
            <a:r>
              <a:rPr lang="en-US" b="0" u="sng"/>
              <a:t>Customer Benefits:</a:t>
            </a:r>
            <a:endParaRPr/>
          </a:p>
          <a:p>
            <a:pPr marL="457200" lvl="0" indent="-317500" algn="l" rtl="0">
              <a:lnSpc>
                <a:spcPct val="100000"/>
              </a:lnSpc>
              <a:spcBef>
                <a:spcPts val="0"/>
              </a:spcBef>
              <a:spcAft>
                <a:spcPts val="0"/>
              </a:spcAft>
              <a:buClr>
                <a:schemeClr val="dk1"/>
              </a:buClr>
              <a:buSzPts val="1400"/>
              <a:buFont typeface="Arial"/>
              <a:buChar char="•"/>
            </a:pPr>
            <a:r>
              <a:rPr lang="en-US"/>
              <a:t>One benefit of allowing Enterprise IT Admins to have more control in production environments is enhanced security. With increased control, admins can implement stricter access controls, monitor system activities more closely, and enforce compliance with organizational policies, thereby reducing the risk of unauthorized access or data breaches; ideal for in-production environments. </a:t>
            </a:r>
            <a:endParaRPr/>
          </a:p>
          <a:p>
            <a:pPr marL="457200" lvl="0" indent="-317500" algn="l" rtl="0">
              <a:lnSpc>
                <a:spcPct val="100000"/>
              </a:lnSpc>
              <a:spcBef>
                <a:spcPts val="0"/>
              </a:spcBef>
              <a:spcAft>
                <a:spcPts val="0"/>
              </a:spcAft>
              <a:buClr>
                <a:schemeClr val="dk1"/>
              </a:buClr>
              <a:buSzPts val="1400"/>
              <a:buFont typeface="Arial"/>
              <a:buChar char="•"/>
            </a:pPr>
            <a:r>
              <a:rPr lang="en-US"/>
              <a:t>One benefit of providing application teams with more flexibility to consume self-service IaaS resources is the acceleration of development and testing cycles. By allowing teams to quickly provision and configure the necessary infrastructure on-demand, they can focus more on writing and testing code rather than waiting for resources, leading to faster time-to-market for new features and enhancements.</a:t>
            </a:r>
            <a:endParaRPr/>
          </a:p>
          <a:p>
            <a:pPr marL="0" lvl="0" indent="0" algn="l" rtl="0">
              <a:lnSpc>
                <a:spcPct val="60000"/>
              </a:lnSpc>
              <a:spcBef>
                <a:spcPts val="0"/>
              </a:spcBef>
              <a:spcAft>
                <a:spcPts val="0"/>
              </a:spcAft>
              <a:buClr>
                <a:schemeClr val="dk1"/>
              </a:buClr>
              <a:buSzPts val="713"/>
              <a:buFont typeface="Arial"/>
              <a:buNone/>
            </a:pPr>
            <a:endParaRPr b="1"/>
          </a:p>
          <a:p>
            <a:pPr marL="0" lvl="0" indent="0" algn="l" rtl="0">
              <a:lnSpc>
                <a:spcPct val="100000"/>
              </a:lnSpc>
              <a:spcBef>
                <a:spcPts val="0"/>
              </a:spcBef>
              <a:spcAft>
                <a:spcPts val="0"/>
              </a:spcAft>
              <a:buClr>
                <a:schemeClr val="dk2"/>
              </a:buClr>
              <a:buSzPts val="1100"/>
              <a:buFont typeface="Arial"/>
              <a:buNone/>
            </a:pPr>
            <a:r>
              <a:rPr lang="en-US" b="0" u="sng"/>
              <a:t>Key Attributes:</a:t>
            </a:r>
            <a:endParaRPr/>
          </a:p>
          <a:p>
            <a:pPr marL="457200" lvl="0" indent="-317500" algn="l" rtl="0">
              <a:lnSpc>
                <a:spcPct val="100000"/>
              </a:lnSpc>
              <a:spcBef>
                <a:spcPts val="0"/>
              </a:spcBef>
              <a:spcAft>
                <a:spcPts val="0"/>
              </a:spcAft>
              <a:buClr>
                <a:schemeClr val="dk1"/>
              </a:buClr>
              <a:buSzPts val="1400"/>
              <a:buFont typeface="Arial"/>
              <a:buChar char="•"/>
            </a:pPr>
            <a:r>
              <a:rPr lang="en-US"/>
              <a:t>The catalog experience allows users to provision traditional, modern, and generative AI applications. Each catalog item is supported by templates that have been developed and published for the project teams. It is designed for low-tech users to easily utilize the templates provided in the catalog.</a:t>
            </a:r>
            <a:endParaRPr/>
          </a:p>
          <a:p>
            <a:pPr marL="457200" lvl="0" indent="-317500" algn="l" rtl="0">
              <a:lnSpc>
                <a:spcPct val="100000"/>
              </a:lnSpc>
              <a:spcBef>
                <a:spcPts val="0"/>
              </a:spcBef>
              <a:spcAft>
                <a:spcPts val="0"/>
              </a:spcAft>
              <a:buClr>
                <a:schemeClr val="dk1"/>
              </a:buClr>
              <a:buSzPts val="1400"/>
              <a:buFont typeface="Arial"/>
              <a:buChar char="•"/>
            </a:pPr>
            <a:r>
              <a:rPr lang="en-US"/>
              <a:t>Create on-demand resources like VMs, Kubernetes, volumes, networks, and storage. This is ideal for high-tech users who wish to utilize the design canvas to create resources from scratch and publish them in the catalog. </a:t>
            </a:r>
            <a:br>
              <a:rPr lang="en-US" sz="1200" b="1">
                <a:latin typeface="Arial"/>
                <a:ea typeface="Arial"/>
                <a:cs typeface="Arial"/>
                <a:sym typeface="Arial"/>
              </a:rPr>
            </a:br>
            <a:r>
              <a:rPr lang="en-US" sz="1200" b="1">
                <a:latin typeface="Arial"/>
                <a:ea typeface="Arial"/>
                <a:cs typeface="Arial"/>
                <a:sym typeface="Arial"/>
              </a:rPr>
              <a:t>Resources:</a:t>
            </a:r>
            <a:endParaRPr/>
          </a:p>
          <a:p>
            <a:pPr marL="139700" lvl="0" indent="0" algn="l" rtl="0">
              <a:lnSpc>
                <a:spcPct val="100000"/>
              </a:lnSpc>
              <a:spcBef>
                <a:spcPts val="0"/>
              </a:spcBef>
              <a:spcAft>
                <a:spcPts val="0"/>
              </a:spcAft>
              <a:buClr>
                <a:schemeClr val="dk1"/>
              </a:buClr>
              <a:buSzPts val="1400"/>
              <a:buFont typeface="Arial"/>
              <a:buNone/>
            </a:pPr>
            <a:endParaRPr b="1"/>
          </a:p>
        </p:txBody>
      </p:sp>
      <p:sp>
        <p:nvSpPr>
          <p:cNvPr id="7530" name="Google Shape;7530;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8"/>
        <p:cNvGrpSpPr/>
        <p:nvPr/>
      </p:nvGrpSpPr>
      <p:grpSpPr>
        <a:xfrm>
          <a:off x="0" y="0"/>
          <a:ext cx="0" cy="0"/>
          <a:chOff x="0" y="0"/>
          <a:chExt cx="0" cy="0"/>
        </a:xfrm>
      </p:grpSpPr>
      <p:sp>
        <p:nvSpPr>
          <p:cNvPr id="7539" name="Google Shape;7539;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0" name="Google Shape;7540;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chemeClr val="dk1"/>
              </a:buClr>
              <a:buSzPts val="1200"/>
              <a:buFont typeface="Arial"/>
              <a:buNone/>
            </a:pPr>
            <a:r>
              <a:rPr lang="en-US" sz="1200" b="1">
                <a:latin typeface="Arial"/>
                <a:ea typeface="Arial"/>
                <a:cs typeface="Arial"/>
                <a:sym typeface="Arial"/>
              </a:rPr>
              <a:t>Presenter Note:  This slide contains animation</a:t>
            </a:r>
            <a:endParaRPr/>
          </a:p>
          <a:p>
            <a:pPr marL="0" lvl="0" indent="0" algn="l" rtl="0">
              <a:lnSpc>
                <a:spcPct val="60000"/>
              </a:lnSpc>
              <a:spcBef>
                <a:spcPts val="0"/>
              </a:spcBef>
              <a:spcAft>
                <a:spcPts val="0"/>
              </a:spcAft>
              <a:buClr>
                <a:schemeClr val="dk1"/>
              </a:buClr>
              <a:buSzPts val="713"/>
              <a:buFont typeface="Arial"/>
              <a:buNone/>
            </a:pPr>
            <a:endParaRPr sz="1200" b="1">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b="1">
                <a:latin typeface="Arial"/>
                <a:ea typeface="Arial"/>
                <a:cs typeface="Arial"/>
                <a:sym typeface="Arial"/>
              </a:rPr>
              <a:t>Key Message:</a:t>
            </a:r>
            <a:endParaRPr/>
          </a:p>
          <a:p>
            <a:pPr marL="0" lvl="0" indent="0" algn="l" rtl="0">
              <a:lnSpc>
                <a:spcPct val="60000"/>
              </a:lnSpc>
              <a:spcBef>
                <a:spcPts val="0"/>
              </a:spcBef>
              <a:spcAft>
                <a:spcPts val="0"/>
              </a:spcAft>
              <a:buClr>
                <a:schemeClr val="dk1"/>
              </a:buClr>
              <a:buSzPts val="713"/>
              <a:buFont typeface="Arial"/>
              <a:buNone/>
            </a:pPr>
            <a:r>
              <a:rPr lang="en-US" sz="1200" b="0">
                <a:latin typeface="Arial"/>
                <a:ea typeface="Arial"/>
                <a:cs typeface="Arial"/>
                <a:sym typeface="Arial"/>
              </a:rPr>
              <a:t>With centralized content management via the content hub, customers can streamline the overall content management process while improving productivity and collaboration with a unified content management portal.</a:t>
            </a:r>
            <a:endParaRPr sz="120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br>
              <a:rPr lang="en-US" sz="1200">
                <a:latin typeface="Arial"/>
                <a:ea typeface="Arial"/>
                <a:cs typeface="Arial"/>
                <a:sym typeface="Arial"/>
              </a:rPr>
            </a:br>
            <a:r>
              <a:rPr lang="en-US" sz="1200" b="1">
                <a:latin typeface="Arial"/>
                <a:ea typeface="Arial"/>
                <a:cs typeface="Arial"/>
                <a:sym typeface="Arial"/>
              </a:rPr>
              <a:t>Talk Track:</a:t>
            </a:r>
            <a:endParaRPr/>
          </a:p>
          <a:p>
            <a:pPr marL="0" marR="0" lvl="0" indent="0" algn="l" rtl="0">
              <a:lnSpc>
                <a:spcPct val="60000"/>
              </a:lnSpc>
              <a:spcBef>
                <a:spcPts val="0"/>
              </a:spcBef>
              <a:spcAft>
                <a:spcPts val="0"/>
              </a:spcAft>
              <a:buClr>
                <a:schemeClr val="dk1"/>
              </a:buClr>
              <a:buSzPts val="713"/>
              <a:buFont typeface="Arial"/>
              <a:buNone/>
            </a:pPr>
            <a:r>
              <a:rPr lang="en-US" sz="1200"/>
              <a:t>Centralized content management enables IT Admins to easily discover, create, and allocate content libraries directly within VCFA, reducing complexity, minimizing errors, and streamlining the overall management process. This leads to increased efficiency and better resource allocation for customers.</a:t>
            </a:r>
            <a:endParaRPr/>
          </a:p>
          <a:p>
            <a:pPr marL="0" lvl="0" indent="0" algn="l" rtl="0">
              <a:lnSpc>
                <a:spcPct val="60000"/>
              </a:lnSpc>
              <a:spcBef>
                <a:spcPts val="0"/>
              </a:spcBef>
              <a:spcAft>
                <a:spcPts val="0"/>
              </a:spcAft>
              <a:buClr>
                <a:schemeClr val="dk1"/>
              </a:buClr>
              <a:buSzPts val="713"/>
              <a:buFont typeface="Arial"/>
              <a:buNone/>
            </a:pPr>
            <a:endParaRPr sz="1200" b="1">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a:t>Before the introduction of VCF 9.0, managing the content library across multiple vCenters and data centers involved a “publish and subscribe” model. In this model, one vCenter acted as the publisher, hosting the content library, while the other vCenters served as subscribers. This setup, known as "pub and sub," could become quite complicated, especially with many vCenters across multiple data centers, leading to significant challenges in synchronizing content libraries.</a:t>
            </a:r>
            <a:endParaRPr/>
          </a:p>
          <a:p>
            <a:pPr marL="0" lvl="0" indent="0" algn="l" rtl="0">
              <a:lnSpc>
                <a:spcPct val="60000"/>
              </a:lnSpc>
              <a:spcBef>
                <a:spcPts val="0"/>
              </a:spcBef>
              <a:spcAft>
                <a:spcPts val="0"/>
              </a:spcAft>
              <a:buClr>
                <a:schemeClr val="dk1"/>
              </a:buClr>
              <a:buSzPts val="713"/>
              <a:buFont typeface="Arial"/>
              <a:buNone/>
            </a:pPr>
            <a:endParaRPr sz="1200"/>
          </a:p>
          <a:p>
            <a:pPr marL="0" lvl="0" indent="0" algn="l" rtl="0">
              <a:lnSpc>
                <a:spcPct val="60000"/>
              </a:lnSpc>
              <a:spcBef>
                <a:spcPts val="0"/>
              </a:spcBef>
              <a:spcAft>
                <a:spcPts val="0"/>
              </a:spcAft>
              <a:buClr>
                <a:schemeClr val="dk1"/>
              </a:buClr>
              <a:buSzPts val="713"/>
              <a:buFont typeface="Arial"/>
              <a:buNone/>
            </a:pPr>
            <a:r>
              <a:rPr lang="en-US" sz="1200"/>
              <a:t>With VCF 9.0, we consolidate content library management within VCF Automation by connecting to all vCenters to discover all content libraries. This process allows the IT Admin to allocate a content library to one or all organizations. VCF Automation automatically synchronizes these libraries with the vCenters in the background.</a:t>
            </a:r>
            <a:endParaRPr/>
          </a:p>
          <a:p>
            <a:pPr marL="0" lvl="0" indent="0" algn="l" rtl="0">
              <a:lnSpc>
                <a:spcPct val="60000"/>
              </a:lnSpc>
              <a:spcBef>
                <a:spcPts val="0"/>
              </a:spcBef>
              <a:spcAft>
                <a:spcPts val="0"/>
              </a:spcAft>
              <a:buClr>
                <a:schemeClr val="dk1"/>
              </a:buClr>
              <a:buSzPts val="713"/>
              <a:buFont typeface="Arial"/>
              <a:buNone/>
            </a:pPr>
            <a:endParaRPr sz="1200"/>
          </a:p>
          <a:p>
            <a:pPr marL="0" lvl="0" indent="0" algn="l" rtl="0">
              <a:lnSpc>
                <a:spcPct val="60000"/>
              </a:lnSpc>
              <a:spcBef>
                <a:spcPts val="0"/>
              </a:spcBef>
              <a:spcAft>
                <a:spcPts val="0"/>
              </a:spcAft>
              <a:buClr>
                <a:schemeClr val="dk1"/>
              </a:buClr>
              <a:buSzPts val="713"/>
              <a:buFont typeface="Arial"/>
              <a:buNone/>
            </a:pPr>
            <a:r>
              <a:rPr lang="en-US" sz="1200"/>
              <a:t>In VCF 9.0, you can also create a new content library directly within VCF Automation, add one or more VM images, and allocate the library to one or more organizations, as needed. All of these tasks can be accomplished within VCF Automation without relying on the previous "pub and sub" model, simplifying management and eliminating associated complexities.</a:t>
            </a:r>
            <a:endParaRPr/>
          </a:p>
          <a:p>
            <a:pPr marL="0" lvl="0" indent="0" algn="l" rtl="0">
              <a:lnSpc>
                <a:spcPct val="60000"/>
              </a:lnSpc>
              <a:spcBef>
                <a:spcPts val="0"/>
              </a:spcBef>
              <a:spcAft>
                <a:spcPts val="0"/>
              </a:spcAft>
              <a:buClr>
                <a:schemeClr val="dk1"/>
              </a:buClr>
              <a:buSzPts val="713"/>
              <a:buFont typeface="Arial"/>
              <a:buNone/>
            </a:pPr>
            <a:endParaRPr sz="1200"/>
          </a:p>
          <a:p>
            <a:pPr marL="0" lvl="0" indent="0" algn="l" rtl="0">
              <a:lnSpc>
                <a:spcPct val="60000"/>
              </a:lnSpc>
              <a:spcBef>
                <a:spcPts val="0"/>
              </a:spcBef>
              <a:spcAft>
                <a:spcPts val="0"/>
              </a:spcAft>
              <a:buClr>
                <a:schemeClr val="dk1"/>
              </a:buClr>
              <a:buSzPts val="713"/>
              <a:buFont typeface="Arial"/>
              <a:buNone/>
            </a:pPr>
            <a:r>
              <a:rPr lang="en-US" sz="1200"/>
              <a:t>Another important feature to note is that users can leverage the same content library across multiple vCenters via Regions; it’s a cool feature that a lot of customers identified as missing from the vCenter content library that VCFA currently provides. </a:t>
            </a:r>
            <a:endParaRPr/>
          </a:p>
          <a:p>
            <a:pPr marL="0" lvl="0" indent="0" algn="l" rtl="0">
              <a:lnSpc>
                <a:spcPct val="60000"/>
              </a:lnSpc>
              <a:spcBef>
                <a:spcPts val="0"/>
              </a:spcBef>
              <a:spcAft>
                <a:spcPts val="0"/>
              </a:spcAft>
              <a:buClr>
                <a:schemeClr val="dk1"/>
              </a:buClr>
              <a:buSzPts val="713"/>
              <a:buFont typeface="Arial"/>
              <a:buNone/>
            </a:pPr>
            <a:endParaRPr sz="1200"/>
          </a:p>
          <a:p>
            <a:pPr marL="0" marR="0" lvl="0" indent="0" algn="l" rtl="0">
              <a:lnSpc>
                <a:spcPct val="60000"/>
              </a:lnSpc>
              <a:spcBef>
                <a:spcPts val="0"/>
              </a:spcBef>
              <a:spcAft>
                <a:spcPts val="0"/>
              </a:spcAft>
              <a:buClr>
                <a:schemeClr val="dk1"/>
              </a:buClr>
              <a:buSzPts val="713"/>
              <a:buFont typeface="Arial"/>
              <a:buNone/>
            </a:pPr>
            <a:r>
              <a:rPr lang="en-US" sz="1200"/>
              <a:t>&lt;click 1&gt;</a:t>
            </a:r>
            <a:endParaRPr/>
          </a:p>
          <a:p>
            <a:pPr marL="0" marR="0" lvl="0" indent="0" algn="l" rtl="0">
              <a:lnSpc>
                <a:spcPct val="60000"/>
              </a:lnSpc>
              <a:spcBef>
                <a:spcPts val="0"/>
              </a:spcBef>
              <a:spcAft>
                <a:spcPts val="0"/>
              </a:spcAft>
              <a:buClr>
                <a:schemeClr val="dk1"/>
              </a:buClr>
              <a:buSzPts val="713"/>
              <a:buFont typeface="Arial"/>
              <a:buNone/>
            </a:pPr>
            <a:r>
              <a:rPr lang="en-US" sz="1200"/>
              <a:t>Org Admins can publish content to the self-service catalog with a single, easy click. This streamlined process allows them to make resources readily available to end-users and app teams, empowering them to access and utilize the content efficiently.</a:t>
            </a:r>
            <a:endParaRPr/>
          </a:p>
          <a:p>
            <a:pPr marL="0" lvl="0" indent="0" algn="l" rtl="0">
              <a:lnSpc>
                <a:spcPct val="60000"/>
              </a:lnSpc>
              <a:spcBef>
                <a:spcPts val="0"/>
              </a:spcBef>
              <a:spcAft>
                <a:spcPts val="0"/>
              </a:spcAft>
              <a:buClr>
                <a:schemeClr val="dk1"/>
              </a:buClr>
              <a:buSzPts val="713"/>
              <a:buFont typeface="Arial"/>
              <a:buNone/>
            </a:pPr>
            <a:endParaRPr sz="1200" b="1">
              <a:latin typeface="Arial"/>
              <a:ea typeface="Arial"/>
              <a:cs typeface="Arial"/>
              <a:sym typeface="Arial"/>
            </a:endParaRPr>
          </a:p>
          <a:p>
            <a:pPr marL="0" marR="0" lvl="0" indent="0" algn="l" rtl="0">
              <a:lnSpc>
                <a:spcPct val="60000"/>
              </a:lnSpc>
              <a:spcBef>
                <a:spcPts val="0"/>
              </a:spcBef>
              <a:spcAft>
                <a:spcPts val="0"/>
              </a:spcAft>
              <a:buClr>
                <a:schemeClr val="dk1"/>
              </a:buClr>
              <a:buSzPts val="713"/>
              <a:buFont typeface="Arial"/>
              <a:buNone/>
            </a:pPr>
            <a:r>
              <a:rPr lang="en-US" sz="1200"/>
              <a:t>&lt;click 2&gt;</a:t>
            </a:r>
            <a:endParaRPr/>
          </a:p>
          <a:p>
            <a:pPr marL="0" marR="0" lvl="0" indent="0" algn="l" rtl="0">
              <a:lnSpc>
                <a:spcPct val="60000"/>
              </a:lnSpc>
              <a:spcBef>
                <a:spcPts val="0"/>
              </a:spcBef>
              <a:spcAft>
                <a:spcPts val="0"/>
              </a:spcAft>
              <a:buClr>
                <a:schemeClr val="dk1"/>
              </a:buClr>
              <a:buSzPts val="713"/>
              <a:buFont typeface="Arial"/>
              <a:buNone/>
            </a:pPr>
            <a:r>
              <a:rPr lang="en-US" sz="1200"/>
              <a:t>The Content Hub Management was explicitly designed for Org Admins and Line of Business (LOB) teams to efficiently manage a wide array of resources. This includes content libraries, virtual machine (VM) images, blueprints, and orchestrator workflows. Users can seamlessly organize and maintain these resources in one location, simplifying the process of sharing them across multiple projects.</a:t>
            </a:r>
            <a:endParaRPr/>
          </a:p>
          <a:p>
            <a:pPr marL="0" lvl="0" indent="0" algn="l" rtl="0">
              <a:lnSpc>
                <a:spcPct val="60000"/>
              </a:lnSpc>
              <a:spcBef>
                <a:spcPts val="0"/>
              </a:spcBef>
              <a:spcAft>
                <a:spcPts val="0"/>
              </a:spcAft>
              <a:buClr>
                <a:schemeClr val="dk1"/>
              </a:buClr>
              <a:buSzPts val="713"/>
              <a:buFont typeface="Arial"/>
              <a:buNone/>
            </a:pPr>
            <a:endParaRPr sz="1200" b="1">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b="1">
                <a:latin typeface="Arial"/>
                <a:ea typeface="Arial"/>
                <a:cs typeface="Arial"/>
                <a:sym typeface="Arial"/>
              </a:rPr>
              <a:t>Notes:</a:t>
            </a:r>
            <a:endParaRPr/>
          </a:p>
          <a:p>
            <a:pPr marL="0" lvl="0" indent="0" algn="l" rtl="0">
              <a:lnSpc>
                <a:spcPct val="80000"/>
              </a:lnSpc>
              <a:spcBef>
                <a:spcPts val="0"/>
              </a:spcBef>
              <a:spcAft>
                <a:spcPts val="0"/>
              </a:spcAft>
              <a:buClr>
                <a:schemeClr val="dk2"/>
              </a:buClr>
              <a:buSzPts val="1100"/>
              <a:buFont typeface="Arial"/>
              <a:buNone/>
            </a:pPr>
            <a:r>
              <a:rPr lang="en-US" sz="1200" b="0" u="sng"/>
              <a:t>Customer Benefits:</a:t>
            </a:r>
            <a:endParaRPr b="0" u="sng"/>
          </a:p>
          <a:p>
            <a:pPr marL="457200" lvl="0" indent="-317500" algn="l" rtl="0">
              <a:lnSpc>
                <a:spcPct val="80000"/>
              </a:lnSpc>
              <a:spcBef>
                <a:spcPts val="0"/>
              </a:spcBef>
              <a:spcAft>
                <a:spcPts val="0"/>
              </a:spcAft>
              <a:buClr>
                <a:schemeClr val="dk1"/>
              </a:buClr>
              <a:buSzPts val="1400"/>
              <a:buFont typeface="Arial"/>
              <a:buChar char="•"/>
            </a:pPr>
            <a:r>
              <a:rPr lang="en-US" sz="1200"/>
              <a:t>Centralized content management enables IT Admins to easily discover, create, and allocate content libraries directly within VCFA, reducing complexity, minimizing errors, and streamlining the overall management process. This leads to increased efficiency and better resource allocation for customers.</a:t>
            </a:r>
            <a:endParaRPr/>
          </a:p>
          <a:p>
            <a:pPr marL="457200" lvl="0" indent="-317500" algn="l" rtl="0">
              <a:lnSpc>
                <a:spcPct val="80000"/>
              </a:lnSpc>
              <a:spcBef>
                <a:spcPts val="0"/>
              </a:spcBef>
              <a:spcAft>
                <a:spcPts val="0"/>
              </a:spcAft>
              <a:buClr>
                <a:schemeClr val="dk1"/>
              </a:buClr>
              <a:buSzPts val="1400"/>
              <a:buFont typeface="Arial"/>
              <a:buChar char="•"/>
            </a:pPr>
            <a:r>
              <a:rPr lang="en-US" sz="1200"/>
              <a:t>By consolidating the IT Admin published content and the Org Admin created/imported content in one place, VCFA simplifies the process of sharing the resources across various projects. This enhances collaboration among team members and ensures that everyone has quick access to the necessary tools and assets, which ultimately improves project execution and boosts overall productivity. </a:t>
            </a:r>
            <a:endParaRPr/>
          </a:p>
          <a:p>
            <a:pPr marL="457200" lvl="0" indent="-317500" algn="l" rtl="0">
              <a:lnSpc>
                <a:spcPct val="80000"/>
              </a:lnSpc>
              <a:spcBef>
                <a:spcPts val="0"/>
              </a:spcBef>
              <a:spcAft>
                <a:spcPts val="0"/>
              </a:spcAft>
              <a:buClr>
                <a:schemeClr val="dk1"/>
              </a:buClr>
              <a:buSzPts val="1400"/>
              <a:buFont typeface="Arial"/>
              <a:buChar char="•"/>
            </a:pPr>
            <a:r>
              <a:rPr lang="en-US" sz="1200"/>
              <a:t>The ability for Org Admins to publish content to the self-service catalog streamlines access to resources by allowing quick publication with a single click. This enables end-users and app teams to independently consume resources without waiting for approvals. This empowerment fosters innovation and boosts productivity while allowing Org Admins to efficiently manage and update content, ensuring end users/app teams have access to the latest information.</a:t>
            </a:r>
            <a:endParaRPr/>
          </a:p>
          <a:p>
            <a:pPr marL="457200" lvl="0" indent="-317500" algn="l" rtl="0">
              <a:lnSpc>
                <a:spcPct val="80000"/>
              </a:lnSpc>
              <a:spcBef>
                <a:spcPts val="0"/>
              </a:spcBef>
              <a:spcAft>
                <a:spcPts val="0"/>
              </a:spcAft>
              <a:buClr>
                <a:schemeClr val="dk1"/>
              </a:buClr>
              <a:buSzPts val="1400"/>
              <a:buFont typeface="Arial"/>
              <a:buChar char="•"/>
            </a:pPr>
            <a:r>
              <a:rPr lang="en-US" sz="1200"/>
              <a:t>Improved user experience by integrating the Orchestrator UI into the VCFA UI under the Orchestrate tab, making it easier to navigate and reducing the need for a separate interface. This streamlines workflow creation and management in a consistent environment.</a:t>
            </a:r>
            <a:endParaRPr/>
          </a:p>
          <a:p>
            <a:pPr marL="0" lvl="0" indent="0" algn="l" rtl="0">
              <a:lnSpc>
                <a:spcPct val="60000"/>
              </a:lnSpc>
              <a:spcBef>
                <a:spcPts val="0"/>
              </a:spcBef>
              <a:spcAft>
                <a:spcPts val="0"/>
              </a:spcAft>
              <a:buClr>
                <a:schemeClr val="dk1"/>
              </a:buClr>
              <a:buSzPts val="713"/>
              <a:buFont typeface="Arial"/>
              <a:buNone/>
            </a:pPr>
            <a:endParaRPr sz="1200" b="1"/>
          </a:p>
          <a:p>
            <a:pPr marL="0" lvl="0" indent="0" algn="l" rtl="0">
              <a:lnSpc>
                <a:spcPct val="80000"/>
              </a:lnSpc>
              <a:spcBef>
                <a:spcPts val="0"/>
              </a:spcBef>
              <a:spcAft>
                <a:spcPts val="0"/>
              </a:spcAft>
              <a:buClr>
                <a:schemeClr val="dk2"/>
              </a:buClr>
              <a:buSzPts val="1100"/>
              <a:buFont typeface="Arial"/>
              <a:buNone/>
            </a:pPr>
            <a:r>
              <a:rPr lang="en-US" sz="1200" b="0" u="sng"/>
              <a:t>Key Attributes:</a:t>
            </a:r>
            <a:endParaRPr b="0" u="sng"/>
          </a:p>
          <a:p>
            <a:pPr marL="457200" lvl="0" indent="-317500" algn="l" rtl="0">
              <a:lnSpc>
                <a:spcPct val="80000"/>
              </a:lnSpc>
              <a:spcBef>
                <a:spcPts val="0"/>
              </a:spcBef>
              <a:spcAft>
                <a:spcPts val="0"/>
              </a:spcAft>
              <a:buClr>
                <a:schemeClr val="dk1"/>
              </a:buClr>
              <a:buSzPts val="1400"/>
              <a:buFont typeface="Arial"/>
              <a:buChar char="•"/>
            </a:pPr>
            <a:r>
              <a:rPr lang="en-US" sz="1200"/>
              <a:t>All existing customers utilize the vCenter content library for VM image management. Before the introduction of VCF 9.0, managing the content library across multiple vCenters and data centers involved a “publish and subscribe” model. In this model, one vCenter acted as the publisher, hosting the content library, while the other vCenters served as subscribers. This setup, known as "pub and sub," could become quite complicated, especially with many vCenters across multiple data centers, leading to significant challenges in synchronizing content libraries. With VCF 9.0, we are consolidating content library management within VCFA. In VCFA, we connect to all vCenters to discover all content libraries. This process allows the IT Admin to allocate a content library to one or all organizations. VCFA automatically synchronizes these libraries with the vCenters in the background, streamlining the process. In VCF 9.0, you can also create a new content library directly within VCFA, add one or more VM images to this library, and allocate it to one or more organizations, as needed. All of these tasks can be accomplished within VCFA without relying on the previous "pub and sub" model, simplifying management and eliminating associated complexities. Another important feature to note is that users can leverage the same content library across multiple vCenters via Regions; it’s a cool feature that a lot of customers identified as missing from the vCenter content library that VCFA currently provides. </a:t>
            </a:r>
            <a:endParaRPr/>
          </a:p>
          <a:p>
            <a:pPr marL="457200" lvl="0" indent="-317500" algn="l" rtl="0">
              <a:lnSpc>
                <a:spcPct val="80000"/>
              </a:lnSpc>
              <a:spcBef>
                <a:spcPts val="0"/>
              </a:spcBef>
              <a:spcAft>
                <a:spcPts val="0"/>
              </a:spcAft>
              <a:buClr>
                <a:schemeClr val="dk1"/>
              </a:buClr>
              <a:buSzPts val="1400"/>
              <a:buFont typeface="Arial"/>
              <a:buChar char="•"/>
            </a:pPr>
            <a:r>
              <a:rPr lang="en-US" sz="1200"/>
              <a:t>The Content Hub Management was designed specifically for Org Admins and Line of Business (LOB) teams to efficiently manage a wide array of resources. This includes content libraries, virtual machine (VM) images, blueprints, and orchestrator workflows. Users can seamlessly organize and maintain these resources in one location, simplifying the process of sharing them across multiple projects.</a:t>
            </a:r>
            <a:endParaRPr/>
          </a:p>
          <a:p>
            <a:pPr marL="139700" marR="0" lvl="0" indent="0" algn="l" rtl="0">
              <a:lnSpc>
                <a:spcPct val="80000"/>
              </a:lnSpc>
              <a:spcBef>
                <a:spcPts val="0"/>
              </a:spcBef>
              <a:spcAft>
                <a:spcPts val="0"/>
              </a:spcAft>
              <a:buClr>
                <a:schemeClr val="dk1"/>
              </a:buClr>
              <a:buSzPts val="1400"/>
              <a:buFont typeface="Arial"/>
              <a:buNone/>
            </a:pPr>
            <a:br>
              <a:rPr lang="en-US" sz="1200" b="1">
                <a:latin typeface="Arial"/>
                <a:ea typeface="Arial"/>
                <a:cs typeface="Arial"/>
                <a:sym typeface="Arial"/>
              </a:rPr>
            </a:br>
            <a:r>
              <a:rPr lang="en-US" sz="1200" b="1">
                <a:latin typeface="Arial"/>
                <a:ea typeface="Arial"/>
                <a:cs typeface="Arial"/>
                <a:sym typeface="Arial"/>
              </a:rPr>
              <a:t>Resources:</a:t>
            </a:r>
            <a:endParaRPr/>
          </a:p>
          <a:p>
            <a:pPr marL="139700" lvl="0" indent="0" algn="l" rtl="0">
              <a:lnSpc>
                <a:spcPct val="80000"/>
              </a:lnSpc>
              <a:spcBef>
                <a:spcPts val="0"/>
              </a:spcBef>
              <a:spcAft>
                <a:spcPts val="0"/>
              </a:spcAft>
              <a:buClr>
                <a:schemeClr val="dk1"/>
              </a:buClr>
              <a:buSzPts val="1400"/>
              <a:buFont typeface="Arial"/>
              <a:buNone/>
            </a:pPr>
            <a:endParaRPr/>
          </a:p>
        </p:txBody>
      </p:sp>
      <p:sp>
        <p:nvSpPr>
          <p:cNvPr id="7541" name="Google Shape;7541;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7"/>
        <p:cNvGrpSpPr/>
        <p:nvPr/>
      </p:nvGrpSpPr>
      <p:grpSpPr>
        <a:xfrm>
          <a:off x="0" y="0"/>
          <a:ext cx="0" cy="0"/>
          <a:chOff x="0" y="0"/>
          <a:chExt cx="0" cy="0"/>
        </a:xfrm>
      </p:grpSpPr>
      <p:sp>
        <p:nvSpPr>
          <p:cNvPr id="7558" name="Google Shape;7558;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59" name="Google Shape;7559;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60000"/>
              </a:lnSpc>
              <a:spcBef>
                <a:spcPts val="0"/>
              </a:spcBef>
              <a:spcAft>
                <a:spcPts val="0"/>
              </a:spcAft>
              <a:buClr>
                <a:schemeClr val="dk1"/>
              </a:buClr>
              <a:buSzPts val="713"/>
              <a:buFont typeface="Arial"/>
              <a:buNone/>
            </a:pPr>
            <a:r>
              <a:rPr lang="en-US" sz="800" b="1">
                <a:latin typeface="Arial"/>
                <a:ea typeface="Arial"/>
                <a:cs typeface="Arial"/>
                <a:sym typeface="Arial"/>
              </a:rPr>
              <a:t>Presenter Note:  This slide contains animation.</a:t>
            </a:r>
            <a:endParaRPr/>
          </a:p>
          <a:p>
            <a:pPr marL="0" lvl="0" indent="0" algn="l" rtl="0">
              <a:lnSpc>
                <a:spcPct val="60000"/>
              </a:lnSpc>
              <a:spcBef>
                <a:spcPts val="0"/>
              </a:spcBef>
              <a:spcAft>
                <a:spcPts val="0"/>
              </a:spcAft>
              <a:buClr>
                <a:schemeClr val="dk1"/>
              </a:buClr>
              <a:buSzPts val="713"/>
              <a:buFont typeface="Arial"/>
              <a:buNone/>
            </a:pPr>
            <a:endParaRPr sz="800" b="1">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800" b="1">
                <a:latin typeface="Arial"/>
                <a:ea typeface="Arial"/>
                <a:cs typeface="Arial"/>
                <a:sym typeface="Arial"/>
              </a:rPr>
              <a:t>Key Message:</a:t>
            </a:r>
            <a:endParaRPr sz="1100" b="1">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800"/>
              <a:t>VCF Automation enables single or multi-tenant private clouds, allowing IT Admins to allocate resources to organizations, each managing users and resources specific to their group. The first step in building a private cloud is to break down a shared infrastructure into individual segments and allocate these segments to different organizations. This approach ensures that each organization feels isolated from the others while allowing for secure and efficient use of resources tailored to their specific needs.</a:t>
            </a:r>
            <a:endParaRPr sz="80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br>
              <a:rPr lang="en-US" sz="800">
                <a:latin typeface="Arial"/>
                <a:ea typeface="Arial"/>
                <a:cs typeface="Arial"/>
                <a:sym typeface="Arial"/>
              </a:rPr>
            </a:br>
            <a:r>
              <a:rPr lang="en-US" sz="800" b="1">
                <a:latin typeface="Arial"/>
                <a:ea typeface="Arial"/>
                <a:cs typeface="Arial"/>
                <a:sym typeface="Arial"/>
              </a:rPr>
              <a:t>Talk Track:</a:t>
            </a:r>
            <a:endParaRPr/>
          </a:p>
          <a:p>
            <a:pPr marL="0" lvl="0" indent="0" algn="l" rtl="0">
              <a:lnSpc>
                <a:spcPct val="60000"/>
              </a:lnSpc>
              <a:spcBef>
                <a:spcPts val="0"/>
              </a:spcBef>
              <a:spcAft>
                <a:spcPts val="0"/>
              </a:spcAft>
              <a:buClr>
                <a:schemeClr val="dk1"/>
              </a:buClr>
              <a:buSzPts val="713"/>
              <a:buFont typeface="Arial"/>
              <a:buNone/>
            </a:pPr>
            <a:r>
              <a:rPr lang="en-US" sz="800"/>
              <a:t>With VCF Automation 9, you can empower application teams by allowing them to select multiple vSphere zones to deploy their applications. This flexibility enables teams to optimize resource utilization, enhance application performance, and ensure redundancy across different zones, improving the reliability and scalability of their deployments.</a:t>
            </a:r>
            <a:endParaRPr/>
          </a:p>
          <a:p>
            <a:pPr marL="0" lvl="0" indent="0" algn="l" rtl="0">
              <a:lnSpc>
                <a:spcPct val="60000"/>
              </a:lnSpc>
              <a:spcBef>
                <a:spcPts val="0"/>
              </a:spcBef>
              <a:spcAft>
                <a:spcPts val="0"/>
              </a:spcAft>
              <a:buClr>
                <a:schemeClr val="dk1"/>
              </a:buClr>
              <a:buSzPts val="713"/>
              <a:buFont typeface="Arial"/>
              <a:buNone/>
            </a:pPr>
            <a:endParaRPr sz="800"/>
          </a:p>
          <a:p>
            <a:pPr marL="0" lvl="0" indent="0" algn="l" rtl="0">
              <a:lnSpc>
                <a:spcPct val="60000"/>
              </a:lnSpc>
              <a:spcBef>
                <a:spcPts val="0"/>
              </a:spcBef>
              <a:spcAft>
                <a:spcPts val="0"/>
              </a:spcAft>
              <a:buClr>
                <a:schemeClr val="dk1"/>
              </a:buClr>
              <a:buSzPts val="713"/>
              <a:buFont typeface="Arial"/>
              <a:buNone/>
            </a:pPr>
            <a:r>
              <a:rPr lang="en-US" sz="800"/>
              <a:t>By ensuring organization isolation at the networking level and aligning with NSX tenancy constructs, we provide comprehensive network isolation throughout the stack while guaranteeing immediate internal and external connectivity upon the creation of the organization.</a:t>
            </a:r>
            <a:endParaRPr/>
          </a:p>
          <a:p>
            <a:pPr marL="0" lvl="0" indent="0" algn="l" rtl="0">
              <a:lnSpc>
                <a:spcPct val="60000"/>
              </a:lnSpc>
              <a:spcBef>
                <a:spcPts val="0"/>
              </a:spcBef>
              <a:spcAft>
                <a:spcPts val="0"/>
              </a:spcAft>
              <a:buClr>
                <a:schemeClr val="dk1"/>
              </a:buClr>
              <a:buSzPts val="713"/>
              <a:buFont typeface="Arial"/>
              <a:buNone/>
            </a:pPr>
            <a:endParaRPr sz="800"/>
          </a:p>
          <a:p>
            <a:pPr marL="0" lvl="0" indent="0" algn="l" rtl="0">
              <a:lnSpc>
                <a:spcPct val="60000"/>
              </a:lnSpc>
              <a:spcBef>
                <a:spcPts val="0"/>
              </a:spcBef>
              <a:spcAft>
                <a:spcPts val="0"/>
              </a:spcAft>
              <a:buClr>
                <a:schemeClr val="dk1"/>
              </a:buClr>
              <a:buSzPts val="713"/>
              <a:buFont typeface="Arial"/>
              <a:buNone/>
            </a:pPr>
            <a:r>
              <a:rPr lang="en-US" sz="800"/>
              <a:t>IT administrators can also provide organizations with a comprehensive Private Cloud experience supported by an extensible managed services ecosystem from VMware and partner services.</a:t>
            </a:r>
            <a:endParaRPr/>
          </a:p>
          <a:p>
            <a:pPr marL="0" lvl="0" indent="0" algn="l" rtl="0">
              <a:lnSpc>
                <a:spcPct val="60000"/>
              </a:lnSpc>
              <a:spcBef>
                <a:spcPts val="0"/>
              </a:spcBef>
              <a:spcAft>
                <a:spcPts val="0"/>
              </a:spcAft>
              <a:buClr>
                <a:schemeClr val="dk1"/>
              </a:buClr>
              <a:buSzPts val="713"/>
              <a:buFont typeface="Arial"/>
              <a:buNone/>
            </a:pPr>
            <a:endParaRPr sz="800"/>
          </a:p>
          <a:p>
            <a:pPr marL="0" lvl="0" indent="0" algn="l" rtl="0">
              <a:lnSpc>
                <a:spcPct val="60000"/>
              </a:lnSpc>
              <a:spcBef>
                <a:spcPts val="0"/>
              </a:spcBef>
              <a:spcAft>
                <a:spcPts val="0"/>
              </a:spcAft>
              <a:buClr>
                <a:schemeClr val="dk1"/>
              </a:buClr>
              <a:buSzPts val="713"/>
              <a:buFont typeface="Arial"/>
              <a:buNone/>
            </a:pPr>
            <a:r>
              <a:rPr lang="en-US" sz="800"/>
              <a:t>Enhanced visibility and control are achieved by providing deeper insights into the consumption of cloud infrastructure through chargeback and showback methods. This approach allows for more informed decision-making and proactive resource management. Furthermore, implementing policy-based controls can reduce costs by optimizing resource utilization and minimizing operational expenses. These controls effectively manage consumption, prevent over-provisioning, and help eliminate unnecessary costs.</a:t>
            </a:r>
            <a:endParaRPr/>
          </a:p>
          <a:p>
            <a:pPr marL="0" lvl="0" indent="0" algn="l" rtl="0">
              <a:lnSpc>
                <a:spcPct val="60000"/>
              </a:lnSpc>
              <a:spcBef>
                <a:spcPts val="0"/>
              </a:spcBef>
              <a:spcAft>
                <a:spcPts val="0"/>
              </a:spcAft>
              <a:buClr>
                <a:schemeClr val="dk1"/>
              </a:buClr>
              <a:buSzPts val="713"/>
              <a:buFont typeface="Arial"/>
              <a:buNone/>
            </a:pPr>
            <a:endParaRPr sz="800" b="1"/>
          </a:p>
          <a:p>
            <a:pPr marL="0" lvl="0" indent="0" algn="l" rtl="0">
              <a:lnSpc>
                <a:spcPct val="60000"/>
              </a:lnSpc>
              <a:spcBef>
                <a:spcPts val="0"/>
              </a:spcBef>
              <a:spcAft>
                <a:spcPts val="0"/>
              </a:spcAft>
              <a:buClr>
                <a:schemeClr val="dk1"/>
              </a:buClr>
              <a:buSzPts val="713"/>
              <a:buFont typeface="Arial"/>
              <a:buNone/>
            </a:pPr>
            <a:r>
              <a:rPr lang="en-US" sz="800" b="0"/>
              <a:t>&lt;click 1&gt;</a:t>
            </a:r>
            <a:endParaRPr sz="800"/>
          </a:p>
          <a:p>
            <a:pPr marL="0" lvl="0" indent="0" algn="l" rtl="0">
              <a:lnSpc>
                <a:spcPct val="60000"/>
              </a:lnSpc>
              <a:spcBef>
                <a:spcPts val="0"/>
              </a:spcBef>
              <a:spcAft>
                <a:spcPts val="0"/>
              </a:spcAft>
              <a:buClr>
                <a:schemeClr val="dk1"/>
              </a:buClr>
              <a:buSzPts val="713"/>
              <a:buFont typeface="Arial"/>
              <a:buNone/>
            </a:pPr>
            <a:endParaRPr sz="800" b="1"/>
          </a:p>
          <a:p>
            <a:pPr marL="0" lvl="0" indent="0" algn="l" rtl="0">
              <a:lnSpc>
                <a:spcPct val="60000"/>
              </a:lnSpc>
              <a:spcBef>
                <a:spcPts val="0"/>
              </a:spcBef>
              <a:spcAft>
                <a:spcPts val="0"/>
              </a:spcAft>
              <a:buClr>
                <a:schemeClr val="dk1"/>
              </a:buClr>
              <a:buSzPts val="713"/>
              <a:buFont typeface="Arial"/>
              <a:buNone/>
            </a:pPr>
            <a:r>
              <a:rPr lang="en-US" sz="800" b="0"/>
              <a:t>&lt;click 2&gt;</a:t>
            </a:r>
            <a:endParaRPr/>
          </a:p>
          <a:p>
            <a:pPr marL="0" lvl="0" indent="0" algn="l" rtl="0">
              <a:lnSpc>
                <a:spcPct val="60000"/>
              </a:lnSpc>
              <a:spcBef>
                <a:spcPts val="0"/>
              </a:spcBef>
              <a:spcAft>
                <a:spcPts val="0"/>
              </a:spcAft>
              <a:buClr>
                <a:schemeClr val="dk1"/>
              </a:buClr>
              <a:buSzPts val="713"/>
              <a:buFont typeface="Arial"/>
              <a:buNone/>
            </a:pPr>
            <a:r>
              <a:rPr lang="en-US" sz="800"/>
              <a:t>A Supervisor can be deployed on three vSphere Zones to provide clusters with high availability and fault tolerance, essential for building highly reliable applications.</a:t>
            </a:r>
            <a:endParaRPr/>
          </a:p>
          <a:p>
            <a:pPr marL="0" lvl="0" indent="0" algn="l" rtl="0">
              <a:lnSpc>
                <a:spcPct val="60000"/>
              </a:lnSpc>
              <a:spcBef>
                <a:spcPts val="0"/>
              </a:spcBef>
              <a:spcAft>
                <a:spcPts val="0"/>
              </a:spcAft>
              <a:buClr>
                <a:schemeClr val="dk1"/>
              </a:buClr>
              <a:buSzPts val="713"/>
              <a:buFont typeface="Arial"/>
              <a:buNone/>
            </a:pPr>
            <a:endParaRPr sz="800"/>
          </a:p>
          <a:p>
            <a:pPr marL="0" lvl="0" indent="0" algn="l" rtl="0">
              <a:lnSpc>
                <a:spcPct val="60000"/>
              </a:lnSpc>
              <a:spcBef>
                <a:spcPts val="0"/>
              </a:spcBef>
              <a:spcAft>
                <a:spcPts val="0"/>
              </a:spcAft>
              <a:buClr>
                <a:schemeClr val="dk1"/>
              </a:buClr>
              <a:buSzPts val="713"/>
              <a:buFont typeface="Arial"/>
              <a:buNone/>
            </a:pPr>
            <a:r>
              <a:rPr lang="en-US" sz="800"/>
              <a:t>&lt;click 3&gt;</a:t>
            </a:r>
            <a:endParaRPr/>
          </a:p>
          <a:p>
            <a:pPr marL="0" lvl="0" indent="0" algn="l" rtl="0">
              <a:lnSpc>
                <a:spcPct val="60000"/>
              </a:lnSpc>
              <a:spcBef>
                <a:spcPts val="0"/>
              </a:spcBef>
              <a:spcAft>
                <a:spcPts val="0"/>
              </a:spcAft>
              <a:buClr>
                <a:schemeClr val="dk1"/>
              </a:buClr>
              <a:buSzPts val="713"/>
              <a:buFont typeface="Arial"/>
              <a:buNone/>
            </a:pPr>
            <a:r>
              <a:rPr lang="en-US" sz="800"/>
              <a:t>First, ensure that each organization is isolated from the others regarding networking and computing resources. Next, establish network isolation for different application teams within each organization using Virtual Private Clouds (VPCs). Finally, implement a transit gateway to facilitate communication between VPCs and to enable connectivity with external networks outside the organization.</a:t>
            </a:r>
            <a:endParaRPr/>
          </a:p>
          <a:p>
            <a:pPr marL="0" lvl="0" indent="0" algn="l" rtl="0">
              <a:lnSpc>
                <a:spcPct val="60000"/>
              </a:lnSpc>
              <a:spcBef>
                <a:spcPts val="0"/>
              </a:spcBef>
              <a:spcAft>
                <a:spcPts val="0"/>
              </a:spcAft>
              <a:buClr>
                <a:schemeClr val="dk1"/>
              </a:buClr>
              <a:buSzPts val="713"/>
              <a:buFont typeface="Arial"/>
              <a:buNone/>
            </a:pPr>
            <a:endParaRPr sz="800"/>
          </a:p>
          <a:p>
            <a:pPr marL="0" lvl="0" indent="0" algn="l" rtl="0">
              <a:lnSpc>
                <a:spcPct val="60000"/>
              </a:lnSpc>
              <a:spcBef>
                <a:spcPts val="0"/>
              </a:spcBef>
              <a:spcAft>
                <a:spcPts val="0"/>
              </a:spcAft>
              <a:buClr>
                <a:schemeClr val="dk1"/>
              </a:buClr>
              <a:buSzPts val="713"/>
              <a:buFont typeface="Arial"/>
              <a:buNone/>
            </a:pPr>
            <a:r>
              <a:rPr lang="en-US" sz="1200"/>
              <a:t>&lt;click 4&gt;</a:t>
            </a:r>
            <a:endParaRPr sz="800"/>
          </a:p>
          <a:p>
            <a:pPr marL="0" lvl="0" indent="0" algn="l" rtl="0">
              <a:lnSpc>
                <a:spcPct val="60000"/>
              </a:lnSpc>
              <a:spcBef>
                <a:spcPts val="0"/>
              </a:spcBef>
              <a:spcAft>
                <a:spcPts val="0"/>
              </a:spcAft>
              <a:buClr>
                <a:schemeClr val="dk1"/>
              </a:buClr>
              <a:buSzPts val="713"/>
              <a:buFont typeface="Arial"/>
              <a:buNone/>
            </a:pPr>
            <a:r>
              <a:rPr lang="en-US" sz="800"/>
              <a:t>Enterprise IT admins manage resources and set quota policies for each organization. They control identity, permissions, and operations, and they organize content management across different LOBs. Additionally, IT admins can provide various managed services such as encryption, backup, and data management using services created by VMware and third-party software vendors (e.g., Veeam for backup services).</a:t>
            </a:r>
            <a:endParaRPr/>
          </a:p>
          <a:p>
            <a:pPr marL="0" lvl="0" indent="0" algn="l" rtl="0">
              <a:lnSpc>
                <a:spcPct val="60000"/>
              </a:lnSpc>
              <a:spcBef>
                <a:spcPts val="0"/>
              </a:spcBef>
              <a:spcAft>
                <a:spcPts val="0"/>
              </a:spcAft>
              <a:buClr>
                <a:schemeClr val="dk1"/>
              </a:buClr>
              <a:buSzPts val="713"/>
              <a:buFont typeface="Arial"/>
              <a:buNone/>
            </a:pPr>
            <a:r>
              <a:rPr lang="en-US" sz="800"/>
              <a:t>Enterprise IT Admins gain insight into resource utilization, costs, and spending across different orgs, environments, and workload types. After establishing orgs and defining quota limits and networking configurations, providers can utilize operations to thoroughly assess each org's resource usage and implement chargeback mechanisms. Additionally, if desired, custom branding can be created for each org console within VCF Automation, allowing for a distinct branding experience for each org.</a:t>
            </a:r>
            <a:endParaRPr sz="800" b="1">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endParaRPr sz="800" b="1">
              <a:latin typeface="Arial"/>
              <a:ea typeface="Arial"/>
              <a:cs typeface="Arial"/>
              <a:sym typeface="Arial"/>
            </a:endParaRPr>
          </a:p>
          <a:p>
            <a:pPr marL="0" marR="0" lvl="0" indent="0" algn="l" rtl="0">
              <a:lnSpc>
                <a:spcPct val="60000"/>
              </a:lnSpc>
              <a:spcBef>
                <a:spcPts val="0"/>
              </a:spcBef>
              <a:spcAft>
                <a:spcPts val="0"/>
              </a:spcAft>
              <a:buClr>
                <a:schemeClr val="dk1"/>
              </a:buClr>
              <a:buSzPts val="713"/>
              <a:buFont typeface="Arial"/>
              <a:buNone/>
            </a:pPr>
            <a:r>
              <a:rPr lang="en-US" sz="1200" b="1">
                <a:latin typeface="Arial"/>
                <a:ea typeface="Arial"/>
                <a:cs typeface="Arial"/>
                <a:sym typeface="Arial"/>
              </a:rPr>
              <a:t>Notes:</a:t>
            </a:r>
            <a:endParaRPr/>
          </a:p>
          <a:p>
            <a:pPr marL="0" lvl="0" indent="0" algn="l" rtl="0">
              <a:lnSpc>
                <a:spcPct val="80000"/>
              </a:lnSpc>
              <a:spcBef>
                <a:spcPts val="0"/>
              </a:spcBef>
              <a:spcAft>
                <a:spcPts val="0"/>
              </a:spcAft>
              <a:buClr>
                <a:schemeClr val="dk2"/>
              </a:buClr>
              <a:buSzPts val="1100"/>
              <a:buFont typeface="Arial"/>
              <a:buNone/>
            </a:pPr>
            <a:r>
              <a:rPr lang="en-US" sz="800" b="0" u="sng"/>
              <a:t>Customer Benefits:</a:t>
            </a:r>
            <a:endParaRPr sz="800" b="0" u="sng"/>
          </a:p>
          <a:p>
            <a:pPr marL="457200" lvl="0" indent="-317500" algn="l" rtl="0">
              <a:lnSpc>
                <a:spcPct val="80000"/>
              </a:lnSpc>
              <a:spcBef>
                <a:spcPts val="0"/>
              </a:spcBef>
              <a:spcAft>
                <a:spcPts val="0"/>
              </a:spcAft>
              <a:buClr>
                <a:schemeClr val="dk1"/>
              </a:buClr>
              <a:buSzPts val="1400"/>
              <a:buFont typeface="Arial"/>
              <a:buChar char="•"/>
            </a:pPr>
            <a:r>
              <a:rPr lang="en-US" sz="800"/>
              <a:t>With VCFA 9 you can empower application teams by allowing them to select multiple vSphere zones for the deployment of their applications. This flexibility will enable teams to optimize resource utilization, enhance application performance, and ensure redundancy across different zones, ultimately improving the reliability and scalability of their deployments.</a:t>
            </a:r>
            <a:endParaRPr/>
          </a:p>
          <a:p>
            <a:pPr marL="457200" lvl="0" indent="-317500" algn="l" rtl="0">
              <a:lnSpc>
                <a:spcPct val="80000"/>
              </a:lnSpc>
              <a:spcBef>
                <a:spcPts val="0"/>
              </a:spcBef>
              <a:spcAft>
                <a:spcPts val="0"/>
              </a:spcAft>
              <a:buClr>
                <a:schemeClr val="dk1"/>
              </a:buClr>
              <a:buSzPts val="1400"/>
              <a:buFont typeface="Arial"/>
              <a:buChar char="•"/>
            </a:pPr>
            <a:r>
              <a:rPr lang="en-US" sz="800"/>
              <a:t>By ensuring org isolation at the networking level and aligning with NSX tenancy constructs, we provide comprehensive network isolation throughout the stack while guaranteeing immediate internal and external connectivity upon the creation of the organization.</a:t>
            </a:r>
            <a:endParaRPr/>
          </a:p>
          <a:p>
            <a:pPr marL="457200" lvl="0" indent="-317500" algn="l" rtl="0">
              <a:lnSpc>
                <a:spcPct val="80000"/>
              </a:lnSpc>
              <a:spcBef>
                <a:spcPts val="0"/>
              </a:spcBef>
              <a:spcAft>
                <a:spcPts val="0"/>
              </a:spcAft>
              <a:buClr>
                <a:schemeClr val="dk1"/>
              </a:buClr>
              <a:buSzPts val="1400"/>
              <a:buFont typeface="Arial"/>
              <a:buChar char="•"/>
            </a:pPr>
            <a:r>
              <a:rPr lang="en-US" sz="800"/>
              <a:t>Improved compliance and security measures ensure consistent policy enforcement across LoBs, minimizing human error while adhering to organizational and regulatory standards. IT administrators can also provide orgs with a comprehensive Private Cloud experience supported by an extensible managed services ecosystem from VMware and partner services.</a:t>
            </a:r>
            <a:endParaRPr/>
          </a:p>
          <a:p>
            <a:pPr marL="457200" lvl="0" indent="-317500" algn="l" rtl="0">
              <a:lnSpc>
                <a:spcPct val="80000"/>
              </a:lnSpc>
              <a:spcBef>
                <a:spcPts val="0"/>
              </a:spcBef>
              <a:spcAft>
                <a:spcPts val="0"/>
              </a:spcAft>
              <a:buClr>
                <a:schemeClr val="dk1"/>
              </a:buClr>
              <a:buSzPts val="1400"/>
              <a:buFont typeface="Arial"/>
              <a:buChar char="•"/>
            </a:pPr>
            <a:r>
              <a:rPr lang="en-US" sz="800"/>
              <a:t>Enhanced visibility and control are achieved by providing deeper insights into the consumption of cloud infrastructure through chargeback and showback methods. This approach allows for more informed decision-making and proactive resource management. Furthermore, implementing policy-based controls can lead to cost reductions by optimizing resource utilization and minimizing operational expenses. These controls effectively manage consumption, prevent over-provisioning, and help eliminate unnecessary costs.</a:t>
            </a:r>
            <a:endParaRPr/>
          </a:p>
          <a:p>
            <a:pPr marL="0" lvl="0" indent="0" algn="l" rtl="0">
              <a:lnSpc>
                <a:spcPct val="80000"/>
              </a:lnSpc>
              <a:spcBef>
                <a:spcPts val="0"/>
              </a:spcBef>
              <a:spcAft>
                <a:spcPts val="0"/>
              </a:spcAft>
              <a:buClr>
                <a:schemeClr val="dk2"/>
              </a:buClr>
              <a:buSzPts val="1100"/>
              <a:buFont typeface="Arial"/>
              <a:buNone/>
            </a:pPr>
            <a:endParaRPr sz="800" b="1"/>
          </a:p>
          <a:p>
            <a:pPr marL="0" lvl="0" indent="0" algn="l" rtl="0">
              <a:lnSpc>
                <a:spcPct val="80000"/>
              </a:lnSpc>
              <a:spcBef>
                <a:spcPts val="0"/>
              </a:spcBef>
              <a:spcAft>
                <a:spcPts val="0"/>
              </a:spcAft>
              <a:buClr>
                <a:schemeClr val="dk2"/>
              </a:buClr>
              <a:buSzPts val="1100"/>
              <a:buFont typeface="Arial"/>
              <a:buNone/>
            </a:pPr>
            <a:r>
              <a:rPr lang="en-US" sz="800" b="0" u="sng"/>
              <a:t>Key Attributes:</a:t>
            </a:r>
            <a:endParaRPr b="0" u="sng"/>
          </a:p>
          <a:p>
            <a:pPr marL="457200" lvl="0" indent="-317500" algn="l" rtl="0">
              <a:lnSpc>
                <a:spcPct val="80000"/>
              </a:lnSpc>
              <a:spcBef>
                <a:spcPts val="0"/>
              </a:spcBef>
              <a:spcAft>
                <a:spcPts val="0"/>
              </a:spcAft>
              <a:buClr>
                <a:schemeClr val="dk1"/>
              </a:buClr>
              <a:buSzPts val="1400"/>
              <a:buFont typeface="Arial"/>
              <a:buChar char="•"/>
            </a:pPr>
            <a:r>
              <a:rPr lang="en-US" sz="800"/>
              <a:t>A Supervisor can be deployed on three vSphere Zones to provide clusters with high availability and fault tolerance, which are essential for building highly reliable applications.</a:t>
            </a:r>
            <a:endParaRPr/>
          </a:p>
          <a:p>
            <a:pPr marL="457200" lvl="0" indent="-228600" algn="l" rtl="0">
              <a:lnSpc>
                <a:spcPct val="80000"/>
              </a:lnSpc>
              <a:spcBef>
                <a:spcPts val="0"/>
              </a:spcBef>
              <a:spcAft>
                <a:spcPts val="0"/>
              </a:spcAft>
              <a:buClr>
                <a:schemeClr val="dk1"/>
              </a:buClr>
              <a:buSzPts val="1400"/>
              <a:buFont typeface="Arial"/>
              <a:buNone/>
            </a:pPr>
            <a:endParaRPr sz="800"/>
          </a:p>
          <a:p>
            <a:pPr marL="457200" lvl="0" indent="-317500" algn="l" rtl="0">
              <a:lnSpc>
                <a:spcPct val="80000"/>
              </a:lnSpc>
              <a:spcBef>
                <a:spcPts val="0"/>
              </a:spcBef>
              <a:spcAft>
                <a:spcPts val="0"/>
              </a:spcAft>
              <a:buClr>
                <a:schemeClr val="dk1"/>
              </a:buClr>
              <a:buSzPts val="1400"/>
              <a:buFont typeface="Arial"/>
              <a:buChar char="•"/>
            </a:pPr>
            <a:r>
              <a:rPr lang="en-US" sz="800"/>
              <a:t>First, ensure that each organization is isolated from one another in terms of networking and computing resources. Next, establish network isolation for different application teams within each organization by using Virtual Private Clouds (VPCs). Finally, implement a transit gateway to facilitate communication between VPCs and to enable connectivity with external networks outside the organization.</a:t>
            </a:r>
            <a:endParaRPr/>
          </a:p>
          <a:p>
            <a:pPr marL="457200" lvl="0" indent="-228600" algn="l" rtl="0">
              <a:lnSpc>
                <a:spcPct val="80000"/>
              </a:lnSpc>
              <a:spcBef>
                <a:spcPts val="0"/>
              </a:spcBef>
              <a:spcAft>
                <a:spcPts val="0"/>
              </a:spcAft>
              <a:buClr>
                <a:schemeClr val="dk1"/>
              </a:buClr>
              <a:buSzPts val="1400"/>
              <a:buFont typeface="Arial"/>
              <a:buNone/>
            </a:pPr>
            <a:endParaRPr sz="800"/>
          </a:p>
          <a:p>
            <a:pPr marL="457200" lvl="0" indent="-317500" algn="l" rtl="0">
              <a:lnSpc>
                <a:spcPct val="80000"/>
              </a:lnSpc>
              <a:spcBef>
                <a:spcPts val="0"/>
              </a:spcBef>
              <a:spcAft>
                <a:spcPts val="0"/>
              </a:spcAft>
              <a:buClr>
                <a:schemeClr val="dk1"/>
              </a:buClr>
              <a:buSzPts val="1400"/>
              <a:buFont typeface="Arial"/>
              <a:buChar char="•"/>
            </a:pPr>
            <a:r>
              <a:rPr lang="en-US" sz="800"/>
              <a:t>Enterprise IT admins manage resources and set quota policies for each org. They control identity, permissions, and operations, and they organize content management across different LOBs. Additionally, IT admins can provide various managed services such as encryption, backup, and data management using services created by VMware and third-party software vendors (e.g., Veeam for backup services).</a:t>
            </a:r>
            <a:endParaRPr/>
          </a:p>
          <a:p>
            <a:pPr marL="457200" lvl="0" indent="-317500" algn="l" rtl="0">
              <a:lnSpc>
                <a:spcPct val="80000"/>
              </a:lnSpc>
              <a:spcBef>
                <a:spcPts val="0"/>
              </a:spcBef>
              <a:spcAft>
                <a:spcPts val="0"/>
              </a:spcAft>
              <a:buClr>
                <a:schemeClr val="dk1"/>
              </a:buClr>
              <a:buSzPts val="1400"/>
              <a:buFont typeface="Arial"/>
              <a:buChar char="•"/>
            </a:pPr>
            <a:r>
              <a:rPr lang="en-US" sz="800"/>
              <a:t>Enterprise IT Admins gain clear insights into resource utilization, costs, and spending across different orgs, environments, and workload types. After establishing orgs and defining quota limits and networking configurations, providers can utilize operations to thoroughly assess each org's resource usage and implement chargeback mechanisms. Additionally, if desired, custom branding can be created for each org console within VCF Automation, allowing for a distinct branding experience for each org.</a:t>
            </a:r>
            <a:endParaRPr/>
          </a:p>
          <a:p>
            <a:pPr marL="0" lvl="0" indent="0" algn="l" rtl="0">
              <a:lnSpc>
                <a:spcPct val="80000"/>
              </a:lnSpc>
              <a:spcBef>
                <a:spcPts val="0"/>
              </a:spcBef>
              <a:spcAft>
                <a:spcPts val="0"/>
              </a:spcAft>
              <a:buClr>
                <a:schemeClr val="dk1"/>
              </a:buClr>
              <a:buSzPts val="1400"/>
              <a:buFont typeface="Arial"/>
              <a:buNone/>
            </a:pPr>
            <a:endParaRPr sz="800">
              <a:solidFill>
                <a:srgbClr val="444746"/>
              </a:solidFill>
              <a:latin typeface="Roboto"/>
              <a:ea typeface="Roboto"/>
              <a:cs typeface="Roboto"/>
              <a:sym typeface="Roboto"/>
            </a:endParaRPr>
          </a:p>
          <a:p>
            <a:pPr marL="0" lvl="0" indent="0" algn="l" rtl="0">
              <a:lnSpc>
                <a:spcPct val="80000"/>
              </a:lnSpc>
              <a:spcBef>
                <a:spcPts val="0"/>
              </a:spcBef>
              <a:spcAft>
                <a:spcPts val="0"/>
              </a:spcAft>
              <a:buClr>
                <a:schemeClr val="dk1"/>
              </a:buClr>
              <a:buSzPts val="1100"/>
              <a:buFont typeface="Arial"/>
              <a:buNone/>
            </a:pPr>
            <a:r>
              <a:rPr lang="en-US" sz="800">
                <a:latin typeface="Arial"/>
                <a:ea typeface="Arial"/>
                <a:cs typeface="Arial"/>
                <a:sym typeface="Arial"/>
              </a:rPr>
              <a:t>For a short and sweet summary of Tenant Management, explained in an alternative way (spans across different themes):</a:t>
            </a:r>
            <a:endParaRPr/>
          </a:p>
          <a:p>
            <a:pPr marL="457200" lvl="0" indent="-298450" algn="l" rtl="0">
              <a:lnSpc>
                <a:spcPct val="95000"/>
              </a:lnSpc>
              <a:spcBef>
                <a:spcPts val="1200"/>
              </a:spcBef>
              <a:spcAft>
                <a:spcPts val="0"/>
              </a:spcAft>
              <a:buClr>
                <a:schemeClr val="dk1"/>
              </a:buClr>
              <a:buSzPts val="1100"/>
              <a:buFont typeface="Arial"/>
              <a:buChar char="•"/>
            </a:pPr>
            <a:r>
              <a:rPr lang="en-US" sz="800" b="0" u="sng">
                <a:latin typeface="Arial"/>
                <a:ea typeface="Arial"/>
                <a:cs typeface="Arial"/>
                <a:sym typeface="Arial"/>
              </a:rPr>
              <a:t>Organization Management: </a:t>
            </a:r>
            <a:r>
              <a:rPr lang="en-US" sz="800">
                <a:latin typeface="Arial"/>
                <a:ea typeface="Arial"/>
                <a:cs typeface="Arial"/>
                <a:sym typeface="Arial"/>
              </a:rPr>
              <a:t>Create, manage, and maintain organizational units to structure orgs effectively. </a:t>
            </a:r>
            <a:endParaRPr/>
          </a:p>
          <a:p>
            <a:pPr marL="457200" lvl="0" indent="-298450" algn="l" rtl="0">
              <a:lnSpc>
                <a:spcPct val="95000"/>
              </a:lnSpc>
              <a:spcBef>
                <a:spcPts val="0"/>
              </a:spcBef>
              <a:spcAft>
                <a:spcPts val="0"/>
              </a:spcAft>
              <a:buClr>
                <a:schemeClr val="dk1"/>
              </a:buClr>
              <a:buSzPts val="1100"/>
              <a:buFont typeface="Arial"/>
              <a:buChar char="•"/>
            </a:pPr>
            <a:r>
              <a:rPr lang="en-US" sz="800" b="0" u="sng">
                <a:latin typeface="Arial"/>
                <a:ea typeface="Arial"/>
                <a:cs typeface="Arial"/>
                <a:sym typeface="Arial"/>
              </a:rPr>
              <a:t>Resource Management and Allocation to Organizations: </a:t>
            </a:r>
            <a:r>
              <a:rPr lang="en-US" sz="800">
                <a:latin typeface="Arial"/>
                <a:ea typeface="Arial"/>
                <a:cs typeface="Arial"/>
                <a:sym typeface="Arial"/>
              </a:rPr>
              <a:t>Allocate and manage cloud resources such as compute, storage, and network quotas across organizations. </a:t>
            </a:r>
            <a:endParaRPr/>
          </a:p>
          <a:p>
            <a:pPr marL="457200" lvl="0" indent="-298450" algn="l" rtl="0">
              <a:lnSpc>
                <a:spcPct val="95000"/>
              </a:lnSpc>
              <a:spcBef>
                <a:spcPts val="0"/>
              </a:spcBef>
              <a:spcAft>
                <a:spcPts val="0"/>
              </a:spcAft>
              <a:buClr>
                <a:schemeClr val="dk1"/>
              </a:buClr>
              <a:buSzPts val="1100"/>
              <a:buFont typeface="Arial"/>
              <a:buChar char="•"/>
            </a:pPr>
            <a:r>
              <a:rPr lang="en-US" sz="800" b="0" u="sng">
                <a:latin typeface="Arial"/>
                <a:ea typeface="Arial"/>
                <a:cs typeface="Arial"/>
                <a:sym typeface="Arial"/>
              </a:rPr>
              <a:t>Cost and Chargeback: </a:t>
            </a:r>
            <a:r>
              <a:rPr lang="en-US" sz="800">
                <a:latin typeface="Arial"/>
                <a:ea typeface="Arial"/>
                <a:cs typeface="Arial"/>
                <a:sym typeface="Arial"/>
              </a:rPr>
              <a:t>Track resource consumption and generate cost insights, enabling chargeback or showback for individual orgs. </a:t>
            </a:r>
            <a:endParaRPr/>
          </a:p>
          <a:p>
            <a:pPr marL="457200" lvl="0" indent="-298450" algn="l" rtl="0">
              <a:lnSpc>
                <a:spcPct val="95000"/>
              </a:lnSpc>
              <a:spcBef>
                <a:spcPts val="0"/>
              </a:spcBef>
              <a:spcAft>
                <a:spcPts val="0"/>
              </a:spcAft>
              <a:buClr>
                <a:schemeClr val="dk1"/>
              </a:buClr>
              <a:buSzPts val="1100"/>
              <a:buFont typeface="Arial"/>
              <a:buChar char="•"/>
            </a:pPr>
            <a:r>
              <a:rPr lang="en-US" sz="800" b="0" u="sng">
                <a:latin typeface="Arial"/>
                <a:ea typeface="Arial"/>
                <a:cs typeface="Arial"/>
                <a:sym typeface="Arial"/>
              </a:rPr>
              <a:t>Access Control and Identity Management: </a:t>
            </a:r>
            <a:r>
              <a:rPr lang="en-US" sz="800">
                <a:latin typeface="Arial"/>
                <a:ea typeface="Arial"/>
                <a:cs typeface="Arial"/>
                <a:sym typeface="Arial"/>
              </a:rPr>
              <a:t>Manage user roles, permissions, and authentication to ensure secure and tailored access for each org. </a:t>
            </a:r>
            <a:endParaRPr/>
          </a:p>
          <a:p>
            <a:pPr marL="457200" lvl="0" indent="-298450" algn="l" rtl="0">
              <a:lnSpc>
                <a:spcPct val="95000"/>
              </a:lnSpc>
              <a:spcBef>
                <a:spcPts val="0"/>
              </a:spcBef>
              <a:spcAft>
                <a:spcPts val="0"/>
              </a:spcAft>
              <a:buClr>
                <a:schemeClr val="dk1"/>
              </a:buClr>
              <a:buSzPts val="1100"/>
              <a:buFont typeface="Arial"/>
              <a:buChar char="•"/>
            </a:pPr>
            <a:r>
              <a:rPr lang="en-US" sz="800" b="0" u="sng">
                <a:latin typeface="Arial"/>
                <a:ea typeface="Arial"/>
                <a:cs typeface="Arial"/>
                <a:sym typeface="Arial"/>
              </a:rPr>
              <a:t>Content Management: </a:t>
            </a:r>
            <a:r>
              <a:rPr lang="en-US" sz="800">
                <a:latin typeface="Arial"/>
                <a:ea typeface="Arial"/>
                <a:cs typeface="Arial"/>
                <a:sym typeface="Arial"/>
              </a:rPr>
              <a:t>Share content such as blueprints, images, and workflows from the provider to multiple organizations for seamless consumption.</a:t>
            </a:r>
            <a:endParaRPr/>
          </a:p>
          <a:p>
            <a:pPr marL="0" lvl="0" indent="0" algn="l" rtl="0">
              <a:lnSpc>
                <a:spcPct val="80000"/>
              </a:lnSpc>
              <a:spcBef>
                <a:spcPts val="1200"/>
              </a:spcBef>
              <a:spcAft>
                <a:spcPts val="0"/>
              </a:spcAft>
              <a:buClr>
                <a:schemeClr val="dk1"/>
              </a:buClr>
              <a:buSzPts val="1400"/>
              <a:buFont typeface="Arial"/>
              <a:buNone/>
            </a:pPr>
            <a:endParaRPr sz="800">
              <a:solidFill>
                <a:srgbClr val="444746"/>
              </a:solidFill>
              <a:latin typeface="Roboto"/>
              <a:ea typeface="Roboto"/>
              <a:cs typeface="Roboto"/>
              <a:sym typeface="Roboto"/>
            </a:endParaRPr>
          </a:p>
          <a:p>
            <a:pPr marL="457200" marR="0" lvl="0" indent="-228600" algn="l" rtl="0">
              <a:lnSpc>
                <a:spcPct val="100000"/>
              </a:lnSpc>
              <a:spcBef>
                <a:spcPts val="0"/>
              </a:spcBef>
              <a:spcAft>
                <a:spcPts val="0"/>
              </a:spcAft>
              <a:buClr>
                <a:schemeClr val="dk1"/>
              </a:buClr>
              <a:buSzPts val="1400"/>
              <a:buFont typeface="Arial"/>
              <a:buNone/>
            </a:pPr>
            <a:endParaRPr sz="1200" b="1">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400"/>
              <a:buFont typeface="Arial"/>
              <a:buNone/>
            </a:pPr>
            <a:r>
              <a:rPr lang="en-US" sz="1200" b="1">
                <a:latin typeface="Arial"/>
                <a:ea typeface="Arial"/>
                <a:cs typeface="Arial"/>
                <a:sym typeface="Arial"/>
              </a:rPr>
              <a:t>Resources:</a:t>
            </a:r>
            <a:endParaRPr/>
          </a:p>
          <a:p>
            <a:pPr marL="457200" marR="0" lvl="0" indent="-228600" algn="l" rtl="0">
              <a:lnSpc>
                <a:spcPct val="100000"/>
              </a:lnSpc>
              <a:spcBef>
                <a:spcPts val="0"/>
              </a:spcBef>
              <a:spcAft>
                <a:spcPts val="0"/>
              </a:spcAft>
              <a:buClr>
                <a:schemeClr val="dk1"/>
              </a:buClr>
              <a:buSzPts val="1400"/>
              <a:buFont typeface="Arial"/>
              <a:buNone/>
            </a:pPr>
            <a:endParaRPr/>
          </a:p>
        </p:txBody>
      </p:sp>
      <p:sp>
        <p:nvSpPr>
          <p:cNvPr id="7560" name="Google Shape;7560;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13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7"/>
        <p:cNvGrpSpPr/>
        <p:nvPr/>
      </p:nvGrpSpPr>
      <p:grpSpPr>
        <a:xfrm>
          <a:off x="0" y="0"/>
          <a:ext cx="0" cy="0"/>
          <a:chOff x="0" y="0"/>
          <a:chExt cx="0" cy="0"/>
        </a:xfrm>
      </p:grpSpPr>
      <p:sp>
        <p:nvSpPr>
          <p:cNvPr id="7578" name="Google Shape;7578;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9" name="Google Shape;7579;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sz="2000" b="1" dirty="0">
              <a:latin typeface="Arial"/>
              <a:ea typeface="Arial"/>
              <a:cs typeface="Arial"/>
              <a:sym typeface="Arial"/>
            </a:endParaRPr>
          </a:p>
          <a:p>
            <a:pPr marL="0" marR="0" lvl="0" indent="0" algn="l" rtl="0">
              <a:lnSpc>
                <a:spcPct val="60000"/>
              </a:lnSpc>
              <a:spcBef>
                <a:spcPts val="0"/>
              </a:spcBef>
              <a:spcAft>
                <a:spcPts val="0"/>
              </a:spcAft>
              <a:buClr>
                <a:schemeClr val="dk1"/>
              </a:buClr>
              <a:buSzPts val="713"/>
              <a:buFont typeface="Arial"/>
              <a:buNone/>
            </a:pPr>
            <a:r>
              <a:rPr lang="en-US" sz="1200" dirty="0"/>
              <a:t>Complete network governance for Org Admin with the power to enable self-service networking for consumers.</a:t>
            </a:r>
            <a:endParaRPr sz="1200"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endParaRPr dirty="0"/>
          </a:p>
          <a:p>
            <a:pPr marL="0" lvl="0" indent="0" algn="l" rtl="0">
              <a:lnSpc>
                <a:spcPct val="60000"/>
              </a:lnSpc>
              <a:spcBef>
                <a:spcPts val="0"/>
              </a:spcBef>
              <a:spcAft>
                <a:spcPts val="0"/>
              </a:spcAft>
              <a:buClr>
                <a:schemeClr val="dk1"/>
              </a:buClr>
              <a:buSzPts val="713"/>
              <a:buFont typeface="Arial"/>
              <a:buNone/>
            </a:pPr>
            <a:r>
              <a:rPr lang="en-US" sz="1200" dirty="0"/>
              <a:t>By creating network isolation domains (VPC) for different application teams, organizations can significantly improve their security posture. Each team’s resources are separated, which minimizes the risk of data breaches and unauthorized access. </a:t>
            </a:r>
            <a:endParaRPr dirty="0"/>
          </a:p>
          <a:p>
            <a:pPr marL="0" lvl="0" indent="0" algn="l" rtl="0">
              <a:lnSpc>
                <a:spcPct val="60000"/>
              </a:lnSpc>
              <a:spcBef>
                <a:spcPts val="0"/>
              </a:spcBef>
              <a:spcAft>
                <a:spcPts val="0"/>
              </a:spcAft>
              <a:buClr>
                <a:schemeClr val="dk1"/>
              </a:buClr>
              <a:buSzPts val="713"/>
              <a:buFont typeface="Arial"/>
              <a:buNone/>
            </a:pPr>
            <a:endParaRPr sz="1200" dirty="0"/>
          </a:p>
          <a:p>
            <a:pPr marL="0" lvl="0" indent="0" algn="l" rtl="0">
              <a:lnSpc>
                <a:spcPct val="60000"/>
              </a:lnSpc>
              <a:spcBef>
                <a:spcPts val="0"/>
              </a:spcBef>
              <a:spcAft>
                <a:spcPts val="0"/>
              </a:spcAft>
              <a:buClr>
                <a:schemeClr val="dk1"/>
              </a:buClr>
              <a:buSzPts val="713"/>
              <a:buFont typeface="Arial"/>
              <a:buNone/>
            </a:pPr>
            <a:r>
              <a:rPr lang="en-US" sz="1200" dirty="0"/>
              <a:t>Managing IP addresses locally and coordinating them effectively with IT Admins or Providers allows for better resource allocation and reduces conflicts. This ensures that applications run smoothly without network disruptions. </a:t>
            </a:r>
            <a:endParaRPr dirty="0"/>
          </a:p>
          <a:p>
            <a:pPr marL="0" lvl="0" indent="0" algn="l" rtl="0">
              <a:lnSpc>
                <a:spcPct val="60000"/>
              </a:lnSpc>
              <a:spcBef>
                <a:spcPts val="0"/>
              </a:spcBef>
              <a:spcAft>
                <a:spcPts val="0"/>
              </a:spcAft>
              <a:buClr>
                <a:schemeClr val="dk1"/>
              </a:buClr>
              <a:buSzPts val="713"/>
              <a:buFont typeface="Arial"/>
              <a:buNone/>
            </a:pPr>
            <a:endParaRPr sz="1200" dirty="0"/>
          </a:p>
          <a:p>
            <a:pPr marL="0" lvl="0" indent="0" algn="l" rtl="0">
              <a:lnSpc>
                <a:spcPct val="60000"/>
              </a:lnSpc>
              <a:spcBef>
                <a:spcPts val="0"/>
              </a:spcBef>
              <a:spcAft>
                <a:spcPts val="0"/>
              </a:spcAft>
              <a:buClr>
                <a:schemeClr val="dk1"/>
              </a:buClr>
              <a:buSzPts val="713"/>
              <a:buFont typeface="Arial"/>
              <a:buNone/>
            </a:pPr>
            <a:r>
              <a:rPr lang="en-US" sz="1200" dirty="0"/>
              <a:t>Set up dedicated network isolation domains (VPCs) tailored for different application teams within the organization. This ensures that each team operates within its secure environment, minimizing the risk of cross-team interference and enhancing network security. </a:t>
            </a:r>
            <a:endParaRPr dirty="0"/>
          </a:p>
          <a:p>
            <a:pPr marL="0" lvl="0" indent="0" algn="l" rtl="0">
              <a:lnSpc>
                <a:spcPct val="60000"/>
              </a:lnSpc>
              <a:spcBef>
                <a:spcPts val="0"/>
              </a:spcBef>
              <a:spcAft>
                <a:spcPts val="0"/>
              </a:spcAft>
              <a:buClr>
                <a:schemeClr val="dk1"/>
              </a:buClr>
              <a:buSzPts val="713"/>
              <a:buFont typeface="Arial"/>
              <a:buNone/>
            </a:pPr>
            <a:endParaRPr sz="1200" dirty="0"/>
          </a:p>
          <a:p>
            <a:pPr marL="0" lvl="0" indent="0" algn="l" rtl="0">
              <a:lnSpc>
                <a:spcPct val="60000"/>
              </a:lnSpc>
              <a:spcBef>
                <a:spcPts val="0"/>
              </a:spcBef>
              <a:spcAft>
                <a:spcPts val="0"/>
              </a:spcAft>
              <a:buClr>
                <a:schemeClr val="dk1"/>
              </a:buClr>
              <a:buSzPts val="713"/>
              <a:buFont typeface="Arial"/>
              <a:buNone/>
            </a:pPr>
            <a:r>
              <a:rPr lang="en-US" sz="1200" dirty="0"/>
              <a:t>Allocate the created virtual private clouds (VPCs) to one or more vSphere Namespaces. This integration allows for better resource management, ensuring that each namespace can leverage the benefits of its assigned VPC for enhanced isolation and control over network resources.</a:t>
            </a:r>
            <a:endParaRPr dirty="0"/>
          </a:p>
          <a:p>
            <a:pPr marL="0" lvl="0" indent="0" algn="l" rtl="0">
              <a:lnSpc>
                <a:spcPct val="60000"/>
              </a:lnSpc>
              <a:spcBef>
                <a:spcPts val="0"/>
              </a:spcBef>
              <a:spcAft>
                <a:spcPts val="0"/>
              </a:spcAft>
              <a:buClr>
                <a:schemeClr val="dk1"/>
              </a:buClr>
              <a:buSzPts val="713"/>
              <a:buFont typeface="Arial"/>
              <a:buNone/>
            </a:pPr>
            <a:endParaRPr sz="1200" dirty="0"/>
          </a:p>
          <a:p>
            <a:pPr marL="0" lvl="0" indent="0" algn="l" rtl="0">
              <a:lnSpc>
                <a:spcPct val="60000"/>
              </a:lnSpc>
              <a:spcBef>
                <a:spcPts val="0"/>
              </a:spcBef>
              <a:spcAft>
                <a:spcPts val="0"/>
              </a:spcAft>
              <a:buClr>
                <a:schemeClr val="dk1"/>
              </a:buClr>
              <a:buSzPts val="713"/>
              <a:buFont typeface="Arial"/>
              <a:buNone/>
            </a:pPr>
            <a:r>
              <a:rPr lang="en-US" sz="1200" dirty="0"/>
              <a:t>Oversee the distribution and management of IP addresses provided by IT Administrators. This includes tracking allocated addresses, ensuring proper subnetting, and maintaining an organized IP address inventory to prevent conflicts and streamline network operations.</a:t>
            </a:r>
            <a:endParaRPr dirty="0"/>
          </a:p>
          <a:p>
            <a:pPr marL="0" lvl="0" indent="0" algn="l" rtl="0">
              <a:lnSpc>
                <a:spcPct val="60000"/>
              </a:lnSpc>
              <a:spcBef>
                <a:spcPts val="0"/>
              </a:spcBef>
              <a:spcAft>
                <a:spcPts val="0"/>
              </a:spcAft>
              <a:buClr>
                <a:schemeClr val="dk1"/>
              </a:buClr>
              <a:buSzPts val="713"/>
              <a:buFont typeface="Arial"/>
              <a:buNone/>
            </a:pPr>
            <a:endParaRPr sz="1200" dirty="0"/>
          </a:p>
          <a:p>
            <a:pPr marL="0" lvl="0" indent="0" algn="l" rtl="0">
              <a:lnSpc>
                <a:spcPct val="60000"/>
              </a:lnSpc>
              <a:spcBef>
                <a:spcPts val="0"/>
              </a:spcBef>
              <a:spcAft>
                <a:spcPts val="0"/>
              </a:spcAft>
              <a:buClr>
                <a:schemeClr val="dk1"/>
              </a:buClr>
              <a:buSzPts val="713"/>
              <a:buFont typeface="Arial"/>
              <a:buNone/>
            </a:pPr>
            <a:r>
              <a:rPr lang="en-US" sz="1200" dirty="0"/>
              <a:t>Develop and oversee a range of IP addresses that are specifically designated for use within the organization. This involves planning IP address allocations, managing the lifecycle of these addresses, and ensuring compliance with organizational policies and standards for internal network management.</a:t>
            </a:r>
            <a:endParaRPr dirty="0"/>
          </a:p>
          <a:p>
            <a:pPr marL="457200" lvl="0" indent="-228600" algn="l" rtl="0">
              <a:lnSpc>
                <a:spcPct val="90000"/>
              </a:lnSpc>
              <a:spcBef>
                <a:spcPts val="0"/>
              </a:spcBef>
              <a:spcAft>
                <a:spcPts val="0"/>
              </a:spcAft>
              <a:buClr>
                <a:schemeClr val="dk1"/>
              </a:buClr>
              <a:buSzPts val="1400"/>
              <a:buFont typeface="Arial"/>
              <a:buNone/>
            </a:pPr>
            <a:endParaRPr sz="1200" dirty="0"/>
          </a:p>
          <a:p>
            <a:pPr marL="0" lvl="0" indent="0" algn="l" rtl="0">
              <a:lnSpc>
                <a:spcPct val="90000"/>
              </a:lnSpc>
              <a:spcBef>
                <a:spcPts val="0"/>
              </a:spcBef>
              <a:spcAft>
                <a:spcPts val="0"/>
              </a:spcAft>
              <a:buClr>
                <a:schemeClr val="dk2"/>
              </a:buClr>
              <a:buSzPts val="1100"/>
              <a:buFont typeface="Arial"/>
              <a:buNone/>
            </a:pPr>
            <a:r>
              <a:rPr lang="en-US" b="1" dirty="0"/>
              <a:t>Notes:</a:t>
            </a:r>
            <a:br>
              <a:rPr lang="en-US" b="1" dirty="0"/>
            </a:br>
            <a:r>
              <a:rPr lang="en-US" sz="1200" b="0" u="sng" dirty="0"/>
              <a:t>Customer Benefits:</a:t>
            </a:r>
            <a:endParaRPr b="0" u="sng" dirty="0"/>
          </a:p>
          <a:p>
            <a:pPr marL="457200" lvl="0" indent="-317500" algn="l" rtl="0">
              <a:lnSpc>
                <a:spcPct val="90000"/>
              </a:lnSpc>
              <a:spcBef>
                <a:spcPts val="0"/>
              </a:spcBef>
              <a:spcAft>
                <a:spcPts val="0"/>
              </a:spcAft>
              <a:buClr>
                <a:schemeClr val="dk1"/>
              </a:buClr>
              <a:buSzPts val="1400"/>
              <a:buFont typeface="Arial"/>
              <a:buChar char="•"/>
            </a:pPr>
            <a:r>
              <a:rPr lang="en-US" sz="1200" dirty="0"/>
              <a:t>By creating network isolation domains (VPC) for different application teams, organizations can significantly improve their security posture. Each team’s resources are separated, which minimizes the risk of data breaches and unauthorized access. Customers care about this because protecting sensitive information and maintaining compliance with regulations are critical for their business integrity and trustworthiness.</a:t>
            </a:r>
            <a:endParaRPr dirty="0"/>
          </a:p>
          <a:p>
            <a:pPr marL="457200" lvl="0" indent="-317500" algn="l" rtl="0">
              <a:lnSpc>
                <a:spcPct val="90000"/>
              </a:lnSpc>
              <a:spcBef>
                <a:spcPts val="0"/>
              </a:spcBef>
              <a:spcAft>
                <a:spcPts val="0"/>
              </a:spcAft>
              <a:buClr>
                <a:schemeClr val="dk1"/>
              </a:buClr>
              <a:buSzPts val="1400"/>
              <a:buFont typeface="Arial"/>
              <a:buChar char="•"/>
            </a:pPr>
            <a:r>
              <a:rPr lang="en-US" sz="1200" dirty="0"/>
              <a:t>Managing IP addresses locally and coordinating them effectively with IT Admins or Providers allows for better resource allocation and reduces conflicts. This ensures that applications run smoothly without network disruptions. Customers value this benefit as it leads to improved operational efficiency and reduced downtime, ultimately enhancing their productivity and cost-effectiveness in managing their IT infrastructure.</a:t>
            </a:r>
            <a:endParaRPr dirty="0"/>
          </a:p>
          <a:p>
            <a:pPr marL="0" lvl="0" indent="0" algn="l" rtl="0">
              <a:lnSpc>
                <a:spcPct val="60000"/>
              </a:lnSpc>
              <a:spcBef>
                <a:spcPts val="0"/>
              </a:spcBef>
              <a:spcAft>
                <a:spcPts val="0"/>
              </a:spcAft>
              <a:buClr>
                <a:schemeClr val="dk1"/>
              </a:buClr>
              <a:buSzPts val="713"/>
              <a:buFont typeface="Arial"/>
              <a:buNone/>
            </a:pPr>
            <a:endParaRPr sz="1200" dirty="0"/>
          </a:p>
          <a:p>
            <a:pPr marL="0" lvl="0" indent="0" algn="l" rtl="0">
              <a:lnSpc>
                <a:spcPct val="90000"/>
              </a:lnSpc>
              <a:spcBef>
                <a:spcPts val="0"/>
              </a:spcBef>
              <a:spcAft>
                <a:spcPts val="0"/>
              </a:spcAft>
              <a:buClr>
                <a:schemeClr val="dk2"/>
              </a:buClr>
              <a:buSzPts val="1100"/>
              <a:buFont typeface="Arial"/>
              <a:buNone/>
            </a:pPr>
            <a:r>
              <a:rPr lang="en-US" sz="1200" b="0" u="sng" dirty="0"/>
              <a:t>Key Attributes:</a:t>
            </a:r>
            <a:endParaRPr b="0" u="sng" dirty="0"/>
          </a:p>
          <a:p>
            <a:pPr marL="457200" lvl="0" indent="-317500" algn="l" rtl="0">
              <a:lnSpc>
                <a:spcPct val="90000"/>
              </a:lnSpc>
              <a:spcBef>
                <a:spcPts val="0"/>
              </a:spcBef>
              <a:spcAft>
                <a:spcPts val="0"/>
              </a:spcAft>
              <a:buClr>
                <a:schemeClr val="dk1"/>
              </a:buClr>
              <a:buSzPts val="1400"/>
              <a:buFont typeface="Arial"/>
              <a:buChar char="•"/>
            </a:pPr>
            <a:r>
              <a:rPr lang="en-US" sz="1200" dirty="0"/>
              <a:t>Set up dedicated network isolation domains (VPCs) tailored for different application teams within the organization. This ensures that each team operates within its secure environment, minimizing the risk of cross-team interference and enhancing network security. </a:t>
            </a:r>
            <a:endParaRPr dirty="0"/>
          </a:p>
          <a:p>
            <a:pPr marL="457200" lvl="0" indent="-317500" algn="l" rtl="0">
              <a:lnSpc>
                <a:spcPct val="90000"/>
              </a:lnSpc>
              <a:spcBef>
                <a:spcPts val="0"/>
              </a:spcBef>
              <a:spcAft>
                <a:spcPts val="0"/>
              </a:spcAft>
              <a:buClr>
                <a:schemeClr val="dk1"/>
              </a:buClr>
              <a:buSzPts val="1400"/>
              <a:buFont typeface="Arial"/>
              <a:buChar char="•"/>
            </a:pPr>
            <a:r>
              <a:rPr lang="en-US" sz="1200" dirty="0"/>
              <a:t>Allocate the created virtual private clouds (VPCs) to one or more vSphere Namespaces. This integration allows for better resource management, ensuring that each namespace can leverage the benefits of its assigned VPC for enhanced isolation and control over network resources. </a:t>
            </a:r>
            <a:endParaRPr dirty="0"/>
          </a:p>
          <a:p>
            <a:pPr marL="457200" lvl="0" indent="-317500" algn="l" rtl="0">
              <a:lnSpc>
                <a:spcPct val="90000"/>
              </a:lnSpc>
              <a:spcBef>
                <a:spcPts val="0"/>
              </a:spcBef>
              <a:spcAft>
                <a:spcPts val="0"/>
              </a:spcAft>
              <a:buClr>
                <a:schemeClr val="dk1"/>
              </a:buClr>
              <a:buSzPts val="1400"/>
              <a:buFont typeface="Arial"/>
              <a:buChar char="•"/>
            </a:pPr>
            <a:r>
              <a:rPr lang="en-US" sz="1200" dirty="0"/>
              <a:t>Oversee the distribution and management of IP addresses provided by IT Administrators or external Providers. This includes tracking allocated addresses, ensuring proper subnetting, and maintaining an organized IP address inventory to prevent conflicts and streamline network operations.</a:t>
            </a:r>
            <a:endParaRPr dirty="0"/>
          </a:p>
          <a:p>
            <a:pPr marL="457200" lvl="0" indent="-317500" algn="l" rtl="0">
              <a:lnSpc>
                <a:spcPct val="90000"/>
              </a:lnSpc>
              <a:spcBef>
                <a:spcPts val="0"/>
              </a:spcBef>
              <a:spcAft>
                <a:spcPts val="0"/>
              </a:spcAft>
              <a:buClr>
                <a:schemeClr val="dk1"/>
              </a:buClr>
              <a:buSzPts val="1400"/>
              <a:buFont typeface="Arial"/>
              <a:buChar char="•"/>
            </a:pPr>
            <a:r>
              <a:rPr lang="en-US" sz="1200" dirty="0"/>
              <a:t>Develop and oversee a range of IP addresses that are specifically designated for use within the organization. This involves planning IP address allocations, managing the lifecycle of these addresses, and ensuring compliance with organizational policies and standards for internal network management.</a:t>
            </a:r>
            <a:endParaRPr dirty="0"/>
          </a:p>
          <a:p>
            <a:pPr marL="0" lvl="0" indent="0" algn="l" rtl="0">
              <a:spcBef>
                <a:spcPts val="0"/>
              </a:spcBef>
              <a:spcAft>
                <a:spcPts val="0"/>
              </a:spcAft>
              <a:buNone/>
            </a:pPr>
            <a:br>
              <a:rPr lang="en-US" sz="1200" dirty="0"/>
            </a:br>
            <a:r>
              <a:rPr lang="en-US" sz="1200" b="1" dirty="0"/>
              <a:t>Resources:</a:t>
            </a:r>
            <a:br>
              <a:rPr lang="en-US" sz="1200" dirty="0"/>
            </a:br>
            <a:endParaRPr dirty="0"/>
          </a:p>
        </p:txBody>
      </p:sp>
      <p:sp>
        <p:nvSpPr>
          <p:cNvPr id="7580" name="Google Shape;7580;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14</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9"/>
        <p:cNvGrpSpPr/>
        <p:nvPr/>
      </p:nvGrpSpPr>
      <p:grpSpPr>
        <a:xfrm>
          <a:off x="0" y="0"/>
          <a:ext cx="0" cy="0"/>
          <a:chOff x="0" y="0"/>
          <a:chExt cx="0" cy="0"/>
        </a:xfrm>
      </p:grpSpPr>
      <p:sp>
        <p:nvSpPr>
          <p:cNvPr id="7590" name="Google Shape;7590;p6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91" name="Google Shape;7591;p6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chemeClr val="dk1"/>
              </a:buClr>
              <a:buSzPts val="1200"/>
              <a:buFont typeface="Arial"/>
              <a:buNone/>
            </a:pPr>
            <a:endParaRPr/>
          </a:p>
        </p:txBody>
      </p:sp>
      <p:sp>
        <p:nvSpPr>
          <p:cNvPr id="7592" name="Google Shape;7592;p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7"/>
        <p:cNvGrpSpPr/>
        <p:nvPr/>
      </p:nvGrpSpPr>
      <p:grpSpPr>
        <a:xfrm>
          <a:off x="0" y="0"/>
          <a:ext cx="0" cy="0"/>
          <a:chOff x="0" y="0"/>
          <a:chExt cx="0" cy="0"/>
        </a:xfrm>
      </p:grpSpPr>
      <p:sp>
        <p:nvSpPr>
          <p:cNvPr id="7598" name="Google Shape;7598;p6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99" name="Google Shape;7599;p6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60000"/>
              </a:lnSpc>
              <a:spcBef>
                <a:spcPts val="0"/>
              </a:spcBef>
              <a:spcAft>
                <a:spcPts val="0"/>
              </a:spcAft>
              <a:buClr>
                <a:schemeClr val="dk1"/>
              </a:buClr>
              <a:buSzPts val="1110"/>
              <a:buFont typeface="Arial"/>
              <a:buNone/>
            </a:pPr>
            <a:r>
              <a:rPr lang="en-US" sz="1110" b="1">
                <a:latin typeface="Arial"/>
                <a:ea typeface="Arial"/>
                <a:cs typeface="Arial"/>
                <a:sym typeface="Arial"/>
              </a:rPr>
              <a:t>Presenter Note:  This slide contains animation</a:t>
            </a:r>
            <a:endParaRPr/>
          </a:p>
          <a:p>
            <a:pPr marL="0" lvl="0" indent="0" algn="l" rtl="0">
              <a:lnSpc>
                <a:spcPct val="80000"/>
              </a:lnSpc>
              <a:spcBef>
                <a:spcPts val="0"/>
              </a:spcBef>
              <a:spcAft>
                <a:spcPts val="0"/>
              </a:spcAft>
              <a:buClr>
                <a:schemeClr val="dk1"/>
              </a:buClr>
              <a:buSzPts val="1400"/>
              <a:buFont typeface="Arial"/>
              <a:buNone/>
            </a:pPr>
            <a:endParaRPr sz="1110" b="1" u="none"/>
          </a:p>
          <a:p>
            <a:pPr marL="0" lvl="0" indent="0" algn="l" rtl="0">
              <a:lnSpc>
                <a:spcPct val="80000"/>
              </a:lnSpc>
              <a:spcBef>
                <a:spcPts val="0"/>
              </a:spcBef>
              <a:spcAft>
                <a:spcPts val="0"/>
              </a:spcAft>
              <a:buClr>
                <a:schemeClr val="dk1"/>
              </a:buClr>
              <a:buSzPts val="1400"/>
              <a:buFont typeface="Arial"/>
              <a:buNone/>
            </a:pPr>
            <a:r>
              <a:rPr lang="en-US" sz="1110" b="1" u="none"/>
              <a:t>Key Message: </a:t>
            </a:r>
            <a:endParaRPr/>
          </a:p>
          <a:p>
            <a:pPr marL="0" lvl="0" indent="0" algn="l" rtl="0">
              <a:lnSpc>
                <a:spcPct val="80000"/>
              </a:lnSpc>
              <a:spcBef>
                <a:spcPts val="0"/>
              </a:spcBef>
              <a:spcAft>
                <a:spcPts val="0"/>
              </a:spcAft>
              <a:buClr>
                <a:schemeClr val="dk1"/>
              </a:buClr>
              <a:buSzPts val="1400"/>
              <a:buFont typeface="Arial"/>
              <a:buNone/>
            </a:pPr>
            <a:r>
              <a:rPr lang="en-US" sz="1110" b="0" u="none"/>
              <a:t>Seamless integration of Migration Planning with VCF Operations for Networks</a:t>
            </a:r>
            <a:endParaRPr sz="1110" b="0"/>
          </a:p>
          <a:p>
            <a:pPr marL="0" lvl="0" indent="0" algn="l" rtl="0">
              <a:lnSpc>
                <a:spcPct val="80000"/>
              </a:lnSpc>
              <a:spcBef>
                <a:spcPts val="0"/>
              </a:spcBef>
              <a:spcAft>
                <a:spcPts val="0"/>
              </a:spcAft>
              <a:buClr>
                <a:schemeClr val="dk1"/>
              </a:buClr>
              <a:buSzPts val="1400"/>
              <a:buFont typeface="Arial"/>
              <a:buNone/>
            </a:pPr>
            <a:endParaRPr sz="1110" b="0" u="sng"/>
          </a:p>
          <a:p>
            <a:pPr marL="0" lvl="0" indent="0" algn="l" rtl="0">
              <a:lnSpc>
                <a:spcPct val="80000"/>
              </a:lnSpc>
              <a:spcBef>
                <a:spcPts val="0"/>
              </a:spcBef>
              <a:spcAft>
                <a:spcPts val="0"/>
              </a:spcAft>
              <a:buClr>
                <a:schemeClr val="dk1"/>
              </a:buClr>
              <a:buSzPts val="1400"/>
              <a:buFont typeface="Arial"/>
              <a:buNone/>
            </a:pPr>
            <a:r>
              <a:rPr lang="en-US" sz="1110" b="1" u="none"/>
              <a:t>Talk Track: </a:t>
            </a:r>
            <a:r>
              <a:rPr lang="en-US" sz="1110" b="0" i="0">
                <a:solidFill>
                  <a:srgbClr val="222222"/>
                </a:solidFill>
                <a:latin typeface="Arial"/>
                <a:ea typeface="Arial"/>
                <a:cs typeface="Arial"/>
                <a:sym typeface="Arial"/>
              </a:rPr>
              <a:t>We're thrilled to introduce a significant enhancement to your migration experience: seamless integration between VCF Operations for Networks and HCX. This means you can now dramatically simplify and accelerate your workload migrations.</a:t>
            </a:r>
            <a:br>
              <a:rPr lang="en-US" sz="1110"/>
            </a:br>
            <a:endParaRPr sz="1110"/>
          </a:p>
          <a:p>
            <a:pPr marL="0" lvl="0" indent="0" algn="l" rtl="0">
              <a:lnSpc>
                <a:spcPct val="80000"/>
              </a:lnSpc>
              <a:spcBef>
                <a:spcPts val="0"/>
              </a:spcBef>
              <a:spcAft>
                <a:spcPts val="0"/>
              </a:spcAft>
              <a:buClr>
                <a:schemeClr val="dk1"/>
              </a:buClr>
              <a:buSzPts val="1400"/>
              <a:buFont typeface="Arial"/>
              <a:buNone/>
            </a:pPr>
            <a:r>
              <a:rPr lang="en-US" sz="1110"/>
              <a:t>&lt;click 1&gt;</a:t>
            </a:r>
            <a:br>
              <a:rPr lang="en-US" sz="1110"/>
            </a:br>
            <a:r>
              <a:rPr lang="en-US" sz="1110" b="0" i="0">
                <a:solidFill>
                  <a:srgbClr val="222222"/>
                </a:solidFill>
                <a:latin typeface="Arial"/>
                <a:ea typeface="Arial"/>
                <a:cs typeface="Arial"/>
                <a:sym typeface="Arial"/>
              </a:rPr>
              <a:t>Let's break down the key benefits. First, with direct Migration Wave import, you can automatically pull your meticulously crafted network migration plans from VCF Operations for Networks directly into HCX.</a:t>
            </a:r>
            <a:br>
              <a:rPr lang="en-US" sz="1110"/>
            </a:br>
            <a:br>
              <a:rPr lang="en-US" sz="1110"/>
            </a:br>
            <a:r>
              <a:rPr lang="en-US" sz="1110" b="0" i="0">
                <a:solidFill>
                  <a:srgbClr val="222222"/>
                </a:solidFill>
                <a:latin typeface="Arial"/>
                <a:ea typeface="Arial"/>
                <a:cs typeface="Arial"/>
                <a:sym typeface="Arial"/>
              </a:rPr>
              <a:t>In other words, this means we've automated the creation of HCX Networks and HCX Mobility Groups, including their scheduling, from the migration waves you create in VCF Operations for Networks.</a:t>
            </a:r>
            <a:br>
              <a:rPr lang="en-US" sz="1110"/>
            </a:br>
            <a:br>
              <a:rPr lang="en-US" sz="1110"/>
            </a:br>
            <a:r>
              <a:rPr lang="en-US" sz="1110" b="0" i="0">
                <a:solidFill>
                  <a:srgbClr val="222222"/>
                </a:solidFill>
                <a:latin typeface="Arial"/>
                <a:ea typeface="Arial"/>
                <a:cs typeface="Arial"/>
                <a:sym typeface="Arial"/>
              </a:rPr>
              <a:t>And finally, we understand that flexibility is crucial. That's why you have the power to fine-tune and modify these migration groups directly within HCX, ensuring they perfectly align with your specific requirements.</a:t>
            </a:r>
            <a:br>
              <a:rPr lang="en-US" sz="1110"/>
            </a:br>
            <a:br>
              <a:rPr lang="en-US" sz="1110"/>
            </a:br>
            <a:r>
              <a:rPr lang="en-US" sz="1110" b="0" i="0">
                <a:solidFill>
                  <a:srgbClr val="222222"/>
                </a:solidFill>
                <a:latin typeface="Arial"/>
                <a:ea typeface="Arial"/>
                <a:cs typeface="Arial"/>
                <a:sym typeface="Arial"/>
              </a:rPr>
              <a:t>In essence, this integration streamlines the entire migration lifecycle. From initial planning in VCF Operations for Networks to execution in HCX, we've created a cohesive and automated workflow, empowering you to migrate with confidence and efficiency. Migration Planning is accomplished through a guided wizard, making the process intuitive and user-friendly. We're confident this feature will significantly simplify your migration journey.</a:t>
            </a:r>
            <a:endParaRPr sz="1110" b="1" u="none"/>
          </a:p>
          <a:p>
            <a:pPr marL="0" lvl="0" indent="0" algn="l" rtl="0">
              <a:lnSpc>
                <a:spcPct val="80000"/>
              </a:lnSpc>
              <a:spcBef>
                <a:spcPts val="0"/>
              </a:spcBef>
              <a:spcAft>
                <a:spcPts val="0"/>
              </a:spcAft>
              <a:buClr>
                <a:schemeClr val="dk1"/>
              </a:buClr>
              <a:buSzPts val="1400"/>
              <a:buFont typeface="Arial"/>
              <a:buNone/>
            </a:pPr>
            <a:endParaRPr sz="1110" b="0"/>
          </a:p>
          <a:p>
            <a:pPr marL="0" lvl="0" indent="0" algn="l" rtl="0">
              <a:lnSpc>
                <a:spcPct val="80000"/>
              </a:lnSpc>
              <a:spcBef>
                <a:spcPts val="0"/>
              </a:spcBef>
              <a:spcAft>
                <a:spcPts val="0"/>
              </a:spcAft>
              <a:buClr>
                <a:schemeClr val="dk1"/>
              </a:buClr>
              <a:buSzPts val="1400"/>
              <a:buFont typeface="Arial"/>
              <a:buNone/>
            </a:pPr>
            <a:r>
              <a:rPr lang="en-US" sz="1110" b="1"/>
              <a:t>Notes: </a:t>
            </a:r>
            <a:r>
              <a:rPr lang="en-US" sz="1110" b="0"/>
              <a:t>Migration Planning integration was launched in VCF 5.2.1 but there was manual steps involved between AON and HCX. Now we are re-launching Migration Planning as those steps has been automated.</a:t>
            </a:r>
            <a:br>
              <a:rPr lang="en-US" sz="1110" b="1"/>
            </a:br>
            <a:br>
              <a:rPr lang="en-US" sz="1110" b="1"/>
            </a:br>
            <a:r>
              <a:rPr lang="en-US" sz="1110" b="1"/>
              <a:t>Resources: </a:t>
            </a:r>
            <a:endParaRPr sz="1110"/>
          </a:p>
          <a:p>
            <a:pPr marL="0" lvl="0" indent="0" algn="l" rtl="0">
              <a:lnSpc>
                <a:spcPct val="80000"/>
              </a:lnSpc>
              <a:spcBef>
                <a:spcPts val="0"/>
              </a:spcBef>
              <a:spcAft>
                <a:spcPts val="0"/>
              </a:spcAft>
              <a:buNone/>
            </a:pPr>
            <a:endParaRPr sz="1110"/>
          </a:p>
        </p:txBody>
      </p:sp>
      <p:sp>
        <p:nvSpPr>
          <p:cNvPr id="7600" name="Google Shape;7600;p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80000"/>
              </a:lnSpc>
              <a:spcBef>
                <a:spcPts val="0"/>
              </a:spcBef>
              <a:spcAft>
                <a:spcPts val="0"/>
              </a:spcAft>
              <a:buClr>
                <a:schemeClr val="dk1"/>
              </a:buClr>
              <a:buSzPts val="1400"/>
              <a:buFont typeface="Arial"/>
              <a:buNone/>
              <a:tabLst/>
              <a:defRPr/>
            </a:pPr>
            <a:r>
              <a:rPr lang="en-US" sz="1200" b="1" dirty="0">
                <a:latin typeface="Metropolis" pitchFamily="2" charset="77"/>
              </a:rPr>
              <a:t>Presenter Note:  This slide contains animation</a:t>
            </a:r>
          </a:p>
          <a:p>
            <a:pPr marL="0" lvl="0" indent="0" algn="l" rtl="0">
              <a:lnSpc>
                <a:spcPct val="80000"/>
              </a:lnSpc>
              <a:spcBef>
                <a:spcPts val="0"/>
              </a:spcBef>
              <a:spcAft>
                <a:spcPts val="0"/>
              </a:spcAft>
              <a:buClr>
                <a:schemeClr val="dk1"/>
              </a:buClr>
              <a:buSzPts val="1400"/>
              <a:buFont typeface="Arial"/>
              <a:buNone/>
            </a:pPr>
            <a:endParaRPr lang="en-US" sz="1200" b="1" u="none" dirty="0"/>
          </a:p>
          <a:p>
            <a:pPr marL="0" lvl="0" indent="0" algn="l" rtl="0">
              <a:lnSpc>
                <a:spcPct val="80000"/>
              </a:lnSpc>
              <a:spcBef>
                <a:spcPts val="0"/>
              </a:spcBef>
              <a:spcAft>
                <a:spcPts val="0"/>
              </a:spcAft>
              <a:buClr>
                <a:schemeClr val="dk1"/>
              </a:buClr>
              <a:buSzPts val="1400"/>
              <a:buFont typeface="Arial"/>
              <a:buNone/>
            </a:pPr>
            <a:r>
              <a:rPr lang="en-US" sz="1200" b="1" u="none" dirty="0"/>
              <a:t>Key Message: </a:t>
            </a:r>
          </a:p>
          <a:p>
            <a:pPr marL="0" lvl="0" indent="0" algn="l" rtl="0">
              <a:lnSpc>
                <a:spcPct val="80000"/>
              </a:lnSpc>
              <a:spcBef>
                <a:spcPts val="0"/>
              </a:spcBef>
              <a:spcAft>
                <a:spcPts val="0"/>
              </a:spcAft>
              <a:buClr>
                <a:schemeClr val="dk1"/>
              </a:buClr>
              <a:buSzPts val="1400"/>
              <a:buFont typeface="Arial"/>
              <a:buNone/>
            </a:pPr>
            <a:r>
              <a:rPr lang="en-US" sz="1200" b="0" i="0" dirty="0">
                <a:solidFill>
                  <a:srgbClr val="222222"/>
                </a:solidFill>
                <a:latin typeface="Arial"/>
                <a:ea typeface="Arial"/>
                <a:cs typeface="Arial"/>
                <a:sym typeface="Arial"/>
              </a:rPr>
              <a:t>Seamlessly migrate your workloads to NSX VPCs with HCX, enabling large-scale, non-disruptive private cloud adoption.</a:t>
            </a:r>
            <a:endParaRPr lang="en-US" sz="1200" b="0" u="none" dirty="0"/>
          </a:p>
          <a:p>
            <a:pPr marL="0" lvl="0" indent="0" algn="l" rtl="0">
              <a:lnSpc>
                <a:spcPct val="80000"/>
              </a:lnSpc>
              <a:spcBef>
                <a:spcPts val="0"/>
              </a:spcBef>
              <a:spcAft>
                <a:spcPts val="0"/>
              </a:spcAft>
              <a:buClr>
                <a:schemeClr val="dk1"/>
              </a:buClr>
              <a:buSzPts val="1400"/>
              <a:buFont typeface="Arial"/>
              <a:buNone/>
            </a:pPr>
            <a:endParaRPr lang="en-US" sz="1200" b="0" u="none" dirty="0"/>
          </a:p>
          <a:p>
            <a:pPr marL="0" lvl="0" indent="0" algn="l" rtl="0">
              <a:lnSpc>
                <a:spcPct val="80000"/>
              </a:lnSpc>
              <a:spcBef>
                <a:spcPts val="0"/>
              </a:spcBef>
              <a:spcAft>
                <a:spcPts val="0"/>
              </a:spcAft>
              <a:buClr>
                <a:schemeClr val="dk1"/>
              </a:buClr>
              <a:buSzPts val="1400"/>
              <a:buFont typeface="Arial"/>
              <a:buNone/>
            </a:pPr>
            <a:r>
              <a:rPr lang="en-US" sz="1200" b="1" u="none" dirty="0"/>
              <a:t>Talk Track: </a:t>
            </a:r>
          </a:p>
          <a:p>
            <a:pPr marL="0" lvl="0" indent="0" algn="l" rtl="0">
              <a:lnSpc>
                <a:spcPct val="80000"/>
              </a:lnSpc>
              <a:spcBef>
                <a:spcPts val="0"/>
              </a:spcBef>
              <a:spcAft>
                <a:spcPts val="0"/>
              </a:spcAft>
              <a:buClr>
                <a:schemeClr val="dk1"/>
              </a:buClr>
              <a:buSzPts val="1400"/>
              <a:buFont typeface="Arial"/>
              <a:buNone/>
            </a:pPr>
            <a:r>
              <a:rPr lang="en-US" sz="1200" b="0" i="0" dirty="0">
                <a:solidFill>
                  <a:srgbClr val="222222"/>
                </a:solidFill>
                <a:latin typeface="Arial"/>
                <a:ea typeface="Arial"/>
                <a:cs typeface="Arial"/>
                <a:sym typeface="Arial"/>
              </a:rPr>
              <a:t>We're thrilled to announce a major advancement in HCX: full support for NSX Virtual Private Clouds, or VPCs. This means you can now leverage the powerful network segmentation and self-service networking capabilities of NSX VPCs for your existing workloads by seamlessly migrating them into VPCs via HCX.</a:t>
            </a:r>
            <a:br>
              <a:rPr lang="en-US" sz="1200" dirty="0"/>
            </a:br>
            <a:br>
              <a:rPr lang="en-US" sz="1200" dirty="0"/>
            </a:br>
            <a:r>
              <a:rPr lang="en-US" sz="1200" b="0" i="0" dirty="0">
                <a:solidFill>
                  <a:srgbClr val="222222"/>
                </a:solidFill>
                <a:latin typeface="Arial"/>
                <a:ea typeface="Arial"/>
                <a:cs typeface="Arial"/>
                <a:sym typeface="Arial"/>
              </a:rPr>
              <a:t>First and foremost, HCX now treats NSX Projects and VPCs as primary entities. This fundamental change allows you to migrate workloads to, from, and between VPCs without any downtime. This provides unparalleled flexibility for your private cloud adoption initiatives.</a:t>
            </a:r>
            <a:br>
              <a:rPr lang="en-US" sz="1200" dirty="0"/>
            </a:br>
            <a:br>
              <a:rPr lang="en-US" sz="1200" dirty="0"/>
            </a:br>
            <a:r>
              <a:rPr lang="en-US" sz="1200" b="0" i="0" dirty="0">
                <a:solidFill>
                  <a:srgbClr val="222222"/>
                </a:solidFill>
                <a:latin typeface="Arial"/>
                <a:ea typeface="Arial"/>
                <a:cs typeface="Arial"/>
                <a:sym typeface="Arial"/>
              </a:rPr>
              <a:t>And to ensure a truly non-disruptive experience, we've extended HCX Network Extension (L2) capabilities to VPCs. This means you can maintain consistent network connectivity between your current networks (VLAN or NSX Network) and VPCs, enabling wave migrations and ensuring a smooth, well-crafted planned migration.</a:t>
            </a:r>
            <a:endParaRPr lang="en-US" dirty="0"/>
          </a:p>
          <a:p>
            <a:pPr marL="0" lvl="0" indent="0" algn="l" rtl="0">
              <a:lnSpc>
                <a:spcPct val="80000"/>
              </a:lnSpc>
              <a:spcBef>
                <a:spcPts val="0"/>
              </a:spcBef>
              <a:spcAft>
                <a:spcPts val="0"/>
              </a:spcAft>
              <a:buClr>
                <a:schemeClr val="dk1"/>
              </a:buClr>
              <a:buSzPts val="1400"/>
              <a:buFont typeface="Arial"/>
              <a:buNone/>
            </a:pPr>
            <a:endParaRPr lang="en-US" sz="1200" b="0" i="0" dirty="0">
              <a:solidFill>
                <a:srgbClr val="222222"/>
              </a:solidFill>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r>
              <a:rPr lang="en-US" sz="1200" b="0" i="0" dirty="0">
                <a:solidFill>
                  <a:srgbClr val="222222"/>
                </a:solidFill>
                <a:latin typeface="Arial"/>
                <a:ea typeface="Arial"/>
                <a:cs typeface="Arial"/>
                <a:sym typeface="Arial"/>
              </a:rPr>
              <a:t>Importantly, all of our existing migration types are supported with VPCs, with the exception of Mobility Assisted (MON). This comprehensive support allows you to leverage the migration type that best suits your needs.</a:t>
            </a:r>
            <a:endParaRPr lang="en-US" dirty="0"/>
          </a:p>
          <a:p>
            <a:pPr marL="0" lvl="0" indent="0" algn="l" rtl="0">
              <a:lnSpc>
                <a:spcPct val="80000"/>
              </a:lnSpc>
              <a:spcBef>
                <a:spcPts val="0"/>
              </a:spcBef>
              <a:spcAft>
                <a:spcPts val="0"/>
              </a:spcAft>
              <a:buClr>
                <a:schemeClr val="dk1"/>
              </a:buClr>
              <a:buSzPts val="1400"/>
              <a:buFont typeface="Arial"/>
              <a:buNone/>
            </a:pPr>
            <a:endParaRPr lang="en-US" sz="1200" b="0" i="0" dirty="0">
              <a:solidFill>
                <a:srgbClr val="222222"/>
              </a:solidFill>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r>
              <a:rPr lang="en-US" sz="1200" b="0" i="0" dirty="0">
                <a:solidFill>
                  <a:srgbClr val="222222"/>
                </a:solidFill>
                <a:latin typeface="Arial"/>
                <a:ea typeface="Arial"/>
                <a:cs typeface="Arial"/>
                <a:sym typeface="Arial"/>
              </a:rPr>
              <a:t>Ultimately, this enhancement empowers you to modernize your infrastructure to VPCs with confidence, knowing that HCX provides a seamless and non-disruptive pathway to VPCs. This simplifies your journey to a more secure and agile private cloud environment.</a:t>
            </a:r>
            <a:endParaRPr lang="en-US" dirty="0"/>
          </a:p>
          <a:p>
            <a:pPr marL="0" lvl="0" indent="0" algn="l" rtl="0">
              <a:lnSpc>
                <a:spcPct val="80000"/>
              </a:lnSpc>
              <a:spcBef>
                <a:spcPts val="0"/>
              </a:spcBef>
              <a:spcAft>
                <a:spcPts val="0"/>
              </a:spcAft>
              <a:buClr>
                <a:schemeClr val="dk1"/>
              </a:buClr>
              <a:buSzPts val="1400"/>
              <a:buFont typeface="Arial"/>
              <a:buNone/>
            </a:pPr>
            <a:endParaRPr lang="en-US" sz="1200" b="0" i="0" dirty="0">
              <a:solidFill>
                <a:srgbClr val="222222"/>
              </a:solidFill>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r>
              <a:rPr lang="en-US" sz="1200" b="0" u="none" dirty="0"/>
              <a:t>Following are some of the use cases this feature will enable:</a:t>
            </a:r>
            <a:endParaRPr lang="en-US"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1&gt;: </a:t>
            </a:r>
          </a:p>
          <a:p>
            <a:pPr marL="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Non-disruptive migration from VLAN backed Network to VPC</a:t>
            </a:r>
            <a:endParaRPr lang="en-US" b="0"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2&gt;: </a:t>
            </a: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Non-disruptive migration from VLAN backed Network to VPC w/ Network Extension so workload can continue to communicate with older site (example: common services, etc.)</a:t>
            </a:r>
            <a:endParaRPr lang="en-US" b="0"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3&gt;: </a:t>
            </a: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Also, enables Non-disruptive migration between VPCs</a:t>
            </a:r>
            <a:endParaRPr lang="en-US" dirty="0"/>
          </a:p>
          <a:p>
            <a:pPr marL="0" lvl="0" indent="0" algn="l" rtl="0">
              <a:lnSpc>
                <a:spcPct val="80000"/>
              </a:lnSpc>
              <a:spcBef>
                <a:spcPts val="0"/>
              </a:spcBef>
              <a:spcAft>
                <a:spcPts val="0"/>
              </a:spcAft>
              <a:buClr>
                <a:schemeClr val="dk1"/>
              </a:buClr>
              <a:buSzPts val="1400"/>
              <a:buFont typeface="Arial"/>
              <a:buNone/>
            </a:pPr>
            <a:endParaRPr lang="en-US" sz="1200" b="1" u="none" dirty="0"/>
          </a:p>
          <a:p>
            <a:pPr marL="0" lvl="0" indent="0" algn="l" rtl="0">
              <a:lnSpc>
                <a:spcPct val="80000"/>
              </a:lnSpc>
              <a:spcBef>
                <a:spcPts val="0"/>
              </a:spcBef>
              <a:spcAft>
                <a:spcPts val="0"/>
              </a:spcAft>
              <a:buClr>
                <a:schemeClr val="dk1"/>
              </a:buClr>
              <a:buSzPts val="1400"/>
              <a:buFont typeface="Arial"/>
              <a:buNone/>
            </a:pPr>
            <a:r>
              <a:rPr lang="en-US" sz="1200" b="1" dirty="0"/>
              <a:t>Notes: </a:t>
            </a:r>
            <a:br>
              <a:rPr lang="en-US" sz="1200" b="1" dirty="0"/>
            </a:br>
            <a:br>
              <a:rPr lang="en-US" sz="1200" b="1" dirty="0"/>
            </a:br>
            <a:r>
              <a:rPr lang="en-US" sz="1200" b="1" dirty="0"/>
              <a:t>Resources: </a:t>
            </a:r>
            <a:endParaRPr lang="en-US" sz="1200" dirty="0"/>
          </a:p>
          <a:p>
            <a:pPr marL="0" lvl="0" indent="0" algn="l" rtl="0">
              <a:lnSpc>
                <a:spcPct val="100000"/>
              </a:lnSpc>
              <a:spcBef>
                <a:spcPts val="0"/>
              </a:spcBef>
              <a:spcAft>
                <a:spcPts val="0"/>
              </a:spcAft>
              <a:buClr>
                <a:schemeClr val="dk1"/>
              </a:buClr>
              <a:buSzPts val="1400"/>
              <a:buFont typeface="Arial"/>
              <a:buNone/>
            </a:pPr>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7224597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80000"/>
              </a:lnSpc>
              <a:spcBef>
                <a:spcPts val="0"/>
              </a:spcBef>
              <a:spcAft>
                <a:spcPts val="0"/>
              </a:spcAft>
              <a:buClr>
                <a:schemeClr val="dk1"/>
              </a:buClr>
              <a:buSzPts val="1400"/>
              <a:buFont typeface="Arial"/>
              <a:buNone/>
              <a:tabLst/>
              <a:defRPr/>
            </a:pPr>
            <a:r>
              <a:rPr lang="en-US" sz="1200" b="1" dirty="0">
                <a:latin typeface="Metropolis" pitchFamily="2" charset="77"/>
              </a:rPr>
              <a:t>Presenter Note:  This slide contains animation</a:t>
            </a:r>
          </a:p>
          <a:p>
            <a:pPr marL="0" lvl="0" indent="0" algn="l" rtl="0">
              <a:lnSpc>
                <a:spcPct val="80000"/>
              </a:lnSpc>
              <a:spcBef>
                <a:spcPts val="0"/>
              </a:spcBef>
              <a:spcAft>
                <a:spcPts val="0"/>
              </a:spcAft>
              <a:buClr>
                <a:schemeClr val="dk1"/>
              </a:buClr>
              <a:buSzPts val="1400"/>
              <a:buFont typeface="Arial"/>
              <a:buNone/>
            </a:pPr>
            <a:endParaRPr lang="en-US" sz="1200" b="1" u="none" dirty="0"/>
          </a:p>
          <a:p>
            <a:pPr marL="0" lvl="0" indent="0" algn="l" rtl="0">
              <a:lnSpc>
                <a:spcPct val="80000"/>
              </a:lnSpc>
              <a:spcBef>
                <a:spcPts val="0"/>
              </a:spcBef>
              <a:spcAft>
                <a:spcPts val="0"/>
              </a:spcAft>
              <a:buClr>
                <a:schemeClr val="dk1"/>
              </a:buClr>
              <a:buSzPts val="1400"/>
              <a:buFont typeface="Arial"/>
              <a:buNone/>
            </a:pPr>
            <a:r>
              <a:rPr lang="en-US" sz="1200" b="1" u="none" dirty="0"/>
              <a:t>Key Message: </a:t>
            </a:r>
          </a:p>
          <a:p>
            <a:pPr marL="0" lvl="0" indent="0" algn="l" rtl="0">
              <a:lnSpc>
                <a:spcPct val="80000"/>
              </a:lnSpc>
              <a:spcBef>
                <a:spcPts val="0"/>
              </a:spcBef>
              <a:spcAft>
                <a:spcPts val="0"/>
              </a:spcAft>
              <a:buClr>
                <a:schemeClr val="dk1"/>
              </a:buClr>
              <a:buSzPts val="1400"/>
              <a:buFont typeface="Arial"/>
              <a:buNone/>
            </a:pPr>
            <a:r>
              <a:rPr lang="en-US" sz="1200" b="0" u="none" dirty="0"/>
              <a:t>M</a:t>
            </a:r>
            <a:r>
              <a:rPr lang="en-US" sz="1200" b="0" i="0" dirty="0">
                <a:solidFill>
                  <a:srgbClr val="222222"/>
                </a:solidFill>
                <a:latin typeface="Arial"/>
                <a:ea typeface="Arial"/>
                <a:cs typeface="Arial"/>
                <a:sym typeface="Arial"/>
              </a:rPr>
              <a:t>igrate your workloads to Supervisor Cluster with HCX.</a:t>
            </a:r>
            <a:endParaRPr lang="en-US"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400"/>
              <a:buFont typeface="Arial"/>
              <a:buNone/>
            </a:pPr>
            <a:r>
              <a:rPr lang="en-US" sz="1200" b="1" u="none" dirty="0"/>
              <a:t>Talk Track: </a:t>
            </a:r>
          </a:p>
          <a:p>
            <a:pPr marL="0" marR="0" lvl="0" indent="0" algn="l" rtl="0">
              <a:lnSpc>
                <a:spcPct val="80000"/>
              </a:lnSpc>
              <a:spcBef>
                <a:spcPts val="0"/>
              </a:spcBef>
              <a:spcAft>
                <a:spcPts val="0"/>
              </a:spcAft>
              <a:buClr>
                <a:schemeClr val="dk1"/>
              </a:buClr>
              <a:buSzPts val="1400"/>
              <a:buFont typeface="Arial"/>
              <a:buNone/>
            </a:pPr>
            <a:r>
              <a:rPr lang="en-US" sz="1200" dirty="0"/>
              <a:t>We're expanding HCX's migration capabilities to include support for Supervisor Clusters. This allows you to leverage HCX's proven migration technology to bring your workloads directly into your Kubernetes-based Supervisor environment.</a:t>
            </a:r>
            <a:br>
              <a:rPr lang="en-US" sz="1200" dirty="0"/>
            </a:br>
            <a:br>
              <a:rPr lang="en-US" sz="1200" dirty="0"/>
            </a:br>
            <a:r>
              <a:rPr lang="en-US" sz="1200" dirty="0"/>
              <a:t>It's important to note that this initial release focuses specifically on migration. HCX now supports the onboarding of your workloads into Supervisor Clusters. We are only supporting Bulk and Cold migration types for this feature.</a:t>
            </a:r>
            <a:br>
              <a:rPr lang="en-US" sz="1200" dirty="0"/>
            </a:br>
            <a:br>
              <a:rPr lang="en-US" sz="1200" dirty="0"/>
            </a:br>
            <a:r>
              <a:rPr lang="en-US" sz="1200" dirty="0"/>
              <a:t>To ensure compatibility with modern applications, HCX now supports multi-NIC VMs during migrations to Supervisor Clusters. This allows you to migrate complex application topologies without modification.</a:t>
            </a:r>
            <a:br>
              <a:rPr lang="en-US" sz="1200" dirty="0"/>
            </a:br>
            <a:br>
              <a:rPr lang="en-US" sz="1200" dirty="0"/>
            </a:br>
            <a:r>
              <a:rPr lang="en-US" sz="1200" dirty="0"/>
              <a:t>We are also supporting all Supervisor supported Guest OS.</a:t>
            </a:r>
            <a:br>
              <a:rPr lang="en-US" sz="1200" dirty="0"/>
            </a:br>
            <a:br>
              <a:rPr lang="en-US" sz="1200" dirty="0"/>
            </a:br>
            <a:r>
              <a:rPr lang="en-US" sz="1200" dirty="0"/>
              <a:t>And to provide you with peace of mind, HCX's robust rollback and resiliency features are fully supported for Supervisor Cluster migrations. This ensures that you can confidently migrate your workloads, knowing that you have the ability to revert or recover if needed.</a:t>
            </a:r>
            <a:br>
              <a:rPr lang="en-US" sz="1200" dirty="0"/>
            </a:br>
            <a:br>
              <a:rPr lang="en-US" sz="1200" dirty="0"/>
            </a:br>
            <a:r>
              <a:rPr lang="en-US" sz="1200" dirty="0"/>
              <a:t>In essence, HCX now offers a simplified and reliable pathway to migrate your workloads into Supervisor Clusters, enabling you to take advantage of the benefits of Kubernetes-based infrastructure.</a:t>
            </a:r>
            <a:endParaRPr lang="en-US" sz="1200" dirty="0">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endParaRPr lang="en-US" sz="1200" dirty="0"/>
          </a:p>
          <a:p>
            <a:pPr marL="0" lvl="0" indent="0" algn="l" rtl="0">
              <a:lnSpc>
                <a:spcPct val="80000"/>
              </a:lnSpc>
              <a:spcBef>
                <a:spcPts val="0"/>
              </a:spcBef>
              <a:spcAft>
                <a:spcPts val="0"/>
              </a:spcAft>
              <a:buClr>
                <a:schemeClr val="dk1"/>
              </a:buClr>
              <a:buSzPts val="1400"/>
              <a:buFont typeface="Arial"/>
              <a:buNone/>
            </a:pPr>
            <a:r>
              <a:rPr lang="en-US" sz="1200" b="0" u="none" dirty="0"/>
              <a:t>Following are some of the use cases this feature will enable:</a:t>
            </a:r>
            <a:endParaRPr lang="en-US"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1&gt;: </a:t>
            </a:r>
          </a:p>
          <a:p>
            <a:pPr marL="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Migration from NSX Network (overlay) backed Network to VPC in a Workload Domain</a:t>
            </a:r>
            <a:endParaRPr lang="en-US" b="0"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2&gt;: </a:t>
            </a: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And of course, migration from VLAN backed Network to VPC in a Workload Domain</a:t>
            </a:r>
            <a:endParaRPr lang="en-US" dirty="0"/>
          </a:p>
          <a:p>
            <a:pPr marL="0" lvl="0" indent="0" algn="l" rtl="0">
              <a:lnSpc>
                <a:spcPct val="80000"/>
              </a:lnSpc>
              <a:spcBef>
                <a:spcPts val="0"/>
              </a:spcBef>
              <a:spcAft>
                <a:spcPts val="0"/>
              </a:spcAft>
              <a:buClr>
                <a:schemeClr val="dk1"/>
              </a:buClr>
              <a:buSzPts val="1400"/>
              <a:buFont typeface="Arial"/>
              <a:buNone/>
            </a:pPr>
            <a:endParaRPr lang="en-US" sz="1200" dirty="0"/>
          </a:p>
          <a:p>
            <a:pPr marL="0" lvl="0" indent="0" algn="l" rtl="0">
              <a:lnSpc>
                <a:spcPct val="80000"/>
              </a:lnSpc>
              <a:spcBef>
                <a:spcPts val="0"/>
              </a:spcBef>
              <a:spcAft>
                <a:spcPts val="0"/>
              </a:spcAft>
              <a:buClr>
                <a:schemeClr val="dk1"/>
              </a:buClr>
              <a:buSzPts val="1400"/>
              <a:buFont typeface="Arial"/>
              <a:buNone/>
            </a:pPr>
            <a:r>
              <a:rPr lang="en-US" sz="1200" b="1" dirty="0"/>
              <a:t>Notes: </a:t>
            </a:r>
            <a:br>
              <a:rPr lang="en-US" sz="1200" b="1" dirty="0"/>
            </a:br>
            <a:br>
              <a:rPr lang="en-US" sz="1200" b="1" dirty="0"/>
            </a:br>
            <a:r>
              <a:rPr lang="en-US" sz="1200" b="1" dirty="0"/>
              <a:t>Resources: </a:t>
            </a:r>
            <a:endParaRPr lang="en-US" sz="1200" dirty="0"/>
          </a:p>
          <a:p>
            <a:pPr marL="0" lvl="0" indent="0" algn="l" rtl="0">
              <a:lnSpc>
                <a:spcPct val="100000"/>
              </a:lnSpc>
              <a:spcBef>
                <a:spcPts val="0"/>
              </a:spcBef>
              <a:spcAft>
                <a:spcPts val="0"/>
              </a:spcAft>
              <a:buClr>
                <a:schemeClr val="dk1"/>
              </a:buClr>
              <a:buSzPts val="1400"/>
              <a:buFont typeface="Arial"/>
              <a:buNone/>
            </a:pPr>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37707472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80000"/>
              </a:lnSpc>
              <a:spcBef>
                <a:spcPts val="0"/>
              </a:spcBef>
              <a:spcAft>
                <a:spcPts val="0"/>
              </a:spcAft>
              <a:buClr>
                <a:schemeClr val="dk1"/>
              </a:buClr>
              <a:buSzPts val="1400"/>
              <a:buFont typeface="Arial"/>
              <a:buNone/>
              <a:tabLst/>
              <a:defRPr/>
            </a:pPr>
            <a:r>
              <a:rPr lang="en-US" sz="1200" b="1" dirty="0">
                <a:latin typeface="Metropolis" pitchFamily="2" charset="77"/>
              </a:rPr>
              <a:t>Presenter Note:  This slide contains animation</a:t>
            </a:r>
          </a:p>
          <a:p>
            <a:pPr marL="0" lvl="0" indent="0" algn="l" rtl="0">
              <a:lnSpc>
                <a:spcPct val="80000"/>
              </a:lnSpc>
              <a:spcBef>
                <a:spcPts val="0"/>
              </a:spcBef>
              <a:spcAft>
                <a:spcPts val="0"/>
              </a:spcAft>
              <a:buClr>
                <a:schemeClr val="dk1"/>
              </a:buClr>
              <a:buSzPts val="1400"/>
              <a:buFont typeface="Arial"/>
              <a:buNone/>
            </a:pPr>
            <a:endParaRPr lang="en-US" sz="1200" b="1" u="none" dirty="0"/>
          </a:p>
          <a:p>
            <a:pPr marL="0" lvl="0" indent="0" algn="l" rtl="0">
              <a:lnSpc>
                <a:spcPct val="80000"/>
              </a:lnSpc>
              <a:spcBef>
                <a:spcPts val="0"/>
              </a:spcBef>
              <a:spcAft>
                <a:spcPts val="0"/>
              </a:spcAft>
              <a:buClr>
                <a:schemeClr val="dk1"/>
              </a:buClr>
              <a:buSzPts val="1400"/>
              <a:buFont typeface="Arial"/>
              <a:buNone/>
            </a:pPr>
            <a:r>
              <a:rPr lang="en-US" sz="1200" b="1" u="none" dirty="0"/>
              <a:t>Key Message: </a:t>
            </a:r>
          </a:p>
          <a:p>
            <a:pPr marL="0" lvl="0" indent="0" algn="l" rtl="0">
              <a:lnSpc>
                <a:spcPct val="80000"/>
              </a:lnSpc>
              <a:spcBef>
                <a:spcPts val="0"/>
              </a:spcBef>
              <a:spcAft>
                <a:spcPts val="0"/>
              </a:spcAft>
              <a:buClr>
                <a:schemeClr val="dk1"/>
              </a:buClr>
              <a:buSzPts val="1400"/>
              <a:buFont typeface="Arial"/>
              <a:buNone/>
            </a:pPr>
            <a:r>
              <a:rPr lang="en-US" sz="1200" b="0" i="0" dirty="0">
                <a:solidFill>
                  <a:srgbClr val="222222"/>
                </a:solidFill>
                <a:latin typeface="Arial"/>
                <a:ea typeface="Arial"/>
                <a:cs typeface="Arial"/>
                <a:sym typeface="Arial"/>
              </a:rPr>
              <a:t>HCX facilitates seamless workload migration to NSX Global and Local Segments within a Federated environment.</a:t>
            </a:r>
            <a:endParaRPr lang="en-US" sz="1200" dirty="0"/>
          </a:p>
          <a:p>
            <a:pPr marL="0" lvl="0" indent="0" algn="l" rtl="0">
              <a:lnSpc>
                <a:spcPct val="80000"/>
              </a:lnSpc>
              <a:spcBef>
                <a:spcPts val="0"/>
              </a:spcBef>
              <a:spcAft>
                <a:spcPts val="0"/>
              </a:spcAft>
              <a:buClr>
                <a:schemeClr val="dk1"/>
              </a:buClr>
              <a:buSzPts val="1400"/>
              <a:buFont typeface="Arial"/>
              <a:buNone/>
            </a:pPr>
            <a:endParaRPr lang="en-US" sz="1200" b="0" u="sng" dirty="0"/>
          </a:p>
          <a:p>
            <a:pPr marL="0" lvl="0" indent="0" algn="l" rtl="0">
              <a:lnSpc>
                <a:spcPct val="80000"/>
              </a:lnSpc>
              <a:spcBef>
                <a:spcPts val="0"/>
              </a:spcBef>
              <a:spcAft>
                <a:spcPts val="0"/>
              </a:spcAft>
              <a:buClr>
                <a:schemeClr val="dk1"/>
              </a:buClr>
              <a:buSzPts val="1400"/>
              <a:buFont typeface="Arial"/>
              <a:buNone/>
            </a:pPr>
            <a:r>
              <a:rPr lang="en-US" sz="1200" b="1" u="none" dirty="0"/>
              <a:t>Talk Track: </a:t>
            </a:r>
          </a:p>
          <a:p>
            <a:pPr marL="0" lvl="0" indent="0" algn="l" rtl="0">
              <a:lnSpc>
                <a:spcPct val="80000"/>
              </a:lnSpc>
              <a:spcBef>
                <a:spcPts val="0"/>
              </a:spcBef>
              <a:spcAft>
                <a:spcPts val="0"/>
              </a:spcAft>
              <a:buClr>
                <a:schemeClr val="dk1"/>
              </a:buClr>
              <a:buSzPts val="1400"/>
              <a:buFont typeface="Arial"/>
              <a:buNone/>
            </a:pPr>
            <a:r>
              <a:rPr lang="en-US" sz="1200" b="0" i="0" dirty="0">
                <a:solidFill>
                  <a:srgbClr val="222222"/>
                </a:solidFill>
                <a:latin typeface="Arial"/>
                <a:ea typeface="Arial"/>
                <a:cs typeface="Arial"/>
                <a:sym typeface="Arial"/>
              </a:rPr>
              <a:t>We're enhancing HCX's migration capabilities to support the NSX Federated Environment. This means you can now seamlessly migrate your existing workloads, whether they reside on VLAN-backed networks or NSX networks, directly to NSX Local or Global Segments within a federated environment.</a:t>
            </a:r>
            <a:br>
              <a:rPr lang="en-US" sz="1200" dirty="0"/>
            </a:br>
            <a:br>
              <a:rPr lang="en-US" sz="1200" dirty="0"/>
            </a:br>
            <a:r>
              <a:rPr lang="en-US" sz="1200" b="0" i="0" dirty="0">
                <a:solidFill>
                  <a:srgbClr val="222222"/>
                </a:solidFill>
                <a:latin typeface="Arial"/>
                <a:ea typeface="Arial"/>
                <a:cs typeface="Arial"/>
                <a:sym typeface="Arial"/>
              </a:rPr>
              <a:t>A key aspect of this enhancement is HCX's intelligent detection of the NSX Federation. When HCX recognizes that the source/target NSX environment is part of a federation, it automatically ensures that no L2 Network Extensions are deployed. This is critical to prioritize and maintain the integrity of your NSX Federation stretched network.</a:t>
            </a:r>
            <a:br>
              <a:rPr lang="en-US" sz="1200" dirty="0"/>
            </a:br>
            <a:br>
              <a:rPr lang="en-US" sz="1200" dirty="0"/>
            </a:br>
            <a:r>
              <a:rPr lang="en-US" sz="1200" b="0" i="0" dirty="0">
                <a:solidFill>
                  <a:srgbClr val="222222"/>
                </a:solidFill>
                <a:latin typeface="Arial"/>
                <a:ea typeface="Arial"/>
                <a:cs typeface="Arial"/>
                <a:sym typeface="Arial"/>
              </a:rPr>
              <a:t>Furthermore, if HCX detects that an NSX environment with an existing Network Extensions has been incorporated into NSX federation, in other words NSX is now Local Manager (LM), HCX will proactively disable any and all Network Extensions associated with that now-federated LM NSX. This action prevents potential L2 loop and ensures that the federated network's stretched capabilities are not compromised.</a:t>
            </a:r>
            <a:br>
              <a:rPr lang="en-US" sz="1200" dirty="0"/>
            </a:br>
            <a:br>
              <a:rPr lang="en-US" sz="1200" dirty="0"/>
            </a:br>
            <a:r>
              <a:rPr lang="en-US" sz="1200" b="0" i="0" dirty="0">
                <a:solidFill>
                  <a:srgbClr val="222222"/>
                </a:solidFill>
                <a:latin typeface="Arial"/>
                <a:ea typeface="Arial"/>
                <a:cs typeface="Arial"/>
                <a:sym typeface="Arial"/>
              </a:rPr>
              <a:t>In essence, HCX now provides a reliable and compatible migration path to NSX Global and Local Segments within a federated environment, while safeguarding the integrity of your federated network architecture. This ensures a smooth and controlled migration experience.</a:t>
            </a:r>
            <a:endParaRPr lang="en-US"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1&gt;: </a:t>
            </a: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Non-disruptive migration from VLAN backed Network to VLAN, nothing new here we support this forever.</a:t>
            </a:r>
            <a:endParaRPr lang="en-US" b="0"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r>
              <a:rPr lang="en-US" sz="1200" b="0" u="none" dirty="0"/>
              <a:t>But, following are some of the new use cases this feature will enable, like:</a:t>
            </a:r>
            <a:endParaRPr lang="en-US" b="0"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2&gt;: </a:t>
            </a:r>
          </a:p>
          <a:p>
            <a:pPr marL="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Non-disruptive migration to NSX Local Segment (in NSX LM), on one of the federated site.</a:t>
            </a:r>
            <a:endParaRPr lang="en-US" b="0"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&lt;click3&gt;:And of-course, Non-disruptive migration to NSX Global Segment, this segment is stretched between both federated sites. </a:t>
            </a:r>
            <a:endParaRPr lang="en-US" b="0"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4&gt;: </a:t>
            </a: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Also, Non-disruptive migration to NSX Local Segment, another federated site.</a:t>
            </a:r>
            <a:endParaRPr lang="en-US" dirty="0"/>
          </a:p>
          <a:p>
            <a:pPr marL="0" lvl="0" indent="0" algn="l" rtl="0">
              <a:lnSpc>
                <a:spcPct val="80000"/>
              </a:lnSpc>
              <a:spcBef>
                <a:spcPts val="0"/>
              </a:spcBef>
              <a:spcAft>
                <a:spcPts val="0"/>
              </a:spcAft>
              <a:buClr>
                <a:schemeClr val="dk1"/>
              </a:buClr>
              <a:buSzPts val="1400"/>
              <a:buFont typeface="Arial"/>
              <a:buNone/>
            </a:pPr>
            <a:endParaRPr lang="en-US" sz="1200" b="0" dirty="0"/>
          </a:p>
          <a:p>
            <a:pPr marL="0" lvl="0" indent="0" algn="l" rtl="0">
              <a:lnSpc>
                <a:spcPct val="80000"/>
              </a:lnSpc>
              <a:spcBef>
                <a:spcPts val="0"/>
              </a:spcBef>
              <a:spcAft>
                <a:spcPts val="0"/>
              </a:spcAft>
              <a:buClr>
                <a:schemeClr val="dk1"/>
              </a:buClr>
              <a:buSzPts val="1400"/>
              <a:buFont typeface="Arial"/>
              <a:buNone/>
            </a:pPr>
            <a:r>
              <a:rPr lang="en-US" sz="1200" b="1" dirty="0"/>
              <a:t>Notes: </a:t>
            </a:r>
            <a:br>
              <a:rPr lang="en-US" sz="1200" b="1" dirty="0"/>
            </a:br>
            <a:br>
              <a:rPr lang="en-US" sz="1200" b="1" dirty="0"/>
            </a:br>
            <a:r>
              <a:rPr lang="en-US" sz="1200" b="1" dirty="0"/>
              <a:t>Resources: </a:t>
            </a:r>
            <a:endParaRPr lang="en-US" sz="1200" dirty="0"/>
          </a:p>
          <a:p>
            <a:pPr marL="0" lvl="0" indent="0" algn="l" rtl="0">
              <a:lnSpc>
                <a:spcPct val="100000"/>
              </a:lnSpc>
              <a:spcBef>
                <a:spcPts val="0"/>
              </a:spcBef>
              <a:spcAft>
                <a:spcPts val="0"/>
              </a:spcAft>
              <a:buClr>
                <a:schemeClr val="dk1"/>
              </a:buClr>
              <a:buSzPts val="1400"/>
              <a:buFont typeface="Arial"/>
              <a:buNone/>
            </a:pPr>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1632004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lvl="0" indent="0" algn="l" defTabSz="914400" rtl="0" eaLnBrk="1" fontAlgn="auto" latinLnBrk="0" hangingPunct="1">
              <a:lnSpc>
                <a:spcPct val="80000"/>
              </a:lnSpc>
              <a:spcBef>
                <a:spcPts val="0"/>
              </a:spcBef>
              <a:spcAft>
                <a:spcPts val="0"/>
              </a:spcAft>
              <a:buClr>
                <a:schemeClr val="dk1"/>
              </a:buClr>
              <a:buSzPts val="1400"/>
              <a:buFont typeface="Arial"/>
              <a:buNone/>
              <a:tabLst/>
              <a:defRPr/>
            </a:pPr>
            <a:r>
              <a:rPr lang="en-US" sz="1200" b="1" dirty="0">
                <a:latin typeface="Metropolis" pitchFamily="2" charset="77"/>
              </a:rPr>
              <a:t>Presenter Note:  This slide contains animation</a:t>
            </a:r>
          </a:p>
          <a:p>
            <a:pPr marL="0" lvl="0" indent="0" algn="l" rtl="0">
              <a:lnSpc>
                <a:spcPct val="80000"/>
              </a:lnSpc>
              <a:spcBef>
                <a:spcPts val="0"/>
              </a:spcBef>
              <a:spcAft>
                <a:spcPts val="0"/>
              </a:spcAft>
              <a:buClr>
                <a:schemeClr val="dk1"/>
              </a:buClr>
              <a:buSzPts val="1400"/>
              <a:buFont typeface="Arial"/>
              <a:buNone/>
            </a:pPr>
            <a:endParaRPr lang="en-US" sz="1200" b="1" u="none" dirty="0"/>
          </a:p>
          <a:p>
            <a:pPr marL="0" lvl="0" indent="0" algn="l" rtl="0">
              <a:lnSpc>
                <a:spcPct val="80000"/>
              </a:lnSpc>
              <a:spcBef>
                <a:spcPts val="0"/>
              </a:spcBef>
              <a:spcAft>
                <a:spcPts val="0"/>
              </a:spcAft>
              <a:buClr>
                <a:schemeClr val="dk1"/>
              </a:buClr>
              <a:buSzPts val="1400"/>
              <a:buFont typeface="Arial"/>
              <a:buNone/>
            </a:pPr>
            <a:r>
              <a:rPr lang="en-US" sz="1200" b="1" u="none" dirty="0"/>
              <a:t>Key Message: </a:t>
            </a:r>
          </a:p>
          <a:p>
            <a:pPr marL="0" lvl="0" indent="0" algn="l" rtl="0">
              <a:lnSpc>
                <a:spcPct val="80000"/>
              </a:lnSpc>
              <a:spcBef>
                <a:spcPts val="0"/>
              </a:spcBef>
              <a:spcAft>
                <a:spcPts val="0"/>
              </a:spcAft>
              <a:buClr>
                <a:schemeClr val="dk1"/>
              </a:buClr>
              <a:buSzPts val="1400"/>
              <a:buFont typeface="Arial"/>
              <a:buNone/>
            </a:pPr>
            <a:r>
              <a:rPr lang="en-US" sz="1200" b="0" u="none" dirty="0"/>
              <a:t>Support for NSX VLAN Segments for N</a:t>
            </a:r>
            <a:r>
              <a:rPr lang="en-US" sz="1200" b="0" dirty="0"/>
              <a:t>on-Disruptive Workload Migration </a:t>
            </a:r>
            <a:endParaRPr lang="en-US" dirty="0"/>
          </a:p>
          <a:p>
            <a:pPr marL="0" lvl="0" indent="0" algn="l" rtl="0">
              <a:lnSpc>
                <a:spcPct val="80000"/>
              </a:lnSpc>
              <a:spcBef>
                <a:spcPts val="0"/>
              </a:spcBef>
              <a:spcAft>
                <a:spcPts val="0"/>
              </a:spcAft>
              <a:buClr>
                <a:schemeClr val="dk1"/>
              </a:buClr>
              <a:buSzPts val="1400"/>
              <a:buFont typeface="Arial"/>
              <a:buNone/>
            </a:pPr>
            <a:endParaRPr lang="en-US" sz="1200" b="0" u="sng" dirty="0"/>
          </a:p>
          <a:p>
            <a:pPr marL="0" lvl="0" indent="0" algn="l" rtl="0">
              <a:lnSpc>
                <a:spcPct val="80000"/>
              </a:lnSpc>
              <a:spcBef>
                <a:spcPts val="0"/>
              </a:spcBef>
              <a:spcAft>
                <a:spcPts val="0"/>
              </a:spcAft>
              <a:buClr>
                <a:schemeClr val="dk1"/>
              </a:buClr>
              <a:buSzPts val="1400"/>
              <a:buFont typeface="Arial"/>
              <a:buNone/>
            </a:pPr>
            <a:r>
              <a:rPr lang="en-US" sz="1200" b="1" u="none" dirty="0"/>
              <a:t>Talk Track: </a:t>
            </a:r>
          </a:p>
          <a:p>
            <a:pPr marL="0" lvl="0" indent="0" algn="l" rtl="0">
              <a:lnSpc>
                <a:spcPct val="80000"/>
              </a:lnSpc>
              <a:spcBef>
                <a:spcPts val="0"/>
              </a:spcBef>
              <a:spcAft>
                <a:spcPts val="0"/>
              </a:spcAft>
              <a:buClr>
                <a:schemeClr val="dk1"/>
              </a:buClr>
              <a:buSzPts val="1400"/>
              <a:buFont typeface="Arial"/>
              <a:buNone/>
            </a:pPr>
            <a:r>
              <a:rPr lang="en-US" sz="1200" b="0" i="0" dirty="0">
                <a:solidFill>
                  <a:srgbClr val="222222"/>
                </a:solidFill>
                <a:latin typeface="Arial"/>
                <a:ea typeface="Arial"/>
                <a:cs typeface="Arial"/>
                <a:sym typeface="Arial"/>
              </a:rPr>
              <a:t>We're pleased to announce enhanced support for NSX-VLAN Segments within HCX, significantly increasing your migration flexibility.</a:t>
            </a:r>
            <a:br>
              <a:rPr lang="en-US" sz="1200" dirty="0"/>
            </a:br>
            <a:br>
              <a:rPr lang="en-US" sz="1200" dirty="0"/>
            </a:br>
            <a:r>
              <a:rPr lang="en-US" sz="1200" b="0" i="0" dirty="0">
                <a:solidFill>
                  <a:srgbClr val="222222"/>
                </a:solidFill>
                <a:latin typeface="Arial"/>
                <a:ea typeface="Arial"/>
                <a:cs typeface="Arial"/>
                <a:sym typeface="Arial"/>
              </a:rPr>
              <a:t>This enhancement allows you to seamlessly migrate workloads from, to, and between NSX-VLAN Segments. So, if you are already an NSX shop utilizing NSX-VLAN, you can move your workloads from that network without changing network topology. This also provides customer flexibility to non-disruptively migrate workloads from NSX-VLAN backed networks to VPC, NSX Network (overlay), NSX-VLAN, or VLAN (</a:t>
            </a:r>
            <a:r>
              <a:rPr lang="en-US" sz="1200" b="0" i="0" dirty="0" err="1">
                <a:solidFill>
                  <a:srgbClr val="222222"/>
                </a:solidFill>
                <a:latin typeface="Arial"/>
                <a:ea typeface="Arial"/>
                <a:cs typeface="Arial"/>
                <a:sym typeface="Arial"/>
              </a:rPr>
              <a:t>dvpg</a:t>
            </a:r>
            <a:r>
              <a:rPr lang="en-US" sz="1200" b="0" i="0" dirty="0">
                <a:solidFill>
                  <a:srgbClr val="222222"/>
                </a:solidFill>
                <a:latin typeface="Arial"/>
                <a:ea typeface="Arial"/>
                <a:cs typeface="Arial"/>
                <a:sym typeface="Arial"/>
              </a:rPr>
              <a:t>).</a:t>
            </a:r>
            <a:br>
              <a:rPr lang="en-US" sz="1200" dirty="0"/>
            </a:br>
            <a:br>
              <a:rPr lang="en-US" sz="1200" dirty="0"/>
            </a:br>
            <a:r>
              <a:rPr lang="en-US" sz="1200" b="0" i="0" dirty="0">
                <a:solidFill>
                  <a:srgbClr val="222222"/>
                </a:solidFill>
                <a:latin typeface="Arial"/>
                <a:ea typeface="Arial"/>
                <a:cs typeface="Arial"/>
                <a:sym typeface="Arial"/>
              </a:rPr>
              <a:t>Furthermore, HCX now supports L2 Network Extension with NSX-VLAN Segments. This ensures consistent network connectivity during migrations, enabling wave migrations and provides flexibility with the transition process.</a:t>
            </a:r>
            <a:br>
              <a:rPr lang="en-US" sz="1200" dirty="0"/>
            </a:br>
            <a:br>
              <a:rPr lang="en-US" sz="1200" dirty="0"/>
            </a:br>
            <a:r>
              <a:rPr lang="en-US" sz="1200" b="0" i="0" dirty="0">
                <a:solidFill>
                  <a:srgbClr val="222222"/>
                </a:solidFill>
                <a:latin typeface="Arial"/>
                <a:ea typeface="Arial"/>
                <a:cs typeface="Arial"/>
                <a:sym typeface="Arial"/>
              </a:rPr>
              <a:t>Importantly, all HCX migration types are supported with NSX-VLAN Segments, with the exception of Mobility Optimized Networking (MON). This comprehensive support allows you to choose the migration method that best suits your specific requirements.</a:t>
            </a:r>
            <a:br>
              <a:rPr lang="en-US" sz="1200" dirty="0"/>
            </a:br>
            <a:br>
              <a:rPr lang="en-US" sz="1200" dirty="0"/>
            </a:br>
            <a:r>
              <a:rPr lang="en-US" sz="1200" b="0" i="0" dirty="0">
                <a:solidFill>
                  <a:srgbClr val="222222"/>
                </a:solidFill>
                <a:latin typeface="Arial"/>
                <a:ea typeface="Arial"/>
                <a:cs typeface="Arial"/>
                <a:sym typeface="Arial"/>
              </a:rPr>
              <a:t>A significant benefit of this feature is the automated creation of NSX-VLAN Segments at the destination, in case the NSX-VLAN segment doesn't already exist. This makes the migration process faster, reducing manual configuration and potential errors.</a:t>
            </a:r>
            <a:br>
              <a:rPr lang="en-US" sz="1200" dirty="0"/>
            </a:br>
            <a:br>
              <a:rPr lang="en-US" sz="1200" dirty="0"/>
            </a:br>
            <a:r>
              <a:rPr lang="en-US" sz="1200" b="0" i="0" dirty="0">
                <a:solidFill>
                  <a:srgbClr val="222222"/>
                </a:solidFill>
                <a:latin typeface="Arial"/>
                <a:ea typeface="Arial"/>
                <a:cs typeface="Arial"/>
                <a:sym typeface="Arial"/>
              </a:rPr>
              <a:t>Ultimately, this expanded support for NSX-VLAN Segments provides you with increased migration flexibility, allowing you to address a wider range of migration scenarios with confidence and ease.</a:t>
            </a:r>
            <a:endParaRPr lang="en-US" dirty="0"/>
          </a:p>
          <a:p>
            <a:pPr marL="0" lvl="0" indent="0" algn="l" rtl="0">
              <a:lnSpc>
                <a:spcPct val="80000"/>
              </a:lnSpc>
              <a:spcBef>
                <a:spcPts val="0"/>
              </a:spcBef>
              <a:spcAft>
                <a:spcPts val="0"/>
              </a:spcAft>
              <a:buClr>
                <a:schemeClr val="dk1"/>
              </a:buClr>
              <a:buSzPts val="1400"/>
              <a:buFont typeface="Arial"/>
              <a:buNone/>
            </a:pPr>
            <a:endParaRPr lang="en-US" sz="1200" b="1" i="0" dirty="0">
              <a:solidFill>
                <a:srgbClr val="22222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1&gt;: </a:t>
            </a:r>
            <a:br>
              <a:rPr lang="en-US" sz="1200" b="0" i="0" u="none" dirty="0">
                <a:solidFill>
                  <a:srgbClr val="222222"/>
                </a:solidFill>
                <a:latin typeface="Arial"/>
                <a:ea typeface="Arial"/>
                <a:cs typeface="Arial"/>
                <a:sym typeface="Arial"/>
              </a:rPr>
            </a:br>
            <a:r>
              <a:rPr lang="en-US" sz="1200" b="0" i="0" u="none" dirty="0">
                <a:solidFill>
                  <a:srgbClr val="222222"/>
                </a:solidFill>
                <a:latin typeface="Arial"/>
                <a:ea typeface="Arial"/>
                <a:cs typeface="Arial"/>
                <a:sym typeface="Arial"/>
              </a:rPr>
              <a:t>Non-disruptive migration from VLAN backed Network to NSX Network, nothing new here we already support this.</a:t>
            </a:r>
            <a:endParaRPr lang="en-US" b="0" dirty="0"/>
          </a:p>
          <a:p>
            <a:pPr marL="0" marR="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2&gt;: </a:t>
            </a:r>
            <a:br>
              <a:rPr lang="en-US" sz="1200" b="0" i="0" u="none" dirty="0">
                <a:solidFill>
                  <a:srgbClr val="222222"/>
                </a:solidFill>
                <a:latin typeface="Arial"/>
                <a:ea typeface="Arial"/>
                <a:cs typeface="Arial"/>
                <a:sym typeface="Arial"/>
              </a:rPr>
            </a:br>
            <a:r>
              <a:rPr lang="en-US" sz="1200" b="0" i="0" u="none" dirty="0">
                <a:solidFill>
                  <a:srgbClr val="222222"/>
                </a:solidFill>
                <a:latin typeface="Arial"/>
                <a:ea typeface="Arial"/>
                <a:cs typeface="Arial"/>
                <a:sym typeface="Arial"/>
              </a:rPr>
              <a:t>Same, Non-disruptive migration from NSX Network to NSX Network, nothing new here either.</a:t>
            </a:r>
            <a:endParaRPr lang="en-US" b="0"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r>
              <a:rPr lang="en-US" sz="1200" b="0" u="none" dirty="0"/>
              <a:t>But, following are some of the new use cases this feature will enable, like:</a:t>
            </a:r>
            <a:endParaRPr lang="en-US" b="0"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3&gt;: </a:t>
            </a:r>
            <a:br>
              <a:rPr lang="en-US" sz="1200" b="0" i="0" u="none" dirty="0">
                <a:solidFill>
                  <a:srgbClr val="222222"/>
                </a:solidFill>
                <a:latin typeface="Arial"/>
                <a:ea typeface="Arial"/>
                <a:cs typeface="Arial"/>
                <a:sym typeface="Arial"/>
              </a:rPr>
            </a:br>
            <a:r>
              <a:rPr lang="en-US" sz="1200" b="0" i="0" u="none" dirty="0">
                <a:solidFill>
                  <a:srgbClr val="222222"/>
                </a:solidFill>
                <a:latin typeface="Arial"/>
                <a:ea typeface="Arial"/>
                <a:cs typeface="Arial"/>
                <a:sym typeface="Arial"/>
              </a:rPr>
              <a:t>Now you can do a Non-disruptive migration from NSX-VLAN to NSX Network (Overlay).</a:t>
            </a:r>
            <a:endParaRPr lang="en-US" b="0" dirty="0"/>
          </a:p>
          <a:p>
            <a:pPr marL="0" lvl="0" indent="0" algn="l" rtl="0">
              <a:lnSpc>
                <a:spcPct val="80000"/>
              </a:lnSpc>
              <a:spcBef>
                <a:spcPts val="0"/>
              </a:spcBef>
              <a:spcAft>
                <a:spcPts val="0"/>
              </a:spcAft>
              <a:buClr>
                <a:schemeClr val="dk1"/>
              </a:buClr>
              <a:buSzPts val="1400"/>
              <a:buFont typeface="Arial"/>
              <a:buNone/>
            </a:pPr>
            <a:endParaRPr lang="en-US" sz="1200" b="0" i="0" u="none" dirty="0">
              <a:solidFill>
                <a:srgbClr val="22222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400"/>
              <a:buFont typeface="Arial"/>
              <a:buNone/>
            </a:pPr>
            <a:r>
              <a:rPr lang="en-US" sz="1200" b="0" i="0" u="none" dirty="0">
                <a:solidFill>
                  <a:srgbClr val="222222"/>
                </a:solidFill>
                <a:latin typeface="Arial"/>
                <a:ea typeface="Arial"/>
                <a:cs typeface="Arial"/>
                <a:sym typeface="Arial"/>
              </a:rPr>
              <a:t>&lt;click 4&gt;:</a:t>
            </a:r>
            <a:br>
              <a:rPr lang="en-US" sz="1200" b="1" i="0" u="none" dirty="0">
                <a:solidFill>
                  <a:srgbClr val="222222"/>
                </a:solidFill>
                <a:latin typeface="Arial"/>
                <a:ea typeface="Arial"/>
                <a:cs typeface="Arial"/>
                <a:sym typeface="Arial"/>
              </a:rPr>
            </a:br>
            <a:r>
              <a:rPr lang="en-US" sz="1200" b="0" i="0" u="none" dirty="0">
                <a:solidFill>
                  <a:srgbClr val="222222"/>
                </a:solidFill>
                <a:latin typeface="Arial"/>
                <a:ea typeface="Arial"/>
                <a:cs typeface="Arial"/>
                <a:sym typeface="Arial"/>
              </a:rPr>
              <a:t>Or a Non-disruptive migration from NSX-VLAN to another NSX-VLAN Network. While also having a Network Extension between them for continues L2 connectivity.</a:t>
            </a:r>
            <a:endParaRPr lang="en-US" sz="1200" b="0" i="0" dirty="0">
              <a:solidFill>
                <a:srgbClr val="222222"/>
              </a:solidFill>
              <a:latin typeface="Arial"/>
              <a:ea typeface="Arial"/>
              <a:cs typeface="Arial"/>
              <a:sym typeface="Arial"/>
            </a:endParaRPr>
          </a:p>
          <a:p>
            <a:pPr marL="0" lvl="0" indent="0" algn="l" rtl="0">
              <a:lnSpc>
                <a:spcPct val="80000"/>
              </a:lnSpc>
              <a:spcBef>
                <a:spcPts val="0"/>
              </a:spcBef>
              <a:spcAft>
                <a:spcPts val="0"/>
              </a:spcAft>
              <a:buClr>
                <a:schemeClr val="dk1"/>
              </a:buClr>
              <a:buSzPts val="1400"/>
              <a:buFont typeface="Arial"/>
              <a:buNone/>
            </a:pPr>
            <a:endParaRPr lang="en-US" sz="1200" b="0" dirty="0"/>
          </a:p>
          <a:p>
            <a:pPr marL="0" lvl="0" indent="0" algn="l" rtl="0">
              <a:lnSpc>
                <a:spcPct val="80000"/>
              </a:lnSpc>
              <a:spcBef>
                <a:spcPts val="0"/>
              </a:spcBef>
              <a:spcAft>
                <a:spcPts val="0"/>
              </a:spcAft>
              <a:buClr>
                <a:schemeClr val="dk1"/>
              </a:buClr>
              <a:buSzPts val="1400"/>
              <a:buFont typeface="Arial"/>
              <a:buNone/>
            </a:pPr>
            <a:r>
              <a:rPr lang="en-US" sz="1200" b="1" dirty="0"/>
              <a:t>Notes: </a:t>
            </a:r>
            <a:br>
              <a:rPr lang="en-US" sz="1200" b="1" dirty="0"/>
            </a:br>
            <a:br>
              <a:rPr lang="en-US" sz="1200" b="1" dirty="0"/>
            </a:br>
            <a:r>
              <a:rPr lang="en-US" sz="1200" b="1" dirty="0"/>
              <a:t>Resources: </a:t>
            </a:r>
            <a:endParaRPr lang="en-US" sz="1200" dirty="0"/>
          </a:p>
          <a:p>
            <a:pPr marL="0" lvl="0" indent="0" algn="l" rtl="0">
              <a:lnSpc>
                <a:spcPct val="100000"/>
              </a:lnSpc>
              <a:spcBef>
                <a:spcPts val="0"/>
              </a:spcBef>
              <a:spcAft>
                <a:spcPts val="0"/>
              </a:spcAft>
              <a:buClr>
                <a:schemeClr val="dk1"/>
              </a:buClr>
              <a:buSzPts val="1400"/>
              <a:buFont typeface="Arial"/>
              <a:buNone/>
            </a:pPr>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6406508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lvl="0" indent="0" algn="l" rtl="0">
              <a:lnSpc>
                <a:spcPct val="100000"/>
              </a:lnSpc>
              <a:spcBef>
                <a:spcPts val="0"/>
              </a:spcBef>
              <a:spcAft>
                <a:spcPts val="0"/>
              </a:spcAft>
              <a:buClr>
                <a:schemeClr val="dk1"/>
              </a:buClr>
              <a:buSzPts val="1400"/>
              <a:buFont typeface="Arial"/>
              <a:buNone/>
            </a:pPr>
            <a:r>
              <a:rPr lang="en-US" b="1" u="none" dirty="0"/>
              <a:t>Key Message: </a:t>
            </a:r>
          </a:p>
          <a:p>
            <a:pPr marL="0" lvl="0" indent="0" algn="l" rtl="0">
              <a:lnSpc>
                <a:spcPct val="100000"/>
              </a:lnSpc>
              <a:spcBef>
                <a:spcPts val="0"/>
              </a:spcBef>
              <a:spcAft>
                <a:spcPts val="0"/>
              </a:spcAft>
              <a:buClr>
                <a:schemeClr val="dk1"/>
              </a:buClr>
              <a:buSzPts val="1400"/>
              <a:buFont typeface="Arial"/>
              <a:buNone/>
            </a:pPr>
            <a:r>
              <a:rPr lang="en-US" dirty="0"/>
              <a:t>Introducing the HCX Unified Manager Appliance</a:t>
            </a:r>
            <a:endParaRPr lang="en-US" b="0" dirty="0"/>
          </a:p>
          <a:p>
            <a:pPr marL="0" lvl="0" indent="0" algn="l" rtl="0">
              <a:lnSpc>
                <a:spcPct val="100000"/>
              </a:lnSpc>
              <a:spcBef>
                <a:spcPts val="0"/>
              </a:spcBef>
              <a:spcAft>
                <a:spcPts val="0"/>
              </a:spcAft>
              <a:buClr>
                <a:schemeClr val="dk1"/>
              </a:buClr>
              <a:buSzPts val="1400"/>
              <a:buFont typeface="Arial"/>
              <a:buNone/>
            </a:pPr>
            <a:endParaRPr lang="en-US" b="0" u="sng" dirty="0"/>
          </a:p>
          <a:p>
            <a:pPr marL="0" lvl="0" indent="0" algn="l" rtl="0">
              <a:lnSpc>
                <a:spcPct val="100000"/>
              </a:lnSpc>
              <a:spcBef>
                <a:spcPts val="0"/>
              </a:spcBef>
              <a:spcAft>
                <a:spcPts val="0"/>
              </a:spcAft>
              <a:buClr>
                <a:schemeClr val="dk1"/>
              </a:buClr>
              <a:buSzPts val="1400"/>
              <a:buFont typeface="Arial"/>
              <a:buNone/>
            </a:pPr>
            <a:r>
              <a:rPr lang="en-US" b="1" u="none" dirty="0"/>
              <a:t>Talk Track: </a:t>
            </a:r>
          </a:p>
          <a:p>
            <a:pPr marL="0" lvl="0" indent="0" algn="l" rtl="0">
              <a:lnSpc>
                <a:spcPct val="100000"/>
              </a:lnSpc>
              <a:spcBef>
                <a:spcPts val="0"/>
              </a:spcBef>
              <a:spcAft>
                <a:spcPts val="0"/>
              </a:spcAft>
              <a:buClr>
                <a:schemeClr val="dk1"/>
              </a:buClr>
              <a:buSzPts val="1400"/>
              <a:buFont typeface="Arial"/>
              <a:buNone/>
            </a:pPr>
            <a:r>
              <a:rPr lang="en-US" b="0" i="0" dirty="0">
                <a:solidFill>
                  <a:srgbClr val="222222"/>
                </a:solidFill>
                <a:effectLst/>
                <a:latin typeface="Arial" panose="020B0604020202020204" pitchFamily="34" charset="0"/>
              </a:rPr>
              <a:t>This slide highlights two key changes in the latest HCX release: the unification of the HCX Manager and the strategic removal of certain features.</a:t>
            </a:r>
            <a:br>
              <a:rPr lang="en-US" dirty="0"/>
            </a:br>
            <a:br>
              <a:rPr lang="en-US" dirty="0"/>
            </a:br>
            <a:r>
              <a:rPr lang="en-US" b="0" i="0" dirty="0">
                <a:solidFill>
                  <a:srgbClr val="222222"/>
                </a:solidFill>
                <a:effectLst/>
                <a:latin typeface="Arial" panose="020B0604020202020204" pitchFamily="34" charset="0"/>
              </a:rPr>
              <a:t>In Section One, we're introducing the HCX Unified Manager. This means we're moving to a single binary, or OVA/OVF, for both your source and destination sites. This simplifies deployment and management significantly.</a:t>
            </a:r>
            <a:br>
              <a:rPr lang="en-US" dirty="0"/>
            </a:br>
            <a:br>
              <a:rPr lang="en-US" dirty="0"/>
            </a:br>
            <a:r>
              <a:rPr lang="en-US" b="0" i="0" dirty="0">
                <a:solidFill>
                  <a:srgbClr val="222222"/>
                </a:solidFill>
                <a:effectLst/>
                <a:latin typeface="Arial" panose="020B0604020202020204" pitchFamily="34" charset="0"/>
              </a:rPr>
              <a:t>The Unified Manager will intelligently assume the role of either a Cloud or Connector appliance, based on the site-pair direction, so you don't have to worry about deploying separate appliances and their LCM.</a:t>
            </a:r>
            <a:br>
              <a:rPr lang="en-US" dirty="0"/>
            </a:br>
            <a:br>
              <a:rPr lang="en-US" dirty="0"/>
            </a:br>
            <a:r>
              <a:rPr lang="en-US" b="0" i="0" dirty="0">
                <a:solidFill>
                  <a:srgbClr val="222222"/>
                </a:solidFill>
                <a:effectLst/>
                <a:latin typeface="Arial" panose="020B0604020202020204" pitchFamily="34" charset="0"/>
              </a:rPr>
              <a:t>We've also ensured a smooth upgrade path. You can seamlessly upgrade from older versions, specifically 4.11 HCX Cloud and HCX Connector, to the Unified Manager.</a:t>
            </a:r>
            <a:br>
              <a:rPr lang="en-US" dirty="0"/>
            </a:br>
            <a:br>
              <a:rPr lang="en-US" dirty="0"/>
            </a:br>
            <a:r>
              <a:rPr lang="en-US" b="0" i="0" dirty="0">
                <a:solidFill>
                  <a:srgbClr val="222222"/>
                </a:solidFill>
                <a:effectLst/>
                <a:latin typeface="Arial" panose="020B0604020202020204" pitchFamily="34" charset="0"/>
              </a:rPr>
              <a:t>And rest assured, both unidirectional and bidirectional site pairing will continue to be supported, with the same architectures that are supported in previous versions.</a:t>
            </a:r>
            <a:br>
              <a:rPr lang="en-US" dirty="0"/>
            </a:br>
            <a:br>
              <a:rPr lang="en-US" dirty="0"/>
            </a:br>
            <a:r>
              <a:rPr lang="en-US" b="0" i="0" dirty="0">
                <a:solidFill>
                  <a:srgbClr val="222222"/>
                </a:solidFill>
                <a:effectLst/>
                <a:latin typeface="Arial" panose="020B0604020202020204" pitchFamily="34" charset="0"/>
              </a:rPr>
              <a:t>In Section Two, we want to highlight the removal of certain features from HCX. This includes the removal of WAN Optimization, the V2T Migration capability, HCX Disaster Recovery, and the HCX Plugin from vCenter. </a:t>
            </a:r>
            <a:br>
              <a:rPr lang="en-US" dirty="0"/>
            </a:br>
            <a:endParaRPr lang="en-US" b="0" dirty="0"/>
          </a:p>
          <a:p>
            <a:pPr marL="0" lvl="0" indent="0" algn="l" rtl="0">
              <a:lnSpc>
                <a:spcPct val="100000"/>
              </a:lnSpc>
              <a:spcBef>
                <a:spcPts val="0"/>
              </a:spcBef>
              <a:spcAft>
                <a:spcPts val="0"/>
              </a:spcAft>
              <a:buClr>
                <a:schemeClr val="dk1"/>
              </a:buClr>
              <a:buSzPts val="1400"/>
              <a:buFont typeface="Arial"/>
              <a:buNone/>
            </a:pPr>
            <a:r>
              <a:rPr lang="en-US" b="1" dirty="0"/>
              <a:t>Notes: </a:t>
            </a:r>
            <a:br>
              <a:rPr lang="en-US" b="1" dirty="0"/>
            </a:br>
            <a:br>
              <a:rPr lang="en-US" b="1" dirty="0"/>
            </a:br>
            <a:r>
              <a:rPr lang="en-US" b="1" dirty="0"/>
              <a:t>Resources: </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19513394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9"/>
        <p:cNvGrpSpPr/>
        <p:nvPr/>
      </p:nvGrpSpPr>
      <p:grpSpPr>
        <a:xfrm>
          <a:off x="0" y="0"/>
          <a:ext cx="0" cy="0"/>
          <a:chOff x="0" y="0"/>
          <a:chExt cx="0" cy="0"/>
        </a:xfrm>
      </p:grpSpPr>
      <p:sp>
        <p:nvSpPr>
          <p:cNvPr id="8030" name="Google Shape;8030;p7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1" name="Google Shape;8031;p7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177800" lvl="0" indent="-101600" algn="l" rtl="0">
              <a:lnSpc>
                <a:spcPct val="100000"/>
              </a:lnSpc>
              <a:spcBef>
                <a:spcPts val="0"/>
              </a:spcBef>
              <a:spcAft>
                <a:spcPts val="0"/>
              </a:spcAft>
              <a:buClr>
                <a:schemeClr val="dk1"/>
              </a:buClr>
              <a:buSzPts val="1200"/>
              <a:buFont typeface="Arial"/>
              <a:buNone/>
            </a:pPr>
            <a:endParaRPr sz="1200" u="none" strike="noStrike">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Arial"/>
              <a:buNone/>
            </a:pPr>
            <a:endParaRPr>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Arial"/>
              <a:buNone/>
            </a:pPr>
            <a:endParaRPr>
              <a:latin typeface="Arial"/>
              <a:ea typeface="Arial"/>
              <a:cs typeface="Arial"/>
              <a:sym typeface="Arial"/>
            </a:endParaRPr>
          </a:p>
          <a:p>
            <a:pPr marL="342900" marR="0" lvl="0" indent="-342900" algn="l" rtl="0">
              <a:lnSpc>
                <a:spcPct val="100000"/>
              </a:lnSpc>
              <a:spcBef>
                <a:spcPts val="0"/>
              </a:spcBef>
              <a:spcAft>
                <a:spcPts val="0"/>
              </a:spcAft>
              <a:buClr>
                <a:srgbClr val="666666"/>
              </a:buClr>
              <a:buSzPts val="1170"/>
              <a:buFont typeface="Arial"/>
              <a:buChar char="•"/>
            </a:pPr>
            <a:r>
              <a:rPr lang="en-US" sz="1200">
                <a:solidFill>
                  <a:schemeClr val="dk1"/>
                </a:solidFill>
                <a:latin typeface="Arial"/>
                <a:ea typeface="Arial"/>
                <a:cs typeface="Arial"/>
                <a:sym typeface="Arial"/>
              </a:rPr>
              <a:t>Infrastructure for Kubernetes</a:t>
            </a:r>
            <a:endParaRPr sz="16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200">
                <a:solidFill>
                  <a:schemeClr val="dk1"/>
                </a:solidFill>
                <a:latin typeface="Arial"/>
                <a:ea typeface="Arial"/>
                <a:cs typeface="Arial"/>
                <a:sym typeface="Arial"/>
              </a:rPr>
              <a:t>Private AI</a:t>
            </a:r>
            <a:endParaRPr/>
          </a:p>
          <a:p>
            <a:pPr marL="0" lvl="0" indent="0" algn="l" rtl="0">
              <a:spcBef>
                <a:spcPts val="0"/>
              </a:spcBef>
              <a:spcAft>
                <a:spcPts val="0"/>
              </a:spcAft>
              <a:buClr>
                <a:schemeClr val="dk1"/>
              </a:buClr>
              <a:buSzPts val="1200"/>
              <a:buFont typeface="Arial"/>
              <a:buNone/>
            </a:pPr>
            <a:endParaRPr/>
          </a:p>
        </p:txBody>
      </p:sp>
      <p:sp>
        <p:nvSpPr>
          <p:cNvPr id="8032" name="Google Shape;8032;p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4"/>
        <p:cNvGrpSpPr/>
        <p:nvPr/>
      </p:nvGrpSpPr>
      <p:grpSpPr>
        <a:xfrm>
          <a:off x="0" y="0"/>
          <a:ext cx="0" cy="0"/>
          <a:chOff x="0" y="0"/>
          <a:chExt cx="0" cy="0"/>
        </a:xfrm>
      </p:grpSpPr>
      <p:sp>
        <p:nvSpPr>
          <p:cNvPr id="8125" name="Google Shape;8125;p7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6" name="Google Shape;8126;p7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p:txBody>
      </p:sp>
      <p:sp>
        <p:nvSpPr>
          <p:cNvPr id="8127" name="Google Shape;8127;p7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1"/>
        <p:cNvGrpSpPr/>
        <p:nvPr/>
      </p:nvGrpSpPr>
      <p:grpSpPr>
        <a:xfrm>
          <a:off x="0" y="0"/>
          <a:ext cx="0" cy="0"/>
          <a:chOff x="0" y="0"/>
          <a:chExt cx="0" cy="0"/>
        </a:xfrm>
      </p:grpSpPr>
      <p:sp>
        <p:nvSpPr>
          <p:cNvPr id="8132" name="Google Shape;8132;p7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3" name="Google Shape;8133;p7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Key Message</a:t>
            </a:r>
            <a:r>
              <a:rPr lang="en-US" sz="1200">
                <a:solidFill>
                  <a:schemeClr val="dk1"/>
                </a:solidFill>
                <a:latin typeface="Arial"/>
                <a:ea typeface="Arial"/>
                <a:cs typeface="Arial"/>
                <a:sym typeface="Arial"/>
              </a:rPr>
              <a:t>: </a:t>
            </a:r>
            <a:endParaRPr/>
          </a:p>
          <a:p>
            <a:pPr marL="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vSphere Supervisor is an integral part of the Cloud Experience story.</a:t>
            </a:r>
            <a:endParaRPr/>
          </a:p>
          <a:p>
            <a:pPr marL="0" marR="0" lvl="0" indent="0" algn="l" rtl="0">
              <a:lnSpc>
                <a:spcPct val="100000"/>
              </a:lnSpc>
              <a:spcBef>
                <a:spcPts val="0"/>
              </a:spcBef>
              <a:spcAft>
                <a:spcPts val="0"/>
              </a:spcAft>
              <a:buClr>
                <a:schemeClr val="dk1"/>
              </a:buClr>
              <a:buSzPts val="1200"/>
              <a:buFont typeface="Arial"/>
              <a:buNone/>
            </a:pPr>
            <a:br>
              <a:rPr lang="en-US" sz="1200">
                <a:solidFill>
                  <a:schemeClr val="dk1"/>
                </a:solidFill>
                <a:latin typeface="Arial"/>
                <a:ea typeface="Arial"/>
                <a:cs typeface="Arial"/>
                <a:sym typeface="Arial"/>
              </a:rPr>
            </a:br>
            <a:r>
              <a:rPr lang="en-US" sz="1200" b="1">
                <a:solidFill>
                  <a:schemeClr val="dk1"/>
                </a:solidFill>
                <a:latin typeface="Arial"/>
                <a:ea typeface="Arial"/>
                <a:cs typeface="Arial"/>
                <a:sym typeface="Arial"/>
              </a:rPr>
              <a:t>Talk Track</a:t>
            </a:r>
            <a:r>
              <a:rPr lang="en-US" sz="12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vSphere Supervisor is an embedded Declarative API allowing customers to deploy and manage Virtual Machines, Kubernetes clusters, and other resources, all on the same platform and using a unified set of tools. </a:t>
            </a:r>
            <a:endParaRPr/>
          </a:p>
          <a:p>
            <a:pPr marL="0" marR="0" lvl="0" indent="0" algn="l" rtl="0">
              <a:lnSpc>
                <a:spcPct val="100000"/>
              </a:lnSpc>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On enablement it provides a set of Core Supervisor Services, which include:</a:t>
            </a:r>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vSphere Kubernetes Service (VKS) – allowing customers to deploy and manage fully conformant Kubernetes clusters</a:t>
            </a:r>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VM Service – allowing customers to deploy Virtual Machines using desired state </a:t>
            </a:r>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Network Service – allowing customers to deploy load balancers on-demand</a:t>
            </a:r>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Storage and Data Services – allowing customers to deploy Persistent Volumes on-demand</a:t>
            </a:r>
            <a:endParaRPr/>
          </a:p>
          <a:p>
            <a:pPr marL="0" marR="0" lvl="0" indent="0" algn="l" rtl="0">
              <a:lnSpc>
                <a:spcPct val="100000"/>
              </a:lnSpc>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Customers can deploy additional Supervisor Services to provided additional functionality for their workloads, like an Image Registry (Harbor) or a Secret Store</a:t>
            </a:r>
            <a:endParaRPr/>
          </a:p>
          <a:p>
            <a:pPr marL="0" marR="0" lvl="0" indent="0" algn="l" rtl="0">
              <a:lnSpc>
                <a:spcPct val="100000"/>
              </a:lnSpc>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vSphere Supervisor is a Kubernetes-based ecosystem that’s highly extensible allowing us to introduce new Services while maintaining the same consumption experience.</a:t>
            </a:r>
            <a:endParaRPr/>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Notes</a:t>
            </a:r>
            <a:r>
              <a:rPr lang="en-US" sz="1200" u="none" strike="noStrike">
                <a:solidFill>
                  <a:schemeClr val="dk1"/>
                </a:solidFill>
                <a:latin typeface="Arial"/>
                <a:ea typeface="Arial"/>
                <a:cs typeface="Arial"/>
                <a:sym typeface="Arial"/>
              </a:rPr>
              <a:t>:</a:t>
            </a:r>
            <a:endParaRPr/>
          </a:p>
          <a:p>
            <a:pPr marL="0" lvl="0" indent="0" algn="l" rtl="0">
              <a:lnSpc>
                <a:spcPct val="100000"/>
              </a:lnSpc>
              <a:spcBef>
                <a:spcPts val="0"/>
              </a:spcBef>
              <a:spcAft>
                <a:spcPts val="0"/>
              </a:spcAft>
              <a:buClr>
                <a:schemeClr val="dk1"/>
              </a:buClr>
              <a:buSzPts val="1200"/>
              <a:buFont typeface="Arial"/>
              <a:buNone/>
            </a:pPr>
            <a:br>
              <a:rPr lang="en-US" sz="1200">
                <a:solidFill>
                  <a:schemeClr val="dk1"/>
                </a:solidFill>
                <a:latin typeface="Arial"/>
                <a:ea typeface="Arial"/>
                <a:cs typeface="Arial"/>
                <a:sym typeface="Arial"/>
              </a:rPr>
            </a:br>
            <a:r>
              <a:rPr lang="en-US" sz="1200" b="1">
                <a:solidFill>
                  <a:schemeClr val="dk1"/>
                </a:solidFill>
                <a:latin typeface="Arial"/>
                <a:ea typeface="Arial"/>
                <a:cs typeface="Arial"/>
                <a:sym typeface="Arial"/>
              </a:rPr>
              <a:t>Resources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p:txBody>
      </p:sp>
      <p:sp>
        <p:nvSpPr>
          <p:cNvPr id="8134" name="Google Shape;8134;p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24</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0"/>
        <p:cNvGrpSpPr/>
        <p:nvPr/>
      </p:nvGrpSpPr>
      <p:grpSpPr>
        <a:xfrm>
          <a:off x="0" y="0"/>
          <a:ext cx="0" cy="0"/>
          <a:chOff x="0" y="0"/>
          <a:chExt cx="0" cy="0"/>
        </a:xfrm>
      </p:grpSpPr>
      <p:sp>
        <p:nvSpPr>
          <p:cNvPr id="8231" name="Google Shape;8231;p7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2" name="Google Shape;8232;p7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rgbClr val="222222"/>
              </a:buClr>
              <a:buSzPts val="1200"/>
              <a:buFont typeface="Arial"/>
              <a:buNone/>
            </a:pPr>
            <a:r>
              <a:rPr lang="en-US" b="1" i="0">
                <a:solidFill>
                  <a:srgbClr val="222222"/>
                </a:solidFill>
                <a:latin typeface="Arial"/>
                <a:ea typeface="Arial"/>
                <a:cs typeface="Arial"/>
                <a:sym typeface="Arial"/>
              </a:rPr>
              <a:t>Key Message:</a:t>
            </a:r>
            <a:br>
              <a:rPr lang="en-US" b="0" i="0">
                <a:solidFill>
                  <a:srgbClr val="222222"/>
                </a:solidFill>
                <a:latin typeface="Arial"/>
                <a:ea typeface="Arial"/>
                <a:cs typeface="Arial"/>
                <a:sym typeface="Arial"/>
              </a:rPr>
            </a:br>
            <a:r>
              <a:rPr lang="en-US" b="0" i="0">
                <a:solidFill>
                  <a:srgbClr val="222222"/>
                </a:solidFill>
                <a:latin typeface="Arial"/>
                <a:ea typeface="Arial"/>
                <a:cs typeface="Arial"/>
                <a:sym typeface="Arial"/>
              </a:rPr>
              <a:t>Cloud admins can quickly and easily enable vSphere Supervisor as part of the Workload Domain creation.</a:t>
            </a:r>
            <a:br>
              <a:rPr lang="en-US" b="0" i="0">
                <a:solidFill>
                  <a:srgbClr val="222222"/>
                </a:solidFill>
                <a:latin typeface="Arial"/>
                <a:ea typeface="Arial"/>
                <a:cs typeface="Arial"/>
                <a:sym typeface="Arial"/>
              </a:rPr>
            </a:br>
            <a:br>
              <a:rPr lang="en-US" b="0" i="0">
                <a:solidFill>
                  <a:srgbClr val="222222"/>
                </a:solidFill>
                <a:latin typeface="Arial"/>
                <a:ea typeface="Arial"/>
                <a:cs typeface="Arial"/>
                <a:sym typeface="Arial"/>
              </a:rPr>
            </a:br>
            <a:r>
              <a:rPr lang="en-US" b="1" i="0">
                <a:solidFill>
                  <a:srgbClr val="222222"/>
                </a:solidFill>
                <a:latin typeface="Arial"/>
                <a:ea typeface="Arial"/>
                <a:cs typeface="Arial"/>
                <a:sym typeface="Arial"/>
              </a:rPr>
              <a:t>Talk Track:</a:t>
            </a:r>
            <a:br>
              <a:rPr lang="en-US" b="1" i="0">
                <a:solidFill>
                  <a:srgbClr val="222222"/>
                </a:solidFill>
                <a:latin typeface="Arial"/>
                <a:ea typeface="Arial"/>
                <a:cs typeface="Arial"/>
                <a:sym typeface="Arial"/>
              </a:rPr>
            </a:br>
            <a:r>
              <a:rPr lang="en-US" b="0" i="0">
                <a:solidFill>
                  <a:srgbClr val="222222"/>
                </a:solidFill>
                <a:latin typeface="Arial"/>
                <a:ea typeface="Arial"/>
                <a:cs typeface="Arial"/>
                <a:sym typeface="Arial"/>
              </a:rPr>
              <a:t>VCF Operations contains an in-built workflows to create new Workload Domains pre-configured with the vSphere Supervisor. This option provides an opinionated way of deploying Supervisor and relies on minimal input from customers. This deployment model utilises NSX Projects and VPCs which can be selected from the drop-down menu. </a:t>
            </a:r>
            <a:endParaRPr/>
          </a:p>
          <a:p>
            <a:pPr marL="0" lvl="0" indent="0" algn="l" rtl="0">
              <a:spcBef>
                <a:spcPts val="0"/>
              </a:spcBef>
              <a:spcAft>
                <a:spcPts val="0"/>
              </a:spcAft>
              <a:buClr>
                <a:schemeClr val="dk1"/>
              </a:buClr>
              <a:buSzPts val="1200"/>
              <a:buFont typeface="Arial"/>
              <a:buNone/>
            </a:pPr>
            <a:endParaRPr b="0" i="0">
              <a:solidFill>
                <a:srgbClr val="222222"/>
              </a:solidFill>
              <a:latin typeface="Arial"/>
              <a:ea typeface="Arial"/>
              <a:cs typeface="Arial"/>
              <a:sym typeface="Arial"/>
            </a:endParaRPr>
          </a:p>
          <a:p>
            <a:pPr marL="0" lvl="0" indent="0" algn="l" rtl="0">
              <a:spcBef>
                <a:spcPts val="0"/>
              </a:spcBef>
              <a:spcAft>
                <a:spcPts val="0"/>
              </a:spcAft>
              <a:buClr>
                <a:srgbClr val="222222"/>
              </a:buClr>
              <a:buSzPts val="1200"/>
              <a:buFont typeface="Arial"/>
              <a:buNone/>
            </a:pPr>
            <a:r>
              <a:rPr lang="en-US" b="1" i="0">
                <a:solidFill>
                  <a:srgbClr val="222222"/>
                </a:solidFill>
                <a:latin typeface="Arial"/>
                <a:ea typeface="Arial"/>
                <a:cs typeface="Arial"/>
                <a:sym typeface="Arial"/>
              </a:rPr>
              <a:t>Notes:</a:t>
            </a:r>
            <a:br>
              <a:rPr lang="en-US" b="0" i="0">
                <a:solidFill>
                  <a:srgbClr val="222222"/>
                </a:solidFill>
                <a:latin typeface="Arial"/>
                <a:ea typeface="Arial"/>
                <a:cs typeface="Arial"/>
                <a:sym typeface="Arial"/>
              </a:rPr>
            </a:br>
            <a:r>
              <a:rPr lang="en-US" b="0" i="0">
                <a:solidFill>
                  <a:srgbClr val="222222"/>
                </a:solidFill>
                <a:latin typeface="Arial"/>
                <a:ea typeface="Arial"/>
                <a:cs typeface="Arial"/>
                <a:sym typeface="Arial"/>
              </a:rPr>
              <a:t>Customers must complete NSX Edge deployment after the WLD creation.</a:t>
            </a:r>
            <a:endParaRPr/>
          </a:p>
          <a:p>
            <a:pPr marL="171450" lvl="0" indent="-95250" algn="l" rtl="0">
              <a:spcBef>
                <a:spcPts val="0"/>
              </a:spcBef>
              <a:spcAft>
                <a:spcPts val="0"/>
              </a:spcAft>
              <a:buClr>
                <a:schemeClr val="dk1"/>
              </a:buClr>
              <a:buSzPts val="1200"/>
              <a:buFont typeface="Arial"/>
              <a:buNone/>
            </a:pPr>
            <a:endParaRPr b="0" i="0">
              <a:solidFill>
                <a:srgbClr val="222222"/>
              </a:solidFill>
              <a:latin typeface="Arial"/>
              <a:ea typeface="Arial"/>
              <a:cs typeface="Arial"/>
              <a:sym typeface="Arial"/>
            </a:endParaRPr>
          </a:p>
          <a:p>
            <a:pPr marL="0" lvl="0" indent="0" algn="l" rtl="0">
              <a:spcBef>
                <a:spcPts val="0"/>
              </a:spcBef>
              <a:spcAft>
                <a:spcPts val="0"/>
              </a:spcAft>
              <a:buNone/>
            </a:pPr>
            <a:r>
              <a:rPr lang="en-US" b="1" i="0">
                <a:solidFill>
                  <a:srgbClr val="222222"/>
                </a:solidFill>
                <a:latin typeface="Arial"/>
                <a:ea typeface="Arial"/>
                <a:cs typeface="Arial"/>
                <a:sym typeface="Arial"/>
              </a:rPr>
              <a:t>Resources:</a:t>
            </a:r>
            <a:endParaRPr b="0" i="0">
              <a:solidFill>
                <a:srgbClr val="222222"/>
              </a:solidFill>
              <a:latin typeface="Arial"/>
              <a:ea typeface="Arial"/>
              <a:cs typeface="Arial"/>
              <a:sym typeface="Arial"/>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8233" name="Google Shape;8233;p7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25</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2"/>
        <p:cNvGrpSpPr/>
        <p:nvPr/>
      </p:nvGrpSpPr>
      <p:grpSpPr>
        <a:xfrm>
          <a:off x="0" y="0"/>
          <a:ext cx="0" cy="0"/>
          <a:chOff x="0" y="0"/>
          <a:chExt cx="0" cy="0"/>
        </a:xfrm>
      </p:grpSpPr>
      <p:sp>
        <p:nvSpPr>
          <p:cNvPr id="8243" name="Google Shape;8243;p7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44" name="Google Shape;8244;p7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lnSpcReduction="10000"/>
          </a:bodyPr>
          <a:lstStyle/>
          <a:p>
            <a:pPr marL="0" marR="0" lvl="0" indent="0" algn="l" rtl="0">
              <a:lnSpc>
                <a:spcPct val="100000"/>
              </a:lnSpc>
              <a:spcBef>
                <a:spcPts val="0"/>
              </a:spcBef>
              <a:spcAft>
                <a:spcPts val="0"/>
              </a:spcAft>
              <a:buClr>
                <a:srgbClr val="222222"/>
              </a:buClr>
              <a:buSzPts val="1110"/>
              <a:buFont typeface="Arial"/>
              <a:buNone/>
            </a:pPr>
            <a:r>
              <a:rPr lang="en-US" sz="1110" b="1" i="0">
                <a:solidFill>
                  <a:srgbClr val="222222"/>
                </a:solidFill>
                <a:latin typeface="Arial"/>
                <a:ea typeface="Arial"/>
                <a:cs typeface="Arial"/>
                <a:sym typeface="Arial"/>
              </a:rPr>
              <a:t>Key Message:</a:t>
            </a:r>
            <a:br>
              <a:rPr lang="en-US" sz="1110" b="0" i="0">
                <a:solidFill>
                  <a:srgbClr val="222222"/>
                </a:solidFill>
                <a:latin typeface="Arial"/>
                <a:ea typeface="Arial"/>
                <a:cs typeface="Arial"/>
                <a:sym typeface="Arial"/>
              </a:rPr>
            </a:br>
            <a:r>
              <a:rPr lang="en-US" sz="1110" b="0" i="0">
                <a:solidFill>
                  <a:srgbClr val="FFFFFF"/>
                </a:solidFill>
                <a:highlight>
                  <a:srgbClr val="1A1B20"/>
                </a:highlight>
                <a:latin typeface="Arial"/>
                <a:ea typeface="Arial"/>
                <a:cs typeface="Arial"/>
                <a:sym typeface="Arial"/>
              </a:rPr>
              <a:t>vSphere Namespaces are logical units providing resource and network isolation through VPC integration.</a:t>
            </a:r>
            <a:br>
              <a:rPr lang="en-US" sz="1110" b="0" i="0">
                <a:solidFill>
                  <a:srgbClr val="222222"/>
                </a:solidFill>
                <a:latin typeface="Arial"/>
                <a:ea typeface="Arial"/>
                <a:cs typeface="Arial"/>
                <a:sym typeface="Arial"/>
              </a:rPr>
            </a:br>
            <a:br>
              <a:rPr lang="en-US" sz="1110" b="0" i="0">
                <a:solidFill>
                  <a:srgbClr val="222222"/>
                </a:solidFill>
                <a:latin typeface="Arial"/>
                <a:ea typeface="Arial"/>
                <a:cs typeface="Arial"/>
                <a:sym typeface="Arial"/>
              </a:rPr>
            </a:br>
            <a:r>
              <a:rPr lang="en-US" sz="1110" b="1" i="0">
                <a:solidFill>
                  <a:srgbClr val="222222"/>
                </a:solidFill>
                <a:latin typeface="Arial"/>
                <a:ea typeface="Arial"/>
                <a:cs typeface="Arial"/>
                <a:sym typeface="Arial"/>
              </a:rPr>
              <a:t>Talk Track:</a:t>
            </a:r>
            <a:br>
              <a:rPr lang="en-US" sz="1110" b="1" i="0">
                <a:solidFill>
                  <a:srgbClr val="222222"/>
                </a:solidFill>
                <a:latin typeface="Arial"/>
                <a:ea typeface="Arial"/>
                <a:cs typeface="Arial"/>
                <a:sym typeface="Arial"/>
              </a:rPr>
            </a:br>
            <a:r>
              <a:rPr lang="en-US" sz="1110" b="0" i="0">
                <a:solidFill>
                  <a:srgbClr val="FFFFFF"/>
                </a:solidFill>
                <a:highlight>
                  <a:srgbClr val="1A1B20"/>
                </a:highlight>
                <a:latin typeface="Arial"/>
                <a:ea typeface="Arial"/>
                <a:cs typeface="Arial"/>
                <a:sym typeface="Arial"/>
              </a:rPr>
              <a:t>vSphere Namespaces form a resource envelope for workloads. They are similar to resource pools, but with extended capabilities. They allow customers to set resource allocations, quotas, and limits, but also to define storage policies and zones. They also provide basic configuration options for VKS and VM Service, such as configuring Content Libraries and associating VM Classes. </a:t>
            </a:r>
            <a:endParaRPr/>
          </a:p>
          <a:p>
            <a:pPr marL="0" lvl="0" indent="0" algn="l" rtl="0">
              <a:spcBef>
                <a:spcPts val="0"/>
              </a:spcBef>
              <a:spcAft>
                <a:spcPts val="0"/>
              </a:spcAft>
              <a:buNone/>
            </a:pPr>
            <a:endParaRPr sz="1110" b="0" i="0">
              <a:solidFill>
                <a:srgbClr val="FFFFFF"/>
              </a:solidFill>
              <a:highlight>
                <a:srgbClr val="1A1B20"/>
              </a:highlight>
              <a:latin typeface="Arial"/>
              <a:ea typeface="Arial"/>
              <a:cs typeface="Arial"/>
              <a:sym typeface="Arial"/>
            </a:endParaRPr>
          </a:p>
          <a:p>
            <a:pPr marL="0" lvl="0" indent="0" algn="l" rtl="0">
              <a:spcBef>
                <a:spcPts val="0"/>
              </a:spcBef>
              <a:spcAft>
                <a:spcPts val="0"/>
              </a:spcAft>
              <a:buNone/>
            </a:pPr>
            <a:r>
              <a:rPr lang="en-US" sz="1110" b="0" i="0">
                <a:solidFill>
                  <a:srgbClr val="FFFFFF"/>
                </a:solidFill>
                <a:highlight>
                  <a:srgbClr val="1A1B20"/>
                </a:highlight>
                <a:latin typeface="Arial"/>
                <a:ea typeface="Arial"/>
                <a:cs typeface="Arial"/>
                <a:sym typeface="Arial"/>
              </a:rPr>
              <a:t>vSphere Namespaces also provide workload isolation for organisations, whether they want to provide isolation for applications, or perhaps group them by teams. You may also want to split namespaces according to various states of development, such as test, staging, and production.</a:t>
            </a:r>
            <a:endParaRPr/>
          </a:p>
          <a:p>
            <a:pPr marL="0" lvl="0" indent="0" algn="l" rtl="0">
              <a:spcBef>
                <a:spcPts val="0"/>
              </a:spcBef>
              <a:spcAft>
                <a:spcPts val="0"/>
              </a:spcAft>
              <a:buClr>
                <a:schemeClr val="dk1"/>
              </a:buClr>
              <a:buSzPts val="1110"/>
              <a:buFont typeface="Arial"/>
              <a:buNone/>
            </a:pPr>
            <a:endParaRPr sz="1110" b="1" i="0">
              <a:solidFill>
                <a:srgbClr val="222222"/>
              </a:solidFill>
              <a:latin typeface="Arial"/>
              <a:ea typeface="Arial"/>
              <a:cs typeface="Arial"/>
              <a:sym typeface="Arial"/>
            </a:endParaRPr>
          </a:p>
          <a:p>
            <a:pPr marL="0" lvl="0" indent="0" algn="l" rtl="0">
              <a:spcBef>
                <a:spcPts val="0"/>
              </a:spcBef>
              <a:spcAft>
                <a:spcPts val="0"/>
              </a:spcAft>
              <a:buClr>
                <a:srgbClr val="222222"/>
              </a:buClr>
              <a:buSzPts val="1110"/>
              <a:buFont typeface="Arial"/>
              <a:buNone/>
            </a:pPr>
            <a:r>
              <a:rPr lang="en-US" sz="1110" b="0" i="0" u="sng">
                <a:solidFill>
                  <a:srgbClr val="222222"/>
                </a:solidFill>
                <a:latin typeface="Arial"/>
                <a:ea typeface="Arial"/>
                <a:cs typeface="Arial"/>
                <a:sym typeface="Arial"/>
              </a:rPr>
              <a:t>To provide greater network isolation, vSphere namespaces now integrate with VPCs</a:t>
            </a:r>
            <a:r>
              <a:rPr lang="en-US" sz="1110" b="1" i="0">
                <a:solidFill>
                  <a:srgbClr val="222222"/>
                </a:solidFill>
                <a:latin typeface="Arial"/>
                <a:ea typeface="Arial"/>
                <a:cs typeface="Arial"/>
                <a:sym typeface="Arial"/>
              </a:rPr>
              <a:t>. </a:t>
            </a:r>
            <a:r>
              <a:rPr lang="en-US" sz="1110" b="0" i="0" u="none" strike="noStrike">
                <a:solidFill>
                  <a:srgbClr val="CC092F"/>
                </a:solidFill>
                <a:latin typeface="Arial"/>
                <a:ea typeface="Arial"/>
                <a:cs typeface="Arial"/>
                <a:sym typeface="Arial"/>
              </a:rPr>
              <a:t>DevOps teams can configure network isolation via VPCs without needing to understand the details of the underlying network. They may create use existing VPCs, or created their own based on VPC Connectivity Profiles configured by Admins. DevOps teams can also assign their own Private IP ranges as part of VPC creation as these don’t impact other networks.</a:t>
            </a:r>
            <a:endParaRPr/>
          </a:p>
          <a:p>
            <a:pPr marL="0" lvl="0" indent="0" algn="l" rtl="0">
              <a:spcBef>
                <a:spcPts val="0"/>
              </a:spcBef>
              <a:spcAft>
                <a:spcPts val="0"/>
              </a:spcAft>
              <a:buClr>
                <a:schemeClr val="dk1"/>
              </a:buClr>
              <a:buSzPts val="1110"/>
              <a:buFont typeface="Arial"/>
              <a:buNone/>
            </a:pPr>
            <a:endParaRPr sz="1110" b="0" i="0">
              <a:solidFill>
                <a:srgbClr val="222222"/>
              </a:solidFill>
              <a:latin typeface="Arial"/>
              <a:ea typeface="Arial"/>
              <a:cs typeface="Arial"/>
              <a:sym typeface="Arial"/>
            </a:endParaRPr>
          </a:p>
          <a:p>
            <a:pPr marL="0" lvl="0" indent="0" algn="l" rtl="0">
              <a:spcBef>
                <a:spcPts val="0"/>
              </a:spcBef>
              <a:spcAft>
                <a:spcPts val="0"/>
              </a:spcAft>
              <a:buClr>
                <a:srgbClr val="222222"/>
              </a:buClr>
              <a:buSzPts val="1110"/>
              <a:buFont typeface="Arial"/>
              <a:buNone/>
            </a:pPr>
            <a:r>
              <a:rPr lang="en-US" sz="1110" b="1" i="0">
                <a:solidFill>
                  <a:srgbClr val="222222"/>
                </a:solidFill>
                <a:latin typeface="Arial"/>
                <a:ea typeface="Arial"/>
                <a:cs typeface="Arial"/>
                <a:sym typeface="Arial"/>
              </a:rPr>
              <a:t>Notes:</a:t>
            </a:r>
            <a:br>
              <a:rPr lang="en-US" sz="1110" b="0" i="0">
                <a:solidFill>
                  <a:srgbClr val="222222"/>
                </a:solidFill>
                <a:latin typeface="Arial"/>
                <a:ea typeface="Arial"/>
                <a:cs typeface="Arial"/>
                <a:sym typeface="Arial"/>
              </a:rPr>
            </a:br>
            <a:r>
              <a:rPr lang="en-US" sz="1110" b="0" i="0" u="none" strike="noStrike">
                <a:solidFill>
                  <a:srgbClr val="CC092F"/>
                </a:solidFill>
                <a:latin typeface="Arial"/>
                <a:ea typeface="Arial"/>
                <a:cs typeface="Arial"/>
                <a:sym typeface="Arial"/>
              </a:rPr>
              <a:t>Admins will have assigned VPC Connectivity and Service Profiles to the DevOps users.  Those profiles contain things like the NSX Edge, T0, External IP Blocks, Transit Gateway and Private TGW IP blocks so DevOps doesn’t need to be concerned with them.</a:t>
            </a:r>
            <a:endParaRPr/>
          </a:p>
          <a:p>
            <a:pPr marL="0" lvl="0" indent="0" algn="l" rtl="0">
              <a:spcBef>
                <a:spcPts val="0"/>
              </a:spcBef>
              <a:spcAft>
                <a:spcPts val="0"/>
              </a:spcAft>
              <a:buClr>
                <a:srgbClr val="CC092F"/>
              </a:buClr>
              <a:buSzPts val="1110"/>
              <a:buFont typeface="Arial"/>
              <a:buNone/>
            </a:pPr>
            <a:r>
              <a:rPr lang="en-US" sz="1110" b="0" i="0" u="none" strike="noStrike">
                <a:solidFill>
                  <a:srgbClr val="CC092F"/>
                </a:solidFill>
                <a:latin typeface="Arial"/>
                <a:ea typeface="Arial"/>
                <a:cs typeface="Arial"/>
                <a:sym typeface="Arial"/>
              </a:rPr>
              <a:t>DevOps may create their own VPC based on those profiles or use preconfigured VPCs assigned to them. </a:t>
            </a:r>
            <a:endParaRPr sz="1110" b="0" i="0">
              <a:solidFill>
                <a:srgbClr val="222222"/>
              </a:solidFill>
              <a:latin typeface="Arial"/>
              <a:ea typeface="Arial"/>
              <a:cs typeface="Arial"/>
              <a:sym typeface="Arial"/>
            </a:endParaRPr>
          </a:p>
          <a:p>
            <a:pPr marL="171450" lvl="0" indent="-100965" algn="l" rtl="0">
              <a:spcBef>
                <a:spcPts val="0"/>
              </a:spcBef>
              <a:spcAft>
                <a:spcPts val="0"/>
              </a:spcAft>
              <a:buClr>
                <a:schemeClr val="dk1"/>
              </a:buClr>
              <a:buSzPts val="1110"/>
              <a:buFont typeface="Arial"/>
              <a:buNone/>
            </a:pPr>
            <a:endParaRPr sz="1110" b="0" i="0">
              <a:solidFill>
                <a:srgbClr val="222222"/>
              </a:solidFill>
              <a:latin typeface="Arial"/>
              <a:ea typeface="Arial"/>
              <a:cs typeface="Arial"/>
              <a:sym typeface="Arial"/>
            </a:endParaRPr>
          </a:p>
          <a:p>
            <a:pPr marL="0" lvl="0" indent="0" algn="l" rtl="0">
              <a:spcBef>
                <a:spcPts val="0"/>
              </a:spcBef>
              <a:spcAft>
                <a:spcPts val="0"/>
              </a:spcAft>
              <a:buNone/>
            </a:pPr>
            <a:r>
              <a:rPr lang="en-US" sz="1110" b="1" i="0">
                <a:solidFill>
                  <a:srgbClr val="222222"/>
                </a:solidFill>
                <a:latin typeface="Arial"/>
                <a:ea typeface="Arial"/>
                <a:cs typeface="Arial"/>
                <a:sym typeface="Arial"/>
              </a:rPr>
              <a:t>Resources:</a:t>
            </a:r>
            <a:endParaRPr sz="1110" b="0" i="0">
              <a:solidFill>
                <a:srgbClr val="222222"/>
              </a:solidFill>
              <a:latin typeface="Arial"/>
              <a:ea typeface="Arial"/>
              <a:cs typeface="Arial"/>
              <a:sym typeface="Arial"/>
            </a:endParaRPr>
          </a:p>
          <a:p>
            <a:pPr marL="0" lvl="0" indent="0" algn="l" rtl="0">
              <a:spcBef>
                <a:spcPts val="0"/>
              </a:spcBef>
              <a:spcAft>
                <a:spcPts val="0"/>
              </a:spcAft>
              <a:buNone/>
            </a:pPr>
            <a:endParaRPr sz="1110" b="0" i="0">
              <a:solidFill>
                <a:srgbClr val="FFFFFF"/>
              </a:solidFill>
              <a:highlight>
                <a:srgbClr val="1A1B20"/>
              </a:highlight>
              <a:latin typeface="Arial"/>
              <a:ea typeface="Arial"/>
              <a:cs typeface="Arial"/>
              <a:sym typeface="Arial"/>
            </a:endParaRPr>
          </a:p>
          <a:p>
            <a:pPr marL="0" lvl="0" indent="0" algn="l" rtl="0">
              <a:spcBef>
                <a:spcPts val="0"/>
              </a:spcBef>
              <a:spcAft>
                <a:spcPts val="0"/>
              </a:spcAft>
              <a:buNone/>
            </a:pPr>
            <a:endParaRPr sz="1110"/>
          </a:p>
        </p:txBody>
      </p:sp>
      <p:sp>
        <p:nvSpPr>
          <p:cNvPr id="8245" name="Google Shape;8245;p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6"/>
        <p:cNvGrpSpPr/>
        <p:nvPr/>
      </p:nvGrpSpPr>
      <p:grpSpPr>
        <a:xfrm>
          <a:off x="0" y="0"/>
          <a:ext cx="0" cy="0"/>
          <a:chOff x="0" y="0"/>
          <a:chExt cx="0" cy="0"/>
        </a:xfrm>
      </p:grpSpPr>
      <p:sp>
        <p:nvSpPr>
          <p:cNvPr id="8327" name="Google Shape;8327;p75: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28" name="Google Shape;8328;p75: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Key Message</a:t>
            </a:r>
            <a:r>
              <a:rPr lang="en-US" sz="12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Customers can now create dedicated workload zones separated from management.</a:t>
            </a:r>
            <a:endParaRPr/>
          </a:p>
          <a:p>
            <a:pPr marL="0" marR="0" lvl="0" indent="0" algn="l" rtl="0">
              <a:lnSpc>
                <a:spcPct val="100000"/>
              </a:lnSpc>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Talk Track</a:t>
            </a:r>
            <a:r>
              <a:rPr lang="en-US" sz="12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latin typeface="Arial"/>
                <a:ea typeface="Arial"/>
                <a:cs typeface="Arial"/>
                <a:sym typeface="Arial"/>
              </a:rPr>
              <a:t>Customers can now easily increase Supervisor Additional vSphere Zones can easily be added to Supervisor capacity. You do not need to deploy Supervisor control plane VMs on each cluster - although that option is still available to you. Additional vSphere clusters are added as a vSphere Zone to the Supervisor.</a:t>
            </a:r>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0" i="0" u="none" strike="noStrike">
                <a:solidFill>
                  <a:schemeClr val="dk1"/>
                </a:solidFill>
                <a:latin typeface="Arial"/>
                <a:ea typeface="Arial"/>
                <a:cs typeface="Arial"/>
                <a:sym typeface="Arial"/>
              </a:rPr>
              <a:t>This also allows for the Supervisor control plane VMs to be segregated from workload VMs and vSphere Kubernetes clusters on separate vSphere clusters / vSphere Zones.</a:t>
            </a:r>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0" i="0" u="none" strike="noStrike">
                <a:solidFill>
                  <a:schemeClr val="dk1"/>
                </a:solidFill>
                <a:latin typeface="Arial"/>
                <a:ea typeface="Arial"/>
                <a:cs typeface="Arial"/>
                <a:sym typeface="Arial"/>
              </a:rPr>
              <a:t>vSphere namespaces can be created to span one or more vSphere clusters / vSphere Zones.</a:t>
            </a:r>
            <a:endParaRPr/>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latin typeface="Arial"/>
              <a:ea typeface="Arial"/>
              <a:cs typeface="Arial"/>
              <a:sym typeface="Arial"/>
            </a:endParaRPr>
          </a:p>
          <a:p>
            <a:pPr marL="0" lvl="0" indent="0" algn="l" rtl="0">
              <a:lnSpc>
                <a:spcPct val="100000"/>
              </a:lnSpc>
              <a:spcBef>
                <a:spcPts val="0"/>
              </a:spcBef>
              <a:spcAft>
                <a:spcPts val="0"/>
              </a:spcAft>
              <a:buNone/>
            </a:pPr>
            <a:r>
              <a:rPr lang="en-US" sz="1200" b="1" u="none" strike="noStrike">
                <a:solidFill>
                  <a:schemeClr val="dk1"/>
                </a:solidFill>
                <a:latin typeface="Arial"/>
                <a:ea typeface="Arial"/>
                <a:cs typeface="Arial"/>
                <a:sym typeface="Arial"/>
              </a:rPr>
              <a:t>Notes</a:t>
            </a:r>
            <a:r>
              <a:rPr lang="en-US" sz="1200" u="none" strike="noStrike">
                <a:solidFill>
                  <a:schemeClr val="dk1"/>
                </a:solidFill>
                <a:latin typeface="Arial"/>
                <a:ea typeface="Arial"/>
                <a:cs typeface="Arial"/>
                <a:sym typeface="Arial"/>
              </a:rPr>
              <a:t>: </a:t>
            </a:r>
            <a:endParaRPr/>
          </a:p>
          <a:p>
            <a:pPr marL="0" lvl="0" indent="0" algn="l" rtl="0">
              <a:lnSpc>
                <a:spcPct val="100000"/>
              </a:lnSpc>
              <a:spcBef>
                <a:spcPts val="0"/>
              </a:spcBef>
              <a:spcAft>
                <a:spcPts val="0"/>
              </a:spcAft>
              <a:buNone/>
            </a:pPr>
            <a:r>
              <a:rPr lang="en-US" sz="1200" u="none" strike="noStrike">
                <a:solidFill>
                  <a:schemeClr val="dk1"/>
                </a:solidFill>
                <a:latin typeface="Arial"/>
                <a:ea typeface="Arial"/>
                <a:cs typeface="Arial"/>
                <a:sym typeface="Arial"/>
              </a:rPr>
              <a:t>The first zone created during Supervisor enablement will be marked as Management.</a:t>
            </a:r>
            <a:endParaRPr/>
          </a:p>
          <a:p>
            <a:pPr marL="0" lvl="0" indent="0" algn="l" rtl="0">
              <a:lnSpc>
                <a:spcPct val="100000"/>
              </a:lnSpc>
              <a:spcBef>
                <a:spcPts val="0"/>
              </a:spcBef>
              <a:spcAft>
                <a:spcPts val="0"/>
              </a:spcAft>
              <a:buNone/>
            </a:pPr>
            <a:br>
              <a:rPr lang="en-US" sz="1200">
                <a:solidFill>
                  <a:schemeClr val="dk1"/>
                </a:solidFill>
                <a:latin typeface="Arial"/>
                <a:ea typeface="Arial"/>
                <a:cs typeface="Arial"/>
                <a:sym typeface="Arial"/>
              </a:rPr>
            </a:br>
            <a:r>
              <a:rPr lang="en-US" sz="1200" b="1">
                <a:solidFill>
                  <a:schemeClr val="dk1"/>
                </a:solidFill>
                <a:latin typeface="Arial"/>
                <a:ea typeface="Arial"/>
                <a:cs typeface="Arial"/>
                <a:sym typeface="Arial"/>
              </a:rPr>
              <a:t>Resources</a:t>
            </a:r>
            <a:r>
              <a:rPr lang="en-US" sz="1200">
                <a:solidFill>
                  <a:schemeClr val="dk1"/>
                </a:solidFill>
                <a:latin typeface="Arial"/>
                <a:ea typeface="Arial"/>
                <a:cs typeface="Arial"/>
                <a:sym typeface="Arial"/>
              </a:rPr>
              <a:t>:</a:t>
            </a:r>
            <a:endParaRPr/>
          </a:p>
          <a:p>
            <a:pPr marL="0" lvl="0" indent="0" algn="l" rtl="0">
              <a:lnSpc>
                <a:spcPct val="100000"/>
              </a:lnSpc>
              <a:spcBef>
                <a:spcPts val="0"/>
              </a:spcBef>
              <a:spcAft>
                <a:spcPts val="0"/>
              </a:spcAft>
              <a:buNone/>
            </a:pP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None/>
            </a:pPr>
            <a:endParaRPr sz="1200">
              <a:solidFill>
                <a:schemeClr val="dk1"/>
              </a:solidFill>
              <a:latin typeface="Arial"/>
              <a:ea typeface="Arial"/>
              <a:cs typeface="Arial"/>
              <a:sym typeface="Arial"/>
            </a:endParaRPr>
          </a:p>
          <a:p>
            <a:pPr marL="0" lvl="0" indent="0" algn="l" rtl="0">
              <a:spcBef>
                <a:spcPts val="0"/>
              </a:spcBef>
              <a:spcAft>
                <a:spcPts val="0"/>
              </a:spcAft>
              <a:buNone/>
            </a:pPr>
            <a:endParaRPr/>
          </a:p>
        </p:txBody>
      </p:sp>
      <p:sp>
        <p:nvSpPr>
          <p:cNvPr id="8329" name="Google Shape;8329;p7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27</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5"/>
        <p:cNvGrpSpPr/>
        <p:nvPr/>
      </p:nvGrpSpPr>
      <p:grpSpPr>
        <a:xfrm>
          <a:off x="0" y="0"/>
          <a:ext cx="0" cy="0"/>
          <a:chOff x="0" y="0"/>
          <a:chExt cx="0" cy="0"/>
        </a:xfrm>
      </p:grpSpPr>
      <p:sp>
        <p:nvSpPr>
          <p:cNvPr id="8526" name="Google Shape;8526;p7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7" name="Google Shape;8527;p7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Key Message</a:t>
            </a:r>
            <a:r>
              <a:rPr lang="en-US" sz="12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chemeClr val="dk1"/>
              </a:buClr>
              <a:buSzPts val="1200"/>
              <a:buFont typeface="Helvetica Neue"/>
              <a:buNone/>
            </a:pPr>
            <a:r>
              <a:rPr lang="en-US">
                <a:latin typeface="Helvetica Neue"/>
                <a:ea typeface="Helvetica Neue"/>
                <a:cs typeface="Helvetica Neue"/>
                <a:sym typeface="Helvetica Neue"/>
              </a:rPr>
              <a:t>VI Admins can delegate permissions to Platform Operators to allow them to perform Supervisor management tasks</a:t>
            </a:r>
            <a:endParaRPr/>
          </a:p>
          <a:p>
            <a:pPr marL="0" marR="0" lvl="0" indent="0" algn="l" rtl="0">
              <a:lnSpc>
                <a:spcPct val="100000"/>
              </a:lnSpc>
              <a:spcBef>
                <a:spcPts val="0"/>
              </a:spcBef>
              <a:spcAft>
                <a:spcPts val="0"/>
              </a:spcAft>
              <a:buClr>
                <a:schemeClr val="dk1"/>
              </a:buClr>
              <a:buSzPts val="1200"/>
              <a:buFont typeface="Arial"/>
              <a:buNone/>
            </a:pPr>
            <a:br>
              <a:rPr lang="en-US" sz="1200">
                <a:solidFill>
                  <a:schemeClr val="dk1"/>
                </a:solidFill>
                <a:latin typeface="Arial"/>
                <a:ea typeface="Arial"/>
                <a:cs typeface="Arial"/>
                <a:sym typeface="Arial"/>
              </a:rPr>
            </a:br>
            <a:r>
              <a:rPr lang="en-US" sz="1200" b="1">
                <a:solidFill>
                  <a:schemeClr val="dk1"/>
                </a:solidFill>
                <a:latin typeface="Arial"/>
                <a:ea typeface="Arial"/>
                <a:cs typeface="Arial"/>
                <a:sym typeface="Arial"/>
              </a:rPr>
              <a:t>Talk Track</a:t>
            </a:r>
            <a:r>
              <a:rPr lang="en-US" sz="12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chemeClr val="dk1"/>
              </a:buClr>
              <a:buSzPts val="1200"/>
              <a:buFont typeface="Helvetica Neue"/>
              <a:buNone/>
            </a:pPr>
            <a:r>
              <a:rPr lang="en-US">
                <a:latin typeface="Helvetica Neue"/>
                <a:ea typeface="Helvetica Neue"/>
                <a:cs typeface="Helvetica Neue"/>
                <a:sym typeface="Helvetica Neue"/>
              </a:rPr>
              <a:t>Because administration of a Supervisor and its services involves a combination of vCenter and Supervisor cluster privileges, it was challenging to delegate Supervisor specific responsibilities to on VI Admin users.   Now the Supervisor honors VC permissions, enabling the VI Admin to assign the Supervisor Administrator Role to users.   This means that corresponding Kubernetes Roles are created to map to the VC permissions.  Supervisor Administrators can do things like configuring Namespaces - setting limits, adding reservations, handling access control, or managing storage policies- without full administrative access.  The administrator Role extends beyond an individual Supervisor and allows configuration of the Supervisor and its supporting services.</a:t>
            </a:r>
            <a:endParaRPr/>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Notes</a:t>
            </a:r>
            <a:r>
              <a:rPr lang="en-US" sz="1200" u="none" strike="noStrike">
                <a:solidFill>
                  <a:schemeClr val="dk1"/>
                </a:solidFill>
                <a:latin typeface="Arial"/>
                <a:ea typeface="Arial"/>
                <a:cs typeface="Arial"/>
                <a:sym typeface="Arial"/>
              </a:rPr>
              <a:t>:</a:t>
            </a:r>
            <a:endParaRPr/>
          </a:p>
          <a:p>
            <a:pPr marL="0" lvl="0" indent="0" algn="l" rtl="0">
              <a:lnSpc>
                <a:spcPct val="100000"/>
              </a:lnSpc>
              <a:spcBef>
                <a:spcPts val="0"/>
              </a:spcBef>
              <a:spcAft>
                <a:spcPts val="0"/>
              </a:spcAft>
              <a:buClr>
                <a:schemeClr val="dk1"/>
              </a:buClr>
              <a:buSzPts val="1200"/>
              <a:buFont typeface="Arial"/>
              <a:buNone/>
            </a:pPr>
            <a:br>
              <a:rPr lang="en-US" sz="1200">
                <a:solidFill>
                  <a:schemeClr val="dk1"/>
                </a:solidFill>
                <a:latin typeface="Arial"/>
                <a:ea typeface="Arial"/>
                <a:cs typeface="Arial"/>
                <a:sym typeface="Arial"/>
              </a:rPr>
            </a:br>
            <a:r>
              <a:rPr lang="en-US" sz="1200" b="1">
                <a:solidFill>
                  <a:schemeClr val="dk1"/>
                </a:solidFill>
                <a:latin typeface="Arial"/>
                <a:ea typeface="Arial"/>
                <a:cs typeface="Arial"/>
                <a:sym typeface="Arial"/>
              </a:rPr>
              <a:t>Resources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p:txBody>
      </p:sp>
      <p:sp>
        <p:nvSpPr>
          <p:cNvPr id="8528" name="Google Shape;8528;p7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28</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9"/>
        <p:cNvGrpSpPr/>
        <p:nvPr/>
      </p:nvGrpSpPr>
      <p:grpSpPr>
        <a:xfrm>
          <a:off x="0" y="0"/>
          <a:ext cx="0" cy="0"/>
          <a:chOff x="0" y="0"/>
          <a:chExt cx="0" cy="0"/>
        </a:xfrm>
      </p:grpSpPr>
      <p:sp>
        <p:nvSpPr>
          <p:cNvPr id="8550" name="Google Shape;8550;p7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1" name="Google Shape;8551;p7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Key Message</a:t>
            </a:r>
            <a:r>
              <a:rPr lang="en-US" sz="12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latin typeface="Arial"/>
                <a:ea typeface="Arial"/>
                <a:cs typeface="Arial"/>
                <a:sym typeface="Arial"/>
              </a:rPr>
              <a:t>In vSphere 9, Supervisor releases are decoupled from vCenter. Supervisor clusters can be patched/updated independently of vCenter. This allows more rapid delivery of new Supervisor versions and functionality.</a:t>
            </a:r>
            <a:endParaRPr/>
          </a:p>
          <a:p>
            <a:pPr marL="0" lvl="0" indent="0" algn="l" rtl="0">
              <a:lnSpc>
                <a:spcPct val="100000"/>
              </a:lnSpc>
              <a:spcBef>
                <a:spcPts val="0"/>
              </a:spcBef>
              <a:spcAft>
                <a:spcPts val="0"/>
              </a:spcAft>
              <a:buClr>
                <a:schemeClr val="dk1"/>
              </a:buClr>
              <a:buSzPts val="1200"/>
              <a:buFont typeface="Arial"/>
              <a:buNone/>
            </a:pPr>
            <a:br>
              <a:rPr lang="en-US" sz="1200">
                <a:solidFill>
                  <a:schemeClr val="dk1"/>
                </a:solidFill>
                <a:latin typeface="Arial"/>
                <a:ea typeface="Arial"/>
                <a:cs typeface="Arial"/>
                <a:sym typeface="Arial"/>
              </a:rPr>
            </a:br>
            <a:r>
              <a:rPr lang="en-US" sz="1200" b="1">
                <a:solidFill>
                  <a:schemeClr val="dk1"/>
                </a:solidFill>
                <a:latin typeface="Arial"/>
                <a:ea typeface="Arial"/>
                <a:cs typeface="Arial"/>
                <a:sym typeface="Arial"/>
              </a:rPr>
              <a:t>Talk Track</a:t>
            </a:r>
            <a:r>
              <a:rPr lang="en-US" sz="12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latin typeface="Arial"/>
                <a:ea typeface="Arial"/>
                <a:cs typeface="Arial"/>
                <a:sym typeface="Arial"/>
              </a:rPr>
              <a:t>In vSphere 8, Supervisor releases are delivered via vCenter patches and/or updates. In vSphere 9, Supervisor releases are decoupled from vCenter. Supervisor clusters can be patched/updated independently of vCenter. This allows more rapid delivery of new Supervisor releases and functionality.</a:t>
            </a:r>
            <a:endParaRPr/>
          </a:p>
          <a:p>
            <a:pPr marL="0" marR="0" lvl="0" indent="0" algn="l" rtl="0">
              <a:lnSpc>
                <a:spcPct val="100000"/>
              </a:lnSpc>
              <a:spcBef>
                <a:spcPts val="600"/>
              </a:spcBef>
              <a:spcAft>
                <a:spcPts val="0"/>
              </a:spcAft>
              <a:buClr>
                <a:schemeClr val="dk1"/>
              </a:buClr>
              <a:buSzPts val="1200"/>
              <a:buFont typeface="Arial"/>
              <a:buNone/>
            </a:pPr>
            <a:endParaRPr sz="1200" u="none" strike="noStrike">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Notes</a:t>
            </a:r>
            <a:r>
              <a:rPr lang="en-US" sz="1200" u="none" strike="noStrike">
                <a:solidFill>
                  <a:schemeClr val="dk1"/>
                </a:solidFill>
                <a:latin typeface="Arial"/>
                <a:ea typeface="Arial"/>
                <a:cs typeface="Arial"/>
                <a:sym typeface="Arial"/>
              </a:rPr>
              <a:t>:</a:t>
            </a:r>
            <a:endParaRPr/>
          </a:p>
          <a:p>
            <a:pPr marL="0" lvl="0" indent="0" algn="l" rtl="0">
              <a:lnSpc>
                <a:spcPct val="100000"/>
              </a:lnSpc>
              <a:spcBef>
                <a:spcPts val="0"/>
              </a:spcBef>
              <a:spcAft>
                <a:spcPts val="0"/>
              </a:spcAft>
              <a:buClr>
                <a:schemeClr val="dk1"/>
              </a:buClr>
              <a:buSzPts val="1200"/>
              <a:buFont typeface="Arial"/>
              <a:buNone/>
            </a:pPr>
            <a:br>
              <a:rPr lang="en-US" sz="1200">
                <a:solidFill>
                  <a:schemeClr val="dk1"/>
                </a:solidFill>
                <a:latin typeface="Arial"/>
                <a:ea typeface="Arial"/>
                <a:cs typeface="Arial"/>
                <a:sym typeface="Arial"/>
              </a:rPr>
            </a:br>
            <a:r>
              <a:rPr lang="en-US" sz="1200" b="1">
                <a:solidFill>
                  <a:schemeClr val="dk1"/>
                </a:solidFill>
                <a:latin typeface="Arial"/>
                <a:ea typeface="Arial"/>
                <a:cs typeface="Arial"/>
                <a:sym typeface="Arial"/>
              </a:rPr>
              <a:t>Resources</a:t>
            </a:r>
            <a:r>
              <a:rPr lang="en-US" sz="1200">
                <a:solidFill>
                  <a:schemeClr val="dk1"/>
                </a:solidFill>
                <a:latin typeface="Arial"/>
                <a:ea typeface="Arial"/>
                <a:cs typeface="Arial"/>
                <a:sym typeface="Arial"/>
              </a:rPr>
              <a:t>:</a:t>
            </a:r>
            <a:endParaRPr/>
          </a:p>
        </p:txBody>
      </p:sp>
      <p:sp>
        <p:nvSpPr>
          <p:cNvPr id="8552" name="Google Shape;8552;p7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0"/>
        <p:cNvGrpSpPr/>
        <p:nvPr/>
      </p:nvGrpSpPr>
      <p:grpSpPr>
        <a:xfrm>
          <a:off x="0" y="0"/>
          <a:ext cx="0" cy="0"/>
          <a:chOff x="0" y="0"/>
          <a:chExt cx="0" cy="0"/>
        </a:xfrm>
      </p:grpSpPr>
      <p:sp>
        <p:nvSpPr>
          <p:cNvPr id="8601" name="Google Shape;8601;p7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2" name="Google Shape;8602;p7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p:txBody>
      </p:sp>
      <p:sp>
        <p:nvSpPr>
          <p:cNvPr id="8603" name="Google Shape;8603;p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30</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7"/>
        <p:cNvGrpSpPr/>
        <p:nvPr/>
      </p:nvGrpSpPr>
      <p:grpSpPr>
        <a:xfrm>
          <a:off x="0" y="0"/>
          <a:ext cx="0" cy="0"/>
          <a:chOff x="0" y="0"/>
          <a:chExt cx="0" cy="0"/>
        </a:xfrm>
      </p:grpSpPr>
      <p:sp>
        <p:nvSpPr>
          <p:cNvPr id="8608" name="Google Shape;8608;p7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9" name="Google Shape;8609;p7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dk1"/>
              </a:buClr>
              <a:buSzPts val="839"/>
              <a:buFont typeface="Helvetica Neue"/>
              <a:buNone/>
            </a:pPr>
            <a:r>
              <a:rPr lang="en-US" sz="839" b="1" dirty="0">
                <a:latin typeface="Helvetica Neue"/>
                <a:ea typeface="Helvetica Neue"/>
                <a:cs typeface="Helvetica Neue"/>
                <a:sym typeface="Helvetica Neue"/>
              </a:rPr>
              <a:t>Presenter Note:  This slide contains an animated GIF</a:t>
            </a:r>
            <a:endParaRPr dirty="0"/>
          </a:p>
          <a:p>
            <a:pPr marL="0" lvl="0" indent="0" algn="l" rtl="0">
              <a:lnSpc>
                <a:spcPct val="80000"/>
              </a:lnSpc>
              <a:spcBef>
                <a:spcPts val="0"/>
              </a:spcBef>
              <a:spcAft>
                <a:spcPts val="0"/>
              </a:spcAft>
              <a:buNone/>
            </a:pPr>
            <a:endParaRPr sz="839" b="1" dirty="0">
              <a:latin typeface="Helvetica Neue"/>
              <a:ea typeface="Helvetica Neue"/>
              <a:cs typeface="Helvetica Neue"/>
              <a:sym typeface="Helvetica Neue"/>
            </a:endParaRPr>
          </a:p>
          <a:p>
            <a:pPr marL="0" lvl="0" indent="0" algn="l" rtl="0">
              <a:lnSpc>
                <a:spcPct val="80000"/>
              </a:lnSpc>
              <a:spcBef>
                <a:spcPts val="0"/>
              </a:spcBef>
              <a:spcAft>
                <a:spcPts val="0"/>
              </a:spcAft>
              <a:buNone/>
            </a:pPr>
            <a:r>
              <a:rPr lang="en-US" sz="839" b="1" dirty="0">
                <a:latin typeface="Helvetica Neue"/>
                <a:ea typeface="Helvetica Neue"/>
                <a:cs typeface="Helvetica Neue"/>
                <a:sym typeface="Helvetica Neue"/>
              </a:rPr>
              <a:t>Key Message:</a:t>
            </a:r>
            <a:endParaRPr sz="839" dirty="0">
              <a:latin typeface="Helvetica Neue"/>
              <a:ea typeface="Helvetica Neue"/>
              <a:cs typeface="Helvetica Neue"/>
              <a:sym typeface="Helvetica Neue"/>
            </a:endParaRPr>
          </a:p>
          <a:p>
            <a:pPr marL="0" lvl="0" indent="0" algn="l" rtl="0">
              <a:lnSpc>
                <a:spcPct val="80000"/>
              </a:lnSpc>
              <a:spcBef>
                <a:spcPts val="0"/>
              </a:spcBef>
              <a:spcAft>
                <a:spcPts val="0"/>
              </a:spcAft>
              <a:buNone/>
            </a:pPr>
            <a:r>
              <a:rPr lang="en-US" sz="839" dirty="0">
                <a:latin typeface="Helvetica Neue"/>
                <a:ea typeface="Helvetica Neue"/>
                <a:cs typeface="Helvetica Neue"/>
                <a:sym typeface="Helvetica Neue"/>
              </a:rPr>
              <a:t>VMware Cloud Foundation includes orchestrated guidance to set up VMware Cloud Foundation infrastructure to run Private AI workloads using NVIDIA GPU technology and components of the NVIDIA AI Enterprise Suite.  </a:t>
            </a:r>
            <a:endParaRPr dirty="0"/>
          </a:p>
          <a:p>
            <a:pPr marL="0" lvl="0" indent="0" algn="l" rtl="0">
              <a:lnSpc>
                <a:spcPct val="80000"/>
              </a:lnSpc>
              <a:spcBef>
                <a:spcPts val="0"/>
              </a:spcBef>
              <a:spcAft>
                <a:spcPts val="0"/>
              </a:spcAft>
              <a:buNone/>
            </a:pPr>
            <a:endParaRPr sz="839" dirty="0">
              <a:latin typeface="Helvetica Neue"/>
              <a:ea typeface="Helvetica Neue"/>
              <a:cs typeface="Helvetica Neue"/>
              <a:sym typeface="Helvetica Neue"/>
            </a:endParaRPr>
          </a:p>
          <a:p>
            <a:pPr marL="0" lvl="0" indent="0" algn="l" rtl="0">
              <a:lnSpc>
                <a:spcPct val="80000"/>
              </a:lnSpc>
              <a:spcBef>
                <a:spcPts val="0"/>
              </a:spcBef>
              <a:spcAft>
                <a:spcPts val="0"/>
              </a:spcAft>
              <a:buNone/>
            </a:pPr>
            <a:r>
              <a:rPr lang="en-US" sz="839" b="1" dirty="0">
                <a:latin typeface="Helvetica Neue"/>
                <a:ea typeface="Helvetica Neue"/>
                <a:cs typeface="Helvetica Neue"/>
                <a:sym typeface="Helvetica Neue"/>
              </a:rPr>
              <a:t>Talk Track:</a:t>
            </a:r>
            <a:endParaRPr dirty="0"/>
          </a:p>
          <a:p>
            <a:pPr marL="0" lvl="0" indent="0" algn="l" rtl="0">
              <a:lnSpc>
                <a:spcPct val="80000"/>
              </a:lnSpc>
              <a:spcBef>
                <a:spcPts val="0"/>
              </a:spcBef>
              <a:spcAft>
                <a:spcPts val="0"/>
              </a:spcAft>
              <a:buNone/>
            </a:pPr>
            <a:r>
              <a:rPr lang="en-US" sz="839" b="0" i="0" dirty="0">
                <a:solidFill>
                  <a:srgbClr val="172B4D"/>
                </a:solidFill>
                <a:latin typeface="Arial"/>
                <a:ea typeface="Arial"/>
                <a:cs typeface="Arial"/>
                <a:sym typeface="Arial"/>
              </a:rPr>
              <a:t>VMware Cloud Foundation 5.x introduced a number of new </a:t>
            </a:r>
            <a:r>
              <a:rPr lang="en-US" sz="839" b="0" dirty="0">
                <a:latin typeface="Helvetica Neue"/>
                <a:ea typeface="Helvetica Neue"/>
                <a:cs typeface="Helvetica Neue"/>
                <a:sym typeface="Helvetica Neue"/>
              </a:rPr>
              <a:t>orchestrated workflows </a:t>
            </a:r>
            <a:r>
              <a:rPr lang="en-US" sz="839" dirty="0">
                <a:latin typeface="Helvetica Neue"/>
                <a:ea typeface="Helvetica Neue"/>
                <a:cs typeface="Helvetica Neue"/>
                <a:sym typeface="Helvetica Neue"/>
              </a:rPr>
              <a:t>to simplify the configuration of a Private AI platform inclusive of </a:t>
            </a:r>
            <a:r>
              <a:rPr lang="en-US" sz="839" b="0" i="0" dirty="0">
                <a:solidFill>
                  <a:srgbClr val="172B4D"/>
                </a:solidFill>
                <a:latin typeface="Arial"/>
                <a:ea typeface="Arial"/>
                <a:cs typeface="Arial"/>
                <a:sym typeface="Arial"/>
              </a:rPr>
              <a:t>the infrastructure stack, Kubernetes runtime, and AI/ML cloud templates.  </a:t>
            </a:r>
            <a:endParaRPr dirty="0"/>
          </a:p>
          <a:p>
            <a:pPr marL="0" lvl="0" indent="0" algn="l" rtl="0">
              <a:lnSpc>
                <a:spcPct val="80000"/>
              </a:lnSpc>
              <a:spcBef>
                <a:spcPts val="0"/>
              </a:spcBef>
              <a:spcAft>
                <a:spcPts val="0"/>
              </a:spcAft>
              <a:buNone/>
            </a:pPr>
            <a:endParaRPr sz="839" b="0" i="0" dirty="0">
              <a:solidFill>
                <a:srgbClr val="172B4D"/>
              </a:solidFill>
              <a:latin typeface="Arial"/>
              <a:ea typeface="Arial"/>
              <a:cs typeface="Arial"/>
              <a:sym typeface="Arial"/>
            </a:endParaRPr>
          </a:p>
          <a:p>
            <a:pPr marL="0" marR="0" lvl="0" indent="0" algn="l" rtl="0">
              <a:lnSpc>
                <a:spcPct val="80000"/>
              </a:lnSpc>
              <a:spcBef>
                <a:spcPts val="0"/>
              </a:spcBef>
              <a:spcAft>
                <a:spcPts val="0"/>
              </a:spcAft>
              <a:buClr>
                <a:srgbClr val="172B4D"/>
              </a:buClr>
              <a:buSzPts val="839"/>
              <a:buFont typeface="Arial"/>
              <a:buNone/>
            </a:pPr>
            <a:r>
              <a:rPr lang="en-US" sz="839" b="0" i="0" dirty="0">
                <a:solidFill>
                  <a:srgbClr val="172B4D"/>
                </a:solidFill>
                <a:latin typeface="Arial"/>
                <a:ea typeface="Arial"/>
                <a:cs typeface="Arial"/>
                <a:sym typeface="Arial"/>
              </a:rPr>
              <a:t>This joint solution with NVIDIA is known as VMware Private AI Foundation with NVIDIA and is available as an Advanced service to run together with NVIDIA GPU devices and the NVIDIA Private AI Enterprise Suite.</a:t>
            </a:r>
            <a:endParaRPr dirty="0"/>
          </a:p>
          <a:p>
            <a:pPr marL="0" lvl="0" indent="0" algn="l" rtl="0">
              <a:lnSpc>
                <a:spcPct val="80000"/>
              </a:lnSpc>
              <a:spcBef>
                <a:spcPts val="0"/>
              </a:spcBef>
              <a:spcAft>
                <a:spcPts val="0"/>
              </a:spcAft>
              <a:buNone/>
            </a:pPr>
            <a:endParaRPr sz="839" b="0" i="0" dirty="0">
              <a:solidFill>
                <a:srgbClr val="172B4D"/>
              </a:solidFill>
              <a:latin typeface="Arial"/>
              <a:ea typeface="Arial"/>
              <a:cs typeface="Arial"/>
              <a:sym typeface="Arial"/>
            </a:endParaRPr>
          </a:p>
          <a:p>
            <a:pPr marL="0" lvl="0" indent="0" algn="l" rtl="0">
              <a:lnSpc>
                <a:spcPct val="80000"/>
              </a:lnSpc>
              <a:spcBef>
                <a:spcPts val="0"/>
              </a:spcBef>
              <a:spcAft>
                <a:spcPts val="0"/>
              </a:spcAft>
              <a:buNone/>
            </a:pPr>
            <a:r>
              <a:rPr lang="en-US" sz="839" b="0" i="0" dirty="0">
                <a:solidFill>
                  <a:srgbClr val="172B4D"/>
                </a:solidFill>
                <a:latin typeface="Arial"/>
                <a:ea typeface="Arial"/>
                <a:cs typeface="Arial"/>
                <a:sym typeface="Arial"/>
              </a:rPr>
              <a:t>VCF 9 takes this further allowing admins to configure Private AI from within the vSphere client which can be configured using a new set of powerful Private AI Services.</a:t>
            </a:r>
            <a:endParaRPr dirty="0"/>
          </a:p>
          <a:p>
            <a:pPr marL="0" lvl="0" indent="0" algn="l" rtl="0">
              <a:lnSpc>
                <a:spcPct val="80000"/>
              </a:lnSpc>
              <a:spcBef>
                <a:spcPts val="0"/>
              </a:spcBef>
              <a:spcAft>
                <a:spcPts val="0"/>
              </a:spcAft>
              <a:buNone/>
            </a:pPr>
            <a:endParaRPr sz="839" dirty="0">
              <a:latin typeface="Helvetica Neue"/>
              <a:ea typeface="Helvetica Neue"/>
              <a:cs typeface="Helvetica Neue"/>
              <a:sym typeface="Helvetica Neue"/>
            </a:endParaRPr>
          </a:p>
          <a:p>
            <a:pPr marL="0" lvl="0" indent="0" algn="l" rtl="0">
              <a:lnSpc>
                <a:spcPct val="80000"/>
              </a:lnSpc>
              <a:spcBef>
                <a:spcPts val="0"/>
              </a:spcBef>
              <a:spcAft>
                <a:spcPts val="0"/>
              </a:spcAft>
              <a:buNone/>
            </a:pPr>
            <a:r>
              <a:rPr lang="en-US" sz="839" dirty="0">
                <a:latin typeface="Helvetica Neue"/>
                <a:ea typeface="Helvetica Neue"/>
                <a:cs typeface="Helvetica Neue"/>
                <a:sym typeface="Helvetica Neue"/>
              </a:rPr>
              <a:t>The process to “Deploy VMware Private AI in vSphere” is </a:t>
            </a:r>
            <a:r>
              <a:rPr lang="en-US" sz="839" b="1" dirty="0">
                <a:latin typeface="Helvetica Neue"/>
                <a:ea typeface="Helvetica Neue"/>
                <a:cs typeface="Helvetica Neue"/>
                <a:sym typeface="Helvetica Neue"/>
              </a:rPr>
              <a:t>initiated from within the vSphere client</a:t>
            </a:r>
            <a:r>
              <a:rPr lang="en-US" sz="839" dirty="0">
                <a:latin typeface="Helvetica Neue"/>
                <a:ea typeface="Helvetica Neue"/>
                <a:cs typeface="Helvetica Neue"/>
                <a:sym typeface="Helvetica Neue"/>
              </a:rPr>
              <a:t>.  </a:t>
            </a:r>
            <a:endParaRPr dirty="0"/>
          </a:p>
          <a:p>
            <a:pPr marL="0" lvl="0" indent="0" algn="l" rtl="0">
              <a:lnSpc>
                <a:spcPct val="80000"/>
              </a:lnSpc>
              <a:spcBef>
                <a:spcPts val="0"/>
              </a:spcBef>
              <a:spcAft>
                <a:spcPts val="0"/>
              </a:spcAft>
              <a:buNone/>
            </a:pPr>
            <a:endParaRPr sz="839" dirty="0">
              <a:latin typeface="Helvetica Neue"/>
              <a:ea typeface="Helvetica Neue"/>
              <a:cs typeface="Helvetica Neue"/>
              <a:sym typeface="Helvetica Neue"/>
            </a:endParaRPr>
          </a:p>
          <a:p>
            <a:pPr marL="0" lvl="0" indent="0" algn="l" rtl="0">
              <a:lnSpc>
                <a:spcPct val="80000"/>
              </a:lnSpc>
              <a:spcBef>
                <a:spcPts val="0"/>
              </a:spcBef>
              <a:spcAft>
                <a:spcPts val="0"/>
              </a:spcAft>
              <a:buNone/>
            </a:pPr>
            <a:r>
              <a:rPr lang="en-US" sz="839" dirty="0">
                <a:latin typeface="Helvetica Neue"/>
                <a:ea typeface="Helvetica Neue"/>
                <a:cs typeface="Helvetica Neue"/>
                <a:sym typeface="Helvetica Neue"/>
              </a:rPr>
              <a:t>A VMware Private AI Foundation Add-on license is required. </a:t>
            </a:r>
            <a:endParaRPr dirty="0"/>
          </a:p>
          <a:p>
            <a:pPr marL="0" marR="0" lvl="0" indent="0" algn="l" rtl="0">
              <a:lnSpc>
                <a:spcPct val="80000"/>
              </a:lnSpc>
              <a:spcBef>
                <a:spcPts val="0"/>
              </a:spcBef>
              <a:spcAft>
                <a:spcPts val="0"/>
              </a:spcAft>
              <a:buClr>
                <a:schemeClr val="dk1"/>
              </a:buClr>
              <a:buSzPts val="839"/>
              <a:buFont typeface="Helvetica Neue"/>
              <a:buNone/>
            </a:pPr>
            <a:r>
              <a:rPr lang="en-US" sz="839" dirty="0">
                <a:latin typeface="Helvetica Neue"/>
                <a:ea typeface="Helvetica Neue"/>
                <a:cs typeface="Helvetica Neue"/>
                <a:sym typeface="Helvetica Neue"/>
              </a:rPr>
              <a:t>Private AI infrastructure can be deployed in cloud-connected or cloud-disconnected mode.</a:t>
            </a:r>
            <a:endParaRPr dirty="0"/>
          </a:p>
          <a:p>
            <a:pPr marL="0" lvl="0" indent="0" algn="l" rtl="0">
              <a:lnSpc>
                <a:spcPct val="80000"/>
              </a:lnSpc>
              <a:spcBef>
                <a:spcPts val="0"/>
              </a:spcBef>
              <a:spcAft>
                <a:spcPts val="0"/>
              </a:spcAft>
              <a:buNone/>
            </a:pPr>
            <a:endParaRPr sz="839" dirty="0">
              <a:latin typeface="Helvetica Neue"/>
              <a:ea typeface="Helvetica Neue"/>
              <a:cs typeface="Helvetica Neue"/>
              <a:sym typeface="Helvetica Neue"/>
            </a:endParaRPr>
          </a:p>
          <a:p>
            <a:pPr marL="0" lvl="0" indent="0" algn="l" rtl="0">
              <a:lnSpc>
                <a:spcPct val="80000"/>
              </a:lnSpc>
              <a:spcBef>
                <a:spcPts val="0"/>
              </a:spcBef>
              <a:spcAft>
                <a:spcPts val="0"/>
              </a:spcAft>
              <a:buNone/>
            </a:pPr>
            <a:r>
              <a:rPr lang="en-US" sz="839" dirty="0">
                <a:latin typeface="Helvetica Neue"/>
                <a:ea typeface="Helvetica Neue"/>
                <a:cs typeface="Helvetica Neue"/>
                <a:sym typeface="Helvetica Neue"/>
              </a:rPr>
              <a:t>Orchestrated workflows guide the VCF admin though the deployment steps to configure private AI infrastructure.</a:t>
            </a:r>
            <a:endParaRPr dirty="0"/>
          </a:p>
          <a:p>
            <a:pPr marL="0" lvl="0" indent="0" algn="l" rtl="0">
              <a:lnSpc>
                <a:spcPct val="80000"/>
              </a:lnSpc>
              <a:spcBef>
                <a:spcPts val="0"/>
              </a:spcBef>
              <a:spcAft>
                <a:spcPts val="0"/>
              </a:spcAft>
              <a:buNone/>
            </a:pPr>
            <a:endParaRPr sz="839" dirty="0">
              <a:latin typeface="Helvetica Neue"/>
              <a:ea typeface="Helvetica Neue"/>
              <a:cs typeface="Helvetica Neue"/>
              <a:sym typeface="Helvetica Neue"/>
            </a:endParaRPr>
          </a:p>
          <a:p>
            <a:pPr marL="0" lvl="0" indent="0" algn="l" rtl="0">
              <a:lnSpc>
                <a:spcPct val="80000"/>
              </a:lnSpc>
              <a:spcBef>
                <a:spcPts val="0"/>
              </a:spcBef>
              <a:spcAft>
                <a:spcPts val="0"/>
              </a:spcAft>
              <a:buNone/>
            </a:pPr>
            <a:r>
              <a:rPr lang="en-US" sz="839" dirty="0">
                <a:latin typeface="Helvetica Neue"/>
                <a:ea typeface="Helvetica Neue"/>
                <a:cs typeface="Helvetica Neue"/>
                <a:sym typeface="Helvetica Neue"/>
              </a:rPr>
              <a:t>Once infrastructure is deployed consumers (Data Scientists and AI Developers) can utilize this platform to support different AI application types, such as a deep learning virtual machines and Kubernetes clusters, applications based on NVIDIA NGC container images, and vector databases for Retrieval Augmented Generation (RAG).  </a:t>
            </a:r>
            <a:br>
              <a:rPr lang="en-US" sz="839" dirty="0">
                <a:latin typeface="Helvetica Neue"/>
                <a:ea typeface="Helvetica Neue"/>
                <a:cs typeface="Helvetica Neue"/>
                <a:sym typeface="Helvetica Neue"/>
              </a:rPr>
            </a:br>
            <a:r>
              <a:rPr lang="en-US" sz="839" dirty="0">
                <a:latin typeface="Helvetica Neue"/>
                <a:ea typeface="Helvetica Neue"/>
                <a:cs typeface="Helvetica Neue"/>
                <a:sym typeface="Helvetica Neue"/>
              </a:rPr>
              <a:t>Private AI workloads can then be deployed by consumers using the self-service catalog from VCF Automation.</a:t>
            </a:r>
            <a:endParaRPr dirty="0"/>
          </a:p>
          <a:p>
            <a:pPr marL="0" lvl="0" indent="0" algn="l" rtl="0">
              <a:lnSpc>
                <a:spcPct val="80000"/>
              </a:lnSpc>
              <a:spcBef>
                <a:spcPts val="0"/>
              </a:spcBef>
              <a:spcAft>
                <a:spcPts val="0"/>
              </a:spcAft>
              <a:buNone/>
            </a:pPr>
            <a:endParaRPr sz="839" dirty="0">
              <a:latin typeface="Helvetica Neue"/>
              <a:ea typeface="Helvetica Neue"/>
              <a:cs typeface="Helvetica Neue"/>
              <a:sym typeface="Helvetica Neue"/>
            </a:endParaRPr>
          </a:p>
          <a:p>
            <a:pPr marL="0" lvl="0" indent="0" algn="l" rtl="0">
              <a:lnSpc>
                <a:spcPct val="60000"/>
              </a:lnSpc>
              <a:spcBef>
                <a:spcPts val="0"/>
              </a:spcBef>
              <a:spcAft>
                <a:spcPts val="0"/>
              </a:spcAft>
              <a:buClr>
                <a:schemeClr val="dk1"/>
              </a:buClr>
              <a:buSzPts val="839"/>
              <a:buFont typeface="Helvetica Neue"/>
              <a:buNone/>
            </a:pPr>
            <a:r>
              <a:rPr lang="en-US" sz="839" dirty="0">
                <a:latin typeface="Helvetica Neue"/>
                <a:ea typeface="Helvetica Neue"/>
                <a:cs typeface="Helvetica Neue"/>
                <a:sym typeface="Helvetica Neue"/>
              </a:rPr>
              <a:t>Another key benefit of this on-prem Private AI solution is that the underlying hardware and SDDC-based Infrastructure is all deployed, scaled and lifecycle managed by the VCF Administrator.</a:t>
            </a:r>
            <a:endParaRPr sz="839" dirty="0"/>
          </a:p>
          <a:p>
            <a:pPr marL="0" lvl="0" indent="0" algn="l" rtl="0">
              <a:lnSpc>
                <a:spcPct val="80000"/>
              </a:lnSpc>
              <a:spcBef>
                <a:spcPts val="0"/>
              </a:spcBef>
              <a:spcAft>
                <a:spcPts val="0"/>
              </a:spcAft>
              <a:buNone/>
            </a:pPr>
            <a:endParaRPr sz="839" dirty="0">
              <a:latin typeface="Helvetica Neue"/>
              <a:ea typeface="Helvetica Neue"/>
              <a:cs typeface="Helvetica Neue"/>
              <a:sym typeface="Helvetica Neue"/>
            </a:endParaRPr>
          </a:p>
          <a:p>
            <a:pPr marL="0" lvl="0" indent="0" algn="l" rtl="0">
              <a:lnSpc>
                <a:spcPct val="80000"/>
              </a:lnSpc>
              <a:spcBef>
                <a:spcPts val="0"/>
              </a:spcBef>
              <a:spcAft>
                <a:spcPts val="0"/>
              </a:spcAft>
              <a:buNone/>
            </a:pPr>
            <a:r>
              <a:rPr lang="en-US" sz="839" b="1" dirty="0">
                <a:latin typeface="Helvetica Neue"/>
                <a:ea typeface="Helvetica Neue"/>
                <a:cs typeface="Helvetica Neue"/>
                <a:sym typeface="Helvetica Neue"/>
              </a:rPr>
              <a:t>Notes:</a:t>
            </a:r>
            <a:endParaRPr dirty="0"/>
          </a:p>
          <a:p>
            <a:pPr marL="0" lvl="0" indent="0" algn="l" rtl="0">
              <a:lnSpc>
                <a:spcPct val="80000"/>
              </a:lnSpc>
              <a:spcBef>
                <a:spcPts val="0"/>
              </a:spcBef>
              <a:spcAft>
                <a:spcPts val="0"/>
              </a:spcAft>
              <a:buNone/>
            </a:pPr>
            <a:r>
              <a:rPr lang="en-US" sz="839" b="0" dirty="0">
                <a:latin typeface="Helvetica Neue"/>
                <a:ea typeface="Helvetica Neue"/>
                <a:cs typeface="Helvetica Neue"/>
                <a:sym typeface="Helvetica Neue"/>
              </a:rPr>
              <a:t>- VMware introduced orchestrated workflows </a:t>
            </a:r>
            <a:r>
              <a:rPr lang="en-US" sz="839" dirty="0">
                <a:latin typeface="Helvetica Neue"/>
                <a:ea typeface="Helvetica Neue"/>
                <a:cs typeface="Helvetica Neue"/>
                <a:sym typeface="Helvetica Neue"/>
              </a:rPr>
              <a:t>to simplify the configuration of a Private AI platform inclusive of </a:t>
            </a:r>
            <a:r>
              <a:rPr lang="en-US" sz="839" b="0" i="0" dirty="0">
                <a:solidFill>
                  <a:srgbClr val="172B4D"/>
                </a:solidFill>
                <a:latin typeface="Arial"/>
                <a:ea typeface="Arial"/>
                <a:cs typeface="Arial"/>
                <a:sym typeface="Arial"/>
              </a:rPr>
              <a:t>the infrastructure stack, Kubernetes runtime, and AI/ML cloud templates in VCF 5.x. </a:t>
            </a:r>
            <a:br>
              <a:rPr lang="en-US" sz="839" dirty="0">
                <a:latin typeface="Helvetica Neue"/>
                <a:ea typeface="Helvetica Neue"/>
                <a:cs typeface="Helvetica Neue"/>
                <a:sym typeface="Helvetica Neue"/>
              </a:rPr>
            </a:br>
            <a:r>
              <a:rPr lang="en-US" sz="839" b="0" i="1" dirty="0">
                <a:latin typeface="Arial"/>
                <a:ea typeface="Arial"/>
                <a:cs typeface="Arial"/>
                <a:sym typeface="Arial"/>
              </a:rPr>
              <a:t>- VMware Private AI Foundation with NVIDIA </a:t>
            </a:r>
            <a:r>
              <a:rPr lang="en-US" sz="839" b="0" dirty="0">
                <a:latin typeface="Arial"/>
                <a:ea typeface="Arial"/>
                <a:cs typeface="Arial"/>
                <a:sym typeface="Arial"/>
              </a:rPr>
              <a:t>is deployed on top of VMware Cloud Foundation infrastructure and is available as a licensed add-on.</a:t>
            </a:r>
            <a:endParaRPr dirty="0"/>
          </a:p>
          <a:p>
            <a:pPr marL="171450" marR="0" lvl="0" indent="-171450" algn="l" rtl="0">
              <a:lnSpc>
                <a:spcPct val="80000"/>
              </a:lnSpc>
              <a:spcBef>
                <a:spcPts val="0"/>
              </a:spcBef>
              <a:spcAft>
                <a:spcPts val="0"/>
              </a:spcAft>
              <a:buClr>
                <a:schemeClr val="dk1"/>
              </a:buClr>
              <a:buSzPts val="839"/>
              <a:buFont typeface="Helvetica Neue"/>
              <a:buChar char="-"/>
            </a:pPr>
            <a:r>
              <a:rPr lang="en-US" sz="839" dirty="0">
                <a:latin typeface="Helvetica Neue"/>
                <a:ea typeface="Helvetica Neue"/>
                <a:cs typeface="Helvetica Neue"/>
                <a:sym typeface="Helvetica Neue"/>
              </a:rPr>
              <a:t>From VCF 9, VMware Aria Automation and VMware Aria Operations have been rebranded to VCF Automation and VCF Operations.</a:t>
            </a:r>
            <a:endParaRPr dirty="0"/>
          </a:p>
          <a:p>
            <a:pPr marL="171450" marR="0" lvl="0" indent="-171450" algn="l" rtl="0">
              <a:lnSpc>
                <a:spcPct val="80000"/>
              </a:lnSpc>
              <a:spcBef>
                <a:spcPts val="0"/>
              </a:spcBef>
              <a:spcAft>
                <a:spcPts val="0"/>
              </a:spcAft>
              <a:buClr>
                <a:srgbClr val="222222"/>
              </a:buClr>
              <a:buSzPts val="839"/>
              <a:buFont typeface="Arial"/>
              <a:buChar char="-"/>
            </a:pPr>
            <a:r>
              <a:rPr lang="en-US" sz="839" b="0" i="0" dirty="0">
                <a:solidFill>
                  <a:srgbClr val="222222"/>
                </a:solidFill>
                <a:latin typeface="Arial"/>
                <a:ea typeface="Arial"/>
                <a:cs typeface="Arial"/>
                <a:sym typeface="Arial"/>
              </a:rPr>
              <a:t>Contour is optional.  Alternatively a user can create a load balancer when installing Harbor instead of relying on Contour for ingress</a:t>
            </a:r>
            <a:endParaRPr sz="839" dirty="0">
              <a:latin typeface="Helvetica Neue"/>
              <a:ea typeface="Helvetica Neue"/>
              <a:cs typeface="Helvetica Neue"/>
              <a:sym typeface="Helvetica Neue"/>
            </a:endParaRPr>
          </a:p>
          <a:p>
            <a:pPr marL="0" marR="0" lvl="0" indent="0" algn="l" rtl="0">
              <a:lnSpc>
                <a:spcPct val="80000"/>
              </a:lnSpc>
              <a:spcBef>
                <a:spcPts val="0"/>
              </a:spcBef>
              <a:spcAft>
                <a:spcPts val="0"/>
              </a:spcAft>
              <a:buClr>
                <a:schemeClr val="dk1"/>
              </a:buClr>
              <a:buSzPts val="840"/>
              <a:buFont typeface="Arial"/>
              <a:buNone/>
            </a:pPr>
            <a:endParaRPr sz="839" b="1" dirty="0">
              <a:latin typeface="Arial"/>
              <a:ea typeface="Arial"/>
              <a:cs typeface="Arial"/>
              <a:sym typeface="Arial"/>
            </a:endParaRPr>
          </a:p>
          <a:p>
            <a:pPr marL="0" marR="0" lvl="0" indent="0" algn="l" rtl="0">
              <a:lnSpc>
                <a:spcPct val="80000"/>
              </a:lnSpc>
              <a:spcBef>
                <a:spcPts val="0"/>
              </a:spcBef>
              <a:spcAft>
                <a:spcPts val="0"/>
              </a:spcAft>
              <a:buClr>
                <a:schemeClr val="dk1"/>
              </a:buClr>
              <a:buSzPts val="839"/>
              <a:buFont typeface="Arial"/>
              <a:buNone/>
            </a:pPr>
            <a:r>
              <a:rPr lang="en-US" sz="839" b="1" dirty="0">
                <a:latin typeface="Arial"/>
                <a:ea typeface="Arial"/>
                <a:cs typeface="Arial"/>
                <a:sym typeface="Arial"/>
              </a:rPr>
              <a:t>Resources:</a:t>
            </a:r>
            <a:endParaRPr dirty="0"/>
          </a:p>
          <a:p>
            <a:pPr marL="0" marR="0" lvl="0" indent="0" algn="l" rtl="0">
              <a:lnSpc>
                <a:spcPct val="80000"/>
              </a:lnSpc>
              <a:spcBef>
                <a:spcPts val="0"/>
              </a:spcBef>
              <a:spcAft>
                <a:spcPts val="0"/>
              </a:spcAft>
              <a:buClr>
                <a:schemeClr val="dk1"/>
              </a:buClr>
              <a:buSzPts val="839"/>
              <a:buFont typeface="Arial"/>
              <a:buNone/>
            </a:pPr>
            <a:r>
              <a:rPr lang="en-US" sz="839" dirty="0">
                <a:latin typeface="Arial"/>
                <a:ea typeface="Arial"/>
                <a:cs typeface="Arial"/>
                <a:sym typeface="Arial"/>
              </a:rPr>
              <a:t>For further information on deploying VMware Private AI Foundation with NVIDIA please refer to the VMware Private AI Foundation with NVIDIA Guide:</a:t>
            </a:r>
            <a:endParaRPr dirty="0"/>
          </a:p>
          <a:p>
            <a:pPr marL="0" marR="0" lvl="0" indent="0" algn="l" rtl="0">
              <a:lnSpc>
                <a:spcPct val="80000"/>
              </a:lnSpc>
              <a:spcBef>
                <a:spcPts val="0"/>
              </a:spcBef>
              <a:spcAft>
                <a:spcPts val="0"/>
              </a:spcAft>
              <a:buClr>
                <a:srgbClr val="000000"/>
              </a:buClr>
              <a:buSzPts val="1260"/>
              <a:buFont typeface="Arial"/>
              <a:buNone/>
            </a:pPr>
            <a:r>
              <a:rPr lang="en-US" sz="1260" u="sng" dirty="0">
                <a:solidFill>
                  <a:srgbClr val="000000"/>
                </a:solidFill>
                <a:highlight>
                  <a:srgbClr val="FFFFFF"/>
                </a:highlight>
                <a:latin typeface="Arial"/>
                <a:ea typeface="Arial"/>
                <a:cs typeface="Arial"/>
                <a:sym typeface="Arial"/>
                <a:hlinkClick r:id="rId3">
                  <a:extLst>
                    <a:ext uri="{A12FA001-AC4F-418D-AE19-62706E023703}">
                      <ahyp:hlinkClr xmlns:ahyp="http://schemas.microsoft.com/office/drawing/2018/hyperlinkcolor" val="tx"/>
                    </a:ext>
                  </a:extLst>
                </a:hlinkClick>
              </a:rPr>
              <a:t>https://docs.vmware.com/en/VMware-Cloud-Foundation/index.html</a:t>
            </a:r>
            <a:r>
              <a:rPr lang="en-US" sz="1260" dirty="0">
                <a:solidFill>
                  <a:srgbClr val="000000"/>
                </a:solidFill>
                <a:highlight>
                  <a:srgbClr val="FFFFFF"/>
                </a:highlight>
                <a:latin typeface="Arial"/>
                <a:ea typeface="Arial"/>
                <a:cs typeface="Arial"/>
                <a:sym typeface="Arial"/>
              </a:rPr>
              <a:t> </a:t>
            </a:r>
            <a:endParaRPr sz="1260" dirty="0">
              <a:highlight>
                <a:srgbClr val="FFFFFF"/>
              </a:highlight>
              <a:latin typeface="Arial"/>
              <a:ea typeface="Arial"/>
              <a:cs typeface="Arial"/>
              <a:sym typeface="Arial"/>
            </a:endParaRPr>
          </a:p>
          <a:p>
            <a:pPr marL="0" lvl="0" indent="0" algn="l" rtl="0">
              <a:lnSpc>
                <a:spcPct val="80000"/>
              </a:lnSpc>
              <a:spcBef>
                <a:spcPts val="0"/>
              </a:spcBef>
              <a:spcAft>
                <a:spcPts val="0"/>
              </a:spcAft>
              <a:buNone/>
            </a:pPr>
            <a:endParaRPr sz="839" dirty="0"/>
          </a:p>
          <a:p>
            <a:pPr marL="0" lvl="0" indent="0" algn="l" rtl="0">
              <a:lnSpc>
                <a:spcPct val="80000"/>
              </a:lnSpc>
              <a:spcBef>
                <a:spcPts val="0"/>
              </a:spcBef>
              <a:spcAft>
                <a:spcPts val="0"/>
              </a:spcAft>
              <a:buNone/>
            </a:pPr>
            <a:endParaRPr sz="839" dirty="0"/>
          </a:p>
          <a:p>
            <a:pPr marL="0" marR="0" lvl="0" indent="0" algn="l" rtl="0">
              <a:lnSpc>
                <a:spcPct val="80000"/>
              </a:lnSpc>
              <a:spcBef>
                <a:spcPts val="0"/>
              </a:spcBef>
              <a:spcAft>
                <a:spcPts val="0"/>
              </a:spcAft>
              <a:buClr>
                <a:schemeClr val="dk1"/>
              </a:buClr>
              <a:buSzPts val="840"/>
              <a:buFont typeface="Arial"/>
              <a:buNone/>
            </a:pPr>
            <a:endParaRPr sz="839" dirty="0">
              <a:latin typeface="Arial"/>
              <a:ea typeface="Arial"/>
              <a:cs typeface="Arial"/>
              <a:sym typeface="Arial"/>
            </a:endParaRPr>
          </a:p>
          <a:p>
            <a:pPr marL="0" marR="0" lvl="0" indent="0" algn="l" rtl="0">
              <a:lnSpc>
                <a:spcPct val="80000"/>
              </a:lnSpc>
              <a:spcBef>
                <a:spcPts val="0"/>
              </a:spcBef>
              <a:spcAft>
                <a:spcPts val="0"/>
              </a:spcAft>
              <a:buClr>
                <a:schemeClr val="dk1"/>
              </a:buClr>
              <a:buSzPts val="840"/>
              <a:buFont typeface="Arial"/>
              <a:buNone/>
            </a:pPr>
            <a:endParaRPr sz="839" dirty="0">
              <a:latin typeface="Arial"/>
              <a:ea typeface="Arial"/>
              <a:cs typeface="Arial"/>
              <a:sym typeface="Arial"/>
            </a:endParaRPr>
          </a:p>
          <a:p>
            <a:pPr marL="0" lvl="0" indent="0" algn="l" rtl="0">
              <a:lnSpc>
                <a:spcPct val="80000"/>
              </a:lnSpc>
              <a:spcBef>
                <a:spcPts val="0"/>
              </a:spcBef>
              <a:spcAft>
                <a:spcPts val="0"/>
              </a:spcAft>
              <a:buNone/>
            </a:pPr>
            <a:endParaRPr sz="839" dirty="0">
              <a:latin typeface="Arial"/>
              <a:ea typeface="Arial"/>
              <a:cs typeface="Arial"/>
              <a:sym typeface="Arial"/>
            </a:endParaRPr>
          </a:p>
          <a:p>
            <a:pPr marL="0" lvl="0" indent="0" algn="l" rtl="0">
              <a:lnSpc>
                <a:spcPct val="80000"/>
              </a:lnSpc>
              <a:spcBef>
                <a:spcPts val="0"/>
              </a:spcBef>
              <a:spcAft>
                <a:spcPts val="0"/>
              </a:spcAft>
              <a:buNone/>
            </a:pPr>
            <a:endParaRPr sz="839" dirty="0">
              <a:latin typeface="Arial"/>
              <a:ea typeface="Arial"/>
              <a:cs typeface="Arial"/>
              <a:sym typeface="Arial"/>
            </a:endParaRPr>
          </a:p>
          <a:p>
            <a:pPr marL="0" lvl="0" indent="0" algn="l" rtl="0">
              <a:lnSpc>
                <a:spcPct val="80000"/>
              </a:lnSpc>
              <a:spcBef>
                <a:spcPts val="0"/>
              </a:spcBef>
              <a:spcAft>
                <a:spcPts val="0"/>
              </a:spcAft>
              <a:buNone/>
            </a:pPr>
            <a:endParaRPr sz="839" dirty="0">
              <a:latin typeface="Arial"/>
              <a:ea typeface="Arial"/>
              <a:cs typeface="Arial"/>
              <a:sym typeface="Arial"/>
            </a:endParaRPr>
          </a:p>
        </p:txBody>
      </p:sp>
      <p:sp>
        <p:nvSpPr>
          <p:cNvPr id="8610" name="Google Shape;8610;p7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31</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AE43C-147F-71E9-0A98-DAD1A735BD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6173D-2C76-17B8-AF9D-6950B3A86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8444C-73F7-21EF-AAC0-4BC2E70F89A5}"/>
              </a:ext>
            </a:extLst>
          </p:cNvPr>
          <p:cNvSpPr>
            <a:spLocks noGrp="1"/>
          </p:cNvSpPr>
          <p:nvPr>
            <p:ph type="body" idx="1"/>
          </p:nvPr>
        </p:nvSpPr>
        <p:spPr/>
        <p:txBody>
          <a:bodyPr>
            <a:normAutofit fontScale="4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Key Message:</a:t>
            </a:r>
            <a:br>
              <a:rPr lang="en-US" b="1" dirty="0"/>
            </a:br>
            <a:r>
              <a:rPr lang="en-US" b="0" dirty="0"/>
              <a:t>Private AI Services is a new set of functionality for deploying AI applications that comes as part of the VMware Private AI Foundation SKU at VCF 9.0. </a:t>
            </a:r>
            <a:r>
              <a:rPr lang="en-US" dirty="0"/>
              <a:t>This is a summary of the activities of the data science team along with people who support them (devops or ML operations, system admin) and the application developers who use the model in their app. The flow from left to right shows how these different user types use the PAIS services.</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Talk Track:</a:t>
            </a:r>
          </a:p>
          <a:p>
            <a:pPr marL="0" marR="0" lvl="0" indent="0" algn="l" rtl="0">
              <a:lnSpc>
                <a:spcPct val="80000"/>
              </a:lnSpc>
              <a:spcBef>
                <a:spcPts val="0"/>
              </a:spcBef>
              <a:spcAft>
                <a:spcPts val="0"/>
              </a:spcAft>
              <a:buClr>
                <a:schemeClr val="dk1"/>
              </a:buClr>
              <a:buSzPts val="1020"/>
              <a:buFont typeface="Helvetica Neue"/>
              <a:buNone/>
            </a:pPr>
            <a:r>
              <a:rPr lang="en-US" sz="1200" dirty="0">
                <a:latin typeface="Helvetica Neue"/>
                <a:ea typeface="Helvetica Neue"/>
                <a:cs typeface="Helvetica Neue"/>
                <a:sym typeface="Helvetica Neue"/>
              </a:rPr>
              <a:t>The Private AI Services</a:t>
            </a:r>
            <a:r>
              <a:rPr lang="en-US" sz="1200" dirty="0">
                <a:solidFill>
                  <a:schemeClr val="dk1"/>
                </a:solidFill>
                <a:latin typeface="Helvetica Neue Light"/>
                <a:ea typeface="Helvetica Neue Light"/>
                <a:cs typeface="Helvetica Neue Light"/>
                <a:sym typeface="Helvetica Neue Light"/>
              </a:rPr>
              <a:t> (PAIS) are a new addition to VMware Private AI Foundation with NVIDIA, an advanced service to VCF 9. The new services streamline the deployment and management of AI/Gen AI workloads for enterprise customers, particularly implementing the very popular RAG (retrieval augmented generation) design pattern for AI-based applications in the first release. </a:t>
            </a:r>
          </a:p>
          <a:p>
            <a:pPr marL="0" marR="0" lvl="0" indent="0" algn="l" rtl="0">
              <a:lnSpc>
                <a:spcPct val="80000"/>
              </a:lnSpc>
              <a:spcBef>
                <a:spcPts val="0"/>
              </a:spcBef>
              <a:spcAft>
                <a:spcPts val="0"/>
              </a:spcAft>
              <a:buClr>
                <a:schemeClr val="dk1"/>
              </a:buClr>
              <a:buSzPts val="1020"/>
              <a:buFont typeface="Arial"/>
              <a:buNone/>
            </a:pPr>
            <a:endParaRPr lang="en-US" sz="1200" dirty="0">
              <a:solidFill>
                <a:schemeClr val="dk1"/>
              </a:solidFill>
              <a:latin typeface="Helvetica Neue Light"/>
              <a:ea typeface="Helvetica Neue Light"/>
              <a:cs typeface="Helvetica Neue Light"/>
              <a:sym typeface="Helvetica Neue Light"/>
            </a:endParaRPr>
          </a:p>
          <a:p>
            <a:pPr marL="0" marR="0" lvl="0" indent="0" algn="l" rtl="0">
              <a:lnSpc>
                <a:spcPct val="80000"/>
              </a:lnSpc>
              <a:spcBef>
                <a:spcPts val="0"/>
              </a:spcBef>
              <a:spcAft>
                <a:spcPts val="0"/>
              </a:spcAft>
              <a:buClr>
                <a:schemeClr val="dk1"/>
              </a:buClr>
              <a:buSzPts val="1020"/>
              <a:buFont typeface="Arial"/>
              <a:buNone/>
            </a:pPr>
            <a:r>
              <a:rPr lang="en-US" sz="1200" dirty="0"/>
              <a:t>Private AI Services is deployed by the System Admin/devops/ML Operations person as a VCF Supervisor service. During its setup time, PAIS is added to the Supervisor and a PAIS YAML file is used to configure it for your namespace.  </a:t>
            </a:r>
            <a:r>
              <a:rPr lang="en-US" sz="1200" b="0" i="1" u="sng" dirty="0">
                <a:solidFill>
                  <a:schemeClr val="dk1"/>
                </a:solidFill>
              </a:rPr>
              <a:t>VI Admins </a:t>
            </a:r>
            <a:r>
              <a:rPr lang="en-US" sz="1200" dirty="0">
                <a:solidFill>
                  <a:schemeClr val="dk1"/>
                </a:solidFill>
              </a:rPr>
              <a:t>can view and manage Private AI Services in VCF Automation.  </a:t>
            </a:r>
            <a:endParaRPr lang="en-US" dirty="0"/>
          </a:p>
          <a:p>
            <a:pPr marL="0" marR="0" lvl="0" indent="0" algn="l" rtl="0">
              <a:lnSpc>
                <a:spcPct val="80000"/>
              </a:lnSpc>
              <a:spcBef>
                <a:spcPts val="0"/>
              </a:spcBef>
              <a:spcAft>
                <a:spcPts val="0"/>
              </a:spcAft>
              <a:buClr>
                <a:schemeClr val="dk1"/>
              </a:buClr>
              <a:buSzPts val="1020"/>
              <a:buFont typeface="Arial"/>
              <a:buNone/>
            </a:pPr>
            <a:endParaRPr lang="en-US" sz="1200" dirty="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None/>
            </a:pPr>
            <a:r>
              <a:rPr lang="en-US" dirty="0"/>
              <a:t>The diagram shows the flow of an LLM model usage from </a:t>
            </a:r>
          </a:p>
          <a:p>
            <a:pPr marL="228600" lvl="0" indent="-228600" algn="l" rtl="0">
              <a:spcBef>
                <a:spcPts val="0"/>
              </a:spcBef>
              <a:spcAft>
                <a:spcPts val="0"/>
              </a:spcAft>
              <a:buAutoNum type="arabicParenBoth"/>
            </a:pPr>
            <a:r>
              <a:rPr lang="en-US" dirty="0"/>
              <a:t>initial model download from external sites, (new models appear publicly on a regular basis and data scientists want to try them out)</a:t>
            </a:r>
          </a:p>
          <a:p>
            <a:pPr marL="228600" lvl="0" indent="-228600" algn="l" rtl="0">
              <a:spcBef>
                <a:spcPts val="0"/>
              </a:spcBef>
              <a:spcAft>
                <a:spcPts val="0"/>
              </a:spcAft>
              <a:buAutoNum type="arabicParenBoth"/>
            </a:pPr>
            <a:r>
              <a:rPr lang="en-US" dirty="0"/>
              <a:t>pushing it to the Model Store from the deep learning VM, once it is tested and validated for safety in a deep learning VM, </a:t>
            </a:r>
          </a:p>
          <a:p>
            <a:pPr marL="228600" lvl="0" indent="-228600" algn="l" rtl="0">
              <a:spcBef>
                <a:spcPts val="0"/>
              </a:spcBef>
              <a:spcAft>
                <a:spcPts val="0"/>
              </a:spcAft>
              <a:buAutoNum type="arabicParenBoth"/>
            </a:pPr>
            <a:r>
              <a:rPr lang="en-US" dirty="0"/>
              <a:t>using the Model Runtime service to give users a Model Endpoint for accessing it (i.e. a reference point for using the model), </a:t>
            </a:r>
          </a:p>
          <a:p>
            <a:pPr marL="228600" lvl="0" indent="-228600" algn="l" rtl="0">
              <a:spcBef>
                <a:spcPts val="0"/>
              </a:spcBef>
              <a:spcAft>
                <a:spcPts val="0"/>
              </a:spcAft>
              <a:buAutoNum type="arabicParenBoth"/>
            </a:pPr>
            <a:r>
              <a:rPr lang="en-US" dirty="0"/>
              <a:t>using the Data Indexing Service for handling your enterprise’s private data in a vector database</a:t>
            </a:r>
          </a:p>
          <a:p>
            <a:pPr marL="228600" lvl="0" indent="-228600" algn="l" rtl="0">
              <a:spcBef>
                <a:spcPts val="0"/>
              </a:spcBef>
              <a:spcAft>
                <a:spcPts val="0"/>
              </a:spcAft>
              <a:buAutoNum type="arabicParenBoth"/>
            </a:pPr>
            <a:r>
              <a:rPr lang="en-US" dirty="0"/>
              <a:t>using the Agent Builder to construct an application from the model endpoint and the indexed knowledge base that front-ends a vector database. </a:t>
            </a:r>
          </a:p>
          <a:p>
            <a:pPr marL="0" marR="0" lvl="0" indent="0" algn="l" rtl="0">
              <a:lnSpc>
                <a:spcPct val="80000"/>
              </a:lnSpc>
              <a:spcBef>
                <a:spcPts val="0"/>
              </a:spcBef>
              <a:spcAft>
                <a:spcPts val="0"/>
              </a:spcAft>
              <a:buClr>
                <a:schemeClr val="dk1"/>
              </a:buClr>
              <a:buSzPts val="1020"/>
              <a:buFont typeface="Arial"/>
              <a:buNone/>
            </a:pPr>
            <a:endParaRPr lang="en-US" sz="1200" dirty="0">
              <a:solidFill>
                <a:schemeClr val="dk1"/>
              </a:solidFill>
              <a:latin typeface="Helvetica Neue Light"/>
              <a:ea typeface="Helvetica Neue Light"/>
              <a:cs typeface="Helvetica Neue Light"/>
              <a:sym typeface="Helvetica Neue Light"/>
            </a:endParaRPr>
          </a:p>
          <a:p>
            <a:pPr marL="0" marR="0" lvl="0" indent="0" algn="l" rtl="0">
              <a:lnSpc>
                <a:spcPct val="80000"/>
              </a:lnSpc>
              <a:spcBef>
                <a:spcPts val="0"/>
              </a:spcBef>
              <a:spcAft>
                <a:spcPts val="0"/>
              </a:spcAft>
              <a:buClr>
                <a:schemeClr val="dk1"/>
              </a:buClr>
              <a:buSzPts val="1020"/>
              <a:buFont typeface="Arial"/>
              <a:buNone/>
            </a:pPr>
            <a:r>
              <a:rPr lang="en-US" sz="1200" b="1" dirty="0">
                <a:solidFill>
                  <a:schemeClr val="dk1"/>
                </a:solidFill>
                <a:latin typeface="Helvetica Neue Light"/>
                <a:ea typeface="Helvetica Neue Light"/>
                <a:cs typeface="Helvetica Neue Light"/>
                <a:sym typeface="Helvetica Neue Light"/>
              </a:rPr>
              <a:t>Extended Talk Track:</a:t>
            </a:r>
          </a:p>
          <a:p>
            <a:pPr marL="0" marR="0" lvl="0" indent="0" algn="l" rtl="0">
              <a:lnSpc>
                <a:spcPct val="80000"/>
              </a:lnSpc>
              <a:spcBef>
                <a:spcPts val="0"/>
              </a:spcBef>
              <a:spcAft>
                <a:spcPts val="0"/>
              </a:spcAft>
              <a:buClr>
                <a:schemeClr val="dk1"/>
              </a:buClr>
              <a:buSzPts val="1020"/>
              <a:buFont typeface="Helvetica Neue Light"/>
              <a:buNone/>
            </a:pPr>
            <a:r>
              <a:rPr lang="en-US" sz="1200" dirty="0">
                <a:solidFill>
                  <a:schemeClr val="dk1"/>
                </a:solidFill>
                <a:latin typeface="Helvetica Neue Light"/>
                <a:ea typeface="Helvetica Neue Light"/>
                <a:cs typeface="Helvetica Neue Light"/>
                <a:sym typeface="Helvetica Neue Light"/>
              </a:rPr>
              <a:t>Shown in the diagram is an example of how a model is tested and consumed during its lifetime – along with the private data that is stored in a vector database.</a:t>
            </a:r>
          </a:p>
          <a:p>
            <a:pPr marL="0" marR="0" lvl="0" indent="0" algn="l" rtl="0">
              <a:lnSpc>
                <a:spcPct val="80000"/>
              </a:lnSpc>
              <a:spcBef>
                <a:spcPts val="0"/>
              </a:spcBef>
              <a:spcAft>
                <a:spcPts val="0"/>
              </a:spcAft>
              <a:buClr>
                <a:schemeClr val="dk1"/>
              </a:buClr>
              <a:buSzPts val="1020"/>
              <a:buFont typeface="Helvetica Neue Light"/>
              <a:buNone/>
            </a:pPr>
            <a:endParaRPr lang="en-US" dirty="0"/>
          </a:p>
          <a:p>
            <a:pPr marL="0" marR="0" lvl="0" indent="0" algn="l" rtl="0">
              <a:lnSpc>
                <a:spcPct val="80000"/>
              </a:lnSpc>
              <a:spcBef>
                <a:spcPts val="0"/>
              </a:spcBef>
              <a:spcAft>
                <a:spcPts val="0"/>
              </a:spcAft>
              <a:buClr>
                <a:schemeClr val="dk1"/>
              </a:buClr>
              <a:buSzPts val="1020"/>
              <a:buFont typeface="Helvetica Neue Light"/>
              <a:buNone/>
            </a:pPr>
            <a:r>
              <a:rPr lang="en-US" sz="1200" dirty="0">
                <a:solidFill>
                  <a:schemeClr val="dk1"/>
                </a:solidFill>
                <a:latin typeface="Helvetica Neue Light"/>
                <a:ea typeface="Helvetica Neue Light"/>
                <a:cs typeface="Helvetica Neue Light"/>
                <a:sym typeface="Helvetica Neue Light"/>
              </a:rPr>
              <a:t>On the top left side, models are pulled from online sources such as Hugging Face, NVIDIA NGC or others. Those sites contain large numbers of models that have been uploaded by organizations who allow them to be used for business purposes with open licensing. It is very natural for an enterprise’s data science teams to want to use the latest models from those sites. An example of this is the Llama family of models, contributed by Meta/Facebook or the Mistral models from an organization with that same name.</a:t>
            </a:r>
          </a:p>
          <a:p>
            <a:pPr marL="0" marR="0" lvl="0" indent="0" algn="l" rtl="0">
              <a:lnSpc>
                <a:spcPct val="80000"/>
              </a:lnSpc>
              <a:spcBef>
                <a:spcPts val="0"/>
              </a:spcBef>
              <a:spcAft>
                <a:spcPts val="0"/>
              </a:spcAft>
              <a:buClr>
                <a:schemeClr val="dk1"/>
              </a:buClr>
              <a:buSzPts val="1020"/>
              <a:buFont typeface="Helvetica Neue Light"/>
              <a:buNone/>
            </a:pPr>
            <a:endParaRPr lang="en-US" sz="1200" dirty="0">
              <a:solidFill>
                <a:schemeClr val="dk1"/>
              </a:solidFill>
              <a:latin typeface="Helvetica Neue Light"/>
              <a:ea typeface="Helvetica Neue Light"/>
              <a:cs typeface="Helvetica Neue Light"/>
              <a:sym typeface="Helvetica Neue Light"/>
            </a:endParaRPr>
          </a:p>
          <a:p>
            <a:pPr marL="0" marR="0" lvl="0" indent="0" algn="l" rtl="0">
              <a:lnSpc>
                <a:spcPct val="80000"/>
              </a:lnSpc>
              <a:spcBef>
                <a:spcPts val="0"/>
              </a:spcBef>
              <a:spcAft>
                <a:spcPts val="0"/>
              </a:spcAft>
              <a:buClr>
                <a:schemeClr val="dk1"/>
              </a:buClr>
              <a:buSzPts val="1020"/>
              <a:buFont typeface="Helvetica Neue Light"/>
              <a:buNone/>
            </a:pPr>
            <a:r>
              <a:rPr lang="en-US" sz="1200" dirty="0">
                <a:solidFill>
                  <a:schemeClr val="dk1"/>
                </a:solidFill>
                <a:latin typeface="Helvetica Neue Light"/>
                <a:ea typeface="Helvetica Neue Light"/>
                <a:cs typeface="Helvetica Neue Light"/>
                <a:sym typeface="Helvetica Neue Light"/>
              </a:rPr>
              <a:t> </a:t>
            </a:r>
            <a:r>
              <a:rPr lang="en-US" sz="1200" b="0" i="1" u="sng" dirty="0">
                <a:solidFill>
                  <a:schemeClr val="dk1"/>
                </a:solidFill>
                <a:latin typeface="Helvetica Neue Light"/>
                <a:ea typeface="Helvetica Neue Light"/>
                <a:cs typeface="Helvetica Neue Light"/>
                <a:sym typeface="Helvetica Neue Light"/>
              </a:rPr>
              <a:t>Data Scientists</a:t>
            </a:r>
            <a:r>
              <a:rPr lang="en-US" sz="1200" b="0" i="1" u="none" dirty="0">
                <a:solidFill>
                  <a:schemeClr val="dk1"/>
                </a:solidFill>
                <a:latin typeface="Helvetica Neue Light"/>
                <a:ea typeface="Helvetica Neue Light"/>
                <a:cs typeface="Helvetica Neue Light"/>
                <a:sym typeface="Helvetica Neue Light"/>
              </a:rPr>
              <a:t>  </a:t>
            </a:r>
            <a:r>
              <a:rPr lang="en-US" sz="1200" b="0" i="0" u="none" dirty="0">
                <a:solidFill>
                  <a:schemeClr val="dk1"/>
                </a:solidFill>
                <a:latin typeface="Helvetica Neue Light"/>
                <a:ea typeface="Helvetica Neue Light"/>
                <a:cs typeface="Helvetica Neue Light"/>
                <a:sym typeface="Helvetica Neue Light"/>
              </a:rPr>
              <a:t>download,</a:t>
            </a:r>
            <a:r>
              <a:rPr lang="en-US" sz="1200" b="0" i="1" u="none" dirty="0">
                <a:solidFill>
                  <a:schemeClr val="dk1"/>
                </a:solidFill>
                <a:latin typeface="Helvetica Neue Light"/>
                <a:ea typeface="Helvetica Neue Light"/>
                <a:cs typeface="Helvetica Neue Light"/>
                <a:sym typeface="Helvetica Neue Light"/>
              </a:rPr>
              <a:t> </a:t>
            </a:r>
            <a:r>
              <a:rPr lang="en-US" sz="1200" b="0" i="0" u="none" dirty="0">
                <a:solidFill>
                  <a:schemeClr val="dk1"/>
                </a:solidFill>
                <a:latin typeface="Helvetica Neue Light"/>
                <a:ea typeface="Helvetica Neue Light"/>
                <a:cs typeface="Helvetica Neue Light"/>
                <a:sym typeface="Helvetica Neue Light"/>
              </a:rPr>
              <a:t>test, </a:t>
            </a:r>
            <a:r>
              <a:rPr lang="en-US" sz="1200" dirty="0">
                <a:solidFill>
                  <a:schemeClr val="dk1"/>
                </a:solidFill>
                <a:latin typeface="Helvetica Neue Light"/>
                <a:ea typeface="Helvetica Neue Light"/>
                <a:cs typeface="Helvetica Neue Light"/>
                <a:sym typeface="Helvetica Neue Light"/>
              </a:rPr>
              <a:t>validate and check these open-use models for use with VMware Private AI Foundation with NVIDIA in a deep learning VM running in a DMZ environment.  This deep learning VM is deployed by a user by using the Catalog item called “AI Workstation” in VMware Private AI Foundation with NVIDIA (the existing product that shipped in VCF 5.2.1). </a:t>
            </a:r>
          </a:p>
          <a:p>
            <a:pPr marL="0" marR="0" lvl="0" indent="0" algn="l" rtl="0">
              <a:lnSpc>
                <a:spcPct val="80000"/>
              </a:lnSpc>
              <a:spcBef>
                <a:spcPts val="0"/>
              </a:spcBef>
              <a:spcAft>
                <a:spcPts val="0"/>
              </a:spcAft>
              <a:buClr>
                <a:schemeClr val="dk1"/>
              </a:buClr>
              <a:buSzPts val="1020"/>
              <a:buFont typeface="Helvetica Neue Light"/>
              <a:buNone/>
            </a:pPr>
            <a:endParaRPr lang="en-US" sz="1200" dirty="0">
              <a:solidFill>
                <a:schemeClr val="dk1"/>
              </a:solidFill>
              <a:latin typeface="Helvetica Neue Light"/>
              <a:ea typeface="Helvetica Neue Light"/>
              <a:cs typeface="Helvetica Neue Light"/>
              <a:sym typeface="Helvetica Neue Light"/>
            </a:endParaRPr>
          </a:p>
          <a:p>
            <a:pPr marL="0" marR="0" lvl="0" indent="0" algn="l" rtl="0">
              <a:lnSpc>
                <a:spcPct val="80000"/>
              </a:lnSpc>
              <a:spcBef>
                <a:spcPts val="0"/>
              </a:spcBef>
              <a:spcAft>
                <a:spcPts val="0"/>
              </a:spcAft>
              <a:buClr>
                <a:schemeClr val="dk1"/>
              </a:buClr>
              <a:buSzPts val="1020"/>
              <a:buFont typeface="Helvetica Neue Light"/>
              <a:buNone/>
            </a:pPr>
            <a:r>
              <a:rPr lang="en-US" sz="1200" dirty="0">
                <a:solidFill>
                  <a:schemeClr val="dk1"/>
                </a:solidFill>
                <a:latin typeface="Helvetica Neue Light"/>
                <a:ea typeface="Helvetica Neue Light"/>
                <a:cs typeface="Helvetica Neue Light"/>
                <a:sym typeface="Helvetica Neue Light"/>
              </a:rPr>
              <a:t>Once the data science team has fully tested and approved the new model, and they are happy with its accuracy, performance and safety, then the Harbor Registry is used as a </a:t>
            </a:r>
            <a:r>
              <a:rPr lang="en-US" sz="1200" b="1" dirty="0">
                <a:solidFill>
                  <a:schemeClr val="dk1"/>
                </a:solidFill>
                <a:latin typeface="Helvetica Neue Light"/>
                <a:ea typeface="Helvetica Neue Light"/>
                <a:cs typeface="Helvetica Neue Light"/>
                <a:sym typeface="Helvetica Neue Light"/>
              </a:rPr>
              <a:t>Model Store </a:t>
            </a:r>
            <a:r>
              <a:rPr lang="en-US" sz="1200" dirty="0">
                <a:solidFill>
                  <a:schemeClr val="dk1"/>
                </a:solidFill>
                <a:latin typeface="Helvetica Neue Light"/>
                <a:ea typeface="Helvetica Neue Light"/>
                <a:cs typeface="Helvetica Neue Light"/>
                <a:sym typeface="Helvetica Neue Light"/>
              </a:rPr>
              <a:t>for storing internally validated and secure models. By storing (pushing) the model into the Model Store, data scientists are asserting that the model is safe and can be used by </a:t>
            </a:r>
            <a:r>
              <a:rPr lang="en-US" sz="1200" dirty="0" err="1">
                <a:solidFill>
                  <a:schemeClr val="dk1"/>
                </a:solidFill>
                <a:latin typeface="Helvetica Neue Light"/>
                <a:ea typeface="Helvetica Neue Light"/>
                <a:cs typeface="Helvetica Neue Light"/>
                <a:sym typeface="Helvetica Neue Light"/>
              </a:rPr>
              <a:t>MLOps</a:t>
            </a:r>
            <a:r>
              <a:rPr lang="en-US" sz="1200" dirty="0">
                <a:solidFill>
                  <a:schemeClr val="dk1"/>
                </a:solidFill>
                <a:latin typeface="Helvetica Neue Light"/>
                <a:ea typeface="Helvetica Neue Light"/>
                <a:cs typeface="Helvetica Neue Light"/>
                <a:sym typeface="Helvetica Neue Light"/>
              </a:rPr>
              <a:t> teams and application developers who use the model as part of their app design. The model store is therefore a central repository of models in the activity of “Model Governance”.</a:t>
            </a:r>
          </a:p>
          <a:p>
            <a:pPr marL="0" marR="0" lvl="0" indent="0" algn="l" rtl="0">
              <a:lnSpc>
                <a:spcPct val="80000"/>
              </a:lnSpc>
              <a:spcBef>
                <a:spcPts val="0"/>
              </a:spcBef>
              <a:spcAft>
                <a:spcPts val="0"/>
              </a:spcAft>
              <a:buClr>
                <a:schemeClr val="dk1"/>
              </a:buClr>
              <a:buSzPts val="1020"/>
              <a:buFont typeface="Helvetica Neue Light"/>
              <a:buNone/>
            </a:pPr>
            <a:endParaRPr lang="en-US" sz="1200" dirty="0">
              <a:solidFill>
                <a:schemeClr val="dk1"/>
              </a:solidFill>
              <a:latin typeface="Helvetica Neue Light"/>
              <a:ea typeface="Helvetica Neue Light"/>
              <a:cs typeface="Helvetica Neue Light"/>
              <a:sym typeface="Helvetica Neue Light"/>
            </a:endParaRPr>
          </a:p>
          <a:p>
            <a:pPr marL="0" marR="0" lvl="0" indent="0" algn="l" rtl="0">
              <a:lnSpc>
                <a:spcPct val="80000"/>
              </a:lnSpc>
              <a:spcBef>
                <a:spcPts val="0"/>
              </a:spcBef>
              <a:spcAft>
                <a:spcPts val="0"/>
              </a:spcAft>
              <a:buClr>
                <a:schemeClr val="dk1"/>
              </a:buClr>
              <a:buSzPts val="1020"/>
              <a:buFont typeface="Helvetica Neue Light"/>
              <a:buNone/>
            </a:pPr>
            <a:r>
              <a:rPr lang="en-US" sz="1200" b="0" dirty="0">
                <a:solidFill>
                  <a:schemeClr val="dk1"/>
                </a:solidFill>
                <a:latin typeface="Helvetica Neue Light"/>
                <a:ea typeface="Helvetica Neue Light"/>
                <a:cs typeface="Helvetica Neue Light"/>
                <a:sym typeface="Helvetica Neue Light"/>
              </a:rPr>
              <a:t>Next, the </a:t>
            </a:r>
            <a:r>
              <a:rPr lang="en-US" sz="1200" b="1" dirty="0">
                <a:solidFill>
                  <a:schemeClr val="dk1"/>
                </a:solidFill>
                <a:latin typeface="Helvetica Neue Light"/>
                <a:ea typeface="Helvetica Neue Light"/>
                <a:cs typeface="Helvetica Neue Light"/>
                <a:sym typeface="Helvetica Neue Light"/>
              </a:rPr>
              <a:t>Model Runtime service </a:t>
            </a:r>
            <a:r>
              <a:rPr lang="en-US" sz="1200" dirty="0">
                <a:solidFill>
                  <a:schemeClr val="dk1"/>
                </a:solidFill>
                <a:latin typeface="Helvetica Neue Light"/>
                <a:ea typeface="Helvetica Neue Light"/>
                <a:cs typeface="Helvetica Neue Light"/>
                <a:sym typeface="Helvetica Neue Light"/>
              </a:rPr>
              <a:t>is used to create a Model Endpoint (i.e. a reference point) that will be used for inference work using that model. </a:t>
            </a:r>
          </a:p>
          <a:p>
            <a:pPr marL="0" marR="0" lvl="0" indent="0" algn="l" rtl="0">
              <a:lnSpc>
                <a:spcPct val="80000"/>
              </a:lnSpc>
              <a:spcBef>
                <a:spcPts val="0"/>
              </a:spcBef>
              <a:spcAft>
                <a:spcPts val="0"/>
              </a:spcAft>
              <a:buClr>
                <a:schemeClr val="dk1"/>
              </a:buClr>
              <a:buSzPts val="1020"/>
              <a:buFont typeface="Helvetica Neue Light"/>
              <a:buNone/>
            </a:pPr>
            <a:r>
              <a:rPr lang="en-US" sz="1200" dirty="0">
                <a:solidFill>
                  <a:schemeClr val="dk1"/>
                </a:solidFill>
                <a:latin typeface="Helvetica Neue Light"/>
                <a:ea typeface="Helvetica Neue Light"/>
                <a:cs typeface="Helvetica Neue Light"/>
                <a:sym typeface="Helvetica Neue Light"/>
              </a:rPr>
              <a:t>You can think of a Model Endpoint as a connection point for calling the model to do some work (such as creating new text). The Model Endpoint will be used later on in the process by the Agent Builder. </a:t>
            </a:r>
          </a:p>
          <a:p>
            <a:pPr marL="0" marR="0" lvl="0" indent="0" algn="l" rtl="0">
              <a:lnSpc>
                <a:spcPct val="80000"/>
              </a:lnSpc>
              <a:spcBef>
                <a:spcPts val="0"/>
              </a:spcBef>
              <a:spcAft>
                <a:spcPts val="0"/>
              </a:spcAft>
              <a:buClr>
                <a:schemeClr val="dk1"/>
              </a:buClr>
              <a:buSzPts val="1020"/>
              <a:buFont typeface="Helvetica Neue Light"/>
              <a:buNone/>
            </a:pPr>
            <a:endParaRPr lang="en-US" sz="1200" dirty="0">
              <a:solidFill>
                <a:schemeClr val="dk1"/>
              </a:solidFill>
              <a:latin typeface="Helvetica Neue Light"/>
              <a:ea typeface="Helvetica Neue Light"/>
              <a:cs typeface="Helvetica Neue Light"/>
              <a:sym typeface="Helvetica Neue Light"/>
            </a:endParaRPr>
          </a:p>
          <a:p>
            <a:pPr marL="0" marR="0" lvl="0" indent="0" algn="l" rtl="0">
              <a:lnSpc>
                <a:spcPct val="80000"/>
              </a:lnSpc>
              <a:spcBef>
                <a:spcPts val="0"/>
              </a:spcBef>
              <a:spcAft>
                <a:spcPts val="0"/>
              </a:spcAft>
              <a:buClr>
                <a:schemeClr val="dk1"/>
              </a:buClr>
              <a:buSzPts val="1020"/>
              <a:buFont typeface="Helvetica Neue Light"/>
              <a:buNone/>
            </a:pPr>
            <a:r>
              <a:rPr lang="en-US" sz="1200" dirty="0">
                <a:solidFill>
                  <a:schemeClr val="dk1"/>
                </a:solidFill>
                <a:latin typeface="Helvetica Neue Light"/>
                <a:ea typeface="Helvetica Neue Light"/>
                <a:cs typeface="Helvetica Neue Light"/>
                <a:sym typeface="Helvetica Neue Light"/>
              </a:rPr>
              <a:t>As part of the creation of a Model Endpoint using the Model Runtime service, an entry for that particular model from the Model Store is used to identify it. Then the Model Runtime service performs a set of actions on an underlying VKS cluster (that is hidden from the user) to deploy the model (i.e. start it up) using an inference server such as </a:t>
            </a:r>
            <a:r>
              <a:rPr lang="en-US" sz="1200" dirty="0" err="1">
                <a:solidFill>
                  <a:schemeClr val="dk1"/>
                </a:solidFill>
                <a:latin typeface="Helvetica Neue Light"/>
                <a:ea typeface="Helvetica Neue Light"/>
                <a:cs typeface="Helvetica Neue Light"/>
                <a:sym typeface="Helvetica Neue Light"/>
              </a:rPr>
              <a:t>vLLM</a:t>
            </a:r>
            <a:r>
              <a:rPr lang="en-US" sz="1200" dirty="0">
                <a:solidFill>
                  <a:schemeClr val="dk1"/>
                </a:solidFill>
                <a:latin typeface="Helvetica Neue Light"/>
                <a:ea typeface="Helvetica Neue Light"/>
                <a:cs typeface="Helvetica Neue Light"/>
                <a:sym typeface="Helvetica Neue Light"/>
              </a:rPr>
              <a:t> or Infinity. These inference servers are open source server processes that bring the model to life in a pod that runs within a VKS node.</a:t>
            </a:r>
          </a:p>
          <a:p>
            <a:pPr marL="0" marR="0" lvl="0" indent="0" algn="l" rtl="0">
              <a:lnSpc>
                <a:spcPct val="80000"/>
              </a:lnSpc>
              <a:spcBef>
                <a:spcPts val="0"/>
              </a:spcBef>
              <a:spcAft>
                <a:spcPts val="0"/>
              </a:spcAft>
              <a:buClr>
                <a:schemeClr val="dk1"/>
              </a:buClr>
              <a:buSzPts val="1020"/>
              <a:buFont typeface="Helvetica Neue Light"/>
              <a:buNone/>
            </a:pPr>
            <a:endParaRPr lang="en-US" sz="1200" dirty="0">
              <a:solidFill>
                <a:schemeClr val="dk1"/>
              </a:solidFill>
              <a:latin typeface="Helvetica Neue Light"/>
              <a:ea typeface="Helvetica Neue Light"/>
              <a:cs typeface="Helvetica Neue Light"/>
              <a:sym typeface="Helvetica Neue Light"/>
            </a:endParaRPr>
          </a:p>
          <a:p>
            <a:pPr marL="0" marR="0" lvl="0" indent="0" algn="l" rtl="0">
              <a:lnSpc>
                <a:spcPct val="80000"/>
              </a:lnSpc>
              <a:spcBef>
                <a:spcPts val="0"/>
              </a:spcBef>
              <a:spcAft>
                <a:spcPts val="0"/>
              </a:spcAft>
              <a:buClr>
                <a:schemeClr val="dk1"/>
              </a:buClr>
              <a:buSzPts val="1020"/>
              <a:buFont typeface="Helvetica Neue Light"/>
              <a:buNone/>
            </a:pPr>
            <a:r>
              <a:rPr lang="en-US" sz="1200" dirty="0">
                <a:solidFill>
                  <a:schemeClr val="dk1"/>
                </a:solidFill>
                <a:latin typeface="Helvetica Neue Light"/>
                <a:ea typeface="Helvetica Neue Light"/>
                <a:cs typeface="Helvetica Neue Light"/>
                <a:sym typeface="Helvetica Neue Light"/>
              </a:rPr>
              <a:t>Additionally, an API Gateway (a front-end part in the Model Runtime) can be configured which provides a stable and secure API interface for accessing model endpoints.</a:t>
            </a:r>
          </a:p>
          <a:p>
            <a:pPr marL="0" marR="0" lvl="0" indent="0" algn="l" rtl="0">
              <a:lnSpc>
                <a:spcPct val="80000"/>
              </a:lnSpc>
              <a:spcBef>
                <a:spcPts val="0"/>
              </a:spcBef>
              <a:spcAft>
                <a:spcPts val="0"/>
              </a:spcAft>
              <a:buClr>
                <a:schemeClr val="dk1"/>
              </a:buClr>
              <a:buSzPts val="1020"/>
              <a:buFont typeface="Helvetica Neue Light"/>
              <a:buNone/>
            </a:pPr>
            <a:br>
              <a:rPr lang="en-US" sz="1200" dirty="0">
                <a:solidFill>
                  <a:schemeClr val="dk1"/>
                </a:solidFill>
                <a:latin typeface="Helvetica Neue Light"/>
                <a:ea typeface="Helvetica Neue Light"/>
                <a:cs typeface="Helvetica Neue Light"/>
                <a:sym typeface="Helvetica Neue Light"/>
              </a:rPr>
            </a:br>
            <a:r>
              <a:rPr lang="en-US" sz="1200" b="0" i="1" u="sng" dirty="0" err="1">
                <a:solidFill>
                  <a:schemeClr val="dk1"/>
                </a:solidFill>
                <a:latin typeface="Helvetica Neue Light"/>
                <a:ea typeface="Helvetica Neue Light"/>
                <a:cs typeface="Helvetica Neue Light"/>
                <a:sym typeface="Helvetica Neue Light"/>
              </a:rPr>
              <a:t>MLOps</a:t>
            </a:r>
            <a:r>
              <a:rPr lang="en-US" sz="1200" b="0" i="1" u="sng" dirty="0">
                <a:solidFill>
                  <a:schemeClr val="dk1"/>
                </a:solidFill>
                <a:latin typeface="Helvetica Neue Light"/>
                <a:ea typeface="Helvetica Neue Light"/>
                <a:cs typeface="Helvetica Neue Light"/>
                <a:sym typeface="Helvetica Neue Light"/>
              </a:rPr>
              <a:t> teams/App Developers </a:t>
            </a:r>
            <a:r>
              <a:rPr lang="en-US" sz="1200" dirty="0">
                <a:solidFill>
                  <a:schemeClr val="dk1"/>
                </a:solidFill>
                <a:latin typeface="Helvetica Neue Light"/>
                <a:ea typeface="Helvetica Neue Light"/>
                <a:cs typeface="Helvetica Neue Light"/>
                <a:sym typeface="Helvetica Neue Light"/>
              </a:rPr>
              <a:t>can now consume the available models running in a namespace under the control of the model runtime service.  Applications/agents use the </a:t>
            </a:r>
            <a:r>
              <a:rPr lang="en-US" sz="1200" b="0" dirty="0">
                <a:solidFill>
                  <a:schemeClr val="dk1"/>
                </a:solidFill>
                <a:latin typeface="Helvetica Neue Light"/>
                <a:ea typeface="Helvetica Neue Light"/>
                <a:cs typeface="Helvetica Neue Light"/>
                <a:sym typeface="Helvetica Neue Light"/>
              </a:rPr>
              <a:t>model endpoints along with data from a Vector database that has been pre-loaded, as a separate step.</a:t>
            </a:r>
          </a:p>
          <a:p>
            <a:pPr marL="0" marR="0" lvl="0" indent="0" algn="l" rtl="0">
              <a:lnSpc>
                <a:spcPct val="80000"/>
              </a:lnSpc>
              <a:spcBef>
                <a:spcPts val="0"/>
              </a:spcBef>
              <a:spcAft>
                <a:spcPts val="0"/>
              </a:spcAft>
              <a:buClr>
                <a:schemeClr val="dk1"/>
              </a:buClr>
              <a:buSzPts val="1020"/>
              <a:buFont typeface="Helvetica Neue Light"/>
              <a:buNone/>
            </a:pPr>
            <a:endParaRPr lang="en-US" sz="1200" b="1" dirty="0">
              <a:solidFill>
                <a:schemeClr val="dk1"/>
              </a:solidFill>
              <a:latin typeface="Helvetica Neue Light"/>
              <a:ea typeface="Helvetica Neue Light"/>
              <a:cs typeface="Helvetica Neue Light"/>
              <a:sym typeface="Helvetica Neue Light"/>
            </a:endParaRPr>
          </a:p>
          <a:p>
            <a:pPr marL="0" marR="0" lvl="0" indent="0" algn="l" rtl="0">
              <a:lnSpc>
                <a:spcPct val="80000"/>
              </a:lnSpc>
              <a:spcBef>
                <a:spcPts val="0"/>
              </a:spcBef>
              <a:spcAft>
                <a:spcPts val="0"/>
              </a:spcAft>
              <a:buClr>
                <a:schemeClr val="dk1"/>
              </a:buClr>
              <a:buSzPts val="1020"/>
              <a:buFont typeface="Helvetica Neue Light"/>
              <a:buNone/>
            </a:pPr>
            <a:r>
              <a:rPr lang="en-US" sz="1200" dirty="0">
                <a:solidFill>
                  <a:schemeClr val="dk1"/>
                </a:solidFill>
                <a:latin typeface="Helvetica Neue Light"/>
                <a:ea typeface="Helvetica Neue Light"/>
                <a:cs typeface="Helvetica Neue Light"/>
                <a:sym typeface="Helvetica Neue Light"/>
              </a:rPr>
              <a:t>The </a:t>
            </a:r>
            <a:r>
              <a:rPr lang="en-US" sz="1200" b="1" dirty="0">
                <a:solidFill>
                  <a:schemeClr val="dk1"/>
                </a:solidFill>
                <a:latin typeface="Helvetica Neue Light"/>
                <a:ea typeface="Helvetica Neue Light"/>
                <a:cs typeface="Helvetica Neue Light"/>
                <a:sym typeface="Helvetica Neue Light"/>
              </a:rPr>
              <a:t>Data Indexing and Retrieval Service </a:t>
            </a:r>
            <a:r>
              <a:rPr lang="en-US" sz="1200" dirty="0">
                <a:solidFill>
                  <a:schemeClr val="dk1"/>
                </a:solidFill>
                <a:latin typeface="Helvetica Neue Light"/>
                <a:ea typeface="Helvetica Neue Light"/>
                <a:cs typeface="Helvetica Neue Light"/>
                <a:sym typeface="Helvetica Neue Light"/>
              </a:rPr>
              <a:t>is used to take your private data sources, collect them into a </a:t>
            </a:r>
            <a:r>
              <a:rPr lang="en-US" sz="1200" b="1" dirty="0">
                <a:solidFill>
                  <a:schemeClr val="dk1"/>
                </a:solidFill>
                <a:latin typeface="Helvetica Neue Light"/>
                <a:ea typeface="Helvetica Neue Light"/>
                <a:cs typeface="Helvetica Neue Light"/>
                <a:sym typeface="Helvetica Neue Light"/>
              </a:rPr>
              <a:t>Knowledge Base </a:t>
            </a:r>
            <a:r>
              <a:rPr lang="en-US" sz="1200" b="0" dirty="0">
                <a:solidFill>
                  <a:schemeClr val="dk1"/>
                </a:solidFill>
                <a:latin typeface="Helvetica Neue Light"/>
                <a:ea typeface="Helvetica Neue Light"/>
                <a:cs typeface="Helvetica Neue Light"/>
                <a:sym typeface="Helvetica Neue Light"/>
              </a:rPr>
              <a:t>(key concept) </a:t>
            </a:r>
            <a:r>
              <a:rPr lang="en-US" sz="1200" dirty="0">
                <a:solidFill>
                  <a:schemeClr val="dk1"/>
                </a:solidFill>
                <a:latin typeface="Helvetica Neue Light"/>
                <a:ea typeface="Helvetica Neue Light"/>
                <a:cs typeface="Helvetica Neue Light"/>
                <a:sym typeface="Helvetica Neue Light"/>
              </a:rPr>
              <a:t>and convert that data into a new form called “embeddings”. That new embeddings form of the private data is then loaded into a vector database under the control of the Knowledge Base. Data sources can be local files, Confluence pages, </a:t>
            </a:r>
            <a:r>
              <a:rPr lang="en-US" sz="1200" dirty="0" err="1">
                <a:solidFill>
                  <a:schemeClr val="dk1"/>
                </a:solidFill>
                <a:latin typeface="Helvetica Neue Light"/>
                <a:ea typeface="Helvetica Neue Light"/>
                <a:cs typeface="Helvetica Neue Light"/>
                <a:sym typeface="Helvetica Neue Light"/>
              </a:rPr>
              <a:t>Sharepoint</a:t>
            </a:r>
            <a:r>
              <a:rPr lang="en-US" sz="1200" dirty="0">
                <a:solidFill>
                  <a:schemeClr val="dk1"/>
                </a:solidFill>
                <a:latin typeface="Helvetica Neue Light"/>
                <a:ea typeface="Helvetica Neue Light"/>
                <a:cs typeface="Helvetica Neue Light"/>
                <a:sym typeface="Helvetica Neue Light"/>
              </a:rPr>
              <a:t> directories, Google drives or S3-compatible sources. An example of a data source can be one or more PDF documents that give an internal description of a new product that is not yet released to the public.</a:t>
            </a:r>
            <a:endParaRPr lang="en-US" dirty="0"/>
          </a:p>
          <a:p>
            <a:pPr marL="0" marR="0" lvl="0" indent="0" algn="l" rtl="0">
              <a:lnSpc>
                <a:spcPct val="80000"/>
              </a:lnSpc>
              <a:spcBef>
                <a:spcPts val="0"/>
              </a:spcBef>
              <a:spcAft>
                <a:spcPts val="0"/>
              </a:spcAft>
              <a:buClr>
                <a:schemeClr val="dk1"/>
              </a:buClr>
              <a:buSzPts val="1020"/>
              <a:buFont typeface="Helvetica Neue Light"/>
              <a:buNone/>
            </a:pPr>
            <a:r>
              <a:rPr lang="en-US" sz="1200" b="0" dirty="0">
                <a:solidFill>
                  <a:schemeClr val="dk1"/>
                </a:solidFill>
                <a:latin typeface="Helvetica Neue Light"/>
                <a:ea typeface="Helvetica Neue Light"/>
                <a:cs typeface="Helvetica Neue Light"/>
                <a:sym typeface="Helvetica Neue Light"/>
              </a:rPr>
              <a:t> </a:t>
            </a:r>
            <a:endParaRPr lang="en-US" dirty="0"/>
          </a:p>
          <a:p>
            <a:pPr marL="0" marR="0" lvl="0" indent="0" algn="l" rtl="0">
              <a:lnSpc>
                <a:spcPct val="80000"/>
              </a:lnSpc>
              <a:spcBef>
                <a:spcPts val="0"/>
              </a:spcBef>
              <a:spcAft>
                <a:spcPts val="0"/>
              </a:spcAft>
              <a:buClr>
                <a:schemeClr val="dk1"/>
              </a:buClr>
              <a:buSzPts val="1020"/>
              <a:buFont typeface="Arial"/>
              <a:buNone/>
            </a:pPr>
            <a:r>
              <a:rPr lang="en-US" sz="1200" b="0" dirty="0">
                <a:solidFill>
                  <a:schemeClr val="dk1"/>
                </a:solidFill>
              </a:rPr>
              <a:t>The </a:t>
            </a:r>
            <a:r>
              <a:rPr lang="en-US" sz="1200" b="1" dirty="0">
                <a:solidFill>
                  <a:schemeClr val="dk1"/>
                </a:solidFill>
              </a:rPr>
              <a:t>Agent Builder Service </a:t>
            </a:r>
            <a:r>
              <a:rPr lang="en-US" sz="1200" b="0" dirty="0">
                <a:solidFill>
                  <a:schemeClr val="dk1"/>
                </a:solidFill>
              </a:rPr>
              <a:t>is then </a:t>
            </a:r>
            <a:r>
              <a:rPr lang="en-US" sz="1200" dirty="0">
                <a:solidFill>
                  <a:schemeClr val="dk1"/>
                </a:solidFill>
              </a:rPr>
              <a:t>used to by </a:t>
            </a:r>
            <a:r>
              <a:rPr lang="en-US" sz="1200" b="0" i="1" u="sng" dirty="0">
                <a:solidFill>
                  <a:schemeClr val="dk1"/>
                </a:solidFill>
              </a:rPr>
              <a:t>Developers</a:t>
            </a:r>
            <a:r>
              <a:rPr lang="en-US" sz="1200" dirty="0">
                <a:solidFill>
                  <a:schemeClr val="dk1"/>
                </a:solidFill>
              </a:rPr>
              <a:t> to build RAG pipelines for applications. The Agent Builder service is used build, test, and serve AI agents such as a RAG Agent, that brings together one or more model endpoints and a knowledge base/vector database. This pipeline of components/services is used by an end-user application through calling the new Agent. </a:t>
            </a:r>
          </a:p>
          <a:p>
            <a:pPr marL="0" marR="0" lvl="0" indent="0" algn="l" rtl="0">
              <a:lnSpc>
                <a:spcPct val="80000"/>
              </a:lnSpc>
              <a:spcBef>
                <a:spcPts val="0"/>
              </a:spcBef>
              <a:spcAft>
                <a:spcPts val="0"/>
              </a:spcAft>
              <a:buClr>
                <a:schemeClr val="dk1"/>
              </a:buClr>
              <a:buSzPts val="1020"/>
              <a:buFont typeface="Arial"/>
              <a:buNone/>
            </a:pPr>
            <a:endParaRPr lang="en-US" sz="1200" dirty="0">
              <a:solidFill>
                <a:schemeClr val="dk1"/>
              </a:solidFill>
            </a:endParaRPr>
          </a:p>
          <a:p>
            <a:pPr marL="0" marR="0" lvl="0" indent="0" algn="l" rtl="0">
              <a:lnSpc>
                <a:spcPct val="80000"/>
              </a:lnSpc>
              <a:spcBef>
                <a:spcPts val="0"/>
              </a:spcBef>
              <a:spcAft>
                <a:spcPts val="0"/>
              </a:spcAft>
              <a:buClr>
                <a:schemeClr val="dk1"/>
              </a:buClr>
              <a:buSzPts val="1020"/>
              <a:buFont typeface="Arial"/>
              <a:buNone/>
            </a:pPr>
            <a:r>
              <a:rPr lang="en-US" sz="1200" dirty="0">
                <a:solidFill>
                  <a:schemeClr val="dk1"/>
                </a:solidFill>
              </a:rPr>
              <a:t>The newly-created Agent presents an API endpoint to a front-end customer application, such as an interactive chatbot application for our customer representatives to use within the enterprise.</a:t>
            </a:r>
          </a:p>
          <a:p>
            <a:pPr marL="0" marR="0" lvl="0" indent="0" algn="l" rtl="0">
              <a:lnSpc>
                <a:spcPct val="80000"/>
              </a:lnSpc>
              <a:spcBef>
                <a:spcPts val="0"/>
              </a:spcBef>
              <a:spcAft>
                <a:spcPts val="0"/>
              </a:spcAft>
              <a:buClr>
                <a:schemeClr val="dk1"/>
              </a:buClr>
              <a:buSzPts val="1020"/>
              <a:buFont typeface="Arial"/>
              <a:buNone/>
            </a:pPr>
            <a:endParaRPr lang="en-US" dirty="0"/>
          </a:p>
          <a:p>
            <a:pPr marL="0" marR="0" lvl="0" indent="0" algn="l" rtl="0">
              <a:lnSpc>
                <a:spcPct val="80000"/>
              </a:lnSpc>
              <a:spcBef>
                <a:spcPts val="0"/>
              </a:spcBef>
              <a:spcAft>
                <a:spcPts val="0"/>
              </a:spcAft>
              <a:buClr>
                <a:schemeClr val="dk1"/>
              </a:buClr>
              <a:buSzPts val="1020"/>
              <a:buFont typeface="Arial"/>
              <a:buNone/>
            </a:pPr>
            <a:r>
              <a:rPr lang="en-US" sz="1200" b="1" dirty="0"/>
              <a:t>User Interfaces to PAIS</a:t>
            </a:r>
          </a:p>
          <a:p>
            <a:pPr marL="0" marR="0" lvl="0" indent="0" algn="l" rtl="0">
              <a:lnSpc>
                <a:spcPct val="80000"/>
              </a:lnSpc>
              <a:spcBef>
                <a:spcPts val="0"/>
              </a:spcBef>
              <a:spcAft>
                <a:spcPts val="0"/>
              </a:spcAft>
              <a:buClr>
                <a:schemeClr val="dk1"/>
              </a:buClr>
              <a:buSzPts val="1020"/>
              <a:buFont typeface="Arial"/>
              <a:buNone/>
            </a:pPr>
            <a:endParaRPr lang="en-US" sz="1200" dirty="0"/>
          </a:p>
          <a:p>
            <a:pPr marL="0" marR="0" lvl="0" indent="0" algn="l" rtl="0">
              <a:lnSpc>
                <a:spcPct val="80000"/>
              </a:lnSpc>
              <a:spcBef>
                <a:spcPts val="0"/>
              </a:spcBef>
              <a:spcAft>
                <a:spcPts val="0"/>
              </a:spcAft>
              <a:buClr>
                <a:schemeClr val="dk1"/>
              </a:buClr>
              <a:buSzPts val="1020"/>
              <a:buFont typeface="Arial"/>
              <a:buNone/>
            </a:pPr>
            <a:r>
              <a:rPr lang="en-US" sz="1200" dirty="0"/>
              <a:t>A user would create their initial model endpoints within the Model Runtime service that is seen within the VCF Automation PAIS screen.</a:t>
            </a:r>
          </a:p>
          <a:p>
            <a:pPr marL="0" marR="0" lvl="0" indent="0" algn="l" rtl="0">
              <a:lnSpc>
                <a:spcPct val="80000"/>
              </a:lnSpc>
              <a:spcBef>
                <a:spcPts val="0"/>
              </a:spcBef>
              <a:spcAft>
                <a:spcPts val="0"/>
              </a:spcAft>
              <a:buClr>
                <a:schemeClr val="dk1"/>
              </a:buClr>
              <a:buSzPts val="1020"/>
              <a:buFont typeface="Arial"/>
              <a:buNone/>
            </a:pPr>
            <a:endParaRPr lang="en-US" sz="1200" dirty="0"/>
          </a:p>
          <a:p>
            <a:pPr marL="0" marR="0" lvl="0" indent="0" algn="l" rtl="0">
              <a:lnSpc>
                <a:spcPct val="80000"/>
              </a:lnSpc>
              <a:spcBef>
                <a:spcPts val="0"/>
              </a:spcBef>
              <a:spcAft>
                <a:spcPts val="0"/>
              </a:spcAft>
              <a:buClr>
                <a:schemeClr val="dk1"/>
              </a:buClr>
              <a:buSzPts val="1020"/>
              <a:buFont typeface="Arial"/>
              <a:buNone/>
            </a:pPr>
            <a:r>
              <a:rPr lang="en-US" sz="1200" dirty="0"/>
              <a:t>The “Data Indexing &amp; Retrieval” service and “</a:t>
            </a:r>
            <a:r>
              <a:rPr lang="en-US" sz="1200" dirty="0" err="1"/>
              <a:t>Aqent</a:t>
            </a:r>
            <a:r>
              <a:rPr lang="en-US" sz="1200" dirty="0"/>
              <a:t> Builder” service have separate UIs of their own, that are accessed from the Private AI Services main screen in the VCF Automation tool.</a:t>
            </a:r>
            <a:endParaRPr lang="en-US" sz="1200" dirty="0">
              <a:solidFill>
                <a:schemeClr val="dk2"/>
              </a:solidFill>
            </a:endParaRPr>
          </a:p>
          <a:p>
            <a:pPr marL="0" lvl="0" indent="0" algn="l" rtl="0">
              <a:spcBef>
                <a:spcPts val="0"/>
              </a:spcBef>
              <a:spcAft>
                <a:spcPts val="0"/>
              </a:spcAft>
              <a:buNone/>
            </a:pPr>
            <a:endParaRPr lang="en-AU" sz="1200" dirty="0">
              <a:solidFill>
                <a:schemeClr val="dk1"/>
              </a:solidFill>
            </a:endParaRPr>
          </a:p>
          <a:p>
            <a:pPr marL="0" lvl="0" indent="0" algn="l" rtl="0">
              <a:spcBef>
                <a:spcPts val="0"/>
              </a:spcBef>
              <a:spcAft>
                <a:spcPts val="0"/>
              </a:spcAft>
              <a:buNone/>
            </a:pPr>
            <a:r>
              <a:rPr lang="en-AU" sz="1200" b="1" dirty="0">
                <a:solidFill>
                  <a:schemeClr val="dk1"/>
                </a:solidFill>
              </a:rPr>
              <a:t>Notes:</a:t>
            </a:r>
            <a:br>
              <a:rPr lang="en-AU" sz="1200" b="1" dirty="0">
                <a:solidFill>
                  <a:schemeClr val="dk1"/>
                </a:solidFill>
              </a:rPr>
            </a:br>
            <a:r>
              <a:rPr lang="en-AU" sz="1200" b="0" dirty="0">
                <a:solidFill>
                  <a:schemeClr val="dk1"/>
                </a:solidFill>
              </a:rPr>
              <a:t>Private AI Services are available with the VCF when using the VMware Private AI Foundation Advanced (Add-on) License to VCF 9.</a:t>
            </a:r>
            <a:br>
              <a:rPr lang="en-AU" sz="1200" b="0" dirty="0">
                <a:solidFill>
                  <a:schemeClr val="dk1"/>
                </a:solidFill>
              </a:rPr>
            </a:br>
            <a:br>
              <a:rPr lang="en-AU" sz="1200" b="1" dirty="0">
                <a:solidFill>
                  <a:schemeClr val="dk1"/>
                </a:solidFill>
              </a:rPr>
            </a:br>
            <a:r>
              <a:rPr lang="en-US" sz="1200" b="1" dirty="0">
                <a:solidFill>
                  <a:schemeClr val="dk1"/>
                </a:solidFill>
              </a:rPr>
              <a:t> </a:t>
            </a:r>
            <a:endParaRPr lang="en-US" b="1" dirty="0"/>
          </a:p>
          <a:p>
            <a:endParaRPr lang="en-US" dirty="0"/>
          </a:p>
        </p:txBody>
      </p:sp>
      <p:sp>
        <p:nvSpPr>
          <p:cNvPr id="4" name="Slide Number Placeholder 3">
            <a:extLst>
              <a:ext uri="{FF2B5EF4-FFF2-40B4-BE49-F238E27FC236}">
                <a16:creationId xmlns:a16="http://schemas.microsoft.com/office/drawing/2014/main" id="{34B052C3-60E5-6F3E-A132-5BEA29848F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7455337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4"/>
        <p:cNvGrpSpPr/>
        <p:nvPr/>
      </p:nvGrpSpPr>
      <p:grpSpPr>
        <a:xfrm>
          <a:off x="0" y="0"/>
          <a:ext cx="0" cy="0"/>
          <a:chOff x="0" y="0"/>
          <a:chExt cx="0" cy="0"/>
        </a:xfrm>
      </p:grpSpPr>
      <p:sp>
        <p:nvSpPr>
          <p:cNvPr id="8665" name="Google Shape;8665;p8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6" name="Google Shape;8666;p8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177800" lvl="0" indent="-101600" algn="l" rtl="0">
              <a:lnSpc>
                <a:spcPct val="100000"/>
              </a:lnSpc>
              <a:spcBef>
                <a:spcPts val="0"/>
              </a:spcBef>
              <a:spcAft>
                <a:spcPts val="0"/>
              </a:spcAft>
              <a:buClr>
                <a:schemeClr val="dk1"/>
              </a:buClr>
              <a:buSzPts val="1200"/>
              <a:buFont typeface="Arial"/>
              <a:buNone/>
            </a:pPr>
            <a:endParaRPr sz="1200" u="none" strike="noStrike">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Arial"/>
              <a:buNone/>
            </a:pPr>
            <a:endParaRPr>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Arial"/>
              <a:buNone/>
            </a:pPr>
            <a:endParaRPr>
              <a:latin typeface="Arial"/>
              <a:ea typeface="Arial"/>
              <a:cs typeface="Arial"/>
              <a:sym typeface="Arial"/>
            </a:endParaRPr>
          </a:p>
          <a:p>
            <a:pPr marL="342900" marR="0" lvl="0" indent="-342900" algn="l" rtl="0">
              <a:lnSpc>
                <a:spcPct val="100000"/>
              </a:lnSpc>
              <a:spcBef>
                <a:spcPts val="0"/>
              </a:spcBef>
              <a:spcAft>
                <a:spcPts val="0"/>
              </a:spcAft>
              <a:buClr>
                <a:srgbClr val="666666"/>
              </a:buClr>
              <a:buSzPts val="1170"/>
              <a:buFont typeface="Arial"/>
              <a:buChar char="•"/>
            </a:pPr>
            <a:r>
              <a:rPr lang="en-US" sz="1200">
                <a:solidFill>
                  <a:schemeClr val="dk1"/>
                </a:solidFill>
              </a:rPr>
              <a:t>Integrated Security Operations</a:t>
            </a:r>
            <a:endParaRPr/>
          </a:p>
          <a:p>
            <a:pPr marL="342900" marR="0" lvl="0" indent="-342900" algn="l" rtl="0">
              <a:lnSpc>
                <a:spcPct val="100000"/>
              </a:lnSpc>
              <a:spcBef>
                <a:spcPts val="600"/>
              </a:spcBef>
              <a:spcAft>
                <a:spcPts val="0"/>
              </a:spcAft>
              <a:buClr>
                <a:srgbClr val="666666"/>
              </a:buClr>
              <a:buSzPts val="1170"/>
              <a:buFont typeface="Arial"/>
              <a:buChar char="•"/>
            </a:pPr>
            <a:r>
              <a:rPr lang="en-US" sz="1200">
                <a:solidFill>
                  <a:schemeClr val="dk1"/>
                </a:solidFill>
              </a:rPr>
              <a:t>Extended VM-level Data Protection</a:t>
            </a:r>
            <a:endParaRPr/>
          </a:p>
          <a:p>
            <a:pPr marL="342900" marR="0" lvl="0" indent="-342900" algn="l" rtl="0">
              <a:lnSpc>
                <a:spcPct val="100000"/>
              </a:lnSpc>
              <a:spcBef>
                <a:spcPts val="600"/>
              </a:spcBef>
              <a:spcAft>
                <a:spcPts val="0"/>
              </a:spcAft>
              <a:buClr>
                <a:srgbClr val="666666"/>
              </a:buClr>
              <a:buSzPts val="1170"/>
              <a:buFont typeface="Arial"/>
              <a:buChar char="•"/>
            </a:pPr>
            <a:r>
              <a:rPr lang="en-US" sz="1200">
                <a:solidFill>
                  <a:schemeClr val="dk1"/>
                </a:solidFill>
              </a:rPr>
              <a:t>Protecting VMs Across Clusters</a:t>
            </a:r>
            <a:endParaRPr/>
          </a:p>
          <a:p>
            <a:pPr marL="342900" marR="0" lvl="0" indent="-342900" algn="l" rtl="0">
              <a:lnSpc>
                <a:spcPct val="100000"/>
              </a:lnSpc>
              <a:spcBef>
                <a:spcPts val="600"/>
              </a:spcBef>
              <a:spcAft>
                <a:spcPts val="0"/>
              </a:spcAft>
              <a:buClr>
                <a:srgbClr val="666666"/>
              </a:buClr>
              <a:buSzPts val="1170"/>
              <a:buFont typeface="Arial"/>
              <a:buChar char="•"/>
            </a:pPr>
            <a:r>
              <a:rPr lang="en-US" sz="1200">
                <a:solidFill>
                  <a:schemeClr val="dk1"/>
                </a:solidFill>
              </a:rPr>
              <a:t>Resiliency at every layer</a:t>
            </a:r>
            <a:endParaRPr/>
          </a:p>
          <a:p>
            <a:pPr marL="342900" marR="0" lvl="0" indent="-342900" algn="l" rtl="0">
              <a:lnSpc>
                <a:spcPct val="100000"/>
              </a:lnSpc>
              <a:spcBef>
                <a:spcPts val="600"/>
              </a:spcBef>
              <a:spcAft>
                <a:spcPts val="0"/>
              </a:spcAft>
              <a:buClr>
                <a:srgbClr val="666666"/>
              </a:buClr>
              <a:buSzPts val="1170"/>
              <a:buFont typeface="Arial"/>
              <a:buChar char="•"/>
            </a:pPr>
            <a:r>
              <a:rPr lang="en-US" sz="1200">
                <a:solidFill>
                  <a:schemeClr val="dk1"/>
                </a:solidFill>
              </a:rPr>
              <a:t>Security at every layer</a:t>
            </a:r>
            <a:endParaRPr/>
          </a:p>
          <a:p>
            <a:pPr marL="0" lvl="0" indent="0" algn="l" rtl="0">
              <a:spcBef>
                <a:spcPts val="0"/>
              </a:spcBef>
              <a:spcAft>
                <a:spcPts val="0"/>
              </a:spcAft>
              <a:buClr>
                <a:schemeClr val="dk1"/>
              </a:buClr>
              <a:buSzPts val="1200"/>
              <a:buFont typeface="Arial"/>
              <a:buNone/>
            </a:pPr>
            <a:endParaRPr/>
          </a:p>
        </p:txBody>
      </p:sp>
      <p:sp>
        <p:nvSpPr>
          <p:cNvPr id="8667" name="Google Shape;8667;p8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0"/>
        <p:cNvGrpSpPr/>
        <p:nvPr/>
      </p:nvGrpSpPr>
      <p:grpSpPr>
        <a:xfrm>
          <a:off x="0" y="0"/>
          <a:ext cx="0" cy="0"/>
          <a:chOff x="0" y="0"/>
          <a:chExt cx="0" cy="0"/>
        </a:xfrm>
      </p:grpSpPr>
      <p:sp>
        <p:nvSpPr>
          <p:cNvPr id="8761" name="Google Shape;8761;p8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2" name="Google Shape;8762;p8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fontScale="55000" lnSpcReduction="20000"/>
          </a:bodyPr>
          <a:lstStyle/>
          <a:p>
            <a:pPr marL="0" lvl="0" indent="0" algn="l" rtl="0">
              <a:spcBef>
                <a:spcPts val="0"/>
              </a:spcBef>
              <a:spcAft>
                <a:spcPts val="0"/>
              </a:spcAft>
              <a:buClr>
                <a:schemeClr val="dk1"/>
              </a:buClr>
              <a:buSzPts val="1200"/>
              <a:buFont typeface="Arial"/>
              <a:buNone/>
            </a:pPr>
            <a:r>
              <a:rPr lang="en-US" b="1"/>
              <a:t>Key Message:</a:t>
            </a:r>
            <a:endParaRPr/>
          </a:p>
          <a:p>
            <a:pPr marL="0" lvl="0" indent="0" algn="l" rtl="0">
              <a:spcBef>
                <a:spcPts val="0"/>
              </a:spcBef>
              <a:spcAft>
                <a:spcPts val="0"/>
              </a:spcAft>
              <a:buNone/>
            </a:pPr>
            <a:r>
              <a:rPr lang="en-US"/>
              <a:t>The Security Operations Dashboard provides a comprehensive, real-time view of user authentication, permissions, and infrastructure security, helping organizations proactively manage security across VCF deployments.</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b="1"/>
              <a:t>Talk Track:</a:t>
            </a:r>
            <a:endParaRPr/>
          </a:p>
          <a:p>
            <a:pPr marL="0" lvl="0" indent="0" algn="l" rtl="0">
              <a:spcBef>
                <a:spcPts val="0"/>
              </a:spcBef>
              <a:spcAft>
                <a:spcPts val="0"/>
              </a:spcAft>
              <a:buClr>
                <a:schemeClr val="dk1"/>
              </a:buClr>
              <a:buSzPts val="1200"/>
              <a:buFont typeface="Arial"/>
              <a:buNone/>
            </a:pPr>
            <a:r>
              <a:rPr lang="en-US"/>
              <a:t>“This slide highlights the Security Operations Dashboard, a centralized view for monitoring both user and infrastructure security across your VCF environment.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At the top, the dashboard provides user-focused metrics like authentication attempts, failed logins, and permission changes over time.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Below, it delivers insights into infrastructure security, covering key areas like host encryption, host mode compliance, vSAN cluster encryption, advisories for CVE violations, certificate health, and VM encryption status.</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All of this information is gathered in real time, giving security teams immediate visibility into potential vulnerabilities and helping them take proactive action.</a:t>
            </a:r>
            <a:endParaRPr/>
          </a:p>
          <a:p>
            <a:pPr marL="0" lvl="0" indent="0" algn="l" rtl="0">
              <a:spcBef>
                <a:spcPts val="0"/>
              </a:spcBef>
              <a:spcAft>
                <a:spcPts val="0"/>
              </a:spcAft>
              <a:buNone/>
            </a:pPr>
            <a:endParaRPr/>
          </a:p>
          <a:p>
            <a:pPr marL="0" lvl="0" indent="0" algn="l" rtl="0">
              <a:spcBef>
                <a:spcPts val="0"/>
              </a:spcBef>
              <a:spcAft>
                <a:spcPts val="0"/>
              </a:spcAft>
              <a:buNone/>
            </a:pPr>
            <a:r>
              <a:rPr lang="en-US"/>
              <a:t>By consolidating security monitoring into one dashboard, VCF enables better security resilience and a faster response to threats.”</a:t>
            </a:r>
            <a:endParaRPr/>
          </a:p>
          <a:p>
            <a:pPr marL="0" marR="0" lvl="0" indent="0" algn="l" rtl="0">
              <a:lnSpc>
                <a:spcPct val="100000"/>
              </a:lnSpc>
              <a:spcBef>
                <a:spcPts val="0"/>
              </a:spcBef>
              <a:spcAft>
                <a:spcPts val="0"/>
              </a:spcAft>
              <a:buClr>
                <a:schemeClr val="dk1"/>
              </a:buClr>
              <a:buSzPts val="1200"/>
              <a:buFont typeface="Arial"/>
              <a:buNone/>
            </a:pPr>
            <a:endParaRPr/>
          </a:p>
          <a:p>
            <a:pPr marL="0" marR="0" lvl="0" indent="0" algn="l" rtl="0">
              <a:lnSpc>
                <a:spcPct val="100000"/>
              </a:lnSpc>
              <a:spcBef>
                <a:spcPts val="0"/>
              </a:spcBef>
              <a:spcAft>
                <a:spcPts val="0"/>
              </a:spcAft>
              <a:buClr>
                <a:schemeClr val="dk1"/>
              </a:buClr>
              <a:buSzPts val="1200"/>
              <a:buFont typeface="Arial"/>
              <a:buNone/>
            </a:pPr>
            <a:r>
              <a:rPr lang="en-US" b="1"/>
              <a:t>Notes:</a:t>
            </a:r>
            <a:endParaRPr/>
          </a:p>
          <a:p>
            <a:pPr marL="0" lvl="0" indent="0" algn="l" rtl="0">
              <a:lnSpc>
                <a:spcPct val="80000"/>
              </a:lnSpc>
              <a:spcBef>
                <a:spcPts val="0"/>
              </a:spcBef>
              <a:spcAft>
                <a:spcPts val="0"/>
              </a:spcAft>
              <a:buClr>
                <a:schemeClr val="dk1"/>
              </a:buClr>
              <a:buSzPts val="1200"/>
              <a:buFont typeface="Arial"/>
              <a:buNone/>
            </a:pPr>
            <a:r>
              <a:rPr lang="en-US" sz="1200" b="0"/>
              <a:t>1. </a:t>
            </a:r>
            <a:r>
              <a:rPr lang="en-US" sz="1200" b="0" u="sng"/>
              <a:t>Introduction to Security Challenges</a:t>
            </a:r>
            <a:endParaRPr b="0" u="sng"/>
          </a:p>
          <a:p>
            <a:pPr marL="571500" lvl="0" indent="-294640" algn="l" rtl="0">
              <a:lnSpc>
                <a:spcPct val="80000"/>
              </a:lnSpc>
              <a:spcBef>
                <a:spcPts val="0"/>
              </a:spcBef>
              <a:spcAft>
                <a:spcPts val="0"/>
              </a:spcAft>
              <a:buClr>
                <a:schemeClr val="dk1"/>
              </a:buClr>
              <a:buSzPts val="760"/>
              <a:buFont typeface="Arial"/>
              <a:buNone/>
            </a:pPr>
            <a:endParaRPr sz="1200"/>
          </a:p>
          <a:p>
            <a:pPr marL="0" lvl="0" indent="0" algn="l" rtl="0">
              <a:lnSpc>
                <a:spcPct val="80000"/>
              </a:lnSpc>
              <a:spcBef>
                <a:spcPts val="0"/>
              </a:spcBef>
              <a:spcAft>
                <a:spcPts val="0"/>
              </a:spcAft>
              <a:buClr>
                <a:schemeClr val="dk1"/>
              </a:buClr>
              <a:buSzPts val="1200"/>
              <a:buFont typeface="Arial"/>
              <a:buNone/>
            </a:pPr>
            <a:r>
              <a:rPr lang="en-US" sz="1200"/>
              <a:t>• As organizations scale, security threats become </a:t>
            </a:r>
            <a:r>
              <a:rPr lang="en-US" sz="1200" b="0" u="sng"/>
              <a:t>more complex and more challenging to monitor</a:t>
            </a:r>
            <a:r>
              <a:rPr lang="en-US" sz="1200"/>
              <a:t>.</a:t>
            </a:r>
            <a:endParaRPr/>
          </a:p>
          <a:p>
            <a:pPr marL="0" lvl="0" indent="0" algn="l" rtl="0">
              <a:lnSpc>
                <a:spcPct val="80000"/>
              </a:lnSpc>
              <a:spcBef>
                <a:spcPts val="0"/>
              </a:spcBef>
              <a:spcAft>
                <a:spcPts val="0"/>
              </a:spcAft>
              <a:buClr>
                <a:schemeClr val="dk1"/>
              </a:buClr>
              <a:buSzPts val="1200"/>
              <a:buFont typeface="Arial"/>
              <a:buNone/>
            </a:pPr>
            <a:r>
              <a:rPr lang="en-US" sz="1200"/>
              <a:t>• Traditional security tools often lack </a:t>
            </a:r>
            <a:r>
              <a:rPr lang="en-US" sz="1200" b="0"/>
              <a:t>integration, </a:t>
            </a:r>
            <a:r>
              <a:rPr lang="en-US" sz="1200" b="0" u="sng"/>
              <a:t>real-time visibility, and automation </a:t>
            </a:r>
            <a:r>
              <a:rPr lang="en-US" sz="1200"/>
              <a:t>in responding to threats across workloads and infrastructure.</a:t>
            </a:r>
            <a:endParaRPr/>
          </a:p>
          <a:p>
            <a:pPr marL="0" lvl="0" indent="0" algn="l" rtl="0">
              <a:lnSpc>
                <a:spcPct val="80000"/>
              </a:lnSpc>
              <a:spcBef>
                <a:spcPts val="0"/>
              </a:spcBef>
              <a:spcAft>
                <a:spcPts val="0"/>
              </a:spcAft>
              <a:buClr>
                <a:schemeClr val="dk1"/>
              </a:buClr>
              <a:buSzPts val="1200"/>
              <a:buFont typeface="Arial"/>
              <a:buNone/>
            </a:pPr>
            <a:r>
              <a:rPr lang="en-US" sz="1200"/>
              <a:t>• The VMware Cloud Foundation Operations Security Operations Dashboard offers a centralized, proactive approach to managing </a:t>
            </a:r>
            <a:r>
              <a:rPr lang="en-US" sz="1200" b="0" u="sng"/>
              <a:t>user and infrastructure security.</a:t>
            </a:r>
            <a:endParaRPr b="0" u="sng"/>
          </a:p>
          <a:p>
            <a:pPr marL="0" lvl="0" indent="0" algn="l" rtl="0">
              <a:lnSpc>
                <a:spcPct val="80000"/>
              </a:lnSpc>
              <a:spcBef>
                <a:spcPts val="0"/>
              </a:spcBef>
              <a:spcAft>
                <a:spcPts val="0"/>
              </a:spcAft>
              <a:buClr>
                <a:schemeClr val="dk1"/>
              </a:buClr>
              <a:buSzPts val="1200"/>
              <a:buFont typeface="Arial"/>
              <a:buNone/>
            </a:pPr>
            <a:endParaRPr sz="1200" b="0" u="sng"/>
          </a:p>
          <a:p>
            <a:pPr marL="0" lvl="0" indent="0" algn="l" rtl="0">
              <a:lnSpc>
                <a:spcPct val="80000"/>
              </a:lnSpc>
              <a:spcBef>
                <a:spcPts val="0"/>
              </a:spcBef>
              <a:spcAft>
                <a:spcPts val="0"/>
              </a:spcAft>
              <a:buClr>
                <a:schemeClr val="dk1"/>
              </a:buClr>
              <a:buSzPts val="1200"/>
              <a:buFont typeface="Arial"/>
              <a:buNone/>
            </a:pPr>
            <a:r>
              <a:rPr lang="en-US" sz="1200" b="0"/>
              <a:t>2. Ke</a:t>
            </a:r>
            <a:r>
              <a:rPr lang="en-US" sz="1200" b="0" u="sng"/>
              <a:t>y Features of the Security Dashboard</a:t>
            </a:r>
            <a:endParaRPr b="0" u="sng"/>
          </a:p>
          <a:p>
            <a:pPr marL="0" lvl="0" indent="0" algn="l" rtl="0">
              <a:lnSpc>
                <a:spcPct val="80000"/>
              </a:lnSpc>
              <a:spcBef>
                <a:spcPts val="0"/>
              </a:spcBef>
              <a:spcAft>
                <a:spcPts val="0"/>
              </a:spcAft>
              <a:buClr>
                <a:schemeClr val="dk1"/>
              </a:buClr>
              <a:buSzPts val="1200"/>
              <a:buFont typeface="Arial"/>
              <a:buNone/>
            </a:pPr>
            <a:endParaRPr sz="1200"/>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Enhanced Visibility: </a:t>
            </a:r>
            <a:r>
              <a:rPr lang="en-US" sz="1200" u="none"/>
              <a:t>The dashboard provides a clear and real-time </a:t>
            </a:r>
            <a:r>
              <a:rPr lang="en-US" sz="1200" b="0" u="none"/>
              <a:t>view of authentication activity, user permissions, and security advisories.</a:t>
            </a:r>
            <a:endParaRPr b="0"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User Security: </a:t>
            </a:r>
            <a:r>
              <a:rPr lang="en-US" sz="1200" u="none"/>
              <a:t>Tracks authentication failures, permission changes, and access modifications to detect suspicious behavior.</a:t>
            </a:r>
            <a:endParaRPr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Infrastructure Security:</a:t>
            </a:r>
            <a:endParaRPr/>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Advisories &amp; Vulnerabilities: </a:t>
            </a:r>
            <a:r>
              <a:rPr lang="en-US" sz="1200" u="none"/>
              <a:t>Monitors </a:t>
            </a:r>
            <a:r>
              <a:rPr lang="en-US" sz="1200" b="0" u="none"/>
              <a:t>CVE vulnerabilities </a:t>
            </a:r>
            <a:r>
              <a:rPr lang="en-US" sz="1200" u="none"/>
              <a:t>across the infrastructure.</a:t>
            </a:r>
            <a:endParaRPr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Host Encryption &amp; VM Encryption: </a:t>
            </a:r>
            <a:r>
              <a:rPr lang="en-US" sz="1200" u="none"/>
              <a:t>Ensures workloads are </a:t>
            </a:r>
            <a:r>
              <a:rPr lang="en-US" sz="1200" b="0" u="none"/>
              <a:t>protected against unauthorized access</a:t>
            </a:r>
            <a:r>
              <a:rPr lang="en-US" sz="1200" u="none"/>
              <a:t>.</a:t>
            </a:r>
            <a:endParaRPr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Cluster Encryption &amp; Certificates: </a:t>
            </a:r>
            <a:r>
              <a:rPr lang="en-US" sz="1200" u="none"/>
              <a:t>Keeps </a:t>
            </a:r>
            <a:r>
              <a:rPr lang="en-US" sz="1200" b="0" u="none"/>
              <a:t>data encryption </a:t>
            </a:r>
            <a:r>
              <a:rPr lang="en-US" sz="1200" u="none"/>
              <a:t>in check and manages security certificates.</a:t>
            </a:r>
            <a:endParaRPr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Holistic View Across VCF Deployments: </a:t>
            </a:r>
            <a:r>
              <a:rPr lang="en-US" sz="1200" u="none"/>
              <a:t>Security teams gain </a:t>
            </a:r>
            <a:r>
              <a:rPr lang="en-US" sz="1200" b="0" u="none"/>
              <a:t>a unified overview </a:t>
            </a:r>
            <a:r>
              <a:rPr lang="en-US" sz="1200" u="none"/>
              <a:t>of security risks across their entire VCF infrastructure.</a:t>
            </a:r>
            <a:endParaRPr u="none"/>
          </a:p>
          <a:p>
            <a:pPr marL="0" lvl="0" indent="0" algn="l" rtl="0">
              <a:lnSpc>
                <a:spcPct val="80000"/>
              </a:lnSpc>
              <a:spcBef>
                <a:spcPts val="0"/>
              </a:spcBef>
              <a:spcAft>
                <a:spcPts val="0"/>
              </a:spcAft>
              <a:buClr>
                <a:schemeClr val="dk1"/>
              </a:buClr>
              <a:buSzPts val="1200"/>
              <a:buFont typeface="Arial"/>
              <a:buNone/>
            </a:pPr>
            <a:endParaRPr sz="1200"/>
          </a:p>
          <a:p>
            <a:pPr marL="0" lvl="0" indent="0" algn="l" rtl="0">
              <a:lnSpc>
                <a:spcPct val="80000"/>
              </a:lnSpc>
              <a:spcBef>
                <a:spcPts val="0"/>
              </a:spcBef>
              <a:spcAft>
                <a:spcPts val="0"/>
              </a:spcAft>
              <a:buClr>
                <a:schemeClr val="dk1"/>
              </a:buClr>
              <a:buSzPts val="1200"/>
              <a:buFont typeface="Arial"/>
              <a:buNone/>
            </a:pPr>
            <a:r>
              <a:rPr lang="en-US" sz="1200"/>
              <a:t>3. </a:t>
            </a:r>
            <a:r>
              <a:rPr lang="en-US" sz="1200" b="0" u="sng"/>
              <a:t>What This Dashboard Solves</a:t>
            </a:r>
            <a:endParaRPr b="0" u="sng"/>
          </a:p>
          <a:p>
            <a:pPr marL="0" lvl="0" indent="0" algn="l" rtl="0">
              <a:lnSpc>
                <a:spcPct val="80000"/>
              </a:lnSpc>
              <a:spcBef>
                <a:spcPts val="0"/>
              </a:spcBef>
              <a:spcAft>
                <a:spcPts val="0"/>
              </a:spcAft>
              <a:buClr>
                <a:schemeClr val="dk1"/>
              </a:buClr>
              <a:buSzPts val="1200"/>
              <a:buFont typeface="Arial"/>
              <a:buNone/>
            </a:pPr>
            <a:endParaRPr sz="1200"/>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Lack of Centralized Security Management: </a:t>
            </a:r>
            <a:r>
              <a:rPr lang="en-US" sz="1200" u="none"/>
              <a:t>Provides a </a:t>
            </a:r>
            <a:r>
              <a:rPr lang="en-US" sz="1200" b="0" u="none"/>
              <a:t>single pane of glass </a:t>
            </a:r>
            <a:r>
              <a:rPr lang="en-US" sz="1200" u="none"/>
              <a:t>for security insights.</a:t>
            </a:r>
            <a:endParaRPr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Slow Threat Detection &amp; Response: </a:t>
            </a:r>
            <a:r>
              <a:rPr lang="en-US" sz="1200" u="none"/>
              <a:t>Proactively monitors authentication, permissions, and encryption status to </a:t>
            </a:r>
            <a:r>
              <a:rPr lang="en-US" sz="1200" b="0" u="none"/>
              <a:t>reduce attack surfaces.</a:t>
            </a:r>
            <a:endParaRPr b="0"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Visibility Gaps in Infrastructure Security: </a:t>
            </a:r>
            <a:r>
              <a:rPr lang="en-US" sz="1200" u="none"/>
              <a:t>This tool identifies </a:t>
            </a:r>
            <a:r>
              <a:rPr lang="en-US" sz="1200" b="0" u="none"/>
              <a:t>vulnerabilities</a:t>
            </a:r>
            <a:r>
              <a:rPr lang="en-US" sz="1200" u="none"/>
              <a:t> and provides a </a:t>
            </a:r>
            <a:r>
              <a:rPr lang="en-US" sz="1200" b="0" u="none"/>
              <a:t>clear security posture </a:t>
            </a:r>
            <a:r>
              <a:rPr lang="en-US" sz="1200" u="none"/>
              <a:t>across hosts, clusters, and workloads.</a:t>
            </a:r>
            <a:endParaRPr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Compliance &amp; Risk Management: </a:t>
            </a:r>
            <a:r>
              <a:rPr lang="en-US" sz="1200" u="none"/>
              <a:t>Helps organizations </a:t>
            </a:r>
            <a:r>
              <a:rPr lang="en-US" sz="1200" b="0" u="none"/>
              <a:t>stay compliant </a:t>
            </a:r>
            <a:r>
              <a:rPr lang="en-US" sz="1200" u="none"/>
              <a:t>by tracking encryption, security advisories, and access controls.</a:t>
            </a:r>
            <a:endParaRPr u="none"/>
          </a:p>
          <a:p>
            <a:pPr marL="0" lvl="0" indent="0" algn="l" rtl="0">
              <a:lnSpc>
                <a:spcPct val="80000"/>
              </a:lnSpc>
              <a:spcBef>
                <a:spcPts val="0"/>
              </a:spcBef>
              <a:spcAft>
                <a:spcPts val="0"/>
              </a:spcAft>
              <a:buClr>
                <a:schemeClr val="dk1"/>
              </a:buClr>
              <a:buSzPts val="1200"/>
              <a:buFont typeface="Arial"/>
              <a:buNone/>
            </a:pPr>
            <a:endParaRPr sz="1200"/>
          </a:p>
          <a:p>
            <a:pPr marL="0" lvl="0" indent="0" algn="l" rtl="0">
              <a:lnSpc>
                <a:spcPct val="80000"/>
              </a:lnSpc>
              <a:spcBef>
                <a:spcPts val="0"/>
              </a:spcBef>
              <a:spcAft>
                <a:spcPts val="0"/>
              </a:spcAft>
              <a:buClr>
                <a:schemeClr val="dk1"/>
              </a:buClr>
              <a:buSzPts val="1200"/>
              <a:buFont typeface="Arial"/>
              <a:buNone/>
            </a:pPr>
            <a:endParaRPr sz="1200"/>
          </a:p>
          <a:p>
            <a:pPr marL="0" lvl="0" indent="0" algn="l" rtl="0">
              <a:lnSpc>
                <a:spcPct val="80000"/>
              </a:lnSpc>
              <a:spcBef>
                <a:spcPts val="0"/>
              </a:spcBef>
              <a:spcAft>
                <a:spcPts val="0"/>
              </a:spcAft>
              <a:buClr>
                <a:schemeClr val="dk1"/>
              </a:buClr>
              <a:buSzPts val="1200"/>
              <a:buFont typeface="Arial"/>
              <a:buNone/>
            </a:pPr>
            <a:r>
              <a:rPr lang="en-US" sz="1200" b="0" u="sng"/>
              <a:t>Benefits:</a:t>
            </a:r>
            <a:endParaRPr/>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Proactive Defense: </a:t>
            </a:r>
            <a:r>
              <a:rPr lang="en-US" sz="1200" u="none"/>
              <a:t>Reduces risk by </a:t>
            </a:r>
            <a:r>
              <a:rPr lang="en-US" sz="1200" b="0" u="none"/>
              <a:t>detecting and addressing vulnerabilities </a:t>
            </a:r>
            <a:r>
              <a:rPr lang="en-US" sz="1200" u="none"/>
              <a:t>before exploitation.</a:t>
            </a:r>
            <a:endParaRPr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Improved Security &amp; Resilience: </a:t>
            </a:r>
            <a:r>
              <a:rPr lang="en-US" sz="1200" u="none"/>
              <a:t>Strengthens the organization’s security stance with </a:t>
            </a:r>
            <a:r>
              <a:rPr lang="en-US" sz="1200" b="0" u="none"/>
              <a:t>continuous monitoring.</a:t>
            </a:r>
            <a:endParaRPr b="0"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Faster Incident Response: </a:t>
            </a:r>
            <a:r>
              <a:rPr lang="en-US" sz="1200" u="none"/>
              <a:t>Identifies threats in real time, ensuring a </a:t>
            </a:r>
            <a:r>
              <a:rPr lang="en-US" sz="1200" b="0" u="none"/>
              <a:t>quicker response to potential security breaches.</a:t>
            </a:r>
            <a:endParaRPr b="0"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Better Compliance Management: </a:t>
            </a:r>
            <a:r>
              <a:rPr lang="en-US" sz="1200" u="none"/>
              <a:t>Helps organizations meet </a:t>
            </a:r>
            <a:r>
              <a:rPr lang="en-US" sz="1200" b="0" u="none"/>
              <a:t>security and compliance requirements </a:t>
            </a:r>
            <a:r>
              <a:rPr lang="en-US" sz="1200" u="none"/>
              <a:t>effortlessly.</a:t>
            </a:r>
            <a:endParaRPr u="none"/>
          </a:p>
          <a:p>
            <a:pPr marL="0" lvl="0" indent="0" algn="l" rtl="0">
              <a:lnSpc>
                <a:spcPct val="80000"/>
              </a:lnSpc>
              <a:spcBef>
                <a:spcPts val="0"/>
              </a:spcBef>
              <a:spcAft>
                <a:spcPts val="0"/>
              </a:spcAft>
              <a:buClr>
                <a:schemeClr val="dk1"/>
              </a:buClr>
              <a:buSzPts val="1200"/>
              <a:buFont typeface="Arial"/>
              <a:buNone/>
            </a:pPr>
            <a:r>
              <a:rPr lang="en-US" sz="1200" u="none"/>
              <a:t>• </a:t>
            </a:r>
            <a:r>
              <a:rPr lang="en-US" sz="1200" b="0" u="none"/>
              <a:t>Simplified Security Operations: </a:t>
            </a:r>
            <a:r>
              <a:rPr lang="en-US" sz="1200" u="none"/>
              <a:t>Eliminates the need for </a:t>
            </a:r>
            <a:r>
              <a:rPr lang="en-US" sz="1200" b="0" u="none"/>
              <a:t>multiple security tools </a:t>
            </a:r>
            <a:r>
              <a:rPr lang="en-US" sz="1200" u="none"/>
              <a:t>by consolidating insights into </a:t>
            </a:r>
            <a:r>
              <a:rPr lang="en-US" sz="1200" b="0" u="none"/>
              <a:t>one dashboard.</a:t>
            </a:r>
            <a:endParaRPr b="0" u="none"/>
          </a:p>
          <a:p>
            <a:pPr marL="0" marR="0" lvl="0" indent="0" algn="l" rtl="0">
              <a:lnSpc>
                <a:spcPct val="100000"/>
              </a:lnSpc>
              <a:spcBef>
                <a:spcPts val="0"/>
              </a:spcBef>
              <a:spcAft>
                <a:spcPts val="0"/>
              </a:spcAft>
              <a:buClr>
                <a:schemeClr val="dk1"/>
              </a:buClr>
              <a:buSzPts val="1200"/>
              <a:buFont typeface="Arial"/>
              <a:buNone/>
            </a:pPr>
            <a:endParaRPr b="1"/>
          </a:p>
          <a:p>
            <a:pPr marL="0" marR="0" lvl="0" indent="0" algn="l" rtl="0">
              <a:lnSpc>
                <a:spcPct val="100000"/>
              </a:lnSpc>
              <a:spcBef>
                <a:spcPts val="0"/>
              </a:spcBef>
              <a:spcAft>
                <a:spcPts val="0"/>
              </a:spcAft>
              <a:buClr>
                <a:schemeClr val="dk1"/>
              </a:buClr>
              <a:buSzPts val="1200"/>
              <a:buFont typeface="Arial"/>
              <a:buNone/>
            </a:pPr>
            <a:endParaRPr b="1"/>
          </a:p>
          <a:p>
            <a:pPr marL="0" marR="0" lvl="0" indent="0" algn="l" rtl="0">
              <a:lnSpc>
                <a:spcPct val="100000"/>
              </a:lnSpc>
              <a:spcBef>
                <a:spcPts val="0"/>
              </a:spcBef>
              <a:spcAft>
                <a:spcPts val="0"/>
              </a:spcAft>
              <a:buClr>
                <a:schemeClr val="dk1"/>
              </a:buClr>
              <a:buSzPts val="1200"/>
              <a:buFont typeface="Arial"/>
              <a:buNone/>
            </a:pPr>
            <a:r>
              <a:rPr lang="en-US" b="1"/>
              <a:t>Resources:</a:t>
            </a:r>
            <a:endParaRPr/>
          </a:p>
          <a:p>
            <a:pPr marL="0" lvl="0" indent="0" algn="l" rtl="0">
              <a:spcBef>
                <a:spcPts val="0"/>
              </a:spcBef>
              <a:spcAft>
                <a:spcPts val="0"/>
              </a:spcAft>
              <a:buNone/>
            </a:pPr>
            <a:endParaRPr/>
          </a:p>
        </p:txBody>
      </p:sp>
      <p:sp>
        <p:nvSpPr>
          <p:cNvPr id="8763" name="Google Shape;8763;p8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34</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0"/>
        <p:cNvGrpSpPr/>
        <p:nvPr/>
      </p:nvGrpSpPr>
      <p:grpSpPr>
        <a:xfrm>
          <a:off x="0" y="0"/>
          <a:ext cx="0" cy="0"/>
          <a:chOff x="0" y="0"/>
          <a:chExt cx="0" cy="0"/>
        </a:xfrm>
      </p:grpSpPr>
      <p:sp>
        <p:nvSpPr>
          <p:cNvPr id="8771" name="Google Shape;8771;p8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2" name="Google Shape;8772;p8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dk1"/>
              </a:buClr>
              <a:buSzPts val="390"/>
              <a:buFont typeface="Arial"/>
              <a:buNone/>
            </a:pPr>
            <a:r>
              <a:rPr lang="en-US" sz="390" b="1">
                <a:latin typeface="Arial"/>
                <a:ea typeface="Arial"/>
                <a:cs typeface="Arial"/>
                <a:sym typeface="Arial"/>
              </a:rPr>
              <a:t>Presenter Note:  This slide contains animation</a:t>
            </a:r>
            <a:endParaRPr/>
          </a:p>
          <a:p>
            <a:pPr marL="0" lvl="0" indent="0" algn="l" rtl="0">
              <a:lnSpc>
                <a:spcPct val="80000"/>
              </a:lnSpc>
              <a:spcBef>
                <a:spcPts val="0"/>
              </a:spcBef>
              <a:spcAft>
                <a:spcPts val="0"/>
              </a:spcAft>
              <a:buNone/>
            </a:pPr>
            <a:endParaRPr sz="390" b="1"/>
          </a:p>
          <a:p>
            <a:pPr marL="0" lvl="0" indent="0" algn="l" rtl="0">
              <a:lnSpc>
                <a:spcPct val="80000"/>
              </a:lnSpc>
              <a:spcBef>
                <a:spcPts val="0"/>
              </a:spcBef>
              <a:spcAft>
                <a:spcPts val="0"/>
              </a:spcAft>
              <a:buNone/>
            </a:pPr>
            <a:r>
              <a:rPr lang="en-US" sz="390" b="1"/>
              <a:t>Key Message/Talk track:</a:t>
            </a:r>
            <a:endParaRPr/>
          </a:p>
          <a:p>
            <a:pPr marL="0" lvl="0" indent="0" algn="l" rtl="0">
              <a:lnSpc>
                <a:spcPct val="80000"/>
              </a:lnSpc>
              <a:spcBef>
                <a:spcPts val="0"/>
              </a:spcBef>
              <a:spcAft>
                <a:spcPts val="0"/>
              </a:spcAft>
              <a:buNone/>
            </a:pPr>
            <a:r>
              <a:rPr lang="en-US" sz="390" b="0"/>
              <a:t>The introduction of vSAN Data Protection in VCF 5.2 delivered local data protection using vSAN ESA’s powerful and efficient snapshotting.  </a:t>
            </a:r>
            <a:r>
              <a:rPr lang="en-US" sz="390" b="1"/>
              <a:t>vSAN Data Protection in VCF 9.0 extends this ability even further with the support of replication of those snapshots to another vSAN cluster.  </a:t>
            </a:r>
            <a:r>
              <a:rPr lang="en-US" sz="390" b="0"/>
              <a:t>When using the VMware Live Recovery (VLR) addon, customers can easily create snapshots on a target cluster on premises, or off premises.  VLR, or more specifically, VMware Live Site Recovery (VLSR) can be used to take these snapshots and recover or failover to the other location.   Best of all, just like local snapshots, the policies defining frequency and retention of replicated snapshots can be achieved lightweight protection groups, so it behaves exactly as you would see it using local snapshots.  Replicated snapshots can be ideal for DR, isolated recovery or long-term archiving objectives.</a:t>
            </a:r>
            <a:endParaRPr sz="390" b="1"/>
          </a:p>
          <a:p>
            <a:pPr marL="0" lvl="0" indent="0" algn="l" rtl="0">
              <a:lnSpc>
                <a:spcPct val="80000"/>
              </a:lnSpc>
              <a:spcBef>
                <a:spcPts val="0"/>
              </a:spcBef>
              <a:spcAft>
                <a:spcPts val="0"/>
              </a:spcAft>
              <a:buNone/>
            </a:pPr>
            <a:r>
              <a:rPr lang="en-US" sz="390"/>
              <a:t>----------------------------------</a:t>
            </a:r>
            <a:endParaRPr/>
          </a:p>
          <a:p>
            <a:pPr marL="0" lvl="0" indent="0" algn="l" rtl="0">
              <a:lnSpc>
                <a:spcPct val="80000"/>
              </a:lnSpc>
              <a:spcBef>
                <a:spcPts val="0"/>
              </a:spcBef>
              <a:spcAft>
                <a:spcPts val="0"/>
              </a:spcAft>
              <a:buNone/>
            </a:pPr>
            <a:r>
              <a:rPr lang="en-US" sz="390" b="1"/>
              <a:t>Overview:</a:t>
            </a:r>
            <a:endParaRPr/>
          </a:p>
          <a:p>
            <a:pPr marL="171450" lvl="0" indent="-171450" algn="l" rtl="0">
              <a:lnSpc>
                <a:spcPct val="80000"/>
              </a:lnSpc>
              <a:spcBef>
                <a:spcPts val="0"/>
              </a:spcBef>
              <a:spcAft>
                <a:spcPts val="0"/>
              </a:spcAft>
              <a:buClr>
                <a:schemeClr val="dk1"/>
              </a:buClr>
              <a:buSzPts val="390"/>
              <a:buFont typeface="Arial"/>
              <a:buChar char="•"/>
            </a:pPr>
            <a:r>
              <a:rPr lang="en-US" sz="390"/>
              <a:t>Protect VMs </a:t>
            </a:r>
            <a:r>
              <a:rPr lang="en-US" sz="390" b="1"/>
              <a:t>locally and remotely </a:t>
            </a:r>
            <a:r>
              <a:rPr lang="en-US" sz="390"/>
              <a:t>using vSAN ESA snapshots</a:t>
            </a:r>
            <a:endParaRPr/>
          </a:p>
          <a:p>
            <a:pPr marL="171450" lvl="0" indent="-171450" algn="l" rtl="0">
              <a:lnSpc>
                <a:spcPct val="80000"/>
              </a:lnSpc>
              <a:spcBef>
                <a:spcPts val="0"/>
              </a:spcBef>
              <a:spcAft>
                <a:spcPts val="0"/>
              </a:spcAft>
              <a:buClr>
                <a:schemeClr val="dk1"/>
              </a:buClr>
              <a:buSzPts val="390"/>
              <a:buFont typeface="Arial"/>
              <a:buChar char="•"/>
            </a:pPr>
            <a:r>
              <a:rPr lang="en-US" sz="390"/>
              <a:t>Replicate and recover courtesy of the </a:t>
            </a:r>
            <a:r>
              <a:rPr lang="en-US" sz="390" b="1"/>
              <a:t>VMware Live Recovery (VLR) </a:t>
            </a:r>
            <a:endParaRPr/>
          </a:p>
          <a:p>
            <a:pPr marL="171450" lvl="0" indent="-171450" algn="l" rtl="0">
              <a:lnSpc>
                <a:spcPct val="80000"/>
              </a:lnSpc>
              <a:spcBef>
                <a:spcPts val="0"/>
              </a:spcBef>
              <a:spcAft>
                <a:spcPts val="0"/>
              </a:spcAft>
              <a:buClr>
                <a:schemeClr val="dk1"/>
              </a:buClr>
              <a:buSzPts val="390"/>
              <a:buFont typeface="Arial"/>
              <a:buChar char="•"/>
            </a:pPr>
            <a:r>
              <a:rPr lang="en-US" sz="390"/>
              <a:t>Use policy-based </a:t>
            </a:r>
            <a:r>
              <a:rPr lang="en-US" sz="390" b="1"/>
              <a:t>protection groups</a:t>
            </a:r>
            <a:r>
              <a:rPr lang="en-US" sz="390"/>
              <a:t> to define local and remote protection outcomes</a:t>
            </a:r>
            <a:endParaRPr/>
          </a:p>
          <a:p>
            <a:pPr marL="171450" lvl="0" indent="-171450" algn="l" rtl="0">
              <a:lnSpc>
                <a:spcPct val="80000"/>
              </a:lnSpc>
              <a:spcBef>
                <a:spcPts val="0"/>
              </a:spcBef>
              <a:spcAft>
                <a:spcPts val="0"/>
              </a:spcAft>
              <a:buClr>
                <a:schemeClr val="dk1"/>
              </a:buClr>
              <a:buSzPts val="390"/>
              <a:buFont typeface="Arial"/>
              <a:buChar char="•"/>
            </a:pPr>
            <a:r>
              <a:rPr lang="en-US" sz="390"/>
              <a:t>Create relationships between multiple sites using site pairs</a:t>
            </a:r>
            <a:endParaRPr/>
          </a:p>
          <a:p>
            <a:pPr marL="171450" lvl="0" indent="-171450" algn="l" rtl="0">
              <a:lnSpc>
                <a:spcPct val="80000"/>
              </a:lnSpc>
              <a:spcBef>
                <a:spcPts val="0"/>
              </a:spcBef>
              <a:spcAft>
                <a:spcPts val="0"/>
              </a:spcAft>
              <a:buClr>
                <a:schemeClr val="dk1"/>
              </a:buClr>
              <a:buSzPts val="390"/>
              <a:buFont typeface="Arial"/>
              <a:buChar char="•"/>
            </a:pPr>
            <a:r>
              <a:rPr lang="en-US" sz="390"/>
              <a:t>Ideal for </a:t>
            </a:r>
            <a:r>
              <a:rPr lang="en-US" sz="390" b="1"/>
              <a:t>disaster recovery, isolated recovery or long-term archiving</a:t>
            </a:r>
            <a:endParaRPr/>
          </a:p>
          <a:p>
            <a:pPr marL="171450" lvl="0" indent="-171450" algn="l" rtl="0">
              <a:lnSpc>
                <a:spcPct val="80000"/>
              </a:lnSpc>
              <a:spcBef>
                <a:spcPts val="0"/>
              </a:spcBef>
              <a:spcAft>
                <a:spcPts val="0"/>
              </a:spcAft>
              <a:buClr>
                <a:schemeClr val="dk1"/>
              </a:buClr>
              <a:buSzPts val="390"/>
              <a:buFont typeface="Arial"/>
              <a:buChar char="•"/>
            </a:pPr>
            <a:r>
              <a:rPr lang="en-US" sz="390"/>
              <a:t>Supports </a:t>
            </a:r>
            <a:r>
              <a:rPr lang="en-US" sz="390" b="1"/>
              <a:t>vSAN HCI </a:t>
            </a:r>
            <a:r>
              <a:rPr lang="en-US" sz="390"/>
              <a:t>and </a:t>
            </a:r>
            <a:r>
              <a:rPr lang="en-US" sz="390" b="1"/>
              <a:t>vSAN storage clusters</a:t>
            </a:r>
            <a:endParaRPr/>
          </a:p>
          <a:p>
            <a:pPr marL="0" lvl="0" indent="0" algn="l" rtl="0">
              <a:lnSpc>
                <a:spcPct val="80000"/>
              </a:lnSpc>
              <a:spcBef>
                <a:spcPts val="1779"/>
              </a:spcBef>
              <a:spcAft>
                <a:spcPts val="0"/>
              </a:spcAft>
              <a:buClr>
                <a:schemeClr val="dk1"/>
              </a:buClr>
              <a:buSzPts val="390"/>
              <a:buFont typeface="Arial"/>
              <a:buNone/>
            </a:pPr>
            <a:r>
              <a:rPr lang="en-US" sz="390"/>
              <a:t>----------------------------------</a:t>
            </a:r>
            <a:endParaRPr/>
          </a:p>
          <a:p>
            <a:pPr marL="0" lvl="0" indent="0" algn="l" rtl="0">
              <a:lnSpc>
                <a:spcPct val="80000"/>
              </a:lnSpc>
              <a:spcBef>
                <a:spcPts val="0"/>
              </a:spcBef>
              <a:spcAft>
                <a:spcPts val="0"/>
              </a:spcAft>
              <a:buNone/>
            </a:pPr>
            <a:r>
              <a:rPr lang="en-US" sz="390" b="1"/>
              <a:t>Details:</a:t>
            </a:r>
            <a:endParaRPr/>
          </a:p>
          <a:p>
            <a:pPr marL="171450" lvl="0" indent="-171450" algn="l" rtl="0">
              <a:lnSpc>
                <a:spcPct val="80000"/>
              </a:lnSpc>
              <a:spcBef>
                <a:spcPts val="0"/>
              </a:spcBef>
              <a:spcAft>
                <a:spcPts val="0"/>
              </a:spcAft>
              <a:buClr>
                <a:schemeClr val="dk1"/>
              </a:buClr>
              <a:buSzPts val="390"/>
              <a:buFont typeface="Arial"/>
              <a:buChar char="•"/>
            </a:pPr>
            <a:r>
              <a:rPr lang="en-US" sz="390" b="0"/>
              <a:t>vSAN 8 U3 introduced vSAN Data Protection.  This provided a flexible and efficient way to use vSAN ESA’s high performance snapshot engine to augment customer’s existing protection strategies.  While it introduced new ways that customers could recover and clone existing VM workloads, it didn’t support the ability to replicate the data to another vSAN cluster.</a:t>
            </a:r>
            <a:endParaRPr/>
          </a:p>
          <a:p>
            <a:pPr marL="171450" lvl="0" indent="-171450" algn="l" rtl="0">
              <a:lnSpc>
                <a:spcPct val="80000"/>
              </a:lnSpc>
              <a:spcBef>
                <a:spcPts val="0"/>
              </a:spcBef>
              <a:spcAft>
                <a:spcPts val="0"/>
              </a:spcAft>
              <a:buClr>
                <a:schemeClr val="dk1"/>
              </a:buClr>
              <a:buSzPts val="390"/>
              <a:buFont typeface="Arial"/>
              <a:buChar char="•"/>
            </a:pPr>
            <a:r>
              <a:rPr lang="en-US" sz="390" b="0"/>
              <a:t>vSAN in VCF 9.0 extends vSAN Data Protection.  This will allow customers to </a:t>
            </a:r>
            <a:r>
              <a:rPr lang="en-US" sz="390" b="1"/>
              <a:t>protect workloads locally AND remotely </a:t>
            </a:r>
            <a:r>
              <a:rPr lang="en-US" sz="390" b="0"/>
              <a:t>in a fast, efficient, and easy manner.  This replication ability will be enabled by using the VMware Live Recovery addon.  </a:t>
            </a:r>
            <a:endParaRPr/>
          </a:p>
          <a:p>
            <a:pPr marL="171450" lvl="0" indent="-171450" algn="l" rtl="0">
              <a:lnSpc>
                <a:spcPct val="80000"/>
              </a:lnSpc>
              <a:spcBef>
                <a:spcPts val="0"/>
              </a:spcBef>
              <a:spcAft>
                <a:spcPts val="0"/>
              </a:spcAft>
              <a:buClr>
                <a:schemeClr val="dk1"/>
              </a:buClr>
              <a:buSzPts val="390"/>
              <a:buFont typeface="Arial"/>
              <a:buChar char="•"/>
            </a:pPr>
            <a:r>
              <a:rPr lang="en-US" sz="390" b="1"/>
              <a:t>Since this is a feature that is only capable with an addon license of VLR, the material in this slide will be a general overview of the capability.  For a more comprehensive understanding on the capabilities, requirements and limits of vSAN-to-vSAN replication, see the official collateral created for VLR.</a:t>
            </a:r>
            <a:endParaRPr/>
          </a:p>
          <a:p>
            <a:pPr marL="171450" marR="0" lvl="0" indent="-171450" algn="l" rtl="0">
              <a:lnSpc>
                <a:spcPct val="80000"/>
              </a:lnSpc>
              <a:spcBef>
                <a:spcPts val="0"/>
              </a:spcBef>
              <a:spcAft>
                <a:spcPts val="0"/>
              </a:spcAft>
              <a:buClr>
                <a:schemeClr val="dk1"/>
              </a:buClr>
              <a:buSzPts val="390"/>
              <a:buFont typeface="Arial"/>
              <a:buChar char="•"/>
            </a:pPr>
            <a:r>
              <a:rPr lang="en-US" sz="390" b="0"/>
              <a:t>Protection groups remain as the method for assigning protection outcomes.  This includes VM grouping, protection schedules, retention schedules, etc.  It will be extended by allowing for the configuration of remote protection policies in addition to the local protection policies introduced in vSAN 8 U3.  </a:t>
            </a:r>
            <a:endParaRPr/>
          </a:p>
          <a:p>
            <a:pPr marL="628650" marR="0" lvl="1" indent="-171450" algn="l" rtl="0">
              <a:lnSpc>
                <a:spcPct val="80000"/>
              </a:lnSpc>
              <a:spcBef>
                <a:spcPts val="0"/>
              </a:spcBef>
              <a:spcAft>
                <a:spcPts val="0"/>
              </a:spcAft>
              <a:buClr>
                <a:schemeClr val="dk1"/>
              </a:buClr>
              <a:buSzPts val="390"/>
              <a:buFont typeface="Arial"/>
              <a:buChar char="•"/>
            </a:pPr>
            <a:r>
              <a:rPr lang="en-US" sz="390" b="0"/>
              <a:t>It is the protection group that defines direction.  This allows customers to define replication that occurs in one direction, or both directions. </a:t>
            </a:r>
            <a:endParaRPr/>
          </a:p>
          <a:p>
            <a:pPr marL="628650" marR="0" lvl="1" indent="-171450" algn="l" rtl="0">
              <a:lnSpc>
                <a:spcPct val="80000"/>
              </a:lnSpc>
              <a:spcBef>
                <a:spcPts val="0"/>
              </a:spcBef>
              <a:spcAft>
                <a:spcPts val="0"/>
              </a:spcAft>
              <a:buClr>
                <a:schemeClr val="dk1"/>
              </a:buClr>
              <a:buSzPts val="390"/>
              <a:buFont typeface="Arial"/>
              <a:buChar char="•"/>
            </a:pPr>
            <a:r>
              <a:rPr lang="en-US" sz="390" b="0"/>
              <a:t>Within a protection group, a user can choose to perform both a local snapshot and a remote replica, or just a remote replica.  A local snapshot does not need to be created for a remote replica to occur.   </a:t>
            </a:r>
            <a:endParaRPr/>
          </a:p>
          <a:p>
            <a:pPr marL="171450" lvl="0" indent="-171450" algn="l" rtl="0">
              <a:lnSpc>
                <a:spcPct val="80000"/>
              </a:lnSpc>
              <a:spcBef>
                <a:spcPts val="0"/>
              </a:spcBef>
              <a:spcAft>
                <a:spcPts val="0"/>
              </a:spcAft>
              <a:buClr>
                <a:schemeClr val="dk1"/>
              </a:buClr>
              <a:buSzPts val="390"/>
              <a:buFont typeface="Arial"/>
              <a:buChar char="•"/>
            </a:pPr>
            <a:r>
              <a:rPr lang="en-US" sz="390" b="0"/>
              <a:t>For vSAN-to-vSAN replication, we are performing the replication step through the lightweight delta (LWD) mechanism as a part of vSphere Replication.  This is what provides the coordination and the transport of the replica.  Once the replica lands at the target site, an ESA snapshot is performed at the target, and our control plane will show a replica now living at the target location.  This means that we perform replication using an approach of a “replicate and snapshot” versus “snapshot and replicate” as more commonly found with traditional storage solutions.   We do this for several reasons, including, but not limited to:</a:t>
            </a:r>
            <a:endParaRPr/>
          </a:p>
          <a:p>
            <a:pPr marL="628650" lvl="1" indent="-171450" algn="l" rtl="0">
              <a:lnSpc>
                <a:spcPct val="80000"/>
              </a:lnSpc>
              <a:spcBef>
                <a:spcPts val="0"/>
              </a:spcBef>
              <a:spcAft>
                <a:spcPts val="0"/>
              </a:spcAft>
              <a:buClr>
                <a:schemeClr val="dk1"/>
              </a:buClr>
              <a:buSzPts val="390"/>
              <a:buFont typeface="Arial"/>
              <a:buChar char="•"/>
            </a:pPr>
            <a:r>
              <a:rPr lang="en-US" sz="390" b="1"/>
              <a:t>Utilize vSphere Replications highly sophisticated transport engine for supreme efficiency.  </a:t>
            </a:r>
            <a:r>
              <a:rPr lang="en-US" sz="390" b="0"/>
              <a:t>The LWD mechanism in vSphere replication is serves as an ideal control plane and transport method.  This newer version is what gives us as low as 1-minute RPOs, and uses scalable host-to-host replication as opposed to old methods that funneled replica traffic through a virtual appliance.</a:t>
            </a:r>
            <a:endParaRPr/>
          </a:p>
          <a:p>
            <a:pPr marL="628650" lvl="1" indent="-171450" algn="l" rtl="0">
              <a:lnSpc>
                <a:spcPct val="80000"/>
              </a:lnSpc>
              <a:spcBef>
                <a:spcPts val="0"/>
              </a:spcBef>
              <a:spcAft>
                <a:spcPts val="0"/>
              </a:spcAft>
              <a:buClr>
                <a:schemeClr val="dk1"/>
              </a:buClr>
              <a:buSzPts val="390"/>
              <a:buFont typeface="Arial"/>
              <a:buChar char="•"/>
            </a:pPr>
            <a:r>
              <a:rPr lang="en-US" sz="390" b="1"/>
              <a:t>The ability to have full copies of VMs at both sites.  </a:t>
            </a:r>
            <a:r>
              <a:rPr lang="en-US" sz="390" b="0"/>
              <a:t>Replication is often serving a greater purpose, such as a site failover or failback, or perhaps an isolated recovery environment.  Having complete copies of VMs at both sites, and not just the delta changes is what provides maximum flexibility for customer use cases.  This is especially important when considering how solutions like VLR (in particular (VLSR) assume complete copies of data for its recovery plans.</a:t>
            </a:r>
            <a:endParaRPr/>
          </a:p>
          <a:p>
            <a:pPr marL="628650" lvl="1" indent="-171450" algn="l" rtl="0">
              <a:lnSpc>
                <a:spcPct val="80000"/>
              </a:lnSpc>
              <a:spcBef>
                <a:spcPts val="0"/>
              </a:spcBef>
              <a:spcAft>
                <a:spcPts val="0"/>
              </a:spcAft>
              <a:buClr>
                <a:schemeClr val="dk1"/>
              </a:buClr>
              <a:buSzPts val="390"/>
              <a:buFont typeface="Arial"/>
              <a:buChar char="•"/>
            </a:pPr>
            <a:r>
              <a:rPr lang="en-US" sz="390" b="1"/>
              <a:t>Minimal dependency chain.  </a:t>
            </a:r>
            <a:r>
              <a:rPr lang="en-US" sz="390" b="0"/>
              <a:t>If one were to only replicate snapshots changes, this would place full dependency on the need for the source VM at the original location, which would limit the failure scenarios that this would be able to protect against.  Having fully VM autonomy provides the highest flexibility for recovery and reprotection of VMs.</a:t>
            </a:r>
            <a:endParaRPr sz="390" b="1"/>
          </a:p>
          <a:p>
            <a:pPr marL="628650" lvl="1" indent="-171450" algn="l" rtl="0">
              <a:lnSpc>
                <a:spcPct val="80000"/>
              </a:lnSpc>
              <a:spcBef>
                <a:spcPts val="0"/>
              </a:spcBef>
              <a:spcAft>
                <a:spcPts val="0"/>
              </a:spcAft>
              <a:buClr>
                <a:schemeClr val="dk1"/>
              </a:buClr>
              <a:buSzPts val="390"/>
              <a:buFont typeface="Arial"/>
              <a:buChar char="•"/>
            </a:pPr>
            <a:r>
              <a:rPr lang="en-US" sz="390" b="1"/>
              <a:t>Having complete copies at both sites will allow for deep snapshots at both sites.  </a:t>
            </a:r>
            <a:r>
              <a:rPr lang="en-US" sz="390" b="0"/>
              <a:t>A key ability of vSAN data protection is the ability to create a deep chain of snapshots (currently up to 200 snapshots per VM).  When we create copies at both sites, this extends our flexibility in snapshot retention beyond the native limitations of vSphere Replication which is typically limited to 24 snapshots.  </a:t>
            </a:r>
            <a:endParaRPr/>
          </a:p>
          <a:p>
            <a:pPr marL="628650" lvl="1" indent="-171450" algn="l" rtl="0">
              <a:lnSpc>
                <a:spcPct val="80000"/>
              </a:lnSpc>
              <a:spcBef>
                <a:spcPts val="0"/>
              </a:spcBef>
              <a:spcAft>
                <a:spcPts val="0"/>
              </a:spcAft>
              <a:buClr>
                <a:schemeClr val="dk1"/>
              </a:buClr>
              <a:buSzPts val="390"/>
              <a:buFont typeface="Arial"/>
              <a:buChar char="•"/>
            </a:pPr>
            <a:r>
              <a:rPr lang="en-US" sz="390" b="1"/>
              <a:t>Full protection and recovery API and UI.  </a:t>
            </a:r>
            <a:r>
              <a:rPr lang="en-US" sz="390" b="0"/>
              <a:t>By replicating the VM to a target site then using ESA snapshots with vSAN Data Protection, this provides a full recovery and management API and UI, where as vSphere Replication on its own does not have a recovery API and a UI that was not integrated with vCenter Server.  </a:t>
            </a:r>
            <a:endParaRPr/>
          </a:p>
          <a:p>
            <a:pPr marL="628650" lvl="1" indent="-171450" algn="l" rtl="0">
              <a:lnSpc>
                <a:spcPct val="80000"/>
              </a:lnSpc>
              <a:spcBef>
                <a:spcPts val="0"/>
              </a:spcBef>
              <a:spcAft>
                <a:spcPts val="0"/>
              </a:spcAft>
              <a:buClr>
                <a:schemeClr val="dk1"/>
              </a:buClr>
              <a:buSzPts val="390"/>
              <a:buFont typeface="Arial"/>
              <a:buChar char="•"/>
            </a:pPr>
            <a:r>
              <a:rPr lang="en-US" sz="390" b="1"/>
              <a:t>Fast local snapshots.  </a:t>
            </a:r>
            <a:r>
              <a:rPr lang="en-US" sz="390" b="0"/>
              <a:t>This offers better point-in-time recovery for VMs because vSAN snapshots do not require a stun of the VM.</a:t>
            </a:r>
            <a:endParaRPr/>
          </a:p>
          <a:p>
            <a:pPr marL="171450" lvl="0" indent="-171450" algn="l" rtl="0">
              <a:lnSpc>
                <a:spcPct val="80000"/>
              </a:lnSpc>
              <a:spcBef>
                <a:spcPts val="0"/>
              </a:spcBef>
              <a:spcAft>
                <a:spcPts val="0"/>
              </a:spcAft>
              <a:buClr>
                <a:schemeClr val="dk1"/>
              </a:buClr>
              <a:buSzPts val="390"/>
              <a:buFont typeface="Arial"/>
              <a:buChar char="•"/>
            </a:pPr>
            <a:r>
              <a:rPr lang="en-US" sz="390" b="0"/>
              <a:t>In this release, the control-plane virtual appliances that were used by the discrete features and products such as vSAN Data Protection, Site Recovery Manager (now called VMware Live Site Recovery or VLSR) and vSphere Replication have all been consolidated into a single virtual appliance.  This dedicated protection combined appliance (DPCA or DPA in the UI) will provide a much simpler experience for deployment and ongoing management.  </a:t>
            </a:r>
            <a:endParaRPr/>
          </a:p>
          <a:p>
            <a:pPr marL="171450" lvl="0" indent="-171450" algn="l" rtl="0">
              <a:lnSpc>
                <a:spcPct val="80000"/>
              </a:lnSpc>
              <a:spcBef>
                <a:spcPts val="0"/>
              </a:spcBef>
              <a:spcAft>
                <a:spcPts val="0"/>
              </a:spcAft>
              <a:buClr>
                <a:schemeClr val="dk1"/>
              </a:buClr>
              <a:buSzPts val="390"/>
              <a:buFont typeface="Arial"/>
              <a:buChar char="•"/>
            </a:pPr>
            <a:r>
              <a:rPr lang="en-US" sz="390" b="0"/>
              <a:t>Customers currently using vSAN Data Protection in vSAN 8 U3 will be provided with a guided workflow to migrate the content of the old data protection appliance into the new DPCA in VCF 9.0</a:t>
            </a:r>
            <a:endParaRPr/>
          </a:p>
          <a:p>
            <a:pPr marL="171450" lvl="0" indent="-171450" algn="l" rtl="0">
              <a:lnSpc>
                <a:spcPct val="80000"/>
              </a:lnSpc>
              <a:spcBef>
                <a:spcPts val="0"/>
              </a:spcBef>
              <a:spcAft>
                <a:spcPts val="0"/>
              </a:spcAft>
              <a:buClr>
                <a:schemeClr val="dk1"/>
              </a:buClr>
              <a:buSzPts val="390"/>
              <a:buFont typeface="Arial"/>
              <a:buChar char="•"/>
            </a:pPr>
            <a:r>
              <a:rPr lang="en-US" sz="390" b="0"/>
              <a:t>The Host-Based Replication (HBR) Management System (HMS) is the mechanism responsible for maintaining relationships between clusters (e.g. site pairing) and the synchronization of protection groups and their metadata.  It will typically play a part in report of helping to report VM snapshot instances, etc.</a:t>
            </a:r>
            <a:endParaRPr/>
          </a:p>
          <a:p>
            <a:pPr marL="171450" lvl="0" indent="-171450" algn="l" rtl="0">
              <a:lnSpc>
                <a:spcPct val="80000"/>
              </a:lnSpc>
              <a:spcBef>
                <a:spcPts val="0"/>
              </a:spcBef>
              <a:spcAft>
                <a:spcPts val="0"/>
              </a:spcAft>
              <a:buClr>
                <a:schemeClr val="dk1"/>
              </a:buClr>
              <a:buSzPts val="390"/>
              <a:buFont typeface="Arial"/>
              <a:buChar char="•"/>
            </a:pPr>
            <a:r>
              <a:rPr lang="en-US" sz="390" b="0"/>
              <a:t>Establishing a relationship between two sites is known in the UI as a “site pair.”  The pair is what allows for the protection groups to define not only local protection policies, but remote protection policies.</a:t>
            </a:r>
            <a:endParaRPr/>
          </a:p>
          <a:p>
            <a:pPr marL="628650" lvl="1" indent="-171450" algn="l" rtl="0">
              <a:lnSpc>
                <a:spcPct val="80000"/>
              </a:lnSpc>
              <a:spcBef>
                <a:spcPts val="0"/>
              </a:spcBef>
              <a:spcAft>
                <a:spcPts val="0"/>
              </a:spcAft>
              <a:buClr>
                <a:schemeClr val="dk1"/>
              </a:buClr>
              <a:buSzPts val="390"/>
              <a:buFont typeface="Arial"/>
              <a:buChar char="•"/>
            </a:pPr>
            <a:r>
              <a:rPr lang="en-US" sz="390" b="0"/>
              <a:t>A source vSAN cluster can be configured to more than one target vSAN cluster (1:many), but the VMs in a protection group can only replicate to a single target vSAN cluster.</a:t>
            </a:r>
            <a:endParaRPr/>
          </a:p>
          <a:p>
            <a:pPr marL="628650" lvl="1" indent="-171450" algn="l" rtl="0">
              <a:lnSpc>
                <a:spcPct val="80000"/>
              </a:lnSpc>
              <a:spcBef>
                <a:spcPts val="0"/>
              </a:spcBef>
              <a:spcAft>
                <a:spcPts val="0"/>
              </a:spcAft>
              <a:buClr>
                <a:schemeClr val="dk1"/>
              </a:buClr>
              <a:buSzPts val="390"/>
              <a:buFont typeface="Arial"/>
              <a:buChar char="•"/>
            </a:pPr>
            <a:r>
              <a:rPr lang="en-US" sz="390" b="0"/>
              <a:t>A target cluster may be a part of the inventory by the same vCenter Server, or a different vCenter Server.  If the latter, it will need credentials to connect to the remote vCenter Server to perform the subsequent compatibility checks, etc.</a:t>
            </a:r>
            <a:endParaRPr/>
          </a:p>
          <a:p>
            <a:pPr marL="171450" marR="0" lvl="0" indent="-171450" algn="l" rtl="0">
              <a:lnSpc>
                <a:spcPct val="80000"/>
              </a:lnSpc>
              <a:spcBef>
                <a:spcPts val="0"/>
              </a:spcBef>
              <a:spcAft>
                <a:spcPts val="0"/>
              </a:spcAft>
              <a:buClr>
                <a:schemeClr val="dk1"/>
              </a:buClr>
              <a:buSzPts val="390"/>
              <a:buFont typeface="Arial"/>
              <a:buChar char="•"/>
            </a:pPr>
            <a:r>
              <a:rPr lang="en-US" sz="390" b="0"/>
              <a:t>Protection groups remain as the method for assigning protection outcomes.  This includes VM grouping, protection schedules, retention schedules, etc.  It will be extended by allowing for the configuration of remote protection policies in addition to the local protection policies introduced in vSAN 8 U3.  </a:t>
            </a:r>
            <a:endParaRPr/>
          </a:p>
          <a:p>
            <a:pPr marL="171450" lvl="0" indent="-171450" algn="l" rtl="0">
              <a:lnSpc>
                <a:spcPct val="80000"/>
              </a:lnSpc>
              <a:spcBef>
                <a:spcPts val="0"/>
              </a:spcBef>
              <a:spcAft>
                <a:spcPts val="0"/>
              </a:spcAft>
              <a:buClr>
                <a:schemeClr val="dk1"/>
              </a:buClr>
              <a:buSzPts val="390"/>
              <a:buFont typeface="Arial"/>
              <a:buChar char="•"/>
            </a:pPr>
            <a:r>
              <a:rPr lang="en-US" sz="390" b="0"/>
              <a:t>The basic protection workflow will be as follows:</a:t>
            </a:r>
            <a:endParaRPr/>
          </a:p>
          <a:p>
            <a:pPr marL="685800" lvl="1" indent="-228600" algn="l" rtl="0">
              <a:lnSpc>
                <a:spcPct val="80000"/>
              </a:lnSpc>
              <a:spcBef>
                <a:spcPts val="0"/>
              </a:spcBef>
              <a:spcAft>
                <a:spcPts val="0"/>
              </a:spcAft>
              <a:buClr>
                <a:schemeClr val="dk1"/>
              </a:buClr>
              <a:buSzPts val="390"/>
              <a:buFont typeface="Arial"/>
              <a:buAutoNum type="arabicPeriod"/>
            </a:pPr>
            <a:r>
              <a:rPr lang="en-US" sz="390" b="0"/>
              <a:t>Create site pair between clusters to establish relationship</a:t>
            </a:r>
            <a:endParaRPr/>
          </a:p>
          <a:p>
            <a:pPr marL="685800" lvl="1" indent="-228600" algn="l" rtl="0">
              <a:lnSpc>
                <a:spcPct val="80000"/>
              </a:lnSpc>
              <a:spcBef>
                <a:spcPts val="0"/>
              </a:spcBef>
              <a:spcAft>
                <a:spcPts val="0"/>
              </a:spcAft>
              <a:buClr>
                <a:schemeClr val="dk1"/>
              </a:buClr>
              <a:buSzPts val="390"/>
              <a:buFont typeface="Arial"/>
              <a:buAutoNum type="arabicPeriod"/>
            </a:pPr>
            <a:r>
              <a:rPr lang="en-US" sz="390" b="0"/>
              <a:t>Configure replication by creating a protection group that defines local protection, replication, or both.  Define the other associated attributes, including:</a:t>
            </a:r>
            <a:endParaRPr/>
          </a:p>
          <a:p>
            <a:pPr marL="1143000" lvl="2" indent="-228600" algn="l" rtl="0">
              <a:lnSpc>
                <a:spcPct val="80000"/>
              </a:lnSpc>
              <a:spcBef>
                <a:spcPts val="0"/>
              </a:spcBef>
              <a:spcAft>
                <a:spcPts val="0"/>
              </a:spcAft>
              <a:buClr>
                <a:schemeClr val="dk1"/>
              </a:buClr>
              <a:buSzPts val="390"/>
              <a:buFont typeface="Arial"/>
              <a:buAutoNum type="arabicPeriod"/>
            </a:pPr>
            <a:r>
              <a:rPr lang="en-US" sz="390" b="0"/>
              <a:t>Immutability mode</a:t>
            </a:r>
            <a:endParaRPr/>
          </a:p>
          <a:p>
            <a:pPr marL="1143000" lvl="2" indent="-228600" algn="l" rtl="0">
              <a:lnSpc>
                <a:spcPct val="80000"/>
              </a:lnSpc>
              <a:spcBef>
                <a:spcPts val="0"/>
              </a:spcBef>
              <a:spcAft>
                <a:spcPts val="0"/>
              </a:spcAft>
              <a:buClr>
                <a:schemeClr val="dk1"/>
              </a:buClr>
              <a:buSzPts val="390"/>
              <a:buFont typeface="Arial"/>
              <a:buAutoNum type="arabicPeriod"/>
            </a:pPr>
            <a:r>
              <a:rPr lang="en-US" sz="390" b="0"/>
              <a:t>VM membership (individual selection, dynamic VM name patterns, or a combination of both)</a:t>
            </a:r>
            <a:endParaRPr/>
          </a:p>
          <a:p>
            <a:pPr marL="1143000" lvl="2" indent="-228600" algn="l" rtl="0">
              <a:lnSpc>
                <a:spcPct val="80000"/>
              </a:lnSpc>
              <a:spcBef>
                <a:spcPts val="0"/>
              </a:spcBef>
              <a:spcAft>
                <a:spcPts val="0"/>
              </a:spcAft>
              <a:buClr>
                <a:schemeClr val="dk1"/>
              </a:buClr>
              <a:buSzPts val="390"/>
              <a:buFont typeface="Arial"/>
              <a:buAutoNum type="arabicPeriod"/>
            </a:pPr>
            <a:r>
              <a:rPr lang="en-US" sz="390" b="0"/>
              <a:t>Set appropriate creation and retention schedules</a:t>
            </a:r>
            <a:endParaRPr/>
          </a:p>
          <a:p>
            <a:pPr marL="171450" lvl="0" indent="-171450" algn="l" rtl="0">
              <a:lnSpc>
                <a:spcPct val="80000"/>
              </a:lnSpc>
              <a:spcBef>
                <a:spcPts val="0"/>
              </a:spcBef>
              <a:spcAft>
                <a:spcPts val="0"/>
              </a:spcAft>
              <a:buClr>
                <a:schemeClr val="dk1"/>
              </a:buClr>
              <a:buSzPts val="390"/>
              <a:buFont typeface="Arial"/>
              <a:buChar char="•"/>
            </a:pPr>
            <a:r>
              <a:rPr lang="en-US" sz="390" b="0"/>
              <a:t>vSAN-to-vSAN replication can also incorporate stretched clusters on either side of a site pair.  For example, one could be using a vSAN stretched cluster for a site-resilient, active-active datacenter providing zero RPO.  This can be paired to a remote vSAN cluster for asynchronous replication with an RPO as low as 1-minute using VLR.  The VLR addon (consisting of VLSR and VLCR) will provide all of the transport and orchestration.</a:t>
            </a:r>
            <a:endParaRPr/>
          </a:p>
          <a:p>
            <a:pPr marL="171450" lvl="0" indent="-171450" algn="l" rtl="0">
              <a:lnSpc>
                <a:spcPct val="80000"/>
              </a:lnSpc>
              <a:spcBef>
                <a:spcPts val="0"/>
              </a:spcBef>
              <a:spcAft>
                <a:spcPts val="0"/>
              </a:spcAft>
              <a:buClr>
                <a:schemeClr val="dk1"/>
              </a:buClr>
              <a:buSzPts val="390"/>
              <a:buFont typeface="Arial"/>
              <a:buChar char="•"/>
            </a:pPr>
            <a:r>
              <a:rPr lang="en-US" sz="390" b="0"/>
              <a:t>The transport of data from the source cluster to the destination cluster is through vSphere Replication.  Although, we are choosing not to highlight this for several reasons.  The use of vSphere Replication for the transport allows vSAN Data Protection to take advantage of the use of the light-weight delta (LWD) orchestration framework already used in vSAN Data Protection for local snapshots.  </a:t>
            </a:r>
            <a:endParaRPr/>
          </a:p>
          <a:p>
            <a:pPr marL="171450" lvl="0" indent="-171450" algn="l" rtl="0">
              <a:lnSpc>
                <a:spcPct val="80000"/>
              </a:lnSpc>
              <a:spcBef>
                <a:spcPts val="0"/>
              </a:spcBef>
              <a:spcAft>
                <a:spcPts val="0"/>
              </a:spcAft>
              <a:buClr>
                <a:schemeClr val="dk1"/>
              </a:buClr>
              <a:buSzPts val="390"/>
              <a:buFont typeface="Arial"/>
              <a:buChar char="•"/>
            </a:pPr>
            <a:r>
              <a:rPr lang="en-US" sz="390" b="0"/>
              <a:t>This slide refers to VMware Live Site Recovery (VLSR) previously known as SRM.  This is one part of the VLR addon for VCF.  The other part is known as VMware Live Cyber Recovery, or VLCR.  This is a cloud-based ransomware recovery solution.  At this time, VLCR cannot provide a non-cloud/on-premises target.</a:t>
            </a:r>
            <a:endParaRPr/>
          </a:p>
          <a:p>
            <a:pPr marL="171450" lvl="0" indent="-171450" algn="l" rtl="0">
              <a:lnSpc>
                <a:spcPct val="80000"/>
              </a:lnSpc>
              <a:spcBef>
                <a:spcPts val="0"/>
              </a:spcBef>
              <a:spcAft>
                <a:spcPts val="0"/>
              </a:spcAft>
              <a:buClr>
                <a:schemeClr val="dk1"/>
              </a:buClr>
              <a:buSzPts val="390"/>
              <a:buFont typeface="Arial"/>
              <a:buChar char="•"/>
            </a:pPr>
            <a:r>
              <a:rPr lang="en-US" sz="390" b="0"/>
              <a:t>vSAN Data Protection in VCF 9.0 will support the use of vSAN storage clusters for both local and remote protection.  </a:t>
            </a:r>
            <a:endParaRPr/>
          </a:p>
          <a:p>
            <a:pPr marL="0" lvl="0" indent="0" algn="l" rtl="0">
              <a:lnSpc>
                <a:spcPct val="80000"/>
              </a:lnSpc>
              <a:spcBef>
                <a:spcPts val="0"/>
              </a:spcBef>
              <a:spcAft>
                <a:spcPts val="0"/>
              </a:spcAft>
              <a:buClr>
                <a:schemeClr val="dk1"/>
              </a:buClr>
              <a:buSzPts val="390"/>
              <a:buFont typeface="Arial"/>
              <a:buNone/>
            </a:pPr>
            <a:r>
              <a:rPr lang="en-US" sz="390" b="1" u="sng"/>
              <a:t>Limitations</a:t>
            </a:r>
            <a:endParaRPr/>
          </a:p>
          <a:p>
            <a:pPr marL="171450" lvl="0" indent="-171450" algn="l" rtl="0">
              <a:lnSpc>
                <a:spcPct val="80000"/>
              </a:lnSpc>
              <a:spcBef>
                <a:spcPts val="0"/>
              </a:spcBef>
              <a:spcAft>
                <a:spcPts val="0"/>
              </a:spcAft>
              <a:buClr>
                <a:schemeClr val="dk1"/>
              </a:buClr>
              <a:buSzPts val="390"/>
              <a:buFont typeface="Arial"/>
              <a:buChar char="•"/>
            </a:pPr>
            <a:r>
              <a:rPr lang="en-US" sz="390" b="0" u="none"/>
              <a:t>Replicating data remotely is contingent on the use of the add-on licensing for VMware Live Recovery (VLR).  vSAN Data Protection is a part of their VCF and VVF licensing, but it is limited to local protection only.</a:t>
            </a:r>
            <a:endParaRPr/>
          </a:p>
          <a:p>
            <a:pPr marL="171450" lvl="0" indent="-171450" algn="l" rtl="0">
              <a:lnSpc>
                <a:spcPct val="80000"/>
              </a:lnSpc>
              <a:spcBef>
                <a:spcPts val="0"/>
              </a:spcBef>
              <a:spcAft>
                <a:spcPts val="0"/>
              </a:spcAft>
              <a:buClr>
                <a:schemeClr val="dk1"/>
              </a:buClr>
              <a:buSzPts val="390"/>
              <a:buFont typeface="Arial"/>
              <a:buChar char="•"/>
            </a:pPr>
            <a:r>
              <a:rPr lang="en-US" sz="390" b="0" u="none"/>
              <a:t>For a comprehensive list of supported capabilities, see the appropriate documentation.  But generally, vSAN Data Protection at this time is largely limited to protecting VMs.  Other features such as the items listed below are not currently supported:</a:t>
            </a:r>
            <a:endParaRPr/>
          </a:p>
          <a:p>
            <a:pPr marL="628650" lvl="1" indent="-171450" algn="l" rtl="0">
              <a:lnSpc>
                <a:spcPct val="80000"/>
              </a:lnSpc>
              <a:spcBef>
                <a:spcPts val="0"/>
              </a:spcBef>
              <a:spcAft>
                <a:spcPts val="0"/>
              </a:spcAft>
              <a:buClr>
                <a:schemeClr val="dk1"/>
              </a:buClr>
              <a:buSzPts val="390"/>
              <a:buFont typeface="Arial"/>
              <a:buChar char="•"/>
            </a:pPr>
            <a:r>
              <a:rPr lang="en-US" sz="390" b="0" u="none"/>
              <a:t>Protecting shares from vSAN File Services</a:t>
            </a:r>
            <a:endParaRPr/>
          </a:p>
          <a:p>
            <a:pPr marL="628650" lvl="1" indent="-171450" algn="l" rtl="0">
              <a:lnSpc>
                <a:spcPct val="80000"/>
              </a:lnSpc>
              <a:spcBef>
                <a:spcPts val="0"/>
              </a:spcBef>
              <a:spcAft>
                <a:spcPts val="0"/>
              </a:spcAft>
              <a:buClr>
                <a:schemeClr val="dk1"/>
              </a:buClr>
              <a:buSzPts val="390"/>
              <a:buFont typeface="Arial"/>
              <a:buChar char="•"/>
            </a:pPr>
            <a:r>
              <a:rPr lang="en-US" sz="390" b="0" u="none"/>
              <a:t>Protecting volumes using iSCSI target services</a:t>
            </a:r>
            <a:endParaRPr/>
          </a:p>
          <a:p>
            <a:pPr marL="628650" lvl="1" indent="-171450" algn="l" rtl="0">
              <a:lnSpc>
                <a:spcPct val="80000"/>
              </a:lnSpc>
              <a:spcBef>
                <a:spcPts val="0"/>
              </a:spcBef>
              <a:spcAft>
                <a:spcPts val="0"/>
              </a:spcAft>
              <a:buClr>
                <a:schemeClr val="dk1"/>
              </a:buClr>
              <a:buSzPts val="390"/>
              <a:buFont typeface="Arial"/>
              <a:buChar char="•"/>
            </a:pPr>
            <a:r>
              <a:rPr lang="en-US" sz="390" b="0" u="none"/>
              <a:t>VMs that are instantiated from a linked clone</a:t>
            </a:r>
            <a:endParaRPr/>
          </a:p>
          <a:p>
            <a:pPr marL="628650" lvl="1" indent="-171450" algn="l" rtl="0">
              <a:lnSpc>
                <a:spcPct val="80000"/>
              </a:lnSpc>
              <a:spcBef>
                <a:spcPts val="0"/>
              </a:spcBef>
              <a:spcAft>
                <a:spcPts val="0"/>
              </a:spcAft>
              <a:buClr>
                <a:schemeClr val="dk1"/>
              </a:buClr>
              <a:buSzPts val="390"/>
              <a:buFont typeface="Arial"/>
              <a:buChar char="•"/>
            </a:pPr>
            <a:r>
              <a:rPr lang="en-US" sz="390" b="0" u="none"/>
              <a:t>VMs using vSphere FT</a:t>
            </a:r>
            <a:endParaRPr/>
          </a:p>
          <a:p>
            <a:pPr marL="628650" lvl="1" indent="-171450" algn="l" rtl="0">
              <a:lnSpc>
                <a:spcPct val="80000"/>
              </a:lnSpc>
              <a:spcBef>
                <a:spcPts val="0"/>
              </a:spcBef>
              <a:spcAft>
                <a:spcPts val="0"/>
              </a:spcAft>
              <a:buClr>
                <a:schemeClr val="dk1"/>
              </a:buClr>
              <a:buSzPts val="390"/>
              <a:buFont typeface="Arial"/>
              <a:buChar char="•"/>
            </a:pPr>
            <a:r>
              <a:rPr lang="en-US" sz="390" b="0" u="none"/>
              <a:t>VMs using multi-writer</a:t>
            </a:r>
            <a:endParaRPr/>
          </a:p>
          <a:p>
            <a:pPr marL="628650" lvl="1" indent="-171450" algn="l" rtl="0">
              <a:lnSpc>
                <a:spcPct val="80000"/>
              </a:lnSpc>
              <a:spcBef>
                <a:spcPts val="0"/>
              </a:spcBef>
              <a:spcAft>
                <a:spcPts val="0"/>
              </a:spcAft>
              <a:buClr>
                <a:schemeClr val="dk1"/>
              </a:buClr>
              <a:buSzPts val="390"/>
              <a:buFont typeface="Arial"/>
              <a:buChar char="•"/>
            </a:pPr>
            <a:r>
              <a:rPr lang="en-US" sz="390" b="0" u="none"/>
              <a:t>System VMs including vCenter Server, NSX Manager, and the unified DCPA.</a:t>
            </a:r>
            <a:endParaRPr/>
          </a:p>
          <a:p>
            <a:pPr marL="0" marR="0" lvl="0" indent="0" algn="l" rtl="0">
              <a:lnSpc>
                <a:spcPct val="80000"/>
              </a:lnSpc>
              <a:spcBef>
                <a:spcPts val="0"/>
              </a:spcBef>
              <a:spcAft>
                <a:spcPts val="0"/>
              </a:spcAft>
              <a:buClr>
                <a:schemeClr val="dk1"/>
              </a:buClr>
              <a:buSzPts val="390"/>
              <a:buFont typeface="Arial"/>
              <a:buNone/>
            </a:pPr>
            <a:r>
              <a:rPr lang="en-US" sz="390" b="1" u="sng"/>
              <a:t>Positioning</a:t>
            </a:r>
            <a:endParaRPr/>
          </a:p>
          <a:p>
            <a:pPr marL="171450" marR="0" lvl="0" indent="-171450" algn="l" rtl="0">
              <a:lnSpc>
                <a:spcPct val="80000"/>
              </a:lnSpc>
              <a:spcBef>
                <a:spcPts val="0"/>
              </a:spcBef>
              <a:spcAft>
                <a:spcPts val="0"/>
              </a:spcAft>
              <a:buClr>
                <a:schemeClr val="dk1"/>
              </a:buClr>
              <a:buSzPts val="390"/>
              <a:buFont typeface="Arial"/>
              <a:buChar char="•"/>
            </a:pPr>
            <a:r>
              <a:rPr lang="en-US" sz="390" b="0"/>
              <a:t>We may limit the amount of technical information on the method of transport between sites and some of the technical elements that make that occur.  While we are using a next generation version of vSphere Replication, many customers may inadvertently conflate previous limitations with vSphere Replication with the capabilities in vSAN data protection.  For this reason, the focus will be on the capabilities and the outcome, not specific nuances of the replication technology.   </a:t>
            </a:r>
            <a:endParaRPr/>
          </a:p>
          <a:p>
            <a:pPr marL="171450" marR="0" lvl="0" indent="-171450" algn="l" rtl="0">
              <a:lnSpc>
                <a:spcPct val="80000"/>
              </a:lnSpc>
              <a:spcBef>
                <a:spcPts val="0"/>
              </a:spcBef>
              <a:spcAft>
                <a:spcPts val="0"/>
              </a:spcAft>
              <a:buClr>
                <a:schemeClr val="dk1"/>
              </a:buClr>
              <a:buSzPts val="390"/>
              <a:buFont typeface="Arial"/>
              <a:buChar char="•"/>
            </a:pPr>
            <a:r>
              <a:rPr lang="en-US" sz="390" b="0"/>
              <a:t>Note that we are NOT using the terminology of “native” when discussing replication.  “Integrated” will be the preferred term.</a:t>
            </a:r>
            <a:endParaRPr/>
          </a:p>
          <a:p>
            <a:pPr marL="171450" marR="0" lvl="0" indent="-171450" algn="l" rtl="0">
              <a:lnSpc>
                <a:spcPct val="80000"/>
              </a:lnSpc>
              <a:spcBef>
                <a:spcPts val="0"/>
              </a:spcBef>
              <a:spcAft>
                <a:spcPts val="0"/>
              </a:spcAft>
              <a:buClr>
                <a:schemeClr val="dk1"/>
              </a:buClr>
              <a:buSzPts val="390"/>
              <a:buFont typeface="Arial"/>
              <a:buChar char="•"/>
            </a:pPr>
            <a:r>
              <a:rPr lang="en-US" sz="390" b="1"/>
              <a:t>Feature value in one sentence.</a:t>
            </a:r>
            <a:r>
              <a:rPr lang="en-US" sz="390" b="0"/>
              <a:t>  vSAN-to-vSAN replication extends the impressive abilities by now allowing you to protect your workloads to a remote vSAN cluster.</a:t>
            </a:r>
            <a:endParaRPr/>
          </a:p>
          <a:p>
            <a:pPr marL="171450" marR="0" lvl="0" indent="-171450" algn="l" rtl="0">
              <a:lnSpc>
                <a:spcPct val="80000"/>
              </a:lnSpc>
              <a:spcBef>
                <a:spcPts val="0"/>
              </a:spcBef>
              <a:spcAft>
                <a:spcPts val="0"/>
              </a:spcAft>
              <a:buClr>
                <a:schemeClr val="dk1"/>
              </a:buClr>
              <a:buSzPts val="390"/>
              <a:buFont typeface="Arial"/>
              <a:buChar char="•"/>
            </a:pPr>
            <a:r>
              <a:rPr lang="en-US" sz="390" b="1" u="none"/>
              <a:t>Common Use Cases.  </a:t>
            </a:r>
            <a:endParaRPr/>
          </a:p>
          <a:p>
            <a:pPr marL="628650" marR="0" lvl="1" indent="-171450" algn="l" rtl="0">
              <a:lnSpc>
                <a:spcPct val="80000"/>
              </a:lnSpc>
              <a:spcBef>
                <a:spcPts val="0"/>
              </a:spcBef>
              <a:spcAft>
                <a:spcPts val="0"/>
              </a:spcAft>
              <a:buClr>
                <a:schemeClr val="dk1"/>
              </a:buClr>
              <a:buSzPts val="390"/>
              <a:buFont typeface="Arial"/>
              <a:buChar char="•"/>
            </a:pPr>
            <a:r>
              <a:rPr lang="en-US" sz="390" b="0" u="none"/>
              <a:t>Disaster recovery courtesy of VMware Live Recovery (VLR)</a:t>
            </a:r>
            <a:endParaRPr/>
          </a:p>
          <a:p>
            <a:pPr marL="628650" marR="0" lvl="1" indent="-171450" algn="l" rtl="0">
              <a:lnSpc>
                <a:spcPct val="80000"/>
              </a:lnSpc>
              <a:spcBef>
                <a:spcPts val="0"/>
              </a:spcBef>
              <a:spcAft>
                <a:spcPts val="0"/>
              </a:spcAft>
              <a:buClr>
                <a:schemeClr val="dk1"/>
              </a:buClr>
              <a:buSzPts val="390"/>
              <a:buFont typeface="Arial"/>
              <a:buChar char="•"/>
            </a:pPr>
            <a:r>
              <a:rPr lang="en-US" sz="390" b="0" u="none"/>
              <a:t>Ideal for isolated recovery environments, as well as long term archiving</a:t>
            </a:r>
            <a:endParaRPr sz="390" b="1" u="none"/>
          </a:p>
          <a:p>
            <a:pPr marL="0" marR="0" lvl="0" indent="0" algn="l" rtl="0">
              <a:lnSpc>
                <a:spcPct val="80000"/>
              </a:lnSpc>
              <a:spcBef>
                <a:spcPts val="0"/>
              </a:spcBef>
              <a:spcAft>
                <a:spcPts val="0"/>
              </a:spcAft>
              <a:buClr>
                <a:schemeClr val="dk1"/>
              </a:buClr>
              <a:buSzPts val="390"/>
              <a:buFont typeface="Arial"/>
              <a:buNone/>
            </a:pPr>
            <a:r>
              <a:rPr lang="en-US" sz="390">
                <a:solidFill>
                  <a:schemeClr val="dk1"/>
                </a:solidFill>
              </a:rPr>
              <a:t>----------------------------------</a:t>
            </a:r>
            <a:endParaRPr/>
          </a:p>
          <a:p>
            <a:pPr marL="0" lvl="0" indent="0" algn="l" rtl="0">
              <a:lnSpc>
                <a:spcPct val="80000"/>
              </a:lnSpc>
              <a:spcBef>
                <a:spcPts val="0"/>
              </a:spcBef>
              <a:spcAft>
                <a:spcPts val="0"/>
              </a:spcAft>
              <a:buNone/>
            </a:pPr>
            <a:r>
              <a:rPr lang="en-US" sz="390" b="1">
                <a:solidFill>
                  <a:schemeClr val="dk1"/>
                </a:solidFill>
              </a:rPr>
              <a:t>Additional Information:</a:t>
            </a:r>
            <a:endParaRPr/>
          </a:p>
          <a:p>
            <a:pPr marL="171450" lvl="0" indent="-171450" algn="l" rtl="0">
              <a:lnSpc>
                <a:spcPct val="80000"/>
              </a:lnSpc>
              <a:spcBef>
                <a:spcPts val="0"/>
              </a:spcBef>
              <a:spcAft>
                <a:spcPts val="0"/>
              </a:spcAft>
              <a:buClr>
                <a:schemeClr val="dk1"/>
              </a:buClr>
              <a:buSzPts val="390"/>
              <a:buFont typeface="Arial"/>
              <a:buChar char="•"/>
            </a:pPr>
            <a:r>
              <a:rPr lang="en-US" sz="390"/>
              <a:t>Superior Snapshots using VMware vSAN Data Protection:  https://blogs.vmware.com/cloud-foundation/2024/08/02/superior-snapshots-using-vmware-vsan-data-protection/ </a:t>
            </a:r>
            <a:endParaRPr/>
          </a:p>
          <a:p>
            <a:pPr marL="171450" lvl="0" indent="-146685" algn="l" rtl="0">
              <a:lnSpc>
                <a:spcPct val="80000"/>
              </a:lnSpc>
              <a:spcBef>
                <a:spcPts val="0"/>
              </a:spcBef>
              <a:spcAft>
                <a:spcPts val="0"/>
              </a:spcAft>
              <a:buClr>
                <a:schemeClr val="dk1"/>
              </a:buClr>
              <a:buSzPts val="390"/>
              <a:buFont typeface="Arial"/>
              <a:buNone/>
            </a:pPr>
            <a:endParaRPr sz="390"/>
          </a:p>
          <a:p>
            <a:pPr marL="0" marR="0" lvl="0" indent="0" algn="l" rtl="0">
              <a:lnSpc>
                <a:spcPct val="80000"/>
              </a:lnSpc>
              <a:spcBef>
                <a:spcPts val="0"/>
              </a:spcBef>
              <a:spcAft>
                <a:spcPts val="0"/>
              </a:spcAft>
              <a:buClr>
                <a:schemeClr val="dk1"/>
              </a:buClr>
              <a:buSzPts val="390"/>
              <a:buFont typeface="Arial"/>
              <a:buNone/>
            </a:pPr>
            <a:r>
              <a:rPr lang="en-US" sz="390" b="1" u="none" strike="noStrike">
                <a:solidFill>
                  <a:schemeClr val="dk1"/>
                </a:solidFill>
              </a:rPr>
              <a:t>Notes:</a:t>
            </a:r>
            <a:br>
              <a:rPr lang="en-US" sz="390" u="none" strike="noStrike">
                <a:solidFill>
                  <a:schemeClr val="dk1"/>
                </a:solidFill>
              </a:rPr>
            </a:br>
            <a:r>
              <a:rPr lang="en-US" sz="390" b="0"/>
              <a:t>This is an introductory slide intended to showcase vSAN-to-vSAN replication courtesy of the VLR addon.  For a comprehensive understanding of this feature, see the appropriate presentation deck that details the capabilities of VLR.</a:t>
            </a:r>
            <a:endParaRPr/>
          </a:p>
          <a:p>
            <a:pPr marL="0" marR="0" lvl="0" indent="0" algn="l" rtl="0">
              <a:lnSpc>
                <a:spcPct val="80000"/>
              </a:lnSpc>
              <a:spcBef>
                <a:spcPts val="0"/>
              </a:spcBef>
              <a:spcAft>
                <a:spcPts val="0"/>
              </a:spcAft>
              <a:buClr>
                <a:schemeClr val="dk1"/>
              </a:buClr>
              <a:buSzPts val="390"/>
              <a:buFont typeface="Arial"/>
              <a:buNone/>
            </a:pPr>
            <a:endParaRPr sz="390" u="none" strike="noStrike">
              <a:solidFill>
                <a:schemeClr val="dk1"/>
              </a:solidFill>
            </a:endParaRPr>
          </a:p>
          <a:p>
            <a:pPr marL="0" lvl="0" indent="0" algn="l" rtl="0">
              <a:lnSpc>
                <a:spcPct val="80000"/>
              </a:lnSpc>
              <a:spcBef>
                <a:spcPts val="0"/>
              </a:spcBef>
              <a:spcAft>
                <a:spcPts val="0"/>
              </a:spcAft>
              <a:buNone/>
            </a:pPr>
            <a:r>
              <a:rPr lang="en-US" sz="390" b="1" u="none" strike="noStrike">
                <a:solidFill>
                  <a:schemeClr val="dk1"/>
                </a:solidFill>
              </a:rPr>
              <a:t>Resources:</a:t>
            </a:r>
            <a:br>
              <a:rPr lang="en-US" sz="390" b="1" u="none" strike="noStrike">
                <a:solidFill>
                  <a:schemeClr val="dk1"/>
                </a:solidFill>
              </a:rPr>
            </a:br>
            <a:endParaRPr sz="390">
              <a:solidFill>
                <a:srgbClr val="DCA10D"/>
              </a:solidFill>
              <a:latin typeface="Helvetica Neue"/>
              <a:ea typeface="Helvetica Neue"/>
              <a:cs typeface="Helvetica Neue"/>
              <a:sym typeface="Helvetica Neue"/>
            </a:endParaRPr>
          </a:p>
          <a:p>
            <a:pPr marL="171450" lvl="0" indent="-146685" algn="l" rtl="0">
              <a:lnSpc>
                <a:spcPct val="80000"/>
              </a:lnSpc>
              <a:spcBef>
                <a:spcPts val="0"/>
              </a:spcBef>
              <a:spcAft>
                <a:spcPts val="0"/>
              </a:spcAft>
              <a:buClr>
                <a:schemeClr val="dk1"/>
              </a:buClr>
              <a:buSzPts val="390"/>
              <a:buFont typeface="Arial"/>
              <a:buNone/>
            </a:pPr>
            <a:endParaRPr sz="390" b="1"/>
          </a:p>
          <a:p>
            <a:pPr marL="0" lvl="0" indent="0" algn="l" rtl="0">
              <a:lnSpc>
                <a:spcPct val="80000"/>
              </a:lnSpc>
              <a:spcBef>
                <a:spcPts val="0"/>
              </a:spcBef>
              <a:spcAft>
                <a:spcPts val="0"/>
              </a:spcAft>
              <a:buNone/>
            </a:pPr>
            <a:endParaRPr sz="390"/>
          </a:p>
        </p:txBody>
      </p:sp>
      <p:sp>
        <p:nvSpPr>
          <p:cNvPr id="8773" name="Google Shape;8773;p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35</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1"/>
        <p:cNvGrpSpPr/>
        <p:nvPr/>
      </p:nvGrpSpPr>
      <p:grpSpPr>
        <a:xfrm>
          <a:off x="0" y="0"/>
          <a:ext cx="0" cy="0"/>
          <a:chOff x="0" y="0"/>
          <a:chExt cx="0" cy="0"/>
        </a:xfrm>
      </p:grpSpPr>
      <p:sp>
        <p:nvSpPr>
          <p:cNvPr id="8962" name="Google Shape;8962;p8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3" name="Google Shape;8963;p8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dk1"/>
              </a:buClr>
              <a:buSzPts val="480"/>
              <a:buFont typeface="Arial"/>
              <a:buNone/>
            </a:pPr>
            <a:r>
              <a:rPr lang="en-US" sz="480" b="1">
                <a:latin typeface="Arial"/>
                <a:ea typeface="Arial"/>
                <a:cs typeface="Arial"/>
                <a:sym typeface="Arial"/>
              </a:rPr>
              <a:t>Presenter Note:  This slide contains animation</a:t>
            </a:r>
            <a:endParaRPr/>
          </a:p>
          <a:p>
            <a:pPr marL="0" lvl="0" indent="0" algn="l" rtl="0">
              <a:lnSpc>
                <a:spcPct val="80000"/>
              </a:lnSpc>
              <a:spcBef>
                <a:spcPts val="0"/>
              </a:spcBef>
              <a:spcAft>
                <a:spcPts val="0"/>
              </a:spcAft>
              <a:buNone/>
            </a:pPr>
            <a:endParaRPr sz="480" b="1"/>
          </a:p>
          <a:p>
            <a:pPr marL="0" lvl="0" indent="0" algn="l" rtl="0">
              <a:lnSpc>
                <a:spcPct val="80000"/>
              </a:lnSpc>
              <a:spcBef>
                <a:spcPts val="0"/>
              </a:spcBef>
              <a:spcAft>
                <a:spcPts val="0"/>
              </a:spcAft>
              <a:buNone/>
            </a:pPr>
            <a:r>
              <a:rPr lang="en-US" sz="480" b="1"/>
              <a:t>Key Message/Talk track:</a:t>
            </a:r>
            <a:endParaRPr/>
          </a:p>
          <a:p>
            <a:pPr marL="0" lvl="0" indent="0" algn="l" rtl="0">
              <a:lnSpc>
                <a:spcPct val="80000"/>
              </a:lnSpc>
              <a:spcBef>
                <a:spcPts val="0"/>
              </a:spcBef>
              <a:spcAft>
                <a:spcPts val="0"/>
              </a:spcAft>
              <a:buNone/>
            </a:pPr>
            <a:r>
              <a:rPr lang="en-US" sz="480" b="0"/>
              <a:t>Since vSAN and its highly scalable snapshot engine are integrated directly into the hypervisor, we were able to take a different approach to remote replication.  Rather than perform a traditional snapshot then replicate workflow commonly found with storage arrays, we are able deliver replication in a unique way without needing to snapshot the VM data first.  Pair this with our ability to protect data at a discrete VM-level, and this affords extraordinary levels of flexibility, protection options, and protection performance in the form of low RPOs.</a:t>
            </a:r>
            <a:endParaRPr sz="480" b="1"/>
          </a:p>
          <a:p>
            <a:pPr marL="0" lvl="0" indent="0" algn="l" rtl="0">
              <a:lnSpc>
                <a:spcPct val="80000"/>
              </a:lnSpc>
              <a:spcBef>
                <a:spcPts val="0"/>
              </a:spcBef>
              <a:spcAft>
                <a:spcPts val="0"/>
              </a:spcAft>
              <a:buNone/>
            </a:pPr>
            <a:r>
              <a:rPr lang="en-US" sz="480"/>
              <a:t>----------------------------------</a:t>
            </a:r>
            <a:endParaRPr/>
          </a:p>
          <a:p>
            <a:pPr marL="0" lvl="0" indent="0" algn="l" rtl="0">
              <a:lnSpc>
                <a:spcPct val="80000"/>
              </a:lnSpc>
              <a:spcBef>
                <a:spcPts val="0"/>
              </a:spcBef>
              <a:spcAft>
                <a:spcPts val="0"/>
              </a:spcAft>
              <a:buNone/>
            </a:pPr>
            <a:r>
              <a:rPr lang="en-US" sz="480" b="1"/>
              <a:t>Overview:</a:t>
            </a:r>
            <a:endParaRPr/>
          </a:p>
          <a:p>
            <a:pPr marL="171450" lvl="0" indent="-171450" algn="l" rtl="0">
              <a:lnSpc>
                <a:spcPct val="80000"/>
              </a:lnSpc>
              <a:spcBef>
                <a:spcPts val="0"/>
              </a:spcBef>
              <a:spcAft>
                <a:spcPts val="0"/>
              </a:spcAft>
              <a:buClr>
                <a:schemeClr val="dk1"/>
              </a:buClr>
              <a:buSzPts val="480"/>
              <a:buFont typeface="Arial"/>
              <a:buChar char="•"/>
            </a:pPr>
            <a:r>
              <a:rPr lang="en-US" sz="480"/>
              <a:t>Array-based replication</a:t>
            </a:r>
            <a:endParaRPr/>
          </a:p>
          <a:p>
            <a:pPr marL="628650" lvl="1" indent="-171450" algn="l" rtl="0">
              <a:lnSpc>
                <a:spcPct val="80000"/>
              </a:lnSpc>
              <a:spcBef>
                <a:spcPts val="0"/>
              </a:spcBef>
              <a:spcAft>
                <a:spcPts val="0"/>
              </a:spcAft>
              <a:buClr>
                <a:schemeClr val="dk1"/>
              </a:buClr>
              <a:buSzPts val="480"/>
              <a:buFont typeface="Arial"/>
              <a:buChar char="•"/>
            </a:pPr>
            <a:r>
              <a:rPr lang="en-US" sz="480"/>
              <a:t>Protection and recovery limited to LUN</a:t>
            </a:r>
            <a:endParaRPr/>
          </a:p>
          <a:p>
            <a:pPr marL="628650" lvl="1" indent="-171450" algn="l" rtl="0">
              <a:lnSpc>
                <a:spcPct val="80000"/>
              </a:lnSpc>
              <a:spcBef>
                <a:spcPts val="0"/>
              </a:spcBef>
              <a:spcAft>
                <a:spcPts val="0"/>
              </a:spcAft>
              <a:buClr>
                <a:schemeClr val="dk1"/>
              </a:buClr>
              <a:buSzPts val="480"/>
              <a:buFont typeface="Arial"/>
              <a:buChar char="•"/>
            </a:pPr>
            <a:r>
              <a:rPr lang="en-US" sz="480"/>
              <a:t>May require similar arrays at source and target</a:t>
            </a:r>
            <a:endParaRPr/>
          </a:p>
          <a:p>
            <a:pPr marL="628650" lvl="1" indent="-171450" algn="l" rtl="0">
              <a:lnSpc>
                <a:spcPct val="80000"/>
              </a:lnSpc>
              <a:spcBef>
                <a:spcPts val="0"/>
              </a:spcBef>
              <a:spcAft>
                <a:spcPts val="0"/>
              </a:spcAft>
              <a:buClr>
                <a:schemeClr val="dk1"/>
              </a:buClr>
              <a:buSzPts val="480"/>
              <a:buFont typeface="Arial"/>
              <a:buChar char="•"/>
            </a:pPr>
            <a:r>
              <a:rPr lang="en-US" sz="480"/>
              <a:t>May create a dependency of LUNs across sites</a:t>
            </a:r>
            <a:endParaRPr/>
          </a:p>
          <a:p>
            <a:pPr marL="628650" lvl="1" indent="-171450" algn="l" rtl="0">
              <a:lnSpc>
                <a:spcPct val="80000"/>
              </a:lnSpc>
              <a:spcBef>
                <a:spcPts val="0"/>
              </a:spcBef>
              <a:spcAft>
                <a:spcPts val="0"/>
              </a:spcAft>
              <a:buClr>
                <a:schemeClr val="dk1"/>
              </a:buClr>
              <a:buSzPts val="480"/>
              <a:buFont typeface="Arial"/>
              <a:buChar char="•"/>
            </a:pPr>
            <a:r>
              <a:rPr lang="en-US" sz="480"/>
              <a:t>Additional array tooling needed to protect and restore</a:t>
            </a:r>
            <a:endParaRPr/>
          </a:p>
          <a:p>
            <a:pPr marL="628650" lvl="1" indent="-171450" algn="l" rtl="0">
              <a:lnSpc>
                <a:spcPct val="80000"/>
              </a:lnSpc>
              <a:spcBef>
                <a:spcPts val="0"/>
              </a:spcBef>
              <a:spcAft>
                <a:spcPts val="0"/>
              </a:spcAft>
              <a:buClr>
                <a:schemeClr val="dk1"/>
              </a:buClr>
              <a:buSzPts val="480"/>
              <a:buFont typeface="Arial"/>
              <a:buChar char="•"/>
            </a:pPr>
            <a:r>
              <a:rPr lang="en-US" sz="480"/>
              <a:t>RPO dependent on characteristics of arrays</a:t>
            </a:r>
            <a:endParaRPr/>
          </a:p>
          <a:p>
            <a:pPr marL="628650" lvl="1" indent="-171450" algn="l" rtl="0">
              <a:lnSpc>
                <a:spcPct val="80000"/>
              </a:lnSpc>
              <a:spcBef>
                <a:spcPts val="0"/>
              </a:spcBef>
              <a:spcAft>
                <a:spcPts val="0"/>
              </a:spcAft>
              <a:buClr>
                <a:schemeClr val="dk1"/>
              </a:buClr>
              <a:buSzPts val="480"/>
              <a:buFont typeface="Arial"/>
              <a:buChar char="•"/>
            </a:pPr>
            <a:r>
              <a:rPr lang="en-US" sz="480"/>
              <a:t>Snapshot retention dependent on characteristics of array</a:t>
            </a:r>
            <a:endParaRPr/>
          </a:p>
          <a:p>
            <a:pPr marL="171450" lvl="0" indent="-171450" algn="l" rtl="0">
              <a:lnSpc>
                <a:spcPct val="80000"/>
              </a:lnSpc>
              <a:spcBef>
                <a:spcPts val="0"/>
              </a:spcBef>
              <a:spcAft>
                <a:spcPts val="0"/>
              </a:spcAft>
              <a:buClr>
                <a:schemeClr val="dk1"/>
              </a:buClr>
              <a:buSzPts val="480"/>
              <a:buFont typeface="Arial"/>
              <a:buChar char="•"/>
            </a:pPr>
            <a:r>
              <a:rPr lang="en-US" sz="480"/>
              <a:t>vSAN-to-vSAN replication</a:t>
            </a:r>
            <a:endParaRPr/>
          </a:p>
          <a:p>
            <a:pPr marL="628650" lvl="1" indent="-171450" algn="l" rtl="0">
              <a:lnSpc>
                <a:spcPct val="80000"/>
              </a:lnSpc>
              <a:spcBef>
                <a:spcPts val="0"/>
              </a:spcBef>
              <a:spcAft>
                <a:spcPts val="0"/>
              </a:spcAft>
              <a:buClr>
                <a:schemeClr val="dk1"/>
              </a:buClr>
              <a:buSzPts val="480"/>
              <a:buFont typeface="Arial"/>
              <a:buChar char="•"/>
            </a:pPr>
            <a:r>
              <a:rPr lang="en-US" sz="480"/>
              <a:t>Granular per-VM protection and recovery</a:t>
            </a:r>
            <a:endParaRPr/>
          </a:p>
          <a:p>
            <a:pPr marL="628650" lvl="1" indent="-171450" algn="l" rtl="0">
              <a:lnSpc>
                <a:spcPct val="80000"/>
              </a:lnSpc>
              <a:spcBef>
                <a:spcPts val="0"/>
              </a:spcBef>
              <a:spcAft>
                <a:spcPts val="0"/>
              </a:spcAft>
              <a:buClr>
                <a:schemeClr val="dk1"/>
              </a:buClr>
              <a:buSzPts val="480"/>
              <a:buFont typeface="Arial"/>
              <a:buChar char="•"/>
            </a:pPr>
            <a:r>
              <a:rPr lang="en-US" sz="480"/>
              <a:t>Source and target can be dissimilar vSAN clusters</a:t>
            </a:r>
            <a:endParaRPr/>
          </a:p>
          <a:p>
            <a:pPr marL="628650" lvl="1" indent="-171450" algn="l" rtl="0">
              <a:lnSpc>
                <a:spcPct val="80000"/>
              </a:lnSpc>
              <a:spcBef>
                <a:spcPts val="0"/>
              </a:spcBef>
              <a:spcAft>
                <a:spcPts val="0"/>
              </a:spcAft>
              <a:buClr>
                <a:schemeClr val="dk1"/>
              </a:buClr>
              <a:buSzPts val="480"/>
              <a:buFont typeface="Arial"/>
              <a:buChar char="•"/>
            </a:pPr>
            <a:r>
              <a:rPr lang="en-US" sz="480"/>
              <a:t>Full autonomous copies of VMs at each site</a:t>
            </a:r>
            <a:endParaRPr/>
          </a:p>
          <a:p>
            <a:pPr marL="628650" lvl="1" indent="-171450" algn="l" rtl="0">
              <a:lnSpc>
                <a:spcPct val="80000"/>
              </a:lnSpc>
              <a:spcBef>
                <a:spcPts val="0"/>
              </a:spcBef>
              <a:spcAft>
                <a:spcPts val="0"/>
              </a:spcAft>
              <a:buClr>
                <a:schemeClr val="dk1"/>
              </a:buClr>
              <a:buSzPts val="480"/>
              <a:buFont typeface="Arial"/>
              <a:buChar char="•"/>
            </a:pPr>
            <a:r>
              <a:rPr lang="en-US" sz="480"/>
              <a:t>Fully integrated protection and recovery APIs and UI</a:t>
            </a:r>
            <a:endParaRPr/>
          </a:p>
          <a:p>
            <a:pPr marL="628650" lvl="1" indent="-171450" algn="l" rtl="0">
              <a:lnSpc>
                <a:spcPct val="80000"/>
              </a:lnSpc>
              <a:spcBef>
                <a:spcPts val="0"/>
              </a:spcBef>
              <a:spcAft>
                <a:spcPts val="0"/>
              </a:spcAft>
              <a:buClr>
                <a:schemeClr val="dk1"/>
              </a:buClr>
              <a:buSzPts val="480"/>
              <a:buFont typeface="Arial"/>
              <a:buChar char="•"/>
            </a:pPr>
            <a:r>
              <a:rPr lang="en-US" sz="480"/>
              <a:t>1-minute RPO – with no need to snapshot source</a:t>
            </a:r>
            <a:endParaRPr/>
          </a:p>
          <a:p>
            <a:pPr marL="628650" lvl="1" indent="-171450" algn="l" rtl="0">
              <a:lnSpc>
                <a:spcPct val="80000"/>
              </a:lnSpc>
              <a:spcBef>
                <a:spcPts val="0"/>
              </a:spcBef>
              <a:spcAft>
                <a:spcPts val="0"/>
              </a:spcAft>
              <a:buClr>
                <a:schemeClr val="dk1"/>
              </a:buClr>
              <a:buSzPts val="480"/>
              <a:buFont typeface="Arial"/>
              <a:buChar char="•"/>
            </a:pPr>
            <a:r>
              <a:rPr lang="en-US" sz="480"/>
              <a:t>Up to 200 snapshots per VM at each site</a:t>
            </a:r>
            <a:endParaRPr/>
          </a:p>
          <a:p>
            <a:pPr marL="0" lvl="0" indent="0" algn="l" rtl="0">
              <a:lnSpc>
                <a:spcPct val="80000"/>
              </a:lnSpc>
              <a:spcBef>
                <a:spcPts val="1779"/>
              </a:spcBef>
              <a:spcAft>
                <a:spcPts val="0"/>
              </a:spcAft>
              <a:buClr>
                <a:schemeClr val="dk1"/>
              </a:buClr>
              <a:buSzPts val="480"/>
              <a:buFont typeface="Arial"/>
              <a:buNone/>
            </a:pPr>
            <a:r>
              <a:rPr lang="en-US" sz="480"/>
              <a:t>----------------------------------</a:t>
            </a:r>
            <a:endParaRPr/>
          </a:p>
          <a:p>
            <a:pPr marL="0" lvl="0" indent="0" algn="l" rtl="0">
              <a:lnSpc>
                <a:spcPct val="80000"/>
              </a:lnSpc>
              <a:spcBef>
                <a:spcPts val="0"/>
              </a:spcBef>
              <a:spcAft>
                <a:spcPts val="0"/>
              </a:spcAft>
              <a:buNone/>
            </a:pPr>
            <a:r>
              <a:rPr lang="en-US" sz="480" b="1"/>
              <a:t>Details:</a:t>
            </a:r>
            <a:endParaRPr/>
          </a:p>
          <a:p>
            <a:pPr marL="171450" lvl="0" indent="-171450" algn="l" rtl="0">
              <a:lnSpc>
                <a:spcPct val="80000"/>
              </a:lnSpc>
              <a:spcBef>
                <a:spcPts val="0"/>
              </a:spcBef>
              <a:spcAft>
                <a:spcPts val="0"/>
              </a:spcAft>
              <a:buClr>
                <a:schemeClr val="dk1"/>
              </a:buClr>
              <a:buSzPts val="480"/>
              <a:buFont typeface="Arial"/>
              <a:buChar char="•"/>
            </a:pPr>
            <a:r>
              <a:rPr lang="en-US" sz="480" b="0"/>
              <a:t>For vSAN-to-vSAN replication, we are performing the replication step through the lightweight delta (LWD) mechanism as a part of vSphere Replication.  This is what provides the coordination and the transport of the replica.  Once the replica lands at the target site, an ESA snapshot is performed at the target, and our control plane will show a replica now living at the target location.  This means that we perform replication using an approach of a “replicate and snapshot” versus “snapshot and replicate” as more commonly found with traditional storage solutions.   We do this for several reasons, including, but not limited to:</a:t>
            </a:r>
            <a:endParaRPr/>
          </a:p>
          <a:p>
            <a:pPr marL="628650" lvl="1" indent="-171450" algn="l" rtl="0">
              <a:lnSpc>
                <a:spcPct val="80000"/>
              </a:lnSpc>
              <a:spcBef>
                <a:spcPts val="0"/>
              </a:spcBef>
              <a:spcAft>
                <a:spcPts val="0"/>
              </a:spcAft>
              <a:buClr>
                <a:schemeClr val="dk1"/>
              </a:buClr>
              <a:buSzPts val="480"/>
              <a:buFont typeface="Arial"/>
              <a:buChar char="•"/>
            </a:pPr>
            <a:r>
              <a:rPr lang="en-US" sz="480" b="1"/>
              <a:t>Utilize vSphere Replications highly sophisticated transport engine for supreme efficiency.  </a:t>
            </a:r>
            <a:r>
              <a:rPr lang="en-US" sz="480" b="0"/>
              <a:t>The LWD mechanism in vSphere replication is serves as an ideal control plane and transport method.  This newer version is what gives us as low as 1-minute RPOs, and uses scalable host-to-host replication as opposed to old methods that funneled replica traffic through a virtual appliance.</a:t>
            </a:r>
            <a:endParaRPr/>
          </a:p>
          <a:p>
            <a:pPr marL="628650" lvl="1" indent="-171450" algn="l" rtl="0">
              <a:lnSpc>
                <a:spcPct val="80000"/>
              </a:lnSpc>
              <a:spcBef>
                <a:spcPts val="0"/>
              </a:spcBef>
              <a:spcAft>
                <a:spcPts val="0"/>
              </a:spcAft>
              <a:buClr>
                <a:schemeClr val="dk1"/>
              </a:buClr>
              <a:buSzPts val="480"/>
              <a:buFont typeface="Arial"/>
              <a:buChar char="•"/>
            </a:pPr>
            <a:r>
              <a:rPr lang="en-US" sz="480" b="1"/>
              <a:t>The ability to have full copies of VMs at both sites.  </a:t>
            </a:r>
            <a:r>
              <a:rPr lang="en-US" sz="480" b="0"/>
              <a:t>Replication is often serving a greater purpose, such as a site failover or failback, or perhaps an isolated recovery environment.  Having complete copies of VMs at both sites, and not just the delta changes is what provides maximum flexibility for customer use cases.  This is especially important when considering how solutions like VLR (in particular (VLSR) assume complete copies of data for its recovery plans.</a:t>
            </a:r>
            <a:endParaRPr/>
          </a:p>
          <a:p>
            <a:pPr marL="628650" lvl="1" indent="-171450" algn="l" rtl="0">
              <a:lnSpc>
                <a:spcPct val="80000"/>
              </a:lnSpc>
              <a:spcBef>
                <a:spcPts val="0"/>
              </a:spcBef>
              <a:spcAft>
                <a:spcPts val="0"/>
              </a:spcAft>
              <a:buClr>
                <a:schemeClr val="dk1"/>
              </a:buClr>
              <a:buSzPts val="480"/>
              <a:buFont typeface="Arial"/>
              <a:buChar char="•"/>
            </a:pPr>
            <a:r>
              <a:rPr lang="en-US" sz="480" b="1"/>
              <a:t>Minimal dependency chain.  </a:t>
            </a:r>
            <a:r>
              <a:rPr lang="en-US" sz="480" b="0"/>
              <a:t>If one were to only replicate snapshots changes, this would place full dependency on the need for the source VM at the original location, which would limit the failure scenarios that this would be able to protect against.  Having fully VM autonomy provides the highest flexibility for recovery and reprotection of VMs.</a:t>
            </a:r>
            <a:endParaRPr sz="480" b="1"/>
          </a:p>
          <a:p>
            <a:pPr marL="628650" lvl="1" indent="-171450" algn="l" rtl="0">
              <a:lnSpc>
                <a:spcPct val="80000"/>
              </a:lnSpc>
              <a:spcBef>
                <a:spcPts val="0"/>
              </a:spcBef>
              <a:spcAft>
                <a:spcPts val="0"/>
              </a:spcAft>
              <a:buClr>
                <a:schemeClr val="dk1"/>
              </a:buClr>
              <a:buSzPts val="480"/>
              <a:buFont typeface="Arial"/>
              <a:buChar char="•"/>
            </a:pPr>
            <a:r>
              <a:rPr lang="en-US" sz="480" b="1"/>
              <a:t>Having complete copies at both sites will allow for deep snapshots at both sites.  </a:t>
            </a:r>
            <a:r>
              <a:rPr lang="en-US" sz="480" b="0"/>
              <a:t>A key ability of vSAN data protection is the ability to create a deep chain of snapshots (currently up to 200 snapshots per VM).  When we create copies at both sites, this extends our flexibility in snapshot retention beyond the native limitations of vSphere Replication which is typically limited to 24 snapshots.  </a:t>
            </a:r>
            <a:endParaRPr/>
          </a:p>
          <a:p>
            <a:pPr marL="628650" lvl="1" indent="-171450" algn="l" rtl="0">
              <a:lnSpc>
                <a:spcPct val="80000"/>
              </a:lnSpc>
              <a:spcBef>
                <a:spcPts val="0"/>
              </a:spcBef>
              <a:spcAft>
                <a:spcPts val="0"/>
              </a:spcAft>
              <a:buClr>
                <a:schemeClr val="dk1"/>
              </a:buClr>
              <a:buSzPts val="480"/>
              <a:buFont typeface="Arial"/>
              <a:buChar char="•"/>
            </a:pPr>
            <a:r>
              <a:rPr lang="en-US" sz="480" b="1"/>
              <a:t>Full protection and recovery API and UI.  </a:t>
            </a:r>
            <a:r>
              <a:rPr lang="en-US" sz="480" b="0"/>
              <a:t>By replicating the VM to a target site then using ESA snapshots with vSAN Data Protection, this provides a full recovery and management API and UI, where as vSphere Replication on its own does not have a recovery API and a UI that was not integrated with vCenter Server.  </a:t>
            </a:r>
            <a:endParaRPr/>
          </a:p>
          <a:p>
            <a:pPr marL="628650" lvl="1" indent="-171450" algn="l" rtl="0">
              <a:lnSpc>
                <a:spcPct val="80000"/>
              </a:lnSpc>
              <a:spcBef>
                <a:spcPts val="0"/>
              </a:spcBef>
              <a:spcAft>
                <a:spcPts val="0"/>
              </a:spcAft>
              <a:buClr>
                <a:schemeClr val="dk1"/>
              </a:buClr>
              <a:buSzPts val="480"/>
              <a:buFont typeface="Arial"/>
              <a:buChar char="•"/>
            </a:pPr>
            <a:r>
              <a:rPr lang="en-US" sz="480" b="1"/>
              <a:t>Fast local snapshots.  </a:t>
            </a:r>
            <a:r>
              <a:rPr lang="en-US" sz="480" b="0"/>
              <a:t>This offers better point-in-time recovery for VMs because vSAN snapshots do not require a stun of the VM.</a:t>
            </a:r>
            <a:endParaRPr/>
          </a:p>
          <a:p>
            <a:pPr marL="0" marR="0" lvl="0" indent="0" algn="l" rtl="0">
              <a:lnSpc>
                <a:spcPct val="80000"/>
              </a:lnSpc>
              <a:spcBef>
                <a:spcPts val="0"/>
              </a:spcBef>
              <a:spcAft>
                <a:spcPts val="0"/>
              </a:spcAft>
              <a:buClr>
                <a:schemeClr val="dk1"/>
              </a:buClr>
              <a:buSzPts val="480"/>
              <a:buFont typeface="Arial"/>
              <a:buNone/>
            </a:pPr>
            <a:r>
              <a:rPr lang="en-US" sz="480" b="1" u="sng"/>
              <a:t>Positioning</a:t>
            </a:r>
            <a:endParaRPr/>
          </a:p>
          <a:p>
            <a:pPr marL="171450" marR="0" lvl="0" indent="-171450" algn="l" rtl="0">
              <a:lnSpc>
                <a:spcPct val="80000"/>
              </a:lnSpc>
              <a:spcBef>
                <a:spcPts val="0"/>
              </a:spcBef>
              <a:spcAft>
                <a:spcPts val="0"/>
              </a:spcAft>
              <a:buClr>
                <a:schemeClr val="dk1"/>
              </a:buClr>
              <a:buSzPts val="480"/>
              <a:buFont typeface="Arial"/>
              <a:buChar char="•"/>
            </a:pPr>
            <a:r>
              <a:rPr lang="en-US" sz="480" b="0"/>
              <a:t>We may limit the amount of technical information on the method of transport between sites and some of the technical elements that make that occur.  While we are using a next generation version of vSphere Replication, many customers may inadvertently conflate previous limitations with vSphere Replication with the capabilities in vSAN data protection.  For this reason, the focus will be on the capabilities and the outcome, not specific nuances of the replication technology.   </a:t>
            </a:r>
            <a:endParaRPr/>
          </a:p>
          <a:p>
            <a:pPr marL="171450" marR="0" lvl="0" indent="-171450" algn="l" rtl="0">
              <a:lnSpc>
                <a:spcPct val="80000"/>
              </a:lnSpc>
              <a:spcBef>
                <a:spcPts val="0"/>
              </a:spcBef>
              <a:spcAft>
                <a:spcPts val="0"/>
              </a:spcAft>
              <a:buClr>
                <a:schemeClr val="dk1"/>
              </a:buClr>
              <a:buSzPts val="480"/>
              <a:buFont typeface="Arial"/>
              <a:buChar char="•"/>
            </a:pPr>
            <a:r>
              <a:rPr lang="en-US" sz="480" b="0"/>
              <a:t>Note that we are NOT using the terminology of “native” when discussing replication.  “Integrated” will be the preferred term.</a:t>
            </a:r>
            <a:endParaRPr/>
          </a:p>
          <a:p>
            <a:pPr marL="171450" marR="0" lvl="0" indent="-171450" algn="l" rtl="0">
              <a:lnSpc>
                <a:spcPct val="80000"/>
              </a:lnSpc>
              <a:spcBef>
                <a:spcPts val="0"/>
              </a:spcBef>
              <a:spcAft>
                <a:spcPts val="0"/>
              </a:spcAft>
              <a:buClr>
                <a:schemeClr val="dk1"/>
              </a:buClr>
              <a:buSzPts val="480"/>
              <a:buFont typeface="Arial"/>
              <a:buChar char="•"/>
            </a:pPr>
            <a:r>
              <a:rPr lang="en-US" sz="480" b="1"/>
              <a:t>Feature value in one sentence.</a:t>
            </a:r>
            <a:r>
              <a:rPr lang="en-US" sz="480" b="0"/>
              <a:t>  vSAN-to-vSAN replication extends the impressive abilities by now allowing you to protect your workloads to a remote vSAN cluster.</a:t>
            </a:r>
            <a:endParaRPr/>
          </a:p>
          <a:p>
            <a:pPr marL="171450" marR="0" lvl="0" indent="-171450" algn="l" rtl="0">
              <a:lnSpc>
                <a:spcPct val="80000"/>
              </a:lnSpc>
              <a:spcBef>
                <a:spcPts val="0"/>
              </a:spcBef>
              <a:spcAft>
                <a:spcPts val="0"/>
              </a:spcAft>
              <a:buClr>
                <a:schemeClr val="dk1"/>
              </a:buClr>
              <a:buSzPts val="480"/>
              <a:buFont typeface="Arial"/>
              <a:buChar char="•"/>
            </a:pPr>
            <a:r>
              <a:rPr lang="en-US" sz="480" b="1" u="none"/>
              <a:t>Common Use Cases.  </a:t>
            </a:r>
            <a:endParaRPr/>
          </a:p>
          <a:p>
            <a:pPr marL="628650" marR="0" lvl="1" indent="-171450" algn="l" rtl="0">
              <a:lnSpc>
                <a:spcPct val="80000"/>
              </a:lnSpc>
              <a:spcBef>
                <a:spcPts val="0"/>
              </a:spcBef>
              <a:spcAft>
                <a:spcPts val="0"/>
              </a:spcAft>
              <a:buClr>
                <a:schemeClr val="dk1"/>
              </a:buClr>
              <a:buSzPts val="480"/>
              <a:buFont typeface="Arial"/>
              <a:buChar char="•"/>
            </a:pPr>
            <a:r>
              <a:rPr lang="en-US" sz="480" b="0" u="none"/>
              <a:t>Disaster recovery courtesy of VMware Live Recovery (VLR)</a:t>
            </a:r>
            <a:endParaRPr/>
          </a:p>
          <a:p>
            <a:pPr marL="628650" marR="0" lvl="1" indent="-171450" algn="l" rtl="0">
              <a:lnSpc>
                <a:spcPct val="80000"/>
              </a:lnSpc>
              <a:spcBef>
                <a:spcPts val="0"/>
              </a:spcBef>
              <a:spcAft>
                <a:spcPts val="0"/>
              </a:spcAft>
              <a:buClr>
                <a:schemeClr val="dk1"/>
              </a:buClr>
              <a:buSzPts val="480"/>
              <a:buFont typeface="Arial"/>
              <a:buChar char="•"/>
            </a:pPr>
            <a:r>
              <a:rPr lang="en-US" sz="480" b="0" u="none"/>
              <a:t>Ideal for isolated recovery environments, as well as long term archiving</a:t>
            </a:r>
            <a:endParaRPr sz="480" b="1" u="none"/>
          </a:p>
          <a:p>
            <a:pPr marL="0" marR="0" lvl="0" indent="0" algn="l" rtl="0">
              <a:lnSpc>
                <a:spcPct val="80000"/>
              </a:lnSpc>
              <a:spcBef>
                <a:spcPts val="0"/>
              </a:spcBef>
              <a:spcAft>
                <a:spcPts val="0"/>
              </a:spcAft>
              <a:buClr>
                <a:schemeClr val="dk1"/>
              </a:buClr>
              <a:buSzPts val="480"/>
              <a:buFont typeface="Arial"/>
              <a:buNone/>
            </a:pPr>
            <a:r>
              <a:rPr lang="en-US" sz="480">
                <a:solidFill>
                  <a:schemeClr val="dk1"/>
                </a:solidFill>
              </a:rPr>
              <a:t>----------------------------------</a:t>
            </a:r>
            <a:endParaRPr/>
          </a:p>
          <a:p>
            <a:pPr marL="0" lvl="0" indent="0" algn="l" rtl="0">
              <a:lnSpc>
                <a:spcPct val="80000"/>
              </a:lnSpc>
              <a:spcBef>
                <a:spcPts val="0"/>
              </a:spcBef>
              <a:spcAft>
                <a:spcPts val="0"/>
              </a:spcAft>
              <a:buNone/>
            </a:pPr>
            <a:r>
              <a:rPr lang="en-US" sz="480" b="1">
                <a:solidFill>
                  <a:schemeClr val="dk1"/>
                </a:solidFill>
              </a:rPr>
              <a:t>Additional Information:</a:t>
            </a:r>
            <a:endParaRPr/>
          </a:p>
          <a:p>
            <a:pPr marL="171450" lvl="0" indent="-171450" algn="l" rtl="0">
              <a:lnSpc>
                <a:spcPct val="80000"/>
              </a:lnSpc>
              <a:spcBef>
                <a:spcPts val="0"/>
              </a:spcBef>
              <a:spcAft>
                <a:spcPts val="0"/>
              </a:spcAft>
              <a:buClr>
                <a:schemeClr val="dk1"/>
              </a:buClr>
              <a:buSzPts val="480"/>
              <a:buFont typeface="Arial"/>
              <a:buChar char="•"/>
            </a:pPr>
            <a:r>
              <a:rPr lang="en-US" sz="480"/>
              <a:t>Superior Snapshots using VMware vSAN Data Protection:  https://blogs.vmware.com/cloud-foundation/2024/08/02/superior-snapshots-using-vmware-vsan-data-protection/ </a:t>
            </a:r>
            <a:endParaRPr/>
          </a:p>
          <a:p>
            <a:pPr marL="171450" lvl="0" indent="-140970" algn="l" rtl="0">
              <a:lnSpc>
                <a:spcPct val="80000"/>
              </a:lnSpc>
              <a:spcBef>
                <a:spcPts val="0"/>
              </a:spcBef>
              <a:spcAft>
                <a:spcPts val="0"/>
              </a:spcAft>
              <a:buClr>
                <a:schemeClr val="dk1"/>
              </a:buClr>
              <a:buSzPts val="480"/>
              <a:buFont typeface="Arial"/>
              <a:buNone/>
            </a:pPr>
            <a:endParaRPr sz="480"/>
          </a:p>
          <a:p>
            <a:pPr marL="0" marR="0" lvl="0" indent="0" algn="l" rtl="0">
              <a:lnSpc>
                <a:spcPct val="80000"/>
              </a:lnSpc>
              <a:spcBef>
                <a:spcPts val="0"/>
              </a:spcBef>
              <a:spcAft>
                <a:spcPts val="0"/>
              </a:spcAft>
              <a:buClr>
                <a:schemeClr val="dk1"/>
              </a:buClr>
              <a:buSzPts val="480"/>
              <a:buFont typeface="Arial"/>
              <a:buNone/>
            </a:pPr>
            <a:r>
              <a:rPr lang="en-US" sz="480" b="1" u="none" strike="noStrike">
                <a:solidFill>
                  <a:schemeClr val="dk1"/>
                </a:solidFill>
              </a:rPr>
              <a:t>Notes:</a:t>
            </a:r>
            <a:br>
              <a:rPr lang="en-US" sz="480" u="none" strike="noStrike">
                <a:solidFill>
                  <a:schemeClr val="dk1"/>
                </a:solidFill>
              </a:rPr>
            </a:br>
            <a:r>
              <a:rPr lang="en-US" sz="480" b="0"/>
              <a:t>This is an introductory slide intended to showcase vSAN-to-vSAN replication courtesy of the VLR addon.  For a comprehensive understanding of this feature, see the appropriate presentation deck that details the capabilities of VLR.</a:t>
            </a:r>
            <a:endParaRPr/>
          </a:p>
          <a:p>
            <a:pPr marL="0" marR="0" lvl="0" indent="0" algn="l" rtl="0">
              <a:lnSpc>
                <a:spcPct val="80000"/>
              </a:lnSpc>
              <a:spcBef>
                <a:spcPts val="0"/>
              </a:spcBef>
              <a:spcAft>
                <a:spcPts val="0"/>
              </a:spcAft>
              <a:buClr>
                <a:schemeClr val="dk1"/>
              </a:buClr>
              <a:buSzPts val="480"/>
              <a:buFont typeface="Arial"/>
              <a:buNone/>
            </a:pPr>
            <a:endParaRPr sz="480" u="none" strike="noStrike">
              <a:solidFill>
                <a:schemeClr val="dk1"/>
              </a:solidFill>
            </a:endParaRPr>
          </a:p>
          <a:p>
            <a:pPr marL="0" lvl="0" indent="0" algn="l" rtl="0">
              <a:lnSpc>
                <a:spcPct val="80000"/>
              </a:lnSpc>
              <a:spcBef>
                <a:spcPts val="0"/>
              </a:spcBef>
              <a:spcAft>
                <a:spcPts val="0"/>
              </a:spcAft>
              <a:buNone/>
            </a:pPr>
            <a:r>
              <a:rPr lang="en-US" sz="480" b="1" u="none" strike="noStrike">
                <a:solidFill>
                  <a:schemeClr val="dk1"/>
                </a:solidFill>
              </a:rPr>
              <a:t>Resources:</a:t>
            </a:r>
            <a:br>
              <a:rPr lang="en-US" sz="480" b="1" u="none" strike="noStrike">
                <a:solidFill>
                  <a:schemeClr val="dk1"/>
                </a:solidFill>
              </a:rPr>
            </a:br>
            <a:r>
              <a:rPr lang="en-US" sz="480" b="0" u="none" strike="noStrike">
                <a:solidFill>
                  <a:schemeClr val="dk1"/>
                </a:solidFill>
              </a:rPr>
              <a:t>x</a:t>
            </a:r>
            <a:endParaRPr sz="480">
              <a:solidFill>
                <a:srgbClr val="DCA10D"/>
              </a:solidFill>
              <a:latin typeface="Helvetica Neue"/>
              <a:ea typeface="Helvetica Neue"/>
              <a:cs typeface="Helvetica Neue"/>
              <a:sym typeface="Helvetica Neue"/>
            </a:endParaRPr>
          </a:p>
          <a:p>
            <a:pPr marL="171450" lvl="0" indent="-140970" algn="l" rtl="0">
              <a:lnSpc>
                <a:spcPct val="80000"/>
              </a:lnSpc>
              <a:spcBef>
                <a:spcPts val="0"/>
              </a:spcBef>
              <a:spcAft>
                <a:spcPts val="0"/>
              </a:spcAft>
              <a:buClr>
                <a:schemeClr val="dk1"/>
              </a:buClr>
              <a:buSzPts val="480"/>
              <a:buFont typeface="Arial"/>
              <a:buNone/>
            </a:pPr>
            <a:endParaRPr sz="480"/>
          </a:p>
          <a:p>
            <a:pPr marL="171450" lvl="0" indent="-140970" algn="l" rtl="0">
              <a:lnSpc>
                <a:spcPct val="80000"/>
              </a:lnSpc>
              <a:spcBef>
                <a:spcPts val="0"/>
              </a:spcBef>
              <a:spcAft>
                <a:spcPts val="0"/>
              </a:spcAft>
              <a:buClr>
                <a:schemeClr val="dk1"/>
              </a:buClr>
              <a:buSzPts val="480"/>
              <a:buFont typeface="Arial"/>
              <a:buNone/>
            </a:pPr>
            <a:endParaRPr sz="480"/>
          </a:p>
        </p:txBody>
      </p:sp>
      <p:sp>
        <p:nvSpPr>
          <p:cNvPr id="8964" name="Google Shape;8964;p8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7"/>
        <p:cNvGrpSpPr/>
        <p:nvPr/>
      </p:nvGrpSpPr>
      <p:grpSpPr>
        <a:xfrm>
          <a:off x="0" y="0"/>
          <a:ext cx="0" cy="0"/>
          <a:chOff x="0" y="0"/>
          <a:chExt cx="0" cy="0"/>
        </a:xfrm>
      </p:grpSpPr>
      <p:sp>
        <p:nvSpPr>
          <p:cNvPr id="9068" name="Google Shape;9068;p85: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9" name="Google Shape;9069;p85: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70000"/>
              </a:lnSpc>
              <a:spcBef>
                <a:spcPts val="0"/>
              </a:spcBef>
              <a:spcAft>
                <a:spcPts val="0"/>
              </a:spcAft>
              <a:buClr>
                <a:schemeClr val="dk1"/>
              </a:buClr>
              <a:buSzPts val="1200"/>
              <a:buFont typeface="Arial"/>
              <a:buNone/>
            </a:pPr>
            <a:r>
              <a:rPr lang="en-US" sz="1200" b="1">
                <a:latin typeface="Arial"/>
                <a:ea typeface="Arial"/>
                <a:cs typeface="Arial"/>
                <a:sym typeface="Arial"/>
              </a:rPr>
              <a:t>Presenter Note:  This slide contains animation</a:t>
            </a:r>
            <a:endParaRPr/>
          </a:p>
          <a:p>
            <a:pPr marL="0" lvl="0" indent="0" algn="l" rtl="0">
              <a:lnSpc>
                <a:spcPct val="70000"/>
              </a:lnSpc>
              <a:spcBef>
                <a:spcPts val="0"/>
              </a:spcBef>
              <a:spcAft>
                <a:spcPts val="0"/>
              </a:spcAft>
              <a:buClr>
                <a:schemeClr val="dk1"/>
              </a:buClr>
              <a:buSzPts val="1200"/>
              <a:buFont typeface="Arial"/>
              <a:buNone/>
            </a:pPr>
            <a:endParaRPr sz="1200" b="1" i="0" u="none" strike="noStrike">
              <a:solidFill>
                <a:schemeClr val="dk1"/>
              </a:solidFill>
            </a:endParaRPr>
          </a:p>
          <a:p>
            <a:pPr marL="0" lvl="0" indent="0" algn="l" rtl="0">
              <a:lnSpc>
                <a:spcPct val="70000"/>
              </a:lnSpc>
              <a:spcBef>
                <a:spcPts val="0"/>
              </a:spcBef>
              <a:spcAft>
                <a:spcPts val="0"/>
              </a:spcAft>
              <a:buClr>
                <a:schemeClr val="dk1"/>
              </a:buClr>
              <a:buSzPts val="1200"/>
              <a:buFont typeface="Arial"/>
              <a:buNone/>
            </a:pPr>
            <a:r>
              <a:rPr lang="en-US" sz="1200" b="1" i="0" u="none" strike="noStrike">
                <a:solidFill>
                  <a:schemeClr val="dk1"/>
                </a:solidFill>
              </a:rPr>
              <a:t>Key Message:</a:t>
            </a:r>
            <a:endParaRPr/>
          </a:p>
          <a:p>
            <a:pPr marL="0" lvl="0" indent="0" algn="l" rtl="0">
              <a:lnSpc>
                <a:spcPct val="70000"/>
              </a:lnSpc>
              <a:spcBef>
                <a:spcPts val="0"/>
              </a:spcBef>
              <a:spcAft>
                <a:spcPts val="0"/>
              </a:spcAft>
              <a:buClr>
                <a:schemeClr val="dk1"/>
              </a:buClr>
              <a:buSzPts val="1200"/>
              <a:buFont typeface="Arial"/>
              <a:buNone/>
            </a:pPr>
            <a:r>
              <a:rPr lang="en-US" sz="1200" b="0" i="0" u="none" strike="noStrike">
                <a:solidFill>
                  <a:schemeClr val="dk1"/>
                </a:solidFill>
              </a:rPr>
              <a:t>Security is important but resilience is the thing organizations really want, in the face of any sort of issue. The idea of resilience is woven into our platforms, and not an afterthought.</a:t>
            </a:r>
            <a:endParaRPr/>
          </a:p>
          <a:p>
            <a:pPr marL="0" marR="0" lvl="0" indent="0" algn="l" rtl="0">
              <a:lnSpc>
                <a:spcPct val="90000"/>
              </a:lnSpc>
              <a:spcBef>
                <a:spcPts val="0"/>
              </a:spcBef>
              <a:spcAft>
                <a:spcPts val="0"/>
              </a:spcAft>
              <a:buClr>
                <a:schemeClr val="dk1"/>
              </a:buClr>
              <a:buSzPts val="1200"/>
              <a:buFont typeface="Arial"/>
              <a:buNone/>
            </a:pPr>
            <a:endParaRPr sz="1200" b="1" i="0" u="none" strike="noStrike">
              <a:solidFill>
                <a:schemeClr val="dk1"/>
              </a:solidFill>
            </a:endParaRPr>
          </a:p>
          <a:p>
            <a:pPr marL="0" marR="0" lvl="0" indent="0" algn="l" rtl="0">
              <a:lnSpc>
                <a:spcPct val="90000"/>
              </a:lnSpc>
              <a:spcBef>
                <a:spcPts val="0"/>
              </a:spcBef>
              <a:spcAft>
                <a:spcPts val="0"/>
              </a:spcAft>
              <a:buClr>
                <a:schemeClr val="dk1"/>
              </a:buClr>
              <a:buSzPts val="1200"/>
              <a:buFont typeface="Arial"/>
              <a:buNone/>
            </a:pPr>
            <a:r>
              <a:rPr lang="en-US" sz="1200" b="1" i="0" u="none" strike="noStrike">
                <a:solidFill>
                  <a:schemeClr val="dk1"/>
                </a:solidFill>
              </a:rPr>
              <a:t>Talk Track:</a:t>
            </a:r>
            <a:endParaRPr/>
          </a:p>
          <a:p>
            <a:pPr marL="0" marR="0" lvl="0" indent="0" algn="l" rtl="0">
              <a:lnSpc>
                <a:spcPct val="80000"/>
              </a:lnSpc>
              <a:spcBef>
                <a:spcPts val="0"/>
              </a:spcBef>
              <a:spcAft>
                <a:spcPts val="0"/>
              </a:spcAft>
              <a:buClr>
                <a:schemeClr val="dk1"/>
              </a:buClr>
              <a:buSzPts val="1200"/>
              <a:buFont typeface="Arial"/>
              <a:buNone/>
            </a:pPr>
            <a:r>
              <a:rPr lang="en-US"/>
              <a:t>A dependable and reliable platform ties back to operational resilience, which is really what most organizations are striving to achieve. The ability to use the platform itself to avoid, prevent, and recover quickly from issues, whether they are a failed application update, human error, ransomware attack, or a hurricane, with predictable results and costs, has been a hallmark of VMware products for decades.</a:t>
            </a:r>
            <a:endParaRPr/>
          </a:p>
          <a:p>
            <a:pPr marL="0" lvl="0" indent="0" algn="l" rtl="0">
              <a:lnSpc>
                <a:spcPct val="80000"/>
              </a:lnSpc>
              <a:spcBef>
                <a:spcPts val="0"/>
              </a:spcBef>
              <a:spcAft>
                <a:spcPts val="0"/>
              </a:spcAft>
              <a:buClr>
                <a:schemeClr val="dk1"/>
              </a:buClr>
              <a:buSzPts val="1200"/>
              <a:buFont typeface="Arial"/>
              <a:buNone/>
            </a:pPr>
            <a:endParaRPr/>
          </a:p>
          <a:p>
            <a:pPr marL="0" lvl="0" indent="0" algn="l" rtl="0">
              <a:lnSpc>
                <a:spcPct val="80000"/>
              </a:lnSpc>
              <a:spcBef>
                <a:spcPts val="0"/>
              </a:spcBef>
              <a:spcAft>
                <a:spcPts val="0"/>
              </a:spcAft>
              <a:buClr>
                <a:schemeClr val="dk1"/>
              </a:buClr>
              <a:buSzPts val="1200"/>
              <a:buFont typeface="Arial"/>
              <a:buNone/>
            </a:pPr>
            <a:r>
              <a:rPr lang="en-US"/>
              <a:t>This is NIST 2.0 – (US National Institute of Standards and Technology’s Cybersecurity Framework 2.0), which does a good job of enumerating the idea of resilience, and again mapping Cloud Foundation functionality to it’s prescribed parts. </a:t>
            </a:r>
            <a:endParaRPr/>
          </a:p>
          <a:p>
            <a:pPr marL="0" lvl="0" indent="0" algn="l" rtl="0">
              <a:lnSpc>
                <a:spcPct val="80000"/>
              </a:lnSpc>
              <a:spcBef>
                <a:spcPts val="0"/>
              </a:spcBef>
              <a:spcAft>
                <a:spcPts val="0"/>
              </a:spcAft>
              <a:buClr>
                <a:schemeClr val="dk1"/>
              </a:buClr>
              <a:buSzPts val="1200"/>
              <a:buFont typeface="Arial"/>
              <a:buNone/>
            </a:pPr>
            <a:endParaRPr/>
          </a:p>
          <a:p>
            <a:pPr marL="0" lvl="0" indent="0" algn="l" rtl="0">
              <a:lnSpc>
                <a:spcPct val="80000"/>
              </a:lnSpc>
              <a:spcBef>
                <a:spcPts val="0"/>
              </a:spcBef>
              <a:spcAft>
                <a:spcPts val="0"/>
              </a:spcAft>
              <a:buClr>
                <a:schemeClr val="dk1"/>
              </a:buClr>
              <a:buSzPts val="1200"/>
              <a:buFont typeface="Arial"/>
              <a:buNone/>
            </a:pPr>
            <a:r>
              <a:rPr lang="en-US"/>
              <a:t>The latest version of the cybersecurity framework depicts this as a circle, with one more concept that applies to everything: governance. Governance is very important in an organization, to ensue what the organization is doing aligns with its mission, ensure that processes are followed, inventory is kept, and so on. </a:t>
            </a:r>
            <a:endParaRPr/>
          </a:p>
          <a:p>
            <a:pPr marL="0" lvl="0" indent="0" algn="l" rtl="0">
              <a:lnSpc>
                <a:spcPct val="80000"/>
              </a:lnSpc>
              <a:spcBef>
                <a:spcPts val="0"/>
              </a:spcBef>
              <a:spcAft>
                <a:spcPts val="0"/>
              </a:spcAft>
              <a:buClr>
                <a:schemeClr val="dk1"/>
              </a:buClr>
              <a:buSzPts val="1200"/>
              <a:buFont typeface="Arial"/>
              <a:buNone/>
            </a:pPr>
            <a:r>
              <a:rPr lang="en-US"/>
              <a:t>Not only does Cloud Foundation have all these deep resiliency features, but it also has powerful governance tools woven into our platforms which are not an after-thought</a:t>
            </a:r>
            <a:endParaRPr/>
          </a:p>
          <a:p>
            <a:pPr marL="0" lvl="0" indent="0" algn="l" rtl="0">
              <a:lnSpc>
                <a:spcPct val="90000"/>
              </a:lnSpc>
              <a:spcBef>
                <a:spcPts val="0"/>
              </a:spcBef>
              <a:spcAft>
                <a:spcPts val="0"/>
              </a:spcAft>
              <a:buNone/>
            </a:pPr>
            <a:endParaRPr/>
          </a:p>
          <a:p>
            <a:pPr marL="0" lvl="0" indent="0" algn="l" rtl="0">
              <a:lnSpc>
                <a:spcPct val="70000"/>
              </a:lnSpc>
              <a:spcBef>
                <a:spcPts val="0"/>
              </a:spcBef>
              <a:spcAft>
                <a:spcPts val="0"/>
              </a:spcAft>
              <a:buClr>
                <a:schemeClr val="dk1"/>
              </a:buClr>
              <a:buSzPts val="1200"/>
              <a:buFont typeface="Arial"/>
              <a:buNone/>
            </a:pPr>
            <a:r>
              <a:rPr lang="en-US" sz="1200" b="1" i="0" u="none" strike="noStrike">
                <a:solidFill>
                  <a:schemeClr val="dk1"/>
                </a:solidFill>
              </a:rPr>
              <a:t>Notes:</a:t>
            </a:r>
            <a:endParaRPr sz="1200" b="0" i="0" u="none" strike="noStrike">
              <a:solidFill>
                <a:schemeClr val="dk1"/>
              </a:solidFill>
            </a:endParaRPr>
          </a:p>
          <a:p>
            <a:pPr marL="0" lvl="0" indent="0" algn="l" rtl="0">
              <a:lnSpc>
                <a:spcPct val="70000"/>
              </a:lnSpc>
              <a:spcBef>
                <a:spcPts val="0"/>
              </a:spcBef>
              <a:spcAft>
                <a:spcPts val="0"/>
              </a:spcAft>
              <a:buClr>
                <a:schemeClr val="dk1"/>
              </a:buClr>
              <a:buSzPts val="1200"/>
              <a:buFont typeface="Arial"/>
              <a:buNone/>
            </a:pPr>
            <a:r>
              <a:rPr lang="en-US" sz="1200" b="0" i="0" u="none" strike="noStrike">
                <a:solidFill>
                  <a:schemeClr val="dk1"/>
                </a:solidFill>
              </a:rPr>
              <a:t>Again, not a complete list of features and functionality.</a:t>
            </a:r>
            <a:endParaRPr/>
          </a:p>
          <a:p>
            <a:pPr marL="0" lvl="0" indent="0" algn="l" rtl="0">
              <a:lnSpc>
                <a:spcPct val="70000"/>
              </a:lnSpc>
              <a:spcBef>
                <a:spcPts val="0"/>
              </a:spcBef>
              <a:spcAft>
                <a:spcPts val="0"/>
              </a:spcAft>
              <a:buClr>
                <a:schemeClr val="dk1"/>
              </a:buClr>
              <a:buSzPts val="1200"/>
              <a:buFont typeface="Arial"/>
              <a:buNone/>
            </a:pPr>
            <a:endParaRPr sz="1200" b="1" i="0" u="none" strike="noStrike">
              <a:solidFill>
                <a:schemeClr val="dk1"/>
              </a:solidFill>
            </a:endParaRPr>
          </a:p>
          <a:p>
            <a:pPr marL="0" lvl="0" indent="0" algn="l" rtl="0">
              <a:lnSpc>
                <a:spcPct val="70000"/>
              </a:lnSpc>
              <a:spcBef>
                <a:spcPts val="0"/>
              </a:spcBef>
              <a:spcAft>
                <a:spcPts val="0"/>
              </a:spcAft>
              <a:buClr>
                <a:schemeClr val="dk1"/>
              </a:buClr>
              <a:buSzPts val="1200"/>
              <a:buFont typeface="Arial"/>
              <a:buNone/>
            </a:pPr>
            <a:r>
              <a:rPr lang="en-US" sz="1200" b="1" i="0" u="none" strike="noStrike">
                <a:solidFill>
                  <a:schemeClr val="dk1"/>
                </a:solidFill>
              </a:rPr>
              <a:t>References:</a:t>
            </a:r>
            <a:endParaRPr/>
          </a:p>
          <a:p>
            <a:pPr marL="0" lvl="0" indent="0" algn="l" rtl="0">
              <a:lnSpc>
                <a:spcPct val="90000"/>
              </a:lnSpc>
              <a:spcBef>
                <a:spcPts val="0"/>
              </a:spcBef>
              <a:spcAft>
                <a:spcPts val="0"/>
              </a:spcAft>
              <a:buNone/>
            </a:pPr>
            <a:r>
              <a:rPr lang="en-US"/>
              <a:t>https://brcm.tech/vcf-security, https://sales-resources.broadcom.com/group/vcf/security-compliance</a:t>
            </a:r>
            <a:endParaRPr/>
          </a:p>
          <a:p>
            <a:pPr marL="0" marR="0" lvl="0" indent="0" algn="l" rtl="0">
              <a:lnSpc>
                <a:spcPct val="97000"/>
              </a:lnSpc>
              <a:spcBef>
                <a:spcPts val="0"/>
              </a:spcBef>
              <a:spcAft>
                <a:spcPts val="0"/>
              </a:spcAft>
              <a:buNone/>
            </a:pPr>
            <a:endParaRPr/>
          </a:p>
          <a:p>
            <a:pPr marL="0" lvl="0" indent="0" algn="l" rtl="0">
              <a:lnSpc>
                <a:spcPct val="90000"/>
              </a:lnSpc>
              <a:spcBef>
                <a:spcPts val="800"/>
              </a:spcBef>
              <a:spcAft>
                <a:spcPts val="0"/>
              </a:spcAft>
              <a:buNone/>
            </a:pPr>
            <a:endParaRPr/>
          </a:p>
          <a:p>
            <a:pPr marL="0" lvl="0" indent="0" algn="l" rtl="0">
              <a:lnSpc>
                <a:spcPct val="90000"/>
              </a:lnSpc>
              <a:spcBef>
                <a:spcPts val="0"/>
              </a:spcBef>
              <a:spcAft>
                <a:spcPts val="0"/>
              </a:spcAft>
              <a:buNone/>
            </a:pPr>
            <a:endParaRPr/>
          </a:p>
        </p:txBody>
      </p:sp>
      <p:sp>
        <p:nvSpPr>
          <p:cNvPr id="9070" name="Google Shape;9070;p8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5"/>
        <p:cNvGrpSpPr/>
        <p:nvPr/>
      </p:nvGrpSpPr>
      <p:grpSpPr>
        <a:xfrm>
          <a:off x="0" y="0"/>
          <a:ext cx="0" cy="0"/>
          <a:chOff x="0" y="0"/>
          <a:chExt cx="0" cy="0"/>
        </a:xfrm>
      </p:grpSpPr>
      <p:sp>
        <p:nvSpPr>
          <p:cNvPr id="9496" name="Google Shape;9496;p8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7" name="Google Shape;9497;p8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dk1"/>
              </a:buClr>
              <a:buSzPts val="1200"/>
              <a:buFont typeface="Arial"/>
              <a:buNone/>
            </a:pPr>
            <a:r>
              <a:rPr lang="en-US" sz="1200" b="1">
                <a:latin typeface="Arial"/>
                <a:ea typeface="Arial"/>
                <a:cs typeface="Arial"/>
                <a:sym typeface="Arial"/>
              </a:rPr>
              <a:t>Presenter Note:  This slide contains animation</a:t>
            </a:r>
            <a:endParaRPr/>
          </a:p>
          <a:p>
            <a:pPr marL="0" lvl="0" indent="0" algn="l" rtl="0">
              <a:lnSpc>
                <a:spcPct val="80000"/>
              </a:lnSpc>
              <a:spcBef>
                <a:spcPts val="0"/>
              </a:spcBef>
              <a:spcAft>
                <a:spcPts val="0"/>
              </a:spcAft>
              <a:buClr>
                <a:schemeClr val="dk1"/>
              </a:buClr>
              <a:buSzPts val="1200"/>
              <a:buFont typeface="Arial"/>
              <a:buNone/>
            </a:pPr>
            <a:endParaRPr sz="1200" b="1" i="0" u="none" strike="noStrike">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a:solidFill>
                  <a:schemeClr val="dk1"/>
                </a:solidFill>
              </a:rPr>
              <a:t>Key Message:</a:t>
            </a:r>
            <a:endParaRPr/>
          </a:p>
          <a:p>
            <a:pPr marL="0" lvl="0" indent="0" algn="l" rtl="0">
              <a:lnSpc>
                <a:spcPct val="80000"/>
              </a:lnSpc>
              <a:spcBef>
                <a:spcPts val="0"/>
              </a:spcBef>
              <a:spcAft>
                <a:spcPts val="0"/>
              </a:spcAft>
              <a:buClr>
                <a:schemeClr val="dk1"/>
              </a:buClr>
              <a:buSzPts val="1200"/>
              <a:buFont typeface="Arial"/>
              <a:buNone/>
            </a:pPr>
            <a:r>
              <a:rPr lang="en-US" sz="1200" b="0" i="0" u="none" strike="noStrike">
                <a:solidFill>
                  <a:schemeClr val="dk1"/>
                </a:solidFill>
              </a:rPr>
              <a:t>Security isn’t bolted on to VCF, it’s baked in at every layer of the stack</a:t>
            </a:r>
            <a:endParaRPr/>
          </a:p>
          <a:p>
            <a:pPr marL="0" marR="0" lvl="0" indent="0" algn="l" rtl="0">
              <a:lnSpc>
                <a:spcPct val="100000"/>
              </a:lnSpc>
              <a:spcBef>
                <a:spcPts val="0"/>
              </a:spcBef>
              <a:spcAft>
                <a:spcPts val="0"/>
              </a:spcAft>
              <a:buClr>
                <a:schemeClr val="dk1"/>
              </a:buClr>
              <a:buSzPts val="1200"/>
              <a:buFont typeface="Arial"/>
              <a:buNone/>
            </a:pPr>
            <a:endParaRPr sz="1200" b="1" i="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i="0" u="none" strike="noStrike">
                <a:solidFill>
                  <a:schemeClr val="dk1"/>
                </a:solidFill>
              </a:rPr>
              <a:t>Talk Track:</a:t>
            </a:r>
            <a:endParaRPr/>
          </a:p>
          <a:p>
            <a:pPr marL="0" marR="0" lvl="0" indent="0" algn="l" rtl="0">
              <a:lnSpc>
                <a:spcPct val="100000"/>
              </a:lnSpc>
              <a:spcBef>
                <a:spcPts val="0"/>
              </a:spcBef>
              <a:spcAft>
                <a:spcPts val="0"/>
              </a:spcAft>
              <a:buClr>
                <a:schemeClr val="dk1"/>
              </a:buClr>
              <a:buSzPts val="1200"/>
              <a:buFont typeface="Arial"/>
              <a:buNone/>
            </a:pPr>
            <a:r>
              <a:rPr lang="en-US"/>
              <a:t>If every feature in VCF is a security feature we could spend days talking about it!</a:t>
            </a:r>
            <a:endParaRPr/>
          </a:p>
          <a:p>
            <a:pPr marL="0" marR="0" lvl="0" indent="0" algn="l" rtl="0">
              <a:lnSpc>
                <a:spcPct val="100000"/>
              </a:lnSpc>
              <a:spcBef>
                <a:spcPts val="0"/>
              </a:spcBef>
              <a:spcAft>
                <a:spcPts val="0"/>
              </a:spcAft>
              <a:buClr>
                <a:schemeClr val="dk1"/>
              </a:buClr>
              <a:buSzPts val="1200"/>
              <a:buFont typeface="Arial"/>
              <a:buNone/>
            </a:pPr>
            <a:r>
              <a:rPr lang="en-US"/>
              <a:t>Good security is in every layer of the stack, from the hardware itself, up to the hypervisor, through storage and vCenter, protecting workloads, and enabling ease of management at the Cloud Foundation level. </a:t>
            </a:r>
            <a:endParaRPr/>
          </a:p>
          <a:p>
            <a:pPr marL="0" marR="0" lvl="0" indent="0" algn="l" rtl="0">
              <a:lnSpc>
                <a:spcPct val="100000"/>
              </a:lnSpc>
              <a:spcBef>
                <a:spcPts val="0"/>
              </a:spcBef>
              <a:spcAft>
                <a:spcPts val="0"/>
              </a:spcAft>
              <a:buClr>
                <a:schemeClr val="dk1"/>
              </a:buClr>
              <a:buSzPts val="1200"/>
              <a:buFont typeface="Arial"/>
              <a:buNone/>
            </a:pPr>
            <a:r>
              <a:rPr lang="en-US"/>
              <a:t>We do this because threats exist at all those levels, and each level – both above and below.</a:t>
            </a:r>
            <a:endParaRPr/>
          </a:p>
          <a:p>
            <a:pPr marL="0" marR="0" lvl="0" indent="0" algn="l" rtl="0">
              <a:lnSpc>
                <a:spcPct val="100000"/>
              </a:lnSpc>
              <a:spcBef>
                <a:spcPts val="0"/>
              </a:spcBef>
              <a:spcAft>
                <a:spcPts val="0"/>
              </a:spcAft>
              <a:buClr>
                <a:schemeClr val="dk1"/>
              </a:buClr>
              <a:buSzPts val="1200"/>
              <a:buFont typeface="Arial"/>
              <a:buNone/>
            </a:pPr>
            <a:r>
              <a:rPr lang="en-US" sz="1200" b="0" i="0" u="none" strike="noStrike">
                <a:solidFill>
                  <a:schemeClr val="dk1"/>
                </a:solidFill>
              </a:rPr>
              <a:t>The message here is that - security isn’t simply bolted on to VCF, it’s baked in at every layer of the stack</a:t>
            </a:r>
            <a:endParaRPr/>
          </a:p>
          <a:p>
            <a:pPr marL="0" lvl="0" indent="0" algn="l" rtl="0">
              <a:spcBef>
                <a:spcPts val="0"/>
              </a:spcBef>
              <a:spcAft>
                <a:spcPts val="0"/>
              </a:spcAft>
              <a:buNone/>
            </a:pPr>
            <a:endParaRPr/>
          </a:p>
          <a:p>
            <a:pPr marL="0" lvl="0" indent="0" algn="l" rtl="0">
              <a:lnSpc>
                <a:spcPct val="80000"/>
              </a:lnSpc>
              <a:spcBef>
                <a:spcPts val="0"/>
              </a:spcBef>
              <a:spcAft>
                <a:spcPts val="0"/>
              </a:spcAft>
              <a:buClr>
                <a:schemeClr val="dk1"/>
              </a:buClr>
              <a:buSzPts val="1200"/>
              <a:buFont typeface="Arial"/>
              <a:buNone/>
            </a:pPr>
            <a:r>
              <a:rPr lang="en-US" sz="1200" b="1" i="0" u="none" strike="noStrike">
                <a:solidFill>
                  <a:schemeClr val="dk1"/>
                </a:solidFill>
              </a:rPr>
              <a:t>Notes:</a:t>
            </a:r>
            <a:endParaRPr sz="1200" b="0" i="0" u="none" strike="noStrike">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a:solidFill>
                  <a:schemeClr val="dk1"/>
                </a:solidFill>
              </a:rPr>
              <a:t>Again, not a complete list of features and functionality.</a:t>
            </a:r>
            <a:endParaRPr/>
          </a:p>
          <a:p>
            <a:pPr marL="0" lvl="0" indent="0" algn="l" rtl="0">
              <a:lnSpc>
                <a:spcPct val="80000"/>
              </a:lnSpc>
              <a:spcBef>
                <a:spcPts val="0"/>
              </a:spcBef>
              <a:spcAft>
                <a:spcPts val="0"/>
              </a:spcAft>
              <a:buClr>
                <a:schemeClr val="dk1"/>
              </a:buClr>
              <a:buSzPts val="1200"/>
              <a:buFont typeface="Arial"/>
              <a:buNone/>
            </a:pPr>
            <a:endParaRPr sz="1200" b="1" i="0" u="none" strike="noStrike">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a:solidFill>
                  <a:schemeClr val="dk1"/>
                </a:solidFill>
              </a:rPr>
              <a:t>References:</a:t>
            </a:r>
            <a:endParaRPr/>
          </a:p>
          <a:p>
            <a:pPr marL="0" lvl="0" indent="0" algn="l" rtl="0">
              <a:spcBef>
                <a:spcPts val="0"/>
              </a:spcBef>
              <a:spcAft>
                <a:spcPts val="0"/>
              </a:spcAft>
              <a:buNone/>
            </a:pPr>
            <a:r>
              <a:rPr lang="en-US"/>
              <a:t>https://brcm.tech/vcf-security, https://sales-resources.broadcom.com/group/vcf/security-compliance</a:t>
            </a:r>
            <a:endParaRPr/>
          </a:p>
          <a:p>
            <a:pPr marL="0" marR="0" lvl="0" indent="0" algn="l" rtl="0">
              <a:lnSpc>
                <a:spcPct val="107000"/>
              </a:lnSpc>
              <a:spcBef>
                <a:spcPts val="0"/>
              </a:spcBef>
              <a:spcAft>
                <a:spcPts val="0"/>
              </a:spcAft>
              <a:buNone/>
            </a:pPr>
            <a:endParaRPr/>
          </a:p>
          <a:p>
            <a:pPr marL="0" lvl="0" indent="0" algn="l" rtl="0">
              <a:spcBef>
                <a:spcPts val="800"/>
              </a:spcBef>
              <a:spcAft>
                <a:spcPts val="0"/>
              </a:spcAft>
              <a:buNone/>
            </a:pPr>
            <a:endParaRPr/>
          </a:p>
          <a:p>
            <a:pPr marL="0" lvl="0" indent="0" algn="l" rtl="0">
              <a:spcBef>
                <a:spcPts val="0"/>
              </a:spcBef>
              <a:spcAft>
                <a:spcPts val="0"/>
              </a:spcAft>
              <a:buNone/>
            </a:pPr>
            <a:endParaRPr/>
          </a:p>
        </p:txBody>
      </p:sp>
      <p:sp>
        <p:nvSpPr>
          <p:cNvPr id="9498" name="Google Shape;9498;p8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3"/>
        <p:cNvGrpSpPr/>
        <p:nvPr/>
      </p:nvGrpSpPr>
      <p:grpSpPr>
        <a:xfrm>
          <a:off x="0" y="0"/>
          <a:ext cx="0" cy="0"/>
          <a:chOff x="0" y="0"/>
          <a:chExt cx="0" cy="0"/>
        </a:xfrm>
      </p:grpSpPr>
      <p:sp>
        <p:nvSpPr>
          <p:cNvPr id="9554" name="Google Shape;9554;p8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5" name="Google Shape;9555;p8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chemeClr val="dk1"/>
              </a:buClr>
              <a:buSzPts val="1200"/>
              <a:buFont typeface="Arial"/>
              <a:buNone/>
            </a:pPr>
            <a:r>
              <a:rPr lang="en-US" sz="1200">
                <a:latin typeface="Arial"/>
                <a:ea typeface="Arial"/>
                <a:cs typeface="Arial"/>
                <a:sym typeface="Arial"/>
              </a:rPr>
              <a:t>VCF Business Services Console</a:t>
            </a:r>
            <a:endParaRPr/>
          </a:p>
          <a:p>
            <a:pPr marL="0" lvl="0" indent="0" algn="l" rtl="0">
              <a:spcBef>
                <a:spcPts val="0"/>
              </a:spcBef>
              <a:spcAft>
                <a:spcPts val="0"/>
              </a:spcAft>
              <a:buClr>
                <a:schemeClr val="dk1"/>
              </a:buClr>
              <a:buSzPts val="1200"/>
              <a:buFont typeface="Arial"/>
              <a:buNone/>
            </a:pPr>
            <a:r>
              <a:rPr lang="en-US" sz="1200">
                <a:latin typeface="Arial"/>
                <a:ea typeface="Arial"/>
                <a:cs typeface="Arial"/>
                <a:sym typeface="Arial"/>
              </a:rPr>
              <a:t>Activation using VCF Operations</a:t>
            </a:r>
            <a:endParaRPr/>
          </a:p>
          <a:p>
            <a:pPr marL="0" lvl="0" indent="0" algn="l" rtl="0">
              <a:spcBef>
                <a:spcPts val="0"/>
              </a:spcBef>
              <a:spcAft>
                <a:spcPts val="0"/>
              </a:spcAft>
              <a:buClr>
                <a:schemeClr val="dk1"/>
              </a:buClr>
              <a:buSzPts val="1200"/>
              <a:buFont typeface="Arial"/>
              <a:buNone/>
            </a:pPr>
            <a:r>
              <a:rPr lang="en-US" sz="1200">
                <a:latin typeface="Arial"/>
                <a:ea typeface="Arial"/>
                <a:cs typeface="Arial"/>
                <a:sym typeface="Arial"/>
              </a:rPr>
              <a:t>Subscription Expiration Behaviour</a:t>
            </a:r>
            <a:endParaRPr/>
          </a:p>
          <a:p>
            <a:pPr marL="0" lvl="0" indent="0" algn="l" rtl="0">
              <a:spcBef>
                <a:spcPts val="0"/>
              </a:spcBef>
              <a:spcAft>
                <a:spcPts val="0"/>
              </a:spcAft>
              <a:buClr>
                <a:schemeClr val="dk1"/>
              </a:buClr>
              <a:buSzPts val="1200"/>
              <a:buFont typeface="Arial"/>
              <a:buNone/>
            </a:pPr>
            <a:r>
              <a:rPr lang="en-US" sz="1200">
                <a:latin typeface="Arial"/>
                <a:ea typeface="Arial"/>
                <a:cs typeface="Arial"/>
                <a:sym typeface="Arial"/>
              </a:rPr>
              <a:t>Licensing Considerations for Upgrades</a:t>
            </a:r>
            <a:endParaRPr/>
          </a:p>
          <a:p>
            <a:pPr marL="0" lvl="0" indent="0" algn="l" rtl="0">
              <a:spcBef>
                <a:spcPts val="0"/>
              </a:spcBef>
              <a:spcAft>
                <a:spcPts val="0"/>
              </a:spcAft>
              <a:buNone/>
            </a:pPr>
            <a:endParaRPr/>
          </a:p>
        </p:txBody>
      </p:sp>
      <p:sp>
        <p:nvSpPr>
          <p:cNvPr id="9556" name="Google Shape;9556;p8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0"/>
        <p:cNvGrpSpPr/>
        <p:nvPr/>
      </p:nvGrpSpPr>
      <p:grpSpPr>
        <a:xfrm>
          <a:off x="0" y="0"/>
          <a:ext cx="0" cy="0"/>
          <a:chOff x="0" y="0"/>
          <a:chExt cx="0" cy="0"/>
        </a:xfrm>
      </p:grpSpPr>
      <p:sp>
        <p:nvSpPr>
          <p:cNvPr id="9561" name="Google Shape;9561;p8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2" name="Google Shape;9562;p8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Clr>
                <a:schemeClr val="dk1"/>
              </a:buClr>
              <a:buSzPts val="1110"/>
              <a:buFont typeface="Arial"/>
              <a:buNone/>
            </a:pPr>
            <a:r>
              <a:rPr lang="en-US" sz="1110" b="1" u="none" strike="noStrike">
                <a:solidFill>
                  <a:schemeClr val="dk1"/>
                </a:solidFill>
                <a:latin typeface="Arial"/>
                <a:ea typeface="Arial"/>
                <a:cs typeface="Arial"/>
                <a:sym typeface="Arial"/>
              </a:rPr>
              <a:t>Key Message:</a:t>
            </a:r>
            <a:endParaRPr/>
          </a:p>
          <a:p>
            <a:pPr marL="0" lvl="0" indent="0" algn="l" rtl="0">
              <a:lnSpc>
                <a:spcPct val="70000"/>
              </a:lnSpc>
              <a:spcBef>
                <a:spcPts val="0"/>
              </a:spcBef>
              <a:spcAft>
                <a:spcPts val="0"/>
              </a:spcAft>
              <a:buClr>
                <a:schemeClr val="dk1"/>
              </a:buClr>
              <a:buSzPts val="1110"/>
              <a:buFont typeface="Arial"/>
              <a:buNone/>
            </a:pPr>
            <a:r>
              <a:rPr lang="en-US" sz="1110" b="0" u="none" strike="noStrike">
                <a:solidFill>
                  <a:schemeClr val="dk1"/>
                </a:solidFill>
                <a:latin typeface="Arial"/>
                <a:ea typeface="Arial"/>
                <a:cs typeface="Arial"/>
                <a:sym typeface="Arial"/>
              </a:rPr>
              <a:t>VCF 9 introduces a significant change in the way VCF is licensed. </a:t>
            </a:r>
            <a:endParaRPr sz="1110" b="1" u="none" strike="noStrike">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1110"/>
              <a:buFont typeface="Arial"/>
              <a:buNone/>
            </a:pPr>
            <a:endParaRPr sz="1110">
              <a:latin typeface="Arial"/>
              <a:ea typeface="Arial"/>
              <a:cs typeface="Arial"/>
              <a:sym typeface="Arial"/>
            </a:endParaRPr>
          </a:p>
          <a:p>
            <a:pPr marL="0" lvl="0" indent="0" algn="l" rtl="0">
              <a:lnSpc>
                <a:spcPct val="70000"/>
              </a:lnSpc>
              <a:spcBef>
                <a:spcPts val="0"/>
              </a:spcBef>
              <a:spcAft>
                <a:spcPts val="0"/>
              </a:spcAft>
              <a:buClr>
                <a:schemeClr val="dk1"/>
              </a:buClr>
              <a:buSzPts val="1110"/>
              <a:buFont typeface="Arial"/>
              <a:buNone/>
            </a:pPr>
            <a:r>
              <a:rPr lang="en-US" sz="1110" b="1" u="none" strike="noStrike">
                <a:solidFill>
                  <a:schemeClr val="dk1"/>
                </a:solidFill>
                <a:latin typeface="Arial"/>
                <a:ea typeface="Arial"/>
                <a:cs typeface="Arial"/>
                <a:sym typeface="Arial"/>
              </a:rPr>
              <a:t>Talk Track:</a:t>
            </a:r>
            <a:endParaRPr/>
          </a:p>
          <a:p>
            <a:pPr marL="0" lvl="0" indent="0" algn="l" rtl="0">
              <a:lnSpc>
                <a:spcPct val="70000"/>
              </a:lnSpc>
              <a:spcBef>
                <a:spcPts val="0"/>
              </a:spcBef>
              <a:spcAft>
                <a:spcPts val="0"/>
              </a:spcAft>
              <a:buClr>
                <a:schemeClr val="dk1"/>
              </a:buClr>
              <a:buSzPts val="1110"/>
              <a:buFont typeface="Arial"/>
              <a:buNone/>
            </a:pPr>
            <a:r>
              <a:rPr lang="en-US" sz="1110" b="0" u="none" strike="noStrike">
                <a:solidFill>
                  <a:schemeClr val="dk1"/>
                </a:solidFill>
                <a:latin typeface="Arial"/>
                <a:ea typeface="Arial"/>
                <a:cs typeface="Arial"/>
                <a:sym typeface="Arial"/>
              </a:rPr>
              <a:t>- VCF 9 no longer uses separate license keys to enable the separate SDDC components.  Instead, </a:t>
            </a:r>
            <a:r>
              <a:rPr lang="en-US" sz="1110" b="1" u="none" strike="noStrike">
                <a:solidFill>
                  <a:schemeClr val="dk1"/>
                </a:solidFill>
                <a:latin typeface="Arial"/>
                <a:ea typeface="Arial"/>
                <a:cs typeface="Arial"/>
                <a:sym typeface="Arial"/>
              </a:rPr>
              <a:t>a new “license file” is used to license all the SDDC components</a:t>
            </a:r>
            <a:r>
              <a:rPr lang="en-US" sz="1110" b="0" u="none" strike="noStrike">
                <a:solidFill>
                  <a:schemeClr val="dk1"/>
                </a:solidFill>
                <a:latin typeface="Arial"/>
                <a:ea typeface="Arial"/>
                <a:cs typeface="Arial"/>
                <a:sym typeface="Arial"/>
              </a:rPr>
              <a:t>.  This change helps to make licensing more secure as license files are specific to each customer and use a digital signature to both validate and protect the license.</a:t>
            </a:r>
            <a:endParaRPr/>
          </a:p>
          <a:p>
            <a:pPr marL="0" lvl="0" indent="0" algn="l" rtl="0">
              <a:lnSpc>
                <a:spcPct val="70000"/>
              </a:lnSpc>
              <a:spcBef>
                <a:spcPts val="0"/>
              </a:spcBef>
              <a:spcAft>
                <a:spcPts val="0"/>
              </a:spcAft>
              <a:buClr>
                <a:schemeClr val="dk1"/>
              </a:buClr>
              <a:buSzPts val="1110"/>
              <a:buFont typeface="Arial"/>
              <a:buNone/>
            </a:pPr>
            <a:endParaRPr sz="1110" b="0" u="none" strike="noStrike">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1110"/>
              <a:buFont typeface="Arial"/>
              <a:buNone/>
            </a:pPr>
            <a:r>
              <a:rPr lang="en-US" sz="1110" b="0" u="none" strike="noStrike">
                <a:solidFill>
                  <a:schemeClr val="dk1"/>
                </a:solidFill>
                <a:latin typeface="Arial"/>
                <a:ea typeface="Arial"/>
                <a:cs typeface="Arial"/>
                <a:sym typeface="Arial"/>
              </a:rPr>
              <a:t>- To support this new license method, Broadcom provides the </a:t>
            </a:r>
            <a:r>
              <a:rPr lang="en-US" sz="1110" b="1" u="none" strike="noStrike">
                <a:solidFill>
                  <a:schemeClr val="dk1"/>
                </a:solidFill>
                <a:latin typeface="Arial"/>
                <a:ea typeface="Arial"/>
                <a:cs typeface="Arial"/>
                <a:sym typeface="Arial"/>
              </a:rPr>
              <a:t>VCF Business Services Console</a:t>
            </a:r>
            <a:r>
              <a:rPr lang="en-US" sz="1110" b="0" u="none" strike="noStrike">
                <a:solidFill>
                  <a:schemeClr val="dk1"/>
                </a:solidFill>
                <a:latin typeface="Arial"/>
                <a:ea typeface="Arial"/>
                <a:cs typeface="Arial"/>
                <a:sym typeface="Arial"/>
              </a:rPr>
              <a:t>.  The business services console is a hosted platform where customers use their Broadcom credentials to create and manage their tenants and users and manage and assign their VCF license entitlements.  </a:t>
            </a:r>
            <a:endParaRPr/>
          </a:p>
          <a:p>
            <a:pPr marL="0" lvl="0" indent="0" algn="l" rtl="0">
              <a:lnSpc>
                <a:spcPct val="70000"/>
              </a:lnSpc>
              <a:spcBef>
                <a:spcPts val="0"/>
              </a:spcBef>
              <a:spcAft>
                <a:spcPts val="0"/>
              </a:spcAft>
              <a:buClr>
                <a:schemeClr val="dk1"/>
              </a:buClr>
              <a:buSzPts val="1110"/>
              <a:buFont typeface="Arial"/>
              <a:buNone/>
            </a:pPr>
            <a:endParaRPr sz="1110" b="0" u="none" strike="noStrike">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1110"/>
              <a:buFont typeface="Arial"/>
              <a:buNone/>
            </a:pPr>
            <a:r>
              <a:rPr lang="en-US" sz="1110" b="0" u="none" strike="noStrike">
                <a:solidFill>
                  <a:schemeClr val="dk1"/>
                </a:solidFill>
                <a:latin typeface="Arial"/>
                <a:ea typeface="Arial"/>
                <a:cs typeface="Arial"/>
                <a:sym typeface="Arial"/>
              </a:rPr>
              <a:t>- Customers use the business services console to allocate licenses to their VCF environments.   Once allocated, they </a:t>
            </a:r>
            <a:r>
              <a:rPr lang="en-US" sz="1110" b="1" u="none" strike="noStrike">
                <a:solidFill>
                  <a:schemeClr val="dk1"/>
                </a:solidFill>
                <a:latin typeface="Arial"/>
                <a:ea typeface="Arial"/>
                <a:cs typeface="Arial"/>
                <a:sym typeface="Arial"/>
              </a:rPr>
              <a:t>register their VCF Operations instance</a:t>
            </a:r>
            <a:r>
              <a:rPr lang="en-US" sz="1110" b="0" u="none" strike="noStrike">
                <a:solidFill>
                  <a:schemeClr val="dk1"/>
                </a:solidFill>
                <a:latin typeface="Arial"/>
                <a:ea typeface="Arial"/>
                <a:cs typeface="Arial"/>
                <a:sym typeface="Arial"/>
              </a:rPr>
              <a:t>.  This can be done in one of two ways:</a:t>
            </a:r>
            <a:endParaRPr/>
          </a:p>
          <a:p>
            <a:pPr marL="0" lvl="0" indent="0" algn="l" rtl="0">
              <a:lnSpc>
                <a:spcPct val="70000"/>
              </a:lnSpc>
              <a:spcBef>
                <a:spcPts val="0"/>
              </a:spcBef>
              <a:spcAft>
                <a:spcPts val="0"/>
              </a:spcAft>
              <a:buClr>
                <a:schemeClr val="dk1"/>
              </a:buClr>
              <a:buSzPts val="1110"/>
              <a:buFont typeface="Arial"/>
              <a:buNone/>
            </a:pPr>
            <a:endParaRPr sz="1110" b="0" u="none" strike="noStrike">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1110"/>
              <a:buFont typeface="Arial"/>
              <a:buNone/>
            </a:pPr>
            <a:r>
              <a:rPr lang="en-US" sz="1110" b="0" u="none" strike="noStrike">
                <a:solidFill>
                  <a:schemeClr val="dk1"/>
                </a:solidFill>
                <a:latin typeface="Arial"/>
                <a:ea typeface="Arial"/>
                <a:cs typeface="Arial"/>
                <a:sym typeface="Arial"/>
              </a:rPr>
              <a:t>- In “</a:t>
            </a:r>
            <a:r>
              <a:rPr lang="en-US" sz="1110" b="1" u="none" strike="noStrike">
                <a:solidFill>
                  <a:schemeClr val="dk1"/>
                </a:solidFill>
                <a:latin typeface="Arial"/>
                <a:ea typeface="Arial"/>
                <a:cs typeface="Arial"/>
                <a:sym typeface="Arial"/>
              </a:rPr>
              <a:t>connected mode</a:t>
            </a:r>
            <a:r>
              <a:rPr lang="en-US" sz="1110" b="0" u="none" strike="noStrike">
                <a:solidFill>
                  <a:schemeClr val="dk1"/>
                </a:solidFill>
                <a:latin typeface="Arial"/>
                <a:ea typeface="Arial"/>
                <a:cs typeface="Arial"/>
                <a:sym typeface="Arial"/>
              </a:rPr>
              <a:t>” the VCF Operations instance is connected to the internet and registered with the business services console.   Once registered an activation code is created for the VCF Environment.  </a:t>
            </a:r>
            <a:endParaRPr/>
          </a:p>
          <a:p>
            <a:pPr marL="0" lvl="0" indent="0" algn="l" rtl="0">
              <a:lnSpc>
                <a:spcPct val="70000"/>
              </a:lnSpc>
              <a:spcBef>
                <a:spcPts val="0"/>
              </a:spcBef>
              <a:spcAft>
                <a:spcPts val="0"/>
              </a:spcAft>
              <a:buClr>
                <a:schemeClr val="dk1"/>
              </a:buClr>
              <a:buSzPts val="1110"/>
              <a:buFont typeface="Arial"/>
              <a:buNone/>
            </a:pPr>
            <a:endParaRPr sz="1110" b="0" u="none" strike="noStrike">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1110"/>
              <a:buFont typeface="Arial"/>
              <a:buNone/>
            </a:pPr>
            <a:r>
              <a:rPr lang="en-US" sz="1110" b="0" u="none" strike="noStrike">
                <a:solidFill>
                  <a:schemeClr val="dk1"/>
                </a:solidFill>
                <a:latin typeface="Arial"/>
                <a:ea typeface="Arial"/>
                <a:cs typeface="Arial"/>
                <a:sym typeface="Arial"/>
              </a:rPr>
              <a:t>- In “</a:t>
            </a:r>
            <a:r>
              <a:rPr lang="en-US" sz="1110" b="1" u="none" strike="noStrike">
                <a:solidFill>
                  <a:schemeClr val="dk1"/>
                </a:solidFill>
                <a:latin typeface="Arial"/>
                <a:ea typeface="Arial"/>
                <a:cs typeface="Arial"/>
                <a:sym typeface="Arial"/>
              </a:rPr>
              <a:t>disconnected mode</a:t>
            </a:r>
            <a:r>
              <a:rPr lang="en-US" sz="1110" b="0" u="none" strike="noStrike">
                <a:solidFill>
                  <a:schemeClr val="dk1"/>
                </a:solidFill>
                <a:latin typeface="Arial"/>
                <a:ea typeface="Arial"/>
                <a:cs typeface="Arial"/>
                <a:sym typeface="Arial"/>
              </a:rPr>
              <a:t>” the VCF Operations instance is not connected to the internet.   In this mode, the customer manually downloads a registration file from VCF Operations and uploads it to the business services console.   After which, a digitally signed license file is created that can be downloaded and transferred to VCF Operations.</a:t>
            </a:r>
            <a:endParaRPr/>
          </a:p>
          <a:p>
            <a:pPr marL="0" lvl="0" indent="0" algn="l" rtl="0">
              <a:lnSpc>
                <a:spcPct val="70000"/>
              </a:lnSpc>
              <a:spcBef>
                <a:spcPts val="0"/>
              </a:spcBef>
              <a:spcAft>
                <a:spcPts val="0"/>
              </a:spcAft>
              <a:buClr>
                <a:schemeClr val="dk1"/>
              </a:buClr>
              <a:buSzPts val="1110"/>
              <a:buFont typeface="Arial"/>
              <a:buNone/>
            </a:pPr>
            <a:endParaRPr sz="1110" b="0" u="none" strike="noStrike">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1110"/>
              <a:buFont typeface="Arial"/>
              <a:buNone/>
            </a:pPr>
            <a:r>
              <a:rPr lang="en-US" sz="1110" b="0" u="none" strike="noStrike">
                <a:solidFill>
                  <a:schemeClr val="dk1"/>
                </a:solidFill>
                <a:latin typeface="Arial"/>
                <a:ea typeface="Arial"/>
                <a:cs typeface="Arial"/>
                <a:sym typeface="Arial"/>
              </a:rPr>
              <a:t>- Once licensed, it’s easy to stay compliant as you simply need to refresh your </a:t>
            </a:r>
            <a:r>
              <a:rPr lang="en-US" sz="1110" b="1" u="none" strike="noStrike">
                <a:solidFill>
                  <a:schemeClr val="dk1"/>
                </a:solidFill>
                <a:latin typeface="Arial"/>
                <a:ea typeface="Arial"/>
                <a:cs typeface="Arial"/>
                <a:sym typeface="Arial"/>
              </a:rPr>
              <a:t>usage data every 180 days</a:t>
            </a:r>
            <a:r>
              <a:rPr lang="en-US" sz="1110" b="0" u="none" strike="noStrike">
                <a:solidFill>
                  <a:schemeClr val="dk1"/>
                </a:solidFill>
                <a:latin typeface="Arial"/>
                <a:ea typeface="Arial"/>
                <a:cs typeface="Arial"/>
                <a:sym typeface="Arial"/>
              </a:rPr>
              <a:t>.  </a:t>
            </a:r>
            <a:endParaRPr/>
          </a:p>
          <a:p>
            <a:pPr marL="0" lvl="0" indent="0" algn="l" rtl="0">
              <a:lnSpc>
                <a:spcPct val="70000"/>
              </a:lnSpc>
              <a:spcBef>
                <a:spcPts val="0"/>
              </a:spcBef>
              <a:spcAft>
                <a:spcPts val="0"/>
              </a:spcAft>
              <a:buClr>
                <a:schemeClr val="dk1"/>
              </a:buClr>
              <a:buSzPts val="1110"/>
              <a:buFont typeface="Arial"/>
              <a:buNone/>
            </a:pPr>
            <a:endParaRPr sz="1110" b="0" u="none" strike="noStrike">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1110"/>
              <a:buFont typeface="Arial"/>
              <a:buNone/>
            </a:pPr>
            <a:r>
              <a:rPr lang="en-US" sz="1110" b="0" u="none" strike="noStrike">
                <a:solidFill>
                  <a:schemeClr val="dk1"/>
                </a:solidFill>
                <a:latin typeface="Arial"/>
                <a:ea typeface="Arial"/>
                <a:cs typeface="Arial"/>
                <a:sym typeface="Arial"/>
              </a:rPr>
              <a:t>- In addition, subscription </a:t>
            </a:r>
            <a:r>
              <a:rPr lang="en-US" sz="1110" b="1" u="none" strike="noStrike">
                <a:solidFill>
                  <a:schemeClr val="dk1"/>
                </a:solidFill>
                <a:latin typeface="Arial"/>
                <a:ea typeface="Arial"/>
                <a:cs typeface="Arial"/>
                <a:sym typeface="Arial"/>
              </a:rPr>
              <a:t>renewals are easy and seamless</a:t>
            </a:r>
            <a:r>
              <a:rPr lang="en-US" sz="1110" b="0" u="none" strike="noStrike">
                <a:solidFill>
                  <a:schemeClr val="dk1"/>
                </a:solidFill>
                <a:latin typeface="Arial"/>
                <a:ea typeface="Arial"/>
                <a:cs typeface="Arial"/>
                <a:sym typeface="Arial"/>
              </a:rPr>
              <a:t>, especially for customers running VCF Operations in connected mode.</a:t>
            </a:r>
            <a:endParaRPr/>
          </a:p>
          <a:p>
            <a:pPr marL="0" lvl="0" indent="0" algn="l" rtl="0">
              <a:lnSpc>
                <a:spcPct val="70000"/>
              </a:lnSpc>
              <a:spcBef>
                <a:spcPts val="0"/>
              </a:spcBef>
              <a:spcAft>
                <a:spcPts val="0"/>
              </a:spcAft>
              <a:buClr>
                <a:schemeClr val="dk1"/>
              </a:buClr>
              <a:buSzPts val="1110"/>
              <a:buFont typeface="Arial"/>
              <a:buNone/>
            </a:pPr>
            <a:endParaRPr sz="1110" b="0" u="none" strike="noStrike">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1110"/>
              <a:buFont typeface="Arial"/>
              <a:buNone/>
            </a:pPr>
            <a:endParaRPr sz="1110" b="0" u="none" strike="noStrike">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1110"/>
              <a:buFont typeface="Arial"/>
              <a:buNone/>
            </a:pPr>
            <a:r>
              <a:rPr lang="en-US" sz="1110" b="1" u="none" strike="noStrike">
                <a:solidFill>
                  <a:schemeClr val="dk1"/>
                </a:solidFill>
                <a:latin typeface="Arial"/>
                <a:ea typeface="Arial"/>
                <a:cs typeface="Arial"/>
                <a:sym typeface="Arial"/>
              </a:rPr>
              <a:t>Notes:</a:t>
            </a:r>
            <a:endParaRPr/>
          </a:p>
          <a:p>
            <a:pPr marL="0" marR="0" lvl="0" indent="0" algn="l" rtl="0">
              <a:lnSpc>
                <a:spcPct val="70000"/>
              </a:lnSpc>
              <a:spcBef>
                <a:spcPts val="0"/>
              </a:spcBef>
              <a:spcAft>
                <a:spcPts val="0"/>
              </a:spcAft>
              <a:buClr>
                <a:schemeClr val="dk1"/>
              </a:buClr>
              <a:buSzPts val="1110"/>
              <a:buFont typeface="Arial"/>
              <a:buNone/>
            </a:pPr>
            <a:r>
              <a:rPr lang="en-US" sz="1110" b="0" u="none" strike="noStrike">
                <a:solidFill>
                  <a:schemeClr val="dk1"/>
                </a:solidFill>
                <a:latin typeface="Arial"/>
                <a:ea typeface="Arial"/>
                <a:cs typeface="Arial"/>
                <a:sym typeface="Arial"/>
              </a:rPr>
              <a:t>More details will be discussed in upcoming slides.</a:t>
            </a:r>
            <a:endParaRPr/>
          </a:p>
          <a:p>
            <a:pPr marL="0" lvl="0" indent="0" algn="l" rtl="0">
              <a:lnSpc>
                <a:spcPct val="70000"/>
              </a:lnSpc>
              <a:spcBef>
                <a:spcPts val="0"/>
              </a:spcBef>
              <a:spcAft>
                <a:spcPts val="0"/>
              </a:spcAft>
              <a:buClr>
                <a:schemeClr val="dk1"/>
              </a:buClr>
              <a:buSzPts val="1110"/>
              <a:buFont typeface="Arial"/>
              <a:buNone/>
            </a:pPr>
            <a:endParaRPr sz="1110" b="1" u="none" strike="noStrike">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1110"/>
              <a:buFont typeface="Arial"/>
              <a:buNone/>
            </a:pPr>
            <a:r>
              <a:rPr lang="en-US" sz="1110" b="1" u="none" strike="noStrike">
                <a:solidFill>
                  <a:schemeClr val="dk1"/>
                </a:solidFill>
                <a:latin typeface="Arial"/>
                <a:ea typeface="Arial"/>
                <a:cs typeface="Arial"/>
                <a:sym typeface="Arial"/>
              </a:rPr>
              <a:t>Resources:</a:t>
            </a:r>
            <a:endParaRPr/>
          </a:p>
          <a:p>
            <a:pPr marL="0" lvl="0" indent="0" algn="l" rtl="0">
              <a:lnSpc>
                <a:spcPct val="70000"/>
              </a:lnSpc>
              <a:spcBef>
                <a:spcPts val="0"/>
              </a:spcBef>
              <a:spcAft>
                <a:spcPts val="0"/>
              </a:spcAft>
              <a:buClr>
                <a:schemeClr val="dk1"/>
              </a:buClr>
              <a:buSzPts val="1110"/>
              <a:buFont typeface="Arial"/>
              <a:buNone/>
            </a:pPr>
            <a:endParaRPr sz="1110" b="1" u="none" strike="noStrike">
              <a:solidFill>
                <a:schemeClr val="dk1"/>
              </a:solidFill>
              <a:latin typeface="Arial"/>
              <a:ea typeface="Arial"/>
              <a:cs typeface="Arial"/>
              <a:sym typeface="Arial"/>
            </a:endParaRPr>
          </a:p>
          <a:p>
            <a:pPr marL="0" lvl="0" indent="0" algn="l" rtl="0">
              <a:lnSpc>
                <a:spcPct val="90000"/>
              </a:lnSpc>
              <a:spcBef>
                <a:spcPts val="0"/>
              </a:spcBef>
              <a:spcAft>
                <a:spcPts val="0"/>
              </a:spcAft>
              <a:buClr>
                <a:schemeClr val="dk1"/>
              </a:buClr>
              <a:buSzPts val="1110"/>
              <a:buFont typeface="Arial"/>
              <a:buNone/>
            </a:pPr>
            <a:endParaRPr sz="1110"/>
          </a:p>
        </p:txBody>
      </p:sp>
      <p:sp>
        <p:nvSpPr>
          <p:cNvPr id="9563" name="Google Shape;9563;p8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8"/>
        <p:cNvGrpSpPr/>
        <p:nvPr/>
      </p:nvGrpSpPr>
      <p:grpSpPr>
        <a:xfrm>
          <a:off x="0" y="0"/>
          <a:ext cx="0" cy="0"/>
          <a:chOff x="0" y="0"/>
          <a:chExt cx="0" cy="0"/>
        </a:xfrm>
      </p:grpSpPr>
      <p:sp>
        <p:nvSpPr>
          <p:cNvPr id="9579" name="Google Shape;9579;p8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0" name="Google Shape;9580;p8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Key Message:</a:t>
            </a:r>
            <a:endParaRPr/>
          </a:p>
          <a:p>
            <a:pPr marL="0" lvl="0" indent="0" algn="l" rtl="0">
              <a:lnSpc>
                <a:spcPct val="80000"/>
              </a:lnSpc>
              <a:spcBef>
                <a:spcPts val="0"/>
              </a:spcBef>
              <a:spcAft>
                <a:spcPts val="0"/>
              </a:spcAft>
              <a:buClr>
                <a:schemeClr val="dk1"/>
              </a:buClr>
              <a:buSzPts val="1200"/>
              <a:buFont typeface="Arial"/>
              <a:buNone/>
            </a:pPr>
            <a:r>
              <a:rPr lang="en-US" sz="1200">
                <a:latin typeface="Arial"/>
                <a:ea typeface="Arial"/>
                <a:cs typeface="Arial"/>
                <a:sym typeface="Arial"/>
              </a:rPr>
              <a:t>VCF 9 licensing uses the new VCF Business Services Console</a:t>
            </a:r>
            <a:endParaRPr/>
          </a:p>
          <a:p>
            <a:pPr marL="0" lvl="0" indent="0" algn="l" rtl="0">
              <a:lnSpc>
                <a:spcPct val="80000"/>
              </a:lnSpc>
              <a:spcBef>
                <a:spcPts val="0"/>
              </a:spcBef>
              <a:spcAft>
                <a:spcPts val="0"/>
              </a:spcAft>
              <a:buClr>
                <a:schemeClr val="dk1"/>
              </a:buClr>
              <a:buSzPts val="1200"/>
              <a:buFont typeface="Arial"/>
              <a:buNone/>
            </a:pPr>
            <a:endParaRPr sz="1200">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Talk Track:</a:t>
            </a:r>
            <a:endParaRPr/>
          </a:p>
          <a:p>
            <a:pPr marL="171450" marR="0" lvl="0" indent="-171450" algn="l" rtl="0">
              <a:lnSpc>
                <a:spcPct val="80000"/>
              </a:lnSpc>
              <a:spcBef>
                <a:spcPts val="0"/>
              </a:spcBef>
              <a:spcAft>
                <a:spcPts val="0"/>
              </a:spcAft>
              <a:buClr>
                <a:srgbClr val="000000"/>
              </a:buClr>
              <a:buSzPts val="1400"/>
              <a:buFont typeface="Arial"/>
              <a:buChar char="-"/>
            </a:pPr>
            <a:r>
              <a:rPr lang="en-US" sz="1200" b="0" u="none" strike="noStrike">
                <a:solidFill>
                  <a:schemeClr val="dk1"/>
                </a:solidFill>
                <a:latin typeface="Arial"/>
                <a:ea typeface="Arial"/>
                <a:cs typeface="Arial"/>
                <a:sym typeface="Arial"/>
              </a:rPr>
              <a:t>To support the new license method used with VCF 9, Broadcom provides the </a:t>
            </a:r>
            <a:r>
              <a:rPr lang="en-US" sz="1200" b="1" u="none" strike="noStrike">
                <a:solidFill>
                  <a:schemeClr val="dk1"/>
                </a:solidFill>
                <a:latin typeface="Arial"/>
                <a:ea typeface="Arial"/>
                <a:cs typeface="Arial"/>
                <a:sym typeface="Arial"/>
              </a:rPr>
              <a:t>VCF Business Services Console</a:t>
            </a:r>
            <a:r>
              <a:rPr lang="en-US" sz="1200" b="0" u="none" strike="noStrike">
                <a:solidFill>
                  <a:schemeClr val="dk1"/>
                </a:solidFill>
                <a:latin typeface="Arial"/>
                <a:ea typeface="Arial"/>
                <a:cs typeface="Arial"/>
                <a:sym typeface="Arial"/>
              </a:rPr>
              <a:t>.  </a:t>
            </a:r>
            <a:endParaRPr/>
          </a:p>
          <a:p>
            <a:pPr marL="171450" marR="0" lvl="0" indent="-82550" algn="l" rtl="0">
              <a:lnSpc>
                <a:spcPct val="80000"/>
              </a:lnSpc>
              <a:spcBef>
                <a:spcPts val="0"/>
              </a:spcBef>
              <a:spcAft>
                <a:spcPts val="0"/>
              </a:spcAft>
              <a:buClr>
                <a:srgbClr val="000000"/>
              </a:buClr>
              <a:buSzPts val="1400"/>
              <a:buFont typeface="Arial"/>
              <a:buNone/>
            </a:pPr>
            <a:endParaRPr sz="1200" b="0" u="none" strike="noStrike">
              <a:solidFill>
                <a:schemeClr val="dk1"/>
              </a:solidFill>
              <a:latin typeface="Arial"/>
              <a:ea typeface="Arial"/>
              <a:cs typeface="Arial"/>
              <a:sym typeface="Arial"/>
            </a:endParaRPr>
          </a:p>
          <a:p>
            <a:pPr marL="171450" marR="0" lvl="0" indent="-171450" algn="l" rtl="0">
              <a:lnSpc>
                <a:spcPct val="80000"/>
              </a:lnSpc>
              <a:spcBef>
                <a:spcPts val="0"/>
              </a:spcBef>
              <a:spcAft>
                <a:spcPts val="0"/>
              </a:spcAft>
              <a:buClr>
                <a:srgbClr val="000000"/>
              </a:buClr>
              <a:buSzPts val="1400"/>
              <a:buFont typeface="Arial"/>
              <a:buChar char="-"/>
            </a:pPr>
            <a:r>
              <a:rPr lang="en-US" sz="1200" b="0" u="none" strike="noStrike">
                <a:solidFill>
                  <a:schemeClr val="dk1"/>
                </a:solidFill>
                <a:latin typeface="Arial"/>
                <a:ea typeface="Arial"/>
                <a:cs typeface="Arial"/>
                <a:sym typeface="Arial"/>
              </a:rPr>
              <a:t>The business services console is a </a:t>
            </a:r>
            <a:r>
              <a:rPr lang="en-US" sz="1200" b="1" u="none" strike="noStrike">
                <a:solidFill>
                  <a:schemeClr val="dk1"/>
                </a:solidFill>
                <a:latin typeface="Arial"/>
                <a:ea typeface="Arial"/>
                <a:cs typeface="Arial"/>
                <a:sym typeface="Arial"/>
              </a:rPr>
              <a:t>hosted platform</a:t>
            </a:r>
            <a:r>
              <a:rPr lang="en-US" sz="1200" b="0" u="none" strike="noStrike">
                <a:solidFill>
                  <a:schemeClr val="dk1"/>
                </a:solidFill>
                <a:latin typeface="Arial"/>
                <a:ea typeface="Arial"/>
                <a:cs typeface="Arial"/>
                <a:sym typeface="Arial"/>
              </a:rPr>
              <a:t> where customers use their Broadcom credentials to </a:t>
            </a:r>
            <a:r>
              <a:rPr lang="en-US" sz="1200" b="1" u="none" strike="noStrike">
                <a:solidFill>
                  <a:schemeClr val="dk1"/>
                </a:solidFill>
                <a:latin typeface="Arial"/>
                <a:ea typeface="Arial"/>
                <a:cs typeface="Arial"/>
                <a:sym typeface="Arial"/>
              </a:rPr>
              <a:t>create and manage their tenants and users and manage and assign their VCF license entitlements</a:t>
            </a:r>
            <a:r>
              <a:rPr lang="en-US" sz="1200" b="0" u="none" strike="noStrike">
                <a:solidFill>
                  <a:schemeClr val="dk1"/>
                </a:solidFill>
                <a:latin typeface="Arial"/>
                <a:ea typeface="Arial"/>
                <a:cs typeface="Arial"/>
                <a:sym typeface="Arial"/>
              </a:rPr>
              <a:t>.  </a:t>
            </a:r>
            <a:endParaRPr/>
          </a:p>
          <a:p>
            <a:pPr marL="171450" marR="0" lvl="0" indent="-82550" algn="l" rtl="0">
              <a:lnSpc>
                <a:spcPct val="80000"/>
              </a:lnSpc>
              <a:spcBef>
                <a:spcPts val="0"/>
              </a:spcBef>
              <a:spcAft>
                <a:spcPts val="0"/>
              </a:spcAft>
              <a:buClr>
                <a:srgbClr val="000000"/>
              </a:buClr>
              <a:buSzPts val="1400"/>
              <a:buFont typeface="Arial"/>
              <a:buNone/>
            </a:pPr>
            <a:endParaRPr sz="1200" b="0" u="none" strike="noStrike">
              <a:solidFill>
                <a:schemeClr val="dk1"/>
              </a:solidFill>
              <a:latin typeface="Arial"/>
              <a:ea typeface="Arial"/>
              <a:cs typeface="Arial"/>
              <a:sym typeface="Arial"/>
            </a:endParaRPr>
          </a:p>
          <a:p>
            <a:pPr marL="171450" lvl="0" indent="-171450" algn="l" rtl="0">
              <a:lnSpc>
                <a:spcPct val="80000"/>
              </a:lnSpc>
              <a:spcBef>
                <a:spcPts val="0"/>
              </a:spcBef>
              <a:spcAft>
                <a:spcPts val="0"/>
              </a:spcAft>
              <a:buClr>
                <a:schemeClr val="dk1"/>
              </a:buClr>
              <a:buSzPts val="1200"/>
              <a:buFont typeface="Arial"/>
              <a:buChar char="-"/>
            </a:pPr>
            <a:r>
              <a:rPr lang="en-US" sz="1200" b="0" u="none" strike="noStrike">
                <a:solidFill>
                  <a:schemeClr val="dk1"/>
                </a:solidFill>
                <a:latin typeface="Arial"/>
                <a:ea typeface="Arial"/>
                <a:cs typeface="Arial"/>
                <a:sym typeface="Arial"/>
              </a:rPr>
              <a:t>A large customer could </a:t>
            </a:r>
            <a:r>
              <a:rPr lang="en-US" sz="1200" b="1" u="none" strike="noStrike">
                <a:solidFill>
                  <a:schemeClr val="dk1"/>
                </a:solidFill>
                <a:latin typeface="Arial"/>
                <a:ea typeface="Arial"/>
                <a:cs typeface="Arial"/>
                <a:sym typeface="Arial"/>
              </a:rPr>
              <a:t>delegate license management across separate division </a:t>
            </a:r>
            <a:r>
              <a:rPr lang="en-US" sz="1200" b="0" u="none" strike="noStrike">
                <a:solidFill>
                  <a:schemeClr val="dk1"/>
                </a:solidFill>
                <a:latin typeface="Arial"/>
                <a:ea typeface="Arial"/>
                <a:cs typeface="Arial"/>
                <a:sym typeface="Arial"/>
              </a:rPr>
              <a:t>by creating separate tenants and assigning tenant admins. </a:t>
            </a:r>
            <a:endParaRPr/>
          </a:p>
          <a:p>
            <a:pPr marL="171450" lvl="0" indent="-9525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171450" lvl="0" indent="-171450" algn="l" rtl="0">
              <a:lnSpc>
                <a:spcPct val="80000"/>
              </a:lnSpc>
              <a:spcBef>
                <a:spcPts val="0"/>
              </a:spcBef>
              <a:spcAft>
                <a:spcPts val="0"/>
              </a:spcAft>
              <a:buClr>
                <a:schemeClr val="dk1"/>
              </a:buClr>
              <a:buSzPts val="1200"/>
              <a:buFont typeface="Arial"/>
              <a:buChar char="-"/>
            </a:pPr>
            <a:r>
              <a:rPr lang="en-US" sz="1200" b="0" u="none" strike="noStrike">
                <a:solidFill>
                  <a:schemeClr val="dk1"/>
                </a:solidFill>
                <a:latin typeface="Arial"/>
                <a:ea typeface="Arial"/>
                <a:cs typeface="Arial"/>
                <a:sym typeface="Arial"/>
              </a:rPr>
              <a:t> Licenses </a:t>
            </a:r>
            <a:r>
              <a:rPr lang="en-US" sz="1200" b="1" u="none" strike="noStrike">
                <a:solidFill>
                  <a:schemeClr val="dk1"/>
                </a:solidFill>
                <a:latin typeface="Arial"/>
                <a:ea typeface="Arial"/>
                <a:cs typeface="Arial"/>
                <a:sym typeface="Arial"/>
              </a:rPr>
              <a:t>entitlement can then be distributed across tenants</a:t>
            </a:r>
            <a:r>
              <a:rPr lang="en-US" sz="1200" b="0" u="none" strike="noStrike">
                <a:solidFill>
                  <a:schemeClr val="dk1"/>
                </a:solidFill>
                <a:latin typeface="Arial"/>
                <a:ea typeface="Arial"/>
                <a:cs typeface="Arial"/>
                <a:sym typeface="Arial"/>
              </a:rPr>
              <a:t>.  Tenant admins can then allocate licenses to separate VCF Operations instances.</a:t>
            </a:r>
            <a:endParaRPr/>
          </a:p>
          <a:p>
            <a:pPr marL="171450" lvl="0" indent="-9525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171450" lvl="0" indent="-171450" algn="l" rtl="0">
              <a:lnSpc>
                <a:spcPct val="80000"/>
              </a:lnSpc>
              <a:spcBef>
                <a:spcPts val="0"/>
              </a:spcBef>
              <a:spcAft>
                <a:spcPts val="0"/>
              </a:spcAft>
              <a:buClr>
                <a:schemeClr val="dk1"/>
              </a:buClr>
              <a:buSzPts val="1200"/>
              <a:buFont typeface="Arial"/>
              <a:buChar char="-"/>
            </a:pPr>
            <a:r>
              <a:rPr lang="en-US" sz="1200" b="0" u="none" strike="noStrike">
                <a:solidFill>
                  <a:schemeClr val="dk1"/>
                </a:solidFill>
                <a:latin typeface="Arial"/>
                <a:ea typeface="Arial"/>
                <a:cs typeface="Arial"/>
                <a:sym typeface="Arial"/>
              </a:rPr>
              <a:t>And as previously mentioned, this new license method using the business services console </a:t>
            </a:r>
            <a:r>
              <a:rPr lang="en-US" sz="1200" b="1" u="none" strike="noStrike">
                <a:solidFill>
                  <a:schemeClr val="dk1"/>
                </a:solidFill>
                <a:latin typeface="Arial"/>
                <a:ea typeface="Arial"/>
                <a:cs typeface="Arial"/>
                <a:sym typeface="Arial"/>
              </a:rPr>
              <a:t>supports both connected and disconnected environments</a:t>
            </a:r>
            <a:r>
              <a:rPr lang="en-US" sz="1200" b="0" u="none" strike="noStrike">
                <a:solidFill>
                  <a:schemeClr val="dk1"/>
                </a:solidFill>
                <a:latin typeface="Arial"/>
                <a:ea typeface="Arial"/>
                <a:cs typeface="Arial"/>
                <a:sym typeface="Arial"/>
              </a:rPr>
              <a:t>.  So regardless if you are a connected site or a dark site you are ablet to benefit from this new centralized license approach.</a:t>
            </a:r>
            <a:endParaRPr/>
          </a:p>
          <a:p>
            <a:pPr marL="0" lvl="0" indent="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Notes:</a:t>
            </a:r>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The VCF Business Services Console is used for VCF 9 license management, the Broadcom Support Portal is used for license management of earlier VCF release versions and components. </a:t>
            </a:r>
            <a:endParaRPr/>
          </a:p>
          <a:p>
            <a:pPr marL="0" lvl="0" indent="0" algn="l" rtl="0">
              <a:lnSpc>
                <a:spcPct val="80000"/>
              </a:lnSpc>
              <a:spcBef>
                <a:spcPts val="0"/>
              </a:spcBef>
              <a:spcAft>
                <a:spcPts val="0"/>
              </a:spcAft>
              <a:buClr>
                <a:schemeClr val="dk1"/>
              </a:buClr>
              <a:buSzPts val="1200"/>
              <a:buFont typeface="Arial"/>
              <a:buNone/>
            </a:pPr>
            <a:endParaRPr sz="1200" b="1"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Resources:</a:t>
            </a:r>
            <a:endParaRPr/>
          </a:p>
          <a:p>
            <a:pPr marL="0" lvl="0" indent="0" algn="l" rtl="0">
              <a:spcBef>
                <a:spcPts val="0"/>
              </a:spcBef>
              <a:spcAft>
                <a:spcPts val="0"/>
              </a:spcAft>
              <a:buClr>
                <a:schemeClr val="dk1"/>
              </a:buClr>
              <a:buSzPts val="1200"/>
              <a:buFont typeface="Arial"/>
              <a:buNone/>
            </a:pPr>
            <a:r>
              <a:rPr lang="en-US"/>
              <a:t>VCF Business Services Console: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endParaRPr/>
          </a:p>
        </p:txBody>
      </p:sp>
      <p:sp>
        <p:nvSpPr>
          <p:cNvPr id="9581" name="Google Shape;9581;p8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0"/>
        <p:cNvGrpSpPr/>
        <p:nvPr/>
      </p:nvGrpSpPr>
      <p:grpSpPr>
        <a:xfrm>
          <a:off x="0" y="0"/>
          <a:ext cx="0" cy="0"/>
          <a:chOff x="0" y="0"/>
          <a:chExt cx="0" cy="0"/>
        </a:xfrm>
      </p:grpSpPr>
      <p:sp>
        <p:nvSpPr>
          <p:cNvPr id="9591" name="Google Shape;9591;p9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2" name="Google Shape;9592;p9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Key Message:</a:t>
            </a:r>
            <a:endParaRPr/>
          </a:p>
          <a:p>
            <a:pPr marL="0" lvl="0" indent="0" algn="l" rtl="0">
              <a:lnSpc>
                <a:spcPct val="80000"/>
              </a:lnSpc>
              <a:spcBef>
                <a:spcPts val="0"/>
              </a:spcBef>
              <a:spcAft>
                <a:spcPts val="0"/>
              </a:spcAft>
              <a:buClr>
                <a:schemeClr val="dk1"/>
              </a:buClr>
              <a:buSzPts val="1200"/>
              <a:buFont typeface="Arial"/>
              <a:buNone/>
            </a:pPr>
            <a:r>
              <a:rPr lang="en-US" sz="1200">
                <a:latin typeface="Arial"/>
                <a:ea typeface="Arial"/>
                <a:cs typeface="Arial"/>
                <a:sym typeface="Arial"/>
              </a:rPr>
              <a:t>While license entitlement is managed from the VCF Business Services Console, licenses are allocated and assigned using VCF Operations.</a:t>
            </a:r>
            <a:endParaRPr/>
          </a:p>
          <a:p>
            <a:pPr marL="0" lvl="0" indent="0" algn="l" rtl="0">
              <a:lnSpc>
                <a:spcPct val="80000"/>
              </a:lnSpc>
              <a:spcBef>
                <a:spcPts val="0"/>
              </a:spcBef>
              <a:spcAft>
                <a:spcPts val="0"/>
              </a:spcAft>
              <a:buClr>
                <a:schemeClr val="dk1"/>
              </a:buClr>
              <a:buSzPts val="1200"/>
              <a:buFont typeface="Arial"/>
              <a:buNone/>
            </a:pPr>
            <a:endParaRPr sz="1200">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Talk Track:</a:t>
            </a:r>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After you have configured your license entitlement in the VCF Business Services Console, you assign licenses to VCF Operations.</a:t>
            </a:r>
            <a:endParaRPr/>
          </a:p>
          <a:p>
            <a:pPr marL="0" lvl="0" indent="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In VCF 9, each VCF deployment now includes an instance of VCF Operations.     One of the functions of VCF Operations is to centrally assign and manage the licenses for it’s respective VCF instances.  </a:t>
            </a:r>
            <a:endParaRPr/>
          </a:p>
          <a:p>
            <a:pPr marL="0" lvl="0" indent="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 This is done by first registering the VCF Operations instance with the VCF Business Services Console.   </a:t>
            </a:r>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 Once registered an allotment from the available VCF entitlement is assigned to the VCF Operations instance from the VCF Business Services Console.  </a:t>
            </a:r>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 For connected site, this allotment is then transferred to VCF Operations using an activation code.</a:t>
            </a:r>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 For disconnected sites, this allotment is manually transferred to VCF operations using a digitally signed license file.</a:t>
            </a:r>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After receiving the license allocation, you then use VCF Operations to assign the licenses to each respective VCF instance.</a:t>
            </a:r>
            <a:endParaRPr/>
          </a:p>
          <a:p>
            <a:pPr marL="0" lvl="0" indent="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Once a VCF environment has been licensed, it’s easy to stay compliant.  </a:t>
            </a:r>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 For connected sites, usage data is automatically collected and sent to the business services console every 180 days.</a:t>
            </a:r>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 For disconnected sites, customers are required to manually upload usage data to the business services console every 180 days.</a:t>
            </a:r>
            <a:endParaRPr/>
          </a:p>
          <a:p>
            <a:pPr marL="0" lvl="0" indent="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Notes:</a:t>
            </a:r>
            <a:endParaRPr/>
          </a:p>
          <a:p>
            <a:pPr marL="0" lvl="0" indent="0" algn="l" rtl="0">
              <a:lnSpc>
                <a:spcPct val="80000"/>
              </a:lnSpc>
              <a:spcBef>
                <a:spcPts val="0"/>
              </a:spcBef>
              <a:spcAft>
                <a:spcPts val="0"/>
              </a:spcAft>
              <a:buClr>
                <a:schemeClr val="dk1"/>
              </a:buClr>
              <a:buSzPts val="1200"/>
              <a:buFont typeface="Arial"/>
              <a:buNone/>
            </a:pPr>
            <a:endParaRPr sz="1200" b="1"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Resources:</a:t>
            </a:r>
            <a:endParaRPr/>
          </a:p>
          <a:p>
            <a:pPr marL="0" lvl="0" indent="0" algn="l" rtl="0">
              <a:spcBef>
                <a:spcPts val="0"/>
              </a:spcBef>
              <a:spcAft>
                <a:spcPts val="0"/>
              </a:spcAft>
              <a:buClr>
                <a:schemeClr val="dk1"/>
              </a:buClr>
              <a:buSzPts val="1200"/>
              <a:buFont typeface="Arial"/>
              <a:buNone/>
            </a:pPr>
            <a:endParaRPr/>
          </a:p>
        </p:txBody>
      </p:sp>
      <p:sp>
        <p:nvSpPr>
          <p:cNvPr id="9593" name="Google Shape;9593;p9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2"/>
        <p:cNvGrpSpPr/>
        <p:nvPr/>
      </p:nvGrpSpPr>
      <p:grpSpPr>
        <a:xfrm>
          <a:off x="0" y="0"/>
          <a:ext cx="0" cy="0"/>
          <a:chOff x="0" y="0"/>
          <a:chExt cx="0" cy="0"/>
        </a:xfrm>
      </p:grpSpPr>
      <p:sp>
        <p:nvSpPr>
          <p:cNvPr id="9603" name="Google Shape;9603;p9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Key Message:</a:t>
            </a:r>
            <a:endParaRPr/>
          </a:p>
          <a:p>
            <a:pPr marL="0" lvl="0" indent="0" algn="l" rtl="0">
              <a:lnSpc>
                <a:spcPct val="80000"/>
              </a:lnSpc>
              <a:spcBef>
                <a:spcPts val="0"/>
              </a:spcBef>
              <a:spcAft>
                <a:spcPts val="0"/>
              </a:spcAft>
              <a:buClr>
                <a:schemeClr val="dk1"/>
              </a:buClr>
              <a:buSzPts val="1200"/>
              <a:buFont typeface="Arial"/>
              <a:buNone/>
            </a:pPr>
            <a:r>
              <a:rPr lang="en-US" sz="1200">
                <a:latin typeface="Arial"/>
                <a:ea typeface="Arial"/>
                <a:cs typeface="Arial"/>
                <a:sym typeface="Arial"/>
              </a:rPr>
              <a:t>With the move to subscription-based licensing, it’s important for customers to understand how license renewals are handled and what happens if their subscription should ever expire.</a:t>
            </a:r>
            <a:endParaRPr/>
          </a:p>
          <a:p>
            <a:pPr marL="0" lvl="0" indent="0" algn="l" rtl="0">
              <a:lnSpc>
                <a:spcPct val="80000"/>
              </a:lnSpc>
              <a:spcBef>
                <a:spcPts val="0"/>
              </a:spcBef>
              <a:spcAft>
                <a:spcPts val="0"/>
              </a:spcAft>
              <a:buClr>
                <a:schemeClr val="dk1"/>
              </a:buClr>
              <a:buSzPts val="1200"/>
              <a:buFont typeface="Arial"/>
              <a:buNone/>
            </a:pPr>
            <a:endParaRPr sz="1200">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Talk Track:</a:t>
            </a:r>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Once a VCF instance has been licensed, the license will remain in effect throughout the subscription period.  At the end of the subscription, the license will need to be renewed.   If the VCF license is not renewed and the license expires, the VCF expiration behavior will be invoked (details discussed below).</a:t>
            </a:r>
            <a:endParaRPr/>
          </a:p>
          <a:p>
            <a:pPr marL="0" lvl="0" indent="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Customers will be notified when their subscription expiration data approaches,   The notification will begin 60 days prior to the subscription expiration.   Notification will come in the way of alerts in both VCF Operations and vCenter Server as well as emails sent from the VCF Business Services Console.</a:t>
            </a:r>
            <a:endParaRPr/>
          </a:p>
          <a:p>
            <a:pPr marL="0" lvl="0" indent="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When the subscription is renewed:</a:t>
            </a:r>
            <a:endParaRPr/>
          </a:p>
          <a:p>
            <a:pPr marL="171450" lvl="0" indent="-171450" algn="l" rtl="0">
              <a:lnSpc>
                <a:spcPct val="80000"/>
              </a:lnSpc>
              <a:spcBef>
                <a:spcPts val="0"/>
              </a:spcBef>
              <a:spcAft>
                <a:spcPts val="0"/>
              </a:spcAft>
              <a:buClr>
                <a:schemeClr val="dk1"/>
              </a:buClr>
              <a:buSzPts val="1200"/>
              <a:buFont typeface="Arial"/>
              <a:buChar char="-"/>
            </a:pPr>
            <a:r>
              <a:rPr lang="en-US" sz="1200" b="0" u="none" strike="noStrike">
                <a:solidFill>
                  <a:schemeClr val="dk1"/>
                </a:solidFill>
                <a:latin typeface="Arial"/>
                <a:ea typeface="Arial"/>
                <a:cs typeface="Arial"/>
                <a:sym typeface="Arial"/>
              </a:rPr>
              <a:t>Connected sites will automatically detect the subscription renewal.</a:t>
            </a:r>
            <a:endParaRPr/>
          </a:p>
          <a:p>
            <a:pPr marL="171450" lvl="0" indent="-171450" algn="l" rtl="0">
              <a:lnSpc>
                <a:spcPct val="80000"/>
              </a:lnSpc>
              <a:spcBef>
                <a:spcPts val="0"/>
              </a:spcBef>
              <a:spcAft>
                <a:spcPts val="0"/>
              </a:spcAft>
              <a:buClr>
                <a:schemeClr val="dk1"/>
              </a:buClr>
              <a:buSzPts val="1200"/>
              <a:buFont typeface="Arial"/>
              <a:buChar char="-"/>
            </a:pPr>
            <a:r>
              <a:rPr lang="en-US" sz="1200" b="0" u="none" strike="noStrike">
                <a:solidFill>
                  <a:schemeClr val="dk1"/>
                </a:solidFill>
                <a:latin typeface="Arial"/>
                <a:ea typeface="Arial"/>
                <a:cs typeface="Arial"/>
                <a:sym typeface="Arial"/>
              </a:rPr>
              <a:t>Disconnected sites will need to download an updated license file and transfer/upload the new file to VCF Operations.</a:t>
            </a:r>
            <a:endParaRPr/>
          </a:p>
          <a:p>
            <a:pPr marL="171450" lvl="0" indent="-9525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In the rare event a license is not renewed, and the subscription does expire:</a:t>
            </a:r>
            <a:endParaRPr/>
          </a:p>
          <a:p>
            <a:pPr marL="171450" lvl="0" indent="-171450" algn="l" rtl="0">
              <a:lnSpc>
                <a:spcPct val="80000"/>
              </a:lnSpc>
              <a:spcBef>
                <a:spcPts val="0"/>
              </a:spcBef>
              <a:spcAft>
                <a:spcPts val="0"/>
              </a:spcAft>
              <a:buClr>
                <a:schemeClr val="dk1"/>
              </a:buClr>
              <a:buSzPts val="1200"/>
              <a:buFont typeface="Arial"/>
              <a:buChar char="-"/>
            </a:pPr>
            <a:r>
              <a:rPr lang="en-US" sz="1200" b="0" u="none" strike="noStrike">
                <a:solidFill>
                  <a:schemeClr val="dk1"/>
                </a:solidFill>
                <a:latin typeface="Arial"/>
                <a:ea typeface="Arial"/>
                <a:cs typeface="Arial"/>
                <a:sym typeface="Arial"/>
              </a:rPr>
              <a:t>The customer will continue to be notified that the subscription has expired for 90 days.</a:t>
            </a:r>
            <a:endParaRPr/>
          </a:p>
          <a:p>
            <a:pPr marL="171450" lvl="0" indent="-171450" algn="l" rtl="0">
              <a:lnSpc>
                <a:spcPct val="80000"/>
              </a:lnSpc>
              <a:spcBef>
                <a:spcPts val="0"/>
              </a:spcBef>
              <a:spcAft>
                <a:spcPts val="0"/>
              </a:spcAft>
              <a:buClr>
                <a:schemeClr val="dk1"/>
              </a:buClr>
              <a:buSzPts val="1200"/>
              <a:buFont typeface="Arial"/>
              <a:buChar char="-"/>
            </a:pPr>
            <a:r>
              <a:rPr lang="en-US" sz="1200" b="0" u="none" strike="noStrike">
                <a:solidFill>
                  <a:schemeClr val="dk1"/>
                </a:solidFill>
                <a:latin typeface="Arial"/>
                <a:ea typeface="Arial"/>
                <a:cs typeface="Arial"/>
                <a:sym typeface="Arial"/>
              </a:rPr>
              <a:t>If the customer renews the subscription before end of the 90 days, the new subscription will take affect.  There will be no disruption to the VCF instance.</a:t>
            </a:r>
            <a:endParaRPr/>
          </a:p>
          <a:p>
            <a:pPr marL="0" lvl="0" indent="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If the subscription is not renewed after the 90 days, then the VCF expiration behavior will be invoked by VCF operations.   This entails:</a:t>
            </a:r>
            <a:endParaRPr/>
          </a:p>
          <a:p>
            <a:pPr marL="171450" lvl="0" indent="-171450" algn="l" rtl="0">
              <a:lnSpc>
                <a:spcPct val="80000"/>
              </a:lnSpc>
              <a:spcBef>
                <a:spcPts val="0"/>
              </a:spcBef>
              <a:spcAft>
                <a:spcPts val="0"/>
              </a:spcAft>
              <a:buClr>
                <a:schemeClr val="dk1"/>
              </a:buClr>
              <a:buSzPts val="1200"/>
              <a:buFont typeface="Arial"/>
              <a:buChar char="-"/>
            </a:pPr>
            <a:r>
              <a:rPr lang="en-US" sz="1200" b="0" u="none" strike="noStrike">
                <a:solidFill>
                  <a:schemeClr val="dk1"/>
                </a:solidFill>
                <a:latin typeface="Arial"/>
                <a:ea typeface="Arial"/>
                <a:cs typeface="Arial"/>
                <a:sym typeface="Arial"/>
              </a:rPr>
              <a:t>All affected ESX hosts will be disconnected from their respective vCenter Server instances.  Running VMs will continue to run but no additional VMs will be allowed to be powered on.</a:t>
            </a:r>
            <a:endParaRPr/>
          </a:p>
          <a:p>
            <a:pPr marL="171450" lvl="0" indent="-171450" algn="l" rtl="0">
              <a:lnSpc>
                <a:spcPct val="80000"/>
              </a:lnSpc>
              <a:spcBef>
                <a:spcPts val="0"/>
              </a:spcBef>
              <a:spcAft>
                <a:spcPts val="0"/>
              </a:spcAft>
              <a:buClr>
                <a:schemeClr val="dk1"/>
              </a:buClr>
              <a:buSzPts val="1200"/>
              <a:buFont typeface="Arial"/>
              <a:buChar char="-"/>
            </a:pPr>
            <a:r>
              <a:rPr lang="en-US" sz="1200" b="0" u="none" strike="noStrike">
                <a:solidFill>
                  <a:schemeClr val="dk1"/>
                </a:solidFill>
                <a:latin typeface="Arial"/>
                <a:ea typeface="Arial"/>
                <a:cs typeface="Arial"/>
                <a:sym typeface="Arial"/>
              </a:rPr>
              <a:t>No changes will be allowed to the VCF instance.  </a:t>
            </a:r>
            <a:endParaRPr/>
          </a:p>
          <a:p>
            <a:pPr marL="171450" lvl="0" indent="-9525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When the VCF license subscription is renewed, the hosts will automatically be reconnected, and normal operations will resume.</a:t>
            </a:r>
            <a:endParaRPr/>
          </a:p>
          <a:p>
            <a:pPr marL="0" lvl="0" indent="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Notes:</a:t>
            </a:r>
            <a:endParaRPr/>
          </a:p>
          <a:p>
            <a:pPr marL="0" lvl="0" indent="0" algn="l" rtl="0">
              <a:lnSpc>
                <a:spcPct val="80000"/>
              </a:lnSpc>
              <a:spcBef>
                <a:spcPts val="0"/>
              </a:spcBef>
              <a:spcAft>
                <a:spcPts val="0"/>
              </a:spcAft>
              <a:buClr>
                <a:schemeClr val="dk1"/>
              </a:buClr>
              <a:buSzPts val="1200"/>
              <a:buFont typeface="Arial"/>
              <a:buNone/>
            </a:pPr>
            <a:endParaRPr sz="1200" b="1"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Resources:</a:t>
            </a:r>
            <a:endParaRPr/>
          </a:p>
          <a:p>
            <a:pPr marL="0" lvl="0" indent="0" algn="l" rtl="0">
              <a:lnSpc>
                <a:spcPct val="100000"/>
              </a:lnSpc>
              <a:spcBef>
                <a:spcPts val="0"/>
              </a:spcBef>
              <a:spcAft>
                <a:spcPts val="0"/>
              </a:spcAft>
              <a:buClr>
                <a:schemeClr val="dk1"/>
              </a:buClr>
              <a:buSzPts val="1400"/>
              <a:buFont typeface="Arial"/>
              <a:buNone/>
            </a:pPr>
            <a:endParaRPr/>
          </a:p>
        </p:txBody>
      </p:sp>
      <p:sp>
        <p:nvSpPr>
          <p:cNvPr id="9604" name="Google Shape;9604;p9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2"/>
        <p:cNvGrpSpPr/>
        <p:nvPr/>
      </p:nvGrpSpPr>
      <p:grpSpPr>
        <a:xfrm>
          <a:off x="0" y="0"/>
          <a:ext cx="0" cy="0"/>
          <a:chOff x="0" y="0"/>
          <a:chExt cx="0" cy="0"/>
        </a:xfrm>
      </p:grpSpPr>
      <p:sp>
        <p:nvSpPr>
          <p:cNvPr id="9623" name="Google Shape;9623;p9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4" name="Google Shape;9624;p92:notes"/>
          <p:cNvSpPr txBox="1">
            <a:spLocks noGrp="1"/>
          </p:cNvSpPr>
          <p:nvPr>
            <p:ph type="body" idx="1"/>
          </p:nvPr>
        </p:nvSpPr>
        <p:spPr>
          <a:xfrm>
            <a:off x="457200" y="3810000"/>
            <a:ext cx="5943600" cy="48768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Key Message:</a:t>
            </a:r>
            <a:endParaRPr/>
          </a:p>
          <a:p>
            <a:pPr marL="0" lvl="0" indent="0" algn="l" rtl="0">
              <a:lnSpc>
                <a:spcPct val="80000"/>
              </a:lnSpc>
              <a:spcBef>
                <a:spcPts val="0"/>
              </a:spcBef>
              <a:spcAft>
                <a:spcPts val="0"/>
              </a:spcAft>
              <a:buClr>
                <a:schemeClr val="dk1"/>
              </a:buClr>
              <a:buSzPts val="1200"/>
              <a:buFont typeface="Arial"/>
              <a:buNone/>
            </a:pPr>
            <a:r>
              <a:rPr lang="en-US" sz="1200">
                <a:latin typeface="Arial"/>
                <a:ea typeface="Arial"/>
                <a:cs typeface="Arial"/>
                <a:sym typeface="Arial"/>
              </a:rPr>
              <a:t>When upgrading from VCF 5.2.x customers will transition from the old license key approach to the new license file subscription method.   As part of this transition customers will need to re-license their VCF environments.</a:t>
            </a:r>
            <a:endParaRPr/>
          </a:p>
          <a:p>
            <a:pPr marL="0" lvl="0" indent="0" algn="l" rtl="0">
              <a:lnSpc>
                <a:spcPct val="80000"/>
              </a:lnSpc>
              <a:spcBef>
                <a:spcPts val="0"/>
              </a:spcBef>
              <a:spcAft>
                <a:spcPts val="0"/>
              </a:spcAft>
              <a:buClr>
                <a:schemeClr val="dk1"/>
              </a:buClr>
              <a:buSzPts val="1200"/>
              <a:buFont typeface="Arial"/>
              <a:buNone/>
            </a:pPr>
            <a:endParaRPr sz="1200">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Talk Track:</a:t>
            </a:r>
            <a:endParaRPr/>
          </a:p>
          <a:p>
            <a:pPr marL="0" lvl="0" indent="0" algn="l" rtl="0">
              <a:lnSpc>
                <a:spcPct val="80000"/>
              </a:lnSpc>
              <a:spcBef>
                <a:spcPts val="0"/>
              </a:spcBef>
              <a:spcAft>
                <a:spcPts val="0"/>
              </a:spcAft>
              <a:buClr>
                <a:schemeClr val="dk1"/>
              </a:buClr>
              <a:buSzPts val="1200"/>
              <a:buFont typeface="Arial"/>
              <a:buNone/>
            </a:pPr>
            <a:r>
              <a:rPr lang="en-US" sz="1200" b="0" u="none" strike="noStrike">
                <a:solidFill>
                  <a:schemeClr val="dk1"/>
                </a:solidFill>
                <a:latin typeface="Arial"/>
                <a:ea typeface="Arial"/>
                <a:cs typeface="Arial"/>
                <a:sym typeface="Arial"/>
              </a:rPr>
              <a:t>When upgrading from VCF 5.2.1, </a:t>
            </a:r>
            <a:r>
              <a:rPr lang="en-US" sz="1200">
                <a:latin typeface="Arial"/>
                <a:ea typeface="Arial"/>
                <a:cs typeface="Arial"/>
                <a:sym typeface="Arial"/>
              </a:rPr>
              <a:t>customers will transition from the old license key approach to the new license file subscription method.   </a:t>
            </a:r>
            <a:endParaRPr/>
          </a:p>
          <a:p>
            <a:pPr marL="0" lvl="0" indent="0" algn="l" rtl="0">
              <a:lnSpc>
                <a:spcPct val="80000"/>
              </a:lnSpc>
              <a:spcBef>
                <a:spcPts val="0"/>
              </a:spcBef>
              <a:spcAft>
                <a:spcPts val="0"/>
              </a:spcAft>
              <a:buClr>
                <a:schemeClr val="dk1"/>
              </a:buClr>
              <a:buSzPts val="1200"/>
              <a:buFont typeface="Arial"/>
              <a:buNone/>
            </a:pPr>
            <a:endParaRPr sz="1200">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a:latin typeface="Arial"/>
                <a:ea typeface="Arial"/>
                <a:cs typeface="Arial"/>
                <a:sym typeface="Arial"/>
              </a:rPr>
              <a:t>This is done by first transitioning the upgraded VCF instance to VCF 9 evaluation mode.   Eval mode provides the customer a 90-day window to complete the VCF 9 licensing in VCF Operations.</a:t>
            </a:r>
            <a:endParaRPr/>
          </a:p>
          <a:p>
            <a:pPr marL="0" lvl="0" indent="0" algn="l" rtl="0">
              <a:lnSpc>
                <a:spcPct val="80000"/>
              </a:lnSpc>
              <a:spcBef>
                <a:spcPts val="0"/>
              </a:spcBef>
              <a:spcAft>
                <a:spcPts val="0"/>
              </a:spcAft>
              <a:buClr>
                <a:schemeClr val="dk1"/>
              </a:buClr>
              <a:buSzPts val="1200"/>
              <a:buFont typeface="Arial"/>
              <a:buNone/>
            </a:pPr>
            <a:endParaRPr sz="1200">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a:latin typeface="Arial"/>
                <a:ea typeface="Arial"/>
                <a:cs typeface="Arial"/>
                <a:sym typeface="Arial"/>
              </a:rPr>
              <a:t>Following the upgrade, and switch to eval mode licensing, the customer will proceed to register their VCF Operations instance with the VCF Business Services Console to activate their VCF 9 licensing (using either the connected or disconnected mode).</a:t>
            </a:r>
            <a:endParaRPr/>
          </a:p>
          <a:p>
            <a:pPr marL="0" lvl="0" indent="0" algn="l" rtl="0">
              <a:lnSpc>
                <a:spcPct val="80000"/>
              </a:lnSpc>
              <a:spcBef>
                <a:spcPts val="0"/>
              </a:spcBef>
              <a:spcAft>
                <a:spcPts val="0"/>
              </a:spcAft>
              <a:buClr>
                <a:schemeClr val="dk1"/>
              </a:buClr>
              <a:buSzPts val="1200"/>
              <a:buFont typeface="Arial"/>
              <a:buNone/>
            </a:pPr>
            <a:endParaRPr sz="1200">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a:latin typeface="Arial"/>
                <a:ea typeface="Arial"/>
                <a:cs typeface="Arial"/>
                <a:sym typeface="Arial"/>
              </a:rPr>
              <a:t>Repeat this process for each upgraded VCF environment.</a:t>
            </a:r>
            <a:endParaRPr/>
          </a:p>
          <a:p>
            <a:pPr marL="0" lvl="0" indent="0" algn="l" rtl="0">
              <a:lnSpc>
                <a:spcPct val="80000"/>
              </a:lnSpc>
              <a:spcBef>
                <a:spcPts val="0"/>
              </a:spcBef>
              <a:spcAft>
                <a:spcPts val="0"/>
              </a:spcAft>
              <a:buClr>
                <a:schemeClr val="dk1"/>
              </a:buClr>
              <a:buSzPts val="1200"/>
              <a:buFont typeface="Arial"/>
              <a:buNone/>
            </a:pPr>
            <a:endParaRPr sz="1200" b="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Notes:</a:t>
            </a:r>
            <a:endParaRPr/>
          </a:p>
          <a:p>
            <a:pPr marL="0" lvl="0" indent="0" algn="l" rtl="0">
              <a:lnSpc>
                <a:spcPct val="80000"/>
              </a:lnSpc>
              <a:spcBef>
                <a:spcPts val="0"/>
              </a:spcBef>
              <a:spcAft>
                <a:spcPts val="0"/>
              </a:spcAft>
              <a:buClr>
                <a:schemeClr val="dk1"/>
              </a:buClr>
              <a:buSzPts val="1200"/>
              <a:buFont typeface="Arial"/>
              <a:buNone/>
            </a:pPr>
            <a:endParaRPr sz="1200" b="1"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Resources:</a:t>
            </a:r>
            <a:endParaRPr/>
          </a:p>
          <a:p>
            <a:pPr marL="0" lvl="0" indent="0" algn="l" rtl="0">
              <a:spcBef>
                <a:spcPts val="0"/>
              </a:spcBef>
              <a:spcAft>
                <a:spcPts val="0"/>
              </a:spcAft>
              <a:buClr>
                <a:schemeClr val="dk1"/>
              </a:buClr>
              <a:buSzPts val="1200"/>
              <a:buFont typeface="Arial"/>
              <a:buNone/>
            </a:pPr>
            <a:endParaRPr/>
          </a:p>
        </p:txBody>
      </p:sp>
      <p:sp>
        <p:nvSpPr>
          <p:cNvPr id="9625" name="Google Shape;9625;p92:notes"/>
          <p:cNvSpPr txBox="1">
            <a:spLocks noGrp="1"/>
          </p:cNvSpPr>
          <p:nvPr>
            <p:ph type="sldNum" idx="12"/>
          </p:nvPr>
        </p:nvSpPr>
        <p:spPr>
          <a:xfrm>
            <a:off x="3884613"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200"/>
              <a:buFont typeface="Arial"/>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4"/>
        <p:cNvGrpSpPr/>
        <p:nvPr/>
      </p:nvGrpSpPr>
      <p:grpSpPr>
        <a:xfrm>
          <a:off x="0" y="0"/>
          <a:ext cx="0" cy="0"/>
          <a:chOff x="0" y="0"/>
          <a:chExt cx="0" cy="0"/>
        </a:xfrm>
      </p:grpSpPr>
      <p:sp>
        <p:nvSpPr>
          <p:cNvPr id="9645" name="Google Shape;9645;p9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6" name="Google Shape;9646;p9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endParaRPr/>
          </a:p>
        </p:txBody>
      </p:sp>
      <p:sp>
        <p:nvSpPr>
          <p:cNvPr id="9647" name="Google Shape;9647;p9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45</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1"/>
        <p:cNvGrpSpPr/>
        <p:nvPr/>
      </p:nvGrpSpPr>
      <p:grpSpPr>
        <a:xfrm>
          <a:off x="0" y="0"/>
          <a:ext cx="0" cy="0"/>
          <a:chOff x="0" y="0"/>
          <a:chExt cx="0" cy="0"/>
        </a:xfrm>
      </p:grpSpPr>
      <p:sp>
        <p:nvSpPr>
          <p:cNvPr id="9652" name="Google Shape;9652;p94:notes"/>
          <p:cNvSpPr>
            <a:spLocks noGrp="1" noRot="1" noChangeAspect="1"/>
          </p:cNvSpPr>
          <p:nvPr>
            <p:ph type="sldImg" idx="2"/>
          </p:nvPr>
        </p:nvSpPr>
        <p:spPr>
          <a:xfrm>
            <a:off x="735013" y="1169988"/>
            <a:ext cx="5614987" cy="3159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3" name="Google Shape;9653;p94:notes"/>
          <p:cNvSpPr txBox="1">
            <a:spLocks noGrp="1"/>
          </p:cNvSpPr>
          <p:nvPr>
            <p:ph type="body" idx="1"/>
          </p:nvPr>
        </p:nvSpPr>
        <p:spPr>
          <a:xfrm>
            <a:off x="708660" y="4504452"/>
            <a:ext cx="5669400" cy="3685500"/>
          </a:xfrm>
          <a:prstGeom prst="rect">
            <a:avLst/>
          </a:prstGeom>
          <a:noFill/>
          <a:ln>
            <a:noFill/>
          </a:ln>
        </p:spPr>
        <p:txBody>
          <a:bodyPr spcFirstLastPara="1" wrap="square" lIns="94175" tIns="47075" rIns="94175" bIns="47075" anchor="t" anchorCtr="0">
            <a:noAutofit/>
          </a:bodyPr>
          <a:lstStyle/>
          <a:p>
            <a:pPr marL="0" marR="0" lvl="0" indent="0" algn="l" rtl="0">
              <a:lnSpc>
                <a:spcPct val="115000"/>
              </a:lnSpc>
              <a:spcBef>
                <a:spcPts val="1200"/>
              </a:spcBef>
              <a:spcAft>
                <a:spcPts val="0"/>
              </a:spcAft>
              <a:buClr>
                <a:schemeClr val="dk2"/>
              </a:buClr>
              <a:buSzPts val="1100"/>
              <a:buFont typeface="Arial"/>
              <a:buNone/>
            </a:pPr>
            <a:r>
              <a:rPr lang="en-US" b="1"/>
              <a:t>Key Message:</a:t>
            </a:r>
            <a:br>
              <a:rPr lang="en-US"/>
            </a:br>
            <a:r>
              <a:rPr lang="en-US"/>
              <a:t>Introduce VMware Advanced Services (Add-on Licenses)</a:t>
            </a:r>
            <a:br>
              <a:rPr lang="en-US"/>
            </a:br>
            <a:br>
              <a:rPr lang="en-US"/>
            </a:br>
            <a:r>
              <a:rPr lang="en-US" b="1"/>
              <a:t>Talk Track:</a:t>
            </a:r>
            <a:endParaRPr/>
          </a:p>
          <a:p>
            <a:pPr marL="0" lvl="0" indent="0" algn="l" rtl="0">
              <a:spcBef>
                <a:spcPts val="0"/>
              </a:spcBef>
              <a:spcAft>
                <a:spcPts val="0"/>
              </a:spcAft>
              <a:buClr>
                <a:srgbClr val="717074"/>
              </a:buClr>
              <a:buSzPts val="1400"/>
              <a:buFont typeface="Arial"/>
              <a:buNone/>
            </a:pPr>
            <a:r>
              <a:rPr lang="en-US" sz="1200">
                <a:solidFill>
                  <a:srgbClr val="717074"/>
                </a:solidFill>
              </a:rPr>
              <a:t>VCF as a private cloud platform can also be deployed with a portfolio of advanced capabilities that help customers support an extended set of use use cases to further drive innovation and improve operational resilience.</a:t>
            </a:r>
            <a:endParaRPr/>
          </a:p>
          <a:p>
            <a:pPr marL="0" lvl="0" indent="0" algn="l" rtl="0">
              <a:spcBef>
                <a:spcPts val="0"/>
              </a:spcBef>
              <a:spcAft>
                <a:spcPts val="0"/>
              </a:spcAft>
              <a:buClr>
                <a:srgbClr val="717074"/>
              </a:buClr>
              <a:buSzPts val="1400"/>
              <a:buFont typeface="Arial"/>
              <a:buNone/>
            </a:pPr>
            <a:endParaRPr sz="1200">
              <a:solidFill>
                <a:srgbClr val="717074"/>
              </a:solidFill>
            </a:endParaRPr>
          </a:p>
          <a:p>
            <a:pPr marL="0" lvl="0" indent="0" algn="l" rtl="0">
              <a:spcBef>
                <a:spcPts val="0"/>
              </a:spcBef>
              <a:spcAft>
                <a:spcPts val="0"/>
              </a:spcAft>
              <a:buClr>
                <a:srgbClr val="717074"/>
              </a:buClr>
              <a:buSzPts val="1400"/>
              <a:buFont typeface="Arial"/>
              <a:buNone/>
            </a:pPr>
            <a:r>
              <a:rPr lang="en-US" sz="1200">
                <a:solidFill>
                  <a:srgbClr val="717074"/>
                </a:solidFill>
              </a:rPr>
              <a:t>These advanced services are available as add-on licenses and include capabilities such as Private AI which I touched on earlier where customers can securely deploy and scale AI workloads within their private cloud.  Other advanced services are also available, in fact there are several.</a:t>
            </a:r>
            <a:endParaRPr/>
          </a:p>
          <a:p>
            <a:pPr marL="0" lvl="0" indent="0" algn="l" rtl="0">
              <a:spcBef>
                <a:spcPts val="0"/>
              </a:spcBef>
              <a:spcAft>
                <a:spcPts val="0"/>
              </a:spcAft>
              <a:buClr>
                <a:srgbClr val="717074"/>
              </a:buClr>
              <a:buSzPts val="1400"/>
              <a:buFont typeface="Arial"/>
              <a:buNone/>
            </a:pPr>
            <a:endParaRPr sz="1200">
              <a:solidFill>
                <a:srgbClr val="717074"/>
              </a:solidFill>
            </a:endParaRPr>
          </a:p>
          <a:p>
            <a:pPr marL="0" lvl="0" indent="0" algn="l" rtl="0">
              <a:spcBef>
                <a:spcPts val="0"/>
              </a:spcBef>
              <a:spcAft>
                <a:spcPts val="0"/>
              </a:spcAft>
              <a:buClr>
                <a:srgbClr val="717074"/>
              </a:buClr>
              <a:buSzPts val="1400"/>
              <a:buFont typeface="Arial"/>
              <a:buNone/>
            </a:pPr>
            <a:r>
              <a:rPr lang="en-US" sz="1200">
                <a:solidFill>
                  <a:srgbClr val="717074"/>
                </a:solidFill>
              </a:rPr>
              <a:t>We have DR and Ransomware Recovery, delivering built-in protection and rapid recovery from cyber threats.</a:t>
            </a:r>
            <a:endParaRPr/>
          </a:p>
          <a:p>
            <a:pPr marL="0" lvl="0" indent="0" algn="l" rtl="0">
              <a:spcBef>
                <a:spcPts val="0"/>
              </a:spcBef>
              <a:spcAft>
                <a:spcPts val="0"/>
              </a:spcAft>
              <a:buClr>
                <a:srgbClr val="717074"/>
              </a:buClr>
              <a:buSzPts val="1400"/>
              <a:buFont typeface="Arial"/>
              <a:buNone/>
            </a:pPr>
            <a:endParaRPr sz="1200">
              <a:solidFill>
                <a:srgbClr val="717074"/>
              </a:solidFill>
            </a:endParaRPr>
          </a:p>
          <a:p>
            <a:pPr marL="0" lvl="0" indent="0" algn="l" rtl="0">
              <a:spcBef>
                <a:spcPts val="0"/>
              </a:spcBef>
              <a:spcAft>
                <a:spcPts val="0"/>
              </a:spcAft>
              <a:buClr>
                <a:srgbClr val="717074"/>
              </a:buClr>
              <a:buSzPts val="1400"/>
              <a:buFont typeface="Arial"/>
              <a:buNone/>
            </a:pPr>
            <a:r>
              <a:rPr lang="en-US" sz="1200">
                <a:solidFill>
                  <a:srgbClr val="717074"/>
                </a:solidFill>
              </a:rPr>
              <a:t>There are is also Advanced Security which strengthens lateral security and zero-trust architectures,</a:t>
            </a:r>
            <a:endParaRPr/>
          </a:p>
          <a:p>
            <a:pPr marL="0" lvl="0" indent="0" algn="l" rtl="0">
              <a:spcBef>
                <a:spcPts val="0"/>
              </a:spcBef>
              <a:spcAft>
                <a:spcPts val="0"/>
              </a:spcAft>
              <a:buClr>
                <a:srgbClr val="717074"/>
              </a:buClr>
              <a:buSzPts val="1400"/>
              <a:buFont typeface="Arial"/>
              <a:buNone/>
            </a:pPr>
            <a:r>
              <a:rPr lang="en-US" sz="1200">
                <a:solidFill>
                  <a:srgbClr val="717074"/>
                </a:solidFill>
              </a:rPr>
              <a:t>And then there is Load Balancing and Application Services which ensure better performance and availability for modern applications.</a:t>
            </a:r>
            <a:endParaRPr/>
          </a:p>
          <a:p>
            <a:pPr marL="0" lvl="0" indent="0" algn="l" rtl="0">
              <a:spcBef>
                <a:spcPts val="0"/>
              </a:spcBef>
              <a:spcAft>
                <a:spcPts val="0"/>
              </a:spcAft>
              <a:buClr>
                <a:srgbClr val="717074"/>
              </a:buClr>
              <a:buSzPts val="1400"/>
              <a:buFont typeface="Arial"/>
              <a:buNone/>
            </a:pPr>
            <a:endParaRPr sz="1200">
              <a:solidFill>
                <a:srgbClr val="717074"/>
              </a:solidFill>
            </a:endParaRPr>
          </a:p>
          <a:p>
            <a:pPr marL="0" lvl="0" indent="0" algn="l" rtl="0">
              <a:spcBef>
                <a:spcPts val="0"/>
              </a:spcBef>
              <a:spcAft>
                <a:spcPts val="0"/>
              </a:spcAft>
              <a:buClr>
                <a:srgbClr val="717074"/>
              </a:buClr>
              <a:buSzPts val="1400"/>
              <a:buFont typeface="Arial"/>
              <a:buNone/>
            </a:pPr>
            <a:r>
              <a:rPr lang="en-US" sz="1200">
                <a:solidFill>
                  <a:srgbClr val="717074"/>
                </a:solidFill>
              </a:rPr>
              <a:t>We also see customers leveraging Data Services to optimize storage for AI, databases, and container workloads</a:t>
            </a:r>
            <a:endParaRPr/>
          </a:p>
          <a:p>
            <a:pPr marL="0" lvl="0" indent="0" algn="l" rtl="0">
              <a:spcBef>
                <a:spcPts val="0"/>
              </a:spcBef>
              <a:spcAft>
                <a:spcPts val="0"/>
              </a:spcAft>
              <a:buClr>
                <a:srgbClr val="717074"/>
              </a:buClr>
              <a:buSzPts val="1400"/>
              <a:buFont typeface="Arial"/>
              <a:buNone/>
            </a:pPr>
            <a:r>
              <a:rPr lang="en-US" sz="1200">
                <a:solidFill>
                  <a:srgbClr val="717074"/>
                </a:solidFill>
              </a:rPr>
              <a:t>And we have Network Observability to gain deeper visibility into traffic patterns and performance across the environment.</a:t>
            </a:r>
            <a:endParaRPr/>
          </a:p>
          <a:p>
            <a:pPr marL="0" lvl="0" indent="0" algn="l" rtl="0">
              <a:spcBef>
                <a:spcPts val="0"/>
              </a:spcBef>
              <a:spcAft>
                <a:spcPts val="0"/>
              </a:spcAft>
              <a:buClr>
                <a:srgbClr val="717074"/>
              </a:buClr>
              <a:buSzPts val="1400"/>
              <a:buFont typeface="Arial"/>
              <a:buNone/>
            </a:pPr>
            <a:endParaRPr sz="1200">
              <a:solidFill>
                <a:srgbClr val="717074"/>
              </a:solidFill>
            </a:endParaRPr>
          </a:p>
          <a:p>
            <a:pPr marL="0" lvl="0" indent="0" algn="l" rtl="0">
              <a:spcBef>
                <a:spcPts val="0"/>
              </a:spcBef>
              <a:spcAft>
                <a:spcPts val="0"/>
              </a:spcAft>
              <a:buClr>
                <a:srgbClr val="717074"/>
              </a:buClr>
              <a:buSzPts val="1400"/>
              <a:buFont typeface="Arial"/>
              <a:buNone/>
            </a:pPr>
            <a:r>
              <a:rPr lang="en-US" sz="1200">
                <a:solidFill>
                  <a:srgbClr val="717074"/>
                </a:solidFill>
              </a:rPr>
              <a:t>Finally, capabilities like Business Operations automation and Secure Access help customers drive efficiency, enforce governance, and improve user access control across the private cloud.</a:t>
            </a:r>
            <a:endParaRPr/>
          </a:p>
          <a:p>
            <a:pPr marL="0" lvl="0" indent="0" algn="l" rtl="0">
              <a:lnSpc>
                <a:spcPct val="115000"/>
              </a:lnSpc>
              <a:spcBef>
                <a:spcPts val="1200"/>
              </a:spcBef>
              <a:spcAft>
                <a:spcPts val="0"/>
              </a:spcAft>
              <a:buClr>
                <a:schemeClr val="dk2"/>
              </a:buClr>
              <a:buSzPts val="1100"/>
              <a:buFont typeface="Arial"/>
              <a:buNone/>
            </a:pPr>
            <a:endParaRPr/>
          </a:p>
          <a:p>
            <a:pPr marL="0" lvl="0" indent="0" algn="l" rtl="0">
              <a:lnSpc>
                <a:spcPct val="115000"/>
              </a:lnSpc>
              <a:spcBef>
                <a:spcPts val="1200"/>
              </a:spcBef>
              <a:spcAft>
                <a:spcPts val="0"/>
              </a:spcAft>
              <a:buClr>
                <a:schemeClr val="dk2"/>
              </a:buClr>
              <a:buSzPts val="1100"/>
              <a:buFont typeface="Arial"/>
              <a:buNone/>
            </a:pPr>
            <a:r>
              <a:rPr lang="en-US"/>
              <a:t>Consumers can access these services through their preferred language, whether it's APIs, CLIs, or infrastructure-as-code, providing a flexible and scalable platform that meets a variety of needs.</a:t>
            </a:r>
            <a:endParaRPr/>
          </a:p>
          <a:p>
            <a:pPr marL="0" lvl="0" indent="0" algn="l" rtl="0">
              <a:lnSpc>
                <a:spcPct val="115000"/>
              </a:lnSpc>
              <a:spcBef>
                <a:spcPts val="1200"/>
              </a:spcBef>
              <a:spcAft>
                <a:spcPts val="0"/>
              </a:spcAft>
              <a:buClr>
                <a:schemeClr val="dk2"/>
              </a:buClr>
              <a:buSzPts val="1100"/>
              <a:buFont typeface="Arial"/>
              <a:buNone/>
            </a:pPr>
            <a:endParaRPr/>
          </a:p>
          <a:p>
            <a:pPr marL="0" lvl="0" indent="0" algn="l" rtl="0">
              <a:lnSpc>
                <a:spcPct val="115000"/>
              </a:lnSpc>
              <a:spcBef>
                <a:spcPts val="1200"/>
              </a:spcBef>
              <a:spcAft>
                <a:spcPts val="0"/>
              </a:spcAft>
              <a:buClr>
                <a:schemeClr val="dk2"/>
              </a:buClr>
              <a:buSzPts val="1000"/>
              <a:buFont typeface="Arial"/>
              <a:buNone/>
            </a:pPr>
            <a:r>
              <a:rPr lang="en-US" b="1"/>
              <a:t>Notes:</a:t>
            </a:r>
            <a:endParaRPr/>
          </a:p>
          <a:p>
            <a:pPr marL="0" lvl="0" indent="0" algn="l" rtl="0">
              <a:lnSpc>
                <a:spcPct val="115000"/>
              </a:lnSpc>
              <a:spcBef>
                <a:spcPts val="1200"/>
              </a:spcBef>
              <a:spcAft>
                <a:spcPts val="0"/>
              </a:spcAft>
              <a:buClr>
                <a:schemeClr val="dk2"/>
              </a:buClr>
              <a:buSzPts val="1000"/>
              <a:buFont typeface="Arial"/>
              <a:buNone/>
            </a:pPr>
            <a:r>
              <a:rPr lang="en-US" sz="1200">
                <a:solidFill>
                  <a:srgbClr val="717074"/>
                </a:solidFill>
              </a:rPr>
              <a:t>VCF Advanced Services require an add-on license.</a:t>
            </a:r>
            <a:br>
              <a:rPr lang="en-US" b="1"/>
            </a:br>
            <a:br>
              <a:rPr lang="en-US" b="1"/>
            </a:br>
            <a:r>
              <a:rPr lang="en-US" b="1"/>
              <a:t>Resources:</a:t>
            </a:r>
            <a:br>
              <a:rPr lang="en-US" b="1"/>
            </a:br>
            <a:endParaRPr b="1"/>
          </a:p>
        </p:txBody>
      </p:sp>
      <p:sp>
        <p:nvSpPr>
          <p:cNvPr id="9654" name="Google Shape;9654;p94:notes"/>
          <p:cNvSpPr txBox="1">
            <a:spLocks noGrp="1"/>
          </p:cNvSpPr>
          <p:nvPr>
            <p:ph type="sldNum" idx="12"/>
          </p:nvPr>
        </p:nvSpPr>
        <p:spPr>
          <a:xfrm>
            <a:off x="4014100" y="8890281"/>
            <a:ext cx="3070800" cy="469500"/>
          </a:xfrm>
          <a:prstGeom prst="rect">
            <a:avLst/>
          </a:prstGeom>
          <a:noFill/>
          <a:ln>
            <a:noFill/>
          </a:ln>
        </p:spPr>
        <p:txBody>
          <a:bodyPr spcFirstLastPara="1" wrap="square" lIns="94175" tIns="47075" rIns="94175" bIns="4707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46</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2"/>
        <p:cNvGrpSpPr/>
        <p:nvPr/>
      </p:nvGrpSpPr>
      <p:grpSpPr>
        <a:xfrm>
          <a:off x="0" y="0"/>
          <a:ext cx="0" cy="0"/>
          <a:chOff x="0" y="0"/>
          <a:chExt cx="0" cy="0"/>
        </a:xfrm>
      </p:grpSpPr>
      <p:sp>
        <p:nvSpPr>
          <p:cNvPr id="9783" name="Google Shape;9783;p95:notes"/>
          <p:cNvSpPr>
            <a:spLocks noGrp="1" noRot="1" noChangeAspect="1"/>
          </p:cNvSpPr>
          <p:nvPr>
            <p:ph type="sldImg" idx="2"/>
          </p:nvPr>
        </p:nvSpPr>
        <p:spPr>
          <a:xfrm>
            <a:off x="736600" y="1169988"/>
            <a:ext cx="5613400" cy="3159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4" name="Google Shape;9784;p95:notes"/>
          <p:cNvSpPr txBox="1">
            <a:spLocks noGrp="1"/>
          </p:cNvSpPr>
          <p:nvPr>
            <p:ph type="body" idx="1"/>
          </p:nvPr>
        </p:nvSpPr>
        <p:spPr>
          <a:xfrm>
            <a:off x="708660" y="4504452"/>
            <a:ext cx="5669400" cy="3685500"/>
          </a:xfrm>
          <a:prstGeom prst="rect">
            <a:avLst/>
          </a:prstGeom>
          <a:noFill/>
          <a:ln>
            <a:noFill/>
          </a:ln>
        </p:spPr>
        <p:txBody>
          <a:bodyPr spcFirstLastPara="1" wrap="square" lIns="94175" tIns="47075" rIns="94175" bIns="47075" anchor="t" anchorCtr="0">
            <a:noAutofit/>
          </a:bodyPr>
          <a:lstStyle/>
          <a:p>
            <a:pPr marL="0" lvl="0" indent="0" algn="l" rtl="0">
              <a:lnSpc>
                <a:spcPct val="80000"/>
              </a:lnSpc>
              <a:spcBef>
                <a:spcPts val="0"/>
              </a:spcBef>
              <a:spcAft>
                <a:spcPts val="0"/>
              </a:spcAft>
              <a:buClr>
                <a:srgbClr val="7F7F7F"/>
              </a:buClr>
              <a:buSzPts val="1200"/>
              <a:buFont typeface="Arial"/>
              <a:buNone/>
            </a:pPr>
            <a:r>
              <a:rPr lang="en-US" b="1">
                <a:solidFill>
                  <a:srgbClr val="7F7F7F"/>
                </a:solidFill>
              </a:rPr>
              <a:t>Talk Track:</a:t>
            </a:r>
            <a:endParaRPr b="1">
              <a:solidFill>
                <a:srgbClr val="7F7F7F"/>
              </a:solidFill>
            </a:endParaRPr>
          </a:p>
          <a:p>
            <a:pPr marL="0" lvl="0" indent="0" algn="l" rtl="0">
              <a:spcBef>
                <a:spcPts val="0"/>
              </a:spcBef>
              <a:spcAft>
                <a:spcPts val="0"/>
              </a:spcAft>
              <a:buClr>
                <a:srgbClr val="717074"/>
              </a:buClr>
              <a:buSzPts val="1400"/>
              <a:buFont typeface="Arial"/>
              <a:buNone/>
            </a:pPr>
            <a:r>
              <a:rPr lang="en-US" sz="1200">
                <a:solidFill>
                  <a:srgbClr val="717074"/>
                </a:solidFill>
              </a:rPr>
              <a:t>VMware Cloud Foundation is much more than just infrastructure — it’s also a platform for advanced capabilities that help customers support new use cases, drive innovation, and improve operational resilience.</a:t>
            </a:r>
            <a:endParaRPr sz="1200">
              <a:solidFill>
                <a:srgbClr val="717074"/>
              </a:solidFill>
            </a:endParaRPr>
          </a:p>
          <a:p>
            <a:pPr marL="0" lvl="0" indent="0" algn="l" rtl="0">
              <a:spcBef>
                <a:spcPts val="0"/>
              </a:spcBef>
              <a:spcAft>
                <a:spcPts val="0"/>
              </a:spcAft>
              <a:buClr>
                <a:srgbClr val="717074"/>
              </a:buClr>
              <a:buSzPts val="1400"/>
              <a:buFont typeface="Arial"/>
              <a:buNone/>
            </a:pPr>
            <a:endParaRPr sz="1200">
              <a:solidFill>
                <a:srgbClr val="717074"/>
              </a:solidFill>
            </a:endParaRPr>
          </a:p>
          <a:p>
            <a:pPr marL="0" lvl="0" indent="0" algn="l" rtl="0">
              <a:spcBef>
                <a:spcPts val="0"/>
              </a:spcBef>
              <a:spcAft>
                <a:spcPts val="0"/>
              </a:spcAft>
              <a:buClr>
                <a:srgbClr val="717074"/>
              </a:buClr>
              <a:buSzPts val="1400"/>
              <a:buFont typeface="Arial"/>
              <a:buNone/>
            </a:pPr>
            <a:r>
              <a:rPr lang="en-US" sz="1200">
                <a:solidFill>
                  <a:srgbClr val="717074"/>
                </a:solidFill>
              </a:rPr>
              <a:t>These advanced services include areas like Private AI, where customers can securely deploy and scale AI workloads within their private cloud, and DR and Ransomware Recovery, delivering built-in protection and rapid recovery from cyber threats.</a:t>
            </a:r>
            <a:endParaRPr sz="1200">
              <a:solidFill>
                <a:srgbClr val="717074"/>
              </a:solidFill>
            </a:endParaRPr>
          </a:p>
          <a:p>
            <a:pPr marL="0" lvl="0" indent="0" algn="l" rtl="0">
              <a:spcBef>
                <a:spcPts val="0"/>
              </a:spcBef>
              <a:spcAft>
                <a:spcPts val="0"/>
              </a:spcAft>
              <a:buClr>
                <a:srgbClr val="717074"/>
              </a:buClr>
              <a:buSzPts val="1400"/>
              <a:buFont typeface="Arial"/>
              <a:buNone/>
            </a:pPr>
            <a:endParaRPr sz="1200">
              <a:solidFill>
                <a:srgbClr val="717074"/>
              </a:solidFill>
            </a:endParaRPr>
          </a:p>
          <a:p>
            <a:pPr marL="0" lvl="0" indent="0" algn="l" rtl="0">
              <a:spcBef>
                <a:spcPts val="0"/>
              </a:spcBef>
              <a:spcAft>
                <a:spcPts val="0"/>
              </a:spcAft>
              <a:buClr>
                <a:srgbClr val="717074"/>
              </a:buClr>
              <a:buSzPts val="1400"/>
              <a:buFont typeface="Arial"/>
              <a:buNone/>
            </a:pPr>
            <a:r>
              <a:rPr lang="en-US" sz="1200">
                <a:solidFill>
                  <a:srgbClr val="717074"/>
                </a:solidFill>
              </a:rPr>
              <a:t>Advanced Security strengthens lateral security and zero-trust architectures, while Load Balancing and Application Services ensure better performance and availability for modern applications.</a:t>
            </a:r>
            <a:endParaRPr sz="1200">
              <a:solidFill>
                <a:srgbClr val="717074"/>
              </a:solidFill>
            </a:endParaRPr>
          </a:p>
          <a:p>
            <a:pPr marL="0" lvl="0" indent="0" algn="l" rtl="0">
              <a:spcBef>
                <a:spcPts val="0"/>
              </a:spcBef>
              <a:spcAft>
                <a:spcPts val="0"/>
              </a:spcAft>
              <a:buClr>
                <a:srgbClr val="717074"/>
              </a:buClr>
              <a:buSzPts val="1400"/>
              <a:buFont typeface="Arial"/>
              <a:buNone/>
            </a:pPr>
            <a:endParaRPr sz="1200">
              <a:solidFill>
                <a:srgbClr val="717074"/>
              </a:solidFill>
            </a:endParaRPr>
          </a:p>
          <a:p>
            <a:pPr marL="0" lvl="0" indent="0" algn="l" rtl="0">
              <a:spcBef>
                <a:spcPts val="0"/>
              </a:spcBef>
              <a:spcAft>
                <a:spcPts val="0"/>
              </a:spcAft>
              <a:buClr>
                <a:srgbClr val="717074"/>
              </a:buClr>
              <a:buSzPts val="1400"/>
              <a:buFont typeface="Arial"/>
              <a:buNone/>
            </a:pPr>
            <a:r>
              <a:rPr lang="en-US" sz="1200">
                <a:solidFill>
                  <a:srgbClr val="717074"/>
                </a:solidFill>
              </a:rPr>
              <a:t>We also see customers leveraging Data Services to optimize storage for AI, databases, and container workloads, and Network Observability to gain deeper visibility into traffic patterns and performance across the environment.</a:t>
            </a:r>
            <a:endParaRPr sz="1200">
              <a:solidFill>
                <a:srgbClr val="717074"/>
              </a:solidFill>
            </a:endParaRPr>
          </a:p>
          <a:p>
            <a:pPr marL="0" lvl="0" indent="0" algn="l" rtl="0">
              <a:spcBef>
                <a:spcPts val="0"/>
              </a:spcBef>
              <a:spcAft>
                <a:spcPts val="0"/>
              </a:spcAft>
              <a:buClr>
                <a:srgbClr val="717074"/>
              </a:buClr>
              <a:buSzPts val="1400"/>
              <a:buFont typeface="Arial"/>
              <a:buNone/>
            </a:pPr>
            <a:endParaRPr sz="1200">
              <a:solidFill>
                <a:srgbClr val="717074"/>
              </a:solidFill>
            </a:endParaRPr>
          </a:p>
          <a:p>
            <a:pPr marL="0" lvl="0" indent="0" algn="l" rtl="0">
              <a:spcBef>
                <a:spcPts val="0"/>
              </a:spcBef>
              <a:spcAft>
                <a:spcPts val="0"/>
              </a:spcAft>
              <a:buClr>
                <a:srgbClr val="717074"/>
              </a:buClr>
              <a:buSzPts val="1400"/>
              <a:buFont typeface="Arial"/>
              <a:buNone/>
            </a:pPr>
            <a:r>
              <a:rPr lang="en-US" sz="1200">
                <a:solidFill>
                  <a:srgbClr val="717074"/>
                </a:solidFill>
              </a:rPr>
              <a:t>Finally, capabilities like Business Operations automation and Secure Access help customers drive efficiency, enforce governance, and improve user access control across the private cloud.</a:t>
            </a:r>
            <a:endParaRPr sz="1200">
              <a:solidFill>
                <a:srgbClr val="717074"/>
              </a:solidFill>
            </a:endParaRPr>
          </a:p>
          <a:p>
            <a:pPr marL="0" lvl="0" indent="0" algn="l" rtl="0">
              <a:spcBef>
                <a:spcPts val="0"/>
              </a:spcBef>
              <a:spcAft>
                <a:spcPts val="0"/>
              </a:spcAft>
              <a:buClr>
                <a:srgbClr val="717074"/>
              </a:buClr>
              <a:buSzPts val="1400"/>
              <a:buFont typeface="Arial"/>
              <a:buNone/>
            </a:pPr>
            <a:endParaRPr sz="1200">
              <a:solidFill>
                <a:srgbClr val="717074"/>
              </a:solidFill>
            </a:endParaRPr>
          </a:p>
          <a:p>
            <a:pPr marL="0" lvl="0" indent="0" algn="l" rtl="0">
              <a:spcBef>
                <a:spcPts val="0"/>
              </a:spcBef>
              <a:spcAft>
                <a:spcPts val="0"/>
              </a:spcAft>
              <a:buClr>
                <a:srgbClr val="717074"/>
              </a:buClr>
              <a:buSzPts val="1400"/>
              <a:buFont typeface="Arial"/>
              <a:buNone/>
            </a:pPr>
            <a:r>
              <a:rPr lang="en-US" sz="1200">
                <a:solidFill>
                  <a:srgbClr val="717074"/>
                </a:solidFill>
              </a:rPr>
              <a:t>In the next few slides, we’ll walk through each of these categories at a high level so you can see how VCF Advanced Services open up even more value for customers beyond just the core deployment.</a:t>
            </a:r>
            <a:br>
              <a:rPr lang="en-US" sz="1200">
                <a:solidFill>
                  <a:srgbClr val="717074"/>
                </a:solidFill>
              </a:rPr>
            </a:br>
            <a:br>
              <a:rPr lang="en-US" sz="1200">
                <a:solidFill>
                  <a:srgbClr val="717074"/>
                </a:solidFill>
              </a:rPr>
            </a:br>
            <a:r>
              <a:rPr lang="en-US" sz="1200" b="1">
                <a:solidFill>
                  <a:srgbClr val="717074"/>
                </a:solidFill>
              </a:rPr>
              <a:t>Notes:</a:t>
            </a:r>
            <a:br>
              <a:rPr lang="en-US" sz="1200" b="1">
                <a:solidFill>
                  <a:srgbClr val="717074"/>
                </a:solidFill>
              </a:rPr>
            </a:br>
            <a:r>
              <a:rPr lang="en-US" sz="1200">
                <a:solidFill>
                  <a:srgbClr val="717074"/>
                </a:solidFill>
              </a:rPr>
              <a:t>VCF Advanced Services require an add-on license.</a:t>
            </a:r>
            <a:br>
              <a:rPr lang="en-US" sz="1200">
                <a:solidFill>
                  <a:srgbClr val="717074"/>
                </a:solidFill>
              </a:rPr>
            </a:br>
            <a:br>
              <a:rPr lang="en-US" sz="1200">
                <a:solidFill>
                  <a:srgbClr val="717074"/>
                </a:solidFill>
              </a:rPr>
            </a:br>
            <a:r>
              <a:rPr lang="en-US" sz="1200" b="1">
                <a:solidFill>
                  <a:srgbClr val="717074"/>
                </a:solidFill>
              </a:rPr>
              <a:t>Resources:</a:t>
            </a:r>
            <a:br>
              <a:rPr lang="en-US" sz="1200">
                <a:solidFill>
                  <a:srgbClr val="717074"/>
                </a:solidFill>
              </a:rPr>
            </a:br>
            <a:endParaRPr sz="1200">
              <a:solidFill>
                <a:srgbClr val="717074"/>
              </a:solidFill>
            </a:endParaRPr>
          </a:p>
          <a:p>
            <a:pPr marL="0" lvl="0" indent="0" algn="l" rtl="0">
              <a:lnSpc>
                <a:spcPct val="100000"/>
              </a:lnSpc>
              <a:spcBef>
                <a:spcPts val="0"/>
              </a:spcBef>
              <a:spcAft>
                <a:spcPts val="0"/>
              </a:spcAft>
              <a:buClr>
                <a:schemeClr val="dk1"/>
              </a:buClr>
              <a:buSzPts val="1400"/>
              <a:buFont typeface="Arial"/>
              <a:buNone/>
            </a:pPr>
            <a:endParaRPr/>
          </a:p>
        </p:txBody>
      </p:sp>
      <p:sp>
        <p:nvSpPr>
          <p:cNvPr id="9785" name="Google Shape;9785;p95:notes"/>
          <p:cNvSpPr txBox="1">
            <a:spLocks noGrp="1"/>
          </p:cNvSpPr>
          <p:nvPr>
            <p:ph type="sldNum" idx="12"/>
          </p:nvPr>
        </p:nvSpPr>
        <p:spPr>
          <a:xfrm>
            <a:off x="4014100" y="8890281"/>
            <a:ext cx="3070800" cy="469500"/>
          </a:xfrm>
          <a:prstGeom prst="rect">
            <a:avLst/>
          </a:prstGeom>
          <a:noFill/>
          <a:ln>
            <a:noFill/>
          </a:ln>
        </p:spPr>
        <p:txBody>
          <a:bodyPr spcFirstLastPara="1" wrap="square" lIns="94175" tIns="47075" rIns="94175" bIns="4707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47</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3"/>
        <p:cNvGrpSpPr/>
        <p:nvPr/>
      </p:nvGrpSpPr>
      <p:grpSpPr>
        <a:xfrm>
          <a:off x="0" y="0"/>
          <a:ext cx="0" cy="0"/>
          <a:chOff x="0" y="0"/>
          <a:chExt cx="0" cy="0"/>
        </a:xfrm>
      </p:grpSpPr>
      <p:sp>
        <p:nvSpPr>
          <p:cNvPr id="9824" name="Google Shape;9824;p9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5" name="Google Shape;9825;p9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endParaRPr/>
          </a:p>
        </p:txBody>
      </p:sp>
      <p:sp>
        <p:nvSpPr>
          <p:cNvPr id="9826" name="Google Shape;9826;p9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48</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9"/>
        <p:cNvGrpSpPr/>
        <p:nvPr/>
      </p:nvGrpSpPr>
      <p:grpSpPr>
        <a:xfrm>
          <a:off x="0" y="0"/>
          <a:ext cx="0" cy="0"/>
          <a:chOff x="0" y="0"/>
          <a:chExt cx="0" cy="0"/>
        </a:xfrm>
      </p:grpSpPr>
      <p:sp>
        <p:nvSpPr>
          <p:cNvPr id="9830" name="Google Shape;9830;p97:notes"/>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1" name="Google Shape;9831;p9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73000"/>
              </a:lnSpc>
              <a:spcBef>
                <a:spcPts val="0"/>
              </a:spcBef>
              <a:spcAft>
                <a:spcPts val="0"/>
              </a:spcAft>
              <a:buClr>
                <a:srgbClr val="000000"/>
              </a:buClr>
              <a:buSzPts val="1500"/>
              <a:buFont typeface="Arial"/>
              <a:buNone/>
            </a:pPr>
            <a:r>
              <a:rPr lang="en-US" sz="1020" b="1">
                <a:solidFill>
                  <a:srgbClr val="3F3F3F"/>
                </a:solidFill>
                <a:latin typeface="Arial"/>
                <a:ea typeface="Arial"/>
                <a:cs typeface="Arial"/>
                <a:sym typeface="Arial"/>
              </a:rPr>
              <a:t>Key Message:</a:t>
            </a:r>
            <a:endParaRPr/>
          </a:p>
          <a:p>
            <a:pPr marL="0" marR="0" lvl="0" indent="0" algn="l" rtl="0">
              <a:lnSpc>
                <a:spcPct val="73000"/>
              </a:lnSpc>
              <a:spcBef>
                <a:spcPts val="900"/>
              </a:spcBef>
              <a:spcAft>
                <a:spcPts val="0"/>
              </a:spcAft>
              <a:buClr>
                <a:srgbClr val="000000"/>
              </a:buClr>
              <a:buSzPts val="1500"/>
              <a:buFont typeface="Arial"/>
              <a:buNone/>
            </a:pPr>
            <a:r>
              <a:rPr lang="en-US" sz="1020">
                <a:solidFill>
                  <a:srgbClr val="3F3F3F"/>
                </a:solidFill>
                <a:latin typeface="Arial"/>
                <a:ea typeface="Arial"/>
                <a:cs typeface="Arial"/>
                <a:sym typeface="Arial"/>
              </a:rPr>
              <a:t>We offer a range of resources designed to meet you where you are in your learning journey, from quick explorations to in-depth, dedicated experiences.</a:t>
            </a:r>
            <a:endParaRPr/>
          </a:p>
          <a:p>
            <a:pPr marL="0" marR="0" lvl="0" indent="0" algn="l" rtl="0">
              <a:lnSpc>
                <a:spcPct val="73000"/>
              </a:lnSpc>
              <a:spcBef>
                <a:spcPts val="900"/>
              </a:spcBef>
              <a:spcAft>
                <a:spcPts val="0"/>
              </a:spcAft>
              <a:buClr>
                <a:srgbClr val="000000"/>
              </a:buClr>
              <a:buSzPts val="1500"/>
              <a:buFont typeface="Arial"/>
              <a:buNone/>
            </a:pPr>
            <a:endParaRPr sz="1020" b="1">
              <a:solidFill>
                <a:srgbClr val="3F3F3F"/>
              </a:solidFill>
              <a:latin typeface="Arial"/>
              <a:ea typeface="Arial"/>
              <a:cs typeface="Arial"/>
              <a:sym typeface="Arial"/>
            </a:endParaRPr>
          </a:p>
          <a:p>
            <a:pPr marL="0" marR="0" lvl="0" indent="0" algn="l" rtl="0">
              <a:lnSpc>
                <a:spcPct val="73000"/>
              </a:lnSpc>
              <a:spcBef>
                <a:spcPts val="900"/>
              </a:spcBef>
              <a:spcAft>
                <a:spcPts val="0"/>
              </a:spcAft>
              <a:buClr>
                <a:srgbClr val="000000"/>
              </a:buClr>
              <a:buSzPts val="1500"/>
              <a:buFont typeface="Arial"/>
              <a:buNone/>
            </a:pPr>
            <a:r>
              <a:rPr lang="en-US" sz="1020" b="1">
                <a:solidFill>
                  <a:srgbClr val="3F3F3F"/>
                </a:solidFill>
                <a:latin typeface="Arial"/>
                <a:ea typeface="Arial"/>
                <a:cs typeface="Arial"/>
                <a:sym typeface="Arial"/>
              </a:rPr>
              <a:t>Talk Track:</a:t>
            </a:r>
            <a:endParaRPr/>
          </a:p>
          <a:p>
            <a:pPr marL="0" marR="0" lvl="0" indent="0" algn="l" rtl="0">
              <a:lnSpc>
                <a:spcPct val="73000"/>
              </a:lnSpc>
              <a:spcBef>
                <a:spcPts val="900"/>
              </a:spcBef>
              <a:spcAft>
                <a:spcPts val="0"/>
              </a:spcAft>
              <a:buClr>
                <a:srgbClr val="000000"/>
              </a:buClr>
              <a:buSzPts val="1500"/>
              <a:buFont typeface="Arial"/>
              <a:buNone/>
            </a:pPr>
            <a:r>
              <a:rPr lang="en-US" sz="1020" u="sng">
                <a:solidFill>
                  <a:srgbClr val="3F3F3F"/>
                </a:solidFill>
                <a:latin typeface="Arial"/>
                <a:ea typeface="Arial"/>
                <a:cs typeface="Arial"/>
                <a:sym typeface="Arial"/>
              </a:rPr>
              <a:t>Hands-on Labs:</a:t>
            </a:r>
            <a:endParaRPr/>
          </a:p>
          <a:p>
            <a:pPr marL="0" marR="0" lvl="0" indent="0" algn="l" rtl="0">
              <a:lnSpc>
                <a:spcPct val="73000"/>
              </a:lnSpc>
              <a:spcBef>
                <a:spcPts val="900"/>
              </a:spcBef>
              <a:spcAft>
                <a:spcPts val="0"/>
              </a:spcAft>
              <a:buClr>
                <a:srgbClr val="000000"/>
              </a:buClr>
              <a:buSzPts val="1500"/>
              <a:buFont typeface="Arial"/>
              <a:buNone/>
            </a:pPr>
            <a:r>
              <a:rPr lang="en-US" sz="1020">
                <a:solidFill>
                  <a:srgbClr val="3F3F3F"/>
                </a:solidFill>
                <a:latin typeface="Arial"/>
                <a:ea typeface="Arial"/>
                <a:cs typeface="Arial"/>
                <a:sym typeface="Arial"/>
              </a:rPr>
              <a:t>First, VMware Hands-on Labs serve as your gateway to experiencing our products without any infrastructure setup. Think of it as instant access to a fully functional VMware environment from your browser. Whether you prefer a structured approach with step-by-step manuals or want to explore features at your own pace, Hands-on Labs accommodates both. It's perfect for evaluating solutions, building your skills, and even running proof-of-concepts.</a:t>
            </a:r>
            <a:endParaRPr/>
          </a:p>
          <a:p>
            <a:pPr marL="0" marR="0" lvl="0" indent="0" algn="l" rtl="0">
              <a:lnSpc>
                <a:spcPct val="73000"/>
              </a:lnSpc>
              <a:spcBef>
                <a:spcPts val="900"/>
              </a:spcBef>
              <a:spcAft>
                <a:spcPts val="0"/>
              </a:spcAft>
              <a:buClr>
                <a:srgbClr val="000000"/>
              </a:buClr>
              <a:buSzPts val="1500"/>
              <a:buFont typeface="Arial"/>
              <a:buNone/>
            </a:pPr>
            <a:endParaRPr sz="1020" u="sng">
              <a:solidFill>
                <a:srgbClr val="3F3F3F"/>
              </a:solidFill>
              <a:latin typeface="Arial"/>
              <a:ea typeface="Arial"/>
              <a:cs typeface="Arial"/>
              <a:sym typeface="Arial"/>
            </a:endParaRPr>
          </a:p>
          <a:p>
            <a:pPr marL="0" marR="0" lvl="0" indent="0" algn="l" rtl="0">
              <a:lnSpc>
                <a:spcPct val="73000"/>
              </a:lnSpc>
              <a:spcBef>
                <a:spcPts val="900"/>
              </a:spcBef>
              <a:spcAft>
                <a:spcPts val="0"/>
              </a:spcAft>
              <a:buClr>
                <a:srgbClr val="000000"/>
              </a:buClr>
              <a:buSzPts val="1500"/>
              <a:buFont typeface="Arial"/>
              <a:buNone/>
            </a:pPr>
            <a:r>
              <a:rPr lang="en-US" sz="1020" u="sng">
                <a:solidFill>
                  <a:srgbClr val="3F3F3F"/>
                </a:solidFill>
                <a:latin typeface="Arial"/>
                <a:ea typeface="Arial"/>
                <a:cs typeface="Arial"/>
                <a:sym typeface="Arial"/>
              </a:rPr>
              <a:t>VCF Experience Day:</a:t>
            </a:r>
            <a:endParaRPr/>
          </a:p>
          <a:p>
            <a:pPr marL="0" marR="0" lvl="0" indent="0" algn="l" rtl="0">
              <a:lnSpc>
                <a:spcPct val="73000"/>
              </a:lnSpc>
              <a:spcBef>
                <a:spcPts val="900"/>
              </a:spcBef>
              <a:spcAft>
                <a:spcPts val="0"/>
              </a:spcAft>
              <a:buClr>
                <a:srgbClr val="000000"/>
              </a:buClr>
              <a:buSzPts val="1500"/>
              <a:buFont typeface="Arial"/>
              <a:buNone/>
            </a:pPr>
            <a:r>
              <a:rPr lang="en-US" sz="1020">
                <a:solidFill>
                  <a:srgbClr val="3F3F3F"/>
                </a:solidFill>
                <a:latin typeface="Arial"/>
                <a:ea typeface="Arial"/>
                <a:cs typeface="Arial"/>
                <a:sym typeface="Arial"/>
              </a:rPr>
              <a:t>We offer VCF Experience Days for a more immersive experience focused on VMware Cloud Foundation. These events are more intensive, typically involving 8 to 10 hours of combined lecture and hands-on exercises. A key benefit is the guidance of a local VCF Subject Matter Expert, who can provide valuable insights and answer your specific questions. These events are scheduled, and lab capacity is booked to ensure a high-quality experience.</a:t>
            </a:r>
            <a:endParaRPr/>
          </a:p>
          <a:p>
            <a:pPr marL="0" marR="0" lvl="0" indent="0" algn="l" rtl="0">
              <a:lnSpc>
                <a:spcPct val="73000"/>
              </a:lnSpc>
              <a:spcBef>
                <a:spcPts val="900"/>
              </a:spcBef>
              <a:spcAft>
                <a:spcPts val="0"/>
              </a:spcAft>
              <a:buClr>
                <a:srgbClr val="000000"/>
              </a:buClr>
              <a:buSzPts val="1500"/>
              <a:buFont typeface="Arial"/>
              <a:buNone/>
            </a:pPr>
            <a:endParaRPr sz="1020">
              <a:solidFill>
                <a:srgbClr val="3F3F3F"/>
              </a:solidFill>
              <a:latin typeface="Arial"/>
              <a:ea typeface="Arial"/>
              <a:cs typeface="Arial"/>
              <a:sym typeface="Arial"/>
            </a:endParaRPr>
          </a:p>
          <a:p>
            <a:pPr marL="0" marR="0" lvl="0" indent="0" algn="l" rtl="0">
              <a:lnSpc>
                <a:spcPct val="73000"/>
              </a:lnSpc>
              <a:spcBef>
                <a:spcPts val="900"/>
              </a:spcBef>
              <a:spcAft>
                <a:spcPts val="0"/>
              </a:spcAft>
              <a:buClr>
                <a:srgbClr val="000000"/>
              </a:buClr>
              <a:buSzPts val="1500"/>
              <a:buFont typeface="Arial"/>
              <a:buNone/>
            </a:pPr>
            <a:r>
              <a:rPr lang="en-US" sz="1020" u="sng">
                <a:solidFill>
                  <a:srgbClr val="3F3F3F"/>
                </a:solidFill>
                <a:latin typeface="Arial"/>
                <a:ea typeface="Arial"/>
                <a:cs typeface="Arial"/>
                <a:sym typeface="Arial"/>
              </a:rPr>
              <a:t>Holodeck Toolkit:</a:t>
            </a:r>
            <a:endParaRPr/>
          </a:p>
          <a:p>
            <a:pPr marL="0" marR="0" lvl="0" indent="0" algn="l" rtl="0">
              <a:lnSpc>
                <a:spcPct val="73000"/>
              </a:lnSpc>
              <a:spcBef>
                <a:spcPts val="900"/>
              </a:spcBef>
              <a:spcAft>
                <a:spcPts val="0"/>
              </a:spcAft>
              <a:buClr>
                <a:srgbClr val="000000"/>
              </a:buClr>
              <a:buSzPts val="1500"/>
              <a:buFont typeface="Arial"/>
              <a:buNone/>
            </a:pPr>
            <a:r>
              <a:rPr lang="en-US" sz="1020">
                <a:solidFill>
                  <a:srgbClr val="3F3F3F"/>
                </a:solidFill>
                <a:latin typeface="Arial"/>
                <a:ea typeface="Arial"/>
                <a:cs typeface="Arial"/>
                <a:sym typeface="Arial"/>
              </a:rPr>
              <a:t>We offer the VMware Holodeck Toolkit for those needing a persistent, long-term environment. This toolkit allows you to deploy a nested sandbox on a physical vSphere host, even within your data center. The Holodeck is designed to augment or even replace the need for traditional POCs, providing a more cost-effective and flexible solution. It's available in standalone and scalable partner designs, and importantly, it supports hands-on access for multiple teams within a data center, facilitating collaborative learning and evaluation.</a:t>
            </a:r>
            <a:br>
              <a:rPr lang="en-US" sz="1020">
                <a:solidFill>
                  <a:srgbClr val="3F3F3F"/>
                </a:solidFill>
                <a:latin typeface="Arial"/>
                <a:ea typeface="Arial"/>
                <a:cs typeface="Arial"/>
                <a:sym typeface="Arial"/>
              </a:rPr>
            </a:br>
            <a:br>
              <a:rPr lang="en-US" sz="1020">
                <a:solidFill>
                  <a:srgbClr val="3F3F3F"/>
                </a:solidFill>
                <a:latin typeface="Arial"/>
                <a:ea typeface="Arial"/>
                <a:cs typeface="Arial"/>
                <a:sym typeface="Arial"/>
              </a:rPr>
            </a:br>
            <a:r>
              <a:rPr lang="en-US" sz="1020" b="1">
                <a:solidFill>
                  <a:srgbClr val="3F3F3F"/>
                </a:solidFill>
                <a:latin typeface="Arial"/>
                <a:ea typeface="Arial"/>
                <a:cs typeface="Arial"/>
                <a:sym typeface="Arial"/>
              </a:rPr>
              <a:t>Notes:</a:t>
            </a:r>
            <a:br>
              <a:rPr lang="en-US" sz="1020" b="1">
                <a:solidFill>
                  <a:srgbClr val="3F3F3F"/>
                </a:solidFill>
                <a:latin typeface="Arial"/>
                <a:ea typeface="Arial"/>
                <a:cs typeface="Arial"/>
                <a:sym typeface="Arial"/>
              </a:rPr>
            </a:br>
            <a:br>
              <a:rPr lang="en-US" sz="1020" b="1">
                <a:solidFill>
                  <a:srgbClr val="3F3F3F"/>
                </a:solidFill>
                <a:latin typeface="Arial"/>
                <a:ea typeface="Arial"/>
                <a:cs typeface="Arial"/>
                <a:sym typeface="Arial"/>
              </a:rPr>
            </a:br>
            <a:r>
              <a:rPr lang="en-US" sz="1020" b="1">
                <a:solidFill>
                  <a:srgbClr val="3F3F3F"/>
                </a:solidFill>
                <a:latin typeface="Arial"/>
                <a:ea typeface="Arial"/>
                <a:cs typeface="Arial"/>
                <a:sym typeface="Arial"/>
              </a:rPr>
              <a:t>Resources:</a:t>
            </a:r>
            <a:endParaRPr/>
          </a:p>
        </p:txBody>
      </p:sp>
      <p:sp>
        <p:nvSpPr>
          <p:cNvPr id="9832" name="Google Shape;9832;p9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4"/>
        <p:cNvGrpSpPr/>
        <p:nvPr/>
      </p:nvGrpSpPr>
      <p:grpSpPr>
        <a:xfrm>
          <a:off x="0" y="0"/>
          <a:ext cx="0" cy="0"/>
          <a:chOff x="0" y="0"/>
          <a:chExt cx="0" cy="0"/>
        </a:xfrm>
      </p:grpSpPr>
      <p:sp>
        <p:nvSpPr>
          <p:cNvPr id="9855" name="Google Shape;9855;p9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6" name="Google Shape;9856;p9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sz="1200" b="1" i="0" u="none" strike="noStrike">
                <a:solidFill>
                  <a:schemeClr val="dk1"/>
                </a:solidFill>
                <a:latin typeface="Arial"/>
                <a:ea typeface="Arial"/>
                <a:cs typeface="Arial"/>
                <a:sym typeface="Arial"/>
              </a:rPr>
              <a:t>Key Message:</a:t>
            </a:r>
            <a:endParaRPr/>
          </a:p>
          <a:p>
            <a:pPr marL="0" marR="0" lvl="0" indent="0" algn="l" rtl="0">
              <a:lnSpc>
                <a:spcPct val="100000"/>
              </a:lnSpc>
              <a:spcBef>
                <a:spcPts val="0"/>
              </a:spcBef>
              <a:spcAft>
                <a:spcPts val="0"/>
              </a:spcAft>
              <a:buClr>
                <a:schemeClr val="dk1"/>
              </a:buClr>
              <a:buSzPts val="1200"/>
              <a:buFont typeface="Arial"/>
              <a:buNone/>
            </a:pPr>
            <a:r>
              <a:rPr lang="en-US" sz="1200" b="0" i="0" u="none" strike="noStrike">
                <a:solidFill>
                  <a:schemeClr val="dk1"/>
                </a:solidFill>
                <a:latin typeface="Arial"/>
                <a:ea typeface="Arial"/>
                <a:cs typeface="Arial"/>
                <a:sym typeface="Arial"/>
              </a:rPr>
              <a:t>Valuable VMware Cloud Foundation Resources.</a:t>
            </a:r>
            <a:endParaRPr/>
          </a:p>
          <a:p>
            <a:pPr marL="0" lvl="0" indent="0" algn="l" rtl="0">
              <a:spcBef>
                <a:spcPts val="0"/>
              </a:spcBef>
              <a:spcAft>
                <a:spcPts val="0"/>
              </a:spcAft>
              <a:buNone/>
            </a:pPr>
            <a:endParaRPr sz="1200" b="0" i="0" u="none" strike="noStrike">
              <a:solidFill>
                <a:schemeClr val="dk1"/>
              </a:solidFill>
              <a:latin typeface="Arial"/>
              <a:ea typeface="Arial"/>
              <a:cs typeface="Arial"/>
              <a:sym typeface="Arial"/>
            </a:endParaRPr>
          </a:p>
          <a:p>
            <a:pPr marL="0" lvl="0" indent="0" algn="l" rtl="0">
              <a:spcBef>
                <a:spcPts val="0"/>
              </a:spcBef>
              <a:spcAft>
                <a:spcPts val="0"/>
              </a:spcAft>
              <a:buNone/>
            </a:pPr>
            <a:r>
              <a:rPr lang="en-US" sz="1200" b="1" i="0" u="none" strike="noStrike">
                <a:solidFill>
                  <a:schemeClr val="dk1"/>
                </a:solidFill>
                <a:latin typeface="Arial"/>
                <a:ea typeface="Arial"/>
                <a:cs typeface="Arial"/>
                <a:sym typeface="Arial"/>
              </a:rPr>
              <a:t>Talk Track:</a:t>
            </a:r>
            <a:endParaRPr sz="1200" b="0" i="0" u="none"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0" i="0" u="none" strike="noStrike">
                <a:solidFill>
                  <a:schemeClr val="dk1"/>
                </a:solidFill>
                <a:latin typeface="Arial"/>
                <a:ea typeface="Arial"/>
                <a:cs typeface="Arial"/>
                <a:sym typeface="Arial"/>
              </a:rPr>
              <a:t>Here is a list of useful additional VMware Cloud Foundation resources.</a:t>
            </a:r>
            <a:br>
              <a:rPr lang="en-US" sz="1200" b="0" i="0" u="none" strike="noStrike">
                <a:solidFill>
                  <a:schemeClr val="dk1"/>
                </a:solidFill>
                <a:latin typeface="Arial"/>
                <a:ea typeface="Arial"/>
                <a:cs typeface="Arial"/>
                <a:sym typeface="Arial"/>
              </a:rPr>
            </a:br>
            <a:br>
              <a:rPr lang="en-US" sz="1200" b="0" i="0" u="none" strike="noStrike">
                <a:solidFill>
                  <a:schemeClr val="dk1"/>
                </a:solidFill>
                <a:latin typeface="Arial"/>
                <a:ea typeface="Arial"/>
                <a:cs typeface="Arial"/>
                <a:sym typeface="Arial"/>
              </a:rPr>
            </a:br>
            <a:r>
              <a:rPr lang="en-US" sz="1200" b="1">
                <a:solidFill>
                  <a:srgbClr val="3F3F3F"/>
                </a:solidFill>
                <a:latin typeface="Arial"/>
                <a:ea typeface="Arial"/>
                <a:cs typeface="Arial"/>
                <a:sym typeface="Arial"/>
              </a:rPr>
              <a:t>Notes:</a:t>
            </a:r>
            <a:br>
              <a:rPr lang="en-US" sz="1200" b="1">
                <a:solidFill>
                  <a:srgbClr val="3F3F3F"/>
                </a:solidFill>
                <a:latin typeface="Arial"/>
                <a:ea typeface="Arial"/>
                <a:cs typeface="Arial"/>
                <a:sym typeface="Arial"/>
              </a:rPr>
            </a:br>
            <a:br>
              <a:rPr lang="en-US" sz="1200" b="1">
                <a:solidFill>
                  <a:srgbClr val="3F3F3F"/>
                </a:solidFill>
                <a:latin typeface="Arial"/>
                <a:ea typeface="Arial"/>
                <a:cs typeface="Arial"/>
                <a:sym typeface="Arial"/>
              </a:rPr>
            </a:br>
            <a:r>
              <a:rPr lang="en-US" sz="1200" b="1">
                <a:solidFill>
                  <a:srgbClr val="3F3F3F"/>
                </a:solidFill>
                <a:latin typeface="Arial"/>
                <a:ea typeface="Arial"/>
                <a:cs typeface="Arial"/>
                <a:sym typeface="Arial"/>
              </a:rPr>
              <a:t>Resources:</a:t>
            </a:r>
            <a:endParaRPr sz="1200" b="1" i="0" u="none" strike="noStrike">
              <a:solidFill>
                <a:schemeClr val="dk1"/>
              </a:solidFill>
              <a:latin typeface="Arial"/>
              <a:ea typeface="Arial"/>
              <a:cs typeface="Arial"/>
              <a:sym typeface="Arial"/>
            </a:endParaRPr>
          </a:p>
        </p:txBody>
      </p:sp>
      <p:sp>
        <p:nvSpPr>
          <p:cNvPr id="9857" name="Google Shape;9857;p9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50</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3"/>
        <p:cNvGrpSpPr/>
        <p:nvPr/>
      </p:nvGrpSpPr>
      <p:grpSpPr>
        <a:xfrm>
          <a:off x="0" y="0"/>
          <a:ext cx="0" cy="0"/>
          <a:chOff x="0" y="0"/>
          <a:chExt cx="0" cy="0"/>
        </a:xfrm>
      </p:grpSpPr>
      <p:sp>
        <p:nvSpPr>
          <p:cNvPr id="9864" name="Google Shape;9864;p9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5" name="Google Shape;9865;p9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chemeClr val="dk1"/>
              </a:buClr>
              <a:buSzPts val="1020"/>
              <a:buFont typeface="Arial"/>
              <a:buNone/>
            </a:pPr>
            <a:r>
              <a:rPr lang="en-US" sz="1020" b="1"/>
              <a:t>Key Message:</a:t>
            </a:r>
            <a:endParaRPr/>
          </a:p>
          <a:p>
            <a:pPr marL="0" marR="0" lvl="0" indent="0" algn="l" rtl="0">
              <a:lnSpc>
                <a:spcPct val="90000"/>
              </a:lnSpc>
              <a:spcBef>
                <a:spcPts val="0"/>
              </a:spcBef>
              <a:spcAft>
                <a:spcPts val="0"/>
              </a:spcAft>
              <a:buClr>
                <a:schemeClr val="dk1"/>
              </a:buClr>
              <a:buSzPts val="1020"/>
              <a:buFont typeface="Arial"/>
              <a:buNone/>
            </a:pPr>
            <a:endParaRPr sz="1020" b="1"/>
          </a:p>
          <a:p>
            <a:pPr marL="0" marR="0" lvl="0" indent="0" algn="l" rtl="0">
              <a:lnSpc>
                <a:spcPct val="90000"/>
              </a:lnSpc>
              <a:spcBef>
                <a:spcPts val="0"/>
              </a:spcBef>
              <a:spcAft>
                <a:spcPts val="0"/>
              </a:spcAft>
              <a:buClr>
                <a:schemeClr val="dk1"/>
              </a:buClr>
              <a:buSzPts val="1020"/>
              <a:buFont typeface="Arial"/>
              <a:buNone/>
            </a:pPr>
            <a:r>
              <a:rPr lang="en-US" sz="1020"/>
              <a:t>A learning path to help you gain expertise in VMware Cloud Foundation, progressing from foundational knowledge to advanced hands-on experience.</a:t>
            </a:r>
            <a:endParaRPr/>
          </a:p>
          <a:p>
            <a:pPr marL="0" marR="0" lvl="0" indent="0" algn="l" rtl="0">
              <a:lnSpc>
                <a:spcPct val="90000"/>
              </a:lnSpc>
              <a:spcBef>
                <a:spcPts val="0"/>
              </a:spcBef>
              <a:spcAft>
                <a:spcPts val="0"/>
              </a:spcAft>
              <a:buClr>
                <a:schemeClr val="dk1"/>
              </a:buClr>
              <a:buSzPts val="1020"/>
              <a:buFont typeface="Arial"/>
              <a:buNone/>
            </a:pPr>
            <a:endParaRPr sz="1020" b="1"/>
          </a:p>
          <a:p>
            <a:pPr marL="0" marR="0" lvl="0" indent="0" algn="l" rtl="0">
              <a:lnSpc>
                <a:spcPct val="90000"/>
              </a:lnSpc>
              <a:spcBef>
                <a:spcPts val="0"/>
              </a:spcBef>
              <a:spcAft>
                <a:spcPts val="0"/>
              </a:spcAft>
              <a:buClr>
                <a:schemeClr val="dk1"/>
              </a:buClr>
              <a:buSzPts val="1020"/>
              <a:buFont typeface="Arial"/>
              <a:buNone/>
            </a:pPr>
            <a:r>
              <a:rPr lang="en-US" sz="1020" b="1"/>
              <a:t>Talk Track:</a:t>
            </a:r>
            <a:endParaRPr/>
          </a:p>
          <a:p>
            <a:pPr marL="0" marR="0" lvl="0" indent="0" algn="l" rtl="0">
              <a:lnSpc>
                <a:spcPct val="90000"/>
              </a:lnSpc>
              <a:spcBef>
                <a:spcPts val="0"/>
              </a:spcBef>
              <a:spcAft>
                <a:spcPts val="0"/>
              </a:spcAft>
              <a:buClr>
                <a:schemeClr val="dk1"/>
              </a:buClr>
              <a:buSzPts val="1020"/>
              <a:buFont typeface="Arial"/>
              <a:buNone/>
            </a:pPr>
            <a:br>
              <a:rPr lang="en-US" sz="1020"/>
            </a:br>
            <a:r>
              <a:rPr lang="en-US" sz="1020"/>
              <a:t>Level 100 Basic Information:</a:t>
            </a:r>
            <a:endParaRPr/>
          </a:p>
          <a:p>
            <a:pPr marL="0" marR="0" lvl="0" indent="0" algn="l" rtl="0">
              <a:lnSpc>
                <a:spcPct val="90000"/>
              </a:lnSpc>
              <a:spcBef>
                <a:spcPts val="0"/>
              </a:spcBef>
              <a:spcAft>
                <a:spcPts val="0"/>
              </a:spcAft>
              <a:buClr>
                <a:schemeClr val="dk1"/>
              </a:buClr>
              <a:buSzPts val="1020"/>
              <a:buFont typeface="Arial"/>
              <a:buNone/>
            </a:pPr>
            <a:r>
              <a:rPr lang="en-US" sz="1020"/>
              <a:t>We focus on building a solid understanding of VCF. Start with our documentation and introductory videos to familiarize yourself with the core concepts. The VCF Datasheet provides a concise overview of VCF and its key use cases, offering a clear picture of its capabilities. To understand the economic benefits, the TCO White Paper outlines how VCF can lead to significant cost savings compared to traditional infrastructure. Finally, Forrester's Total Economic Impact Study presents a real-world perspective, demonstrating the tangible business value and ROI that VCF delivers to organizations.</a:t>
            </a:r>
            <a:endParaRPr/>
          </a:p>
          <a:p>
            <a:pPr marL="0" marR="0" lvl="0" indent="0" algn="l" rtl="0">
              <a:lnSpc>
                <a:spcPct val="90000"/>
              </a:lnSpc>
              <a:spcBef>
                <a:spcPts val="0"/>
              </a:spcBef>
              <a:spcAft>
                <a:spcPts val="0"/>
              </a:spcAft>
              <a:buClr>
                <a:schemeClr val="dk1"/>
              </a:buClr>
              <a:buSzPts val="1020"/>
              <a:buFont typeface="Arial"/>
              <a:buNone/>
            </a:pPr>
            <a:endParaRPr sz="1020"/>
          </a:p>
          <a:p>
            <a:pPr marL="0" marR="0" lvl="0" indent="0" algn="l" rtl="0">
              <a:lnSpc>
                <a:spcPct val="90000"/>
              </a:lnSpc>
              <a:spcBef>
                <a:spcPts val="0"/>
              </a:spcBef>
              <a:spcAft>
                <a:spcPts val="0"/>
              </a:spcAft>
              <a:buClr>
                <a:schemeClr val="dk1"/>
              </a:buClr>
              <a:buSzPts val="1020"/>
              <a:buFont typeface="Arial"/>
              <a:buNone/>
            </a:pPr>
            <a:r>
              <a:rPr lang="en-US" sz="1020"/>
              <a:t>Level 200 Intermediate Skills:</a:t>
            </a:r>
            <a:endParaRPr/>
          </a:p>
          <a:p>
            <a:pPr marL="0" marR="0" lvl="0" indent="0" algn="l" rtl="0">
              <a:lnSpc>
                <a:spcPct val="90000"/>
              </a:lnSpc>
              <a:spcBef>
                <a:spcPts val="0"/>
              </a:spcBef>
              <a:spcAft>
                <a:spcPts val="0"/>
              </a:spcAft>
              <a:buClr>
                <a:schemeClr val="dk1"/>
              </a:buClr>
              <a:buSzPts val="1020"/>
              <a:buFont typeface="Arial"/>
              <a:buNone/>
            </a:pPr>
            <a:r>
              <a:rPr lang="en-US" sz="1020"/>
              <a:t>We are transitioning to more interactive and practical learning. VMware Hands-on Labs (HOLs) are crucial in this regard. These self-paced, online environments provide guided exercises that enable you to directly experience VCF features and functionalities. The VMware Resource Center is your go-to source for in-depth technical content, including papers, demos, and best practices. The Cloud Foundation YouTube Channel offers demos, how-to guides, and other video resources for visual learners. Stay updated with the latest developments and insights by joining our Cloud Foundation Webinars and accessing valuable information through our Frequently Asked Questions.</a:t>
            </a:r>
            <a:endParaRPr/>
          </a:p>
          <a:p>
            <a:pPr marL="0" marR="0" lvl="0" indent="0" algn="l" rtl="0">
              <a:lnSpc>
                <a:spcPct val="90000"/>
              </a:lnSpc>
              <a:spcBef>
                <a:spcPts val="0"/>
              </a:spcBef>
              <a:spcAft>
                <a:spcPts val="0"/>
              </a:spcAft>
              <a:buClr>
                <a:schemeClr val="dk1"/>
              </a:buClr>
              <a:buSzPts val="1020"/>
              <a:buFont typeface="Arial"/>
              <a:buNone/>
            </a:pPr>
            <a:endParaRPr sz="1020"/>
          </a:p>
          <a:p>
            <a:pPr marL="0" marR="0" lvl="0" indent="0" algn="l" rtl="0">
              <a:lnSpc>
                <a:spcPct val="90000"/>
              </a:lnSpc>
              <a:spcBef>
                <a:spcPts val="0"/>
              </a:spcBef>
              <a:spcAft>
                <a:spcPts val="0"/>
              </a:spcAft>
              <a:buClr>
                <a:schemeClr val="dk1"/>
              </a:buClr>
              <a:buSzPts val="1020"/>
              <a:buFont typeface="Arial"/>
              <a:buNone/>
            </a:pPr>
            <a:r>
              <a:rPr lang="en-US" sz="1020"/>
              <a:t>Level 300 Advanced Expertise:</a:t>
            </a:r>
            <a:endParaRPr/>
          </a:p>
          <a:p>
            <a:pPr marL="0" marR="0" lvl="0" indent="0" algn="l" rtl="0">
              <a:lnSpc>
                <a:spcPct val="90000"/>
              </a:lnSpc>
              <a:spcBef>
                <a:spcPts val="0"/>
              </a:spcBef>
              <a:spcAft>
                <a:spcPts val="0"/>
              </a:spcAft>
              <a:buClr>
                <a:schemeClr val="dk1"/>
              </a:buClr>
              <a:buSzPts val="1020"/>
              <a:buFont typeface="Arial"/>
              <a:buNone/>
            </a:pPr>
            <a:r>
              <a:rPr lang="en-US" sz="1020"/>
              <a:t>You'll engage in our most immersive and hands-on programs. VCF Experience Day provides exclusive, expert-led workshops that offer a deep dive into VCF. These invite-only events give you a comprehensive understanding of VCF through intensive hands-on exercises and direct interaction with experts. For a dedicated, in-environment experience, the VCF Holodeck allows you to deploy a nested VCF environment on a single vSphere host. This automated deployment and self-paced lab modules provide extensive hands-on practice.</a:t>
            </a:r>
            <a:br>
              <a:rPr lang="en-US" sz="1020"/>
            </a:br>
            <a:br>
              <a:rPr lang="en-US" sz="1020"/>
            </a:br>
            <a:r>
              <a:rPr lang="en-US" sz="1020" b="1">
                <a:solidFill>
                  <a:srgbClr val="3F3F3F"/>
                </a:solidFill>
                <a:latin typeface="Arial"/>
                <a:ea typeface="Arial"/>
                <a:cs typeface="Arial"/>
                <a:sym typeface="Arial"/>
              </a:rPr>
              <a:t>Notes:</a:t>
            </a:r>
            <a:br>
              <a:rPr lang="en-US" sz="1020" b="1">
                <a:solidFill>
                  <a:srgbClr val="3F3F3F"/>
                </a:solidFill>
                <a:latin typeface="Arial"/>
                <a:ea typeface="Arial"/>
                <a:cs typeface="Arial"/>
                <a:sym typeface="Arial"/>
              </a:rPr>
            </a:br>
            <a:br>
              <a:rPr lang="en-US" sz="1020" b="1">
                <a:solidFill>
                  <a:srgbClr val="3F3F3F"/>
                </a:solidFill>
                <a:latin typeface="Arial"/>
                <a:ea typeface="Arial"/>
                <a:cs typeface="Arial"/>
                <a:sym typeface="Arial"/>
              </a:rPr>
            </a:br>
            <a:r>
              <a:rPr lang="en-US" sz="1020" b="1">
                <a:solidFill>
                  <a:srgbClr val="3F3F3F"/>
                </a:solidFill>
                <a:latin typeface="Arial"/>
                <a:ea typeface="Arial"/>
                <a:cs typeface="Arial"/>
                <a:sym typeface="Arial"/>
              </a:rPr>
              <a:t>Resources:</a:t>
            </a:r>
            <a:endParaRPr sz="1020"/>
          </a:p>
        </p:txBody>
      </p:sp>
      <p:sp>
        <p:nvSpPr>
          <p:cNvPr id="9866" name="Google Shape;9866;p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51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9"/>
        <p:cNvGrpSpPr/>
        <p:nvPr/>
      </p:nvGrpSpPr>
      <p:grpSpPr>
        <a:xfrm>
          <a:off x="0" y="0"/>
          <a:ext cx="0" cy="0"/>
          <a:chOff x="0" y="0"/>
          <a:chExt cx="0" cy="0"/>
        </a:xfrm>
      </p:grpSpPr>
      <p:sp>
        <p:nvSpPr>
          <p:cNvPr id="9890" name="Google Shape;9890;p10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1" name="Google Shape;9891;p10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endParaRPr/>
          </a:p>
        </p:txBody>
      </p:sp>
      <p:sp>
        <p:nvSpPr>
          <p:cNvPr id="9892" name="Google Shape;9892;p10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4"/>
        <p:cNvGrpSpPr/>
        <p:nvPr/>
      </p:nvGrpSpPr>
      <p:grpSpPr>
        <a:xfrm>
          <a:off x="0" y="0"/>
          <a:ext cx="0" cy="0"/>
          <a:chOff x="0" y="0"/>
          <a:chExt cx="0" cy="0"/>
        </a:xfrm>
      </p:grpSpPr>
      <p:sp>
        <p:nvSpPr>
          <p:cNvPr id="35" name="Google Shape;35;p10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0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37" name="Google Shape;37;p10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 Plum">
  <p:cSld name="1_Title Slide – Plum">
    <p:spTree>
      <p:nvGrpSpPr>
        <p:cNvPr id="1" name="Shape 38"/>
        <p:cNvGrpSpPr/>
        <p:nvPr/>
      </p:nvGrpSpPr>
      <p:grpSpPr>
        <a:xfrm>
          <a:off x="0" y="0"/>
          <a:ext cx="0" cy="0"/>
          <a:chOff x="0" y="0"/>
          <a:chExt cx="0" cy="0"/>
        </a:xfrm>
      </p:grpSpPr>
      <p:pic>
        <p:nvPicPr>
          <p:cNvPr id="39" name="Google Shape;39;p103"/>
          <p:cNvPicPr preferRelativeResize="0"/>
          <p:nvPr/>
        </p:nvPicPr>
        <p:blipFill rotWithShape="1">
          <a:blip r:embed="rId2">
            <a:alphaModFix/>
          </a:blip>
          <a:srcRect l="1042" r="1971" b="1787"/>
          <a:stretch/>
        </p:blipFill>
        <p:spPr>
          <a:xfrm>
            <a:off x="0" y="658109"/>
            <a:ext cx="12188825" cy="6205839"/>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4509"/>
              </a:schemeClr>
            </a:outerShdw>
          </a:effectLst>
        </p:spPr>
      </p:pic>
      <p:sp>
        <p:nvSpPr>
          <p:cNvPr id="40" name="Google Shape;40;p103"/>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5"/>
              </a:gs>
              <a:gs pos="16000">
                <a:schemeClr val="accent5"/>
              </a:gs>
              <a:gs pos="45000">
                <a:srgbClr val="4764A1"/>
              </a:gs>
              <a:gs pos="90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1" name="Google Shape;41;p103"/>
          <p:cNvSpPr txBox="1">
            <a:spLocks noGrp="1"/>
          </p:cNvSpPr>
          <p:nvPr>
            <p:ph type="body" idx="1"/>
          </p:nvPr>
        </p:nvSpPr>
        <p:spPr>
          <a:xfrm>
            <a:off x="6592948" y="4737425"/>
            <a:ext cx="5402202" cy="355601"/>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2" name="Google Shape;42;p103"/>
          <p:cNvSpPr txBox="1">
            <a:spLocks noGrp="1"/>
          </p:cNvSpPr>
          <p:nvPr>
            <p:ph type="body" idx="2"/>
          </p:nvPr>
        </p:nvSpPr>
        <p:spPr>
          <a:xfrm>
            <a:off x="6592948" y="5117480"/>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3" name="Google Shape;43;p103"/>
          <p:cNvSpPr txBox="1">
            <a:spLocks noGrp="1"/>
          </p:cNvSpPr>
          <p:nvPr>
            <p:ph type="body" idx="3"/>
          </p:nvPr>
        </p:nvSpPr>
        <p:spPr>
          <a:xfrm>
            <a:off x="6592948" y="5485986"/>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grpSp>
        <p:nvGrpSpPr>
          <p:cNvPr id="44" name="Google Shape;44;p103"/>
          <p:cNvGrpSpPr/>
          <p:nvPr/>
        </p:nvGrpSpPr>
        <p:grpSpPr>
          <a:xfrm>
            <a:off x="265625" y="6323271"/>
            <a:ext cx="1249222" cy="369649"/>
            <a:chOff x="265625" y="6323271"/>
            <a:chExt cx="1249222" cy="369649"/>
          </a:xfrm>
        </p:grpSpPr>
        <p:grpSp>
          <p:nvGrpSpPr>
            <p:cNvPr id="45" name="Google Shape;45;p103"/>
            <p:cNvGrpSpPr/>
            <p:nvPr/>
          </p:nvGrpSpPr>
          <p:grpSpPr>
            <a:xfrm>
              <a:off x="745455" y="6594444"/>
              <a:ext cx="722663" cy="98476"/>
              <a:chOff x="745455" y="6594444"/>
              <a:chExt cx="722663" cy="98476"/>
            </a:xfrm>
          </p:grpSpPr>
          <p:sp>
            <p:nvSpPr>
              <p:cNvPr id="46" name="Google Shape;46;p103"/>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7" name="Google Shape;47;p103"/>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8" name="Google Shape;48;p103"/>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9" name="Google Shape;49;p103"/>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0" name="Google Shape;50;p103"/>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1" name="Google Shape;51;p103"/>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2" name="Google Shape;52;p103"/>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3" name="Google Shape;53;p103"/>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4" name="Google Shape;54;p103"/>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5" name="Google Shape;55;p103"/>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nvGrpSpPr>
            <p:cNvPr id="56" name="Google Shape;56;p103"/>
            <p:cNvGrpSpPr/>
            <p:nvPr/>
          </p:nvGrpSpPr>
          <p:grpSpPr>
            <a:xfrm>
              <a:off x="265625" y="6323271"/>
              <a:ext cx="1249222" cy="190348"/>
              <a:chOff x="265625" y="6323271"/>
              <a:chExt cx="1249222" cy="190348"/>
            </a:xfrm>
          </p:grpSpPr>
          <p:sp>
            <p:nvSpPr>
              <p:cNvPr id="57" name="Google Shape;57;p103"/>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8" name="Google Shape;58;p103"/>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9" name="Google Shape;59;p103"/>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0" name="Google Shape;60;p103"/>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1" name="Google Shape;61;p103"/>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2" name="Google Shape;62;p103"/>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3" name="Google Shape;63;p103"/>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sp>
        <p:nvSpPr>
          <p:cNvPr id="64" name="Google Shape;64;p103"/>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03"/>
          <p:cNvSpPr txBox="1">
            <a:spLocks noGrp="1"/>
          </p:cNvSpPr>
          <p:nvPr>
            <p:ph type="subTitle" idx="4"/>
          </p:nvPr>
        </p:nvSpPr>
        <p:spPr>
          <a:xfrm>
            <a:off x="6592948" y="2986547"/>
            <a:ext cx="5116452" cy="41640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66" name="Google Shape;66;p103"/>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rgbClr val="6C4B91"/>
              </a:gs>
              <a:gs pos="100000">
                <a:srgbClr val="6C4B9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nvGrpSpPr>
          <p:cNvPr id="67" name="Google Shape;67;p103"/>
          <p:cNvGrpSpPr/>
          <p:nvPr/>
        </p:nvGrpSpPr>
        <p:grpSpPr>
          <a:xfrm>
            <a:off x="265625" y="6323271"/>
            <a:ext cx="1249222" cy="369649"/>
            <a:chOff x="265625" y="6323271"/>
            <a:chExt cx="1249222" cy="369649"/>
          </a:xfrm>
        </p:grpSpPr>
        <p:grpSp>
          <p:nvGrpSpPr>
            <p:cNvPr id="68" name="Google Shape;68;p103"/>
            <p:cNvGrpSpPr/>
            <p:nvPr/>
          </p:nvGrpSpPr>
          <p:grpSpPr>
            <a:xfrm>
              <a:off x="745455" y="6594444"/>
              <a:ext cx="722663" cy="98476"/>
              <a:chOff x="745455" y="6594444"/>
              <a:chExt cx="722663" cy="98476"/>
            </a:xfrm>
          </p:grpSpPr>
          <p:sp>
            <p:nvSpPr>
              <p:cNvPr id="69" name="Google Shape;69;p103"/>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0" name="Google Shape;70;p103"/>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1" name="Google Shape;71;p103"/>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2" name="Google Shape;72;p103"/>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3" name="Google Shape;73;p103"/>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4" name="Google Shape;74;p103"/>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5" name="Google Shape;75;p103"/>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6" name="Google Shape;76;p103"/>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7" name="Google Shape;77;p103"/>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8" name="Google Shape;78;p103"/>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nvGrpSpPr>
            <p:cNvPr id="79" name="Google Shape;79;p103"/>
            <p:cNvGrpSpPr/>
            <p:nvPr/>
          </p:nvGrpSpPr>
          <p:grpSpPr>
            <a:xfrm>
              <a:off x="265625" y="6323271"/>
              <a:ext cx="1249222" cy="190348"/>
              <a:chOff x="265625" y="6323271"/>
              <a:chExt cx="1249222" cy="190348"/>
            </a:xfrm>
          </p:grpSpPr>
          <p:sp>
            <p:nvSpPr>
              <p:cNvPr id="80" name="Google Shape;80;p103"/>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1" name="Google Shape;81;p103"/>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2" name="Google Shape;82;p103"/>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3" name="Google Shape;83;p103"/>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4" name="Google Shape;84;p103"/>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5" name="Google Shape;85;p103"/>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6" name="Google Shape;86;p103"/>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sp>
        <p:nvSpPr>
          <p:cNvPr id="87" name="Google Shape;87;p103"/>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rgbClr val="6C4B91"/>
              </a:gs>
              <a:gs pos="100000">
                <a:srgbClr val="6C4B9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8" name="Google Shape;88;p103"/>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Broadcom Proprietary and Confidential. Copyright © 2025 Broadcom.  </a:t>
            </a: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9"/>
        <p:cNvGrpSpPr/>
        <p:nvPr/>
      </p:nvGrpSpPr>
      <p:grpSpPr>
        <a:xfrm>
          <a:off x="0" y="0"/>
          <a:ext cx="0" cy="0"/>
          <a:chOff x="0" y="0"/>
          <a:chExt cx="0" cy="0"/>
        </a:xfrm>
      </p:grpSpPr>
      <p:sp>
        <p:nvSpPr>
          <p:cNvPr id="90" name="Google Shape;90;p10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1" name="Google Shape;91;p10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gram with Content on Right">
  <p:cSld name="Diagram with Content on Right">
    <p:spTree>
      <p:nvGrpSpPr>
        <p:cNvPr id="1" name="Shape 92"/>
        <p:cNvGrpSpPr/>
        <p:nvPr/>
      </p:nvGrpSpPr>
      <p:grpSpPr>
        <a:xfrm>
          <a:off x="0" y="0"/>
          <a:ext cx="0" cy="0"/>
          <a:chOff x="0" y="0"/>
          <a:chExt cx="0" cy="0"/>
        </a:xfrm>
      </p:grpSpPr>
      <p:sp>
        <p:nvSpPr>
          <p:cNvPr id="93" name="Google Shape;93;p10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05"/>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5" name="Google Shape;95;p105"/>
          <p:cNvSpPr/>
          <p:nvPr/>
        </p:nvSpPr>
        <p:spPr>
          <a:xfrm rot="10800000" flipH="1">
            <a:off x="8380072" y="1589923"/>
            <a:ext cx="3808754"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96" name="Google Shape;96;p105"/>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lvl1pPr marL="457200" lvl="0" indent="-320040" algn="l">
              <a:lnSpc>
                <a:spcPct val="100000"/>
              </a:lnSpc>
              <a:spcBef>
                <a:spcPts val="0"/>
              </a:spcBef>
              <a:spcAft>
                <a:spcPts val="0"/>
              </a:spcAft>
              <a:buSzPts val="1440"/>
              <a:buChar char="​"/>
              <a:defRPr sz="1600">
                <a:solidFill>
                  <a:schemeClr val="accent2"/>
                </a:solidFill>
              </a:defRPr>
            </a:lvl1pPr>
            <a:lvl2pPr marL="914400" lvl="1" indent="-308610" algn="l">
              <a:lnSpc>
                <a:spcPct val="100000"/>
              </a:lnSpc>
              <a:spcBef>
                <a:spcPts val="1200"/>
              </a:spcBef>
              <a:spcAft>
                <a:spcPts val="0"/>
              </a:spcAft>
              <a:buClr>
                <a:schemeClr val="accent2"/>
              </a:buClr>
              <a:buSzPts val="1260"/>
              <a:buChar char="•"/>
              <a:defRPr sz="1400">
                <a:solidFill>
                  <a:schemeClr val="accent2"/>
                </a:solidFill>
              </a:defRPr>
            </a:lvl2pPr>
            <a:lvl3pPr marL="1371600" lvl="2" indent="-297180" algn="l">
              <a:lnSpc>
                <a:spcPct val="100000"/>
              </a:lnSpc>
              <a:spcBef>
                <a:spcPts val="1200"/>
              </a:spcBef>
              <a:spcAft>
                <a:spcPts val="0"/>
              </a:spcAft>
              <a:buClr>
                <a:schemeClr val="accent2"/>
              </a:buClr>
              <a:buSzPts val="1080"/>
              <a:buChar char="–"/>
              <a:defRPr sz="1200">
                <a:solidFill>
                  <a:schemeClr val="accent2"/>
                </a:solidFill>
              </a:defRPr>
            </a:lvl3pPr>
            <a:lvl4pPr marL="1828800" lvl="3" indent="-291464" algn="l">
              <a:lnSpc>
                <a:spcPct val="100000"/>
              </a:lnSpc>
              <a:spcBef>
                <a:spcPts val="1200"/>
              </a:spcBef>
              <a:spcAft>
                <a:spcPts val="0"/>
              </a:spcAft>
              <a:buClr>
                <a:schemeClr val="accent2"/>
              </a:buClr>
              <a:buSzPts val="990"/>
              <a:buChar char="•"/>
              <a:defRPr sz="1100">
                <a:solidFill>
                  <a:schemeClr val="accent2"/>
                </a:solidFill>
              </a:defRPr>
            </a:lvl4pPr>
            <a:lvl5pPr marL="2286000" lvl="4" indent="-291464" algn="l">
              <a:lnSpc>
                <a:spcPct val="100000"/>
              </a:lnSpc>
              <a:spcBef>
                <a:spcPts val="1200"/>
              </a:spcBef>
              <a:spcAft>
                <a:spcPts val="0"/>
              </a:spcAft>
              <a:buClr>
                <a:schemeClr val="accent2"/>
              </a:buClr>
              <a:buSzPts val="990"/>
              <a:buChar char="–"/>
              <a:defRPr sz="1100">
                <a:solidFill>
                  <a:schemeClr val="accent2"/>
                </a:solidFill>
              </a:defRPr>
            </a:lvl5pPr>
            <a:lvl6pPr marL="2743200" lvl="5" indent="-291464" algn="l">
              <a:lnSpc>
                <a:spcPct val="100000"/>
              </a:lnSpc>
              <a:spcBef>
                <a:spcPts val="1200"/>
              </a:spcBef>
              <a:spcAft>
                <a:spcPts val="0"/>
              </a:spcAft>
              <a:buClr>
                <a:schemeClr val="accent2"/>
              </a:buClr>
              <a:buSzPts val="990"/>
              <a:buChar char="•"/>
              <a:defRPr sz="1100">
                <a:solidFill>
                  <a:schemeClr val="accent2"/>
                </a:solidFill>
              </a:defRPr>
            </a:lvl6pPr>
            <a:lvl7pPr marL="3200400" lvl="6" indent="-291464" algn="l">
              <a:lnSpc>
                <a:spcPct val="100000"/>
              </a:lnSpc>
              <a:spcBef>
                <a:spcPts val="1200"/>
              </a:spcBef>
              <a:spcAft>
                <a:spcPts val="0"/>
              </a:spcAft>
              <a:buClr>
                <a:schemeClr val="accent2"/>
              </a:buClr>
              <a:buSzPts val="990"/>
              <a:buChar char="-"/>
              <a:defRPr sz="1100">
                <a:solidFill>
                  <a:schemeClr val="accent2"/>
                </a:solidFill>
              </a:defRPr>
            </a:lvl7pPr>
            <a:lvl8pPr marL="3657600" lvl="7" indent="-291465" algn="l">
              <a:lnSpc>
                <a:spcPct val="100000"/>
              </a:lnSpc>
              <a:spcBef>
                <a:spcPts val="1200"/>
              </a:spcBef>
              <a:spcAft>
                <a:spcPts val="0"/>
              </a:spcAft>
              <a:buClr>
                <a:schemeClr val="accent2"/>
              </a:buClr>
              <a:buSzPts val="990"/>
              <a:buChar char="•"/>
              <a:defRPr sz="1100">
                <a:solidFill>
                  <a:schemeClr val="accent2"/>
                </a:solidFill>
              </a:defRPr>
            </a:lvl8pPr>
            <a:lvl9pPr marL="4114800" lvl="8" indent="-291465" algn="l">
              <a:lnSpc>
                <a:spcPct val="100000"/>
              </a:lnSpc>
              <a:spcBef>
                <a:spcPts val="1200"/>
              </a:spcBef>
              <a:spcAft>
                <a:spcPts val="1200"/>
              </a:spcAft>
              <a:buClr>
                <a:schemeClr val="accent2"/>
              </a:buClr>
              <a:buSzPts val="990"/>
              <a:buChar char="-"/>
              <a:defRPr sz="1100">
                <a:solidFill>
                  <a:schemeClr val="accent2"/>
                </a:solidFill>
              </a:defRPr>
            </a:lvl9pPr>
          </a:lstStyle>
          <a:p>
            <a:endParaRPr/>
          </a:p>
        </p:txBody>
      </p:sp>
      <p:sp>
        <p:nvSpPr>
          <p:cNvPr id="97" name="Google Shape;97;p10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8" name="Google Shape;98;p105"/>
          <p:cNvSpPr txBox="1">
            <a:spLocks noGrp="1"/>
          </p:cNvSpPr>
          <p:nvPr>
            <p:ph type="body" idx="3"/>
          </p:nvPr>
        </p:nvSpPr>
        <p:spPr>
          <a:xfrm>
            <a:off x="608012" y="1600201"/>
            <a:ext cx="7398303"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a:solidFill>
                  <a:schemeClr val="dk1"/>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a:p>
        </p:txBody>
      </p:sp>
      <p:sp>
        <p:nvSpPr>
          <p:cNvPr id="99" name="Google Shape;99;p105"/>
          <p:cNvSpPr/>
          <p:nvPr/>
        </p:nvSpPr>
        <p:spPr>
          <a:xfrm rot="10800000" flipH="1">
            <a:off x="8380072" y="1589923"/>
            <a:ext cx="3808754"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100" name="Google Shape;100;p10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1" name="Shape 101"/>
        <p:cNvGrpSpPr/>
        <p:nvPr/>
      </p:nvGrpSpPr>
      <p:grpSpPr>
        <a:xfrm>
          <a:off x="0" y="0"/>
          <a:ext cx="0" cy="0"/>
          <a:chOff x="0" y="0"/>
          <a:chExt cx="0" cy="0"/>
        </a:xfrm>
      </p:grpSpPr>
      <p:sp>
        <p:nvSpPr>
          <p:cNvPr id="102" name="Google Shape;102;p106"/>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106"/>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04" name="Google Shape;104;p10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05" name="Google Shape;105;p10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Content Balanced Color on Left">
  <p:cSld name="Two-Content Balanced Color on Left">
    <p:spTree>
      <p:nvGrpSpPr>
        <p:cNvPr id="1" name="Shape 106"/>
        <p:cNvGrpSpPr/>
        <p:nvPr/>
      </p:nvGrpSpPr>
      <p:grpSpPr>
        <a:xfrm>
          <a:off x="0" y="0"/>
          <a:ext cx="0" cy="0"/>
          <a:chOff x="0" y="0"/>
          <a:chExt cx="0" cy="0"/>
        </a:xfrm>
      </p:grpSpPr>
      <p:sp>
        <p:nvSpPr>
          <p:cNvPr id="107" name="Google Shape;107;p10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0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09" name="Google Shape;109;p10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10" name="Google Shape;110;p107"/>
          <p:cNvSpPr txBox="1">
            <a:spLocks noGrp="1"/>
          </p:cNvSpPr>
          <p:nvPr>
            <p:ph type="body" idx="2"/>
          </p:nvPr>
        </p:nvSpPr>
        <p:spPr>
          <a:xfrm>
            <a:off x="6323381" y="1600201"/>
            <a:ext cx="5865445" cy="4572000"/>
          </a:xfrm>
          <a:prstGeom prst="rect">
            <a:avLst/>
          </a:prstGeom>
          <a:noFill/>
          <a:ln>
            <a:noFill/>
          </a:ln>
        </p:spPr>
        <p:txBody>
          <a:bodyPr spcFirstLastPara="1" wrap="square" lIns="4572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111" name="Google Shape;111;p107"/>
          <p:cNvSpPr txBox="1">
            <a:spLocks noGrp="1"/>
          </p:cNvSpPr>
          <p:nvPr>
            <p:ph type="body" idx="3"/>
          </p:nvPr>
        </p:nvSpPr>
        <p:spPr>
          <a:xfrm>
            <a:off x="0" y="1600201"/>
            <a:ext cx="5893593" cy="4572000"/>
          </a:xfrm>
          <a:prstGeom prst="rect">
            <a:avLst/>
          </a:prstGeom>
          <a:solidFill>
            <a:srgbClr val="F4F8FA"/>
          </a:solidFill>
          <a:ln>
            <a:noFill/>
          </a:ln>
        </p:spPr>
        <p:txBody>
          <a:bodyPr spcFirstLastPara="1" wrap="square" lIns="59435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112" name="Google Shape;112;p10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 Plum">
  <p:cSld name="1_Section Header – Plum">
    <p:spTree>
      <p:nvGrpSpPr>
        <p:cNvPr id="1" name="Shape 113"/>
        <p:cNvGrpSpPr/>
        <p:nvPr/>
      </p:nvGrpSpPr>
      <p:grpSpPr>
        <a:xfrm>
          <a:off x="0" y="0"/>
          <a:ext cx="0" cy="0"/>
          <a:chOff x="0" y="0"/>
          <a:chExt cx="0" cy="0"/>
        </a:xfrm>
      </p:grpSpPr>
      <p:sp>
        <p:nvSpPr>
          <p:cNvPr id="114" name="Google Shape;114;p108"/>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108"/>
          <p:cNvSpPr txBox="1">
            <a:spLocks noGrp="1"/>
          </p:cNvSpPr>
          <p:nvPr>
            <p:ph type="subTitle" idx="1"/>
          </p:nvPr>
        </p:nvSpPr>
        <p:spPr>
          <a:xfrm>
            <a:off x="602966" y="2267712"/>
            <a:ext cx="654211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16" name="Google Shape;116;p10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17" name="Google Shape;117;p108"/>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5"/>
              </a:gs>
              <a:gs pos="21000">
                <a:schemeClr val="accent5"/>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18" name="Google Shape;118;p10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iagram with Content on Right">
  <p:cSld name="1_Diagram with Content on Right">
    <p:spTree>
      <p:nvGrpSpPr>
        <p:cNvPr id="1" name="Shape 119"/>
        <p:cNvGrpSpPr/>
        <p:nvPr/>
      </p:nvGrpSpPr>
      <p:grpSpPr>
        <a:xfrm>
          <a:off x="0" y="0"/>
          <a:ext cx="0" cy="0"/>
          <a:chOff x="0" y="0"/>
          <a:chExt cx="0" cy="0"/>
        </a:xfrm>
      </p:grpSpPr>
      <p:sp>
        <p:nvSpPr>
          <p:cNvPr id="120" name="Google Shape;120;p10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109"/>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22" name="Google Shape;122;p109"/>
          <p:cNvSpPr/>
          <p:nvPr/>
        </p:nvSpPr>
        <p:spPr>
          <a:xfrm rot="10800000" flipH="1">
            <a:off x="8380072" y="1589923"/>
            <a:ext cx="3808754"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0" marR="0" lvl="0" indent="0" algn="ctr" rtl="0">
              <a:spcBef>
                <a:spcPts val="60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sp>
        <p:nvSpPr>
          <p:cNvPr id="123" name="Google Shape;123;p109"/>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lvl1pPr marL="457200" lvl="0" indent="-320040" algn="l">
              <a:lnSpc>
                <a:spcPct val="100000"/>
              </a:lnSpc>
              <a:spcBef>
                <a:spcPts val="0"/>
              </a:spcBef>
              <a:spcAft>
                <a:spcPts val="0"/>
              </a:spcAft>
              <a:buSzPts val="1440"/>
              <a:buChar char="​"/>
              <a:defRPr sz="1600">
                <a:solidFill>
                  <a:schemeClr val="accent2"/>
                </a:solidFill>
              </a:defRPr>
            </a:lvl1pPr>
            <a:lvl2pPr marL="914400" lvl="1" indent="-308610" algn="l">
              <a:lnSpc>
                <a:spcPct val="100000"/>
              </a:lnSpc>
              <a:spcBef>
                <a:spcPts val="1200"/>
              </a:spcBef>
              <a:spcAft>
                <a:spcPts val="0"/>
              </a:spcAft>
              <a:buClr>
                <a:schemeClr val="accent2"/>
              </a:buClr>
              <a:buSzPts val="1260"/>
              <a:buChar char="•"/>
              <a:defRPr sz="1400">
                <a:solidFill>
                  <a:schemeClr val="accent2"/>
                </a:solidFill>
              </a:defRPr>
            </a:lvl2pPr>
            <a:lvl3pPr marL="1371600" lvl="2" indent="-297180" algn="l">
              <a:lnSpc>
                <a:spcPct val="100000"/>
              </a:lnSpc>
              <a:spcBef>
                <a:spcPts val="1200"/>
              </a:spcBef>
              <a:spcAft>
                <a:spcPts val="0"/>
              </a:spcAft>
              <a:buClr>
                <a:schemeClr val="accent2"/>
              </a:buClr>
              <a:buSzPts val="1080"/>
              <a:buChar char="–"/>
              <a:defRPr sz="1200">
                <a:solidFill>
                  <a:schemeClr val="accent2"/>
                </a:solidFill>
              </a:defRPr>
            </a:lvl3pPr>
            <a:lvl4pPr marL="1828800" lvl="3" indent="-291464" algn="l">
              <a:lnSpc>
                <a:spcPct val="100000"/>
              </a:lnSpc>
              <a:spcBef>
                <a:spcPts val="1200"/>
              </a:spcBef>
              <a:spcAft>
                <a:spcPts val="0"/>
              </a:spcAft>
              <a:buClr>
                <a:schemeClr val="accent2"/>
              </a:buClr>
              <a:buSzPts val="990"/>
              <a:buChar char="•"/>
              <a:defRPr sz="1100">
                <a:solidFill>
                  <a:schemeClr val="accent2"/>
                </a:solidFill>
              </a:defRPr>
            </a:lvl4pPr>
            <a:lvl5pPr marL="2286000" lvl="4" indent="-291464" algn="l">
              <a:lnSpc>
                <a:spcPct val="100000"/>
              </a:lnSpc>
              <a:spcBef>
                <a:spcPts val="1200"/>
              </a:spcBef>
              <a:spcAft>
                <a:spcPts val="0"/>
              </a:spcAft>
              <a:buClr>
                <a:schemeClr val="accent2"/>
              </a:buClr>
              <a:buSzPts val="990"/>
              <a:buChar char="–"/>
              <a:defRPr sz="1100">
                <a:solidFill>
                  <a:schemeClr val="accent2"/>
                </a:solidFill>
              </a:defRPr>
            </a:lvl5pPr>
            <a:lvl6pPr marL="2743200" lvl="5" indent="-291464" algn="l">
              <a:lnSpc>
                <a:spcPct val="100000"/>
              </a:lnSpc>
              <a:spcBef>
                <a:spcPts val="1200"/>
              </a:spcBef>
              <a:spcAft>
                <a:spcPts val="0"/>
              </a:spcAft>
              <a:buClr>
                <a:schemeClr val="accent2"/>
              </a:buClr>
              <a:buSzPts val="990"/>
              <a:buChar char="•"/>
              <a:defRPr sz="1100">
                <a:solidFill>
                  <a:schemeClr val="accent2"/>
                </a:solidFill>
              </a:defRPr>
            </a:lvl6pPr>
            <a:lvl7pPr marL="3200400" lvl="6" indent="-291464" algn="l">
              <a:lnSpc>
                <a:spcPct val="100000"/>
              </a:lnSpc>
              <a:spcBef>
                <a:spcPts val="1200"/>
              </a:spcBef>
              <a:spcAft>
                <a:spcPts val="0"/>
              </a:spcAft>
              <a:buClr>
                <a:schemeClr val="accent2"/>
              </a:buClr>
              <a:buSzPts val="990"/>
              <a:buChar char="-"/>
              <a:defRPr sz="1100">
                <a:solidFill>
                  <a:schemeClr val="accent2"/>
                </a:solidFill>
              </a:defRPr>
            </a:lvl7pPr>
            <a:lvl8pPr marL="3657600" lvl="7" indent="-291465" algn="l">
              <a:lnSpc>
                <a:spcPct val="100000"/>
              </a:lnSpc>
              <a:spcBef>
                <a:spcPts val="1200"/>
              </a:spcBef>
              <a:spcAft>
                <a:spcPts val="0"/>
              </a:spcAft>
              <a:buClr>
                <a:schemeClr val="accent2"/>
              </a:buClr>
              <a:buSzPts val="990"/>
              <a:buChar char="•"/>
              <a:defRPr sz="1100">
                <a:solidFill>
                  <a:schemeClr val="accent2"/>
                </a:solidFill>
              </a:defRPr>
            </a:lvl8pPr>
            <a:lvl9pPr marL="4114800" lvl="8" indent="-291465" algn="l">
              <a:lnSpc>
                <a:spcPct val="100000"/>
              </a:lnSpc>
              <a:spcBef>
                <a:spcPts val="1200"/>
              </a:spcBef>
              <a:spcAft>
                <a:spcPts val="1200"/>
              </a:spcAft>
              <a:buClr>
                <a:schemeClr val="accent2"/>
              </a:buClr>
              <a:buSzPts val="990"/>
              <a:buChar char="-"/>
              <a:defRPr sz="1100">
                <a:solidFill>
                  <a:schemeClr val="accent2"/>
                </a:solidFill>
              </a:defRPr>
            </a:lvl9pPr>
          </a:lstStyle>
          <a:p>
            <a:endParaRPr/>
          </a:p>
        </p:txBody>
      </p:sp>
      <p:sp>
        <p:nvSpPr>
          <p:cNvPr id="124" name="Google Shape;124;p10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25" name="Google Shape;125;p109"/>
          <p:cNvSpPr txBox="1">
            <a:spLocks noGrp="1"/>
          </p:cNvSpPr>
          <p:nvPr>
            <p:ph type="body" idx="3"/>
          </p:nvPr>
        </p:nvSpPr>
        <p:spPr>
          <a:xfrm>
            <a:off x="608012" y="1600201"/>
            <a:ext cx="7398303"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a:solidFill>
                  <a:schemeClr val="dk1"/>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a:p>
        </p:txBody>
      </p:sp>
      <p:sp>
        <p:nvSpPr>
          <p:cNvPr id="126" name="Google Shape;126;p109"/>
          <p:cNvSpPr/>
          <p:nvPr/>
        </p:nvSpPr>
        <p:spPr>
          <a:xfrm rot="10800000" flipH="1">
            <a:off x="8380072" y="1589923"/>
            <a:ext cx="3808754"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0" marR="0" lvl="0" indent="0" algn="ctr" rtl="0">
              <a:spcBef>
                <a:spcPts val="60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sp>
        <p:nvSpPr>
          <p:cNvPr id="127" name="Google Shape;127;p10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Dynamic – Right">
  <p:cSld name="Two Content Dynamic – Right">
    <p:spTree>
      <p:nvGrpSpPr>
        <p:cNvPr id="1" name="Shape 128"/>
        <p:cNvGrpSpPr/>
        <p:nvPr/>
      </p:nvGrpSpPr>
      <p:grpSpPr>
        <a:xfrm>
          <a:off x="0" y="0"/>
          <a:ext cx="0" cy="0"/>
          <a:chOff x="0" y="0"/>
          <a:chExt cx="0" cy="0"/>
        </a:xfrm>
      </p:grpSpPr>
      <p:sp>
        <p:nvSpPr>
          <p:cNvPr id="129" name="Google Shape;129;p11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110"/>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31" name="Google Shape;131;p11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32" name="Google Shape;132;p110"/>
          <p:cNvSpPr/>
          <p:nvPr/>
        </p:nvSpPr>
        <p:spPr>
          <a:xfrm rot="10800000" flipH="1">
            <a:off x="9294812" y="1552601"/>
            <a:ext cx="2894012" cy="5486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133" name="Google Shape;133;p110"/>
          <p:cNvSpPr txBox="1">
            <a:spLocks noGrp="1"/>
          </p:cNvSpPr>
          <p:nvPr>
            <p:ph type="body" idx="2"/>
          </p:nvPr>
        </p:nvSpPr>
        <p:spPr>
          <a:xfrm>
            <a:off x="9294812" y="1609531"/>
            <a:ext cx="2894013" cy="4572000"/>
          </a:xfrm>
          <a:prstGeom prst="rect">
            <a:avLst/>
          </a:prstGeom>
          <a:solidFill>
            <a:srgbClr val="F4F8FA"/>
          </a:solidFill>
          <a:ln>
            <a:noFill/>
          </a:ln>
        </p:spPr>
        <p:txBody>
          <a:bodyPr spcFirstLastPara="1" wrap="square" lIns="2743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20040" algn="l">
              <a:lnSpc>
                <a:spcPct val="100000"/>
              </a:lnSpc>
              <a:spcBef>
                <a:spcPts val="1200"/>
              </a:spcBef>
              <a:spcAft>
                <a:spcPts val="0"/>
              </a:spcAft>
              <a:buClr>
                <a:schemeClr val="accent2"/>
              </a:buClr>
              <a:buSzPts val="1440"/>
              <a:buChar char="•"/>
              <a:defRPr sz="1600">
                <a:solidFill>
                  <a:schemeClr val="accent2"/>
                </a:solidFill>
              </a:defRPr>
            </a:lvl2pPr>
            <a:lvl3pPr marL="1371600" lvl="2" indent="-308610" algn="l">
              <a:lnSpc>
                <a:spcPct val="100000"/>
              </a:lnSpc>
              <a:spcBef>
                <a:spcPts val="1200"/>
              </a:spcBef>
              <a:spcAft>
                <a:spcPts val="0"/>
              </a:spcAft>
              <a:buClr>
                <a:schemeClr val="accent2"/>
              </a:buClr>
              <a:buSzPts val="1260"/>
              <a:buChar char="–"/>
              <a:defRPr sz="1400">
                <a:solidFill>
                  <a:schemeClr val="accent2"/>
                </a:solidFill>
              </a:defRPr>
            </a:lvl3pPr>
            <a:lvl4pPr marL="1828800" lvl="3" indent="-297180" algn="l">
              <a:lnSpc>
                <a:spcPct val="100000"/>
              </a:lnSpc>
              <a:spcBef>
                <a:spcPts val="1200"/>
              </a:spcBef>
              <a:spcAft>
                <a:spcPts val="0"/>
              </a:spcAft>
              <a:buClr>
                <a:schemeClr val="accent2"/>
              </a:buClr>
              <a:buSzPts val="1080"/>
              <a:buChar char="•"/>
              <a:defRPr sz="1200">
                <a:solidFill>
                  <a:schemeClr val="accent2"/>
                </a:solidFill>
              </a:defRPr>
            </a:lvl4pPr>
            <a:lvl5pPr marL="2286000" lvl="4" indent="-297179" algn="l">
              <a:lnSpc>
                <a:spcPct val="100000"/>
              </a:lnSpc>
              <a:spcBef>
                <a:spcPts val="1200"/>
              </a:spcBef>
              <a:spcAft>
                <a:spcPts val="0"/>
              </a:spcAft>
              <a:buClr>
                <a:schemeClr val="accent2"/>
              </a:buClr>
              <a:buSzPts val="1080"/>
              <a:buChar char="–"/>
              <a:defRPr sz="1200">
                <a:solidFill>
                  <a:schemeClr val="accent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4" name="Google Shape;134;p110"/>
          <p:cNvSpPr txBox="1">
            <a:spLocks noGrp="1"/>
          </p:cNvSpPr>
          <p:nvPr>
            <p:ph type="body" idx="3"/>
          </p:nvPr>
        </p:nvSpPr>
        <p:spPr>
          <a:xfrm>
            <a:off x="0" y="1609531"/>
            <a:ext cx="8229600" cy="4572000"/>
          </a:xfrm>
          <a:prstGeom prst="rect">
            <a:avLst/>
          </a:prstGeom>
          <a:noFill/>
          <a:ln>
            <a:noFill/>
          </a:ln>
        </p:spPr>
        <p:txBody>
          <a:bodyPr spcFirstLastPara="1" wrap="square" lIns="594350" tIns="45720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1200"/>
              </a:spcBef>
              <a:spcAft>
                <a:spcPts val="0"/>
              </a:spcAft>
              <a:buSzPts val="1620"/>
              <a:buChar char="•"/>
              <a:defRPr>
                <a:solidFill>
                  <a:schemeClr val="dk1"/>
                </a:solidFill>
              </a:defRPr>
            </a:lvl2pPr>
            <a:lvl3pPr marL="1371600" lvl="2" indent="-320039" algn="l">
              <a:lnSpc>
                <a:spcPct val="100000"/>
              </a:lnSpc>
              <a:spcBef>
                <a:spcPts val="1200"/>
              </a:spcBef>
              <a:spcAft>
                <a:spcPts val="0"/>
              </a:spcAft>
              <a:buSzPts val="1440"/>
              <a:buChar char="–"/>
              <a:defRPr>
                <a:solidFill>
                  <a:schemeClr val="dk1"/>
                </a:solidFill>
              </a:defRPr>
            </a:lvl3pPr>
            <a:lvl4pPr marL="1828800" lvl="3" indent="-308610" algn="l">
              <a:lnSpc>
                <a:spcPct val="100000"/>
              </a:lnSpc>
              <a:spcBef>
                <a:spcPts val="1200"/>
              </a:spcBef>
              <a:spcAft>
                <a:spcPts val="0"/>
              </a:spcAft>
              <a:buSzPts val="1260"/>
              <a:buChar char="•"/>
              <a:defRPr>
                <a:solidFill>
                  <a:schemeClr val="dk1"/>
                </a:solidFill>
              </a:defRPr>
            </a:lvl4pPr>
            <a:lvl5pPr marL="2286000" lvl="4" indent="-308610" algn="l">
              <a:lnSpc>
                <a:spcPct val="100000"/>
              </a:lnSpc>
              <a:spcBef>
                <a:spcPts val="1200"/>
              </a:spcBef>
              <a:spcAft>
                <a:spcPts val="0"/>
              </a:spcAft>
              <a:buSzPts val="1260"/>
              <a:buChar char="–"/>
              <a:defRPr>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31470" algn="l">
              <a:lnSpc>
                <a:spcPct val="100000"/>
              </a:lnSpc>
              <a:spcBef>
                <a:spcPts val="1200"/>
              </a:spcBef>
              <a:spcAft>
                <a:spcPts val="1200"/>
              </a:spcAft>
              <a:buSzPts val="1620"/>
              <a:buChar char="-"/>
              <a:defRPr/>
            </a:lvl9pPr>
          </a:lstStyle>
          <a:p>
            <a:endParaRPr/>
          </a:p>
        </p:txBody>
      </p:sp>
      <p:sp>
        <p:nvSpPr>
          <p:cNvPr id="135" name="Google Shape;135;p11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36" name="Google Shape;136;p110"/>
          <p:cNvSpPr/>
          <p:nvPr/>
        </p:nvSpPr>
        <p:spPr>
          <a:xfrm rot="10800000" flipH="1">
            <a:off x="9294812" y="1552601"/>
            <a:ext cx="2894012" cy="5486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37"/>
        <p:cNvGrpSpPr/>
        <p:nvPr/>
      </p:nvGrpSpPr>
      <p:grpSpPr>
        <a:xfrm>
          <a:off x="0" y="0"/>
          <a:ext cx="0" cy="0"/>
          <a:chOff x="0" y="0"/>
          <a:chExt cx="0" cy="0"/>
        </a:xfrm>
      </p:grpSpPr>
      <p:sp>
        <p:nvSpPr>
          <p:cNvPr id="138" name="Google Shape;138;p11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111"/>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40" name="Google Shape;140;p11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41" name="Google Shape;141;p11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142"/>
        <p:cNvGrpSpPr/>
        <p:nvPr/>
      </p:nvGrpSpPr>
      <p:grpSpPr>
        <a:xfrm>
          <a:off x="0" y="0"/>
          <a:ext cx="0" cy="0"/>
          <a:chOff x="0" y="0"/>
          <a:chExt cx="0" cy="0"/>
        </a:xfrm>
      </p:grpSpPr>
      <p:sp>
        <p:nvSpPr>
          <p:cNvPr id="143" name="Google Shape;143;p11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4" name="Google Shape;144;p112"/>
          <p:cNvSpPr txBox="1">
            <a:spLocks noGrp="1"/>
          </p:cNvSpPr>
          <p:nvPr>
            <p:ph type="subTitle" idx="1"/>
          </p:nvPr>
        </p:nvSpPr>
        <p:spPr>
          <a:xfrm>
            <a:off x="592866" y="811830"/>
            <a:ext cx="1098794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45" name="Google Shape;145;p112"/>
          <p:cNvSpPr txBox="1">
            <a:spLocks noGrp="1"/>
          </p:cNvSpPr>
          <p:nvPr>
            <p:ph type="body" idx="2"/>
          </p:nvPr>
        </p:nvSpPr>
        <p:spPr>
          <a:xfrm>
            <a:off x="616505" y="1600201"/>
            <a:ext cx="10972800" cy="4572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1200"/>
              </a:spcBef>
              <a:spcAft>
                <a:spcPts val="0"/>
              </a:spcAft>
              <a:buClr>
                <a:srgbClr val="3B3B3B"/>
              </a:buClr>
              <a:buSzPts val="1620"/>
              <a:buChar char="•"/>
              <a:defRPr>
                <a:solidFill>
                  <a:schemeClr val="dk1"/>
                </a:solidFill>
              </a:defRPr>
            </a:lvl2pPr>
            <a:lvl3pPr marL="1371600" lvl="2" indent="-320039" algn="l">
              <a:lnSpc>
                <a:spcPct val="100000"/>
              </a:lnSpc>
              <a:spcBef>
                <a:spcPts val="1200"/>
              </a:spcBef>
              <a:spcAft>
                <a:spcPts val="0"/>
              </a:spcAft>
              <a:buClr>
                <a:srgbClr val="3B3B3B"/>
              </a:buClr>
              <a:buSzPts val="1440"/>
              <a:buChar char="–"/>
              <a:defRPr>
                <a:solidFill>
                  <a:schemeClr val="dk1"/>
                </a:solidFill>
              </a:defRPr>
            </a:lvl3pPr>
            <a:lvl4pPr marL="1828800" lvl="3" indent="-308610" algn="l">
              <a:lnSpc>
                <a:spcPct val="100000"/>
              </a:lnSpc>
              <a:spcBef>
                <a:spcPts val="1200"/>
              </a:spcBef>
              <a:spcAft>
                <a:spcPts val="0"/>
              </a:spcAft>
              <a:buClr>
                <a:srgbClr val="3B3B3B"/>
              </a:buClr>
              <a:buSzPts val="1260"/>
              <a:buChar char="•"/>
              <a:defRPr>
                <a:solidFill>
                  <a:schemeClr val="dk1"/>
                </a:solidFill>
              </a:defRPr>
            </a:lvl4pPr>
            <a:lvl5pPr marL="2286000" lvl="4" indent="-308610" algn="l">
              <a:lnSpc>
                <a:spcPct val="100000"/>
              </a:lnSpc>
              <a:spcBef>
                <a:spcPts val="1200"/>
              </a:spcBef>
              <a:spcAft>
                <a:spcPts val="0"/>
              </a:spcAft>
              <a:buClr>
                <a:srgbClr val="3B3B3B"/>
              </a:buClr>
              <a:buSzPts val="1260"/>
              <a:buChar char="–"/>
              <a:defRPr>
                <a:solidFill>
                  <a:schemeClr val="dk1"/>
                </a:solidFill>
              </a:defRPr>
            </a:lvl5pPr>
            <a:lvl6pPr marL="2743200" lvl="5" indent="-308610" algn="l">
              <a:lnSpc>
                <a:spcPct val="100000"/>
              </a:lnSpc>
              <a:spcBef>
                <a:spcPts val="1200"/>
              </a:spcBef>
              <a:spcAft>
                <a:spcPts val="0"/>
              </a:spcAft>
              <a:buClr>
                <a:srgbClr val="3B3B3B"/>
              </a:buClr>
              <a:buSzPts val="1260"/>
              <a:buChar char="•"/>
              <a:defRPr>
                <a:solidFill>
                  <a:srgbClr val="3B3B3B"/>
                </a:solidFill>
              </a:defRPr>
            </a:lvl6pPr>
            <a:lvl7pPr marL="3200400" lvl="6" indent="-308610" algn="l">
              <a:lnSpc>
                <a:spcPct val="100000"/>
              </a:lnSpc>
              <a:spcBef>
                <a:spcPts val="1200"/>
              </a:spcBef>
              <a:spcAft>
                <a:spcPts val="0"/>
              </a:spcAft>
              <a:buSzPts val="1260"/>
              <a:buChar char="-"/>
              <a:defRPr/>
            </a:lvl7pPr>
            <a:lvl8pPr marL="3657600" lvl="7" indent="-308609" algn="l">
              <a:lnSpc>
                <a:spcPct val="100000"/>
              </a:lnSpc>
              <a:spcBef>
                <a:spcPts val="1200"/>
              </a:spcBef>
              <a:spcAft>
                <a:spcPts val="0"/>
              </a:spcAft>
              <a:buSzPts val="126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46" name="Google Shape;146;p11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47" name="Google Shape;147;p11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166"/>
        <p:cNvGrpSpPr/>
        <p:nvPr/>
      </p:nvGrpSpPr>
      <p:grpSpPr>
        <a:xfrm>
          <a:off x="0" y="0"/>
          <a:ext cx="0" cy="0"/>
          <a:chOff x="0" y="0"/>
          <a:chExt cx="0" cy="0"/>
        </a:xfrm>
      </p:grpSpPr>
      <p:sp>
        <p:nvSpPr>
          <p:cNvPr id="167" name="Google Shape;167;p11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8" name="Google Shape;168;p119"/>
          <p:cNvSpPr txBox="1">
            <a:spLocks noGrp="1"/>
          </p:cNvSpPr>
          <p:nvPr>
            <p:ph type="subTitle" idx="1"/>
          </p:nvPr>
        </p:nvSpPr>
        <p:spPr>
          <a:xfrm>
            <a:off x="592866" y="811830"/>
            <a:ext cx="1098794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6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69" name="Google Shape;169;p119"/>
          <p:cNvSpPr txBox="1">
            <a:spLocks noGrp="1"/>
          </p:cNvSpPr>
          <p:nvPr>
            <p:ph type="body" idx="2"/>
          </p:nvPr>
        </p:nvSpPr>
        <p:spPr>
          <a:xfrm>
            <a:off x="616505" y="1600201"/>
            <a:ext cx="10972800" cy="4572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600"/>
              </a:spcBef>
              <a:spcAft>
                <a:spcPts val="0"/>
              </a:spcAft>
              <a:buClr>
                <a:srgbClr val="3B3B3B"/>
              </a:buClr>
              <a:buSzPts val="1620"/>
              <a:buChar char="•"/>
              <a:defRPr>
                <a:solidFill>
                  <a:schemeClr val="dk1"/>
                </a:solidFill>
              </a:defRPr>
            </a:lvl2pPr>
            <a:lvl3pPr marL="1371600" lvl="2" indent="-320039" algn="l">
              <a:lnSpc>
                <a:spcPct val="100000"/>
              </a:lnSpc>
              <a:spcBef>
                <a:spcPts val="1200"/>
              </a:spcBef>
              <a:spcAft>
                <a:spcPts val="0"/>
              </a:spcAft>
              <a:buClr>
                <a:srgbClr val="3B3B3B"/>
              </a:buClr>
              <a:buSzPts val="1440"/>
              <a:buChar char="–"/>
              <a:defRPr>
                <a:solidFill>
                  <a:schemeClr val="dk1"/>
                </a:solidFill>
              </a:defRPr>
            </a:lvl3pPr>
            <a:lvl4pPr marL="1828800" lvl="3" indent="-308610" algn="l">
              <a:lnSpc>
                <a:spcPct val="100000"/>
              </a:lnSpc>
              <a:spcBef>
                <a:spcPts val="1200"/>
              </a:spcBef>
              <a:spcAft>
                <a:spcPts val="0"/>
              </a:spcAft>
              <a:buClr>
                <a:srgbClr val="3B3B3B"/>
              </a:buClr>
              <a:buSzPts val="1260"/>
              <a:buChar char="•"/>
              <a:defRPr>
                <a:solidFill>
                  <a:schemeClr val="dk1"/>
                </a:solidFill>
              </a:defRPr>
            </a:lvl4pPr>
            <a:lvl5pPr marL="2286000" lvl="4" indent="-308610" algn="l">
              <a:lnSpc>
                <a:spcPct val="100000"/>
              </a:lnSpc>
              <a:spcBef>
                <a:spcPts val="1200"/>
              </a:spcBef>
              <a:spcAft>
                <a:spcPts val="0"/>
              </a:spcAft>
              <a:buClr>
                <a:srgbClr val="3B3B3B"/>
              </a:buClr>
              <a:buSzPts val="1260"/>
              <a:buChar char="–"/>
              <a:defRPr>
                <a:solidFill>
                  <a:schemeClr val="dk1"/>
                </a:solidFill>
              </a:defRPr>
            </a:lvl5pPr>
            <a:lvl6pPr marL="2743200" lvl="5" indent="-308610" algn="l">
              <a:lnSpc>
                <a:spcPct val="100000"/>
              </a:lnSpc>
              <a:spcBef>
                <a:spcPts val="1200"/>
              </a:spcBef>
              <a:spcAft>
                <a:spcPts val="0"/>
              </a:spcAft>
              <a:buClr>
                <a:srgbClr val="3B3B3B"/>
              </a:buClr>
              <a:buSzPts val="1260"/>
              <a:buChar char="•"/>
              <a:defRPr>
                <a:solidFill>
                  <a:srgbClr val="3B3B3B"/>
                </a:solidFill>
              </a:defRPr>
            </a:lvl6pPr>
            <a:lvl7pPr marL="3200400" lvl="6" indent="-308610" algn="l">
              <a:lnSpc>
                <a:spcPct val="100000"/>
              </a:lnSpc>
              <a:spcBef>
                <a:spcPts val="1200"/>
              </a:spcBef>
              <a:spcAft>
                <a:spcPts val="0"/>
              </a:spcAft>
              <a:buSzPts val="1260"/>
              <a:buChar char="-"/>
              <a:defRPr/>
            </a:lvl7pPr>
            <a:lvl8pPr marL="3657600" lvl="7" indent="-308609" algn="l">
              <a:lnSpc>
                <a:spcPct val="100000"/>
              </a:lnSpc>
              <a:spcBef>
                <a:spcPts val="1200"/>
              </a:spcBef>
              <a:spcAft>
                <a:spcPts val="0"/>
              </a:spcAft>
              <a:buSzPts val="126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70" name="Google Shape;170;p11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71" name="Google Shape;171;p11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Dynamic – Left">
  <p:cSld name="Two Content Dynamic – Left">
    <p:spTree>
      <p:nvGrpSpPr>
        <p:cNvPr id="1" name="Shape 172"/>
        <p:cNvGrpSpPr/>
        <p:nvPr/>
      </p:nvGrpSpPr>
      <p:grpSpPr>
        <a:xfrm>
          <a:off x="0" y="0"/>
          <a:ext cx="0" cy="0"/>
          <a:chOff x="0" y="0"/>
          <a:chExt cx="0" cy="0"/>
        </a:xfrm>
      </p:grpSpPr>
      <p:sp>
        <p:nvSpPr>
          <p:cNvPr id="173" name="Google Shape;173;p12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4" name="Google Shape;174;p120"/>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75" name="Google Shape;175;p120"/>
          <p:cNvSpPr/>
          <p:nvPr/>
        </p:nvSpPr>
        <p:spPr>
          <a:xfrm rot="10800000" flipH="1">
            <a:off x="0" y="1552601"/>
            <a:ext cx="2894012" cy="5486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176" name="Google Shape;176;p120"/>
          <p:cNvSpPr txBox="1">
            <a:spLocks noGrp="1"/>
          </p:cNvSpPr>
          <p:nvPr>
            <p:ph type="body" idx="2"/>
          </p:nvPr>
        </p:nvSpPr>
        <p:spPr>
          <a:xfrm>
            <a:off x="0" y="1609531"/>
            <a:ext cx="2894013" cy="4572000"/>
          </a:xfrm>
          <a:prstGeom prst="rect">
            <a:avLst/>
          </a:prstGeom>
          <a:solidFill>
            <a:srgbClr val="F4F8FA"/>
          </a:solidFill>
          <a:ln>
            <a:noFill/>
          </a:ln>
        </p:spPr>
        <p:txBody>
          <a:bodyPr spcFirstLastPara="1" wrap="square" lIns="2743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20040" algn="l">
              <a:lnSpc>
                <a:spcPct val="100000"/>
              </a:lnSpc>
              <a:spcBef>
                <a:spcPts val="1200"/>
              </a:spcBef>
              <a:spcAft>
                <a:spcPts val="0"/>
              </a:spcAft>
              <a:buClr>
                <a:schemeClr val="accent2"/>
              </a:buClr>
              <a:buSzPts val="1440"/>
              <a:buChar char="•"/>
              <a:defRPr sz="1600">
                <a:solidFill>
                  <a:schemeClr val="accent2"/>
                </a:solidFill>
              </a:defRPr>
            </a:lvl2pPr>
            <a:lvl3pPr marL="1371600" lvl="2" indent="-308610" algn="l">
              <a:lnSpc>
                <a:spcPct val="100000"/>
              </a:lnSpc>
              <a:spcBef>
                <a:spcPts val="1200"/>
              </a:spcBef>
              <a:spcAft>
                <a:spcPts val="0"/>
              </a:spcAft>
              <a:buClr>
                <a:schemeClr val="accent2"/>
              </a:buClr>
              <a:buSzPts val="1260"/>
              <a:buChar char="–"/>
              <a:defRPr sz="1400">
                <a:solidFill>
                  <a:schemeClr val="accent2"/>
                </a:solidFill>
              </a:defRPr>
            </a:lvl3pPr>
            <a:lvl4pPr marL="1828800" lvl="3" indent="-297180" algn="l">
              <a:lnSpc>
                <a:spcPct val="100000"/>
              </a:lnSpc>
              <a:spcBef>
                <a:spcPts val="1200"/>
              </a:spcBef>
              <a:spcAft>
                <a:spcPts val="0"/>
              </a:spcAft>
              <a:buClr>
                <a:schemeClr val="accent2"/>
              </a:buClr>
              <a:buSzPts val="1080"/>
              <a:buChar char="•"/>
              <a:defRPr sz="1200">
                <a:solidFill>
                  <a:schemeClr val="accent2"/>
                </a:solidFill>
              </a:defRPr>
            </a:lvl4pPr>
            <a:lvl5pPr marL="2286000" lvl="4" indent="-297179" algn="l">
              <a:lnSpc>
                <a:spcPct val="100000"/>
              </a:lnSpc>
              <a:spcBef>
                <a:spcPts val="1200"/>
              </a:spcBef>
              <a:spcAft>
                <a:spcPts val="0"/>
              </a:spcAft>
              <a:buClr>
                <a:schemeClr val="accent2"/>
              </a:buClr>
              <a:buSzPts val="1080"/>
              <a:buChar char="–"/>
              <a:defRPr sz="1200">
                <a:solidFill>
                  <a:schemeClr val="accent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77" name="Google Shape;177;p120"/>
          <p:cNvSpPr txBox="1">
            <a:spLocks noGrp="1"/>
          </p:cNvSpPr>
          <p:nvPr>
            <p:ph type="body" idx="3"/>
          </p:nvPr>
        </p:nvSpPr>
        <p:spPr>
          <a:xfrm>
            <a:off x="3351213" y="1609531"/>
            <a:ext cx="8229600" cy="4572000"/>
          </a:xfrm>
          <a:prstGeom prst="rect">
            <a:avLst/>
          </a:prstGeom>
          <a:noFill/>
          <a:ln>
            <a:noFill/>
          </a:ln>
        </p:spPr>
        <p:txBody>
          <a:bodyPr spcFirstLastPara="1" wrap="square" lIns="0" tIns="45720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1200"/>
              </a:spcBef>
              <a:spcAft>
                <a:spcPts val="0"/>
              </a:spcAft>
              <a:buSzPts val="1620"/>
              <a:buChar char="•"/>
              <a:defRPr>
                <a:solidFill>
                  <a:schemeClr val="dk1"/>
                </a:solidFill>
              </a:defRPr>
            </a:lvl2pPr>
            <a:lvl3pPr marL="1371600" lvl="2" indent="-320039" algn="l">
              <a:lnSpc>
                <a:spcPct val="100000"/>
              </a:lnSpc>
              <a:spcBef>
                <a:spcPts val="1200"/>
              </a:spcBef>
              <a:spcAft>
                <a:spcPts val="0"/>
              </a:spcAft>
              <a:buSzPts val="1440"/>
              <a:buChar char="–"/>
              <a:defRPr>
                <a:solidFill>
                  <a:schemeClr val="dk1"/>
                </a:solidFill>
              </a:defRPr>
            </a:lvl3pPr>
            <a:lvl4pPr marL="1828800" lvl="3" indent="-308610" algn="l">
              <a:lnSpc>
                <a:spcPct val="100000"/>
              </a:lnSpc>
              <a:spcBef>
                <a:spcPts val="1200"/>
              </a:spcBef>
              <a:spcAft>
                <a:spcPts val="0"/>
              </a:spcAft>
              <a:buSzPts val="1260"/>
              <a:buChar char="•"/>
              <a:defRPr>
                <a:solidFill>
                  <a:schemeClr val="dk1"/>
                </a:solidFill>
              </a:defRPr>
            </a:lvl4pPr>
            <a:lvl5pPr marL="2286000" lvl="4" indent="-308610" algn="l">
              <a:lnSpc>
                <a:spcPct val="100000"/>
              </a:lnSpc>
              <a:spcBef>
                <a:spcPts val="1200"/>
              </a:spcBef>
              <a:spcAft>
                <a:spcPts val="0"/>
              </a:spcAft>
              <a:buSzPts val="1260"/>
              <a:buChar char="–"/>
              <a:defRPr>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31470" algn="l">
              <a:lnSpc>
                <a:spcPct val="100000"/>
              </a:lnSpc>
              <a:spcBef>
                <a:spcPts val="1200"/>
              </a:spcBef>
              <a:spcAft>
                <a:spcPts val="1200"/>
              </a:spcAft>
              <a:buSzPts val="1620"/>
              <a:buChar char="-"/>
              <a:defRPr/>
            </a:lvl9pPr>
          </a:lstStyle>
          <a:p>
            <a:endParaRPr/>
          </a:p>
        </p:txBody>
      </p:sp>
      <p:sp>
        <p:nvSpPr>
          <p:cNvPr id="178" name="Google Shape;178;p12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79" name="Google Shape;179;p120"/>
          <p:cNvSpPr/>
          <p:nvPr/>
        </p:nvSpPr>
        <p:spPr>
          <a:xfrm rot="10800000" flipH="1">
            <a:off x="0" y="1552601"/>
            <a:ext cx="2894012" cy="5486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180" name="Google Shape;180;p12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1_Title and Subtitle">
  <p:cSld name="11_Title and Subtitle">
    <p:spTree>
      <p:nvGrpSpPr>
        <p:cNvPr id="1" name="Shape 181"/>
        <p:cNvGrpSpPr/>
        <p:nvPr/>
      </p:nvGrpSpPr>
      <p:grpSpPr>
        <a:xfrm>
          <a:off x="0" y="0"/>
          <a:ext cx="0" cy="0"/>
          <a:chOff x="0" y="0"/>
          <a:chExt cx="0" cy="0"/>
        </a:xfrm>
      </p:grpSpPr>
      <p:sp>
        <p:nvSpPr>
          <p:cNvPr id="182" name="Google Shape;182;p12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121"/>
          <p:cNvSpPr txBox="1">
            <a:spLocks noGrp="1"/>
          </p:cNvSpPr>
          <p:nvPr>
            <p:ph type="subTitle" idx="1"/>
          </p:nvPr>
        </p:nvSpPr>
        <p:spPr>
          <a:xfrm>
            <a:off x="592868" y="811832"/>
            <a:ext cx="10962687" cy="30777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798"/>
              <a:buNone/>
              <a:defRPr sz="1998">
                <a:solidFill>
                  <a:schemeClr val="dk2"/>
                </a:solidFill>
                <a:latin typeface="Arial"/>
                <a:ea typeface="Arial"/>
                <a:cs typeface="Arial"/>
                <a:sym typeface="Arial"/>
              </a:defRPr>
            </a:lvl1pPr>
            <a:lvl2pPr lvl="1" algn="ctr">
              <a:lnSpc>
                <a:spcPct val="100000"/>
              </a:lnSpc>
              <a:spcBef>
                <a:spcPts val="1200"/>
              </a:spcBef>
              <a:spcAft>
                <a:spcPts val="0"/>
              </a:spcAft>
              <a:buSzPts val="1798"/>
              <a:buNone/>
              <a:defRPr sz="1998"/>
            </a:lvl2pPr>
            <a:lvl3pPr lvl="2" algn="ctr">
              <a:lnSpc>
                <a:spcPct val="100000"/>
              </a:lnSpc>
              <a:spcBef>
                <a:spcPts val="1200"/>
              </a:spcBef>
              <a:spcAft>
                <a:spcPts val="0"/>
              </a:spcAft>
              <a:buSzPts val="1618"/>
              <a:buNone/>
              <a:defRPr sz="1798"/>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84" name="Google Shape;184;p12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 Plum">
  <p:cSld name="Section Header – Plum">
    <p:spTree>
      <p:nvGrpSpPr>
        <p:cNvPr id="1" name="Shape 185"/>
        <p:cNvGrpSpPr/>
        <p:nvPr/>
      </p:nvGrpSpPr>
      <p:grpSpPr>
        <a:xfrm>
          <a:off x="0" y="0"/>
          <a:ext cx="0" cy="0"/>
          <a:chOff x="0" y="0"/>
          <a:chExt cx="0" cy="0"/>
        </a:xfrm>
      </p:grpSpPr>
      <p:sp>
        <p:nvSpPr>
          <p:cNvPr id="186" name="Google Shape;186;p124"/>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7" name="Google Shape;187;p124"/>
          <p:cNvSpPr txBox="1">
            <a:spLocks noGrp="1"/>
          </p:cNvSpPr>
          <p:nvPr>
            <p:ph type="subTitle" idx="1"/>
          </p:nvPr>
        </p:nvSpPr>
        <p:spPr>
          <a:xfrm>
            <a:off x="602966" y="2267712"/>
            <a:ext cx="654211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88" name="Google Shape;188;p12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89" name="Google Shape;189;p124"/>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5"/>
              </a:gs>
              <a:gs pos="21000">
                <a:schemeClr val="accent5"/>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0" name="Google Shape;190;p12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Thank You / Closing - Plum">
  <p:cSld name="Thank You / Closing - Plum">
    <p:spTree>
      <p:nvGrpSpPr>
        <p:cNvPr id="1" name="Shape 191"/>
        <p:cNvGrpSpPr/>
        <p:nvPr/>
      </p:nvGrpSpPr>
      <p:grpSpPr>
        <a:xfrm>
          <a:off x="0" y="0"/>
          <a:ext cx="0" cy="0"/>
          <a:chOff x="0" y="0"/>
          <a:chExt cx="0" cy="0"/>
        </a:xfrm>
      </p:grpSpPr>
      <p:sp>
        <p:nvSpPr>
          <p:cNvPr id="192" name="Google Shape;192;p125"/>
          <p:cNvSpPr/>
          <p:nvPr/>
        </p:nvSpPr>
        <p:spPr>
          <a:xfrm>
            <a:off x="0" y="0"/>
            <a:ext cx="6635783" cy="4452826"/>
          </a:xfrm>
          <a:custGeom>
            <a:avLst/>
            <a:gdLst/>
            <a:ahLst/>
            <a:cxnLst/>
            <a:rect l="l" t="t" r="r" b="b"/>
            <a:pathLst>
              <a:path w="6635783" h="4452826" extrusionOk="0">
                <a:moveTo>
                  <a:pt x="0" y="0"/>
                </a:moveTo>
                <a:lnTo>
                  <a:pt x="6635783" y="0"/>
                </a:lnTo>
                <a:lnTo>
                  <a:pt x="2550426" y="4085358"/>
                </a:lnTo>
                <a:cubicBezTo>
                  <a:pt x="2315128" y="4320656"/>
                  <a:pt x="1996025" y="4452826"/>
                  <a:pt x="1663310" y="4452826"/>
                </a:cubicBezTo>
                <a:lnTo>
                  <a:pt x="0" y="4452826"/>
                </a:lnTo>
                <a:close/>
              </a:path>
            </a:pathLst>
          </a:custGeom>
          <a:gradFill>
            <a:gsLst>
              <a:gs pos="0">
                <a:schemeClr val="accent5"/>
              </a:gs>
              <a:gs pos="12000">
                <a:schemeClr val="accent5"/>
              </a:gs>
              <a:gs pos="85000">
                <a:srgbClr val="0095C4"/>
              </a:gs>
              <a:gs pos="100000">
                <a:srgbClr val="0095C4"/>
              </a:gs>
            </a:gsLst>
            <a:lin ang="1889997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125"/>
          <p:cNvSpPr txBox="1"/>
          <p:nvPr/>
        </p:nvSpPr>
        <p:spPr>
          <a:xfrm>
            <a:off x="7122912" y="4133697"/>
            <a:ext cx="3585557" cy="692497"/>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cap="none">
                <a:solidFill>
                  <a:schemeClr val="accent2"/>
                </a:solidFill>
                <a:latin typeface="Arial"/>
                <a:ea typeface="Arial"/>
                <a:cs typeface="Arial"/>
                <a:sym typeface="Arial"/>
              </a:rPr>
              <a:t>Thank You</a:t>
            </a:r>
            <a:endParaRPr/>
          </a:p>
        </p:txBody>
      </p:sp>
      <p:sp>
        <p:nvSpPr>
          <p:cNvPr id="194" name="Google Shape;194;p125"/>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195" name="Google Shape;195;p125"/>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196" name="Google Shape;196;p125"/>
          <p:cNvGrpSpPr/>
          <p:nvPr/>
        </p:nvGrpSpPr>
        <p:grpSpPr>
          <a:xfrm>
            <a:off x="265625" y="6323271"/>
            <a:ext cx="1249222" cy="369649"/>
            <a:chOff x="265625" y="6323271"/>
            <a:chExt cx="1249222" cy="369649"/>
          </a:xfrm>
        </p:grpSpPr>
        <p:grpSp>
          <p:nvGrpSpPr>
            <p:cNvPr id="197" name="Google Shape;197;p125"/>
            <p:cNvGrpSpPr/>
            <p:nvPr/>
          </p:nvGrpSpPr>
          <p:grpSpPr>
            <a:xfrm>
              <a:off x="745455" y="6594444"/>
              <a:ext cx="722663" cy="98476"/>
              <a:chOff x="745455" y="6594444"/>
              <a:chExt cx="722663" cy="98476"/>
            </a:xfrm>
          </p:grpSpPr>
          <p:sp>
            <p:nvSpPr>
              <p:cNvPr id="198" name="Google Shape;198;p12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9" name="Google Shape;199;p12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0" name="Google Shape;200;p12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1" name="Google Shape;201;p12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2" name="Google Shape;202;p12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3" name="Google Shape;203;p12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4" name="Google Shape;204;p12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5" name="Google Shape;205;p12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6" name="Google Shape;206;p12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7" name="Google Shape;207;p12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08" name="Google Shape;208;p125"/>
            <p:cNvGrpSpPr/>
            <p:nvPr/>
          </p:nvGrpSpPr>
          <p:grpSpPr>
            <a:xfrm>
              <a:off x="265625" y="6323271"/>
              <a:ext cx="1249222" cy="190348"/>
              <a:chOff x="265625" y="6323271"/>
              <a:chExt cx="1249222" cy="190348"/>
            </a:xfrm>
          </p:grpSpPr>
          <p:sp>
            <p:nvSpPr>
              <p:cNvPr id="209" name="Google Shape;209;p12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0" name="Google Shape;210;p12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1" name="Google Shape;211;p12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2" name="Google Shape;212;p12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3" name="Google Shape;213;p12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4" name="Google Shape;214;p12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5" name="Google Shape;215;p12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216" name="Google Shape;216;p125"/>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7" name="Google Shape;217;p125"/>
          <p:cNvSpPr/>
          <p:nvPr/>
        </p:nvSpPr>
        <p:spPr>
          <a:xfrm>
            <a:off x="0" y="0"/>
            <a:ext cx="12188827" cy="6858000"/>
          </a:xfrm>
          <a:custGeom>
            <a:avLst/>
            <a:gdLst/>
            <a:ahLst/>
            <a:cxnLst/>
            <a:rect l="l" t="t" r="r" b="b"/>
            <a:pathLst>
              <a:path w="12219884" h="6858000" extrusionOk="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8" name="Google Shape;218;p125"/>
          <p:cNvSpPr txBox="1"/>
          <p:nvPr/>
        </p:nvSpPr>
        <p:spPr>
          <a:xfrm>
            <a:off x="7122912" y="4133697"/>
            <a:ext cx="3585557" cy="692497"/>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cap="none">
                <a:solidFill>
                  <a:schemeClr val="accent2"/>
                </a:solidFill>
                <a:latin typeface="Arial"/>
                <a:ea typeface="Arial"/>
                <a:cs typeface="Arial"/>
                <a:sym typeface="Arial"/>
              </a:rPr>
              <a:t>Thank You</a:t>
            </a:r>
            <a:endParaRPr/>
          </a:p>
        </p:txBody>
      </p:sp>
      <p:grpSp>
        <p:nvGrpSpPr>
          <p:cNvPr id="219" name="Google Shape;219;p125"/>
          <p:cNvGrpSpPr/>
          <p:nvPr/>
        </p:nvGrpSpPr>
        <p:grpSpPr>
          <a:xfrm>
            <a:off x="265625" y="6323271"/>
            <a:ext cx="1249222" cy="369649"/>
            <a:chOff x="265625" y="6323271"/>
            <a:chExt cx="1249222" cy="369649"/>
          </a:xfrm>
        </p:grpSpPr>
        <p:grpSp>
          <p:nvGrpSpPr>
            <p:cNvPr id="220" name="Google Shape;220;p125"/>
            <p:cNvGrpSpPr/>
            <p:nvPr/>
          </p:nvGrpSpPr>
          <p:grpSpPr>
            <a:xfrm>
              <a:off x="745455" y="6594444"/>
              <a:ext cx="722663" cy="98476"/>
              <a:chOff x="745455" y="6594444"/>
              <a:chExt cx="722663" cy="98476"/>
            </a:xfrm>
          </p:grpSpPr>
          <p:sp>
            <p:nvSpPr>
              <p:cNvPr id="221" name="Google Shape;221;p12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2" name="Google Shape;222;p12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3" name="Google Shape;223;p12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4" name="Google Shape;224;p12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5" name="Google Shape;225;p12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6" name="Google Shape;226;p12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7" name="Google Shape;227;p12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8" name="Google Shape;228;p12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9" name="Google Shape;229;p12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0" name="Google Shape;230;p12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31" name="Google Shape;231;p125"/>
            <p:cNvGrpSpPr/>
            <p:nvPr/>
          </p:nvGrpSpPr>
          <p:grpSpPr>
            <a:xfrm>
              <a:off x="265625" y="6323271"/>
              <a:ext cx="1249222" cy="190348"/>
              <a:chOff x="265625" y="6323271"/>
              <a:chExt cx="1249222" cy="190348"/>
            </a:xfrm>
          </p:grpSpPr>
          <p:sp>
            <p:nvSpPr>
              <p:cNvPr id="232" name="Google Shape;232;p12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3" name="Google Shape;233;p12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4" name="Google Shape;234;p12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5" name="Google Shape;235;p12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6" name="Google Shape;236;p12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7" name="Google Shape;237;p12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8" name="Google Shape;238;p12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239" name="Google Shape;239;p125"/>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0" name="Google Shape;240;p125"/>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itle Slide – Leaf">
  <p:cSld name="Title Slide – Leaf">
    <p:spTree>
      <p:nvGrpSpPr>
        <p:cNvPr id="1" name="Shape 241"/>
        <p:cNvGrpSpPr/>
        <p:nvPr/>
      </p:nvGrpSpPr>
      <p:grpSpPr>
        <a:xfrm>
          <a:off x="0" y="0"/>
          <a:ext cx="0" cy="0"/>
          <a:chOff x="0" y="0"/>
          <a:chExt cx="0" cy="0"/>
        </a:xfrm>
      </p:grpSpPr>
      <p:sp>
        <p:nvSpPr>
          <p:cNvPr id="242" name="Google Shape;242;p126"/>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4"/>
              </a:gs>
              <a:gs pos="7000">
                <a:schemeClr val="accent4"/>
              </a:gs>
              <a:gs pos="83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3" name="Google Shape;243;p126"/>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4" name="Google Shape;244;p126"/>
          <p:cNvSpPr txBox="1">
            <a:spLocks noGrp="1"/>
          </p:cNvSpPr>
          <p:nvPr>
            <p:ph type="subTitle" idx="1"/>
          </p:nvPr>
        </p:nvSpPr>
        <p:spPr>
          <a:xfrm>
            <a:off x="6592948" y="2986547"/>
            <a:ext cx="5116452" cy="41640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245" name="Google Shape;245;p126"/>
          <p:cNvSpPr txBox="1">
            <a:spLocks noGrp="1"/>
          </p:cNvSpPr>
          <p:nvPr>
            <p:ph type="body" idx="2"/>
          </p:nvPr>
        </p:nvSpPr>
        <p:spPr>
          <a:xfrm>
            <a:off x="6592948" y="4737425"/>
            <a:ext cx="5402202" cy="355601"/>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46" name="Google Shape;246;p126"/>
          <p:cNvSpPr txBox="1">
            <a:spLocks noGrp="1"/>
          </p:cNvSpPr>
          <p:nvPr>
            <p:ph type="body" idx="3"/>
          </p:nvPr>
        </p:nvSpPr>
        <p:spPr>
          <a:xfrm>
            <a:off x="6592948" y="5117480"/>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47" name="Google Shape;247;p126"/>
          <p:cNvSpPr txBox="1">
            <a:spLocks noGrp="1"/>
          </p:cNvSpPr>
          <p:nvPr>
            <p:ph type="body" idx="4"/>
          </p:nvPr>
        </p:nvSpPr>
        <p:spPr>
          <a:xfrm>
            <a:off x="6592948" y="5485986"/>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grpSp>
        <p:nvGrpSpPr>
          <p:cNvPr id="248" name="Google Shape;248;p126"/>
          <p:cNvGrpSpPr/>
          <p:nvPr/>
        </p:nvGrpSpPr>
        <p:grpSpPr>
          <a:xfrm>
            <a:off x="265625" y="6323271"/>
            <a:ext cx="1249222" cy="369649"/>
            <a:chOff x="265625" y="6323271"/>
            <a:chExt cx="1249222" cy="369649"/>
          </a:xfrm>
        </p:grpSpPr>
        <p:grpSp>
          <p:nvGrpSpPr>
            <p:cNvPr id="249" name="Google Shape;249;p126"/>
            <p:cNvGrpSpPr/>
            <p:nvPr/>
          </p:nvGrpSpPr>
          <p:grpSpPr>
            <a:xfrm>
              <a:off x="745455" y="6594444"/>
              <a:ext cx="722663" cy="98476"/>
              <a:chOff x="745455" y="6594444"/>
              <a:chExt cx="722663" cy="98476"/>
            </a:xfrm>
          </p:grpSpPr>
          <p:sp>
            <p:nvSpPr>
              <p:cNvPr id="250" name="Google Shape;250;p126"/>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1" name="Google Shape;251;p126"/>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2" name="Google Shape;252;p126"/>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3" name="Google Shape;253;p126"/>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4" name="Google Shape;254;p126"/>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5" name="Google Shape;255;p126"/>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6" name="Google Shape;256;p126"/>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7" name="Google Shape;257;p126"/>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8" name="Google Shape;258;p126"/>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9" name="Google Shape;259;p126"/>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60" name="Google Shape;260;p126"/>
            <p:cNvGrpSpPr/>
            <p:nvPr/>
          </p:nvGrpSpPr>
          <p:grpSpPr>
            <a:xfrm>
              <a:off x="265625" y="6323271"/>
              <a:ext cx="1249222" cy="190348"/>
              <a:chOff x="265625" y="6323271"/>
              <a:chExt cx="1249222" cy="190348"/>
            </a:xfrm>
          </p:grpSpPr>
          <p:sp>
            <p:nvSpPr>
              <p:cNvPr id="261" name="Google Shape;261;p126"/>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2" name="Google Shape;262;p126"/>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3" name="Google Shape;263;p126"/>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4" name="Google Shape;264;p126"/>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5" name="Google Shape;265;p126"/>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6" name="Google Shape;266;p126"/>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7" name="Google Shape;267;p126"/>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268" name="Google Shape;268;p126"/>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4"/>
              </a:gs>
              <a:gs pos="7000">
                <a:schemeClr val="accent4"/>
              </a:gs>
              <a:gs pos="83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9" name="Google Shape;269;p126"/>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270" name="Google Shape;270;p126"/>
          <p:cNvGrpSpPr/>
          <p:nvPr/>
        </p:nvGrpSpPr>
        <p:grpSpPr>
          <a:xfrm>
            <a:off x="265625" y="6323271"/>
            <a:ext cx="1249222" cy="369649"/>
            <a:chOff x="265625" y="6323271"/>
            <a:chExt cx="1249222" cy="369649"/>
          </a:xfrm>
        </p:grpSpPr>
        <p:grpSp>
          <p:nvGrpSpPr>
            <p:cNvPr id="271" name="Google Shape;271;p126"/>
            <p:cNvGrpSpPr/>
            <p:nvPr/>
          </p:nvGrpSpPr>
          <p:grpSpPr>
            <a:xfrm>
              <a:off x="745455" y="6594444"/>
              <a:ext cx="722663" cy="98476"/>
              <a:chOff x="745455" y="6594444"/>
              <a:chExt cx="722663" cy="98476"/>
            </a:xfrm>
          </p:grpSpPr>
          <p:sp>
            <p:nvSpPr>
              <p:cNvPr id="272" name="Google Shape;272;p126"/>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3" name="Google Shape;273;p126"/>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4" name="Google Shape;274;p126"/>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5" name="Google Shape;275;p126"/>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6" name="Google Shape;276;p126"/>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7" name="Google Shape;277;p126"/>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8" name="Google Shape;278;p126"/>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9" name="Google Shape;279;p126"/>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0" name="Google Shape;280;p126"/>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1" name="Google Shape;281;p126"/>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82" name="Google Shape;282;p126"/>
            <p:cNvGrpSpPr/>
            <p:nvPr/>
          </p:nvGrpSpPr>
          <p:grpSpPr>
            <a:xfrm>
              <a:off x="265625" y="6323271"/>
              <a:ext cx="1249222" cy="190348"/>
              <a:chOff x="265625" y="6323271"/>
              <a:chExt cx="1249222" cy="190348"/>
            </a:xfrm>
          </p:grpSpPr>
          <p:sp>
            <p:nvSpPr>
              <p:cNvPr id="283" name="Google Shape;283;p126"/>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4" name="Google Shape;284;p126"/>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5" name="Google Shape;285;p126"/>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6" name="Google Shape;286;p126"/>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7" name="Google Shape;287;p126"/>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8" name="Google Shape;288;p126"/>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9" name="Google Shape;289;p126"/>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290" name="Google Shape;290;p126"/>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 Slide – Aqua">
  <p:cSld name="Title Slide – Aqua">
    <p:spTree>
      <p:nvGrpSpPr>
        <p:cNvPr id="1" name="Shape 291"/>
        <p:cNvGrpSpPr/>
        <p:nvPr/>
      </p:nvGrpSpPr>
      <p:grpSpPr>
        <a:xfrm>
          <a:off x="0" y="0"/>
          <a:ext cx="0" cy="0"/>
          <a:chOff x="0" y="0"/>
          <a:chExt cx="0" cy="0"/>
        </a:xfrm>
      </p:grpSpPr>
      <p:pic>
        <p:nvPicPr>
          <p:cNvPr id="292" name="Google Shape;292;p127"/>
          <p:cNvPicPr preferRelativeResize="0"/>
          <p:nvPr/>
        </p:nvPicPr>
        <p:blipFill rotWithShape="1">
          <a:blip r:embed="rId2">
            <a:alphaModFix/>
          </a:blip>
          <a:srcRect l="1042" r="1972" b="1787"/>
          <a:stretch/>
        </p:blipFill>
        <p:spPr>
          <a:xfrm>
            <a:off x="0" y="658109"/>
            <a:ext cx="12188825" cy="6205839"/>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4901"/>
              </a:schemeClr>
            </a:outerShdw>
          </a:effectLst>
        </p:spPr>
      </p:pic>
      <p:sp>
        <p:nvSpPr>
          <p:cNvPr id="293" name="Google Shape;293;p127"/>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2"/>
              </a:gs>
              <a:gs pos="16000">
                <a:schemeClr val="accent2"/>
              </a:gs>
              <a:gs pos="90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4" name="Google Shape;294;p127"/>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5" name="Google Shape;295;p127"/>
          <p:cNvSpPr txBox="1">
            <a:spLocks noGrp="1"/>
          </p:cNvSpPr>
          <p:nvPr>
            <p:ph type="body" idx="1"/>
          </p:nvPr>
        </p:nvSpPr>
        <p:spPr>
          <a:xfrm>
            <a:off x="6592948" y="4737425"/>
            <a:ext cx="5402202" cy="355601"/>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96" name="Google Shape;296;p127"/>
          <p:cNvSpPr txBox="1">
            <a:spLocks noGrp="1"/>
          </p:cNvSpPr>
          <p:nvPr>
            <p:ph type="body" idx="2"/>
          </p:nvPr>
        </p:nvSpPr>
        <p:spPr>
          <a:xfrm>
            <a:off x="6592948" y="5117480"/>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97" name="Google Shape;297;p127"/>
          <p:cNvSpPr txBox="1">
            <a:spLocks noGrp="1"/>
          </p:cNvSpPr>
          <p:nvPr>
            <p:ph type="body" idx="3"/>
          </p:nvPr>
        </p:nvSpPr>
        <p:spPr>
          <a:xfrm>
            <a:off x="6592948" y="5485986"/>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grpSp>
        <p:nvGrpSpPr>
          <p:cNvPr id="298" name="Google Shape;298;p127"/>
          <p:cNvGrpSpPr/>
          <p:nvPr/>
        </p:nvGrpSpPr>
        <p:grpSpPr>
          <a:xfrm>
            <a:off x="265625" y="6323271"/>
            <a:ext cx="1249222" cy="369649"/>
            <a:chOff x="265625" y="6323271"/>
            <a:chExt cx="1249222" cy="369649"/>
          </a:xfrm>
        </p:grpSpPr>
        <p:grpSp>
          <p:nvGrpSpPr>
            <p:cNvPr id="299" name="Google Shape;299;p127"/>
            <p:cNvGrpSpPr/>
            <p:nvPr/>
          </p:nvGrpSpPr>
          <p:grpSpPr>
            <a:xfrm>
              <a:off x="745455" y="6594444"/>
              <a:ext cx="722663" cy="98476"/>
              <a:chOff x="745455" y="6594444"/>
              <a:chExt cx="722663" cy="98476"/>
            </a:xfrm>
          </p:grpSpPr>
          <p:sp>
            <p:nvSpPr>
              <p:cNvPr id="300" name="Google Shape;300;p127"/>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1" name="Google Shape;301;p127"/>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2" name="Google Shape;302;p127"/>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3" name="Google Shape;303;p127"/>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4" name="Google Shape;304;p127"/>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5" name="Google Shape;305;p127"/>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6" name="Google Shape;306;p127"/>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7" name="Google Shape;307;p127"/>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8" name="Google Shape;308;p127"/>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9" name="Google Shape;309;p127"/>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10" name="Google Shape;310;p127"/>
            <p:cNvGrpSpPr/>
            <p:nvPr/>
          </p:nvGrpSpPr>
          <p:grpSpPr>
            <a:xfrm>
              <a:off x="265625" y="6323271"/>
              <a:ext cx="1249222" cy="190348"/>
              <a:chOff x="265625" y="6323271"/>
              <a:chExt cx="1249222" cy="190348"/>
            </a:xfrm>
          </p:grpSpPr>
          <p:sp>
            <p:nvSpPr>
              <p:cNvPr id="311" name="Google Shape;311;p127"/>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2" name="Google Shape;312;p127"/>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3" name="Google Shape;313;p127"/>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4" name="Google Shape;314;p127"/>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5" name="Google Shape;315;p127"/>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6" name="Google Shape;316;p127"/>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7" name="Google Shape;317;p127"/>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18" name="Google Shape;318;p127"/>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9" name="Google Shape;319;p127"/>
          <p:cNvSpPr txBox="1">
            <a:spLocks noGrp="1"/>
          </p:cNvSpPr>
          <p:nvPr>
            <p:ph type="subTitle" idx="4"/>
          </p:nvPr>
        </p:nvSpPr>
        <p:spPr>
          <a:xfrm>
            <a:off x="6592948" y="2986547"/>
            <a:ext cx="5116452" cy="41640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20" name="Google Shape;320;p127"/>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21" name="Google Shape;321;p127"/>
          <p:cNvGrpSpPr/>
          <p:nvPr/>
        </p:nvGrpSpPr>
        <p:grpSpPr>
          <a:xfrm>
            <a:off x="265625" y="6323271"/>
            <a:ext cx="1249222" cy="369649"/>
            <a:chOff x="265625" y="6323271"/>
            <a:chExt cx="1249222" cy="369649"/>
          </a:xfrm>
        </p:grpSpPr>
        <p:grpSp>
          <p:nvGrpSpPr>
            <p:cNvPr id="322" name="Google Shape;322;p127"/>
            <p:cNvGrpSpPr/>
            <p:nvPr/>
          </p:nvGrpSpPr>
          <p:grpSpPr>
            <a:xfrm>
              <a:off x="745455" y="6594444"/>
              <a:ext cx="722663" cy="98476"/>
              <a:chOff x="745455" y="6594444"/>
              <a:chExt cx="722663" cy="98476"/>
            </a:xfrm>
          </p:grpSpPr>
          <p:sp>
            <p:nvSpPr>
              <p:cNvPr id="323" name="Google Shape;323;p127"/>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4" name="Google Shape;324;p127"/>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5" name="Google Shape;325;p127"/>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6" name="Google Shape;326;p127"/>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7" name="Google Shape;327;p127"/>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8" name="Google Shape;328;p127"/>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9" name="Google Shape;329;p127"/>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0" name="Google Shape;330;p127"/>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1" name="Google Shape;331;p127"/>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2" name="Google Shape;332;p127"/>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33" name="Google Shape;333;p127"/>
            <p:cNvGrpSpPr/>
            <p:nvPr/>
          </p:nvGrpSpPr>
          <p:grpSpPr>
            <a:xfrm>
              <a:off x="265625" y="6323271"/>
              <a:ext cx="1249222" cy="190348"/>
              <a:chOff x="265625" y="6323271"/>
              <a:chExt cx="1249222" cy="190348"/>
            </a:xfrm>
          </p:grpSpPr>
          <p:sp>
            <p:nvSpPr>
              <p:cNvPr id="334" name="Google Shape;334;p127"/>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5" name="Google Shape;335;p127"/>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6" name="Google Shape;336;p127"/>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7" name="Google Shape;337;p127"/>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8" name="Google Shape;338;p127"/>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9" name="Google Shape;339;p127"/>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0" name="Google Shape;340;p127"/>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41" name="Google Shape;341;p127"/>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 Slide – Plum">
  <p:cSld name="Title Slide – Plum">
    <p:spTree>
      <p:nvGrpSpPr>
        <p:cNvPr id="1" name="Shape 342"/>
        <p:cNvGrpSpPr/>
        <p:nvPr/>
      </p:nvGrpSpPr>
      <p:grpSpPr>
        <a:xfrm>
          <a:off x="0" y="0"/>
          <a:ext cx="0" cy="0"/>
          <a:chOff x="0" y="0"/>
          <a:chExt cx="0" cy="0"/>
        </a:xfrm>
      </p:grpSpPr>
      <p:pic>
        <p:nvPicPr>
          <p:cNvPr id="343" name="Google Shape;343;p128"/>
          <p:cNvPicPr preferRelativeResize="0"/>
          <p:nvPr/>
        </p:nvPicPr>
        <p:blipFill rotWithShape="1">
          <a:blip r:embed="rId2">
            <a:alphaModFix/>
          </a:blip>
          <a:srcRect l="1042" r="1972" b="1787"/>
          <a:stretch/>
        </p:blipFill>
        <p:spPr>
          <a:xfrm>
            <a:off x="0" y="658109"/>
            <a:ext cx="12188825" cy="6205839"/>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4901"/>
              </a:schemeClr>
            </a:outerShdw>
          </a:effectLst>
        </p:spPr>
      </p:pic>
      <p:sp>
        <p:nvSpPr>
          <p:cNvPr id="344" name="Google Shape;344;p128"/>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5"/>
              </a:gs>
              <a:gs pos="16000">
                <a:schemeClr val="accent5"/>
              </a:gs>
              <a:gs pos="45000">
                <a:srgbClr val="4764A1"/>
              </a:gs>
              <a:gs pos="90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5" name="Google Shape;345;p128"/>
          <p:cNvSpPr txBox="1">
            <a:spLocks noGrp="1"/>
          </p:cNvSpPr>
          <p:nvPr>
            <p:ph type="body" idx="1"/>
          </p:nvPr>
        </p:nvSpPr>
        <p:spPr>
          <a:xfrm>
            <a:off x="6592948" y="4737425"/>
            <a:ext cx="5402202" cy="355601"/>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46" name="Google Shape;346;p128"/>
          <p:cNvSpPr txBox="1">
            <a:spLocks noGrp="1"/>
          </p:cNvSpPr>
          <p:nvPr>
            <p:ph type="body" idx="2"/>
          </p:nvPr>
        </p:nvSpPr>
        <p:spPr>
          <a:xfrm>
            <a:off x="6592948" y="5117480"/>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47" name="Google Shape;347;p128"/>
          <p:cNvSpPr txBox="1">
            <a:spLocks noGrp="1"/>
          </p:cNvSpPr>
          <p:nvPr>
            <p:ph type="body" idx="3"/>
          </p:nvPr>
        </p:nvSpPr>
        <p:spPr>
          <a:xfrm>
            <a:off x="6592948" y="5485986"/>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grpSp>
        <p:nvGrpSpPr>
          <p:cNvPr id="348" name="Google Shape;348;p128"/>
          <p:cNvGrpSpPr/>
          <p:nvPr/>
        </p:nvGrpSpPr>
        <p:grpSpPr>
          <a:xfrm>
            <a:off x="265625" y="6323271"/>
            <a:ext cx="1249222" cy="369649"/>
            <a:chOff x="265625" y="6323271"/>
            <a:chExt cx="1249222" cy="369649"/>
          </a:xfrm>
        </p:grpSpPr>
        <p:grpSp>
          <p:nvGrpSpPr>
            <p:cNvPr id="349" name="Google Shape;349;p128"/>
            <p:cNvGrpSpPr/>
            <p:nvPr/>
          </p:nvGrpSpPr>
          <p:grpSpPr>
            <a:xfrm>
              <a:off x="745455" y="6594444"/>
              <a:ext cx="722663" cy="98476"/>
              <a:chOff x="745455" y="6594444"/>
              <a:chExt cx="722663" cy="98476"/>
            </a:xfrm>
          </p:grpSpPr>
          <p:sp>
            <p:nvSpPr>
              <p:cNvPr id="350" name="Google Shape;350;p128"/>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1" name="Google Shape;351;p128"/>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2" name="Google Shape;352;p128"/>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3" name="Google Shape;353;p128"/>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4" name="Google Shape;354;p128"/>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5" name="Google Shape;355;p128"/>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6" name="Google Shape;356;p128"/>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7" name="Google Shape;357;p128"/>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8" name="Google Shape;358;p128"/>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9" name="Google Shape;359;p128"/>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60" name="Google Shape;360;p128"/>
            <p:cNvGrpSpPr/>
            <p:nvPr/>
          </p:nvGrpSpPr>
          <p:grpSpPr>
            <a:xfrm>
              <a:off x="265625" y="6323271"/>
              <a:ext cx="1249222" cy="190348"/>
              <a:chOff x="265625" y="6323271"/>
              <a:chExt cx="1249222" cy="190348"/>
            </a:xfrm>
          </p:grpSpPr>
          <p:sp>
            <p:nvSpPr>
              <p:cNvPr id="361" name="Google Shape;361;p128"/>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2" name="Google Shape;362;p128"/>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3" name="Google Shape;363;p128"/>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4" name="Google Shape;364;p128"/>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5" name="Google Shape;365;p128"/>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6" name="Google Shape;366;p128"/>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 name="Google Shape;367;p128"/>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68" name="Google Shape;368;p128"/>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9" name="Google Shape;369;p128"/>
          <p:cNvSpPr txBox="1">
            <a:spLocks noGrp="1"/>
          </p:cNvSpPr>
          <p:nvPr>
            <p:ph type="subTitle" idx="4"/>
          </p:nvPr>
        </p:nvSpPr>
        <p:spPr>
          <a:xfrm>
            <a:off x="6592948" y="2986547"/>
            <a:ext cx="5116452" cy="41640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70" name="Google Shape;370;p128"/>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rgbClr val="6C4B91"/>
              </a:gs>
              <a:gs pos="100000">
                <a:srgbClr val="6C4B9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1" name="Google Shape;371;p128"/>
          <p:cNvGrpSpPr/>
          <p:nvPr/>
        </p:nvGrpSpPr>
        <p:grpSpPr>
          <a:xfrm>
            <a:off x="265625" y="6323271"/>
            <a:ext cx="1249222" cy="369649"/>
            <a:chOff x="265625" y="6323271"/>
            <a:chExt cx="1249222" cy="369649"/>
          </a:xfrm>
        </p:grpSpPr>
        <p:grpSp>
          <p:nvGrpSpPr>
            <p:cNvPr id="372" name="Google Shape;372;p128"/>
            <p:cNvGrpSpPr/>
            <p:nvPr/>
          </p:nvGrpSpPr>
          <p:grpSpPr>
            <a:xfrm>
              <a:off x="745455" y="6594444"/>
              <a:ext cx="722663" cy="98476"/>
              <a:chOff x="745455" y="6594444"/>
              <a:chExt cx="722663" cy="98476"/>
            </a:xfrm>
          </p:grpSpPr>
          <p:sp>
            <p:nvSpPr>
              <p:cNvPr id="373" name="Google Shape;373;p128"/>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 name="Google Shape;374;p128"/>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 name="Google Shape;375;p128"/>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 name="Google Shape;376;p128"/>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 name="Google Shape;377;p128"/>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 name="Google Shape;378;p128"/>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9" name="Google Shape;379;p128"/>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 name="Google Shape;380;p128"/>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 name="Google Shape;381;p128"/>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2" name="Google Shape;382;p128"/>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83" name="Google Shape;383;p128"/>
            <p:cNvGrpSpPr/>
            <p:nvPr/>
          </p:nvGrpSpPr>
          <p:grpSpPr>
            <a:xfrm>
              <a:off x="265625" y="6323271"/>
              <a:ext cx="1249222" cy="190348"/>
              <a:chOff x="265625" y="6323271"/>
              <a:chExt cx="1249222" cy="190348"/>
            </a:xfrm>
          </p:grpSpPr>
          <p:sp>
            <p:nvSpPr>
              <p:cNvPr id="384" name="Google Shape;384;p128"/>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5" name="Google Shape;385;p128"/>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6" name="Google Shape;386;p128"/>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7" name="Google Shape;387;p128"/>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8" name="Google Shape;388;p128"/>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9" name="Google Shape;389;p128"/>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0" name="Google Shape;390;p128"/>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91" name="Google Shape;391;p128"/>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rgbClr val="6C4B91"/>
              </a:gs>
              <a:gs pos="100000">
                <a:srgbClr val="6C4B9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2" name="Google Shape;392;p128"/>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93"/>
        <p:cNvGrpSpPr/>
        <p:nvPr/>
      </p:nvGrpSpPr>
      <p:grpSpPr>
        <a:xfrm>
          <a:off x="0" y="0"/>
          <a:ext cx="0" cy="0"/>
          <a:chOff x="0" y="0"/>
          <a:chExt cx="0" cy="0"/>
        </a:xfrm>
      </p:grpSpPr>
      <p:sp>
        <p:nvSpPr>
          <p:cNvPr id="394" name="Google Shape;394;p12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395" name="Google Shape;395;p12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396" name="Google Shape;396;p129"/>
          <p:cNvSpPr txBox="1">
            <a:spLocks noGrp="1"/>
          </p:cNvSpPr>
          <p:nvPr>
            <p:ph type="body" idx="1"/>
          </p:nvPr>
        </p:nvSpPr>
        <p:spPr>
          <a:xfrm>
            <a:off x="609600" y="1267608"/>
            <a:ext cx="1939925" cy="1969770"/>
          </a:xfrm>
          <a:prstGeom prst="rect">
            <a:avLst/>
          </a:prstGeom>
          <a:noFill/>
          <a:ln>
            <a:noFill/>
          </a:ln>
        </p:spPr>
        <p:txBody>
          <a:bodyPr spcFirstLastPara="1" wrap="square" lIns="0" tIns="0" rIns="0" bIns="0" anchor="t" anchorCtr="0">
            <a:spAutoFit/>
          </a:bodyPr>
          <a:lstStyle>
            <a:lvl1pPr marL="457200" lvl="0" indent="-411480" algn="l">
              <a:lnSpc>
                <a:spcPct val="100000"/>
              </a:lnSpc>
              <a:spcBef>
                <a:spcPts val="0"/>
              </a:spcBef>
              <a:spcAft>
                <a:spcPts val="0"/>
              </a:spcAft>
              <a:buSzPts val="2880"/>
              <a:buChar char="​"/>
              <a:defRPr sz="3200">
                <a:solidFill>
                  <a:schemeClr val="accent2"/>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97" name="Google Shape;397;p129"/>
          <p:cNvSpPr txBox="1">
            <a:spLocks noGrp="1"/>
          </p:cNvSpPr>
          <p:nvPr>
            <p:ph type="body" idx="2"/>
          </p:nvPr>
        </p:nvSpPr>
        <p:spPr>
          <a:xfrm>
            <a:off x="2894013" y="1267608"/>
            <a:ext cx="7335837" cy="4337050"/>
          </a:xfrm>
          <a:prstGeom prst="rect">
            <a:avLst/>
          </a:prstGeom>
          <a:noFill/>
          <a:ln>
            <a:noFill/>
          </a:ln>
        </p:spPr>
        <p:txBody>
          <a:bodyPr spcFirstLastPara="1" wrap="square" lIns="0" tIns="0" rIns="0" bIns="0" anchor="t" anchorCtr="0">
            <a:noAutofit/>
          </a:bodyPr>
          <a:lstStyle>
            <a:lvl1pPr marL="457200" lvl="0" indent="-388620" algn="l">
              <a:lnSpc>
                <a:spcPct val="100000"/>
              </a:lnSpc>
              <a:spcBef>
                <a:spcPts val="0"/>
              </a:spcBef>
              <a:spcAft>
                <a:spcPts val="0"/>
              </a:spcAft>
              <a:buClr>
                <a:schemeClr val="accent2"/>
              </a:buClr>
              <a:buSzPts val="2520"/>
              <a:buFont typeface="Arial"/>
              <a:buChar char="•"/>
              <a:defRPr sz="2800"/>
            </a:lvl1pPr>
            <a:lvl2pPr marL="914400" lvl="1" indent="-365760" algn="l">
              <a:lnSpc>
                <a:spcPct val="100000"/>
              </a:lnSpc>
              <a:spcBef>
                <a:spcPts val="1200"/>
              </a:spcBef>
              <a:spcAft>
                <a:spcPts val="0"/>
              </a:spcAft>
              <a:buClr>
                <a:schemeClr val="accent2"/>
              </a:buClr>
              <a:buSzPts val="2160"/>
              <a:buChar char="•"/>
              <a:defRPr sz="2400"/>
            </a:lvl2pPr>
            <a:lvl3pPr marL="1371600" lvl="2" indent="-342900" algn="l">
              <a:lnSpc>
                <a:spcPct val="100000"/>
              </a:lnSpc>
              <a:spcBef>
                <a:spcPts val="1200"/>
              </a:spcBef>
              <a:spcAft>
                <a:spcPts val="0"/>
              </a:spcAft>
              <a:buClr>
                <a:schemeClr val="accent2"/>
              </a:buClr>
              <a:buSzPts val="1800"/>
              <a:buChar char="–"/>
              <a:defRPr sz="2000"/>
            </a:lvl3pPr>
            <a:lvl4pPr marL="1828800" lvl="3" indent="-331469" algn="l">
              <a:lnSpc>
                <a:spcPct val="100000"/>
              </a:lnSpc>
              <a:spcBef>
                <a:spcPts val="1200"/>
              </a:spcBef>
              <a:spcAft>
                <a:spcPts val="0"/>
              </a:spcAft>
              <a:buClr>
                <a:schemeClr val="accent2"/>
              </a:buClr>
              <a:buSzPts val="1620"/>
              <a:buChar char="•"/>
              <a:defRPr sz="1800"/>
            </a:lvl4pPr>
            <a:lvl5pPr marL="2286000" lvl="4" indent="-331470" algn="l">
              <a:lnSpc>
                <a:spcPct val="100000"/>
              </a:lnSpc>
              <a:spcBef>
                <a:spcPts val="1200"/>
              </a:spcBef>
              <a:spcAft>
                <a:spcPts val="0"/>
              </a:spcAft>
              <a:buClr>
                <a:schemeClr val="accent2"/>
              </a:buClr>
              <a:buSzPts val="1620"/>
              <a:buChar char="–"/>
              <a:defRPr sz="1800"/>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 Leaf">
  <p:cSld name="Section Header – Leaf">
    <p:spTree>
      <p:nvGrpSpPr>
        <p:cNvPr id="1" name="Shape 398"/>
        <p:cNvGrpSpPr/>
        <p:nvPr/>
      </p:nvGrpSpPr>
      <p:grpSpPr>
        <a:xfrm>
          <a:off x="0" y="0"/>
          <a:ext cx="0" cy="0"/>
          <a:chOff x="0" y="0"/>
          <a:chExt cx="0" cy="0"/>
        </a:xfrm>
      </p:grpSpPr>
      <p:sp>
        <p:nvSpPr>
          <p:cNvPr id="399" name="Google Shape;399;p130"/>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0" name="Google Shape;400;p130"/>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01" name="Google Shape;401;p13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402" name="Google Shape;402;p130"/>
          <p:cNvSpPr/>
          <p:nvPr/>
        </p:nvSpPr>
        <p:spPr>
          <a:xfrm>
            <a:off x="6525510" y="666685"/>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4"/>
              </a:gs>
              <a:gs pos="21000">
                <a:schemeClr val="accent4"/>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3" name="Google Shape;403;p13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 Aqua">
  <p:cSld name="Section Header – Aqua">
    <p:spTree>
      <p:nvGrpSpPr>
        <p:cNvPr id="1" name="Shape 404"/>
        <p:cNvGrpSpPr/>
        <p:nvPr/>
      </p:nvGrpSpPr>
      <p:grpSpPr>
        <a:xfrm>
          <a:off x="0" y="0"/>
          <a:ext cx="0" cy="0"/>
          <a:chOff x="0" y="0"/>
          <a:chExt cx="0" cy="0"/>
        </a:xfrm>
      </p:grpSpPr>
      <p:sp>
        <p:nvSpPr>
          <p:cNvPr id="405" name="Google Shape;405;p131"/>
          <p:cNvSpPr txBox="1">
            <a:spLocks noGrp="1"/>
          </p:cNvSpPr>
          <p:nvPr>
            <p:ph type="title"/>
          </p:nvPr>
        </p:nvSpPr>
        <p:spPr>
          <a:xfrm>
            <a:off x="589107" y="938794"/>
            <a:ext cx="6587869"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6" name="Google Shape;406;p131"/>
          <p:cNvSpPr txBox="1">
            <a:spLocks noGrp="1"/>
          </p:cNvSpPr>
          <p:nvPr>
            <p:ph type="subTitle" idx="1"/>
          </p:nvPr>
        </p:nvSpPr>
        <p:spPr>
          <a:xfrm>
            <a:off x="602966" y="2267712"/>
            <a:ext cx="6574010"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07" name="Google Shape;407;p13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408" name="Google Shape;408;p131"/>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2"/>
              </a:gs>
              <a:gs pos="21000">
                <a:schemeClr val="accent2"/>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9" name="Google Shape;409;p13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Quote – Leaf">
  <p:cSld name="Quote – Leaf">
    <p:spTree>
      <p:nvGrpSpPr>
        <p:cNvPr id="1" name="Shape 464"/>
        <p:cNvGrpSpPr/>
        <p:nvPr/>
      </p:nvGrpSpPr>
      <p:grpSpPr>
        <a:xfrm>
          <a:off x="0" y="0"/>
          <a:ext cx="0" cy="0"/>
          <a:chOff x="0" y="0"/>
          <a:chExt cx="0" cy="0"/>
        </a:xfrm>
      </p:grpSpPr>
      <p:sp>
        <p:nvSpPr>
          <p:cNvPr id="465" name="Google Shape;465;p133"/>
          <p:cNvSpPr txBox="1">
            <a:spLocks noGrp="1"/>
          </p:cNvSpPr>
          <p:nvPr>
            <p:ph type="body" idx="1"/>
          </p:nvPr>
        </p:nvSpPr>
        <p:spPr>
          <a:xfrm>
            <a:off x="438912" y="1600200"/>
            <a:ext cx="5413248"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66" name="Google Shape;466;p133"/>
          <p:cNvSpPr txBox="1">
            <a:spLocks noGrp="1"/>
          </p:cNvSpPr>
          <p:nvPr>
            <p:ph type="body" idx="2"/>
          </p:nvPr>
        </p:nvSpPr>
        <p:spPr>
          <a:xfrm>
            <a:off x="612648" y="5065776"/>
            <a:ext cx="4581144" cy="27432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67" name="Google Shape;467;p133" descr="logo placeholder: click to insert logo or delete box if not needed"/>
          <p:cNvSpPr>
            <a:spLocks noGrp="1"/>
          </p:cNvSpPr>
          <p:nvPr>
            <p:ph type="pic" idx="3"/>
          </p:nvPr>
        </p:nvSpPr>
        <p:spPr>
          <a:xfrm>
            <a:off x="8925484" y="4619335"/>
            <a:ext cx="2740025" cy="1371600"/>
          </a:xfrm>
          <a:prstGeom prst="rect">
            <a:avLst/>
          </a:prstGeom>
          <a:noFill/>
          <a:ln>
            <a:noFill/>
          </a:ln>
        </p:spPr>
      </p:sp>
      <p:sp>
        <p:nvSpPr>
          <p:cNvPr id="468" name="Google Shape;468;p13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469" name="Google Shape;469;p133"/>
          <p:cNvGrpSpPr/>
          <p:nvPr/>
        </p:nvGrpSpPr>
        <p:grpSpPr>
          <a:xfrm>
            <a:off x="265625" y="6323271"/>
            <a:ext cx="1249222" cy="369649"/>
            <a:chOff x="265625" y="6323271"/>
            <a:chExt cx="1249222" cy="369649"/>
          </a:xfrm>
        </p:grpSpPr>
        <p:grpSp>
          <p:nvGrpSpPr>
            <p:cNvPr id="470" name="Google Shape;470;p133"/>
            <p:cNvGrpSpPr/>
            <p:nvPr/>
          </p:nvGrpSpPr>
          <p:grpSpPr>
            <a:xfrm>
              <a:off x="745455" y="6594444"/>
              <a:ext cx="722663" cy="98476"/>
              <a:chOff x="745455" y="6594444"/>
              <a:chExt cx="722663" cy="98476"/>
            </a:xfrm>
          </p:grpSpPr>
          <p:sp>
            <p:nvSpPr>
              <p:cNvPr id="471" name="Google Shape;471;p133"/>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2" name="Google Shape;472;p133"/>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3" name="Google Shape;473;p133"/>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4" name="Google Shape;474;p133"/>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5" name="Google Shape;475;p133"/>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6" name="Google Shape;476;p133"/>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7" name="Google Shape;477;p133"/>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8" name="Google Shape;478;p133"/>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9" name="Google Shape;479;p133"/>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0" name="Google Shape;480;p133"/>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481" name="Google Shape;481;p133"/>
            <p:cNvGrpSpPr/>
            <p:nvPr/>
          </p:nvGrpSpPr>
          <p:grpSpPr>
            <a:xfrm>
              <a:off x="265625" y="6323271"/>
              <a:ext cx="1249222" cy="190348"/>
              <a:chOff x="265625" y="6323271"/>
              <a:chExt cx="1249222" cy="190348"/>
            </a:xfrm>
          </p:grpSpPr>
          <p:sp>
            <p:nvSpPr>
              <p:cNvPr id="482" name="Google Shape;482;p133"/>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3" name="Google Shape;483;p133"/>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4" name="Google Shape;484;p133"/>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5" name="Google Shape;485;p133"/>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6" name="Google Shape;486;p133"/>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7" name="Google Shape;487;p133"/>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8" name="Google Shape;488;p133"/>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489" name="Google Shape;489;p133"/>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0" name="Google Shape;490;p13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491" name="Google Shape;491;p133"/>
          <p:cNvGrpSpPr/>
          <p:nvPr/>
        </p:nvGrpSpPr>
        <p:grpSpPr>
          <a:xfrm>
            <a:off x="265625" y="6323271"/>
            <a:ext cx="1249222" cy="369649"/>
            <a:chOff x="265625" y="6323271"/>
            <a:chExt cx="1249222" cy="369649"/>
          </a:xfrm>
        </p:grpSpPr>
        <p:grpSp>
          <p:nvGrpSpPr>
            <p:cNvPr id="492" name="Google Shape;492;p133"/>
            <p:cNvGrpSpPr/>
            <p:nvPr/>
          </p:nvGrpSpPr>
          <p:grpSpPr>
            <a:xfrm>
              <a:off x="745455" y="6594444"/>
              <a:ext cx="722663" cy="98476"/>
              <a:chOff x="745455" y="6594444"/>
              <a:chExt cx="722663" cy="98476"/>
            </a:xfrm>
          </p:grpSpPr>
          <p:sp>
            <p:nvSpPr>
              <p:cNvPr id="493" name="Google Shape;493;p133"/>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4" name="Google Shape;494;p133"/>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5" name="Google Shape;495;p133"/>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6" name="Google Shape;496;p133"/>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7" name="Google Shape;497;p133"/>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8" name="Google Shape;498;p133"/>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9" name="Google Shape;499;p133"/>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0" name="Google Shape;500;p133"/>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1" name="Google Shape;501;p133"/>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2" name="Google Shape;502;p133"/>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03" name="Google Shape;503;p133"/>
            <p:cNvGrpSpPr/>
            <p:nvPr/>
          </p:nvGrpSpPr>
          <p:grpSpPr>
            <a:xfrm>
              <a:off x="265625" y="6323271"/>
              <a:ext cx="1249222" cy="190348"/>
              <a:chOff x="265625" y="6323271"/>
              <a:chExt cx="1249222" cy="190348"/>
            </a:xfrm>
          </p:grpSpPr>
          <p:sp>
            <p:nvSpPr>
              <p:cNvPr id="504" name="Google Shape;504;p133"/>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5" name="Google Shape;505;p133"/>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6" name="Google Shape;506;p133"/>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7" name="Google Shape;507;p133"/>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8" name="Google Shape;508;p133"/>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9" name="Google Shape;509;p133"/>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0" name="Google Shape;510;p133"/>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11" name="Google Shape;511;p133"/>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Quote – Aqua">
  <p:cSld name="Quote – Aqua">
    <p:spTree>
      <p:nvGrpSpPr>
        <p:cNvPr id="1" name="Shape 512"/>
        <p:cNvGrpSpPr/>
        <p:nvPr/>
      </p:nvGrpSpPr>
      <p:grpSpPr>
        <a:xfrm>
          <a:off x="0" y="0"/>
          <a:ext cx="0" cy="0"/>
          <a:chOff x="0" y="0"/>
          <a:chExt cx="0" cy="0"/>
        </a:xfrm>
      </p:grpSpPr>
      <p:sp>
        <p:nvSpPr>
          <p:cNvPr id="513" name="Google Shape;513;p134"/>
          <p:cNvSpPr/>
          <p:nvPr/>
        </p:nvSpPr>
        <p:spPr>
          <a:xfrm>
            <a:off x="0" y="0"/>
            <a:ext cx="12188825" cy="6033051"/>
          </a:xfrm>
          <a:custGeom>
            <a:avLst/>
            <a:gdLst/>
            <a:ahLst/>
            <a:cxnLst/>
            <a:rect l="l" t="t" r="r" b="b"/>
            <a:pathLst>
              <a:path w="12197292" h="6041519" extrusionOk="0">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4" name="Google Shape;514;p134"/>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5" name="Google Shape;515;p134"/>
          <p:cNvSpPr txBox="1">
            <a:spLocks noGrp="1"/>
          </p:cNvSpPr>
          <p:nvPr>
            <p:ph type="body" idx="1"/>
          </p:nvPr>
        </p:nvSpPr>
        <p:spPr>
          <a:xfrm>
            <a:off x="438912" y="1600200"/>
            <a:ext cx="5413248"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16" name="Google Shape;516;p134"/>
          <p:cNvSpPr txBox="1">
            <a:spLocks noGrp="1"/>
          </p:cNvSpPr>
          <p:nvPr>
            <p:ph type="body" idx="2"/>
          </p:nvPr>
        </p:nvSpPr>
        <p:spPr>
          <a:xfrm>
            <a:off x="612648" y="5065776"/>
            <a:ext cx="4581144" cy="27432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17" name="Google Shape;517;p134" descr="logo placeholder: click to insert logo or delete box if not needed"/>
          <p:cNvSpPr>
            <a:spLocks noGrp="1"/>
          </p:cNvSpPr>
          <p:nvPr>
            <p:ph type="pic" idx="3"/>
          </p:nvPr>
        </p:nvSpPr>
        <p:spPr>
          <a:xfrm>
            <a:off x="8925484" y="4619335"/>
            <a:ext cx="2740025" cy="1371600"/>
          </a:xfrm>
          <a:prstGeom prst="rect">
            <a:avLst/>
          </a:prstGeom>
          <a:noFill/>
          <a:ln>
            <a:noFill/>
          </a:ln>
        </p:spPr>
      </p:sp>
      <p:sp>
        <p:nvSpPr>
          <p:cNvPr id="518" name="Google Shape;518;p13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519" name="Google Shape;519;p134"/>
          <p:cNvGrpSpPr/>
          <p:nvPr/>
        </p:nvGrpSpPr>
        <p:grpSpPr>
          <a:xfrm>
            <a:off x="265625" y="6323271"/>
            <a:ext cx="1249222" cy="369649"/>
            <a:chOff x="265625" y="6323271"/>
            <a:chExt cx="1249222" cy="369649"/>
          </a:xfrm>
        </p:grpSpPr>
        <p:grpSp>
          <p:nvGrpSpPr>
            <p:cNvPr id="520" name="Google Shape;520;p134"/>
            <p:cNvGrpSpPr/>
            <p:nvPr/>
          </p:nvGrpSpPr>
          <p:grpSpPr>
            <a:xfrm>
              <a:off x="745455" y="6594444"/>
              <a:ext cx="722663" cy="98476"/>
              <a:chOff x="745455" y="6594444"/>
              <a:chExt cx="722663" cy="98476"/>
            </a:xfrm>
          </p:grpSpPr>
          <p:sp>
            <p:nvSpPr>
              <p:cNvPr id="521" name="Google Shape;521;p134"/>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2" name="Google Shape;522;p134"/>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3" name="Google Shape;523;p134"/>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4" name="Google Shape;524;p134"/>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5" name="Google Shape;525;p134"/>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6" name="Google Shape;526;p134"/>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7" name="Google Shape;527;p134"/>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8" name="Google Shape;528;p134"/>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9" name="Google Shape;529;p134"/>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0" name="Google Shape;530;p134"/>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31" name="Google Shape;531;p134"/>
            <p:cNvGrpSpPr/>
            <p:nvPr/>
          </p:nvGrpSpPr>
          <p:grpSpPr>
            <a:xfrm>
              <a:off x="265625" y="6323271"/>
              <a:ext cx="1249222" cy="190348"/>
              <a:chOff x="265625" y="6323271"/>
              <a:chExt cx="1249222" cy="190348"/>
            </a:xfrm>
          </p:grpSpPr>
          <p:sp>
            <p:nvSpPr>
              <p:cNvPr id="532" name="Google Shape;532;p134"/>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3" name="Google Shape;533;p134"/>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4" name="Google Shape;534;p134"/>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5" name="Google Shape;535;p134"/>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6" name="Google Shape;536;p134"/>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7" name="Google Shape;537;p134"/>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8" name="Google Shape;538;p134"/>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39" name="Google Shape;539;p13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540" name="Google Shape;540;p134"/>
          <p:cNvGrpSpPr/>
          <p:nvPr/>
        </p:nvGrpSpPr>
        <p:grpSpPr>
          <a:xfrm>
            <a:off x="265625" y="6323271"/>
            <a:ext cx="1249222" cy="369649"/>
            <a:chOff x="265625" y="6323271"/>
            <a:chExt cx="1249222" cy="369649"/>
          </a:xfrm>
        </p:grpSpPr>
        <p:grpSp>
          <p:nvGrpSpPr>
            <p:cNvPr id="541" name="Google Shape;541;p134"/>
            <p:cNvGrpSpPr/>
            <p:nvPr/>
          </p:nvGrpSpPr>
          <p:grpSpPr>
            <a:xfrm>
              <a:off x="745455" y="6594444"/>
              <a:ext cx="722663" cy="98476"/>
              <a:chOff x="745455" y="6594444"/>
              <a:chExt cx="722663" cy="98476"/>
            </a:xfrm>
          </p:grpSpPr>
          <p:sp>
            <p:nvSpPr>
              <p:cNvPr id="542" name="Google Shape;542;p134"/>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3" name="Google Shape;543;p134"/>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4" name="Google Shape;544;p134"/>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5" name="Google Shape;545;p134"/>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6" name="Google Shape;546;p134"/>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7" name="Google Shape;547;p134"/>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8" name="Google Shape;548;p134"/>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9" name="Google Shape;549;p134"/>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0" name="Google Shape;550;p134"/>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1" name="Google Shape;551;p134"/>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52" name="Google Shape;552;p134"/>
            <p:cNvGrpSpPr/>
            <p:nvPr/>
          </p:nvGrpSpPr>
          <p:grpSpPr>
            <a:xfrm>
              <a:off x="265625" y="6323271"/>
              <a:ext cx="1249222" cy="190348"/>
              <a:chOff x="265625" y="6323271"/>
              <a:chExt cx="1249222" cy="190348"/>
            </a:xfrm>
          </p:grpSpPr>
          <p:sp>
            <p:nvSpPr>
              <p:cNvPr id="553" name="Google Shape;553;p134"/>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4" name="Google Shape;554;p134"/>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5" name="Google Shape;555;p134"/>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6" name="Google Shape;556;p134"/>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7" name="Google Shape;557;p134"/>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8" name="Google Shape;558;p134"/>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9" name="Google Shape;559;p134"/>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60" name="Google Shape;560;p134"/>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Quote – Plum">
  <p:cSld name="Quote – Plum">
    <p:spTree>
      <p:nvGrpSpPr>
        <p:cNvPr id="1" name="Shape 561"/>
        <p:cNvGrpSpPr/>
        <p:nvPr/>
      </p:nvGrpSpPr>
      <p:grpSpPr>
        <a:xfrm>
          <a:off x="0" y="0"/>
          <a:ext cx="0" cy="0"/>
          <a:chOff x="0" y="0"/>
          <a:chExt cx="0" cy="0"/>
        </a:xfrm>
      </p:grpSpPr>
      <p:sp>
        <p:nvSpPr>
          <p:cNvPr id="562" name="Google Shape;562;p135"/>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9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3" name="Google Shape;563;p135"/>
          <p:cNvSpPr txBox="1">
            <a:spLocks noGrp="1"/>
          </p:cNvSpPr>
          <p:nvPr>
            <p:ph type="body" idx="1"/>
          </p:nvPr>
        </p:nvSpPr>
        <p:spPr>
          <a:xfrm>
            <a:off x="438912" y="1600200"/>
            <a:ext cx="5462158"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64" name="Google Shape;564;p135"/>
          <p:cNvSpPr txBox="1">
            <a:spLocks noGrp="1"/>
          </p:cNvSpPr>
          <p:nvPr>
            <p:ph type="body" idx="2"/>
          </p:nvPr>
        </p:nvSpPr>
        <p:spPr>
          <a:xfrm>
            <a:off x="612648" y="5065776"/>
            <a:ext cx="4581144" cy="27432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65" name="Google Shape;565;p135" descr="logo placeholder: click to insert logo or delete box if not needed"/>
          <p:cNvSpPr>
            <a:spLocks noGrp="1"/>
          </p:cNvSpPr>
          <p:nvPr>
            <p:ph type="pic" idx="3"/>
          </p:nvPr>
        </p:nvSpPr>
        <p:spPr>
          <a:xfrm>
            <a:off x="8925484" y="4619335"/>
            <a:ext cx="2740025" cy="1371600"/>
          </a:xfrm>
          <a:prstGeom prst="rect">
            <a:avLst/>
          </a:prstGeom>
          <a:noFill/>
          <a:ln>
            <a:noFill/>
          </a:ln>
        </p:spPr>
      </p:sp>
      <p:sp>
        <p:nvSpPr>
          <p:cNvPr id="566" name="Google Shape;566;p13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567" name="Google Shape;567;p135"/>
          <p:cNvGrpSpPr/>
          <p:nvPr/>
        </p:nvGrpSpPr>
        <p:grpSpPr>
          <a:xfrm>
            <a:off x="265625" y="6323271"/>
            <a:ext cx="1249222" cy="369649"/>
            <a:chOff x="265625" y="6323271"/>
            <a:chExt cx="1249222" cy="369649"/>
          </a:xfrm>
        </p:grpSpPr>
        <p:grpSp>
          <p:nvGrpSpPr>
            <p:cNvPr id="568" name="Google Shape;568;p135"/>
            <p:cNvGrpSpPr/>
            <p:nvPr/>
          </p:nvGrpSpPr>
          <p:grpSpPr>
            <a:xfrm>
              <a:off x="745455" y="6594444"/>
              <a:ext cx="722663" cy="98476"/>
              <a:chOff x="745455" y="6594444"/>
              <a:chExt cx="722663" cy="98476"/>
            </a:xfrm>
          </p:grpSpPr>
          <p:sp>
            <p:nvSpPr>
              <p:cNvPr id="569" name="Google Shape;569;p13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 name="Google Shape;570;p13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1" name="Google Shape;571;p13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 name="Google Shape;572;p13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3" name="Google Shape;573;p13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 name="Google Shape;574;p13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 name="Google Shape;575;p13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6" name="Google Shape;576;p13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7" name="Google Shape;577;p13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8" name="Google Shape;578;p13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9" name="Google Shape;579;p135"/>
            <p:cNvGrpSpPr/>
            <p:nvPr/>
          </p:nvGrpSpPr>
          <p:grpSpPr>
            <a:xfrm>
              <a:off x="265625" y="6323271"/>
              <a:ext cx="1249222" cy="190348"/>
              <a:chOff x="265625" y="6323271"/>
              <a:chExt cx="1249222" cy="190348"/>
            </a:xfrm>
          </p:grpSpPr>
          <p:sp>
            <p:nvSpPr>
              <p:cNvPr id="580" name="Google Shape;580;p13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1" name="Google Shape;581;p13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2" name="Google Shape;582;p13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3" name="Google Shape;583;p13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4" name="Google Shape;584;p13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5" name="Google Shape;585;p13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6" name="Google Shape;586;p13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87" name="Google Shape;587;p135"/>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9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8" name="Google Shape;588;p13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589" name="Google Shape;589;p135"/>
          <p:cNvGrpSpPr/>
          <p:nvPr/>
        </p:nvGrpSpPr>
        <p:grpSpPr>
          <a:xfrm>
            <a:off x="265625" y="6323271"/>
            <a:ext cx="1249222" cy="369649"/>
            <a:chOff x="265625" y="6323271"/>
            <a:chExt cx="1249222" cy="369649"/>
          </a:xfrm>
        </p:grpSpPr>
        <p:grpSp>
          <p:nvGrpSpPr>
            <p:cNvPr id="590" name="Google Shape;590;p135"/>
            <p:cNvGrpSpPr/>
            <p:nvPr/>
          </p:nvGrpSpPr>
          <p:grpSpPr>
            <a:xfrm>
              <a:off x="745455" y="6594444"/>
              <a:ext cx="722663" cy="98476"/>
              <a:chOff x="745455" y="6594444"/>
              <a:chExt cx="722663" cy="98476"/>
            </a:xfrm>
          </p:grpSpPr>
          <p:sp>
            <p:nvSpPr>
              <p:cNvPr id="591" name="Google Shape;591;p13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2" name="Google Shape;592;p13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3" name="Google Shape;593;p13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4" name="Google Shape;594;p13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5" name="Google Shape;595;p13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6" name="Google Shape;596;p13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7" name="Google Shape;597;p13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8" name="Google Shape;598;p13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9" name="Google Shape;599;p13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0" name="Google Shape;600;p13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01" name="Google Shape;601;p135"/>
            <p:cNvGrpSpPr/>
            <p:nvPr/>
          </p:nvGrpSpPr>
          <p:grpSpPr>
            <a:xfrm>
              <a:off x="265625" y="6323271"/>
              <a:ext cx="1249222" cy="190348"/>
              <a:chOff x="265625" y="6323271"/>
              <a:chExt cx="1249222" cy="190348"/>
            </a:xfrm>
          </p:grpSpPr>
          <p:sp>
            <p:nvSpPr>
              <p:cNvPr id="602" name="Google Shape;602;p13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3" name="Google Shape;603;p13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4" name="Google Shape;604;p13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5" name="Google Shape;605;p13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6" name="Google Shape;606;p13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7" name="Google Shape;607;p13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8" name="Google Shape;608;p13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609" name="Google Shape;609;p135"/>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Content Balanced">
  <p:cSld name="Two-Content Balanced">
    <p:spTree>
      <p:nvGrpSpPr>
        <p:cNvPr id="1" name="Shape 664"/>
        <p:cNvGrpSpPr/>
        <p:nvPr/>
      </p:nvGrpSpPr>
      <p:grpSpPr>
        <a:xfrm>
          <a:off x="0" y="0"/>
          <a:ext cx="0" cy="0"/>
          <a:chOff x="0" y="0"/>
          <a:chExt cx="0" cy="0"/>
        </a:xfrm>
      </p:grpSpPr>
      <p:sp>
        <p:nvSpPr>
          <p:cNvPr id="665" name="Google Shape;665;p13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6" name="Google Shape;666;p13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667" name="Google Shape;667;p137"/>
          <p:cNvSpPr txBox="1">
            <a:spLocks noGrp="1"/>
          </p:cNvSpPr>
          <p:nvPr>
            <p:ph type="body" idx="2"/>
          </p:nvPr>
        </p:nvSpPr>
        <p:spPr>
          <a:xfrm>
            <a:off x="608013" y="1600200"/>
            <a:ext cx="5313783"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668" name="Google Shape;668;p137"/>
          <p:cNvSpPr txBox="1">
            <a:spLocks noGrp="1"/>
          </p:cNvSpPr>
          <p:nvPr>
            <p:ph type="body" idx="3"/>
          </p:nvPr>
        </p:nvSpPr>
        <p:spPr>
          <a:xfrm>
            <a:off x="6321287" y="1600200"/>
            <a:ext cx="5313783"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669" name="Google Shape;669;p13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670" name="Google Shape;670;p13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Content Balanced Color on Right">
  <p:cSld name="Two-Content Balanced Color on Right">
    <p:spTree>
      <p:nvGrpSpPr>
        <p:cNvPr id="1" name="Shape 671"/>
        <p:cNvGrpSpPr/>
        <p:nvPr/>
      </p:nvGrpSpPr>
      <p:grpSpPr>
        <a:xfrm>
          <a:off x="0" y="0"/>
          <a:ext cx="0" cy="0"/>
          <a:chOff x="0" y="0"/>
          <a:chExt cx="0" cy="0"/>
        </a:xfrm>
      </p:grpSpPr>
      <p:sp>
        <p:nvSpPr>
          <p:cNvPr id="672" name="Google Shape;672;p138"/>
          <p:cNvSpPr txBox="1">
            <a:spLocks noGrp="1"/>
          </p:cNvSpPr>
          <p:nvPr>
            <p:ph type="body" idx="1"/>
          </p:nvPr>
        </p:nvSpPr>
        <p:spPr>
          <a:xfrm>
            <a:off x="6323381" y="1600201"/>
            <a:ext cx="5865445" cy="4572000"/>
          </a:xfrm>
          <a:prstGeom prst="rect">
            <a:avLst/>
          </a:prstGeom>
          <a:solidFill>
            <a:srgbClr val="F4F8FA"/>
          </a:solidFill>
          <a:ln>
            <a:noFill/>
          </a:ln>
        </p:spPr>
        <p:txBody>
          <a:bodyPr spcFirstLastPara="1" wrap="square" lIns="4572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673" name="Google Shape;673;p138"/>
          <p:cNvSpPr txBox="1">
            <a:spLocks noGrp="1"/>
          </p:cNvSpPr>
          <p:nvPr>
            <p:ph type="subTitle" idx="2"/>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674" name="Google Shape;674;p13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5" name="Google Shape;675;p13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676" name="Google Shape;676;p138"/>
          <p:cNvSpPr txBox="1">
            <a:spLocks noGrp="1"/>
          </p:cNvSpPr>
          <p:nvPr>
            <p:ph type="body" idx="3"/>
          </p:nvPr>
        </p:nvSpPr>
        <p:spPr>
          <a:xfrm>
            <a:off x="0" y="1600201"/>
            <a:ext cx="5893593" cy="4572000"/>
          </a:xfrm>
          <a:prstGeom prst="rect">
            <a:avLst/>
          </a:prstGeom>
          <a:noFill/>
          <a:ln>
            <a:noFill/>
          </a:ln>
        </p:spPr>
        <p:txBody>
          <a:bodyPr spcFirstLastPara="1" wrap="square" lIns="59435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677" name="Google Shape;677;p13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78"/>
        <p:cNvGrpSpPr/>
        <p:nvPr/>
      </p:nvGrpSpPr>
      <p:grpSpPr>
        <a:xfrm>
          <a:off x="0" y="0"/>
          <a:ext cx="0" cy="0"/>
          <a:chOff x="0" y="0"/>
          <a:chExt cx="0" cy="0"/>
        </a:xfrm>
      </p:grpSpPr>
      <p:sp>
        <p:nvSpPr>
          <p:cNvPr id="679" name="Google Shape;679;p13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0" name="Google Shape;680;p139"/>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681" name="Google Shape;681;p139"/>
          <p:cNvSpPr txBox="1">
            <a:spLocks noGrp="1"/>
          </p:cNvSpPr>
          <p:nvPr>
            <p:ph type="body" idx="2"/>
          </p:nvPr>
        </p:nvSpPr>
        <p:spPr>
          <a:xfrm>
            <a:off x="592866" y="1600202"/>
            <a:ext cx="5287234" cy="875370"/>
          </a:xfrm>
          <a:prstGeom prst="rect">
            <a:avLst/>
          </a:prstGeom>
          <a:noFill/>
          <a:ln>
            <a:noFill/>
          </a:ln>
        </p:spPr>
        <p:txBody>
          <a:bodyPr spcFirstLastPara="1" wrap="square" lIns="0" tIns="91425" rIns="457200" bIns="91425" anchor="b" anchorCtr="0">
            <a:noAutofit/>
          </a:bodyPr>
          <a:lstStyle>
            <a:lvl1pPr marL="457200" lvl="0" indent="-342900" algn="l">
              <a:lnSpc>
                <a:spcPct val="100000"/>
              </a:lnSpc>
              <a:spcBef>
                <a:spcPts val="0"/>
              </a:spcBef>
              <a:spcAft>
                <a:spcPts val="0"/>
              </a:spcAft>
              <a:buSzPts val="1800"/>
              <a:buChar char="​"/>
              <a:defRPr>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82" name="Google Shape;682;p139"/>
          <p:cNvSpPr/>
          <p:nvPr/>
        </p:nvSpPr>
        <p:spPr>
          <a:xfrm>
            <a:off x="592865" y="2484176"/>
            <a:ext cx="5287234" cy="4571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3" name="Google Shape;683;p139"/>
          <p:cNvSpPr txBox="1">
            <a:spLocks noGrp="1"/>
          </p:cNvSpPr>
          <p:nvPr>
            <p:ph type="body" idx="3"/>
          </p:nvPr>
        </p:nvSpPr>
        <p:spPr>
          <a:xfrm>
            <a:off x="592865" y="2621020"/>
            <a:ext cx="5315794" cy="3544027"/>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84" name="Google Shape;684;p139"/>
          <p:cNvSpPr txBox="1">
            <a:spLocks noGrp="1"/>
          </p:cNvSpPr>
          <p:nvPr>
            <p:ph type="body" idx="4"/>
          </p:nvPr>
        </p:nvSpPr>
        <p:spPr>
          <a:xfrm>
            <a:off x="6308726" y="1600202"/>
            <a:ext cx="5287234" cy="875370"/>
          </a:xfrm>
          <a:prstGeom prst="rect">
            <a:avLst/>
          </a:prstGeom>
          <a:noFill/>
          <a:ln>
            <a:noFill/>
          </a:ln>
        </p:spPr>
        <p:txBody>
          <a:bodyPr spcFirstLastPara="1" wrap="square" lIns="0" tIns="91425" rIns="457200" bIns="91425" anchor="b" anchorCtr="0">
            <a:noAutofit/>
          </a:bodyPr>
          <a:lstStyle>
            <a:lvl1pPr marL="457200" lvl="0" indent="-342900" algn="l">
              <a:lnSpc>
                <a:spcPct val="100000"/>
              </a:lnSpc>
              <a:spcBef>
                <a:spcPts val="0"/>
              </a:spcBef>
              <a:spcAft>
                <a:spcPts val="0"/>
              </a:spcAft>
              <a:buSzPts val="1800"/>
              <a:buChar char="​"/>
              <a:defRPr sz="2000">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85" name="Google Shape;685;p139"/>
          <p:cNvSpPr/>
          <p:nvPr/>
        </p:nvSpPr>
        <p:spPr>
          <a:xfrm>
            <a:off x="6303874" y="2484176"/>
            <a:ext cx="5287234"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686" name="Google Shape;686;p139"/>
          <p:cNvSpPr txBox="1">
            <a:spLocks noGrp="1"/>
          </p:cNvSpPr>
          <p:nvPr>
            <p:ph type="body" idx="5"/>
          </p:nvPr>
        </p:nvSpPr>
        <p:spPr>
          <a:xfrm>
            <a:off x="6308143" y="2621280"/>
            <a:ext cx="5287234" cy="3575124"/>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87" name="Google Shape;687;p13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688" name="Google Shape;688;p139"/>
          <p:cNvSpPr/>
          <p:nvPr/>
        </p:nvSpPr>
        <p:spPr>
          <a:xfrm>
            <a:off x="592865" y="2484176"/>
            <a:ext cx="5287234" cy="4571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9" name="Google Shape;689;p139"/>
          <p:cNvSpPr/>
          <p:nvPr/>
        </p:nvSpPr>
        <p:spPr>
          <a:xfrm>
            <a:off x="6303874" y="2484176"/>
            <a:ext cx="5287234"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690" name="Google Shape;690;p13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ree-Content Comparison">
  <p:cSld name="Three-Content Comparison">
    <p:spTree>
      <p:nvGrpSpPr>
        <p:cNvPr id="1" name="Shape 691"/>
        <p:cNvGrpSpPr/>
        <p:nvPr/>
      </p:nvGrpSpPr>
      <p:grpSpPr>
        <a:xfrm>
          <a:off x="0" y="0"/>
          <a:ext cx="0" cy="0"/>
          <a:chOff x="0" y="0"/>
          <a:chExt cx="0" cy="0"/>
        </a:xfrm>
      </p:grpSpPr>
      <p:sp>
        <p:nvSpPr>
          <p:cNvPr id="692" name="Google Shape;692;p14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3" name="Google Shape;693;p140"/>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694" name="Google Shape;694;p140"/>
          <p:cNvSpPr txBox="1">
            <a:spLocks noGrp="1"/>
          </p:cNvSpPr>
          <p:nvPr>
            <p:ph type="body" idx="2"/>
          </p:nvPr>
        </p:nvSpPr>
        <p:spPr>
          <a:xfrm>
            <a:off x="592866" y="1600200"/>
            <a:ext cx="3593592"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95" name="Google Shape;695;p140"/>
          <p:cNvSpPr/>
          <p:nvPr/>
        </p:nvSpPr>
        <p:spPr>
          <a:xfrm>
            <a:off x="592866" y="2509480"/>
            <a:ext cx="3593592" cy="4571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96" name="Google Shape;696;p140"/>
          <p:cNvSpPr txBox="1">
            <a:spLocks noGrp="1"/>
          </p:cNvSpPr>
          <p:nvPr>
            <p:ph type="body" idx="3"/>
          </p:nvPr>
        </p:nvSpPr>
        <p:spPr>
          <a:xfrm>
            <a:off x="4297616" y="1600200"/>
            <a:ext cx="3593592"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3"/>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97" name="Google Shape;697;p140"/>
          <p:cNvSpPr txBox="1">
            <a:spLocks noGrp="1"/>
          </p:cNvSpPr>
          <p:nvPr>
            <p:ph type="body" idx="4"/>
          </p:nvPr>
        </p:nvSpPr>
        <p:spPr>
          <a:xfrm>
            <a:off x="8001859" y="1600200"/>
            <a:ext cx="3593592"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4"/>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98" name="Google Shape;698;p140"/>
          <p:cNvSpPr/>
          <p:nvPr/>
        </p:nvSpPr>
        <p:spPr>
          <a:xfrm>
            <a:off x="8001859" y="2509480"/>
            <a:ext cx="3593592"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99" name="Google Shape;699;p14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700" name="Google Shape;700;p140"/>
          <p:cNvSpPr/>
          <p:nvPr/>
        </p:nvSpPr>
        <p:spPr>
          <a:xfrm>
            <a:off x="4297616" y="2509480"/>
            <a:ext cx="3593592" cy="4571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701" name="Google Shape;701;p140"/>
          <p:cNvSpPr txBox="1">
            <a:spLocks noGrp="1"/>
          </p:cNvSpPr>
          <p:nvPr>
            <p:ph type="body" idx="5"/>
          </p:nvPr>
        </p:nvSpPr>
        <p:spPr>
          <a:xfrm>
            <a:off x="592866" y="2649538"/>
            <a:ext cx="3594100" cy="3522662"/>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02" name="Google Shape;702;p140"/>
          <p:cNvSpPr txBox="1">
            <a:spLocks noGrp="1"/>
          </p:cNvSpPr>
          <p:nvPr>
            <p:ph type="body" idx="6"/>
          </p:nvPr>
        </p:nvSpPr>
        <p:spPr>
          <a:xfrm>
            <a:off x="4297616" y="2649538"/>
            <a:ext cx="3594100" cy="3522662"/>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03" name="Google Shape;703;p140"/>
          <p:cNvSpPr txBox="1">
            <a:spLocks noGrp="1"/>
          </p:cNvSpPr>
          <p:nvPr>
            <p:ph type="body" idx="7"/>
          </p:nvPr>
        </p:nvSpPr>
        <p:spPr>
          <a:xfrm>
            <a:off x="8001859" y="2649538"/>
            <a:ext cx="3594100" cy="3522662"/>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04" name="Google Shape;704;p140"/>
          <p:cNvSpPr/>
          <p:nvPr/>
        </p:nvSpPr>
        <p:spPr>
          <a:xfrm>
            <a:off x="592866" y="2509480"/>
            <a:ext cx="3593592" cy="4571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705" name="Google Shape;705;p140"/>
          <p:cNvSpPr/>
          <p:nvPr/>
        </p:nvSpPr>
        <p:spPr>
          <a:xfrm>
            <a:off x="8001859" y="2509480"/>
            <a:ext cx="3593592"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706" name="Google Shape;706;p14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707" name="Google Shape;707;p140"/>
          <p:cNvSpPr/>
          <p:nvPr/>
        </p:nvSpPr>
        <p:spPr>
          <a:xfrm>
            <a:off x="4297616" y="2509480"/>
            <a:ext cx="3593592" cy="4571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iagram with Outcome, Benefit">
  <p:cSld name="Diagram with Outcome, Benefit">
    <p:spTree>
      <p:nvGrpSpPr>
        <p:cNvPr id="1" name="Shape 708"/>
        <p:cNvGrpSpPr/>
        <p:nvPr/>
      </p:nvGrpSpPr>
      <p:grpSpPr>
        <a:xfrm>
          <a:off x="0" y="0"/>
          <a:ext cx="0" cy="0"/>
          <a:chOff x="0" y="0"/>
          <a:chExt cx="0" cy="0"/>
        </a:xfrm>
      </p:grpSpPr>
      <p:sp>
        <p:nvSpPr>
          <p:cNvPr id="709" name="Google Shape;709;p14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0" name="Google Shape;710;p141"/>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711" name="Google Shape;711;p141"/>
          <p:cNvCxnSpPr/>
          <p:nvPr/>
        </p:nvCxnSpPr>
        <p:spPr>
          <a:xfrm>
            <a:off x="8380413" y="1608668"/>
            <a:ext cx="3808412" cy="0"/>
          </a:xfrm>
          <a:prstGeom prst="straightConnector1">
            <a:avLst/>
          </a:prstGeom>
          <a:noFill/>
          <a:ln w="25400" cap="flat" cmpd="sng">
            <a:solidFill>
              <a:schemeClr val="accent2"/>
            </a:solidFill>
            <a:prstDash val="solid"/>
            <a:miter lim="800000"/>
            <a:headEnd type="none" w="sm" len="sm"/>
            <a:tailEnd type="none" w="sm" len="sm"/>
          </a:ln>
        </p:spPr>
      </p:cxnSp>
      <p:sp>
        <p:nvSpPr>
          <p:cNvPr id="712" name="Google Shape;712;p141"/>
          <p:cNvSpPr txBox="1">
            <a:spLocks noGrp="1"/>
          </p:cNvSpPr>
          <p:nvPr>
            <p:ph type="body" idx="2"/>
          </p:nvPr>
        </p:nvSpPr>
        <p:spPr>
          <a:xfrm>
            <a:off x="8380413" y="1699688"/>
            <a:ext cx="3200400" cy="298450"/>
          </a:xfrm>
          <a:prstGeom prst="rect">
            <a:avLst/>
          </a:prstGeom>
          <a:noFill/>
          <a:ln>
            <a:noFill/>
          </a:ln>
        </p:spPr>
        <p:txBody>
          <a:bodyPr spcFirstLastPara="1" wrap="square" lIns="0" tIns="0" rIns="0" bIns="0" anchor="b"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13" name="Google Shape;713;p141"/>
          <p:cNvSpPr txBox="1">
            <a:spLocks noGrp="1"/>
          </p:cNvSpPr>
          <p:nvPr>
            <p:ph type="body" idx="3"/>
          </p:nvPr>
        </p:nvSpPr>
        <p:spPr>
          <a:xfrm>
            <a:off x="8378825" y="2063048"/>
            <a:ext cx="3201988" cy="16002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14" name="Google Shape;714;p141"/>
          <p:cNvCxnSpPr/>
          <p:nvPr/>
        </p:nvCxnSpPr>
        <p:spPr>
          <a:xfrm>
            <a:off x="8380413" y="3872441"/>
            <a:ext cx="3808412" cy="0"/>
          </a:xfrm>
          <a:prstGeom prst="straightConnector1">
            <a:avLst/>
          </a:prstGeom>
          <a:noFill/>
          <a:ln w="25400" cap="flat" cmpd="sng">
            <a:solidFill>
              <a:schemeClr val="accent4"/>
            </a:solidFill>
            <a:prstDash val="solid"/>
            <a:miter lim="800000"/>
            <a:headEnd type="none" w="sm" len="sm"/>
            <a:tailEnd type="none" w="sm" len="sm"/>
          </a:ln>
        </p:spPr>
      </p:cxnSp>
      <p:sp>
        <p:nvSpPr>
          <p:cNvPr id="715" name="Google Shape;715;p141"/>
          <p:cNvSpPr txBox="1">
            <a:spLocks noGrp="1"/>
          </p:cNvSpPr>
          <p:nvPr>
            <p:ph type="body" idx="4"/>
          </p:nvPr>
        </p:nvSpPr>
        <p:spPr>
          <a:xfrm>
            <a:off x="8380413" y="3972469"/>
            <a:ext cx="3200400" cy="298450"/>
          </a:xfrm>
          <a:prstGeom prst="rect">
            <a:avLst/>
          </a:prstGeom>
          <a:noFill/>
          <a:ln>
            <a:noFill/>
          </a:ln>
        </p:spPr>
        <p:txBody>
          <a:bodyPr spcFirstLastPara="1" wrap="square" lIns="0" tIns="0" rIns="0" bIns="0" anchor="b" anchorCtr="0">
            <a:noAutofit/>
          </a:bodyPr>
          <a:lstStyle>
            <a:lvl1pPr marL="457200" lvl="0" indent="-331470" algn="l">
              <a:lnSpc>
                <a:spcPct val="100000"/>
              </a:lnSpc>
              <a:spcBef>
                <a:spcPts val="0"/>
              </a:spcBef>
              <a:spcAft>
                <a:spcPts val="0"/>
              </a:spcAft>
              <a:buSzPts val="1620"/>
              <a:buChar char="​"/>
              <a:defRPr sz="1800">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16" name="Google Shape;716;p141"/>
          <p:cNvSpPr txBox="1">
            <a:spLocks noGrp="1"/>
          </p:cNvSpPr>
          <p:nvPr>
            <p:ph type="body" idx="5"/>
          </p:nvPr>
        </p:nvSpPr>
        <p:spPr>
          <a:xfrm>
            <a:off x="8378825" y="4347904"/>
            <a:ext cx="3201988" cy="16002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17" name="Google Shape;717;p14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718" name="Google Shape;718;p141"/>
          <p:cNvSpPr txBox="1">
            <a:spLocks noGrp="1"/>
          </p:cNvSpPr>
          <p:nvPr>
            <p:ph type="body" idx="6"/>
          </p:nvPr>
        </p:nvSpPr>
        <p:spPr>
          <a:xfrm>
            <a:off x="608012" y="1600201"/>
            <a:ext cx="7398303"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a:solidFill>
                  <a:schemeClr val="dk1"/>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a:p>
        </p:txBody>
      </p:sp>
      <p:cxnSp>
        <p:nvCxnSpPr>
          <p:cNvPr id="719" name="Google Shape;719;p141"/>
          <p:cNvCxnSpPr/>
          <p:nvPr/>
        </p:nvCxnSpPr>
        <p:spPr>
          <a:xfrm>
            <a:off x="8380413" y="1608668"/>
            <a:ext cx="3808412" cy="0"/>
          </a:xfrm>
          <a:prstGeom prst="straightConnector1">
            <a:avLst/>
          </a:prstGeom>
          <a:noFill/>
          <a:ln w="25400" cap="flat" cmpd="sng">
            <a:solidFill>
              <a:schemeClr val="accent2"/>
            </a:solidFill>
            <a:prstDash val="solid"/>
            <a:miter lim="800000"/>
            <a:headEnd type="none" w="sm" len="sm"/>
            <a:tailEnd type="none" w="sm" len="sm"/>
          </a:ln>
        </p:spPr>
      </p:cxnSp>
      <p:cxnSp>
        <p:nvCxnSpPr>
          <p:cNvPr id="720" name="Google Shape;720;p141"/>
          <p:cNvCxnSpPr/>
          <p:nvPr/>
        </p:nvCxnSpPr>
        <p:spPr>
          <a:xfrm>
            <a:off x="8380413" y="3872441"/>
            <a:ext cx="3808412" cy="0"/>
          </a:xfrm>
          <a:prstGeom prst="straightConnector1">
            <a:avLst/>
          </a:prstGeom>
          <a:noFill/>
          <a:ln w="25400" cap="flat" cmpd="sng">
            <a:solidFill>
              <a:schemeClr val="accent4"/>
            </a:solidFill>
            <a:prstDash val="solid"/>
            <a:miter lim="800000"/>
            <a:headEnd type="none" w="sm" len="sm"/>
            <a:tailEnd type="none" w="sm" len="sm"/>
          </a:ln>
        </p:spPr>
      </p:cxnSp>
      <p:sp>
        <p:nvSpPr>
          <p:cNvPr id="721" name="Google Shape;721;p14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ustomer Success">
  <p:cSld name="Customer Success">
    <p:spTree>
      <p:nvGrpSpPr>
        <p:cNvPr id="1" name="Shape 722"/>
        <p:cNvGrpSpPr/>
        <p:nvPr/>
      </p:nvGrpSpPr>
      <p:grpSpPr>
        <a:xfrm>
          <a:off x="0" y="0"/>
          <a:ext cx="0" cy="0"/>
          <a:chOff x="0" y="0"/>
          <a:chExt cx="0" cy="0"/>
        </a:xfrm>
      </p:grpSpPr>
      <p:sp>
        <p:nvSpPr>
          <p:cNvPr id="723" name="Google Shape;723;p14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4" name="Google Shape;724;p142"/>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725" name="Google Shape;725;p142"/>
          <p:cNvCxnSpPr/>
          <p:nvPr/>
        </p:nvCxnSpPr>
        <p:spPr>
          <a:xfrm>
            <a:off x="609600" y="1552248"/>
            <a:ext cx="3471746" cy="0"/>
          </a:xfrm>
          <a:prstGeom prst="straightConnector1">
            <a:avLst/>
          </a:prstGeom>
          <a:noFill/>
          <a:ln w="22225" cap="flat" cmpd="sng">
            <a:solidFill>
              <a:schemeClr val="accent2"/>
            </a:solidFill>
            <a:prstDash val="solid"/>
            <a:miter lim="800000"/>
            <a:headEnd type="none" w="sm" len="sm"/>
            <a:tailEnd type="none" w="sm" len="sm"/>
          </a:ln>
        </p:spPr>
      </p:cxnSp>
      <p:sp>
        <p:nvSpPr>
          <p:cNvPr id="726" name="Google Shape;726;p142"/>
          <p:cNvSpPr txBox="1">
            <a:spLocks noGrp="1"/>
          </p:cNvSpPr>
          <p:nvPr>
            <p:ph type="body" idx="2"/>
          </p:nvPr>
        </p:nvSpPr>
        <p:spPr>
          <a:xfrm>
            <a:off x="611645" y="1901093"/>
            <a:ext cx="3201848" cy="1214595"/>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27" name="Google Shape;727;p142"/>
          <p:cNvCxnSpPr/>
          <p:nvPr/>
        </p:nvCxnSpPr>
        <p:spPr>
          <a:xfrm>
            <a:off x="4412165" y="1552248"/>
            <a:ext cx="3471746" cy="0"/>
          </a:xfrm>
          <a:prstGeom prst="straightConnector1">
            <a:avLst/>
          </a:prstGeom>
          <a:noFill/>
          <a:ln w="22225" cap="flat" cmpd="sng">
            <a:solidFill>
              <a:schemeClr val="accent2"/>
            </a:solidFill>
            <a:prstDash val="solid"/>
            <a:miter lim="800000"/>
            <a:headEnd type="none" w="sm" len="sm"/>
            <a:tailEnd type="none" w="sm" len="sm"/>
          </a:ln>
        </p:spPr>
      </p:cxnSp>
      <p:sp>
        <p:nvSpPr>
          <p:cNvPr id="728" name="Google Shape;728;p142"/>
          <p:cNvSpPr txBox="1">
            <a:spLocks noGrp="1"/>
          </p:cNvSpPr>
          <p:nvPr>
            <p:ph type="body" idx="3"/>
          </p:nvPr>
        </p:nvSpPr>
        <p:spPr>
          <a:xfrm>
            <a:off x="4414210" y="1901094"/>
            <a:ext cx="3201848" cy="1225566"/>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29" name="Google Shape;729;p142"/>
          <p:cNvCxnSpPr/>
          <p:nvPr/>
        </p:nvCxnSpPr>
        <p:spPr>
          <a:xfrm>
            <a:off x="609600" y="3325372"/>
            <a:ext cx="3471746" cy="0"/>
          </a:xfrm>
          <a:prstGeom prst="straightConnector1">
            <a:avLst/>
          </a:prstGeom>
          <a:noFill/>
          <a:ln w="22225" cap="flat" cmpd="sng">
            <a:solidFill>
              <a:schemeClr val="accent3"/>
            </a:solidFill>
            <a:prstDash val="solid"/>
            <a:miter lim="800000"/>
            <a:headEnd type="none" w="sm" len="sm"/>
            <a:tailEnd type="none" w="sm" len="sm"/>
          </a:ln>
        </p:spPr>
      </p:cxnSp>
      <p:sp>
        <p:nvSpPr>
          <p:cNvPr id="730" name="Google Shape;730;p142"/>
          <p:cNvSpPr txBox="1">
            <a:spLocks noGrp="1"/>
          </p:cNvSpPr>
          <p:nvPr>
            <p:ph type="body" idx="4"/>
          </p:nvPr>
        </p:nvSpPr>
        <p:spPr>
          <a:xfrm>
            <a:off x="611645" y="3693430"/>
            <a:ext cx="3201848" cy="1110049"/>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31" name="Google Shape;731;p142"/>
          <p:cNvCxnSpPr/>
          <p:nvPr/>
        </p:nvCxnSpPr>
        <p:spPr>
          <a:xfrm>
            <a:off x="4412165" y="3325372"/>
            <a:ext cx="3471746" cy="0"/>
          </a:xfrm>
          <a:prstGeom prst="straightConnector1">
            <a:avLst/>
          </a:prstGeom>
          <a:noFill/>
          <a:ln w="22225" cap="flat" cmpd="sng">
            <a:solidFill>
              <a:schemeClr val="accent3"/>
            </a:solidFill>
            <a:prstDash val="solid"/>
            <a:miter lim="800000"/>
            <a:headEnd type="none" w="sm" len="sm"/>
            <a:tailEnd type="none" w="sm" len="sm"/>
          </a:ln>
        </p:spPr>
      </p:cxnSp>
      <p:sp>
        <p:nvSpPr>
          <p:cNvPr id="732" name="Google Shape;732;p142"/>
          <p:cNvSpPr txBox="1">
            <a:spLocks noGrp="1"/>
          </p:cNvSpPr>
          <p:nvPr>
            <p:ph type="body" idx="5"/>
          </p:nvPr>
        </p:nvSpPr>
        <p:spPr>
          <a:xfrm>
            <a:off x="4414210" y="3693430"/>
            <a:ext cx="3201848" cy="1132351"/>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33" name="Google Shape;733;p142"/>
          <p:cNvCxnSpPr/>
          <p:nvPr/>
        </p:nvCxnSpPr>
        <p:spPr>
          <a:xfrm>
            <a:off x="608739" y="5022214"/>
            <a:ext cx="3471746" cy="0"/>
          </a:xfrm>
          <a:prstGeom prst="straightConnector1">
            <a:avLst/>
          </a:prstGeom>
          <a:noFill/>
          <a:ln w="22225" cap="flat" cmpd="sng">
            <a:solidFill>
              <a:schemeClr val="accent4"/>
            </a:solidFill>
            <a:prstDash val="solid"/>
            <a:miter lim="800000"/>
            <a:headEnd type="none" w="sm" len="sm"/>
            <a:tailEnd type="none" w="sm" len="sm"/>
          </a:ln>
        </p:spPr>
      </p:cxnSp>
      <p:sp>
        <p:nvSpPr>
          <p:cNvPr id="734" name="Google Shape;734;p142"/>
          <p:cNvSpPr txBox="1">
            <a:spLocks noGrp="1"/>
          </p:cNvSpPr>
          <p:nvPr>
            <p:ph type="body" idx="6"/>
          </p:nvPr>
        </p:nvSpPr>
        <p:spPr>
          <a:xfrm>
            <a:off x="613093" y="5327336"/>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35" name="Google Shape;735;p142"/>
          <p:cNvSpPr txBox="1">
            <a:spLocks noGrp="1"/>
          </p:cNvSpPr>
          <p:nvPr>
            <p:ph type="body" idx="7"/>
          </p:nvPr>
        </p:nvSpPr>
        <p:spPr>
          <a:xfrm>
            <a:off x="613093" y="5593624"/>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36" name="Google Shape;736;p142"/>
          <p:cNvSpPr txBox="1">
            <a:spLocks noGrp="1"/>
          </p:cNvSpPr>
          <p:nvPr>
            <p:ph type="body" idx="8"/>
          </p:nvPr>
        </p:nvSpPr>
        <p:spPr>
          <a:xfrm>
            <a:off x="613093" y="5859911"/>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37" name="Google Shape;737;p142"/>
          <p:cNvSpPr txBox="1">
            <a:spLocks noGrp="1"/>
          </p:cNvSpPr>
          <p:nvPr>
            <p:ph type="body" idx="9"/>
          </p:nvPr>
        </p:nvSpPr>
        <p:spPr>
          <a:xfrm>
            <a:off x="4400790" y="5327336"/>
            <a:ext cx="3227148"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38" name="Google Shape;738;p142"/>
          <p:cNvSpPr txBox="1">
            <a:spLocks noGrp="1"/>
          </p:cNvSpPr>
          <p:nvPr>
            <p:ph type="body" idx="13"/>
          </p:nvPr>
        </p:nvSpPr>
        <p:spPr>
          <a:xfrm>
            <a:off x="4400790" y="5593624"/>
            <a:ext cx="3227148"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39" name="Google Shape;739;p142"/>
          <p:cNvSpPr txBox="1">
            <a:spLocks noGrp="1"/>
          </p:cNvSpPr>
          <p:nvPr>
            <p:ph type="body" idx="14"/>
          </p:nvPr>
        </p:nvSpPr>
        <p:spPr>
          <a:xfrm>
            <a:off x="4400790" y="5859911"/>
            <a:ext cx="3227148"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0" name="Google Shape;740;p142"/>
          <p:cNvSpPr>
            <a:spLocks noGrp="1"/>
          </p:cNvSpPr>
          <p:nvPr>
            <p:ph type="pic" idx="15"/>
          </p:nvPr>
        </p:nvSpPr>
        <p:spPr>
          <a:xfrm>
            <a:off x="9207965" y="1600200"/>
            <a:ext cx="1841500" cy="660399"/>
          </a:xfrm>
          <a:prstGeom prst="rect">
            <a:avLst/>
          </a:prstGeom>
          <a:noFill/>
          <a:ln>
            <a:noFill/>
          </a:ln>
        </p:spPr>
      </p:sp>
      <p:sp>
        <p:nvSpPr>
          <p:cNvPr id="741" name="Google Shape;741;p142"/>
          <p:cNvSpPr txBox="1">
            <a:spLocks noGrp="1"/>
          </p:cNvSpPr>
          <p:nvPr>
            <p:ph type="body" idx="16"/>
          </p:nvPr>
        </p:nvSpPr>
        <p:spPr>
          <a:xfrm>
            <a:off x="8509465" y="2347933"/>
            <a:ext cx="3206750" cy="241300"/>
          </a:xfrm>
          <a:prstGeom prst="rect">
            <a:avLst/>
          </a:prstGeom>
          <a:noFill/>
          <a:ln>
            <a:noFill/>
          </a:ln>
        </p:spPr>
        <p:txBody>
          <a:bodyPr spcFirstLastPara="1" wrap="square" lIns="0" tIns="0" rIns="0" bIns="0" anchor="ctr" anchorCtr="0">
            <a:noAutofit/>
          </a:bodyPr>
          <a:lstStyle>
            <a:lvl1pPr marL="457200" lvl="0" indent="-297180" algn="ctr">
              <a:lnSpc>
                <a:spcPct val="100000"/>
              </a:lnSpc>
              <a:spcBef>
                <a:spcPts val="0"/>
              </a:spcBef>
              <a:spcAft>
                <a:spcPts val="0"/>
              </a:spcAft>
              <a:buSzPts val="1080"/>
              <a:buChar char="​"/>
              <a:defRPr sz="12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accent1"/>
                </a:solidFill>
              </a:defRPr>
            </a:lvl2pPr>
            <a:lvl3pPr marL="1371600" lvl="2" indent="-297180" algn="ctr">
              <a:lnSpc>
                <a:spcPct val="100000"/>
              </a:lnSpc>
              <a:spcBef>
                <a:spcPts val="1200"/>
              </a:spcBef>
              <a:spcAft>
                <a:spcPts val="0"/>
              </a:spcAft>
              <a:buSzPts val="1080"/>
              <a:buFont typeface="Open Sans"/>
              <a:buChar char="​"/>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2" name="Google Shape;742;p142"/>
          <p:cNvSpPr txBox="1">
            <a:spLocks noGrp="1"/>
          </p:cNvSpPr>
          <p:nvPr>
            <p:ph type="body" idx="17"/>
          </p:nvPr>
        </p:nvSpPr>
        <p:spPr>
          <a:xfrm>
            <a:off x="8509465" y="2647290"/>
            <a:ext cx="3206750" cy="241300"/>
          </a:xfrm>
          <a:prstGeom prst="rect">
            <a:avLst/>
          </a:prstGeom>
          <a:noFill/>
          <a:ln>
            <a:noFill/>
          </a:ln>
        </p:spPr>
        <p:txBody>
          <a:bodyPr spcFirstLastPara="1" wrap="square" lIns="0" tIns="0" rIns="0" bIns="0" anchor="ctr" anchorCtr="0">
            <a:noAutofit/>
          </a:bodyPr>
          <a:lstStyle>
            <a:lvl1pPr marL="457200" lvl="0" indent="-297180" algn="ctr">
              <a:lnSpc>
                <a:spcPct val="100000"/>
              </a:lnSpc>
              <a:spcBef>
                <a:spcPts val="0"/>
              </a:spcBef>
              <a:spcAft>
                <a:spcPts val="0"/>
              </a:spcAft>
              <a:buSzPts val="1080"/>
              <a:buChar char="​"/>
              <a:defRPr sz="12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accent1"/>
                </a:solidFill>
              </a:defRPr>
            </a:lvl2pPr>
            <a:lvl3pPr marL="1371600" lvl="2" indent="-297180" algn="ctr">
              <a:lnSpc>
                <a:spcPct val="100000"/>
              </a:lnSpc>
              <a:spcBef>
                <a:spcPts val="1200"/>
              </a:spcBef>
              <a:spcAft>
                <a:spcPts val="0"/>
              </a:spcAft>
              <a:buSzPts val="1080"/>
              <a:buFont typeface="Open Sans"/>
              <a:buChar char="​"/>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3" name="Google Shape;743;p142"/>
          <p:cNvSpPr>
            <a:spLocks noGrp="1"/>
          </p:cNvSpPr>
          <p:nvPr>
            <p:ph type="pic" idx="18"/>
          </p:nvPr>
        </p:nvSpPr>
        <p:spPr>
          <a:xfrm>
            <a:off x="8515815" y="2971800"/>
            <a:ext cx="3194050" cy="1828800"/>
          </a:xfrm>
          <a:prstGeom prst="rect">
            <a:avLst/>
          </a:prstGeom>
          <a:noFill/>
          <a:ln>
            <a:noFill/>
          </a:ln>
        </p:spPr>
      </p:sp>
      <p:sp>
        <p:nvSpPr>
          <p:cNvPr id="744" name="Google Shape;744;p142"/>
          <p:cNvSpPr txBox="1">
            <a:spLocks noGrp="1"/>
          </p:cNvSpPr>
          <p:nvPr>
            <p:ph type="body" idx="19"/>
          </p:nvPr>
        </p:nvSpPr>
        <p:spPr>
          <a:xfrm>
            <a:off x="8515815" y="5022214"/>
            <a:ext cx="3200400" cy="1153795"/>
          </a:xfrm>
          <a:prstGeom prst="rect">
            <a:avLst/>
          </a:prstGeom>
          <a:noFill/>
          <a:ln>
            <a:noFill/>
          </a:ln>
        </p:spPr>
        <p:txBody>
          <a:bodyPr spcFirstLastPara="1" wrap="square" lIns="0" tIns="0" rIns="0" bIns="0" anchor="t" anchorCtr="0">
            <a:noAutofit/>
          </a:bodyPr>
          <a:lstStyle>
            <a:lvl1pPr marL="457200" lvl="0" indent="-308610" algn="ctr">
              <a:lnSpc>
                <a:spcPct val="100000"/>
              </a:lnSpc>
              <a:spcBef>
                <a:spcPts val="0"/>
              </a:spcBef>
              <a:spcAft>
                <a:spcPts val="0"/>
              </a:spcAft>
              <a:buSzPts val="1260"/>
              <a:buChar char="​"/>
              <a:defRPr sz="14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dk1"/>
                </a:solidFill>
              </a:defRPr>
            </a:lvl2pPr>
            <a:lvl3pPr marL="1371600" lvl="2" indent="-228600" algn="ctr">
              <a:lnSpc>
                <a:spcPct val="100000"/>
              </a:lnSpc>
              <a:spcBef>
                <a:spcPts val="1200"/>
              </a:spcBef>
              <a:spcAft>
                <a:spcPts val="0"/>
              </a:spcAft>
              <a:buSzPts val="1080"/>
              <a:buFont typeface="Open Sans"/>
              <a:buNone/>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5" name="Google Shape;745;p14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cxnSp>
        <p:nvCxnSpPr>
          <p:cNvPr id="746" name="Google Shape;746;p142"/>
          <p:cNvCxnSpPr/>
          <p:nvPr/>
        </p:nvCxnSpPr>
        <p:spPr>
          <a:xfrm>
            <a:off x="4412165" y="5022214"/>
            <a:ext cx="3471746" cy="0"/>
          </a:xfrm>
          <a:prstGeom prst="straightConnector1">
            <a:avLst/>
          </a:prstGeom>
          <a:noFill/>
          <a:ln w="22225" cap="flat" cmpd="sng">
            <a:solidFill>
              <a:schemeClr val="accent4"/>
            </a:solidFill>
            <a:prstDash val="solid"/>
            <a:miter lim="800000"/>
            <a:headEnd type="none" w="sm" len="sm"/>
            <a:tailEnd type="none" w="sm" len="sm"/>
          </a:ln>
        </p:spPr>
      </p:cxnSp>
      <p:sp>
        <p:nvSpPr>
          <p:cNvPr id="747" name="Google Shape;747;p142"/>
          <p:cNvSpPr txBox="1">
            <a:spLocks noGrp="1"/>
          </p:cNvSpPr>
          <p:nvPr>
            <p:ph type="body" idx="20"/>
          </p:nvPr>
        </p:nvSpPr>
        <p:spPr>
          <a:xfrm>
            <a:off x="608013" y="1552575"/>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8" name="Google Shape;748;p142"/>
          <p:cNvSpPr txBox="1">
            <a:spLocks noGrp="1"/>
          </p:cNvSpPr>
          <p:nvPr>
            <p:ph type="body" idx="21"/>
          </p:nvPr>
        </p:nvSpPr>
        <p:spPr>
          <a:xfrm>
            <a:off x="4411663" y="1552575"/>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9" name="Google Shape;749;p142"/>
          <p:cNvSpPr txBox="1">
            <a:spLocks noGrp="1"/>
          </p:cNvSpPr>
          <p:nvPr>
            <p:ph type="body" idx="22"/>
          </p:nvPr>
        </p:nvSpPr>
        <p:spPr>
          <a:xfrm>
            <a:off x="608013" y="3338514"/>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3"/>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50" name="Google Shape;750;p142"/>
          <p:cNvSpPr txBox="1">
            <a:spLocks noGrp="1"/>
          </p:cNvSpPr>
          <p:nvPr>
            <p:ph type="body" idx="23"/>
          </p:nvPr>
        </p:nvSpPr>
        <p:spPr>
          <a:xfrm>
            <a:off x="4427538" y="3338514"/>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3"/>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51" name="Google Shape;751;p142"/>
          <p:cNvSpPr txBox="1">
            <a:spLocks noGrp="1"/>
          </p:cNvSpPr>
          <p:nvPr>
            <p:ph type="body" idx="24"/>
          </p:nvPr>
        </p:nvSpPr>
        <p:spPr>
          <a:xfrm>
            <a:off x="608013" y="5022850"/>
            <a:ext cx="3200400" cy="227013"/>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52" name="Google Shape;752;p142"/>
          <p:cNvSpPr txBox="1">
            <a:spLocks noGrp="1"/>
          </p:cNvSpPr>
          <p:nvPr>
            <p:ph type="body" idx="25"/>
          </p:nvPr>
        </p:nvSpPr>
        <p:spPr>
          <a:xfrm>
            <a:off x="4427538" y="5022850"/>
            <a:ext cx="3200400" cy="227013"/>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53" name="Google Shape;753;p142"/>
          <p:cNvCxnSpPr/>
          <p:nvPr/>
        </p:nvCxnSpPr>
        <p:spPr>
          <a:xfrm>
            <a:off x="609600" y="1552248"/>
            <a:ext cx="3471746" cy="0"/>
          </a:xfrm>
          <a:prstGeom prst="straightConnector1">
            <a:avLst/>
          </a:prstGeom>
          <a:noFill/>
          <a:ln w="22225" cap="flat" cmpd="sng">
            <a:solidFill>
              <a:schemeClr val="accent2"/>
            </a:solidFill>
            <a:prstDash val="solid"/>
            <a:miter lim="800000"/>
            <a:headEnd type="none" w="sm" len="sm"/>
            <a:tailEnd type="none" w="sm" len="sm"/>
          </a:ln>
        </p:spPr>
      </p:cxnSp>
      <p:cxnSp>
        <p:nvCxnSpPr>
          <p:cNvPr id="754" name="Google Shape;754;p142"/>
          <p:cNvCxnSpPr/>
          <p:nvPr/>
        </p:nvCxnSpPr>
        <p:spPr>
          <a:xfrm>
            <a:off x="4412165" y="1552248"/>
            <a:ext cx="3471746" cy="0"/>
          </a:xfrm>
          <a:prstGeom prst="straightConnector1">
            <a:avLst/>
          </a:prstGeom>
          <a:noFill/>
          <a:ln w="22225" cap="flat" cmpd="sng">
            <a:solidFill>
              <a:schemeClr val="accent2"/>
            </a:solidFill>
            <a:prstDash val="solid"/>
            <a:miter lim="800000"/>
            <a:headEnd type="none" w="sm" len="sm"/>
            <a:tailEnd type="none" w="sm" len="sm"/>
          </a:ln>
        </p:spPr>
      </p:cxnSp>
      <p:cxnSp>
        <p:nvCxnSpPr>
          <p:cNvPr id="755" name="Google Shape;755;p142"/>
          <p:cNvCxnSpPr/>
          <p:nvPr/>
        </p:nvCxnSpPr>
        <p:spPr>
          <a:xfrm>
            <a:off x="609600" y="3325372"/>
            <a:ext cx="3471746" cy="0"/>
          </a:xfrm>
          <a:prstGeom prst="straightConnector1">
            <a:avLst/>
          </a:prstGeom>
          <a:noFill/>
          <a:ln w="22225" cap="flat" cmpd="sng">
            <a:solidFill>
              <a:schemeClr val="accent3"/>
            </a:solidFill>
            <a:prstDash val="solid"/>
            <a:miter lim="800000"/>
            <a:headEnd type="none" w="sm" len="sm"/>
            <a:tailEnd type="none" w="sm" len="sm"/>
          </a:ln>
        </p:spPr>
      </p:cxnSp>
      <p:cxnSp>
        <p:nvCxnSpPr>
          <p:cNvPr id="756" name="Google Shape;756;p142"/>
          <p:cNvCxnSpPr/>
          <p:nvPr/>
        </p:nvCxnSpPr>
        <p:spPr>
          <a:xfrm>
            <a:off x="4412165" y="3325372"/>
            <a:ext cx="3471746" cy="0"/>
          </a:xfrm>
          <a:prstGeom prst="straightConnector1">
            <a:avLst/>
          </a:prstGeom>
          <a:noFill/>
          <a:ln w="22225" cap="flat" cmpd="sng">
            <a:solidFill>
              <a:schemeClr val="accent3"/>
            </a:solidFill>
            <a:prstDash val="solid"/>
            <a:miter lim="800000"/>
            <a:headEnd type="none" w="sm" len="sm"/>
            <a:tailEnd type="none" w="sm" len="sm"/>
          </a:ln>
        </p:spPr>
      </p:cxnSp>
      <p:cxnSp>
        <p:nvCxnSpPr>
          <p:cNvPr id="757" name="Google Shape;757;p142"/>
          <p:cNvCxnSpPr/>
          <p:nvPr/>
        </p:nvCxnSpPr>
        <p:spPr>
          <a:xfrm>
            <a:off x="608739" y="5022214"/>
            <a:ext cx="3471746" cy="0"/>
          </a:xfrm>
          <a:prstGeom prst="straightConnector1">
            <a:avLst/>
          </a:prstGeom>
          <a:noFill/>
          <a:ln w="22225" cap="flat" cmpd="sng">
            <a:solidFill>
              <a:schemeClr val="accent4"/>
            </a:solidFill>
            <a:prstDash val="solid"/>
            <a:miter lim="800000"/>
            <a:headEnd type="none" w="sm" len="sm"/>
            <a:tailEnd type="none" w="sm" len="sm"/>
          </a:ln>
        </p:spPr>
      </p:cxnSp>
      <p:sp>
        <p:nvSpPr>
          <p:cNvPr id="758" name="Google Shape;758;p14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cxnSp>
        <p:nvCxnSpPr>
          <p:cNvPr id="759" name="Google Shape;759;p142"/>
          <p:cNvCxnSpPr/>
          <p:nvPr/>
        </p:nvCxnSpPr>
        <p:spPr>
          <a:xfrm>
            <a:off x="4412165" y="5022214"/>
            <a:ext cx="3471746" cy="0"/>
          </a:xfrm>
          <a:prstGeom prst="straightConnector1">
            <a:avLst/>
          </a:prstGeom>
          <a:noFill/>
          <a:ln w="22225" cap="flat" cmpd="sng">
            <a:solidFill>
              <a:schemeClr val="accent4"/>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ree Icon ">
  <p:cSld name="Three Icon ">
    <p:spTree>
      <p:nvGrpSpPr>
        <p:cNvPr id="1" name="Shape 760"/>
        <p:cNvGrpSpPr/>
        <p:nvPr/>
      </p:nvGrpSpPr>
      <p:grpSpPr>
        <a:xfrm>
          <a:off x="0" y="0"/>
          <a:ext cx="0" cy="0"/>
          <a:chOff x="0" y="0"/>
          <a:chExt cx="0" cy="0"/>
        </a:xfrm>
      </p:grpSpPr>
      <p:sp>
        <p:nvSpPr>
          <p:cNvPr id="761" name="Google Shape;761;p14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2" name="Google Shape;762;p14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763" name="Google Shape;763;p143"/>
          <p:cNvSpPr/>
          <p:nvPr/>
        </p:nvSpPr>
        <p:spPr>
          <a:xfrm>
            <a:off x="1981877" y="2055429"/>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764" name="Google Shape;764;p143"/>
          <p:cNvSpPr txBox="1">
            <a:spLocks noGrp="1"/>
          </p:cNvSpPr>
          <p:nvPr>
            <p:ph type="body" idx="2"/>
          </p:nvPr>
        </p:nvSpPr>
        <p:spPr>
          <a:xfrm>
            <a:off x="2188103" y="2419650"/>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65" name="Google Shape;765;p143"/>
          <p:cNvSpPr txBox="1">
            <a:spLocks noGrp="1"/>
          </p:cNvSpPr>
          <p:nvPr>
            <p:ph type="body" idx="3"/>
          </p:nvPr>
        </p:nvSpPr>
        <p:spPr>
          <a:xfrm>
            <a:off x="1525905" y="4267940"/>
            <a:ext cx="2744788"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4"/>
                </a:solidFill>
              </a:defRPr>
            </a:lvl1pPr>
            <a:lvl2pPr marL="914400" lvl="1" indent="-331469" algn="ctr">
              <a:lnSpc>
                <a:spcPct val="100000"/>
              </a:lnSpc>
              <a:spcBef>
                <a:spcPts val="1200"/>
              </a:spcBef>
              <a:spcAft>
                <a:spcPts val="0"/>
              </a:spcAft>
              <a:buSzPts val="1620"/>
              <a:buFont typeface="Open Sans"/>
              <a:buChar char="​"/>
              <a:defRPr>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66" name="Google Shape;766;p143"/>
          <p:cNvSpPr/>
          <p:nvPr/>
        </p:nvSpPr>
        <p:spPr>
          <a:xfrm>
            <a:off x="5184924" y="2055429"/>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7" name="Google Shape;767;p143"/>
          <p:cNvSpPr txBox="1">
            <a:spLocks noGrp="1"/>
          </p:cNvSpPr>
          <p:nvPr>
            <p:ph type="body" idx="4"/>
          </p:nvPr>
        </p:nvSpPr>
        <p:spPr>
          <a:xfrm>
            <a:off x="5408612" y="2419650"/>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68" name="Google Shape;768;p143"/>
          <p:cNvSpPr txBox="1">
            <a:spLocks noGrp="1"/>
          </p:cNvSpPr>
          <p:nvPr>
            <p:ph type="body" idx="5"/>
          </p:nvPr>
        </p:nvSpPr>
        <p:spPr>
          <a:xfrm>
            <a:off x="4721225" y="4267940"/>
            <a:ext cx="2744788"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3"/>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69" name="Google Shape;769;p143"/>
          <p:cNvSpPr/>
          <p:nvPr/>
        </p:nvSpPr>
        <p:spPr>
          <a:xfrm>
            <a:off x="8389301" y="2055429"/>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0" name="Google Shape;770;p143"/>
          <p:cNvSpPr txBox="1">
            <a:spLocks noGrp="1"/>
          </p:cNvSpPr>
          <p:nvPr>
            <p:ph type="body" idx="6"/>
          </p:nvPr>
        </p:nvSpPr>
        <p:spPr>
          <a:xfrm>
            <a:off x="7923213" y="4267940"/>
            <a:ext cx="2744788"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2"/>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71" name="Google Shape;771;p143"/>
          <p:cNvSpPr txBox="1">
            <a:spLocks noGrp="1"/>
          </p:cNvSpPr>
          <p:nvPr>
            <p:ph type="body" idx="7"/>
          </p:nvPr>
        </p:nvSpPr>
        <p:spPr>
          <a:xfrm>
            <a:off x="8609012" y="2419650"/>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72" name="Google Shape;772;p14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773" name="Google Shape;773;p143"/>
          <p:cNvSpPr/>
          <p:nvPr/>
        </p:nvSpPr>
        <p:spPr>
          <a:xfrm>
            <a:off x="1981877" y="2055429"/>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774" name="Google Shape;774;p143"/>
          <p:cNvSpPr/>
          <p:nvPr/>
        </p:nvSpPr>
        <p:spPr>
          <a:xfrm>
            <a:off x="5184924" y="2055429"/>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5" name="Google Shape;775;p143"/>
          <p:cNvSpPr/>
          <p:nvPr/>
        </p:nvSpPr>
        <p:spPr>
          <a:xfrm>
            <a:off x="8389301" y="2055429"/>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6" name="Google Shape;776;p14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Four Icon ">
  <p:cSld name="Four Icon ">
    <p:spTree>
      <p:nvGrpSpPr>
        <p:cNvPr id="1" name="Shape 777"/>
        <p:cNvGrpSpPr/>
        <p:nvPr/>
      </p:nvGrpSpPr>
      <p:grpSpPr>
        <a:xfrm>
          <a:off x="0" y="0"/>
          <a:ext cx="0" cy="0"/>
          <a:chOff x="0" y="0"/>
          <a:chExt cx="0" cy="0"/>
        </a:xfrm>
      </p:grpSpPr>
      <p:sp>
        <p:nvSpPr>
          <p:cNvPr id="778" name="Google Shape;778;p14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9" name="Google Shape;779;p144"/>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780" name="Google Shape;780;p144"/>
          <p:cNvSpPr/>
          <p:nvPr/>
        </p:nvSpPr>
        <p:spPr>
          <a:xfrm>
            <a:off x="1065749" y="2060872"/>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781" name="Google Shape;781;p144"/>
          <p:cNvSpPr txBox="1">
            <a:spLocks noGrp="1"/>
          </p:cNvSpPr>
          <p:nvPr>
            <p:ph type="body" idx="2"/>
          </p:nvPr>
        </p:nvSpPr>
        <p:spPr>
          <a:xfrm>
            <a:off x="1273703"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2" name="Google Shape;782;p144"/>
          <p:cNvSpPr txBox="1">
            <a:spLocks noGrp="1"/>
          </p:cNvSpPr>
          <p:nvPr>
            <p:ph type="body" idx="3"/>
          </p:nvPr>
        </p:nvSpPr>
        <p:spPr>
          <a:xfrm>
            <a:off x="84267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4"/>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3" name="Google Shape;783;p144"/>
          <p:cNvSpPr/>
          <p:nvPr/>
        </p:nvSpPr>
        <p:spPr>
          <a:xfrm>
            <a:off x="3806932" y="2060872"/>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4" name="Google Shape;784;p144"/>
          <p:cNvSpPr txBox="1">
            <a:spLocks noGrp="1"/>
          </p:cNvSpPr>
          <p:nvPr>
            <p:ph type="body" idx="4"/>
          </p:nvPr>
        </p:nvSpPr>
        <p:spPr>
          <a:xfrm>
            <a:off x="4000597"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5" name="Google Shape;785;p144"/>
          <p:cNvSpPr txBox="1">
            <a:spLocks noGrp="1"/>
          </p:cNvSpPr>
          <p:nvPr>
            <p:ph type="body" idx="5"/>
          </p:nvPr>
        </p:nvSpPr>
        <p:spPr>
          <a:xfrm>
            <a:off x="357981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3"/>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6" name="Google Shape;786;p144"/>
          <p:cNvSpPr/>
          <p:nvPr/>
        </p:nvSpPr>
        <p:spPr>
          <a:xfrm>
            <a:off x="6562100" y="2060872"/>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7" name="Google Shape;787;p144"/>
          <p:cNvSpPr txBox="1">
            <a:spLocks noGrp="1"/>
          </p:cNvSpPr>
          <p:nvPr>
            <p:ph type="body" idx="6"/>
          </p:nvPr>
        </p:nvSpPr>
        <p:spPr>
          <a:xfrm>
            <a:off x="6772120"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8" name="Google Shape;788;p144"/>
          <p:cNvSpPr txBox="1">
            <a:spLocks noGrp="1"/>
          </p:cNvSpPr>
          <p:nvPr>
            <p:ph type="body" idx="7"/>
          </p:nvPr>
        </p:nvSpPr>
        <p:spPr>
          <a:xfrm>
            <a:off x="632301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2"/>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9" name="Google Shape;789;p144"/>
          <p:cNvSpPr/>
          <p:nvPr/>
        </p:nvSpPr>
        <p:spPr>
          <a:xfrm>
            <a:off x="9302132" y="2060872"/>
            <a:ext cx="1828959" cy="1828959"/>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0" name="Google Shape;790;p144"/>
          <p:cNvSpPr txBox="1">
            <a:spLocks noGrp="1"/>
          </p:cNvSpPr>
          <p:nvPr>
            <p:ph type="body" idx="8"/>
          </p:nvPr>
        </p:nvSpPr>
        <p:spPr>
          <a:xfrm>
            <a:off x="9538248"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5"/>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91" name="Google Shape;791;p144"/>
          <p:cNvSpPr txBox="1">
            <a:spLocks noGrp="1"/>
          </p:cNvSpPr>
          <p:nvPr>
            <p:ph type="body" idx="9"/>
          </p:nvPr>
        </p:nvSpPr>
        <p:spPr>
          <a:xfrm>
            <a:off x="906621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5"/>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92" name="Google Shape;792;p14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793" name="Google Shape;793;p144"/>
          <p:cNvSpPr/>
          <p:nvPr/>
        </p:nvSpPr>
        <p:spPr>
          <a:xfrm>
            <a:off x="1065749" y="2060872"/>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794" name="Google Shape;794;p144"/>
          <p:cNvSpPr/>
          <p:nvPr/>
        </p:nvSpPr>
        <p:spPr>
          <a:xfrm>
            <a:off x="3806932" y="2060872"/>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5" name="Google Shape;795;p144"/>
          <p:cNvSpPr/>
          <p:nvPr/>
        </p:nvSpPr>
        <p:spPr>
          <a:xfrm>
            <a:off x="6562100" y="2060872"/>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6" name="Google Shape;796;p144"/>
          <p:cNvSpPr/>
          <p:nvPr/>
        </p:nvSpPr>
        <p:spPr>
          <a:xfrm>
            <a:off x="9302132" y="2060872"/>
            <a:ext cx="1828959" cy="1828959"/>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7" name="Google Shape;797;p14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Five Icon ">
  <p:cSld name="Five Icon ">
    <p:spTree>
      <p:nvGrpSpPr>
        <p:cNvPr id="1" name="Shape 798"/>
        <p:cNvGrpSpPr/>
        <p:nvPr/>
      </p:nvGrpSpPr>
      <p:grpSpPr>
        <a:xfrm>
          <a:off x="0" y="0"/>
          <a:ext cx="0" cy="0"/>
          <a:chOff x="0" y="0"/>
          <a:chExt cx="0" cy="0"/>
        </a:xfrm>
      </p:grpSpPr>
      <p:sp>
        <p:nvSpPr>
          <p:cNvPr id="799" name="Google Shape;799;p14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0" name="Google Shape;800;p145"/>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801" name="Google Shape;801;p145"/>
          <p:cNvSpPr/>
          <p:nvPr/>
        </p:nvSpPr>
        <p:spPr>
          <a:xfrm>
            <a:off x="609800" y="2064663"/>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802" name="Google Shape;802;p145"/>
          <p:cNvSpPr txBox="1">
            <a:spLocks noGrp="1"/>
          </p:cNvSpPr>
          <p:nvPr>
            <p:ph type="body" idx="2"/>
          </p:nvPr>
        </p:nvSpPr>
        <p:spPr>
          <a:xfrm>
            <a:off x="820549"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03" name="Google Shape;803;p145"/>
          <p:cNvSpPr txBox="1">
            <a:spLocks noGrp="1"/>
          </p:cNvSpPr>
          <p:nvPr>
            <p:ph type="body" idx="3"/>
          </p:nvPr>
        </p:nvSpPr>
        <p:spPr>
          <a:xfrm>
            <a:off x="610850"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4"/>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04" name="Google Shape;804;p145"/>
          <p:cNvSpPr/>
          <p:nvPr/>
        </p:nvSpPr>
        <p:spPr>
          <a:xfrm>
            <a:off x="2892452" y="2064663"/>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5" name="Google Shape;805;p145"/>
          <p:cNvSpPr txBox="1">
            <a:spLocks noGrp="1"/>
          </p:cNvSpPr>
          <p:nvPr>
            <p:ph type="body" idx="4"/>
          </p:nvPr>
        </p:nvSpPr>
        <p:spPr>
          <a:xfrm>
            <a:off x="3110473"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06" name="Google Shape;806;p145"/>
          <p:cNvSpPr txBox="1">
            <a:spLocks noGrp="1"/>
          </p:cNvSpPr>
          <p:nvPr>
            <p:ph type="body" idx="5"/>
          </p:nvPr>
        </p:nvSpPr>
        <p:spPr>
          <a:xfrm>
            <a:off x="2894013"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3"/>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07" name="Google Shape;807;p145"/>
          <p:cNvSpPr/>
          <p:nvPr/>
        </p:nvSpPr>
        <p:spPr>
          <a:xfrm>
            <a:off x="5201380" y="2064663"/>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8" name="Google Shape;808;p145"/>
          <p:cNvSpPr txBox="1">
            <a:spLocks noGrp="1"/>
          </p:cNvSpPr>
          <p:nvPr>
            <p:ph type="body" idx="6"/>
          </p:nvPr>
        </p:nvSpPr>
        <p:spPr>
          <a:xfrm>
            <a:off x="5412658"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09" name="Google Shape;809;p145"/>
          <p:cNvSpPr txBox="1">
            <a:spLocks noGrp="1"/>
          </p:cNvSpPr>
          <p:nvPr>
            <p:ph type="body" idx="7"/>
          </p:nvPr>
        </p:nvSpPr>
        <p:spPr>
          <a:xfrm>
            <a:off x="5185093"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2"/>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10" name="Google Shape;810;p145"/>
          <p:cNvSpPr/>
          <p:nvPr/>
        </p:nvSpPr>
        <p:spPr>
          <a:xfrm>
            <a:off x="7464921" y="2064663"/>
            <a:ext cx="1828959" cy="1828959"/>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1" name="Google Shape;811;p145"/>
          <p:cNvSpPr txBox="1">
            <a:spLocks noGrp="1"/>
          </p:cNvSpPr>
          <p:nvPr>
            <p:ph type="body" idx="8"/>
          </p:nvPr>
        </p:nvSpPr>
        <p:spPr>
          <a:xfrm>
            <a:off x="7677080"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5"/>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12" name="Google Shape;812;p145"/>
          <p:cNvSpPr txBox="1">
            <a:spLocks noGrp="1"/>
          </p:cNvSpPr>
          <p:nvPr>
            <p:ph type="body" idx="9"/>
          </p:nvPr>
        </p:nvSpPr>
        <p:spPr>
          <a:xfrm>
            <a:off x="7470001" y="4282873"/>
            <a:ext cx="1894336"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5"/>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13" name="Google Shape;813;p145"/>
          <p:cNvSpPr/>
          <p:nvPr/>
        </p:nvSpPr>
        <p:spPr>
          <a:xfrm>
            <a:off x="9744473" y="2064663"/>
            <a:ext cx="1828959" cy="1828959"/>
          </a:xfrm>
          <a:prstGeom prst="ellipse">
            <a:avLst/>
          </a:prstGeom>
          <a:noFill/>
          <a:ln w="381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6"/>
              </a:solidFill>
              <a:latin typeface="Arial"/>
              <a:ea typeface="Arial"/>
              <a:cs typeface="Arial"/>
              <a:sym typeface="Arial"/>
            </a:endParaRPr>
          </a:p>
        </p:txBody>
      </p:sp>
      <p:sp>
        <p:nvSpPr>
          <p:cNvPr id="814" name="Google Shape;814;p145"/>
          <p:cNvSpPr txBox="1">
            <a:spLocks noGrp="1"/>
          </p:cNvSpPr>
          <p:nvPr>
            <p:ph type="body" idx="13"/>
          </p:nvPr>
        </p:nvSpPr>
        <p:spPr>
          <a:xfrm>
            <a:off x="9980612"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rgbClr val="3B3B3B"/>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15" name="Google Shape;815;p145"/>
          <p:cNvSpPr txBox="1">
            <a:spLocks noGrp="1"/>
          </p:cNvSpPr>
          <p:nvPr>
            <p:ph type="body" idx="14"/>
          </p:nvPr>
        </p:nvSpPr>
        <p:spPr>
          <a:xfrm>
            <a:off x="9752013"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rgbClr val="3B3B3B"/>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16" name="Google Shape;816;p14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817" name="Google Shape;817;p145"/>
          <p:cNvSpPr/>
          <p:nvPr/>
        </p:nvSpPr>
        <p:spPr>
          <a:xfrm>
            <a:off x="609800" y="2064663"/>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818" name="Google Shape;818;p145"/>
          <p:cNvSpPr/>
          <p:nvPr/>
        </p:nvSpPr>
        <p:spPr>
          <a:xfrm>
            <a:off x="2892452" y="2064663"/>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9" name="Google Shape;819;p145"/>
          <p:cNvSpPr/>
          <p:nvPr/>
        </p:nvSpPr>
        <p:spPr>
          <a:xfrm>
            <a:off x="5201380" y="2064663"/>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0" name="Google Shape;820;p145"/>
          <p:cNvSpPr/>
          <p:nvPr/>
        </p:nvSpPr>
        <p:spPr>
          <a:xfrm>
            <a:off x="7464921" y="2064663"/>
            <a:ext cx="1828959" cy="1828959"/>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1" name="Google Shape;821;p145"/>
          <p:cNvSpPr/>
          <p:nvPr/>
        </p:nvSpPr>
        <p:spPr>
          <a:xfrm>
            <a:off x="9744473" y="2064663"/>
            <a:ext cx="1828959" cy="1828959"/>
          </a:xfrm>
          <a:prstGeom prst="ellipse">
            <a:avLst/>
          </a:prstGeom>
          <a:noFill/>
          <a:ln w="381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6"/>
              </a:solidFill>
              <a:latin typeface="Arial"/>
              <a:ea typeface="Arial"/>
              <a:cs typeface="Arial"/>
              <a:sym typeface="Arial"/>
            </a:endParaRPr>
          </a:p>
        </p:txBody>
      </p:sp>
      <p:sp>
        <p:nvSpPr>
          <p:cNvPr id="822" name="Google Shape;822;p14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Five Numbered ">
  <p:cSld name="Five Numbered ">
    <p:spTree>
      <p:nvGrpSpPr>
        <p:cNvPr id="1" name="Shape 823"/>
        <p:cNvGrpSpPr/>
        <p:nvPr/>
      </p:nvGrpSpPr>
      <p:grpSpPr>
        <a:xfrm>
          <a:off x="0" y="0"/>
          <a:ext cx="0" cy="0"/>
          <a:chOff x="0" y="0"/>
          <a:chExt cx="0" cy="0"/>
        </a:xfrm>
      </p:grpSpPr>
      <p:sp>
        <p:nvSpPr>
          <p:cNvPr id="824" name="Google Shape;824;p146"/>
          <p:cNvSpPr/>
          <p:nvPr/>
        </p:nvSpPr>
        <p:spPr>
          <a:xfrm>
            <a:off x="289401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25" name="Google Shape;825;p146"/>
          <p:cNvSpPr/>
          <p:nvPr/>
        </p:nvSpPr>
        <p:spPr>
          <a:xfrm>
            <a:off x="518509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26" name="Google Shape;826;p146"/>
          <p:cNvSpPr/>
          <p:nvPr/>
        </p:nvSpPr>
        <p:spPr>
          <a:xfrm>
            <a:off x="7470001"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27" name="Google Shape;827;p146"/>
          <p:cNvSpPr/>
          <p:nvPr/>
        </p:nvSpPr>
        <p:spPr>
          <a:xfrm>
            <a:off x="975201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28" name="Google Shape;828;p146"/>
          <p:cNvSpPr/>
          <p:nvPr/>
        </p:nvSpPr>
        <p:spPr>
          <a:xfrm>
            <a:off x="610851"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29" name="Google Shape;829;p146"/>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0" name="Google Shape;830;p146"/>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831" name="Google Shape;831;p146"/>
          <p:cNvCxnSpPr/>
          <p:nvPr/>
        </p:nvCxnSpPr>
        <p:spPr>
          <a:xfrm>
            <a:off x="610850" y="2512464"/>
            <a:ext cx="1828800" cy="0"/>
          </a:xfrm>
          <a:prstGeom prst="straightConnector1">
            <a:avLst/>
          </a:prstGeom>
          <a:noFill/>
          <a:ln w="25400" cap="flat" cmpd="sng">
            <a:solidFill>
              <a:schemeClr val="accent4"/>
            </a:solidFill>
            <a:prstDash val="solid"/>
            <a:miter lim="800000"/>
            <a:headEnd type="none" w="sm" len="sm"/>
            <a:tailEnd type="none" w="sm" len="sm"/>
          </a:ln>
        </p:spPr>
      </p:cxnSp>
      <p:sp>
        <p:nvSpPr>
          <p:cNvPr id="832" name="Google Shape;832;p146"/>
          <p:cNvSpPr txBox="1">
            <a:spLocks noGrp="1"/>
          </p:cNvSpPr>
          <p:nvPr>
            <p:ph type="body" idx="2"/>
          </p:nvPr>
        </p:nvSpPr>
        <p:spPr>
          <a:xfrm>
            <a:off x="610851"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4"/>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33" name="Google Shape;833;p146"/>
          <p:cNvCxnSpPr/>
          <p:nvPr/>
        </p:nvCxnSpPr>
        <p:spPr>
          <a:xfrm>
            <a:off x="2894013" y="2512464"/>
            <a:ext cx="1828800" cy="0"/>
          </a:xfrm>
          <a:prstGeom prst="straightConnector1">
            <a:avLst/>
          </a:prstGeom>
          <a:noFill/>
          <a:ln w="25400" cap="flat" cmpd="sng">
            <a:solidFill>
              <a:schemeClr val="accent3"/>
            </a:solidFill>
            <a:prstDash val="solid"/>
            <a:miter lim="800000"/>
            <a:headEnd type="none" w="sm" len="sm"/>
            <a:tailEnd type="none" w="sm" len="sm"/>
          </a:ln>
        </p:spPr>
      </p:cxnSp>
      <p:sp>
        <p:nvSpPr>
          <p:cNvPr id="834" name="Google Shape;834;p146"/>
          <p:cNvSpPr txBox="1">
            <a:spLocks noGrp="1"/>
          </p:cNvSpPr>
          <p:nvPr>
            <p:ph type="body" idx="3"/>
          </p:nvPr>
        </p:nvSpPr>
        <p:spPr>
          <a:xfrm>
            <a:off x="2894013" y="2529075"/>
            <a:ext cx="1828800" cy="2871263"/>
          </a:xfrm>
          <a:prstGeom prst="rect">
            <a:avLst/>
          </a:prstGeom>
          <a:noFill/>
          <a:ln>
            <a:noFill/>
          </a:ln>
        </p:spPr>
        <p:txBody>
          <a:bodyPr spcFirstLastPara="1" wrap="square" lIns="182875" tIns="548625" rIns="182875" bIns="182875" anchor="t" anchorCtr="0">
            <a:noAutofit/>
          </a:bodyPr>
          <a:lstStyle>
            <a:lvl1pPr marL="457200" lvl="0" indent="-342900" algn="ctr">
              <a:lnSpc>
                <a:spcPct val="90000"/>
              </a:lnSpc>
              <a:spcBef>
                <a:spcPts val="600"/>
              </a:spcBef>
              <a:spcAft>
                <a:spcPts val="0"/>
              </a:spcAft>
              <a:buSzPts val="1800"/>
              <a:buChar char="​"/>
              <a:defRPr sz="2000">
                <a:solidFill>
                  <a:schemeClr val="accent3"/>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35" name="Google Shape;835;p146"/>
          <p:cNvCxnSpPr/>
          <p:nvPr/>
        </p:nvCxnSpPr>
        <p:spPr>
          <a:xfrm>
            <a:off x="5185093" y="2512464"/>
            <a:ext cx="1828800" cy="0"/>
          </a:xfrm>
          <a:prstGeom prst="straightConnector1">
            <a:avLst/>
          </a:prstGeom>
          <a:noFill/>
          <a:ln w="25400" cap="flat" cmpd="sng">
            <a:solidFill>
              <a:schemeClr val="accent2"/>
            </a:solidFill>
            <a:prstDash val="solid"/>
            <a:miter lim="800000"/>
            <a:headEnd type="none" w="sm" len="sm"/>
            <a:tailEnd type="none" w="sm" len="sm"/>
          </a:ln>
        </p:spPr>
      </p:cxnSp>
      <p:sp>
        <p:nvSpPr>
          <p:cNvPr id="836" name="Google Shape;836;p146"/>
          <p:cNvSpPr txBox="1">
            <a:spLocks noGrp="1"/>
          </p:cNvSpPr>
          <p:nvPr>
            <p:ph type="body" idx="4"/>
          </p:nvPr>
        </p:nvSpPr>
        <p:spPr>
          <a:xfrm>
            <a:off x="5185093"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2"/>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37" name="Google Shape;837;p146"/>
          <p:cNvCxnSpPr/>
          <p:nvPr/>
        </p:nvCxnSpPr>
        <p:spPr>
          <a:xfrm>
            <a:off x="7470001" y="2512464"/>
            <a:ext cx="1828800" cy="0"/>
          </a:xfrm>
          <a:prstGeom prst="straightConnector1">
            <a:avLst/>
          </a:prstGeom>
          <a:noFill/>
          <a:ln w="25400" cap="flat" cmpd="sng">
            <a:solidFill>
              <a:schemeClr val="accent5"/>
            </a:solidFill>
            <a:prstDash val="solid"/>
            <a:miter lim="800000"/>
            <a:headEnd type="none" w="sm" len="sm"/>
            <a:tailEnd type="none" w="sm" len="sm"/>
          </a:ln>
        </p:spPr>
      </p:cxnSp>
      <p:sp>
        <p:nvSpPr>
          <p:cNvPr id="838" name="Google Shape;838;p146"/>
          <p:cNvSpPr txBox="1">
            <a:spLocks noGrp="1"/>
          </p:cNvSpPr>
          <p:nvPr>
            <p:ph type="body" idx="5"/>
          </p:nvPr>
        </p:nvSpPr>
        <p:spPr>
          <a:xfrm>
            <a:off x="7470001"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5"/>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39" name="Google Shape;839;p146"/>
          <p:cNvCxnSpPr/>
          <p:nvPr/>
        </p:nvCxnSpPr>
        <p:spPr>
          <a:xfrm>
            <a:off x="9752013" y="2512464"/>
            <a:ext cx="1828800" cy="0"/>
          </a:xfrm>
          <a:prstGeom prst="straightConnector1">
            <a:avLst/>
          </a:prstGeom>
          <a:noFill/>
          <a:ln w="25400" cap="flat" cmpd="sng">
            <a:solidFill>
              <a:srgbClr val="53565A"/>
            </a:solidFill>
            <a:prstDash val="solid"/>
            <a:miter lim="800000"/>
            <a:headEnd type="none" w="sm" len="sm"/>
            <a:tailEnd type="none" w="sm" len="sm"/>
          </a:ln>
        </p:spPr>
      </p:cxnSp>
      <p:sp>
        <p:nvSpPr>
          <p:cNvPr id="840" name="Google Shape;840;p146"/>
          <p:cNvSpPr txBox="1">
            <a:spLocks noGrp="1"/>
          </p:cNvSpPr>
          <p:nvPr>
            <p:ph type="body" idx="6"/>
          </p:nvPr>
        </p:nvSpPr>
        <p:spPr>
          <a:xfrm>
            <a:off x="9752013"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rgbClr val="3B3B3B"/>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41" name="Google Shape;841;p14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842" name="Google Shape;842;p146"/>
          <p:cNvSpPr/>
          <p:nvPr/>
        </p:nvSpPr>
        <p:spPr>
          <a:xfrm>
            <a:off x="1131007" y="2118221"/>
            <a:ext cx="788487" cy="78848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4"/>
                </a:solidFill>
                <a:latin typeface="Arial"/>
                <a:ea typeface="Arial"/>
                <a:cs typeface="Arial"/>
                <a:sym typeface="Arial"/>
              </a:rPr>
              <a:t>1</a:t>
            </a:r>
            <a:endParaRPr/>
          </a:p>
        </p:txBody>
      </p:sp>
      <p:sp>
        <p:nvSpPr>
          <p:cNvPr id="843" name="Google Shape;843;p146"/>
          <p:cNvSpPr/>
          <p:nvPr/>
        </p:nvSpPr>
        <p:spPr>
          <a:xfrm>
            <a:off x="3414170" y="2118221"/>
            <a:ext cx="788487" cy="788487"/>
          </a:xfrm>
          <a:prstGeom prst="ellipse">
            <a:avLst/>
          </a:prstGeom>
          <a:solidFill>
            <a:schemeClr val="lt1"/>
          </a:solidFill>
          <a:ln w="254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800">
                <a:solidFill>
                  <a:schemeClr val="accent3"/>
                </a:solidFill>
                <a:latin typeface="Arial"/>
                <a:ea typeface="Arial"/>
                <a:cs typeface="Arial"/>
                <a:sym typeface="Arial"/>
              </a:rPr>
              <a:t>2</a:t>
            </a:r>
            <a:endParaRPr/>
          </a:p>
        </p:txBody>
      </p:sp>
      <p:sp>
        <p:nvSpPr>
          <p:cNvPr id="844" name="Google Shape;844;p146"/>
          <p:cNvSpPr/>
          <p:nvPr/>
        </p:nvSpPr>
        <p:spPr>
          <a:xfrm>
            <a:off x="5705250" y="2118221"/>
            <a:ext cx="788487" cy="788487"/>
          </a:xfrm>
          <a:prstGeom prst="ellipse">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2"/>
                </a:solidFill>
                <a:latin typeface="Arial"/>
                <a:ea typeface="Arial"/>
                <a:cs typeface="Arial"/>
                <a:sym typeface="Arial"/>
              </a:rPr>
              <a:t>3</a:t>
            </a:r>
            <a:endParaRPr/>
          </a:p>
        </p:txBody>
      </p:sp>
      <p:sp>
        <p:nvSpPr>
          <p:cNvPr id="845" name="Google Shape;845;p146"/>
          <p:cNvSpPr/>
          <p:nvPr/>
        </p:nvSpPr>
        <p:spPr>
          <a:xfrm>
            <a:off x="7990158" y="2118221"/>
            <a:ext cx="788487" cy="788487"/>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5"/>
                </a:solidFill>
                <a:latin typeface="Arial"/>
                <a:ea typeface="Arial"/>
                <a:cs typeface="Arial"/>
                <a:sym typeface="Arial"/>
              </a:rPr>
              <a:t>4</a:t>
            </a:r>
            <a:endParaRPr/>
          </a:p>
        </p:txBody>
      </p:sp>
      <p:sp>
        <p:nvSpPr>
          <p:cNvPr id="846" name="Google Shape;846;p146"/>
          <p:cNvSpPr/>
          <p:nvPr/>
        </p:nvSpPr>
        <p:spPr>
          <a:xfrm>
            <a:off x="10272170" y="2118221"/>
            <a:ext cx="788487" cy="788487"/>
          </a:xfrm>
          <a:prstGeom prst="ellipse">
            <a:avLst/>
          </a:prstGeom>
          <a:solidFill>
            <a:schemeClr val="lt1"/>
          </a:solidFill>
          <a:ln w="254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3B3B3B"/>
                </a:solidFill>
                <a:latin typeface="Arial"/>
                <a:ea typeface="Arial"/>
                <a:cs typeface="Arial"/>
                <a:sym typeface="Arial"/>
              </a:rPr>
              <a:t>5</a:t>
            </a:r>
            <a:endParaRPr/>
          </a:p>
        </p:txBody>
      </p:sp>
      <p:sp>
        <p:nvSpPr>
          <p:cNvPr id="847" name="Google Shape;847;p146"/>
          <p:cNvSpPr/>
          <p:nvPr/>
        </p:nvSpPr>
        <p:spPr>
          <a:xfrm>
            <a:off x="289401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8" name="Google Shape;848;p146"/>
          <p:cNvSpPr/>
          <p:nvPr/>
        </p:nvSpPr>
        <p:spPr>
          <a:xfrm>
            <a:off x="518509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9" name="Google Shape;849;p146"/>
          <p:cNvSpPr/>
          <p:nvPr/>
        </p:nvSpPr>
        <p:spPr>
          <a:xfrm>
            <a:off x="7470001"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50" name="Google Shape;850;p146"/>
          <p:cNvSpPr/>
          <p:nvPr/>
        </p:nvSpPr>
        <p:spPr>
          <a:xfrm>
            <a:off x="975201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51" name="Google Shape;851;p146"/>
          <p:cNvSpPr/>
          <p:nvPr/>
        </p:nvSpPr>
        <p:spPr>
          <a:xfrm>
            <a:off x="610851"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cxnSp>
        <p:nvCxnSpPr>
          <p:cNvPr id="852" name="Google Shape;852;p146"/>
          <p:cNvCxnSpPr/>
          <p:nvPr/>
        </p:nvCxnSpPr>
        <p:spPr>
          <a:xfrm>
            <a:off x="610850" y="2512464"/>
            <a:ext cx="1828800" cy="0"/>
          </a:xfrm>
          <a:prstGeom prst="straightConnector1">
            <a:avLst/>
          </a:prstGeom>
          <a:noFill/>
          <a:ln w="25400" cap="flat" cmpd="sng">
            <a:solidFill>
              <a:schemeClr val="accent4"/>
            </a:solidFill>
            <a:prstDash val="solid"/>
            <a:miter lim="800000"/>
            <a:headEnd type="none" w="sm" len="sm"/>
            <a:tailEnd type="none" w="sm" len="sm"/>
          </a:ln>
        </p:spPr>
      </p:cxnSp>
      <p:cxnSp>
        <p:nvCxnSpPr>
          <p:cNvPr id="853" name="Google Shape;853;p146"/>
          <p:cNvCxnSpPr/>
          <p:nvPr/>
        </p:nvCxnSpPr>
        <p:spPr>
          <a:xfrm>
            <a:off x="2894013" y="2512464"/>
            <a:ext cx="1828800" cy="0"/>
          </a:xfrm>
          <a:prstGeom prst="straightConnector1">
            <a:avLst/>
          </a:prstGeom>
          <a:noFill/>
          <a:ln w="25400" cap="flat" cmpd="sng">
            <a:solidFill>
              <a:schemeClr val="accent3"/>
            </a:solidFill>
            <a:prstDash val="solid"/>
            <a:miter lim="800000"/>
            <a:headEnd type="none" w="sm" len="sm"/>
            <a:tailEnd type="none" w="sm" len="sm"/>
          </a:ln>
        </p:spPr>
      </p:cxnSp>
      <p:cxnSp>
        <p:nvCxnSpPr>
          <p:cNvPr id="854" name="Google Shape;854;p146"/>
          <p:cNvCxnSpPr/>
          <p:nvPr/>
        </p:nvCxnSpPr>
        <p:spPr>
          <a:xfrm>
            <a:off x="5185093" y="2512464"/>
            <a:ext cx="1828800" cy="0"/>
          </a:xfrm>
          <a:prstGeom prst="straightConnector1">
            <a:avLst/>
          </a:prstGeom>
          <a:noFill/>
          <a:ln w="25400" cap="flat" cmpd="sng">
            <a:solidFill>
              <a:schemeClr val="accent2"/>
            </a:solidFill>
            <a:prstDash val="solid"/>
            <a:miter lim="800000"/>
            <a:headEnd type="none" w="sm" len="sm"/>
            <a:tailEnd type="none" w="sm" len="sm"/>
          </a:ln>
        </p:spPr>
      </p:cxnSp>
      <p:cxnSp>
        <p:nvCxnSpPr>
          <p:cNvPr id="855" name="Google Shape;855;p146"/>
          <p:cNvCxnSpPr/>
          <p:nvPr/>
        </p:nvCxnSpPr>
        <p:spPr>
          <a:xfrm>
            <a:off x="7470001" y="2512464"/>
            <a:ext cx="1828800" cy="0"/>
          </a:xfrm>
          <a:prstGeom prst="straightConnector1">
            <a:avLst/>
          </a:prstGeom>
          <a:noFill/>
          <a:ln w="25400" cap="flat" cmpd="sng">
            <a:solidFill>
              <a:schemeClr val="accent5"/>
            </a:solidFill>
            <a:prstDash val="solid"/>
            <a:miter lim="800000"/>
            <a:headEnd type="none" w="sm" len="sm"/>
            <a:tailEnd type="none" w="sm" len="sm"/>
          </a:ln>
        </p:spPr>
      </p:cxnSp>
      <p:cxnSp>
        <p:nvCxnSpPr>
          <p:cNvPr id="856" name="Google Shape;856;p146"/>
          <p:cNvCxnSpPr/>
          <p:nvPr/>
        </p:nvCxnSpPr>
        <p:spPr>
          <a:xfrm>
            <a:off x="9752013" y="2512464"/>
            <a:ext cx="1828800" cy="0"/>
          </a:xfrm>
          <a:prstGeom prst="straightConnector1">
            <a:avLst/>
          </a:prstGeom>
          <a:noFill/>
          <a:ln w="25400" cap="flat" cmpd="sng">
            <a:solidFill>
              <a:srgbClr val="53565A"/>
            </a:solidFill>
            <a:prstDash val="solid"/>
            <a:miter lim="800000"/>
            <a:headEnd type="none" w="sm" len="sm"/>
            <a:tailEnd type="none" w="sm" len="sm"/>
          </a:ln>
        </p:spPr>
      </p:cxnSp>
      <p:sp>
        <p:nvSpPr>
          <p:cNvPr id="857" name="Google Shape;857;p14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858" name="Google Shape;858;p146"/>
          <p:cNvSpPr/>
          <p:nvPr/>
        </p:nvSpPr>
        <p:spPr>
          <a:xfrm>
            <a:off x="1131007" y="2118221"/>
            <a:ext cx="788487" cy="78848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4"/>
                </a:solidFill>
                <a:latin typeface="Arial"/>
                <a:ea typeface="Arial"/>
                <a:cs typeface="Arial"/>
                <a:sym typeface="Arial"/>
              </a:rPr>
              <a:t>1</a:t>
            </a:r>
            <a:endParaRPr/>
          </a:p>
        </p:txBody>
      </p:sp>
      <p:sp>
        <p:nvSpPr>
          <p:cNvPr id="859" name="Google Shape;859;p146"/>
          <p:cNvSpPr/>
          <p:nvPr/>
        </p:nvSpPr>
        <p:spPr>
          <a:xfrm>
            <a:off x="3414170" y="2118221"/>
            <a:ext cx="788487" cy="788487"/>
          </a:xfrm>
          <a:prstGeom prst="ellipse">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3"/>
                </a:solidFill>
                <a:latin typeface="Arial"/>
                <a:ea typeface="Arial"/>
                <a:cs typeface="Arial"/>
                <a:sym typeface="Arial"/>
              </a:rPr>
              <a:t>2</a:t>
            </a:r>
            <a:endParaRPr/>
          </a:p>
        </p:txBody>
      </p:sp>
      <p:sp>
        <p:nvSpPr>
          <p:cNvPr id="860" name="Google Shape;860;p146"/>
          <p:cNvSpPr/>
          <p:nvPr/>
        </p:nvSpPr>
        <p:spPr>
          <a:xfrm>
            <a:off x="5705250" y="2118221"/>
            <a:ext cx="788487" cy="788487"/>
          </a:xfrm>
          <a:prstGeom prst="ellipse">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2"/>
                </a:solidFill>
                <a:latin typeface="Arial"/>
                <a:ea typeface="Arial"/>
                <a:cs typeface="Arial"/>
                <a:sym typeface="Arial"/>
              </a:rPr>
              <a:t>3</a:t>
            </a:r>
            <a:endParaRPr/>
          </a:p>
        </p:txBody>
      </p:sp>
      <p:sp>
        <p:nvSpPr>
          <p:cNvPr id="861" name="Google Shape;861;p146"/>
          <p:cNvSpPr/>
          <p:nvPr/>
        </p:nvSpPr>
        <p:spPr>
          <a:xfrm>
            <a:off x="7990158" y="2118221"/>
            <a:ext cx="788487" cy="788487"/>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5"/>
                </a:solidFill>
                <a:latin typeface="Arial"/>
                <a:ea typeface="Arial"/>
                <a:cs typeface="Arial"/>
                <a:sym typeface="Arial"/>
              </a:rPr>
              <a:t>4</a:t>
            </a:r>
            <a:endParaRPr/>
          </a:p>
        </p:txBody>
      </p:sp>
      <p:sp>
        <p:nvSpPr>
          <p:cNvPr id="862" name="Google Shape;862;p146"/>
          <p:cNvSpPr/>
          <p:nvPr/>
        </p:nvSpPr>
        <p:spPr>
          <a:xfrm>
            <a:off x="10272170" y="2118221"/>
            <a:ext cx="788487" cy="788487"/>
          </a:xfrm>
          <a:prstGeom prst="ellipse">
            <a:avLst/>
          </a:prstGeom>
          <a:solidFill>
            <a:schemeClr val="lt1"/>
          </a:solidFill>
          <a:ln w="254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3B3B3B"/>
                </a:solidFill>
                <a:latin typeface="Arial"/>
                <a:ea typeface="Arial"/>
                <a:cs typeface="Arial"/>
                <a:sym typeface="Arial"/>
              </a:rPr>
              <a:t>5</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863"/>
        <p:cNvGrpSpPr/>
        <p:nvPr/>
      </p:nvGrpSpPr>
      <p:grpSpPr>
        <a:xfrm>
          <a:off x="0" y="0"/>
          <a:ext cx="0" cy="0"/>
          <a:chOff x="0" y="0"/>
          <a:chExt cx="0" cy="0"/>
        </a:xfrm>
      </p:grpSpPr>
      <p:sp>
        <p:nvSpPr>
          <p:cNvPr id="864" name="Google Shape;864;p14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5" name="Google Shape;865;p14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866" name="Google Shape;866;p147" descr="Row 1 label"/>
          <p:cNvSpPr txBox="1">
            <a:spLocks noGrp="1"/>
          </p:cNvSpPr>
          <p:nvPr>
            <p:ph type="body" idx="2"/>
          </p:nvPr>
        </p:nvSpPr>
        <p:spPr>
          <a:xfrm>
            <a:off x="271464" y="1546789"/>
            <a:ext cx="574570" cy="439174"/>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67" name="Google Shape;867;p147" descr="Row 1 text box is a long horizontal box the width of the slide acting as a header. "/>
          <p:cNvSpPr txBox="1">
            <a:spLocks noGrp="1"/>
          </p:cNvSpPr>
          <p:nvPr>
            <p:ph type="body" idx="3"/>
          </p:nvPr>
        </p:nvSpPr>
        <p:spPr>
          <a:xfrm>
            <a:off x="1034040" y="1561701"/>
            <a:ext cx="10630969" cy="429469"/>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1440"/>
              <a:buNone/>
              <a:defRPr sz="16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68" name="Google Shape;868;p147" descr="Row 2 label; this row shows 4 content boxes labeled A through D, each is a different color and holds text."/>
          <p:cNvSpPr txBox="1">
            <a:spLocks noGrp="1"/>
          </p:cNvSpPr>
          <p:nvPr>
            <p:ph type="body" idx="4"/>
          </p:nvPr>
        </p:nvSpPr>
        <p:spPr>
          <a:xfrm>
            <a:off x="285750" y="3304775"/>
            <a:ext cx="560283" cy="658026"/>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69" name="Google Shape;869;p147"/>
          <p:cNvCxnSpPr/>
          <p:nvPr/>
        </p:nvCxnSpPr>
        <p:spPr>
          <a:xfrm>
            <a:off x="1093076" y="2680138"/>
            <a:ext cx="2459421" cy="0"/>
          </a:xfrm>
          <a:prstGeom prst="straightConnector1">
            <a:avLst/>
          </a:prstGeom>
          <a:noFill/>
          <a:ln w="25400" cap="flat" cmpd="sng">
            <a:solidFill>
              <a:schemeClr val="accent4"/>
            </a:solidFill>
            <a:prstDash val="solid"/>
            <a:miter lim="800000"/>
            <a:headEnd type="none" w="sm" len="sm"/>
            <a:tailEnd type="none" w="sm" len="sm"/>
          </a:ln>
        </p:spPr>
      </p:cxnSp>
      <p:sp>
        <p:nvSpPr>
          <p:cNvPr id="870" name="Google Shape;870;p147" descr="Row 2, box 1: text in plum"/>
          <p:cNvSpPr txBox="1">
            <a:spLocks noGrp="1"/>
          </p:cNvSpPr>
          <p:nvPr>
            <p:ph type="body" idx="5"/>
          </p:nvPr>
        </p:nvSpPr>
        <p:spPr>
          <a:xfrm>
            <a:off x="1102407" y="2699834"/>
            <a:ext cx="2459421" cy="1949198"/>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4"/>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71" name="Google Shape;871;p147"/>
          <p:cNvCxnSpPr/>
          <p:nvPr/>
        </p:nvCxnSpPr>
        <p:spPr>
          <a:xfrm>
            <a:off x="3805092" y="2680138"/>
            <a:ext cx="2459421" cy="0"/>
          </a:xfrm>
          <a:prstGeom prst="straightConnector1">
            <a:avLst/>
          </a:prstGeom>
          <a:noFill/>
          <a:ln w="25400" cap="flat" cmpd="sng">
            <a:solidFill>
              <a:schemeClr val="accent3"/>
            </a:solidFill>
            <a:prstDash val="solid"/>
            <a:miter lim="800000"/>
            <a:headEnd type="none" w="sm" len="sm"/>
            <a:tailEnd type="none" w="sm" len="sm"/>
          </a:ln>
        </p:spPr>
      </p:cxnSp>
      <p:sp>
        <p:nvSpPr>
          <p:cNvPr id="872" name="Google Shape;872;p147" descr="Row 2, box 3: text in indigo"/>
          <p:cNvSpPr txBox="1">
            <a:spLocks noGrp="1"/>
          </p:cNvSpPr>
          <p:nvPr>
            <p:ph type="body" idx="6"/>
          </p:nvPr>
        </p:nvSpPr>
        <p:spPr>
          <a:xfrm>
            <a:off x="3816081" y="2699834"/>
            <a:ext cx="2459421" cy="1949198"/>
          </a:xfrm>
          <a:prstGeom prst="rect">
            <a:avLst/>
          </a:prstGeom>
          <a:noFill/>
          <a:ln>
            <a:noFill/>
          </a:ln>
        </p:spPr>
        <p:txBody>
          <a:bodyPr spcFirstLastPara="1" wrap="square" lIns="0" tIns="365750" rIns="0" bIns="0" anchor="t"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73" name="Google Shape;873;p147"/>
          <p:cNvCxnSpPr/>
          <p:nvPr/>
        </p:nvCxnSpPr>
        <p:spPr>
          <a:xfrm>
            <a:off x="6517108" y="2680138"/>
            <a:ext cx="2459421" cy="0"/>
          </a:xfrm>
          <a:prstGeom prst="straightConnector1">
            <a:avLst/>
          </a:prstGeom>
          <a:noFill/>
          <a:ln w="25400" cap="flat" cmpd="sng">
            <a:solidFill>
              <a:schemeClr val="accent2"/>
            </a:solidFill>
            <a:prstDash val="solid"/>
            <a:miter lim="800000"/>
            <a:headEnd type="none" w="sm" len="sm"/>
            <a:tailEnd type="none" w="sm" len="sm"/>
          </a:ln>
        </p:spPr>
      </p:cxnSp>
      <p:sp>
        <p:nvSpPr>
          <p:cNvPr id="874" name="Google Shape;874;p147" descr="Row 2, box 2: text in ocean"/>
          <p:cNvSpPr txBox="1">
            <a:spLocks noGrp="1"/>
          </p:cNvSpPr>
          <p:nvPr>
            <p:ph type="body" idx="7"/>
          </p:nvPr>
        </p:nvSpPr>
        <p:spPr>
          <a:xfrm>
            <a:off x="6529755" y="2699834"/>
            <a:ext cx="2459421" cy="1949198"/>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2"/>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75" name="Google Shape;875;p147"/>
          <p:cNvCxnSpPr/>
          <p:nvPr/>
        </p:nvCxnSpPr>
        <p:spPr>
          <a:xfrm>
            <a:off x="9229123" y="2680138"/>
            <a:ext cx="2459421" cy="0"/>
          </a:xfrm>
          <a:prstGeom prst="straightConnector1">
            <a:avLst/>
          </a:prstGeom>
          <a:noFill/>
          <a:ln w="25400" cap="flat" cmpd="sng">
            <a:solidFill>
              <a:schemeClr val="accent5"/>
            </a:solidFill>
            <a:prstDash val="solid"/>
            <a:miter lim="800000"/>
            <a:headEnd type="none" w="sm" len="sm"/>
            <a:tailEnd type="none" w="sm" len="sm"/>
          </a:ln>
        </p:spPr>
      </p:cxnSp>
      <p:sp>
        <p:nvSpPr>
          <p:cNvPr id="876" name="Google Shape;876;p147" descr="Row 2, box 4: text in dark green"/>
          <p:cNvSpPr txBox="1">
            <a:spLocks noGrp="1"/>
          </p:cNvSpPr>
          <p:nvPr>
            <p:ph type="body" idx="8"/>
          </p:nvPr>
        </p:nvSpPr>
        <p:spPr>
          <a:xfrm>
            <a:off x="9243428" y="2699834"/>
            <a:ext cx="2459421" cy="1949198"/>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5"/>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77" name="Google Shape;877;p147" descr="Row 3 label: this row shows six, small content boxes in a horiztonal row"/>
          <p:cNvSpPr txBox="1">
            <a:spLocks noGrp="1"/>
          </p:cNvSpPr>
          <p:nvPr>
            <p:ph type="body" idx="9"/>
          </p:nvPr>
        </p:nvSpPr>
        <p:spPr>
          <a:xfrm>
            <a:off x="300038" y="5065521"/>
            <a:ext cx="545995" cy="658026"/>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78" name="Google Shape;878;p147" descr="Row 3, text box 1"/>
          <p:cNvSpPr txBox="1">
            <a:spLocks noGrp="1"/>
          </p:cNvSpPr>
          <p:nvPr>
            <p:ph type="body" idx="13"/>
          </p:nvPr>
        </p:nvSpPr>
        <p:spPr>
          <a:xfrm>
            <a:off x="1115051"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79" name="Google Shape;879;p147" descr="Row 3, text box 2"/>
          <p:cNvSpPr txBox="1">
            <a:spLocks noGrp="1"/>
          </p:cNvSpPr>
          <p:nvPr>
            <p:ph type="body" idx="14"/>
          </p:nvPr>
        </p:nvSpPr>
        <p:spPr>
          <a:xfrm>
            <a:off x="2886312"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80" name="Google Shape;880;p147" descr="Row 3, text box 3"/>
          <p:cNvSpPr txBox="1">
            <a:spLocks noGrp="1"/>
          </p:cNvSpPr>
          <p:nvPr>
            <p:ph type="body" idx="15"/>
          </p:nvPr>
        </p:nvSpPr>
        <p:spPr>
          <a:xfrm>
            <a:off x="4657573"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81" name="Google Shape;881;p147" descr="Row 3, text box 4"/>
          <p:cNvSpPr txBox="1">
            <a:spLocks noGrp="1"/>
          </p:cNvSpPr>
          <p:nvPr>
            <p:ph type="body" idx="16"/>
          </p:nvPr>
        </p:nvSpPr>
        <p:spPr>
          <a:xfrm>
            <a:off x="6428834"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82" name="Google Shape;882;p147" descr="Row 3, text box 5"/>
          <p:cNvSpPr txBox="1">
            <a:spLocks noGrp="1"/>
          </p:cNvSpPr>
          <p:nvPr>
            <p:ph type="body" idx="17"/>
          </p:nvPr>
        </p:nvSpPr>
        <p:spPr>
          <a:xfrm>
            <a:off x="8200095"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83" name="Google Shape;883;p147" descr="Row 3, text box 6"/>
          <p:cNvSpPr txBox="1">
            <a:spLocks noGrp="1"/>
          </p:cNvSpPr>
          <p:nvPr>
            <p:ph type="body" idx="18"/>
          </p:nvPr>
        </p:nvSpPr>
        <p:spPr>
          <a:xfrm>
            <a:off x="9971354"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84" name="Google Shape;884;p14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cxnSp>
        <p:nvCxnSpPr>
          <p:cNvPr id="885" name="Google Shape;885;p147"/>
          <p:cNvCxnSpPr/>
          <p:nvPr/>
        </p:nvCxnSpPr>
        <p:spPr>
          <a:xfrm>
            <a:off x="1093076" y="2680138"/>
            <a:ext cx="2459421" cy="0"/>
          </a:xfrm>
          <a:prstGeom prst="straightConnector1">
            <a:avLst/>
          </a:prstGeom>
          <a:noFill/>
          <a:ln w="25400" cap="flat" cmpd="sng">
            <a:solidFill>
              <a:schemeClr val="accent4"/>
            </a:solidFill>
            <a:prstDash val="solid"/>
            <a:miter lim="800000"/>
            <a:headEnd type="none" w="sm" len="sm"/>
            <a:tailEnd type="none" w="sm" len="sm"/>
          </a:ln>
        </p:spPr>
      </p:cxnSp>
      <p:cxnSp>
        <p:nvCxnSpPr>
          <p:cNvPr id="886" name="Google Shape;886;p147"/>
          <p:cNvCxnSpPr/>
          <p:nvPr/>
        </p:nvCxnSpPr>
        <p:spPr>
          <a:xfrm>
            <a:off x="3805092" y="2680138"/>
            <a:ext cx="2459421" cy="0"/>
          </a:xfrm>
          <a:prstGeom prst="straightConnector1">
            <a:avLst/>
          </a:prstGeom>
          <a:noFill/>
          <a:ln w="25400" cap="flat" cmpd="sng">
            <a:solidFill>
              <a:schemeClr val="accent3"/>
            </a:solidFill>
            <a:prstDash val="solid"/>
            <a:miter lim="800000"/>
            <a:headEnd type="none" w="sm" len="sm"/>
            <a:tailEnd type="none" w="sm" len="sm"/>
          </a:ln>
        </p:spPr>
      </p:cxnSp>
      <p:cxnSp>
        <p:nvCxnSpPr>
          <p:cNvPr id="887" name="Google Shape;887;p147"/>
          <p:cNvCxnSpPr/>
          <p:nvPr/>
        </p:nvCxnSpPr>
        <p:spPr>
          <a:xfrm>
            <a:off x="6517108" y="2680138"/>
            <a:ext cx="2459421" cy="0"/>
          </a:xfrm>
          <a:prstGeom prst="straightConnector1">
            <a:avLst/>
          </a:prstGeom>
          <a:noFill/>
          <a:ln w="25400" cap="flat" cmpd="sng">
            <a:solidFill>
              <a:schemeClr val="accent2"/>
            </a:solidFill>
            <a:prstDash val="solid"/>
            <a:miter lim="800000"/>
            <a:headEnd type="none" w="sm" len="sm"/>
            <a:tailEnd type="none" w="sm" len="sm"/>
          </a:ln>
        </p:spPr>
      </p:cxnSp>
      <p:cxnSp>
        <p:nvCxnSpPr>
          <p:cNvPr id="888" name="Google Shape;888;p147"/>
          <p:cNvCxnSpPr/>
          <p:nvPr/>
        </p:nvCxnSpPr>
        <p:spPr>
          <a:xfrm>
            <a:off x="9229123" y="2680138"/>
            <a:ext cx="2459421" cy="0"/>
          </a:xfrm>
          <a:prstGeom prst="straightConnector1">
            <a:avLst/>
          </a:prstGeom>
          <a:noFill/>
          <a:ln w="25400" cap="flat" cmpd="sng">
            <a:solidFill>
              <a:schemeClr val="accent5"/>
            </a:solidFill>
            <a:prstDash val="solid"/>
            <a:miter lim="800000"/>
            <a:headEnd type="none" w="sm" len="sm"/>
            <a:tailEnd type="none" w="sm" len="sm"/>
          </a:ln>
        </p:spPr>
      </p:cxnSp>
      <p:sp>
        <p:nvSpPr>
          <p:cNvPr id="889" name="Google Shape;889;p14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Statement - Leaf">
  <p:cSld name="Big Statement - Leaf">
    <p:spTree>
      <p:nvGrpSpPr>
        <p:cNvPr id="1" name="Shape 890"/>
        <p:cNvGrpSpPr/>
        <p:nvPr/>
      </p:nvGrpSpPr>
      <p:grpSpPr>
        <a:xfrm>
          <a:off x="0" y="0"/>
          <a:ext cx="0" cy="0"/>
          <a:chOff x="0" y="0"/>
          <a:chExt cx="0" cy="0"/>
        </a:xfrm>
      </p:grpSpPr>
      <p:grpSp>
        <p:nvGrpSpPr>
          <p:cNvPr id="891" name="Google Shape;891;p148"/>
          <p:cNvGrpSpPr/>
          <p:nvPr/>
        </p:nvGrpSpPr>
        <p:grpSpPr>
          <a:xfrm>
            <a:off x="5111737" y="1408637"/>
            <a:ext cx="7077088" cy="4553747"/>
            <a:chOff x="5111737" y="1408637"/>
            <a:chExt cx="7077088" cy="4553747"/>
          </a:xfrm>
        </p:grpSpPr>
        <p:sp>
          <p:nvSpPr>
            <p:cNvPr id="892" name="Google Shape;892;p148"/>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rgbClr val="61A30E"/>
                </a:gs>
                <a:gs pos="5000">
                  <a:srgbClr val="61A30E"/>
                </a:gs>
                <a:gs pos="80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3" name="Google Shape;893;p148"/>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rgbClr val="61A30E"/>
                </a:gs>
                <a:gs pos="5000">
                  <a:srgbClr val="61A30E"/>
                </a:gs>
                <a:gs pos="80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894" name="Google Shape;894;p148"/>
          <p:cNvSpPr txBox="1">
            <a:spLocks noGrp="1"/>
          </p:cNvSpPr>
          <p:nvPr>
            <p:ph type="body" idx="1"/>
          </p:nvPr>
        </p:nvSpPr>
        <p:spPr>
          <a:xfrm>
            <a:off x="586477" y="2233670"/>
            <a:ext cx="6519403" cy="22859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4"/>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95" name="Google Shape;895;p14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896" name="Google Shape;896;p14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Statement - Aqua">
  <p:cSld name="Big Statement - Aqua">
    <p:spTree>
      <p:nvGrpSpPr>
        <p:cNvPr id="1" name="Shape 897"/>
        <p:cNvGrpSpPr/>
        <p:nvPr/>
      </p:nvGrpSpPr>
      <p:grpSpPr>
        <a:xfrm>
          <a:off x="0" y="0"/>
          <a:ext cx="0" cy="0"/>
          <a:chOff x="0" y="0"/>
          <a:chExt cx="0" cy="0"/>
        </a:xfrm>
      </p:grpSpPr>
      <p:grpSp>
        <p:nvGrpSpPr>
          <p:cNvPr id="898" name="Google Shape;898;p149"/>
          <p:cNvGrpSpPr/>
          <p:nvPr/>
        </p:nvGrpSpPr>
        <p:grpSpPr>
          <a:xfrm>
            <a:off x="5111737" y="1408637"/>
            <a:ext cx="7077088" cy="4553747"/>
            <a:chOff x="5111737" y="1408637"/>
            <a:chExt cx="7077088" cy="4553747"/>
          </a:xfrm>
        </p:grpSpPr>
        <p:sp>
          <p:nvSpPr>
            <p:cNvPr id="899" name="Google Shape;899;p149"/>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chemeClr val="accent2"/>
                </a:gs>
                <a:gs pos="21000">
                  <a:schemeClr val="accent2"/>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0" name="Google Shape;900;p149"/>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chemeClr val="accent2"/>
                </a:gs>
                <a:gs pos="21000">
                  <a:schemeClr val="accent2"/>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901" name="Google Shape;901;p149"/>
          <p:cNvSpPr txBox="1">
            <a:spLocks noGrp="1"/>
          </p:cNvSpPr>
          <p:nvPr>
            <p:ph type="body" idx="1"/>
          </p:nvPr>
        </p:nvSpPr>
        <p:spPr>
          <a:xfrm>
            <a:off x="580171" y="2233670"/>
            <a:ext cx="6525709" cy="22859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02" name="Google Shape;902;p14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03" name="Google Shape;903;p14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ig Statement - Plum">
  <p:cSld name="Big Statement - Plum">
    <p:spTree>
      <p:nvGrpSpPr>
        <p:cNvPr id="1" name="Shape 904"/>
        <p:cNvGrpSpPr/>
        <p:nvPr/>
      </p:nvGrpSpPr>
      <p:grpSpPr>
        <a:xfrm>
          <a:off x="0" y="0"/>
          <a:ext cx="0" cy="0"/>
          <a:chOff x="0" y="0"/>
          <a:chExt cx="0" cy="0"/>
        </a:xfrm>
      </p:grpSpPr>
      <p:grpSp>
        <p:nvGrpSpPr>
          <p:cNvPr id="905" name="Google Shape;905;p150"/>
          <p:cNvGrpSpPr/>
          <p:nvPr/>
        </p:nvGrpSpPr>
        <p:grpSpPr>
          <a:xfrm>
            <a:off x="5111737" y="1408637"/>
            <a:ext cx="7077088" cy="4553747"/>
            <a:chOff x="5111737" y="1408637"/>
            <a:chExt cx="7077088" cy="4553747"/>
          </a:xfrm>
        </p:grpSpPr>
        <p:sp>
          <p:nvSpPr>
            <p:cNvPr id="906" name="Google Shape;906;p150"/>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chemeClr val="accent5"/>
                </a:gs>
                <a:gs pos="6000">
                  <a:schemeClr val="accent5"/>
                </a:gs>
                <a:gs pos="7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7" name="Google Shape;907;p150"/>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chemeClr val="accent5"/>
                </a:gs>
                <a:gs pos="21000">
                  <a:schemeClr val="accent5"/>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908" name="Google Shape;908;p150"/>
          <p:cNvSpPr txBox="1">
            <a:spLocks noGrp="1"/>
          </p:cNvSpPr>
          <p:nvPr>
            <p:ph type="body" idx="1"/>
          </p:nvPr>
        </p:nvSpPr>
        <p:spPr>
          <a:xfrm>
            <a:off x="586477" y="2233670"/>
            <a:ext cx="6519403" cy="22859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5"/>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09" name="Google Shape;909;p15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10" name="Google Shape;910;p15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ig Statement 2 - Leaf ">
  <p:cSld name="Big Statement 2 - Leaf ">
    <p:spTree>
      <p:nvGrpSpPr>
        <p:cNvPr id="1" name="Shape 911"/>
        <p:cNvGrpSpPr/>
        <p:nvPr/>
      </p:nvGrpSpPr>
      <p:grpSpPr>
        <a:xfrm>
          <a:off x="0" y="0"/>
          <a:ext cx="0" cy="0"/>
          <a:chOff x="0" y="0"/>
          <a:chExt cx="0" cy="0"/>
        </a:xfrm>
      </p:grpSpPr>
      <p:sp>
        <p:nvSpPr>
          <p:cNvPr id="912" name="Google Shape;912;p151"/>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3" name="Google Shape;913;p151"/>
          <p:cNvSpPr/>
          <p:nvPr/>
        </p:nvSpPr>
        <p:spPr>
          <a:xfrm>
            <a:off x="6457030" y="355921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rgbClr val="61A30E"/>
              </a:gs>
              <a:gs pos="21000">
                <a:srgbClr val="61A30E"/>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4" name="Google Shape;914;p151"/>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5" name="Google Shape;915;p151"/>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16" name="Google Shape;916;p15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ig Statement 2 - Aqua">
  <p:cSld name="Big Statement 2 - Aqua">
    <p:spTree>
      <p:nvGrpSpPr>
        <p:cNvPr id="1" name="Shape 917"/>
        <p:cNvGrpSpPr/>
        <p:nvPr/>
      </p:nvGrpSpPr>
      <p:grpSpPr>
        <a:xfrm>
          <a:off x="0" y="0"/>
          <a:ext cx="0" cy="0"/>
          <a:chOff x="0" y="0"/>
          <a:chExt cx="0" cy="0"/>
        </a:xfrm>
      </p:grpSpPr>
      <p:sp>
        <p:nvSpPr>
          <p:cNvPr id="918" name="Google Shape;918;p152"/>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9" name="Google Shape;919;p152"/>
          <p:cNvSpPr/>
          <p:nvPr/>
        </p:nvSpPr>
        <p:spPr>
          <a:xfrm>
            <a:off x="6457030" y="356429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chemeClr val="accent2"/>
              </a:gs>
              <a:gs pos="21000">
                <a:schemeClr val="accent2"/>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0" name="Google Shape;920;p15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21" name="Google Shape;921;p152"/>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2" name="Google Shape;922;p152"/>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23" name="Google Shape;923;p152"/>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4" name="Google Shape;924;p15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ig Statement 2 - Plum">
  <p:cSld name="Big Statement 2 - Plum">
    <p:spTree>
      <p:nvGrpSpPr>
        <p:cNvPr id="1" name="Shape 925"/>
        <p:cNvGrpSpPr/>
        <p:nvPr/>
      </p:nvGrpSpPr>
      <p:grpSpPr>
        <a:xfrm>
          <a:off x="0" y="0"/>
          <a:ext cx="0" cy="0"/>
          <a:chOff x="0" y="0"/>
          <a:chExt cx="0" cy="0"/>
        </a:xfrm>
      </p:grpSpPr>
      <p:sp>
        <p:nvSpPr>
          <p:cNvPr id="926" name="Google Shape;926;p153"/>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7" name="Google Shape;927;p153"/>
          <p:cNvSpPr/>
          <p:nvPr/>
        </p:nvSpPr>
        <p:spPr>
          <a:xfrm>
            <a:off x="6457030" y="356429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chemeClr val="accent5"/>
              </a:gs>
              <a:gs pos="21000">
                <a:schemeClr val="accent5"/>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8" name="Google Shape;928;p15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29" name="Google Shape;929;p153"/>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0" name="Google Shape;930;p153"/>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31" name="Google Shape;931;p153"/>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2" name="Google Shape;932;p15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ig Statement with Photo">
  <p:cSld name="Big Statement with Photo">
    <p:spTree>
      <p:nvGrpSpPr>
        <p:cNvPr id="1" name="Shape 933"/>
        <p:cNvGrpSpPr/>
        <p:nvPr/>
      </p:nvGrpSpPr>
      <p:grpSpPr>
        <a:xfrm>
          <a:off x="0" y="0"/>
          <a:ext cx="0" cy="0"/>
          <a:chOff x="0" y="0"/>
          <a:chExt cx="0" cy="0"/>
        </a:xfrm>
      </p:grpSpPr>
      <p:sp>
        <p:nvSpPr>
          <p:cNvPr id="934" name="Google Shape;934;p154"/>
          <p:cNvSpPr txBox="1">
            <a:spLocks noGrp="1"/>
          </p:cNvSpPr>
          <p:nvPr>
            <p:ph type="body" idx="1"/>
          </p:nvPr>
        </p:nvSpPr>
        <p:spPr>
          <a:xfrm>
            <a:off x="608014" y="2514600"/>
            <a:ext cx="5485844" cy="18287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35" name="Google Shape;935;p154"/>
          <p:cNvSpPr>
            <a:spLocks noGrp="1"/>
          </p:cNvSpPr>
          <p:nvPr>
            <p:ph type="pic" idx="2"/>
          </p:nvPr>
        </p:nvSpPr>
        <p:spPr>
          <a:xfrm>
            <a:off x="6785687" y="69850"/>
            <a:ext cx="5403138" cy="6788150"/>
          </a:xfrm>
          <a:prstGeom prst="rect">
            <a:avLst/>
          </a:prstGeom>
          <a:noFill/>
          <a:ln>
            <a:noFill/>
          </a:ln>
        </p:spPr>
      </p:sp>
      <p:sp>
        <p:nvSpPr>
          <p:cNvPr id="936" name="Google Shape;936;p15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37" name="Google Shape;937;p15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ig Statistic">
  <p:cSld name="Big Statistic">
    <p:spTree>
      <p:nvGrpSpPr>
        <p:cNvPr id="1" name="Shape 938"/>
        <p:cNvGrpSpPr/>
        <p:nvPr/>
      </p:nvGrpSpPr>
      <p:grpSpPr>
        <a:xfrm>
          <a:off x="0" y="0"/>
          <a:ext cx="0" cy="0"/>
          <a:chOff x="0" y="0"/>
          <a:chExt cx="0" cy="0"/>
        </a:xfrm>
      </p:grpSpPr>
      <p:sp>
        <p:nvSpPr>
          <p:cNvPr id="939" name="Google Shape;939;p155"/>
          <p:cNvSpPr/>
          <p:nvPr/>
        </p:nvSpPr>
        <p:spPr>
          <a:xfrm>
            <a:off x="0" y="4332288"/>
            <a:ext cx="12188825" cy="2525712"/>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40" name="Google Shape;940;p155"/>
          <p:cNvSpPr/>
          <p:nvPr/>
        </p:nvSpPr>
        <p:spPr>
          <a:xfrm>
            <a:off x="667600" y="722997"/>
            <a:ext cx="4470400" cy="44704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41" name="Google Shape;941;p155" descr="Doughnut chart label 3"/>
          <p:cNvSpPr txBox="1">
            <a:spLocks noGrp="1"/>
          </p:cNvSpPr>
          <p:nvPr>
            <p:ph type="body" idx="1"/>
          </p:nvPr>
        </p:nvSpPr>
        <p:spPr>
          <a:xfrm>
            <a:off x="6096000" y="2514599"/>
            <a:ext cx="5027613" cy="1371601"/>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2" name="Google Shape;942;p155" descr="Doughnut chart label 1"/>
          <p:cNvSpPr txBox="1">
            <a:spLocks noGrp="1"/>
          </p:cNvSpPr>
          <p:nvPr>
            <p:ph type="body" idx="2"/>
          </p:nvPr>
        </p:nvSpPr>
        <p:spPr>
          <a:xfrm>
            <a:off x="608330"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3" name="Google Shape;943;p155" descr="Doughnut chart label 2"/>
          <p:cNvSpPr txBox="1">
            <a:spLocks noGrp="1"/>
          </p:cNvSpPr>
          <p:nvPr>
            <p:ph type="body" idx="3"/>
          </p:nvPr>
        </p:nvSpPr>
        <p:spPr>
          <a:xfrm>
            <a:off x="2436416"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4" name="Google Shape;944;p155" descr="Doughnut chart label 4"/>
          <p:cNvSpPr txBox="1">
            <a:spLocks noGrp="1"/>
          </p:cNvSpPr>
          <p:nvPr>
            <p:ph type="body" idx="4"/>
          </p:nvPr>
        </p:nvSpPr>
        <p:spPr>
          <a:xfrm>
            <a:off x="4261103"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5" name="Google Shape;945;p155" descr="Doughnut chart label 5"/>
          <p:cNvSpPr txBox="1">
            <a:spLocks noGrp="1"/>
          </p:cNvSpPr>
          <p:nvPr>
            <p:ph type="body" idx="5"/>
          </p:nvPr>
        </p:nvSpPr>
        <p:spPr>
          <a:xfrm>
            <a:off x="6088109"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6" name="Google Shape;946;p155" descr="Doughnut chart label 6"/>
          <p:cNvSpPr txBox="1">
            <a:spLocks noGrp="1"/>
          </p:cNvSpPr>
          <p:nvPr>
            <p:ph type="body" idx="6"/>
          </p:nvPr>
        </p:nvSpPr>
        <p:spPr>
          <a:xfrm>
            <a:off x="7920672"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7" name="Google Shape;947;p15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948" name="Google Shape;948;p155"/>
          <p:cNvGrpSpPr/>
          <p:nvPr/>
        </p:nvGrpSpPr>
        <p:grpSpPr>
          <a:xfrm>
            <a:off x="265625" y="6323271"/>
            <a:ext cx="1249222" cy="369649"/>
            <a:chOff x="265625" y="6323271"/>
            <a:chExt cx="1249222" cy="369649"/>
          </a:xfrm>
        </p:grpSpPr>
        <p:grpSp>
          <p:nvGrpSpPr>
            <p:cNvPr id="949" name="Google Shape;949;p155"/>
            <p:cNvGrpSpPr/>
            <p:nvPr/>
          </p:nvGrpSpPr>
          <p:grpSpPr>
            <a:xfrm>
              <a:off x="745455" y="6594444"/>
              <a:ext cx="722663" cy="98476"/>
              <a:chOff x="745455" y="6594444"/>
              <a:chExt cx="722663" cy="98476"/>
            </a:xfrm>
          </p:grpSpPr>
          <p:sp>
            <p:nvSpPr>
              <p:cNvPr id="950" name="Google Shape;950;p15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1" name="Google Shape;951;p15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2" name="Google Shape;952;p15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3" name="Google Shape;953;p15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4" name="Google Shape;954;p15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5" name="Google Shape;955;p15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6" name="Google Shape;956;p15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7" name="Google Shape;957;p15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8" name="Google Shape;958;p15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9" name="Google Shape;959;p15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960" name="Google Shape;960;p155"/>
            <p:cNvGrpSpPr/>
            <p:nvPr/>
          </p:nvGrpSpPr>
          <p:grpSpPr>
            <a:xfrm>
              <a:off x="265625" y="6323271"/>
              <a:ext cx="1249222" cy="190348"/>
              <a:chOff x="265625" y="6323271"/>
              <a:chExt cx="1249222" cy="190348"/>
            </a:xfrm>
          </p:grpSpPr>
          <p:sp>
            <p:nvSpPr>
              <p:cNvPr id="961" name="Google Shape;961;p15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2" name="Google Shape;962;p15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3" name="Google Shape;963;p15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4" name="Google Shape;964;p15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5" name="Google Shape;965;p15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6" name="Google Shape;966;p15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7" name="Google Shape;967;p15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968" name="Google Shape;968;p155"/>
          <p:cNvSpPr/>
          <p:nvPr/>
        </p:nvSpPr>
        <p:spPr>
          <a:xfrm>
            <a:off x="667600" y="722997"/>
            <a:ext cx="4470400" cy="44704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69" name="Google Shape;969;p15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970" name="Google Shape;970;p155"/>
          <p:cNvGrpSpPr/>
          <p:nvPr/>
        </p:nvGrpSpPr>
        <p:grpSpPr>
          <a:xfrm>
            <a:off x="265625" y="6323271"/>
            <a:ext cx="1249222" cy="369649"/>
            <a:chOff x="265625" y="6323271"/>
            <a:chExt cx="1249222" cy="369649"/>
          </a:xfrm>
        </p:grpSpPr>
        <p:grpSp>
          <p:nvGrpSpPr>
            <p:cNvPr id="971" name="Google Shape;971;p155"/>
            <p:cNvGrpSpPr/>
            <p:nvPr/>
          </p:nvGrpSpPr>
          <p:grpSpPr>
            <a:xfrm>
              <a:off x="745455" y="6594444"/>
              <a:ext cx="722663" cy="98476"/>
              <a:chOff x="745455" y="6594444"/>
              <a:chExt cx="722663" cy="98476"/>
            </a:xfrm>
          </p:grpSpPr>
          <p:sp>
            <p:nvSpPr>
              <p:cNvPr id="972" name="Google Shape;972;p15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3" name="Google Shape;973;p15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4" name="Google Shape;974;p15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5" name="Google Shape;975;p15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6" name="Google Shape;976;p15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7" name="Google Shape;977;p15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8" name="Google Shape;978;p15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9" name="Google Shape;979;p15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0" name="Google Shape;980;p15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1" name="Google Shape;981;p15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982" name="Google Shape;982;p155"/>
            <p:cNvGrpSpPr/>
            <p:nvPr/>
          </p:nvGrpSpPr>
          <p:grpSpPr>
            <a:xfrm>
              <a:off x="265625" y="6323271"/>
              <a:ext cx="1249222" cy="190348"/>
              <a:chOff x="265625" y="6323271"/>
              <a:chExt cx="1249222" cy="190348"/>
            </a:xfrm>
          </p:grpSpPr>
          <p:sp>
            <p:nvSpPr>
              <p:cNvPr id="983" name="Google Shape;983;p15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4" name="Google Shape;984;p15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5" name="Google Shape;985;p15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6" name="Google Shape;986;p15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7" name="Google Shape;987;p15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8" name="Google Shape;988;p15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9" name="Google Shape;989;p15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990" name="Google Shape;990;p155"/>
          <p:cNvSpPr>
            <a:spLocks noGrp="1"/>
          </p:cNvSpPr>
          <p:nvPr>
            <p:ph type="chart" idx="7"/>
          </p:nvPr>
        </p:nvSpPr>
        <p:spPr>
          <a:xfrm>
            <a:off x="662672" y="722997"/>
            <a:ext cx="4480256" cy="4480256"/>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rgbClr val="666666"/>
              </a:buClr>
              <a:buSzPts val="1800"/>
              <a:buFont typeface="Arial"/>
              <a:buChar char="​"/>
              <a:defRPr sz="2000" b="0" i="0" u="none" strike="noStrike" cap="none">
                <a:solidFill>
                  <a:schemeClr val="dk1"/>
                </a:solidFill>
                <a:latin typeface="Arial"/>
                <a:ea typeface="Arial"/>
                <a:cs typeface="Arial"/>
                <a:sym typeface="Arial"/>
              </a:defRPr>
            </a:lvl1pPr>
            <a:lvl2pPr marR="0" lvl="1" algn="l" rtl="0">
              <a:lnSpc>
                <a:spcPct val="100000"/>
              </a:lnSpc>
              <a:spcBef>
                <a:spcPts val="1200"/>
              </a:spcBef>
              <a:spcAft>
                <a:spcPts val="0"/>
              </a:spcAft>
              <a:buClr>
                <a:srgbClr val="3B3B3B"/>
              </a:buClr>
              <a:buSzPts val="1620"/>
              <a:buFont typeface="Arial"/>
              <a:buChar char="•"/>
              <a:defRPr sz="1800" b="0" i="0" u="none" strike="noStrike" cap="none">
                <a:solidFill>
                  <a:schemeClr val="dk1"/>
                </a:solidFill>
                <a:latin typeface="Arial"/>
                <a:ea typeface="Arial"/>
                <a:cs typeface="Arial"/>
                <a:sym typeface="Arial"/>
              </a:defRPr>
            </a:lvl2pPr>
            <a:lvl3pPr marR="0" lvl="2" algn="l" rtl="0">
              <a:lnSpc>
                <a:spcPct val="100000"/>
              </a:lnSpc>
              <a:spcBef>
                <a:spcPts val="1200"/>
              </a:spcBef>
              <a:spcAft>
                <a:spcPts val="0"/>
              </a:spcAft>
              <a:buClr>
                <a:srgbClr val="3B3B3B"/>
              </a:buClr>
              <a:buSzPts val="144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4pPr>
            <a:lvl5pPr marR="0" lvl="4"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5pPr>
            <a:lvl6pPr marR="0" lvl="5"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6pPr>
            <a:lvl7pPr marR="0" lvl="6" algn="l" rtl="0">
              <a:lnSpc>
                <a:spcPct val="100000"/>
              </a:lnSpc>
              <a:spcBef>
                <a:spcPts val="1200"/>
              </a:spcBef>
              <a:spcAft>
                <a:spcPts val="0"/>
              </a:spcAft>
              <a:buClr>
                <a:srgbClr val="3B3B3B"/>
              </a:buClr>
              <a:buSzPts val="1260"/>
              <a:buFont typeface="NTR"/>
              <a:buChar char="-"/>
              <a:defRPr sz="1400" b="0" i="0" u="none" strike="noStrike" cap="none">
                <a:solidFill>
                  <a:schemeClr val="dk1"/>
                </a:solidFill>
                <a:latin typeface="Arial"/>
                <a:ea typeface="Arial"/>
                <a:cs typeface="Arial"/>
                <a:sym typeface="Arial"/>
              </a:defRPr>
            </a:lvl7pPr>
            <a:lvl8pPr marR="0" lvl="7"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8pPr>
            <a:lvl9pPr marR="0" lvl="8" algn="l" rtl="0">
              <a:lnSpc>
                <a:spcPct val="100000"/>
              </a:lnSpc>
              <a:spcBef>
                <a:spcPts val="1200"/>
              </a:spcBef>
              <a:spcAft>
                <a:spcPts val="1200"/>
              </a:spcAft>
              <a:buClr>
                <a:srgbClr val="3B3B3B"/>
              </a:buClr>
              <a:buSzPts val="1260"/>
              <a:buFont typeface="NTR"/>
              <a:buChar char="-"/>
              <a:defRPr sz="1400" b="0" i="0" u="none" strike="noStrike" cap="none">
                <a:solidFill>
                  <a:schemeClr val="dk1"/>
                </a:solidFill>
                <a:latin typeface="Arial"/>
                <a:ea typeface="Arial"/>
                <a:cs typeface="Arial"/>
                <a:sym typeface="Arial"/>
              </a:defRPr>
            </a:lvl9pPr>
          </a:lstStyle>
          <a:p>
            <a:endParaRPr/>
          </a:p>
        </p:txBody>
      </p:sp>
      <p:sp>
        <p:nvSpPr>
          <p:cNvPr id="991" name="Google Shape;991;p155"/>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Thank You / Closing - Leaf">
  <p:cSld name="Thank You / Closing - Leaf">
    <p:spTree>
      <p:nvGrpSpPr>
        <p:cNvPr id="1" name="Shape 992"/>
        <p:cNvGrpSpPr/>
        <p:nvPr/>
      </p:nvGrpSpPr>
      <p:grpSpPr>
        <a:xfrm>
          <a:off x="0" y="0"/>
          <a:ext cx="0" cy="0"/>
          <a:chOff x="0" y="0"/>
          <a:chExt cx="0" cy="0"/>
        </a:xfrm>
      </p:grpSpPr>
      <p:sp>
        <p:nvSpPr>
          <p:cNvPr id="993" name="Google Shape;993;p156"/>
          <p:cNvSpPr/>
          <p:nvPr/>
        </p:nvSpPr>
        <p:spPr>
          <a:xfrm>
            <a:off x="0" y="0"/>
            <a:ext cx="6635783" cy="4452826"/>
          </a:xfrm>
          <a:custGeom>
            <a:avLst/>
            <a:gdLst/>
            <a:ahLst/>
            <a:cxnLst/>
            <a:rect l="l" t="t" r="r" b="b"/>
            <a:pathLst>
              <a:path w="6635783" h="4452826" extrusionOk="0">
                <a:moveTo>
                  <a:pt x="0" y="0"/>
                </a:moveTo>
                <a:lnTo>
                  <a:pt x="6635783" y="0"/>
                </a:lnTo>
                <a:lnTo>
                  <a:pt x="2550426" y="4085358"/>
                </a:lnTo>
                <a:cubicBezTo>
                  <a:pt x="2315128" y="4320656"/>
                  <a:pt x="1996025" y="4452826"/>
                  <a:pt x="1663310" y="4452826"/>
                </a:cubicBezTo>
                <a:lnTo>
                  <a:pt x="0" y="4452826"/>
                </a:lnTo>
                <a:close/>
              </a:path>
            </a:pathLst>
          </a:custGeom>
          <a:gradFill>
            <a:gsLst>
              <a:gs pos="0">
                <a:srgbClr val="61A30E"/>
              </a:gs>
              <a:gs pos="12000">
                <a:srgbClr val="61A30E"/>
              </a:gs>
              <a:gs pos="85000">
                <a:srgbClr val="0095C4"/>
              </a:gs>
              <a:gs pos="100000">
                <a:srgbClr val="0095C4"/>
              </a:gs>
            </a:gsLst>
            <a:lin ang="1889997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4" name="Google Shape;994;p156"/>
          <p:cNvSpPr/>
          <p:nvPr/>
        </p:nvSpPr>
        <p:spPr>
          <a:xfrm>
            <a:off x="0" y="0"/>
            <a:ext cx="12188827" cy="6858000"/>
          </a:xfrm>
          <a:custGeom>
            <a:avLst/>
            <a:gdLst/>
            <a:ahLst/>
            <a:cxnLst/>
            <a:rect l="l" t="t" r="r" b="b"/>
            <a:pathLst>
              <a:path w="12219884" h="6858000" extrusionOk="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5" name="Google Shape;995;p156"/>
          <p:cNvSpPr txBox="1"/>
          <p:nvPr/>
        </p:nvSpPr>
        <p:spPr>
          <a:xfrm>
            <a:off x="7122912" y="4133697"/>
            <a:ext cx="3585557" cy="692497"/>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cap="none">
                <a:solidFill>
                  <a:schemeClr val="accent2"/>
                </a:solidFill>
                <a:latin typeface="Arial"/>
                <a:ea typeface="Arial"/>
                <a:cs typeface="Arial"/>
                <a:sym typeface="Arial"/>
              </a:rPr>
              <a:t>Thank You</a:t>
            </a:r>
            <a:endParaRPr/>
          </a:p>
        </p:txBody>
      </p:sp>
      <p:grpSp>
        <p:nvGrpSpPr>
          <p:cNvPr id="996" name="Google Shape;996;p156"/>
          <p:cNvGrpSpPr/>
          <p:nvPr/>
        </p:nvGrpSpPr>
        <p:grpSpPr>
          <a:xfrm>
            <a:off x="265625" y="6323271"/>
            <a:ext cx="1249222" cy="369649"/>
            <a:chOff x="265625" y="6323271"/>
            <a:chExt cx="1249222" cy="369649"/>
          </a:xfrm>
        </p:grpSpPr>
        <p:grpSp>
          <p:nvGrpSpPr>
            <p:cNvPr id="997" name="Google Shape;997;p156"/>
            <p:cNvGrpSpPr/>
            <p:nvPr/>
          </p:nvGrpSpPr>
          <p:grpSpPr>
            <a:xfrm>
              <a:off x="745455" y="6594444"/>
              <a:ext cx="722663" cy="98476"/>
              <a:chOff x="745455" y="6594444"/>
              <a:chExt cx="722663" cy="98476"/>
            </a:xfrm>
          </p:grpSpPr>
          <p:sp>
            <p:nvSpPr>
              <p:cNvPr id="998" name="Google Shape;998;p156"/>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9" name="Google Shape;999;p156"/>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0" name="Google Shape;1000;p156"/>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1" name="Google Shape;1001;p156"/>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2" name="Google Shape;1002;p156"/>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3" name="Google Shape;1003;p156"/>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4" name="Google Shape;1004;p156"/>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5" name="Google Shape;1005;p156"/>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6" name="Google Shape;1006;p156"/>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7" name="Google Shape;1007;p156"/>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08" name="Google Shape;1008;p156"/>
            <p:cNvGrpSpPr/>
            <p:nvPr/>
          </p:nvGrpSpPr>
          <p:grpSpPr>
            <a:xfrm>
              <a:off x="265625" y="6323271"/>
              <a:ext cx="1249222" cy="190348"/>
              <a:chOff x="265625" y="6323271"/>
              <a:chExt cx="1249222" cy="190348"/>
            </a:xfrm>
          </p:grpSpPr>
          <p:sp>
            <p:nvSpPr>
              <p:cNvPr id="1009" name="Google Shape;1009;p156"/>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0" name="Google Shape;1010;p156"/>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1" name="Google Shape;1011;p156"/>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2" name="Google Shape;1012;p156"/>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3" name="Google Shape;1013;p156"/>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4" name="Google Shape;1014;p156"/>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5" name="Google Shape;1015;p156"/>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016" name="Google Shape;1016;p156"/>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7" name="Google Shape;1017;p156"/>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8" name="Google Shape;1018;p156"/>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Thank You / Closing - Aqua">
  <p:cSld name="Thank You / Closing - Aqua">
    <p:spTree>
      <p:nvGrpSpPr>
        <p:cNvPr id="1" name="Shape 1019"/>
        <p:cNvGrpSpPr/>
        <p:nvPr/>
      </p:nvGrpSpPr>
      <p:grpSpPr>
        <a:xfrm>
          <a:off x="0" y="0"/>
          <a:ext cx="0" cy="0"/>
          <a:chOff x="0" y="0"/>
          <a:chExt cx="0" cy="0"/>
        </a:xfrm>
      </p:grpSpPr>
      <p:sp>
        <p:nvSpPr>
          <p:cNvPr id="1020" name="Google Shape;1020;p157"/>
          <p:cNvSpPr/>
          <p:nvPr/>
        </p:nvSpPr>
        <p:spPr>
          <a:xfrm>
            <a:off x="0" y="0"/>
            <a:ext cx="6635783" cy="4452826"/>
          </a:xfrm>
          <a:custGeom>
            <a:avLst/>
            <a:gdLst/>
            <a:ahLst/>
            <a:cxnLst/>
            <a:rect l="l" t="t" r="r" b="b"/>
            <a:pathLst>
              <a:path w="6635783" h="4452826" extrusionOk="0">
                <a:moveTo>
                  <a:pt x="0" y="0"/>
                </a:moveTo>
                <a:lnTo>
                  <a:pt x="6635783" y="0"/>
                </a:lnTo>
                <a:lnTo>
                  <a:pt x="2550426" y="4085358"/>
                </a:lnTo>
                <a:cubicBezTo>
                  <a:pt x="2315128" y="4320656"/>
                  <a:pt x="1996025" y="4452826"/>
                  <a:pt x="1663310" y="4452826"/>
                </a:cubicBezTo>
                <a:lnTo>
                  <a:pt x="0" y="4452826"/>
                </a:lnTo>
                <a:close/>
              </a:path>
            </a:pathLst>
          </a:custGeom>
          <a:gradFill>
            <a:gsLst>
              <a:gs pos="0">
                <a:schemeClr val="accent2"/>
              </a:gs>
              <a:gs pos="12000">
                <a:schemeClr val="accent2"/>
              </a:gs>
              <a:gs pos="85000">
                <a:srgbClr val="0095C4"/>
              </a:gs>
              <a:gs pos="100000">
                <a:srgbClr val="0095C4"/>
              </a:gs>
            </a:gsLst>
            <a:lin ang="1889997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1" name="Google Shape;1021;p157"/>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2" name="Google Shape;1022;p157"/>
          <p:cNvSpPr txBox="1"/>
          <p:nvPr/>
        </p:nvSpPr>
        <p:spPr>
          <a:xfrm>
            <a:off x="7122912" y="4133697"/>
            <a:ext cx="3585557" cy="692497"/>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cap="none">
                <a:solidFill>
                  <a:schemeClr val="accent2"/>
                </a:solidFill>
                <a:latin typeface="Arial"/>
                <a:ea typeface="Arial"/>
                <a:cs typeface="Arial"/>
                <a:sym typeface="Arial"/>
              </a:rPr>
              <a:t>Thank You</a:t>
            </a:r>
            <a:endParaRPr/>
          </a:p>
        </p:txBody>
      </p:sp>
      <p:sp>
        <p:nvSpPr>
          <p:cNvPr id="1023" name="Google Shape;1023;p157"/>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1024" name="Google Shape;1024;p157"/>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1025" name="Google Shape;1025;p157"/>
          <p:cNvGrpSpPr/>
          <p:nvPr/>
        </p:nvGrpSpPr>
        <p:grpSpPr>
          <a:xfrm>
            <a:off x="265625" y="6323271"/>
            <a:ext cx="1249222" cy="369649"/>
            <a:chOff x="265625" y="6323271"/>
            <a:chExt cx="1249222" cy="369649"/>
          </a:xfrm>
        </p:grpSpPr>
        <p:grpSp>
          <p:nvGrpSpPr>
            <p:cNvPr id="1026" name="Google Shape;1026;p157"/>
            <p:cNvGrpSpPr/>
            <p:nvPr/>
          </p:nvGrpSpPr>
          <p:grpSpPr>
            <a:xfrm>
              <a:off x="745455" y="6594444"/>
              <a:ext cx="722663" cy="98476"/>
              <a:chOff x="745455" y="6594444"/>
              <a:chExt cx="722663" cy="98476"/>
            </a:xfrm>
          </p:grpSpPr>
          <p:sp>
            <p:nvSpPr>
              <p:cNvPr id="1027" name="Google Shape;1027;p157"/>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8" name="Google Shape;1028;p157"/>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9" name="Google Shape;1029;p157"/>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0" name="Google Shape;1030;p157"/>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1" name="Google Shape;1031;p157"/>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2" name="Google Shape;1032;p157"/>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3" name="Google Shape;1033;p157"/>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4" name="Google Shape;1034;p157"/>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5" name="Google Shape;1035;p157"/>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6" name="Google Shape;1036;p157"/>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37" name="Google Shape;1037;p157"/>
            <p:cNvGrpSpPr/>
            <p:nvPr/>
          </p:nvGrpSpPr>
          <p:grpSpPr>
            <a:xfrm>
              <a:off x="265625" y="6323271"/>
              <a:ext cx="1249222" cy="190348"/>
              <a:chOff x="265625" y="6323271"/>
              <a:chExt cx="1249222" cy="190348"/>
            </a:xfrm>
          </p:grpSpPr>
          <p:sp>
            <p:nvSpPr>
              <p:cNvPr id="1038" name="Google Shape;1038;p157"/>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9" name="Google Shape;1039;p157"/>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0" name="Google Shape;1040;p157"/>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1" name="Google Shape;1041;p157"/>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2" name="Google Shape;1042;p157"/>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3" name="Google Shape;1043;p157"/>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4" name="Google Shape;1044;p157"/>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045" name="Google Shape;1045;p157"/>
          <p:cNvSpPr/>
          <p:nvPr/>
        </p:nvSpPr>
        <p:spPr>
          <a:xfrm>
            <a:off x="0" y="0"/>
            <a:ext cx="12188827" cy="6858000"/>
          </a:xfrm>
          <a:custGeom>
            <a:avLst/>
            <a:gdLst/>
            <a:ahLst/>
            <a:cxnLst/>
            <a:rect l="l" t="t" r="r" b="b"/>
            <a:pathLst>
              <a:path w="12219884" h="6858000" extrusionOk="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6" name="Google Shape;1046;p157"/>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7" name="Google Shape;1047;p157"/>
          <p:cNvSpPr txBox="1"/>
          <p:nvPr/>
        </p:nvSpPr>
        <p:spPr>
          <a:xfrm>
            <a:off x="7122912" y="4133697"/>
            <a:ext cx="3585557" cy="692497"/>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cap="none">
                <a:solidFill>
                  <a:schemeClr val="accent2"/>
                </a:solidFill>
                <a:latin typeface="Arial"/>
                <a:ea typeface="Arial"/>
                <a:cs typeface="Arial"/>
                <a:sym typeface="Arial"/>
              </a:rPr>
              <a:t>Thank You</a:t>
            </a:r>
            <a:endParaRPr/>
          </a:p>
        </p:txBody>
      </p:sp>
      <p:grpSp>
        <p:nvGrpSpPr>
          <p:cNvPr id="1048" name="Google Shape;1048;p157"/>
          <p:cNvGrpSpPr/>
          <p:nvPr/>
        </p:nvGrpSpPr>
        <p:grpSpPr>
          <a:xfrm>
            <a:off x="265625" y="6323271"/>
            <a:ext cx="1249222" cy="369649"/>
            <a:chOff x="265625" y="6323271"/>
            <a:chExt cx="1249222" cy="369649"/>
          </a:xfrm>
        </p:grpSpPr>
        <p:grpSp>
          <p:nvGrpSpPr>
            <p:cNvPr id="1049" name="Google Shape;1049;p157"/>
            <p:cNvGrpSpPr/>
            <p:nvPr/>
          </p:nvGrpSpPr>
          <p:grpSpPr>
            <a:xfrm>
              <a:off x="745455" y="6594444"/>
              <a:ext cx="722663" cy="98476"/>
              <a:chOff x="745455" y="6594444"/>
              <a:chExt cx="722663" cy="98476"/>
            </a:xfrm>
          </p:grpSpPr>
          <p:sp>
            <p:nvSpPr>
              <p:cNvPr id="1050" name="Google Shape;1050;p157"/>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1" name="Google Shape;1051;p157"/>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2" name="Google Shape;1052;p157"/>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3" name="Google Shape;1053;p157"/>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4" name="Google Shape;1054;p157"/>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5" name="Google Shape;1055;p157"/>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6" name="Google Shape;1056;p157"/>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7" name="Google Shape;1057;p157"/>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8" name="Google Shape;1058;p157"/>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9" name="Google Shape;1059;p157"/>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60" name="Google Shape;1060;p157"/>
            <p:cNvGrpSpPr/>
            <p:nvPr/>
          </p:nvGrpSpPr>
          <p:grpSpPr>
            <a:xfrm>
              <a:off x="265625" y="6323271"/>
              <a:ext cx="1249222" cy="190348"/>
              <a:chOff x="265625" y="6323271"/>
              <a:chExt cx="1249222" cy="190348"/>
            </a:xfrm>
          </p:grpSpPr>
          <p:sp>
            <p:nvSpPr>
              <p:cNvPr id="1061" name="Google Shape;1061;p157"/>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2" name="Google Shape;1062;p157"/>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3" name="Google Shape;1063;p157"/>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4" name="Google Shape;1064;p157"/>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5" name="Google Shape;1065;p157"/>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6" name="Google Shape;1066;p157"/>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7" name="Google Shape;1067;p157"/>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068" name="Google Shape;1068;p157"/>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1_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201521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1_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053335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01"/>
          <p:cNvSpPr txBox="1">
            <a:spLocks noGrp="1"/>
          </p:cNvSpPr>
          <p:nvPr>
            <p:ph type="body" idx="1"/>
          </p:nvPr>
        </p:nvSpPr>
        <p:spPr>
          <a:xfrm>
            <a:off x="609441" y="1600203"/>
            <a:ext cx="10969943" cy="4580461"/>
          </a:xfrm>
          <a:prstGeom prst="rect">
            <a:avLst/>
          </a:prstGeom>
          <a:noFill/>
          <a:ln>
            <a:noFill/>
          </a:ln>
        </p:spPr>
        <p:txBody>
          <a:bodyPr spcFirstLastPara="1" wrap="square" lIns="0" tIns="0" rIns="0" bIns="0" anchor="t" anchorCtr="0">
            <a:noAutofit/>
          </a:bodyPr>
          <a:lstStyle>
            <a:lvl1pPr marL="457200" marR="0" lvl="0" indent="-342900" algn="l" rtl="0">
              <a:lnSpc>
                <a:spcPct val="100000"/>
              </a:lnSpc>
              <a:spcBef>
                <a:spcPts val="0"/>
              </a:spcBef>
              <a:spcAft>
                <a:spcPts val="0"/>
              </a:spcAft>
              <a:buClr>
                <a:srgbClr val="666666"/>
              </a:buClr>
              <a:buSzPts val="1800"/>
              <a:buFont typeface="Arial"/>
              <a:buChar char="​"/>
              <a:defRPr sz="2000" b="0" i="0" u="none" strike="noStrike" cap="none">
                <a:solidFill>
                  <a:schemeClr val="dk1"/>
                </a:solidFill>
                <a:latin typeface="Arial"/>
                <a:ea typeface="Arial"/>
                <a:cs typeface="Arial"/>
                <a:sym typeface="Arial"/>
              </a:defRPr>
            </a:lvl1pPr>
            <a:lvl2pPr marL="914400" marR="0" lvl="1" indent="-331469" algn="l" rtl="0">
              <a:lnSpc>
                <a:spcPct val="100000"/>
              </a:lnSpc>
              <a:spcBef>
                <a:spcPts val="1200"/>
              </a:spcBef>
              <a:spcAft>
                <a:spcPts val="0"/>
              </a:spcAft>
              <a:buClr>
                <a:srgbClr val="3B3B3B"/>
              </a:buClr>
              <a:buSzPts val="1620"/>
              <a:buFont typeface="Arial"/>
              <a:buChar char="•"/>
              <a:defRPr sz="1800" b="0" i="0" u="none" strike="noStrike" cap="none">
                <a:solidFill>
                  <a:schemeClr val="dk1"/>
                </a:solidFill>
                <a:latin typeface="Arial"/>
                <a:ea typeface="Arial"/>
                <a:cs typeface="Arial"/>
                <a:sym typeface="Arial"/>
              </a:defRPr>
            </a:lvl2pPr>
            <a:lvl3pPr marL="1371600" marR="0" lvl="2" indent="-320039" algn="l" rtl="0">
              <a:lnSpc>
                <a:spcPct val="100000"/>
              </a:lnSpc>
              <a:spcBef>
                <a:spcPts val="1200"/>
              </a:spcBef>
              <a:spcAft>
                <a:spcPts val="0"/>
              </a:spcAft>
              <a:buClr>
                <a:srgbClr val="3B3B3B"/>
              </a:buClr>
              <a:buSzPts val="1440"/>
              <a:buFont typeface="Arial"/>
              <a:buChar char="–"/>
              <a:defRPr sz="1600" b="0" i="0" u="none" strike="noStrike" cap="none">
                <a:solidFill>
                  <a:schemeClr val="dk1"/>
                </a:solidFill>
                <a:latin typeface="Arial"/>
                <a:ea typeface="Arial"/>
                <a:cs typeface="Arial"/>
                <a:sym typeface="Arial"/>
              </a:defRPr>
            </a:lvl3pPr>
            <a:lvl4pPr marL="1828800" marR="0" lvl="3" indent="-308610"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4pPr>
            <a:lvl5pPr marL="2286000" marR="0" lvl="4" indent="-308610"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5pPr>
            <a:lvl6pPr marL="2743200" marR="0" lvl="5" indent="-308610"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6pPr>
            <a:lvl7pPr marL="3200400" marR="0" lvl="6" indent="-308610" algn="l" rtl="0">
              <a:lnSpc>
                <a:spcPct val="100000"/>
              </a:lnSpc>
              <a:spcBef>
                <a:spcPts val="1200"/>
              </a:spcBef>
              <a:spcAft>
                <a:spcPts val="0"/>
              </a:spcAft>
              <a:buClr>
                <a:srgbClr val="3B3B3B"/>
              </a:buClr>
              <a:buSzPts val="1260"/>
              <a:buFont typeface="NTR"/>
              <a:buChar char="-"/>
              <a:defRPr sz="1400" b="0" i="0" u="none" strike="noStrike" cap="none">
                <a:solidFill>
                  <a:schemeClr val="dk1"/>
                </a:solidFill>
                <a:latin typeface="Arial"/>
                <a:ea typeface="Arial"/>
                <a:cs typeface="Arial"/>
                <a:sym typeface="Arial"/>
              </a:defRPr>
            </a:lvl7pPr>
            <a:lvl8pPr marL="3657600" marR="0" lvl="7" indent="-308609"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8pPr>
            <a:lvl9pPr marL="4114800" marR="0" lvl="8" indent="-308609" algn="l" rtl="0">
              <a:lnSpc>
                <a:spcPct val="100000"/>
              </a:lnSpc>
              <a:spcBef>
                <a:spcPts val="1200"/>
              </a:spcBef>
              <a:spcAft>
                <a:spcPts val="1200"/>
              </a:spcAft>
              <a:buClr>
                <a:srgbClr val="3B3B3B"/>
              </a:buClr>
              <a:buSzPts val="1260"/>
              <a:buFont typeface="NTR"/>
              <a:buChar char="-"/>
              <a:defRPr sz="1400" b="0" i="0" u="none" strike="noStrike" cap="none">
                <a:solidFill>
                  <a:schemeClr val="dk1"/>
                </a:solidFill>
                <a:latin typeface="Arial"/>
                <a:ea typeface="Arial"/>
                <a:cs typeface="Arial"/>
                <a:sym typeface="Arial"/>
              </a:defRPr>
            </a:lvl9pPr>
          </a:lstStyle>
          <a:p>
            <a:endParaRPr/>
          </a:p>
        </p:txBody>
      </p:sp>
      <p:grpSp>
        <p:nvGrpSpPr>
          <p:cNvPr id="12" name="Google Shape;12;p101"/>
          <p:cNvGrpSpPr/>
          <p:nvPr/>
        </p:nvGrpSpPr>
        <p:grpSpPr>
          <a:xfrm>
            <a:off x="265625" y="6323271"/>
            <a:ext cx="1249222" cy="369649"/>
            <a:chOff x="265625" y="6323271"/>
            <a:chExt cx="1249222" cy="369649"/>
          </a:xfrm>
        </p:grpSpPr>
        <p:grpSp>
          <p:nvGrpSpPr>
            <p:cNvPr id="13" name="Google Shape;13;p101"/>
            <p:cNvGrpSpPr/>
            <p:nvPr/>
          </p:nvGrpSpPr>
          <p:grpSpPr>
            <a:xfrm>
              <a:off x="745455" y="6594444"/>
              <a:ext cx="722663" cy="98476"/>
              <a:chOff x="745455" y="6594444"/>
              <a:chExt cx="722663" cy="98476"/>
            </a:xfrm>
          </p:grpSpPr>
          <p:sp>
            <p:nvSpPr>
              <p:cNvPr id="14" name="Google Shape;14;p101"/>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 name="Google Shape;15;p101"/>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 name="Google Shape;16;p101"/>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101"/>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101"/>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101"/>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 name="Google Shape;20;p101"/>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 name="Google Shape;21;p101"/>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 name="Google Shape;22;p101"/>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101"/>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4" name="Google Shape;24;p101"/>
            <p:cNvGrpSpPr/>
            <p:nvPr/>
          </p:nvGrpSpPr>
          <p:grpSpPr>
            <a:xfrm>
              <a:off x="265625" y="6323271"/>
              <a:ext cx="1249222" cy="190348"/>
              <a:chOff x="265625" y="6323271"/>
              <a:chExt cx="1249222" cy="190348"/>
            </a:xfrm>
          </p:grpSpPr>
          <p:sp>
            <p:nvSpPr>
              <p:cNvPr id="25" name="Google Shape;25;p101"/>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101"/>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101"/>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 name="Google Shape;28;p101"/>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 name="Google Shape;29;p101"/>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 name="Google Shape;30;p101"/>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 name="Google Shape;31;p101"/>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2" name="Google Shape;32;p101"/>
          <p:cNvSpPr/>
          <p:nvPr/>
        </p:nvSpPr>
        <p:spPr>
          <a:xfrm>
            <a:off x="0" y="0"/>
            <a:ext cx="12188825" cy="74871"/>
          </a:xfrm>
          <a:custGeom>
            <a:avLst/>
            <a:gdLst/>
            <a:ahLst/>
            <a:cxnLst/>
            <a:rect l="l" t="t" r="r" b="b"/>
            <a:pathLst>
              <a:path w="12185715" h="74871" extrusionOk="0">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 name="Google Shape;33;p101"/>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4" r:id="rId23"/>
    <p:sldLayoutId id="2147483675" r:id="rId24"/>
    <p:sldLayoutId id="2147483676" r:id="rId25"/>
    <p:sldLayoutId id="2147483678" r:id="rId26"/>
    <p:sldLayoutId id="2147483679" r:id="rId27"/>
    <p:sldLayoutId id="2147483680" r:id="rId28"/>
    <p:sldLayoutId id="2147483681" r:id="rId29"/>
    <p:sldLayoutId id="2147483682" r:id="rId30"/>
    <p:sldLayoutId id="2147483683" r:id="rId31"/>
    <p:sldLayoutId id="2147483684" r:id="rId32"/>
    <p:sldLayoutId id="2147483685" r:id="rId33"/>
    <p:sldLayoutId id="2147483686" r:id="rId34"/>
    <p:sldLayoutId id="2147483687" r:id="rId35"/>
    <p:sldLayoutId id="2147483688" r:id="rId36"/>
    <p:sldLayoutId id="2147483689" r:id="rId37"/>
    <p:sldLayoutId id="2147483690" r:id="rId38"/>
    <p:sldLayoutId id="2147483691" r:id="rId39"/>
    <p:sldLayoutId id="2147483692" r:id="rId40"/>
    <p:sldLayoutId id="2147483693" r:id="rId41"/>
    <p:sldLayoutId id="2147483694" r:id="rId42"/>
    <p:sldLayoutId id="2147483695" r:id="rId43"/>
    <p:sldLayoutId id="2147483696" r:id="rId44"/>
    <p:sldLayoutId id="2147483697" r:id="rId45"/>
    <p:sldLayoutId id="2147483698" r:id="rId46"/>
    <p:sldLayoutId id="2147484016" r:id="rId47"/>
    <p:sldLayoutId id="2147484017" r:id="rId48"/>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47.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25.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46.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52.svg"/></Relationships>
</file>

<file path=ppt/slides/_rels/slide19.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51.png"/><Relationship Id="rId7"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52.svg"/></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7.png"/><Relationship Id="rId7"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29.xml"/><Relationship Id="rId1" Type="http://schemas.openxmlformats.org/officeDocument/2006/relationships/slideLayout" Target="../slideLayouts/slideLayout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9.gif"/><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32.xml"/><Relationship Id="rId1" Type="http://schemas.openxmlformats.org/officeDocument/2006/relationships/slideLayout" Target="../slideLayouts/slideLayout48.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9" Type="http://schemas.openxmlformats.org/officeDocument/2006/relationships/image" Target="../media/image82.png"/></Relationships>
</file>

<file path=ppt/slides/_rels/slide36.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36.xml"/><Relationship Id="rId1" Type="http://schemas.openxmlformats.org/officeDocument/2006/relationships/slideLayout" Target="../slideLayouts/slideLayout1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9.png"/></Relationships>
</file>

<file path=ppt/slides/_rels/slide37.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41.xml.rels><?xml version="1.0" encoding="UTF-8" standalone="yes"?>
<Relationships xmlns="http://schemas.openxmlformats.org/package/2006/relationships"><Relationship Id="rId3" Type="http://schemas.openxmlformats.org/officeDocument/2006/relationships/hyperlink" Target="https://vcf.broadcom.com/" TargetMode="External"/><Relationship Id="rId2" Type="http://schemas.openxmlformats.org/officeDocument/2006/relationships/notesSlide" Target="../notesSlides/notesSlide41.xml"/><Relationship Id="rId1" Type="http://schemas.openxmlformats.org/officeDocument/2006/relationships/slideLayout" Target="../slideLayouts/slideLayout9.xml"/><Relationship Id="rId4" Type="http://schemas.openxmlformats.org/officeDocument/2006/relationships/image" Target="../media/image101.png"/></Relationships>
</file>

<file path=ppt/slides/_rels/slide4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8" Type="http://schemas.openxmlformats.org/officeDocument/2006/relationships/hyperlink" Target="https://community.broadcom.com/vmware-cloud-foundation/home" TargetMode="External"/><Relationship Id="rId13" Type="http://schemas.openxmlformats.org/officeDocument/2006/relationships/image" Target="../media/image106.png"/><Relationship Id="rId3" Type="http://schemas.openxmlformats.org/officeDocument/2006/relationships/hyperlink" Target="https://www.vmware.com/products/cloud-infrastructure/vmware-cloud-foundation" TargetMode="External"/><Relationship Id="rId7" Type="http://schemas.openxmlformats.org/officeDocument/2006/relationships/hyperlink" Target="https://www.vmware.com/resources/resource-center?category%5b%5d=Hands-on%20Labs" TargetMode="External"/><Relationship Id="rId12" Type="http://schemas.openxmlformats.org/officeDocument/2006/relationships/hyperlink" Target="https://vcf.ideas.aha.io/" TargetMode="External"/><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hyperlink" Target="https://www.vmware.com/resources/hands-on-labs" TargetMode="External"/><Relationship Id="rId11" Type="http://schemas.openxmlformats.org/officeDocument/2006/relationships/hyperlink" Target="https://www.vmware.com/info/vmware-cloud-foundation/resources#infographics" TargetMode="External"/><Relationship Id="rId5" Type="http://schemas.openxmlformats.org/officeDocument/2006/relationships/hyperlink" Target="https://blogs.vmware.com/cloud-foundation/" TargetMode="External"/><Relationship Id="rId10" Type="http://schemas.openxmlformats.org/officeDocument/2006/relationships/hyperlink" Target="https://www.youtube.com/c/VMwareCloudFoundation" TargetMode="External"/><Relationship Id="rId4" Type="http://schemas.openxmlformats.org/officeDocument/2006/relationships/hyperlink" Target="https://techdocs.broadcom.com/us/en/vmware-cis/vcf.html" TargetMode="External"/><Relationship Id="rId9" Type="http://schemas.openxmlformats.org/officeDocument/2006/relationships/hyperlink" Target="https://www.vmware.com/docs/vmw-cloud-foundation-faqs"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s://www.vmware.com/products/cloud-infrastructure/vmware-cloud-foundation" TargetMode="External"/><Relationship Id="rId3" Type="http://schemas.openxmlformats.org/officeDocument/2006/relationships/hyperlink" Target="https://www.vmware.com/resources/hands-on-labs" TargetMode="External"/><Relationship Id="rId7" Type="http://schemas.openxmlformats.org/officeDocument/2006/relationships/hyperlink" Target="https://www.vmware.com/docs/vmw-cloud-foundation-faqs" TargetMode="External"/><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hyperlink" Target="https://go-vmware.broadcom.com/VCFWebinars" TargetMode="External"/><Relationship Id="rId11" Type="http://schemas.openxmlformats.org/officeDocument/2006/relationships/hyperlink" Target="https://www.vmware.com/docs/vmware-vcf-tei-final" TargetMode="External"/><Relationship Id="rId5" Type="http://schemas.openxmlformats.org/officeDocument/2006/relationships/hyperlink" Target="https://www.youtube.com/c/VMwareCloudFoundation" TargetMode="External"/><Relationship Id="rId10" Type="http://schemas.openxmlformats.org/officeDocument/2006/relationships/hyperlink" Target="https://www.vmware.com/docs/vmw-vcf-tco-whitepaper" TargetMode="External"/><Relationship Id="rId4" Type="http://schemas.openxmlformats.org/officeDocument/2006/relationships/hyperlink" Target="https://www.vmware.com/resources/resource-center" TargetMode="External"/><Relationship Id="rId9" Type="http://schemas.openxmlformats.org/officeDocument/2006/relationships/hyperlink" Target="https://www.vmware.com/docs/vmw-cloud-foundation-datasheet" TargetMode="Externa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33"/>
        <p:cNvGrpSpPr/>
        <p:nvPr/>
      </p:nvGrpSpPr>
      <p:grpSpPr>
        <a:xfrm>
          <a:off x="0" y="0"/>
          <a:ext cx="0" cy="0"/>
          <a:chOff x="0" y="0"/>
          <a:chExt cx="0" cy="0"/>
        </a:xfrm>
      </p:grpSpPr>
      <p:sp>
        <p:nvSpPr>
          <p:cNvPr id="4234" name="Google Shape;4234;p2"/>
          <p:cNvSpPr/>
          <p:nvPr/>
        </p:nvSpPr>
        <p:spPr>
          <a:xfrm>
            <a:off x="1945691" y="1618131"/>
            <a:ext cx="3621737" cy="3621737"/>
          </a:xfrm>
          <a:prstGeom prst="ellipse">
            <a:avLst/>
          </a:prstGeom>
          <a:solidFill>
            <a:schemeClr val="lt1"/>
          </a:solidFill>
          <a:ln w="60325"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4235" name="Google Shape;4235;p2"/>
          <p:cNvSpPr txBox="1">
            <a:spLocks noGrp="1"/>
          </p:cNvSpPr>
          <p:nvPr>
            <p:ph type="body" idx="1"/>
          </p:nvPr>
        </p:nvSpPr>
        <p:spPr>
          <a:xfrm>
            <a:off x="6592948" y="4737425"/>
            <a:ext cx="5402202" cy="355601"/>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666666"/>
              </a:buClr>
              <a:buSzPts val="1440"/>
              <a:buFont typeface="Arial"/>
              <a:buNone/>
            </a:pPr>
            <a:endParaRPr/>
          </a:p>
        </p:txBody>
      </p:sp>
      <p:sp>
        <p:nvSpPr>
          <p:cNvPr id="4236" name="Google Shape;4236;p2"/>
          <p:cNvSpPr txBox="1">
            <a:spLocks noGrp="1"/>
          </p:cNvSpPr>
          <p:nvPr>
            <p:ph type="body" idx="2"/>
          </p:nvPr>
        </p:nvSpPr>
        <p:spPr>
          <a:xfrm>
            <a:off x="6592948" y="5117480"/>
            <a:ext cx="5402202" cy="355601"/>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40"/>
              <a:buNone/>
            </a:pPr>
            <a:r>
              <a:rPr lang="en-US"/>
              <a:t>Presenter:</a:t>
            </a:r>
            <a:endParaRPr/>
          </a:p>
        </p:txBody>
      </p:sp>
      <p:sp>
        <p:nvSpPr>
          <p:cNvPr id="4237" name="Google Shape;4237;p2"/>
          <p:cNvSpPr txBox="1">
            <a:spLocks noGrp="1"/>
          </p:cNvSpPr>
          <p:nvPr>
            <p:ph type="body" idx="3"/>
          </p:nvPr>
        </p:nvSpPr>
        <p:spPr>
          <a:xfrm>
            <a:off x="6592948" y="5485986"/>
            <a:ext cx="5402202" cy="355601"/>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260"/>
              <a:buNone/>
            </a:pPr>
            <a:r>
              <a:rPr lang="en-US"/>
              <a:t>June, 2024</a:t>
            </a:r>
            <a:endParaRPr/>
          </a:p>
        </p:txBody>
      </p:sp>
      <p:sp>
        <p:nvSpPr>
          <p:cNvPr id="4238" name="Google Shape;4238;p2"/>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4000"/>
              <a:buFont typeface="Arial"/>
              <a:buNone/>
            </a:pPr>
            <a:r>
              <a:rPr lang="en-US"/>
              <a:t>VMware Cloud Foundation 9.0</a:t>
            </a:r>
            <a:endParaRPr/>
          </a:p>
        </p:txBody>
      </p:sp>
      <p:sp>
        <p:nvSpPr>
          <p:cNvPr id="4239" name="Google Shape;4239;p2"/>
          <p:cNvSpPr txBox="1">
            <a:spLocks noGrp="1"/>
          </p:cNvSpPr>
          <p:nvPr>
            <p:ph type="subTitle" idx="4"/>
          </p:nvPr>
        </p:nvSpPr>
        <p:spPr>
          <a:xfrm>
            <a:off x="6592948" y="2986547"/>
            <a:ext cx="5116452" cy="41640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160"/>
              <a:buNone/>
            </a:pPr>
            <a:r>
              <a:rPr lang="en-US" dirty="0"/>
              <a:t>What’s New Technical – Part 2</a:t>
            </a:r>
            <a:endParaRPr dirty="0"/>
          </a:p>
        </p:txBody>
      </p:sp>
      <p:pic>
        <p:nvPicPr>
          <p:cNvPr id="4240" name="Google Shape;4240;p2"/>
          <p:cNvPicPr preferRelativeResize="0"/>
          <p:nvPr/>
        </p:nvPicPr>
        <p:blipFill rotWithShape="1">
          <a:blip r:embed="rId3">
            <a:alphaModFix/>
          </a:blip>
          <a:srcRect/>
          <a:stretch/>
        </p:blipFill>
        <p:spPr>
          <a:xfrm>
            <a:off x="2567840" y="2214230"/>
            <a:ext cx="2377440" cy="2377440"/>
          </a:xfrm>
          <a:prstGeom prst="rect">
            <a:avLst/>
          </a:prstGeom>
          <a:noFill/>
          <a:ln>
            <a:noFill/>
          </a:ln>
        </p:spPr>
      </p:pic>
      <p:sp>
        <p:nvSpPr>
          <p:cNvPr id="4241" name="Google Shape;4241;p2"/>
          <p:cNvSpPr txBox="1"/>
          <p:nvPr/>
        </p:nvSpPr>
        <p:spPr>
          <a:xfrm>
            <a:off x="6592948" y="5706706"/>
            <a:ext cx="5402202" cy="3556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1260"/>
              <a:buFont typeface="Arial"/>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68"/>
        <p:cNvGrpSpPr/>
        <p:nvPr/>
      </p:nvGrpSpPr>
      <p:grpSpPr>
        <a:xfrm>
          <a:off x="0" y="0"/>
          <a:ext cx="0" cy="0"/>
          <a:chOff x="0" y="0"/>
          <a:chExt cx="0" cy="0"/>
        </a:xfrm>
      </p:grpSpPr>
      <p:sp>
        <p:nvSpPr>
          <p:cNvPr id="7069" name="Google Shape;7069;p50"/>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Deliver Self-service IaaS</a:t>
            </a:r>
            <a:br>
              <a:rPr lang="en-US"/>
            </a:br>
            <a:endParaRPr/>
          </a:p>
        </p:txBody>
      </p:sp>
      <p:sp>
        <p:nvSpPr>
          <p:cNvPr id="7070" name="Google Shape;7070;p50"/>
          <p:cNvSpPr txBox="1"/>
          <p:nvPr/>
        </p:nvSpPr>
        <p:spPr>
          <a:xfrm>
            <a:off x="490252" y="2308659"/>
            <a:ext cx="7315200" cy="432278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What’s New with VCF Automation</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Supervisor Services</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Tenant Management</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Resource Management</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Organizational Management</a:t>
            </a:r>
            <a:endParaRPr sz="1800" b="0" i="0" u="none" strike="noStrike" cap="none">
              <a:solidFill>
                <a:srgbClr val="000000"/>
              </a:solidFill>
              <a:latin typeface="Arial"/>
              <a:ea typeface="Arial"/>
              <a:cs typeface="Arial"/>
              <a:sym typeface="Arial"/>
            </a:endParaRPr>
          </a:p>
        </p:txBody>
      </p:sp>
      <p:sp>
        <p:nvSpPr>
          <p:cNvPr id="7071" name="Google Shape;7071;p50"/>
          <p:cNvSpPr txBox="1"/>
          <p:nvPr/>
        </p:nvSpPr>
        <p:spPr>
          <a:xfrm>
            <a:off x="588962" y="1823094"/>
            <a:ext cx="2819256"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5C8A"/>
              </a:buClr>
              <a:buSzPts val="1800"/>
              <a:buFont typeface="Arial"/>
              <a:buNone/>
            </a:pPr>
            <a:r>
              <a:rPr lang="en-US" sz="1800" b="0" i="0" u="none" strike="noStrike" cap="none">
                <a:solidFill>
                  <a:srgbClr val="005C8A"/>
                </a:solidFill>
                <a:latin typeface="Arial"/>
                <a:ea typeface="Arial"/>
                <a:cs typeface="Arial"/>
                <a:sym typeface="Arial"/>
              </a:rPr>
              <a:t>VCF AUTOMATION</a:t>
            </a:r>
            <a:endParaRPr sz="1800" b="0" i="0" u="none" strike="noStrike" cap="none">
              <a:solidFill>
                <a:srgbClr val="005C8A"/>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75"/>
        <p:cNvGrpSpPr/>
        <p:nvPr/>
      </p:nvGrpSpPr>
      <p:grpSpPr>
        <a:xfrm>
          <a:off x="0" y="0"/>
          <a:ext cx="0" cy="0"/>
          <a:chOff x="0" y="0"/>
          <a:chExt cx="0" cy="0"/>
        </a:xfrm>
      </p:grpSpPr>
      <p:sp>
        <p:nvSpPr>
          <p:cNvPr id="7076" name="Google Shape;7076;p51"/>
          <p:cNvSpPr/>
          <p:nvPr/>
        </p:nvSpPr>
        <p:spPr>
          <a:xfrm>
            <a:off x="8339383" y="2075105"/>
            <a:ext cx="3519583" cy="4257091"/>
          </a:xfrm>
          <a:prstGeom prst="rect">
            <a:avLst/>
          </a:prstGeom>
          <a:gradFill>
            <a:gsLst>
              <a:gs pos="0">
                <a:srgbClr val="F5F9FB"/>
              </a:gs>
              <a:gs pos="46000">
                <a:srgbClr val="F5F9FB"/>
              </a:gs>
              <a:gs pos="100000">
                <a:schemeClr val="lt1"/>
              </a:gs>
            </a:gsLst>
            <a:lin ang="5400012" scaled="0"/>
          </a:gra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077" name="Google Shape;7077;p51"/>
          <p:cNvSpPr/>
          <p:nvPr/>
        </p:nvSpPr>
        <p:spPr>
          <a:xfrm>
            <a:off x="4533202" y="2075105"/>
            <a:ext cx="3485286" cy="4257091"/>
          </a:xfrm>
          <a:prstGeom prst="rect">
            <a:avLst/>
          </a:prstGeom>
          <a:gradFill>
            <a:gsLst>
              <a:gs pos="0">
                <a:srgbClr val="F5F9FB"/>
              </a:gs>
              <a:gs pos="46000">
                <a:srgbClr val="F5F9FB"/>
              </a:gs>
              <a:gs pos="100000">
                <a:schemeClr val="lt1"/>
              </a:gs>
            </a:gsLst>
            <a:lin ang="5400012" scaled="0"/>
          </a:gra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078" name="Google Shape;7078;p51"/>
          <p:cNvSpPr/>
          <p:nvPr/>
        </p:nvSpPr>
        <p:spPr>
          <a:xfrm>
            <a:off x="831667" y="2079840"/>
            <a:ext cx="3271848" cy="4257091"/>
          </a:xfrm>
          <a:prstGeom prst="rect">
            <a:avLst/>
          </a:prstGeom>
          <a:gradFill>
            <a:gsLst>
              <a:gs pos="0">
                <a:srgbClr val="F5F9FB"/>
              </a:gs>
              <a:gs pos="46000">
                <a:srgbClr val="F5F9FB"/>
              </a:gs>
              <a:gs pos="100000">
                <a:schemeClr val="lt1"/>
              </a:gs>
            </a:gsLst>
            <a:lin ang="5400012" scaled="0"/>
          </a:gra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cxnSp>
        <p:nvCxnSpPr>
          <p:cNvPr id="7079" name="Google Shape;7079;p51"/>
          <p:cNvCxnSpPr/>
          <p:nvPr/>
        </p:nvCxnSpPr>
        <p:spPr>
          <a:xfrm>
            <a:off x="831667" y="2066977"/>
            <a:ext cx="3260418" cy="1433"/>
          </a:xfrm>
          <a:prstGeom prst="straightConnector1">
            <a:avLst/>
          </a:prstGeom>
          <a:noFill/>
          <a:ln w="25400" cap="flat" cmpd="sng">
            <a:solidFill>
              <a:schemeClr val="accent3"/>
            </a:solidFill>
            <a:prstDash val="solid"/>
            <a:miter lim="800000"/>
            <a:headEnd type="none" w="sm" len="sm"/>
            <a:tailEnd type="none" w="sm" len="sm"/>
          </a:ln>
        </p:spPr>
      </p:cxnSp>
      <p:grpSp>
        <p:nvGrpSpPr>
          <p:cNvPr id="7080" name="Google Shape;7080;p51" descr="Advanced workload management&#10;Modern application support&#10;AI application (Private AI)&#10;Developer automation (IaaC)&#10;"/>
          <p:cNvGrpSpPr/>
          <p:nvPr/>
        </p:nvGrpSpPr>
        <p:grpSpPr>
          <a:xfrm>
            <a:off x="4847928" y="2790874"/>
            <a:ext cx="2624916" cy="1762143"/>
            <a:chOff x="2490252" y="2763672"/>
            <a:chExt cx="2625600" cy="1762602"/>
          </a:xfrm>
        </p:grpSpPr>
        <p:sp>
          <p:nvSpPr>
            <p:cNvPr id="7081" name="Google Shape;7081;p51"/>
            <p:cNvSpPr txBox="1"/>
            <p:nvPr/>
          </p:nvSpPr>
          <p:spPr>
            <a:xfrm>
              <a:off x="2490252" y="2763672"/>
              <a:ext cx="2625600" cy="38482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600"/>
                </a:spcAft>
                <a:buClr>
                  <a:srgbClr val="000000"/>
                </a:buClr>
                <a:buSzPts val="2400"/>
                <a:buFont typeface="Arial"/>
                <a:buNone/>
              </a:pPr>
              <a:r>
                <a:rPr lang="en-US" sz="2000" b="0" i="0" u="none" strike="noStrike" cap="none">
                  <a:solidFill>
                    <a:srgbClr val="6C4B94"/>
                  </a:solidFill>
                  <a:latin typeface="Arial"/>
                  <a:ea typeface="Arial"/>
                  <a:cs typeface="Arial"/>
                  <a:sym typeface="Arial"/>
                </a:rPr>
                <a:t>Cloud Governance</a:t>
              </a:r>
              <a:endParaRPr sz="2000" b="0" i="0" u="none" strike="noStrike" cap="none">
                <a:solidFill>
                  <a:srgbClr val="6C4B94"/>
                </a:solidFill>
                <a:latin typeface="Arial"/>
                <a:ea typeface="Arial"/>
                <a:cs typeface="Arial"/>
                <a:sym typeface="Arial"/>
              </a:endParaRPr>
            </a:p>
          </p:txBody>
        </p:sp>
        <p:sp>
          <p:nvSpPr>
            <p:cNvPr id="7082" name="Google Shape;7082;p51"/>
            <p:cNvSpPr/>
            <p:nvPr/>
          </p:nvSpPr>
          <p:spPr>
            <a:xfrm>
              <a:off x="2612531" y="3467574"/>
              <a:ext cx="2327700" cy="1058700"/>
            </a:xfrm>
            <a:prstGeom prst="rect">
              <a:avLst/>
            </a:prstGeom>
            <a:noFill/>
            <a:ln>
              <a:noFill/>
            </a:ln>
          </p:spPr>
          <p:txBody>
            <a:bodyPr spcFirstLastPara="1" wrap="square" lIns="91375" tIns="45675" rIns="91375" bIns="45675"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3C3C3C"/>
                </a:solidFill>
                <a:latin typeface="Arial"/>
                <a:ea typeface="Arial"/>
                <a:cs typeface="Arial"/>
                <a:sym typeface="Arial"/>
              </a:endParaRPr>
            </a:p>
          </p:txBody>
        </p:sp>
      </p:grpSp>
      <p:cxnSp>
        <p:nvCxnSpPr>
          <p:cNvPr id="7083" name="Google Shape;7083;p51"/>
          <p:cNvCxnSpPr/>
          <p:nvPr/>
        </p:nvCxnSpPr>
        <p:spPr>
          <a:xfrm>
            <a:off x="4523498" y="2066977"/>
            <a:ext cx="3494990" cy="0"/>
          </a:xfrm>
          <a:prstGeom prst="straightConnector1">
            <a:avLst/>
          </a:prstGeom>
          <a:noFill/>
          <a:ln w="25400" cap="flat" cmpd="sng">
            <a:solidFill>
              <a:schemeClr val="accent5"/>
            </a:solidFill>
            <a:prstDash val="solid"/>
            <a:miter lim="800000"/>
            <a:headEnd type="none" w="sm" len="sm"/>
            <a:tailEnd type="none" w="sm" len="sm"/>
          </a:ln>
        </p:spPr>
      </p:cxnSp>
      <p:grpSp>
        <p:nvGrpSpPr>
          <p:cNvPr id="7084" name="Google Shape;7084;p51" descr="Protection and Recovery&#10;Ransomware protection and recovery&#10;Disaster recovery&#10;Microsegmentation, firewalling, IPS, NDR&#10;"/>
          <p:cNvGrpSpPr/>
          <p:nvPr/>
        </p:nvGrpSpPr>
        <p:grpSpPr>
          <a:xfrm>
            <a:off x="1192615" y="2790874"/>
            <a:ext cx="2516644" cy="1691062"/>
            <a:chOff x="4855880" y="2461465"/>
            <a:chExt cx="2517300" cy="1691502"/>
          </a:xfrm>
        </p:grpSpPr>
        <p:sp>
          <p:nvSpPr>
            <p:cNvPr id="7085" name="Google Shape;7085;p51"/>
            <p:cNvSpPr txBox="1"/>
            <p:nvPr/>
          </p:nvSpPr>
          <p:spPr>
            <a:xfrm>
              <a:off x="4855880" y="2461465"/>
              <a:ext cx="2517300" cy="38482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600"/>
                </a:spcAft>
                <a:buClr>
                  <a:srgbClr val="000000"/>
                </a:buClr>
                <a:buSzPts val="2400"/>
                <a:buFont typeface="Arial"/>
                <a:buNone/>
              </a:pPr>
              <a:r>
                <a:rPr lang="en-US" sz="2000" b="0" i="0" u="none" strike="noStrike" cap="none">
                  <a:solidFill>
                    <a:srgbClr val="0098C7"/>
                  </a:solidFill>
                  <a:latin typeface="Arial"/>
                  <a:ea typeface="Arial"/>
                  <a:cs typeface="Arial"/>
                  <a:sym typeface="Arial"/>
                </a:rPr>
                <a:t>Tenant Management</a:t>
              </a:r>
              <a:endParaRPr sz="2000" b="0" i="0" u="none" strike="noStrike" cap="none" baseline="30000">
                <a:solidFill>
                  <a:srgbClr val="0098C7"/>
                </a:solidFill>
                <a:latin typeface="Arial"/>
                <a:ea typeface="Arial"/>
                <a:cs typeface="Arial"/>
                <a:sym typeface="Arial"/>
              </a:endParaRPr>
            </a:p>
          </p:txBody>
        </p:sp>
        <p:sp>
          <p:nvSpPr>
            <p:cNvPr id="7086" name="Google Shape;7086;p51"/>
            <p:cNvSpPr/>
            <p:nvPr/>
          </p:nvSpPr>
          <p:spPr>
            <a:xfrm>
              <a:off x="4855880" y="3165367"/>
              <a:ext cx="2468700" cy="987600"/>
            </a:xfrm>
            <a:prstGeom prst="rect">
              <a:avLst/>
            </a:prstGeom>
            <a:noFill/>
            <a:ln>
              <a:noFill/>
            </a:ln>
          </p:spPr>
          <p:txBody>
            <a:bodyPr spcFirstLastPara="1" wrap="square" lIns="91375" tIns="45675" rIns="91375" bIns="45675"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3C3C3C"/>
                </a:solidFill>
                <a:latin typeface="Arial"/>
                <a:ea typeface="Arial"/>
                <a:cs typeface="Arial"/>
                <a:sym typeface="Arial"/>
              </a:endParaRPr>
            </a:p>
          </p:txBody>
        </p:sp>
      </p:grpSp>
      <p:cxnSp>
        <p:nvCxnSpPr>
          <p:cNvPr id="7087" name="Google Shape;7087;p51"/>
          <p:cNvCxnSpPr/>
          <p:nvPr/>
        </p:nvCxnSpPr>
        <p:spPr>
          <a:xfrm>
            <a:off x="8344661" y="2066977"/>
            <a:ext cx="3519583" cy="0"/>
          </a:xfrm>
          <a:prstGeom prst="straightConnector1">
            <a:avLst/>
          </a:prstGeom>
          <a:noFill/>
          <a:ln w="25400" cap="flat" cmpd="sng">
            <a:solidFill>
              <a:schemeClr val="accent2"/>
            </a:solidFill>
            <a:prstDash val="solid"/>
            <a:miter lim="800000"/>
            <a:headEnd type="none" w="sm" len="sm"/>
            <a:tailEnd type="none" w="sm" len="sm"/>
          </a:ln>
        </p:spPr>
      </p:cxnSp>
      <p:cxnSp>
        <p:nvCxnSpPr>
          <p:cNvPr id="7088" name="Google Shape;7088;p51"/>
          <p:cNvCxnSpPr/>
          <p:nvPr/>
        </p:nvCxnSpPr>
        <p:spPr>
          <a:xfrm>
            <a:off x="9927362" y="773825"/>
            <a:ext cx="2271229" cy="0"/>
          </a:xfrm>
          <a:prstGeom prst="straightConnector1">
            <a:avLst/>
          </a:prstGeom>
          <a:noFill/>
          <a:ln w="44450" cap="flat" cmpd="sng">
            <a:solidFill>
              <a:schemeClr val="accent2"/>
            </a:solidFill>
            <a:prstDash val="solid"/>
            <a:miter lim="800000"/>
            <a:headEnd type="none" w="sm" len="sm"/>
            <a:tailEnd type="none" w="sm" len="sm"/>
          </a:ln>
        </p:spPr>
      </p:cxnSp>
      <p:cxnSp>
        <p:nvCxnSpPr>
          <p:cNvPr id="7089" name="Google Shape;7089;p51"/>
          <p:cNvCxnSpPr/>
          <p:nvPr/>
        </p:nvCxnSpPr>
        <p:spPr>
          <a:xfrm>
            <a:off x="1588" y="772457"/>
            <a:ext cx="2005661" cy="0"/>
          </a:xfrm>
          <a:prstGeom prst="straightConnector1">
            <a:avLst/>
          </a:prstGeom>
          <a:noFill/>
          <a:ln w="44450" cap="flat" cmpd="sng">
            <a:solidFill>
              <a:schemeClr val="accent2"/>
            </a:solidFill>
            <a:prstDash val="solid"/>
            <a:miter lim="800000"/>
            <a:headEnd type="none" w="sm" len="sm"/>
            <a:tailEnd type="none" w="sm" len="sm"/>
          </a:ln>
        </p:spPr>
      </p:cxnSp>
      <p:sp>
        <p:nvSpPr>
          <p:cNvPr id="7090" name="Google Shape;7090;p51"/>
          <p:cNvSpPr txBox="1"/>
          <p:nvPr/>
        </p:nvSpPr>
        <p:spPr>
          <a:xfrm>
            <a:off x="8441655" y="2789647"/>
            <a:ext cx="3220261"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000" b="0" i="0" u="none" strike="noStrike" cap="none">
                <a:solidFill>
                  <a:srgbClr val="005C8A"/>
                </a:solidFill>
                <a:latin typeface="Arial"/>
                <a:ea typeface="Arial"/>
                <a:cs typeface="Arial"/>
                <a:sym typeface="Arial"/>
              </a:rPr>
              <a:t>End User Experience</a:t>
            </a:r>
            <a:endParaRPr sz="2000" b="0" i="0" u="none" strike="noStrike" cap="none">
              <a:solidFill>
                <a:srgbClr val="005C8A"/>
              </a:solidFill>
              <a:latin typeface="Arial"/>
              <a:ea typeface="Arial"/>
              <a:cs typeface="Arial"/>
              <a:sym typeface="Arial"/>
            </a:endParaRPr>
          </a:p>
        </p:txBody>
      </p:sp>
      <p:sp>
        <p:nvSpPr>
          <p:cNvPr id="7091" name="Google Shape;7091;p51"/>
          <p:cNvSpPr/>
          <p:nvPr/>
        </p:nvSpPr>
        <p:spPr>
          <a:xfrm>
            <a:off x="9146597" y="3533161"/>
            <a:ext cx="2516644" cy="1271369"/>
          </a:xfrm>
          <a:prstGeom prst="rect">
            <a:avLst/>
          </a:prstGeom>
          <a:noFill/>
          <a:ln>
            <a:noFill/>
          </a:ln>
        </p:spPr>
        <p:txBody>
          <a:bodyPr spcFirstLastPara="1" wrap="square" lIns="91375" tIns="0" rIns="91375" bIns="45675" anchor="t" anchorCtr="0">
            <a:noAutofit/>
          </a:bodyPr>
          <a:lstStyle/>
          <a:p>
            <a:pPr marL="0" marR="0" lvl="0" indent="0" algn="ctr" rtl="0">
              <a:lnSpc>
                <a:spcPct val="100000"/>
              </a:lnSpc>
              <a:spcBef>
                <a:spcPts val="600"/>
              </a:spcBef>
              <a:spcAft>
                <a:spcPts val="0"/>
              </a:spcAft>
              <a:buClr>
                <a:srgbClr val="000000"/>
              </a:buClr>
              <a:buSzPts val="1000"/>
              <a:buFont typeface="Arial"/>
              <a:buNone/>
            </a:pPr>
            <a:endParaRPr sz="1000" b="0" i="0" u="none" strike="noStrike" cap="none">
              <a:solidFill>
                <a:srgbClr val="3C3C3C"/>
              </a:solidFill>
              <a:latin typeface="Arial"/>
              <a:ea typeface="Arial"/>
              <a:cs typeface="Arial"/>
              <a:sym typeface="Arial"/>
            </a:endParaRPr>
          </a:p>
        </p:txBody>
      </p:sp>
      <p:sp>
        <p:nvSpPr>
          <p:cNvPr id="7092" name="Google Shape;7092;p51"/>
          <p:cNvSpPr txBox="1"/>
          <p:nvPr/>
        </p:nvSpPr>
        <p:spPr>
          <a:xfrm>
            <a:off x="1008909" y="3215060"/>
            <a:ext cx="2828863" cy="258532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400" b="0" i="0" u="none" strike="noStrike" cap="none">
                <a:solidFill>
                  <a:srgbClr val="3C3C3C"/>
                </a:solidFill>
                <a:latin typeface="Arial"/>
                <a:ea typeface="Arial"/>
                <a:cs typeface="Arial"/>
                <a:sym typeface="Arial"/>
              </a:rPr>
              <a:t>Organize &amp; Allocate Tenant Resources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400" b="0" i="1" u="none" strike="noStrike" cap="none">
                <a:solidFill>
                  <a:srgbClr val="3C3C3C"/>
                </a:solidFill>
                <a:latin typeface="Arial"/>
                <a:ea typeface="Arial"/>
                <a:cs typeface="Arial"/>
                <a:sym typeface="Arial"/>
              </a:rPr>
              <a:t>(Tenant Management capabilities)</a:t>
            </a:r>
            <a:endParaRPr sz="1400" b="0" i="1" u="none" strike="noStrike" cap="none">
              <a:solidFill>
                <a:srgbClr val="3C3C3C"/>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rgbClr val="3C3C3C"/>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400" b="0" i="0" u="none" strike="noStrike" cap="none">
                <a:solidFill>
                  <a:srgbClr val="3C3C3C"/>
                </a:solidFill>
                <a:latin typeface="Arial"/>
                <a:ea typeface="Arial"/>
                <a:cs typeface="Arial"/>
                <a:sym typeface="Arial"/>
              </a:rPr>
              <a:t>Tenant/LOB Admin Identity Management.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400" b="0" i="1" u="none" strike="noStrike" cap="none">
                <a:solidFill>
                  <a:srgbClr val="3C3C3C"/>
                </a:solidFill>
                <a:latin typeface="Arial"/>
                <a:ea typeface="Arial"/>
                <a:cs typeface="Arial"/>
                <a:sym typeface="Arial"/>
              </a:rPr>
              <a:t>(Federated identity, groups, roles config)</a:t>
            </a:r>
            <a:endParaRPr sz="1400" b="0" i="1"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rgbClr val="3C3C3C"/>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400" b="0" i="0" u="none" strike="noStrike" cap="none">
                <a:solidFill>
                  <a:srgbClr val="3C3C3C"/>
                </a:solidFill>
                <a:latin typeface="Arial"/>
                <a:ea typeface="Arial"/>
                <a:cs typeface="Arial"/>
                <a:sym typeface="Arial"/>
              </a:rPr>
              <a:t>Tenant Operations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400" b="0" i="1" u="none" strike="noStrike" cap="none">
                <a:solidFill>
                  <a:srgbClr val="3C3C3C"/>
                </a:solidFill>
                <a:latin typeface="Arial"/>
                <a:ea typeface="Arial"/>
                <a:cs typeface="Arial"/>
                <a:sym typeface="Arial"/>
              </a:rPr>
              <a:t>(OOTB Ops, Capacity and Cost, Chargeback)</a:t>
            </a:r>
            <a:endParaRPr sz="1400" b="0" i="1" u="none" strike="noStrike" cap="none">
              <a:solidFill>
                <a:srgbClr val="000000"/>
              </a:solidFill>
              <a:latin typeface="Arial"/>
              <a:ea typeface="Arial"/>
              <a:cs typeface="Arial"/>
              <a:sym typeface="Arial"/>
            </a:endParaRPr>
          </a:p>
        </p:txBody>
      </p:sp>
      <p:sp>
        <p:nvSpPr>
          <p:cNvPr id="7093" name="Google Shape;7093;p51"/>
          <p:cNvSpPr txBox="1"/>
          <p:nvPr/>
        </p:nvSpPr>
        <p:spPr>
          <a:xfrm>
            <a:off x="4578035" y="3215059"/>
            <a:ext cx="3374421" cy="215443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400" b="0" i="0" u="none" strike="noStrike" cap="none">
                <a:solidFill>
                  <a:srgbClr val="3C3C3C"/>
                </a:solidFill>
                <a:latin typeface="Arial"/>
                <a:ea typeface="Arial"/>
                <a:cs typeface="Arial"/>
                <a:sym typeface="Arial"/>
              </a:rPr>
              <a:t>Governance Policies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400" b="0" i="1" u="none" strike="noStrike" cap="none">
                <a:solidFill>
                  <a:srgbClr val="3C3C3C"/>
                </a:solidFill>
                <a:latin typeface="Arial"/>
                <a:ea typeface="Arial"/>
                <a:cs typeface="Arial"/>
                <a:sym typeface="Arial"/>
              </a:rPr>
              <a:t>(Quotas, leases, naming, showback)</a:t>
            </a:r>
            <a:endParaRPr sz="1400" b="0" i="1"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rgbClr val="3C3C3C"/>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1400" b="0" i="0" u="none" strike="noStrike" cap="none">
                <a:solidFill>
                  <a:srgbClr val="3C3C3C"/>
                </a:solidFill>
                <a:latin typeface="Arial"/>
                <a:ea typeface="Arial"/>
                <a:cs typeface="Arial"/>
                <a:sym typeface="Arial"/>
              </a:rPr>
              <a:t>Application Blueprints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400" b="0" i="1" u="none" strike="noStrike" cap="none">
                <a:solidFill>
                  <a:srgbClr val="3C3C3C"/>
                </a:solidFill>
                <a:latin typeface="Arial"/>
                <a:ea typeface="Arial"/>
                <a:cs typeface="Arial"/>
                <a:sym typeface="Arial"/>
              </a:rPr>
              <a:t>(Traditional apps, Modern Apps and AI ML Apps)</a:t>
            </a:r>
            <a:endParaRPr sz="1400" b="0" i="1" u="none" strike="noStrike" cap="none">
              <a:solidFill>
                <a:srgbClr val="3C3C3C"/>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400" b="0" i="1" u="none" strike="noStrike" cap="none">
              <a:solidFill>
                <a:srgbClr val="3C3C3C"/>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1400" b="0" i="0" u="none" strike="noStrike" cap="none">
                <a:solidFill>
                  <a:srgbClr val="3C3C3C"/>
                </a:solidFill>
                <a:latin typeface="Arial"/>
                <a:ea typeface="Arial"/>
                <a:cs typeface="Arial"/>
                <a:sym typeface="Arial"/>
              </a:rPr>
              <a:t>Workflow Orchestration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400" b="0" i="1" u="none" strike="noStrike" cap="none">
                <a:solidFill>
                  <a:srgbClr val="3C3C3C"/>
                </a:solidFill>
                <a:latin typeface="Arial"/>
                <a:ea typeface="Arial"/>
                <a:cs typeface="Arial"/>
                <a:sym typeface="Arial"/>
              </a:rPr>
              <a:t>(Event-based extensibility and workflow orchestration for IT/Business processes)</a:t>
            </a:r>
            <a:endParaRPr sz="1400" b="0" i="1" u="none" strike="noStrike" cap="none">
              <a:solidFill>
                <a:srgbClr val="3C3C3C"/>
              </a:solidFill>
              <a:latin typeface="Arial"/>
              <a:ea typeface="Arial"/>
              <a:cs typeface="Arial"/>
              <a:sym typeface="Arial"/>
            </a:endParaRPr>
          </a:p>
        </p:txBody>
      </p:sp>
      <p:sp>
        <p:nvSpPr>
          <p:cNvPr id="7094" name="Google Shape;7094;p51"/>
          <p:cNvSpPr txBox="1"/>
          <p:nvPr/>
        </p:nvSpPr>
        <p:spPr>
          <a:xfrm>
            <a:off x="8414377" y="3215059"/>
            <a:ext cx="3374421" cy="236988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400" b="0" i="0" u="none" strike="noStrike" cap="none">
                <a:solidFill>
                  <a:srgbClr val="3C3C3C"/>
                </a:solidFill>
                <a:latin typeface="Arial"/>
                <a:ea typeface="Arial"/>
                <a:cs typeface="Arial"/>
                <a:sym typeface="Arial"/>
              </a:rPr>
              <a:t>IaaS Surface for VCF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400" b="0" i="1" u="none" strike="noStrike" cap="none">
                <a:solidFill>
                  <a:srgbClr val="3C3C3C"/>
                </a:solidFill>
                <a:latin typeface="Arial"/>
                <a:ea typeface="Arial"/>
                <a:cs typeface="Arial"/>
                <a:sym typeface="Arial"/>
              </a:rPr>
              <a:t>(OOTB Supervisor services - VM, K8s, Network, Storage, etc)</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rgbClr val="3C3C3C"/>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400" b="0" i="0" u="none" strike="noStrike" cap="none">
                <a:solidFill>
                  <a:srgbClr val="3C3C3C"/>
                </a:solidFill>
                <a:latin typeface="Arial"/>
                <a:ea typeface="Arial"/>
                <a:cs typeface="Arial"/>
                <a:sym typeface="Arial"/>
              </a:rPr>
              <a:t>Application Catalog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400" b="0" i="1" u="none" strike="noStrike" cap="none">
                <a:solidFill>
                  <a:srgbClr val="3C3C3C"/>
                </a:solidFill>
                <a:latin typeface="Arial"/>
                <a:ea typeface="Arial"/>
                <a:cs typeface="Arial"/>
                <a:sym typeface="Arial"/>
              </a:rPr>
              <a:t>(OOTB catalogs curating content from vCs, application catalogs, etc)</a:t>
            </a:r>
            <a:endParaRPr sz="1400" b="0" i="1" u="none" strike="noStrike" cap="none">
              <a:solidFill>
                <a:srgbClr val="3C3C3C"/>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rgbClr val="3C3C3C"/>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1400" b="0" i="0" u="none" strike="noStrike" cap="none">
                <a:solidFill>
                  <a:srgbClr val="3C3C3C"/>
                </a:solidFill>
                <a:latin typeface="Arial"/>
                <a:ea typeface="Arial"/>
                <a:cs typeface="Arial"/>
                <a:sym typeface="Arial"/>
              </a:rPr>
              <a:t>Extensible Services Ecosystem</a:t>
            </a:r>
            <a:endParaRPr sz="1400" b="0" i="0" u="none" strike="noStrike" cap="none">
              <a:solidFill>
                <a:srgbClr val="3C3C3C"/>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400" b="0" i="1" u="none" strike="noStrike" cap="none">
                <a:solidFill>
                  <a:srgbClr val="3C3C3C"/>
                </a:solidFill>
                <a:latin typeface="Arial"/>
                <a:ea typeface="Arial"/>
                <a:cs typeface="Arial"/>
                <a:sym typeface="Arial"/>
              </a:rPr>
              <a:t>(Object Storage, Data services, Backup, etc)</a:t>
            </a:r>
            <a:endParaRPr sz="1400" b="0" i="0" u="none" strike="noStrike" cap="none">
              <a:solidFill>
                <a:srgbClr val="3C3C3C"/>
              </a:solidFill>
              <a:latin typeface="Arial"/>
              <a:ea typeface="Arial"/>
              <a:cs typeface="Arial"/>
              <a:sym typeface="Arial"/>
            </a:endParaRPr>
          </a:p>
        </p:txBody>
      </p:sp>
      <p:grpSp>
        <p:nvGrpSpPr>
          <p:cNvPr id="7095" name="Google Shape;7095;p51"/>
          <p:cNvGrpSpPr/>
          <p:nvPr/>
        </p:nvGrpSpPr>
        <p:grpSpPr>
          <a:xfrm>
            <a:off x="9331226" y="1389066"/>
            <a:ext cx="1348996" cy="1348996"/>
            <a:chOff x="1579529" y="1674331"/>
            <a:chExt cx="1716300" cy="1716300"/>
          </a:xfrm>
        </p:grpSpPr>
        <p:sp>
          <p:nvSpPr>
            <p:cNvPr id="7096" name="Google Shape;7096;p51"/>
            <p:cNvSpPr/>
            <p:nvPr/>
          </p:nvSpPr>
          <p:spPr>
            <a:xfrm>
              <a:off x="1733223" y="1828382"/>
              <a:ext cx="1409100" cy="1408200"/>
            </a:xfrm>
            <a:prstGeom prst="ellipse">
              <a:avLst/>
            </a:prstGeom>
            <a:solidFill>
              <a:schemeClr val="lt1"/>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097" name="Google Shape;7097;p51"/>
            <p:cNvSpPr/>
            <p:nvPr/>
          </p:nvSpPr>
          <p:spPr>
            <a:xfrm>
              <a:off x="1579529" y="1674331"/>
              <a:ext cx="1716300" cy="1716300"/>
            </a:xfrm>
            <a:prstGeom prst="ellipse">
              <a:avLst/>
            </a:prstGeom>
            <a:solidFill>
              <a:schemeClr val="accent2">
                <a:alpha val="5882"/>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7098" name="Google Shape;7098;p51"/>
            <p:cNvGrpSpPr/>
            <p:nvPr/>
          </p:nvGrpSpPr>
          <p:grpSpPr>
            <a:xfrm>
              <a:off x="2086851" y="2111839"/>
              <a:ext cx="701879" cy="786997"/>
              <a:chOff x="5835904" y="711628"/>
              <a:chExt cx="537591" cy="602786"/>
            </a:xfrm>
          </p:grpSpPr>
          <p:sp>
            <p:nvSpPr>
              <p:cNvPr id="7099" name="Google Shape;7099;p51"/>
              <p:cNvSpPr/>
              <p:nvPr/>
            </p:nvSpPr>
            <p:spPr>
              <a:xfrm>
                <a:off x="6043477" y="711628"/>
                <a:ext cx="126492" cy="47575"/>
              </a:xfrm>
              <a:custGeom>
                <a:avLst/>
                <a:gdLst/>
                <a:ahLst/>
                <a:cxnLst/>
                <a:rect l="l" t="t" r="r" b="b"/>
                <a:pathLst>
                  <a:path w="126492" h="47575" extrusionOk="0">
                    <a:moveTo>
                      <a:pt x="104482" y="47533"/>
                    </a:moveTo>
                    <a:lnTo>
                      <a:pt x="86900" y="47533"/>
                    </a:lnTo>
                    <a:lnTo>
                      <a:pt x="86900" y="31689"/>
                    </a:lnTo>
                    <a:lnTo>
                      <a:pt x="104482" y="31689"/>
                    </a:lnTo>
                    <a:cubicBezTo>
                      <a:pt x="106983" y="32072"/>
                      <a:pt x="109470" y="30925"/>
                      <a:pt x="110807" y="28774"/>
                    </a:cubicBezTo>
                    <a:lnTo>
                      <a:pt x="110807" y="16668"/>
                    </a:lnTo>
                    <a:cubicBezTo>
                      <a:pt x="108765" y="16014"/>
                      <a:pt x="106623" y="15735"/>
                      <a:pt x="104482" y="15844"/>
                    </a:cubicBezTo>
                    <a:lnTo>
                      <a:pt x="24286" y="15844"/>
                    </a:lnTo>
                    <a:cubicBezTo>
                      <a:pt x="21404" y="15765"/>
                      <a:pt x="18532" y="16216"/>
                      <a:pt x="15812" y="17175"/>
                    </a:cubicBezTo>
                    <a:lnTo>
                      <a:pt x="15812" y="28267"/>
                    </a:lnTo>
                    <a:cubicBezTo>
                      <a:pt x="18073" y="30487"/>
                      <a:pt x="21120" y="31718"/>
                      <a:pt x="24286" y="31689"/>
                    </a:cubicBezTo>
                    <a:lnTo>
                      <a:pt x="39592" y="31689"/>
                    </a:lnTo>
                    <a:lnTo>
                      <a:pt x="39592" y="47533"/>
                    </a:lnTo>
                    <a:lnTo>
                      <a:pt x="24286" y="47533"/>
                    </a:lnTo>
                    <a:cubicBezTo>
                      <a:pt x="12839" y="47533"/>
                      <a:pt x="0" y="39548"/>
                      <a:pt x="0" y="28900"/>
                    </a:cubicBezTo>
                    <a:lnTo>
                      <a:pt x="0" y="15528"/>
                    </a:lnTo>
                    <a:cubicBezTo>
                      <a:pt x="0" y="6084"/>
                      <a:pt x="9550" y="0"/>
                      <a:pt x="24286" y="0"/>
                    </a:cubicBezTo>
                    <a:lnTo>
                      <a:pt x="104482" y="0"/>
                    </a:lnTo>
                    <a:cubicBezTo>
                      <a:pt x="120737" y="0"/>
                      <a:pt x="126492" y="7986"/>
                      <a:pt x="126492" y="15528"/>
                    </a:cubicBezTo>
                    <a:lnTo>
                      <a:pt x="126492" y="28900"/>
                    </a:lnTo>
                    <a:cubicBezTo>
                      <a:pt x="125327" y="40020"/>
                      <a:pt x="115617" y="48240"/>
                      <a:pt x="104482" y="47533"/>
                    </a:cubicBez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00" name="Google Shape;7100;p51"/>
              <p:cNvSpPr/>
              <p:nvPr/>
            </p:nvSpPr>
            <p:spPr>
              <a:xfrm>
                <a:off x="6288348" y="794189"/>
                <a:ext cx="65473" cy="65996"/>
              </a:xfrm>
              <a:custGeom>
                <a:avLst/>
                <a:gdLst/>
                <a:ahLst/>
                <a:cxnLst/>
                <a:rect l="l" t="t" r="r" b="b"/>
                <a:pathLst>
                  <a:path w="65473" h="65996" extrusionOk="0">
                    <a:moveTo>
                      <a:pt x="36384" y="65997"/>
                    </a:moveTo>
                    <a:cubicBezTo>
                      <a:pt x="33334" y="65973"/>
                      <a:pt x="30411" y="64770"/>
                      <a:pt x="28225" y="62638"/>
                    </a:cubicBezTo>
                    <a:lnTo>
                      <a:pt x="22913" y="57314"/>
                    </a:lnTo>
                    <a:lnTo>
                      <a:pt x="34107" y="46096"/>
                    </a:lnTo>
                    <a:lnTo>
                      <a:pt x="37776" y="49772"/>
                    </a:lnTo>
                    <a:cubicBezTo>
                      <a:pt x="38624" y="49359"/>
                      <a:pt x="39394" y="48801"/>
                      <a:pt x="40052" y="48124"/>
                    </a:cubicBezTo>
                    <a:lnTo>
                      <a:pt x="49286" y="38871"/>
                    </a:lnTo>
                    <a:lnTo>
                      <a:pt x="26961" y="16499"/>
                    </a:lnTo>
                    <a:lnTo>
                      <a:pt x="17347" y="25752"/>
                    </a:lnTo>
                    <a:cubicBezTo>
                      <a:pt x="16719" y="26471"/>
                      <a:pt x="16245" y="27313"/>
                      <a:pt x="15956" y="28224"/>
                    </a:cubicBezTo>
                    <a:lnTo>
                      <a:pt x="19434" y="31709"/>
                    </a:lnTo>
                    <a:lnTo>
                      <a:pt x="8240" y="42864"/>
                    </a:lnTo>
                    <a:lnTo>
                      <a:pt x="3623" y="38237"/>
                    </a:lnTo>
                    <a:cubicBezTo>
                      <a:pt x="-2702" y="31900"/>
                      <a:pt x="-46" y="20682"/>
                      <a:pt x="6216" y="14471"/>
                    </a:cubicBezTo>
                    <a:lnTo>
                      <a:pt x="15576" y="4837"/>
                    </a:lnTo>
                    <a:cubicBezTo>
                      <a:pt x="21119" y="-1230"/>
                      <a:pt x="30520" y="-1646"/>
                      <a:pt x="36575" y="3908"/>
                    </a:cubicBezTo>
                    <a:cubicBezTo>
                      <a:pt x="36747" y="4066"/>
                      <a:pt x="36915" y="4228"/>
                      <a:pt x="37080" y="4394"/>
                    </a:cubicBezTo>
                    <a:lnTo>
                      <a:pt x="61430" y="28794"/>
                    </a:lnTo>
                    <a:cubicBezTo>
                      <a:pt x="66889" y="34362"/>
                      <a:pt x="66810" y="43310"/>
                      <a:pt x="61254" y="48781"/>
                    </a:cubicBezTo>
                    <a:cubicBezTo>
                      <a:pt x="60946" y="49084"/>
                      <a:pt x="60625" y="49372"/>
                      <a:pt x="60291" y="49645"/>
                    </a:cubicBezTo>
                    <a:lnTo>
                      <a:pt x="50931" y="59342"/>
                    </a:lnTo>
                    <a:cubicBezTo>
                      <a:pt x="47104" y="63336"/>
                      <a:pt x="41902" y="65715"/>
                      <a:pt x="36384" y="65997"/>
                    </a:cubicBez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01" name="Google Shape;7101;p51"/>
              <p:cNvSpPr/>
              <p:nvPr/>
            </p:nvSpPr>
            <p:spPr>
              <a:xfrm>
                <a:off x="5844229" y="809238"/>
                <a:ext cx="65580" cy="65864"/>
              </a:xfrm>
              <a:custGeom>
                <a:avLst/>
                <a:gdLst/>
                <a:ahLst/>
                <a:cxnLst/>
                <a:rect l="l" t="t" r="r" b="b"/>
                <a:pathLst>
                  <a:path w="65580" h="65864" extrusionOk="0">
                    <a:moveTo>
                      <a:pt x="28673" y="65841"/>
                    </a:moveTo>
                    <a:cubicBezTo>
                      <a:pt x="23240" y="65631"/>
                      <a:pt x="18087" y="63367"/>
                      <a:pt x="14253" y="59503"/>
                    </a:cubicBezTo>
                    <a:lnTo>
                      <a:pt x="4766" y="49997"/>
                    </a:lnTo>
                    <a:cubicBezTo>
                      <a:pt x="-1273" y="44374"/>
                      <a:pt x="-1620" y="34909"/>
                      <a:pt x="3991" y="28858"/>
                    </a:cubicBezTo>
                    <a:cubicBezTo>
                      <a:pt x="4120" y="28719"/>
                      <a:pt x="4253" y="28582"/>
                      <a:pt x="4387" y="28448"/>
                    </a:cubicBezTo>
                    <a:lnTo>
                      <a:pt x="28736" y="4111"/>
                    </a:lnTo>
                    <a:cubicBezTo>
                      <a:pt x="34225" y="-1378"/>
                      <a:pt x="43115" y="-1369"/>
                      <a:pt x="48593" y="4131"/>
                    </a:cubicBezTo>
                    <a:cubicBezTo>
                      <a:pt x="48928" y="4467"/>
                      <a:pt x="49245" y="4820"/>
                      <a:pt x="49544" y="5188"/>
                    </a:cubicBezTo>
                    <a:lnTo>
                      <a:pt x="58968" y="15139"/>
                    </a:lnTo>
                    <a:cubicBezTo>
                      <a:pt x="65293" y="21477"/>
                      <a:pt x="68392" y="31997"/>
                      <a:pt x="62257" y="38208"/>
                    </a:cubicBezTo>
                    <a:lnTo>
                      <a:pt x="56944" y="43532"/>
                    </a:lnTo>
                    <a:lnTo>
                      <a:pt x="45750" y="32378"/>
                    </a:lnTo>
                    <a:lnTo>
                      <a:pt x="49418" y="28638"/>
                    </a:lnTo>
                    <a:cubicBezTo>
                      <a:pt x="49006" y="27788"/>
                      <a:pt x="48449" y="27016"/>
                      <a:pt x="47774" y="26357"/>
                    </a:cubicBezTo>
                    <a:lnTo>
                      <a:pt x="38540" y="17103"/>
                    </a:lnTo>
                    <a:lnTo>
                      <a:pt x="16214" y="39476"/>
                    </a:lnTo>
                    <a:lnTo>
                      <a:pt x="25448" y="48792"/>
                    </a:lnTo>
                    <a:cubicBezTo>
                      <a:pt x="26154" y="49438"/>
                      <a:pt x="26997" y="49915"/>
                      <a:pt x="27914" y="50187"/>
                    </a:cubicBezTo>
                    <a:lnTo>
                      <a:pt x="31393" y="46701"/>
                    </a:lnTo>
                    <a:lnTo>
                      <a:pt x="42587" y="57919"/>
                    </a:lnTo>
                    <a:lnTo>
                      <a:pt x="37970" y="62545"/>
                    </a:lnTo>
                    <a:cubicBezTo>
                      <a:pt x="35444" y="64859"/>
                      <a:pt x="32090" y="66048"/>
                      <a:pt x="28673" y="65841"/>
                    </a:cubicBez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02" name="Google Shape;7102;p51"/>
              <p:cNvSpPr/>
              <p:nvPr/>
            </p:nvSpPr>
            <p:spPr>
              <a:xfrm>
                <a:off x="5835904" y="775703"/>
                <a:ext cx="537591" cy="538711"/>
              </a:xfrm>
              <a:custGeom>
                <a:avLst/>
                <a:gdLst/>
                <a:ahLst/>
                <a:cxnLst/>
                <a:rect l="l" t="t" r="r" b="b"/>
                <a:pathLst>
                  <a:path w="537591" h="538711" extrusionOk="0">
                    <a:moveTo>
                      <a:pt x="268479" y="15844"/>
                    </a:moveTo>
                    <a:cubicBezTo>
                      <a:pt x="408199" y="15844"/>
                      <a:pt x="521463" y="129345"/>
                      <a:pt x="521463" y="269356"/>
                    </a:cubicBezTo>
                    <a:cubicBezTo>
                      <a:pt x="521463" y="409366"/>
                      <a:pt x="408199" y="522867"/>
                      <a:pt x="268479" y="522867"/>
                    </a:cubicBezTo>
                    <a:cubicBezTo>
                      <a:pt x="128760" y="522867"/>
                      <a:pt x="15495" y="409366"/>
                      <a:pt x="15495" y="269356"/>
                    </a:cubicBezTo>
                    <a:cubicBezTo>
                      <a:pt x="15495" y="129345"/>
                      <a:pt x="128760" y="15844"/>
                      <a:pt x="268479" y="15844"/>
                    </a:cubicBezTo>
                    <a:moveTo>
                      <a:pt x="268479" y="0"/>
                    </a:moveTo>
                    <a:cubicBezTo>
                      <a:pt x="120028" y="175"/>
                      <a:pt x="-174" y="120912"/>
                      <a:pt x="0" y="269673"/>
                    </a:cubicBezTo>
                    <a:cubicBezTo>
                      <a:pt x="175" y="418434"/>
                      <a:pt x="120660" y="538889"/>
                      <a:pt x="269112" y="538712"/>
                    </a:cubicBezTo>
                    <a:cubicBezTo>
                      <a:pt x="417440" y="538534"/>
                      <a:pt x="537591" y="417993"/>
                      <a:pt x="537591" y="269356"/>
                    </a:cubicBezTo>
                    <a:cubicBezTo>
                      <a:pt x="537591" y="120595"/>
                      <a:pt x="417247" y="0"/>
                      <a:pt x="268796" y="0"/>
                    </a:cubicBez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03" name="Google Shape;7103;p51"/>
              <p:cNvSpPr/>
              <p:nvPr/>
            </p:nvSpPr>
            <p:spPr>
              <a:xfrm>
                <a:off x="6096477" y="1246347"/>
                <a:ext cx="15811" cy="40118"/>
              </a:xfrm>
              <a:custGeom>
                <a:avLst/>
                <a:gdLst/>
                <a:ahLst/>
                <a:cxnLst/>
                <a:rect l="l" t="t" r="r" b="b"/>
                <a:pathLst>
                  <a:path w="15811" h="40118" extrusionOk="0">
                    <a:moveTo>
                      <a:pt x="0" y="0"/>
                    </a:moveTo>
                    <a:lnTo>
                      <a:pt x="15812" y="0"/>
                    </a:lnTo>
                    <a:lnTo>
                      <a:pt x="15812" y="40118"/>
                    </a:lnTo>
                    <a:lnTo>
                      <a:pt x="0" y="40118"/>
                    </a:ln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04" name="Google Shape;7104;p51"/>
              <p:cNvSpPr/>
              <p:nvPr/>
            </p:nvSpPr>
            <p:spPr>
              <a:xfrm>
                <a:off x="6096477" y="803589"/>
                <a:ext cx="15811" cy="40498"/>
              </a:xfrm>
              <a:custGeom>
                <a:avLst/>
                <a:gdLst/>
                <a:ahLst/>
                <a:cxnLst/>
                <a:rect l="l" t="t" r="r" b="b"/>
                <a:pathLst>
                  <a:path w="15811" h="40498" extrusionOk="0">
                    <a:moveTo>
                      <a:pt x="0" y="0"/>
                    </a:moveTo>
                    <a:lnTo>
                      <a:pt x="15812" y="0"/>
                    </a:lnTo>
                    <a:lnTo>
                      <a:pt x="15812" y="40498"/>
                    </a:lnTo>
                    <a:lnTo>
                      <a:pt x="0" y="40498"/>
                    </a:ln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05" name="Google Shape;7105;p51"/>
              <p:cNvSpPr/>
              <p:nvPr/>
            </p:nvSpPr>
            <p:spPr>
              <a:xfrm>
                <a:off x="6306074" y="1037137"/>
                <a:ext cx="39275" cy="15844"/>
              </a:xfrm>
              <a:custGeom>
                <a:avLst/>
                <a:gdLst/>
                <a:ahLst/>
                <a:cxnLst/>
                <a:rect l="l" t="t" r="r" b="b"/>
                <a:pathLst>
                  <a:path w="39275" h="15844" extrusionOk="0">
                    <a:moveTo>
                      <a:pt x="0" y="0"/>
                    </a:moveTo>
                    <a:lnTo>
                      <a:pt x="39276" y="0"/>
                    </a:lnTo>
                    <a:lnTo>
                      <a:pt x="39276" y="15844"/>
                    </a:lnTo>
                    <a:lnTo>
                      <a:pt x="0" y="15844"/>
                    </a:ln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06" name="Google Shape;7106;p51"/>
              <p:cNvSpPr/>
              <p:nvPr/>
            </p:nvSpPr>
            <p:spPr>
              <a:xfrm>
                <a:off x="5863479" y="1037137"/>
                <a:ext cx="39275" cy="15844"/>
              </a:xfrm>
              <a:custGeom>
                <a:avLst/>
                <a:gdLst/>
                <a:ahLst/>
                <a:cxnLst/>
                <a:rect l="l" t="t" r="r" b="b"/>
                <a:pathLst>
                  <a:path w="39275" h="15844" extrusionOk="0">
                    <a:moveTo>
                      <a:pt x="0" y="0"/>
                    </a:moveTo>
                    <a:lnTo>
                      <a:pt x="39276" y="0"/>
                    </a:lnTo>
                    <a:lnTo>
                      <a:pt x="39276" y="15844"/>
                    </a:lnTo>
                    <a:lnTo>
                      <a:pt x="0" y="15844"/>
                    </a:ln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07" name="Google Shape;7107;p51"/>
              <p:cNvSpPr/>
              <p:nvPr/>
            </p:nvSpPr>
            <p:spPr>
              <a:xfrm rot="-2700000">
                <a:off x="6252718" y="1181452"/>
                <a:ext cx="15820" cy="40140"/>
              </a:xfrm>
              <a:custGeom>
                <a:avLst/>
                <a:gdLst/>
                <a:ahLst/>
                <a:cxnLst/>
                <a:rect l="l" t="t" r="r" b="b"/>
                <a:pathLst>
                  <a:path w="15811" h="40118" extrusionOk="0">
                    <a:moveTo>
                      <a:pt x="0" y="0"/>
                    </a:moveTo>
                    <a:lnTo>
                      <a:pt x="15812" y="0"/>
                    </a:lnTo>
                    <a:lnTo>
                      <a:pt x="15812" y="40118"/>
                    </a:lnTo>
                    <a:lnTo>
                      <a:pt x="0" y="40118"/>
                    </a:ln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08" name="Google Shape;7108;p51"/>
              <p:cNvSpPr/>
              <p:nvPr/>
            </p:nvSpPr>
            <p:spPr>
              <a:xfrm rot="-2700000">
                <a:off x="5940475" y="868428"/>
                <a:ext cx="15820" cy="40521"/>
              </a:xfrm>
              <a:custGeom>
                <a:avLst/>
                <a:gdLst/>
                <a:ahLst/>
                <a:cxnLst/>
                <a:rect l="l" t="t" r="r" b="b"/>
                <a:pathLst>
                  <a:path w="15811" h="40498" extrusionOk="0">
                    <a:moveTo>
                      <a:pt x="0" y="0"/>
                    </a:moveTo>
                    <a:lnTo>
                      <a:pt x="15812" y="0"/>
                    </a:lnTo>
                    <a:lnTo>
                      <a:pt x="15812" y="40498"/>
                    </a:lnTo>
                    <a:lnTo>
                      <a:pt x="0" y="40498"/>
                    </a:ln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09" name="Google Shape;7109;p51"/>
              <p:cNvSpPr/>
              <p:nvPr/>
            </p:nvSpPr>
            <p:spPr>
              <a:xfrm rot="-2700000">
                <a:off x="6241270" y="880324"/>
                <a:ext cx="39297" cy="15853"/>
              </a:xfrm>
              <a:custGeom>
                <a:avLst/>
                <a:gdLst/>
                <a:ahLst/>
                <a:cxnLst/>
                <a:rect l="l" t="t" r="r" b="b"/>
                <a:pathLst>
                  <a:path w="39275" h="15844" extrusionOk="0">
                    <a:moveTo>
                      <a:pt x="0" y="0"/>
                    </a:moveTo>
                    <a:lnTo>
                      <a:pt x="39276" y="0"/>
                    </a:lnTo>
                    <a:lnTo>
                      <a:pt x="39276" y="15844"/>
                    </a:lnTo>
                    <a:lnTo>
                      <a:pt x="0" y="15844"/>
                    </a:ln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10" name="Google Shape;7110;p51"/>
              <p:cNvSpPr/>
              <p:nvPr/>
            </p:nvSpPr>
            <p:spPr>
              <a:xfrm rot="-2700000">
                <a:off x="5928329" y="1193887"/>
                <a:ext cx="39297" cy="15853"/>
              </a:xfrm>
              <a:custGeom>
                <a:avLst/>
                <a:gdLst/>
                <a:ahLst/>
                <a:cxnLst/>
                <a:rect l="l" t="t" r="r" b="b"/>
                <a:pathLst>
                  <a:path w="39275" h="15844" extrusionOk="0">
                    <a:moveTo>
                      <a:pt x="0" y="0"/>
                    </a:moveTo>
                    <a:lnTo>
                      <a:pt x="39276" y="0"/>
                    </a:lnTo>
                    <a:lnTo>
                      <a:pt x="39276" y="15844"/>
                    </a:lnTo>
                    <a:lnTo>
                      <a:pt x="0" y="15844"/>
                    </a:ln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sp>
            <p:nvSpPr>
              <p:cNvPr id="7111" name="Google Shape;7111;p51"/>
              <p:cNvSpPr/>
              <p:nvPr/>
            </p:nvSpPr>
            <p:spPr>
              <a:xfrm>
                <a:off x="6069534" y="955487"/>
                <a:ext cx="203927" cy="117346"/>
              </a:xfrm>
              <a:custGeom>
                <a:avLst/>
                <a:gdLst/>
                <a:ahLst/>
                <a:cxnLst/>
                <a:rect l="l" t="t" r="r" b="b"/>
                <a:pathLst>
                  <a:path w="203927" h="117346" extrusionOk="0">
                    <a:moveTo>
                      <a:pt x="203146" y="4518"/>
                    </a:moveTo>
                    <a:cubicBezTo>
                      <a:pt x="201305" y="590"/>
                      <a:pt x="196633" y="-1098"/>
                      <a:pt x="192713" y="748"/>
                    </a:cubicBezTo>
                    <a:cubicBezTo>
                      <a:pt x="192691" y="758"/>
                      <a:pt x="192670" y="768"/>
                      <a:pt x="192647" y="779"/>
                    </a:cubicBezTo>
                    <a:lnTo>
                      <a:pt x="55910" y="65361"/>
                    </a:lnTo>
                    <a:cubicBezTo>
                      <a:pt x="44724" y="51921"/>
                      <a:pt x="24782" y="50112"/>
                      <a:pt x="11370" y="61321"/>
                    </a:cubicBezTo>
                    <a:cubicBezTo>
                      <a:pt x="-2043" y="72530"/>
                      <a:pt x="-3848" y="92512"/>
                      <a:pt x="7338" y="105953"/>
                    </a:cubicBezTo>
                    <a:cubicBezTo>
                      <a:pt x="18524" y="119394"/>
                      <a:pt x="38465" y="121203"/>
                      <a:pt x="51878" y="109994"/>
                    </a:cubicBezTo>
                    <a:cubicBezTo>
                      <a:pt x="59137" y="103927"/>
                      <a:pt x="63307" y="94924"/>
                      <a:pt x="63246" y="85452"/>
                    </a:cubicBezTo>
                    <a:cubicBezTo>
                      <a:pt x="63220" y="83517"/>
                      <a:pt x="63029" y="81587"/>
                      <a:pt x="62677" y="79685"/>
                    </a:cubicBezTo>
                    <a:lnTo>
                      <a:pt x="199415" y="15103"/>
                    </a:lnTo>
                    <a:cubicBezTo>
                      <a:pt x="203358" y="13223"/>
                      <a:pt x="205034" y="8497"/>
                      <a:pt x="203160" y="4546"/>
                    </a:cubicBezTo>
                    <a:cubicBezTo>
                      <a:pt x="203155" y="4537"/>
                      <a:pt x="203151" y="4527"/>
                      <a:pt x="203146" y="4518"/>
                    </a:cubicBezTo>
                    <a:close/>
                  </a:path>
                </a:pathLst>
              </a:custGeom>
              <a:solidFill>
                <a:schemeClr val="accent2"/>
              </a:soli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6" b="0" i="0" u="none" strike="noStrike" cap="none">
                  <a:solidFill>
                    <a:srgbClr val="717074"/>
                  </a:solidFill>
                  <a:latin typeface="Arial"/>
                  <a:ea typeface="Arial"/>
                  <a:cs typeface="Arial"/>
                  <a:sym typeface="Arial"/>
                </a:endParaRPr>
              </a:p>
            </p:txBody>
          </p:sp>
        </p:grpSp>
        <p:sp>
          <p:nvSpPr>
            <p:cNvPr id="7112" name="Google Shape;7112;p51"/>
            <p:cNvSpPr/>
            <p:nvPr/>
          </p:nvSpPr>
          <p:spPr>
            <a:xfrm>
              <a:off x="1733223" y="1828382"/>
              <a:ext cx="1409100" cy="1408200"/>
            </a:xfrm>
            <a:prstGeom prst="ellipse">
              <a:avLst/>
            </a:prstGeom>
            <a:solidFill>
              <a:schemeClr val="lt1"/>
            </a:solidFill>
            <a:ln w="25400" cap="flat" cmpd="sng">
              <a:solidFill>
                <a:schemeClr val="accent2"/>
              </a:solidFill>
              <a:prstDash val="solid"/>
              <a:round/>
              <a:headEnd type="none" w="sm" len="sm"/>
              <a:tailEnd type="none" w="sm" len="sm"/>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pic>
        <p:nvPicPr>
          <p:cNvPr id="7113" name="Google Shape;7113;p51"/>
          <p:cNvPicPr preferRelativeResize="0"/>
          <p:nvPr/>
        </p:nvPicPr>
        <p:blipFill rotWithShape="1">
          <a:blip r:embed="rId3">
            <a:alphaModFix/>
          </a:blip>
          <a:srcRect/>
          <a:stretch/>
        </p:blipFill>
        <p:spPr>
          <a:xfrm>
            <a:off x="9618830" y="1724813"/>
            <a:ext cx="769742" cy="769742"/>
          </a:xfrm>
          <a:prstGeom prst="rect">
            <a:avLst/>
          </a:prstGeom>
          <a:noFill/>
          <a:ln>
            <a:noFill/>
          </a:ln>
        </p:spPr>
      </p:pic>
      <p:sp>
        <p:nvSpPr>
          <p:cNvPr id="7114" name="Google Shape;7114;p51"/>
          <p:cNvSpPr/>
          <p:nvPr/>
        </p:nvSpPr>
        <p:spPr>
          <a:xfrm>
            <a:off x="5462513" y="1402481"/>
            <a:ext cx="1348998" cy="1348998"/>
          </a:xfrm>
          <a:prstGeom prst="ellipse">
            <a:avLst/>
          </a:prstGeom>
          <a:solidFill>
            <a:schemeClr val="accent5">
              <a:alpha val="5882"/>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115" name="Google Shape;7115;p51"/>
          <p:cNvSpPr/>
          <p:nvPr/>
        </p:nvSpPr>
        <p:spPr>
          <a:xfrm>
            <a:off x="5583312" y="1523560"/>
            <a:ext cx="1107323" cy="1107024"/>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7116" name="Google Shape;7116;p51"/>
          <p:cNvPicPr preferRelativeResize="0"/>
          <p:nvPr/>
        </p:nvPicPr>
        <p:blipFill rotWithShape="1">
          <a:blip r:embed="rId4">
            <a:alphaModFix/>
          </a:blip>
          <a:srcRect/>
          <a:stretch/>
        </p:blipFill>
        <p:spPr>
          <a:xfrm>
            <a:off x="5745306" y="1710050"/>
            <a:ext cx="788621" cy="788621"/>
          </a:xfrm>
          <a:prstGeom prst="rect">
            <a:avLst/>
          </a:prstGeom>
          <a:noFill/>
          <a:ln>
            <a:noFill/>
          </a:ln>
        </p:spPr>
      </p:pic>
      <p:sp>
        <p:nvSpPr>
          <p:cNvPr id="7117" name="Google Shape;7117;p51"/>
          <p:cNvSpPr/>
          <p:nvPr/>
        </p:nvSpPr>
        <p:spPr>
          <a:xfrm>
            <a:off x="1748598" y="1402513"/>
            <a:ext cx="1348998" cy="1348998"/>
          </a:xfrm>
          <a:prstGeom prst="ellipse">
            <a:avLst/>
          </a:prstGeom>
          <a:solidFill>
            <a:schemeClr val="accent1">
              <a:alpha val="5882"/>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118" name="Google Shape;7118;p51"/>
          <p:cNvSpPr/>
          <p:nvPr/>
        </p:nvSpPr>
        <p:spPr>
          <a:xfrm>
            <a:off x="1869401" y="1523595"/>
            <a:ext cx="1107622" cy="1106724"/>
          </a:xfrm>
          <a:prstGeom prst="ellipse">
            <a:avLst/>
          </a:prstGeom>
          <a:solidFill>
            <a:schemeClr val="lt1"/>
          </a:solidFill>
          <a:ln w="25400" cap="flat" cmpd="sng">
            <a:solidFill>
              <a:schemeClr val="accent3"/>
            </a:solidFill>
            <a:prstDash val="solid"/>
            <a:round/>
            <a:headEnd type="none" w="sm" len="sm"/>
            <a:tailEnd type="none" w="sm" len="sm"/>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7119" name="Google Shape;7119;p51"/>
          <p:cNvPicPr preferRelativeResize="0"/>
          <p:nvPr/>
        </p:nvPicPr>
        <p:blipFill rotWithShape="1">
          <a:blip r:embed="rId5">
            <a:alphaModFix/>
          </a:blip>
          <a:srcRect/>
          <a:stretch/>
        </p:blipFill>
        <p:spPr>
          <a:xfrm>
            <a:off x="2046340" y="1708837"/>
            <a:ext cx="739987" cy="739987"/>
          </a:xfrm>
          <a:prstGeom prst="rect">
            <a:avLst/>
          </a:prstGeom>
          <a:solidFill>
            <a:schemeClr val="lt1"/>
          </a:solidFill>
          <a:ln>
            <a:noFill/>
          </a:ln>
        </p:spPr>
      </p:pic>
      <p:sp>
        <p:nvSpPr>
          <p:cNvPr id="7120" name="Google Shape;7120;p51"/>
          <p:cNvSpPr txBox="1"/>
          <p:nvPr/>
        </p:nvSpPr>
        <p:spPr>
          <a:xfrm>
            <a:off x="2356321" y="439382"/>
            <a:ext cx="7389746" cy="560153"/>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Clr>
                <a:srgbClr val="000000"/>
              </a:buClr>
              <a:buSzPts val="2000"/>
              <a:buFont typeface="Arial"/>
              <a:buNone/>
            </a:pPr>
            <a:r>
              <a:rPr lang="en-US" sz="2800" b="0" i="0" u="none" strike="noStrike" cap="none">
                <a:solidFill>
                  <a:srgbClr val="005C8A"/>
                </a:solidFill>
                <a:latin typeface="Arial"/>
                <a:ea typeface="Arial"/>
                <a:cs typeface="Arial"/>
                <a:sym typeface="Arial"/>
              </a:rPr>
              <a:t>       VCF Automation – Consume the Cloud</a:t>
            </a:r>
            <a:endParaRPr sz="2800" b="0" i="0" u="none" strike="noStrike" cap="none">
              <a:solidFill>
                <a:srgbClr val="000000"/>
              </a:solidFill>
              <a:latin typeface="Arial"/>
              <a:ea typeface="Arial"/>
              <a:cs typeface="Arial"/>
              <a:sym typeface="Arial"/>
            </a:endParaRPr>
          </a:p>
        </p:txBody>
      </p:sp>
      <p:pic>
        <p:nvPicPr>
          <p:cNvPr id="7121" name="Google Shape;7121;p51"/>
          <p:cNvPicPr preferRelativeResize="0"/>
          <p:nvPr/>
        </p:nvPicPr>
        <p:blipFill rotWithShape="1">
          <a:blip r:embed="rId6">
            <a:alphaModFix/>
          </a:blip>
          <a:srcRect/>
          <a:stretch/>
        </p:blipFill>
        <p:spPr>
          <a:xfrm>
            <a:off x="2619120" y="445889"/>
            <a:ext cx="572155" cy="5829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26"/>
        <p:cNvGrpSpPr/>
        <p:nvPr/>
      </p:nvGrpSpPr>
      <p:grpSpPr>
        <a:xfrm>
          <a:off x="0" y="0"/>
          <a:ext cx="0" cy="0"/>
          <a:chOff x="0" y="0"/>
          <a:chExt cx="0" cy="0"/>
        </a:xfrm>
      </p:grpSpPr>
      <p:sp>
        <p:nvSpPr>
          <p:cNvPr id="7127" name="Google Shape;7127;p5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Supervisor Services</a:t>
            </a:r>
            <a:endParaRPr/>
          </a:p>
        </p:txBody>
      </p:sp>
      <p:sp>
        <p:nvSpPr>
          <p:cNvPr id="7128" name="Google Shape;7128;p52"/>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Deliver public cloud-like IaaS services in a private cloud, straight out-of-the-box. </a:t>
            </a:r>
            <a:br>
              <a:rPr lang="en-US"/>
            </a:br>
            <a:r>
              <a:rPr lang="en-US"/>
              <a:t>Expand with extensible services, increasing developer satisfaction.</a:t>
            </a:r>
            <a:endParaRPr/>
          </a:p>
        </p:txBody>
      </p:sp>
      <p:sp>
        <p:nvSpPr>
          <p:cNvPr id="7129" name="Google Shape;7129;p52" descr="vSphere+ components consisting of namespaces, developer services, tanzu integrated services and compute/networking/storage"/>
          <p:cNvSpPr/>
          <p:nvPr/>
        </p:nvSpPr>
        <p:spPr>
          <a:xfrm>
            <a:off x="594054" y="1595656"/>
            <a:ext cx="10889110" cy="4676129"/>
          </a:xfrm>
          <a:prstGeom prst="roundRect">
            <a:avLst>
              <a:gd name="adj" fmla="val 1761"/>
            </a:avLst>
          </a:prstGeom>
          <a:noFill/>
          <a:ln w="25400" cap="flat" cmpd="sng">
            <a:solidFill>
              <a:schemeClr val="dk2"/>
            </a:solidFill>
            <a:prstDash val="solid"/>
            <a:round/>
            <a:headEnd type="none" w="sm" len="sm"/>
            <a:tailEnd type="none" w="sm" len="sm"/>
          </a:ln>
        </p:spPr>
        <p:txBody>
          <a:bodyPr spcFirstLastPara="1" wrap="square" lIns="639550" tIns="456825" rIns="456825" bIns="456825" anchor="t" anchorCtr="0">
            <a:noAutofit/>
          </a:bodyPr>
          <a:lstStyle/>
          <a:p>
            <a:pPr marL="0" marR="0" lvl="0" indent="0" algn="l" rtl="0">
              <a:lnSpc>
                <a:spcPct val="100000"/>
              </a:lnSpc>
              <a:spcBef>
                <a:spcPts val="0"/>
              </a:spcBef>
              <a:spcAft>
                <a:spcPts val="0"/>
              </a:spcAft>
              <a:buClr>
                <a:srgbClr val="000000"/>
              </a:buClr>
              <a:buSzPts val="1796"/>
              <a:buFont typeface="Arial"/>
              <a:buNone/>
            </a:pPr>
            <a:endParaRPr sz="1795" b="0" i="0" u="none" strike="noStrike" cap="none">
              <a:solidFill>
                <a:srgbClr val="1D428A"/>
              </a:solidFill>
              <a:latin typeface="Arial"/>
              <a:ea typeface="Arial"/>
              <a:cs typeface="Arial"/>
              <a:sym typeface="Arial"/>
            </a:endParaRPr>
          </a:p>
        </p:txBody>
      </p:sp>
      <p:grpSp>
        <p:nvGrpSpPr>
          <p:cNvPr id="7130" name="Google Shape;7130;p52"/>
          <p:cNvGrpSpPr/>
          <p:nvPr/>
        </p:nvGrpSpPr>
        <p:grpSpPr>
          <a:xfrm>
            <a:off x="1566735" y="5756381"/>
            <a:ext cx="9114886" cy="564449"/>
            <a:chOff x="6457" y="3088548"/>
            <a:chExt cx="12175910" cy="421608"/>
          </a:xfrm>
        </p:grpSpPr>
        <p:pic>
          <p:nvPicPr>
            <p:cNvPr id="7131" name="Google Shape;7131;p52"/>
            <p:cNvPicPr preferRelativeResize="0"/>
            <p:nvPr/>
          </p:nvPicPr>
          <p:blipFill rotWithShape="1">
            <a:blip r:embed="rId3">
              <a:alphaModFix amt="34000"/>
            </a:blip>
            <a:srcRect t="50513"/>
            <a:stretch/>
          </p:blipFill>
          <p:spPr>
            <a:xfrm>
              <a:off x="6457" y="3101664"/>
              <a:ext cx="12175910" cy="408492"/>
            </a:xfrm>
            <a:prstGeom prst="rect">
              <a:avLst/>
            </a:prstGeom>
            <a:noFill/>
            <a:ln>
              <a:noFill/>
            </a:ln>
          </p:spPr>
        </p:pic>
        <p:sp>
          <p:nvSpPr>
            <p:cNvPr id="7132" name="Google Shape;7132;p52"/>
            <p:cNvSpPr/>
            <p:nvPr/>
          </p:nvSpPr>
          <p:spPr>
            <a:xfrm rot="-5400000" flipH="1">
              <a:off x="6246689" y="-2240202"/>
              <a:ext cx="18300" cy="10675800"/>
            </a:xfrm>
            <a:prstGeom prst="rect">
              <a:avLst/>
            </a:prstGeom>
            <a:gradFill>
              <a:gsLst>
                <a:gs pos="0">
                  <a:srgbClr val="6C4B8F">
                    <a:alpha val="0"/>
                  </a:srgbClr>
                </a:gs>
                <a:gs pos="10000">
                  <a:srgbClr val="6C4B8F"/>
                </a:gs>
                <a:gs pos="22000">
                  <a:srgbClr val="005B84"/>
                </a:gs>
                <a:gs pos="41000">
                  <a:srgbClr val="005B84"/>
                </a:gs>
                <a:gs pos="60000">
                  <a:srgbClr val="41D1FE"/>
                </a:gs>
                <a:gs pos="90000">
                  <a:srgbClr val="007A86"/>
                </a:gs>
                <a:gs pos="100000">
                  <a:srgbClr val="007A86">
                    <a:alpha val="0"/>
                  </a:srgbClr>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7133" name="Google Shape;7133;p52"/>
          <p:cNvSpPr/>
          <p:nvPr/>
        </p:nvSpPr>
        <p:spPr>
          <a:xfrm>
            <a:off x="988829" y="5140969"/>
            <a:ext cx="10141236" cy="288900"/>
          </a:xfrm>
          <a:prstGeom prst="roundRect">
            <a:avLst>
              <a:gd name="adj" fmla="val 26462"/>
            </a:avLst>
          </a:prstGeom>
          <a:gradFill>
            <a:gsLst>
              <a:gs pos="0">
                <a:schemeClr val="accent2"/>
              </a:gs>
              <a:gs pos="16000">
                <a:schemeClr val="accent2"/>
              </a:gs>
              <a:gs pos="90000">
                <a:schemeClr val="accent3"/>
              </a:gs>
              <a:gs pos="100000">
                <a:schemeClr val="accent3"/>
              </a:gs>
            </a:gsLst>
            <a:lin ang="19199816" scaled="0"/>
          </a:gra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200" b="0" i="0" u="none" strike="noStrike" cap="none">
                <a:solidFill>
                  <a:srgbClr val="FFFFFF"/>
                </a:solidFill>
                <a:latin typeface="Arial"/>
                <a:ea typeface="Arial"/>
                <a:cs typeface="Arial"/>
                <a:sym typeface="Arial"/>
              </a:rPr>
              <a:t>vSphere Supervisor</a:t>
            </a:r>
            <a:endParaRPr sz="1799" b="0" i="0" u="none" strike="noStrike" cap="none">
              <a:solidFill>
                <a:srgbClr val="000000"/>
              </a:solidFill>
              <a:latin typeface="Arial"/>
              <a:ea typeface="Arial"/>
              <a:cs typeface="Arial"/>
              <a:sym typeface="Arial"/>
            </a:endParaRPr>
          </a:p>
        </p:txBody>
      </p:sp>
      <p:sp>
        <p:nvSpPr>
          <p:cNvPr id="7134" name="Google Shape;7134;p52"/>
          <p:cNvSpPr/>
          <p:nvPr/>
        </p:nvSpPr>
        <p:spPr>
          <a:xfrm rot="10800000">
            <a:off x="988878" y="2712481"/>
            <a:ext cx="10141237" cy="2357293"/>
          </a:xfrm>
          <a:prstGeom prst="roundRect">
            <a:avLst>
              <a:gd name="adj" fmla="val 4329"/>
            </a:avLst>
          </a:prstGeom>
          <a:noFill/>
          <a:ln w="28575" cap="rnd" cmpd="sng">
            <a:solidFill>
              <a:srgbClr val="FFC000"/>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798"/>
              <a:buFont typeface="Arial"/>
              <a:buNone/>
            </a:pPr>
            <a:r>
              <a:rPr lang="en-US" sz="1598" b="0" i="0" u="none" strike="noStrike" cap="none">
                <a:solidFill>
                  <a:srgbClr val="FFFFFF"/>
                </a:solidFill>
                <a:latin typeface="Arial"/>
                <a:ea typeface="Arial"/>
                <a:cs typeface="Arial"/>
                <a:sym typeface="Arial"/>
              </a:rPr>
              <a:t>			</a:t>
            </a:r>
            <a:endParaRPr sz="1598" b="0" i="0" u="none" strike="noStrike" cap="none">
              <a:solidFill>
                <a:srgbClr val="FFFFFF"/>
              </a:solidFill>
              <a:latin typeface="Arial"/>
              <a:ea typeface="Arial"/>
              <a:cs typeface="Arial"/>
              <a:sym typeface="Arial"/>
            </a:endParaRPr>
          </a:p>
        </p:txBody>
      </p:sp>
      <p:sp>
        <p:nvSpPr>
          <p:cNvPr id="7135" name="Google Shape;7135;p52"/>
          <p:cNvSpPr txBox="1"/>
          <p:nvPr/>
        </p:nvSpPr>
        <p:spPr>
          <a:xfrm>
            <a:off x="5171350" y="2543913"/>
            <a:ext cx="1734518" cy="369300"/>
          </a:xfrm>
          <a:prstGeom prst="rect">
            <a:avLst/>
          </a:prstGeom>
          <a:solidFill>
            <a:schemeClr val="lt1"/>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Supervisor Services</a:t>
            </a:r>
            <a:endParaRPr sz="1200" b="0" i="0" u="none" strike="noStrike" cap="none">
              <a:solidFill>
                <a:srgbClr val="000000"/>
              </a:solidFill>
              <a:latin typeface="Arial"/>
              <a:ea typeface="Arial"/>
              <a:cs typeface="Arial"/>
              <a:sym typeface="Arial"/>
            </a:endParaRPr>
          </a:p>
        </p:txBody>
      </p:sp>
      <p:sp>
        <p:nvSpPr>
          <p:cNvPr id="7136" name="Google Shape;7136;p52"/>
          <p:cNvSpPr txBox="1"/>
          <p:nvPr/>
        </p:nvSpPr>
        <p:spPr>
          <a:xfrm>
            <a:off x="4002993" y="6097746"/>
            <a:ext cx="8826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3C3C3C"/>
              </a:buClr>
              <a:buSzPts val="800"/>
              <a:buFont typeface="Arial"/>
              <a:buNone/>
            </a:pPr>
            <a:r>
              <a:rPr lang="en-US" sz="1000" b="1" i="0" u="none" strike="noStrike" cap="none">
                <a:solidFill>
                  <a:srgbClr val="3C3C3C"/>
                </a:solidFill>
                <a:latin typeface="Arial"/>
                <a:ea typeface="Arial"/>
                <a:cs typeface="Arial"/>
                <a:sym typeface="Arial"/>
              </a:rPr>
              <a:t>COMPUTE</a:t>
            </a:r>
            <a:endParaRPr sz="1000" b="1" i="0" u="none" strike="noStrike" cap="none">
              <a:solidFill>
                <a:srgbClr val="3C3C3C"/>
              </a:solidFill>
              <a:latin typeface="Arial"/>
              <a:ea typeface="Arial"/>
              <a:cs typeface="Arial"/>
              <a:sym typeface="Arial"/>
            </a:endParaRPr>
          </a:p>
        </p:txBody>
      </p:sp>
      <p:sp>
        <p:nvSpPr>
          <p:cNvPr id="7137" name="Google Shape;7137;p52"/>
          <p:cNvSpPr txBox="1"/>
          <p:nvPr/>
        </p:nvSpPr>
        <p:spPr>
          <a:xfrm>
            <a:off x="5676059" y="6097746"/>
            <a:ext cx="8826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3C3C3C"/>
              </a:buClr>
              <a:buSzPts val="800"/>
              <a:buFont typeface="Arial"/>
              <a:buNone/>
            </a:pPr>
            <a:r>
              <a:rPr lang="en-US" sz="1000" b="1" i="0" u="none" strike="noStrike" cap="none">
                <a:solidFill>
                  <a:srgbClr val="3C3C3C"/>
                </a:solidFill>
                <a:latin typeface="Arial"/>
                <a:ea typeface="Arial"/>
                <a:cs typeface="Arial"/>
                <a:sym typeface="Arial"/>
              </a:rPr>
              <a:t>STORAGE</a:t>
            </a:r>
            <a:endParaRPr sz="1000" b="1" i="0" u="none" strike="noStrike" cap="none">
              <a:solidFill>
                <a:srgbClr val="3C3C3C"/>
              </a:solidFill>
              <a:latin typeface="Arial"/>
              <a:ea typeface="Arial"/>
              <a:cs typeface="Arial"/>
              <a:sym typeface="Arial"/>
            </a:endParaRPr>
          </a:p>
        </p:txBody>
      </p:sp>
      <p:sp>
        <p:nvSpPr>
          <p:cNvPr id="7138" name="Google Shape;7138;p52"/>
          <p:cNvSpPr txBox="1"/>
          <p:nvPr/>
        </p:nvSpPr>
        <p:spPr>
          <a:xfrm>
            <a:off x="7461418" y="6097745"/>
            <a:ext cx="9519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3C3C3C"/>
              </a:buClr>
              <a:buSzPts val="800"/>
              <a:buFont typeface="Arial"/>
              <a:buNone/>
            </a:pPr>
            <a:r>
              <a:rPr lang="en-US" sz="1000" b="1" i="0" u="none" strike="noStrike" cap="none">
                <a:solidFill>
                  <a:srgbClr val="3C3C3C"/>
                </a:solidFill>
                <a:latin typeface="Arial"/>
                <a:ea typeface="Arial"/>
                <a:cs typeface="Arial"/>
                <a:sym typeface="Arial"/>
              </a:rPr>
              <a:t>NETWORKING</a:t>
            </a:r>
            <a:endParaRPr sz="1000" b="1" i="0" u="none" strike="noStrike" cap="none">
              <a:solidFill>
                <a:srgbClr val="3C3C3C"/>
              </a:solidFill>
              <a:latin typeface="Arial"/>
              <a:ea typeface="Arial"/>
              <a:cs typeface="Arial"/>
              <a:sym typeface="Arial"/>
            </a:endParaRPr>
          </a:p>
        </p:txBody>
      </p:sp>
      <p:grpSp>
        <p:nvGrpSpPr>
          <p:cNvPr id="7139" name="Google Shape;7139;p52"/>
          <p:cNvGrpSpPr/>
          <p:nvPr/>
        </p:nvGrpSpPr>
        <p:grpSpPr>
          <a:xfrm>
            <a:off x="7645819" y="5530463"/>
            <a:ext cx="515054" cy="515222"/>
            <a:chOff x="2965273" y="3145773"/>
            <a:chExt cx="561000" cy="561000"/>
          </a:xfrm>
        </p:grpSpPr>
        <p:sp>
          <p:nvSpPr>
            <p:cNvPr id="7140" name="Google Shape;7140;p52"/>
            <p:cNvSpPr/>
            <p:nvPr/>
          </p:nvSpPr>
          <p:spPr>
            <a:xfrm>
              <a:off x="2965273" y="3145773"/>
              <a:ext cx="561000" cy="561000"/>
            </a:xfrm>
            <a:prstGeom prst="ellipse">
              <a:avLst/>
            </a:prstGeom>
            <a:gradFill>
              <a:gsLst>
                <a:gs pos="0">
                  <a:srgbClr val="31914C"/>
                </a:gs>
                <a:gs pos="100000">
                  <a:srgbClr val="61A60E"/>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grpSp>
          <p:nvGrpSpPr>
            <p:cNvPr id="7141" name="Google Shape;7141;p52"/>
            <p:cNvGrpSpPr/>
            <p:nvPr/>
          </p:nvGrpSpPr>
          <p:grpSpPr>
            <a:xfrm>
              <a:off x="3077336" y="3255005"/>
              <a:ext cx="336829" cy="337531"/>
              <a:chOff x="5804281" y="1946839"/>
              <a:chExt cx="600837" cy="602089"/>
            </a:xfrm>
          </p:grpSpPr>
          <p:sp>
            <p:nvSpPr>
              <p:cNvPr id="7142" name="Google Shape;7142;p52"/>
              <p:cNvSpPr/>
              <p:nvPr/>
            </p:nvSpPr>
            <p:spPr>
              <a:xfrm>
                <a:off x="5804281" y="1946839"/>
                <a:ext cx="600837" cy="602089"/>
              </a:xfrm>
              <a:custGeom>
                <a:avLst/>
                <a:gdLst/>
                <a:ahLst/>
                <a:cxnLst/>
                <a:rect l="l" t="t" r="r" b="b"/>
                <a:pathLst>
                  <a:path w="600837" h="602089" extrusionOk="0">
                    <a:moveTo>
                      <a:pt x="300419" y="15844"/>
                    </a:moveTo>
                    <a:cubicBezTo>
                      <a:pt x="457603" y="15844"/>
                      <a:pt x="585026" y="143533"/>
                      <a:pt x="585026" y="301045"/>
                    </a:cubicBezTo>
                    <a:cubicBezTo>
                      <a:pt x="585026" y="458556"/>
                      <a:pt x="457603" y="586245"/>
                      <a:pt x="300419" y="586245"/>
                    </a:cubicBezTo>
                    <a:cubicBezTo>
                      <a:pt x="143234" y="586245"/>
                      <a:pt x="15812" y="458556"/>
                      <a:pt x="15812" y="301045"/>
                    </a:cubicBezTo>
                    <a:cubicBezTo>
                      <a:pt x="15986" y="143605"/>
                      <a:pt x="143307" y="16019"/>
                      <a:pt x="300419" y="15844"/>
                    </a:cubicBezTo>
                    <a:moveTo>
                      <a:pt x="300419" y="0"/>
                    </a:moveTo>
                    <a:cubicBezTo>
                      <a:pt x="134502" y="0"/>
                      <a:pt x="0" y="134782"/>
                      <a:pt x="0" y="301045"/>
                    </a:cubicBezTo>
                    <a:cubicBezTo>
                      <a:pt x="0" y="467307"/>
                      <a:pt x="134502" y="602089"/>
                      <a:pt x="300419" y="602089"/>
                    </a:cubicBezTo>
                    <a:cubicBezTo>
                      <a:pt x="466335" y="602089"/>
                      <a:pt x="600837" y="467307"/>
                      <a:pt x="600837" y="301045"/>
                    </a:cubicBezTo>
                    <a:cubicBezTo>
                      <a:pt x="600837" y="134782"/>
                      <a:pt x="466335" y="0"/>
                      <a:pt x="300419"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43" name="Google Shape;7143;p52"/>
              <p:cNvSpPr/>
              <p:nvPr/>
            </p:nvSpPr>
            <p:spPr>
              <a:xfrm>
                <a:off x="6261233" y="2204153"/>
                <a:ext cx="94869" cy="95066"/>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44" name="Google Shape;7144;p52"/>
              <p:cNvSpPr/>
              <p:nvPr/>
            </p:nvSpPr>
            <p:spPr>
              <a:xfrm>
                <a:off x="5856459" y="2204153"/>
                <a:ext cx="94869" cy="95066"/>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45" name="Google Shape;7145;p52"/>
              <p:cNvSpPr/>
              <p:nvPr/>
            </p:nvSpPr>
            <p:spPr>
              <a:xfrm>
                <a:off x="6058846" y="1999126"/>
                <a:ext cx="94869" cy="95066"/>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46" name="Google Shape;7146;p52"/>
              <p:cNvSpPr/>
              <p:nvPr/>
            </p:nvSpPr>
            <p:spPr>
              <a:xfrm>
                <a:off x="6058846" y="2401321"/>
                <a:ext cx="94869" cy="95066"/>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47" name="Google Shape;7147;p52"/>
              <p:cNvSpPr/>
              <p:nvPr/>
            </p:nvSpPr>
            <p:spPr>
              <a:xfrm>
                <a:off x="6058846" y="2203012"/>
                <a:ext cx="94869" cy="95066"/>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48" name="Google Shape;7148;p52"/>
              <p:cNvSpPr/>
              <p:nvPr/>
            </p:nvSpPr>
            <p:spPr>
              <a:xfrm rot="-2700000">
                <a:off x="5926535" y="2132029"/>
                <a:ext cx="141750" cy="15853"/>
              </a:xfrm>
              <a:custGeom>
                <a:avLst/>
                <a:gdLst/>
                <a:ahLst/>
                <a:cxnLst/>
                <a:rect l="l" t="t" r="r" b="b"/>
                <a:pathLst>
                  <a:path w="141671" h="15844" extrusionOk="0">
                    <a:moveTo>
                      <a:pt x="0" y="0"/>
                    </a:moveTo>
                    <a:lnTo>
                      <a:pt x="141671" y="0"/>
                    </a:lnTo>
                    <a:lnTo>
                      <a:pt x="141671" y="15844"/>
                    </a:lnTo>
                    <a:lnTo>
                      <a:pt x="0" y="1584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49" name="Google Shape;7149;p52"/>
              <p:cNvSpPr/>
              <p:nvPr/>
            </p:nvSpPr>
            <p:spPr>
              <a:xfrm rot="-2700000">
                <a:off x="5989497" y="2286303"/>
                <a:ext cx="15820" cy="142045"/>
              </a:xfrm>
              <a:custGeom>
                <a:avLst/>
                <a:gdLst/>
                <a:ahLst/>
                <a:cxnLst/>
                <a:rect l="l" t="t" r="r" b="b"/>
                <a:pathLst>
                  <a:path w="15811" h="141966" extrusionOk="0">
                    <a:moveTo>
                      <a:pt x="0" y="0"/>
                    </a:moveTo>
                    <a:lnTo>
                      <a:pt x="15811" y="0"/>
                    </a:lnTo>
                    <a:lnTo>
                      <a:pt x="15811" y="141966"/>
                    </a:lnTo>
                    <a:lnTo>
                      <a:pt x="0" y="14196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50" name="Google Shape;7150;p52"/>
              <p:cNvSpPr/>
              <p:nvPr/>
            </p:nvSpPr>
            <p:spPr>
              <a:xfrm rot="-2700000">
                <a:off x="6213400" y="2069036"/>
                <a:ext cx="15820" cy="142045"/>
              </a:xfrm>
              <a:custGeom>
                <a:avLst/>
                <a:gdLst/>
                <a:ahLst/>
                <a:cxnLst/>
                <a:rect l="l" t="t" r="r" b="b"/>
                <a:pathLst>
                  <a:path w="15811" h="141966" extrusionOk="0">
                    <a:moveTo>
                      <a:pt x="0" y="0"/>
                    </a:moveTo>
                    <a:lnTo>
                      <a:pt x="15812" y="0"/>
                    </a:lnTo>
                    <a:lnTo>
                      <a:pt x="15812" y="141966"/>
                    </a:lnTo>
                    <a:lnTo>
                      <a:pt x="0" y="14196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51" name="Google Shape;7151;p52"/>
              <p:cNvSpPr/>
              <p:nvPr/>
            </p:nvSpPr>
            <p:spPr>
              <a:xfrm rot="-2700000">
                <a:off x="6150433" y="2349339"/>
                <a:ext cx="141750" cy="15853"/>
              </a:xfrm>
              <a:custGeom>
                <a:avLst/>
                <a:gdLst/>
                <a:ahLst/>
                <a:cxnLst/>
                <a:rect l="l" t="t" r="r" b="b"/>
                <a:pathLst>
                  <a:path w="141671" h="15844" extrusionOk="0">
                    <a:moveTo>
                      <a:pt x="0" y="0"/>
                    </a:moveTo>
                    <a:lnTo>
                      <a:pt x="141671" y="0"/>
                    </a:lnTo>
                    <a:lnTo>
                      <a:pt x="141671" y="15844"/>
                    </a:lnTo>
                    <a:lnTo>
                      <a:pt x="0" y="1584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52" name="Google Shape;7152;p52"/>
              <p:cNvSpPr/>
              <p:nvPr/>
            </p:nvSpPr>
            <p:spPr>
              <a:xfrm>
                <a:off x="5971566" y="2245348"/>
                <a:ext cx="64321" cy="15844"/>
              </a:xfrm>
              <a:custGeom>
                <a:avLst/>
                <a:gdLst/>
                <a:ahLst/>
                <a:cxnLst/>
                <a:rect l="l" t="t" r="r" b="b"/>
                <a:pathLst>
                  <a:path w="64321" h="15844" extrusionOk="0">
                    <a:moveTo>
                      <a:pt x="0" y="0"/>
                    </a:moveTo>
                    <a:lnTo>
                      <a:pt x="64321" y="0"/>
                    </a:lnTo>
                    <a:lnTo>
                      <a:pt x="64321" y="15844"/>
                    </a:lnTo>
                    <a:lnTo>
                      <a:pt x="0" y="1584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53" name="Google Shape;7153;p52"/>
              <p:cNvSpPr/>
              <p:nvPr/>
            </p:nvSpPr>
            <p:spPr>
              <a:xfrm>
                <a:off x="6179962" y="2245348"/>
                <a:ext cx="64321" cy="15844"/>
              </a:xfrm>
              <a:custGeom>
                <a:avLst/>
                <a:gdLst/>
                <a:ahLst/>
                <a:cxnLst/>
                <a:rect l="l" t="t" r="r" b="b"/>
                <a:pathLst>
                  <a:path w="64321" h="15844" extrusionOk="0">
                    <a:moveTo>
                      <a:pt x="0" y="0"/>
                    </a:moveTo>
                    <a:lnTo>
                      <a:pt x="64321" y="0"/>
                    </a:lnTo>
                    <a:lnTo>
                      <a:pt x="64321" y="15844"/>
                    </a:lnTo>
                    <a:lnTo>
                      <a:pt x="0" y="1584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nvGrpSpPr>
          <p:cNvPr id="7154" name="Google Shape;7154;p52"/>
          <p:cNvGrpSpPr/>
          <p:nvPr/>
        </p:nvGrpSpPr>
        <p:grpSpPr>
          <a:xfrm>
            <a:off x="4187682" y="5530616"/>
            <a:ext cx="515054" cy="515222"/>
            <a:chOff x="813101" y="3150773"/>
            <a:chExt cx="561000" cy="561000"/>
          </a:xfrm>
        </p:grpSpPr>
        <p:sp>
          <p:nvSpPr>
            <p:cNvPr id="7155" name="Google Shape;7155;p52"/>
            <p:cNvSpPr/>
            <p:nvPr/>
          </p:nvSpPr>
          <p:spPr>
            <a:xfrm>
              <a:off x="813101" y="3150773"/>
              <a:ext cx="561000" cy="561000"/>
            </a:xfrm>
            <a:prstGeom prst="ellipse">
              <a:avLst/>
            </a:prstGeom>
            <a:gradFill>
              <a:gsLst>
                <a:gs pos="0">
                  <a:srgbClr val="6C4B94"/>
                </a:gs>
                <a:gs pos="100000">
                  <a:srgbClr val="36538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grpSp>
          <p:nvGrpSpPr>
            <p:cNvPr id="7156" name="Google Shape;7156;p52"/>
            <p:cNvGrpSpPr/>
            <p:nvPr/>
          </p:nvGrpSpPr>
          <p:grpSpPr>
            <a:xfrm>
              <a:off x="942853" y="3286401"/>
              <a:ext cx="302001" cy="274711"/>
              <a:chOff x="570425" y="2009041"/>
              <a:chExt cx="538711" cy="490030"/>
            </a:xfrm>
          </p:grpSpPr>
          <p:sp>
            <p:nvSpPr>
              <p:cNvPr id="7157" name="Google Shape;7157;p52"/>
              <p:cNvSpPr/>
              <p:nvPr/>
            </p:nvSpPr>
            <p:spPr>
              <a:xfrm>
                <a:off x="570425" y="2009041"/>
                <a:ext cx="538711" cy="142303"/>
              </a:xfrm>
              <a:custGeom>
                <a:avLst/>
                <a:gdLst/>
                <a:ahLst/>
                <a:cxnLst/>
                <a:rect l="l" t="t" r="r" b="b"/>
                <a:pathLst>
                  <a:path w="538711" h="142303" extrusionOk="0">
                    <a:moveTo>
                      <a:pt x="522867" y="15812"/>
                    </a:moveTo>
                    <a:lnTo>
                      <a:pt x="522867" y="126492"/>
                    </a:lnTo>
                    <a:lnTo>
                      <a:pt x="15844" y="126492"/>
                    </a:lnTo>
                    <a:lnTo>
                      <a:pt x="15844" y="15812"/>
                    </a:lnTo>
                    <a:lnTo>
                      <a:pt x="522867" y="15812"/>
                    </a:lnTo>
                    <a:moveTo>
                      <a:pt x="538712" y="0"/>
                    </a:moveTo>
                    <a:lnTo>
                      <a:pt x="0" y="0"/>
                    </a:lnTo>
                    <a:lnTo>
                      <a:pt x="0" y="142304"/>
                    </a:lnTo>
                    <a:lnTo>
                      <a:pt x="538712" y="142304"/>
                    </a:lnTo>
                    <a:lnTo>
                      <a:pt x="538712" y="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58" name="Google Shape;7158;p52"/>
              <p:cNvSpPr/>
              <p:nvPr/>
            </p:nvSpPr>
            <p:spPr>
              <a:xfrm>
                <a:off x="1042970"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59" name="Google Shape;7159;p52"/>
              <p:cNvSpPr/>
              <p:nvPr/>
            </p:nvSpPr>
            <p:spPr>
              <a:xfrm>
                <a:off x="1011218"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0" name="Google Shape;7160;p52"/>
              <p:cNvSpPr/>
              <p:nvPr/>
            </p:nvSpPr>
            <p:spPr>
              <a:xfrm>
                <a:off x="979402"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1" name="Google Shape;7161;p52"/>
              <p:cNvSpPr/>
              <p:nvPr/>
            </p:nvSpPr>
            <p:spPr>
              <a:xfrm>
                <a:off x="947650"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2" name="Google Shape;7162;p52"/>
              <p:cNvSpPr/>
              <p:nvPr/>
            </p:nvSpPr>
            <p:spPr>
              <a:xfrm>
                <a:off x="915834"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3" name="Google Shape;7163;p52"/>
              <p:cNvSpPr/>
              <p:nvPr/>
            </p:nvSpPr>
            <p:spPr>
              <a:xfrm>
                <a:off x="884082"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4" name="Google Shape;7164;p52"/>
              <p:cNvSpPr/>
              <p:nvPr/>
            </p:nvSpPr>
            <p:spPr>
              <a:xfrm>
                <a:off x="852266"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5" name="Google Shape;7165;p52"/>
              <p:cNvSpPr/>
              <p:nvPr/>
            </p:nvSpPr>
            <p:spPr>
              <a:xfrm>
                <a:off x="820450"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6" name="Google Shape;7166;p52"/>
              <p:cNvSpPr/>
              <p:nvPr/>
            </p:nvSpPr>
            <p:spPr>
              <a:xfrm>
                <a:off x="618085" y="2064382"/>
                <a:ext cx="31688" cy="31623"/>
              </a:xfrm>
              <a:custGeom>
                <a:avLst/>
                <a:gdLst/>
                <a:ahLst/>
                <a:cxnLst/>
                <a:rect l="l" t="t" r="r" b="b"/>
                <a:pathLst>
                  <a:path w="31688" h="31623" extrusionOk="0">
                    <a:moveTo>
                      <a:pt x="31689" y="15812"/>
                    </a:moveTo>
                    <a:cubicBezTo>
                      <a:pt x="31689" y="24544"/>
                      <a:pt x="24595" y="31623"/>
                      <a:pt x="15844" y="31623"/>
                    </a:cubicBezTo>
                    <a:cubicBezTo>
                      <a:pt x="7094" y="31623"/>
                      <a:pt x="0" y="24544"/>
                      <a:pt x="0" y="15812"/>
                    </a:cubicBezTo>
                    <a:cubicBezTo>
                      <a:pt x="0" y="7079"/>
                      <a:pt x="7094" y="0"/>
                      <a:pt x="15844" y="0"/>
                    </a:cubicBezTo>
                    <a:cubicBezTo>
                      <a:pt x="24595" y="0"/>
                      <a:pt x="31689" y="7079"/>
                      <a:pt x="31689" y="1581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7" name="Google Shape;7167;p52"/>
              <p:cNvSpPr/>
              <p:nvPr/>
            </p:nvSpPr>
            <p:spPr>
              <a:xfrm>
                <a:off x="570425" y="2182335"/>
                <a:ext cx="538711" cy="142303"/>
              </a:xfrm>
              <a:custGeom>
                <a:avLst/>
                <a:gdLst/>
                <a:ahLst/>
                <a:cxnLst/>
                <a:rect l="l" t="t" r="r" b="b"/>
                <a:pathLst>
                  <a:path w="538711" h="142303" extrusionOk="0">
                    <a:moveTo>
                      <a:pt x="522867" y="15812"/>
                    </a:moveTo>
                    <a:lnTo>
                      <a:pt x="522867" y="126492"/>
                    </a:lnTo>
                    <a:lnTo>
                      <a:pt x="15844" y="126492"/>
                    </a:lnTo>
                    <a:lnTo>
                      <a:pt x="15844" y="15812"/>
                    </a:lnTo>
                    <a:lnTo>
                      <a:pt x="522867" y="15812"/>
                    </a:lnTo>
                    <a:moveTo>
                      <a:pt x="538712" y="0"/>
                    </a:moveTo>
                    <a:lnTo>
                      <a:pt x="0" y="0"/>
                    </a:lnTo>
                    <a:lnTo>
                      <a:pt x="0" y="142304"/>
                    </a:lnTo>
                    <a:lnTo>
                      <a:pt x="538712" y="142304"/>
                    </a:lnTo>
                    <a:lnTo>
                      <a:pt x="538712" y="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8" name="Google Shape;7168;p52"/>
              <p:cNvSpPr/>
              <p:nvPr/>
            </p:nvSpPr>
            <p:spPr>
              <a:xfrm>
                <a:off x="1042970"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9" name="Google Shape;7169;p52"/>
              <p:cNvSpPr/>
              <p:nvPr/>
            </p:nvSpPr>
            <p:spPr>
              <a:xfrm>
                <a:off x="1011218"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70" name="Google Shape;7170;p52"/>
              <p:cNvSpPr/>
              <p:nvPr/>
            </p:nvSpPr>
            <p:spPr>
              <a:xfrm>
                <a:off x="979402"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71" name="Google Shape;7171;p52"/>
              <p:cNvSpPr/>
              <p:nvPr/>
            </p:nvSpPr>
            <p:spPr>
              <a:xfrm>
                <a:off x="947650"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72" name="Google Shape;7172;p52"/>
              <p:cNvSpPr/>
              <p:nvPr/>
            </p:nvSpPr>
            <p:spPr>
              <a:xfrm>
                <a:off x="915834"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73" name="Google Shape;7173;p52"/>
              <p:cNvSpPr/>
              <p:nvPr/>
            </p:nvSpPr>
            <p:spPr>
              <a:xfrm>
                <a:off x="884082"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74" name="Google Shape;7174;p52"/>
              <p:cNvSpPr/>
              <p:nvPr/>
            </p:nvSpPr>
            <p:spPr>
              <a:xfrm>
                <a:off x="852266"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75" name="Google Shape;7175;p52"/>
              <p:cNvSpPr/>
              <p:nvPr/>
            </p:nvSpPr>
            <p:spPr>
              <a:xfrm>
                <a:off x="820450"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76" name="Google Shape;7176;p52"/>
              <p:cNvSpPr/>
              <p:nvPr/>
            </p:nvSpPr>
            <p:spPr>
              <a:xfrm>
                <a:off x="618085" y="2237676"/>
                <a:ext cx="31688" cy="31623"/>
              </a:xfrm>
              <a:custGeom>
                <a:avLst/>
                <a:gdLst/>
                <a:ahLst/>
                <a:cxnLst/>
                <a:rect l="l" t="t" r="r" b="b"/>
                <a:pathLst>
                  <a:path w="31688" h="31623" extrusionOk="0">
                    <a:moveTo>
                      <a:pt x="31689" y="15811"/>
                    </a:moveTo>
                    <a:cubicBezTo>
                      <a:pt x="31689" y="24544"/>
                      <a:pt x="24595" y="31623"/>
                      <a:pt x="15844" y="31623"/>
                    </a:cubicBezTo>
                    <a:cubicBezTo>
                      <a:pt x="7094" y="31623"/>
                      <a:pt x="0" y="24544"/>
                      <a:pt x="0" y="15811"/>
                    </a:cubicBezTo>
                    <a:cubicBezTo>
                      <a:pt x="0" y="7079"/>
                      <a:pt x="7094" y="0"/>
                      <a:pt x="15844" y="0"/>
                    </a:cubicBezTo>
                    <a:cubicBezTo>
                      <a:pt x="24595" y="0"/>
                      <a:pt x="31689" y="7079"/>
                      <a:pt x="31689" y="1581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77" name="Google Shape;7177;p52"/>
              <p:cNvSpPr/>
              <p:nvPr/>
            </p:nvSpPr>
            <p:spPr>
              <a:xfrm>
                <a:off x="570425" y="2356768"/>
                <a:ext cx="538711" cy="142303"/>
              </a:xfrm>
              <a:custGeom>
                <a:avLst/>
                <a:gdLst/>
                <a:ahLst/>
                <a:cxnLst/>
                <a:rect l="l" t="t" r="r" b="b"/>
                <a:pathLst>
                  <a:path w="538711" h="142303" extrusionOk="0">
                    <a:moveTo>
                      <a:pt x="522867" y="15812"/>
                    </a:moveTo>
                    <a:lnTo>
                      <a:pt x="522867" y="126492"/>
                    </a:lnTo>
                    <a:lnTo>
                      <a:pt x="15844" y="126492"/>
                    </a:lnTo>
                    <a:lnTo>
                      <a:pt x="15844" y="15812"/>
                    </a:lnTo>
                    <a:lnTo>
                      <a:pt x="522867" y="15812"/>
                    </a:lnTo>
                    <a:moveTo>
                      <a:pt x="538712" y="0"/>
                    </a:moveTo>
                    <a:lnTo>
                      <a:pt x="0" y="0"/>
                    </a:lnTo>
                    <a:lnTo>
                      <a:pt x="0" y="142304"/>
                    </a:lnTo>
                    <a:lnTo>
                      <a:pt x="538712" y="142304"/>
                    </a:lnTo>
                    <a:lnTo>
                      <a:pt x="538712" y="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78" name="Google Shape;7178;p52"/>
              <p:cNvSpPr/>
              <p:nvPr/>
            </p:nvSpPr>
            <p:spPr>
              <a:xfrm>
                <a:off x="1042970"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79" name="Google Shape;7179;p52"/>
              <p:cNvSpPr/>
              <p:nvPr/>
            </p:nvSpPr>
            <p:spPr>
              <a:xfrm>
                <a:off x="1011218"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80" name="Google Shape;7180;p52"/>
              <p:cNvSpPr/>
              <p:nvPr/>
            </p:nvSpPr>
            <p:spPr>
              <a:xfrm>
                <a:off x="979402"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81" name="Google Shape;7181;p52"/>
              <p:cNvSpPr/>
              <p:nvPr/>
            </p:nvSpPr>
            <p:spPr>
              <a:xfrm>
                <a:off x="947650"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82" name="Google Shape;7182;p52"/>
              <p:cNvSpPr/>
              <p:nvPr/>
            </p:nvSpPr>
            <p:spPr>
              <a:xfrm>
                <a:off x="915834"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83" name="Google Shape;7183;p52"/>
              <p:cNvSpPr/>
              <p:nvPr/>
            </p:nvSpPr>
            <p:spPr>
              <a:xfrm>
                <a:off x="884082"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84" name="Google Shape;7184;p52"/>
              <p:cNvSpPr/>
              <p:nvPr/>
            </p:nvSpPr>
            <p:spPr>
              <a:xfrm>
                <a:off x="852266"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85" name="Google Shape;7185;p52"/>
              <p:cNvSpPr/>
              <p:nvPr/>
            </p:nvSpPr>
            <p:spPr>
              <a:xfrm>
                <a:off x="820450"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86" name="Google Shape;7186;p52"/>
              <p:cNvSpPr/>
              <p:nvPr/>
            </p:nvSpPr>
            <p:spPr>
              <a:xfrm>
                <a:off x="618085" y="2412108"/>
                <a:ext cx="31688" cy="31623"/>
              </a:xfrm>
              <a:custGeom>
                <a:avLst/>
                <a:gdLst/>
                <a:ahLst/>
                <a:cxnLst/>
                <a:rect l="l" t="t" r="r" b="b"/>
                <a:pathLst>
                  <a:path w="31688" h="31623" extrusionOk="0">
                    <a:moveTo>
                      <a:pt x="31689" y="15811"/>
                    </a:moveTo>
                    <a:cubicBezTo>
                      <a:pt x="31689" y="24544"/>
                      <a:pt x="24595" y="31623"/>
                      <a:pt x="15844" y="31623"/>
                    </a:cubicBezTo>
                    <a:cubicBezTo>
                      <a:pt x="7094" y="31623"/>
                      <a:pt x="0" y="24544"/>
                      <a:pt x="0" y="15811"/>
                    </a:cubicBezTo>
                    <a:cubicBezTo>
                      <a:pt x="0" y="7079"/>
                      <a:pt x="7094" y="0"/>
                      <a:pt x="15844" y="0"/>
                    </a:cubicBezTo>
                    <a:cubicBezTo>
                      <a:pt x="24595" y="0"/>
                      <a:pt x="31689" y="7079"/>
                      <a:pt x="31689" y="1581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nvGrpSpPr>
          <p:cNvPr id="7187" name="Google Shape;7187;p52"/>
          <p:cNvGrpSpPr/>
          <p:nvPr/>
        </p:nvGrpSpPr>
        <p:grpSpPr>
          <a:xfrm>
            <a:off x="5847298" y="5530626"/>
            <a:ext cx="515054" cy="515222"/>
            <a:chOff x="1889188" y="3148280"/>
            <a:chExt cx="561000" cy="561000"/>
          </a:xfrm>
        </p:grpSpPr>
        <p:sp>
          <p:nvSpPr>
            <p:cNvPr id="7188" name="Google Shape;7188;p52"/>
            <p:cNvSpPr/>
            <p:nvPr/>
          </p:nvSpPr>
          <p:spPr>
            <a:xfrm>
              <a:off x="1889188" y="3148280"/>
              <a:ext cx="561000" cy="561000"/>
            </a:xfrm>
            <a:prstGeom prst="ellipse">
              <a:avLst/>
            </a:prstGeom>
            <a:gradFill>
              <a:gsLst>
                <a:gs pos="0">
                  <a:srgbClr val="006896"/>
                </a:gs>
                <a:gs pos="100000">
                  <a:srgbClr val="0085B3"/>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189" name="Google Shape;7189;p52" descr="vSAN Database&#10;"/>
            <p:cNvSpPr/>
            <p:nvPr/>
          </p:nvSpPr>
          <p:spPr>
            <a:xfrm>
              <a:off x="2036938" y="3267700"/>
              <a:ext cx="265597" cy="311889"/>
            </a:xfrm>
            <a:custGeom>
              <a:avLst/>
              <a:gdLst/>
              <a:ahLst/>
              <a:cxnLst/>
              <a:rect l="l" t="t" r="r" b="b"/>
              <a:pathLst>
                <a:path w="474281" h="556944" extrusionOk="0">
                  <a:moveTo>
                    <a:pt x="474282" y="63752"/>
                  </a:moveTo>
                  <a:cubicBezTo>
                    <a:pt x="474282" y="21883"/>
                    <a:pt x="355316" y="0"/>
                    <a:pt x="237868" y="0"/>
                  </a:cubicBezTo>
                  <a:cubicBezTo>
                    <a:pt x="120420" y="0"/>
                    <a:pt x="1455" y="21883"/>
                    <a:pt x="1455" y="63752"/>
                  </a:cubicBezTo>
                  <a:cubicBezTo>
                    <a:pt x="1455" y="105621"/>
                    <a:pt x="120420" y="127441"/>
                    <a:pt x="237868" y="127441"/>
                  </a:cubicBezTo>
                  <a:cubicBezTo>
                    <a:pt x="329575" y="127441"/>
                    <a:pt x="422167" y="114096"/>
                    <a:pt x="458407" y="88355"/>
                  </a:cubicBezTo>
                  <a:lnTo>
                    <a:pt x="458407" y="199162"/>
                  </a:lnTo>
                  <a:cubicBezTo>
                    <a:pt x="457517" y="200401"/>
                    <a:pt x="457011" y="201874"/>
                    <a:pt x="456952" y="203399"/>
                  </a:cubicBezTo>
                  <a:cubicBezTo>
                    <a:pt x="456952" y="223448"/>
                    <a:pt x="373088" y="251340"/>
                    <a:pt x="236414" y="251340"/>
                  </a:cubicBezTo>
                  <a:cubicBezTo>
                    <a:pt x="99739" y="251340"/>
                    <a:pt x="15812" y="223448"/>
                    <a:pt x="15812" y="203399"/>
                  </a:cubicBezTo>
                  <a:lnTo>
                    <a:pt x="15812" y="128200"/>
                  </a:lnTo>
                  <a:cubicBezTo>
                    <a:pt x="15812" y="123833"/>
                    <a:pt x="12272" y="120294"/>
                    <a:pt x="7906" y="120294"/>
                  </a:cubicBezTo>
                  <a:cubicBezTo>
                    <a:pt x="3539" y="120294"/>
                    <a:pt x="0" y="123833"/>
                    <a:pt x="0" y="128200"/>
                  </a:cubicBezTo>
                  <a:lnTo>
                    <a:pt x="0" y="203399"/>
                  </a:lnTo>
                  <a:cubicBezTo>
                    <a:pt x="0" y="245268"/>
                    <a:pt x="118902" y="267151"/>
                    <a:pt x="236414" y="267151"/>
                  </a:cubicBezTo>
                  <a:cubicBezTo>
                    <a:pt x="329448" y="267151"/>
                    <a:pt x="423369" y="253363"/>
                    <a:pt x="458407" y="226863"/>
                  </a:cubicBezTo>
                  <a:lnTo>
                    <a:pt x="458407" y="343679"/>
                  </a:lnTo>
                  <a:cubicBezTo>
                    <a:pt x="457517" y="344918"/>
                    <a:pt x="457011" y="346391"/>
                    <a:pt x="456952" y="347916"/>
                  </a:cubicBezTo>
                  <a:cubicBezTo>
                    <a:pt x="456952" y="367902"/>
                    <a:pt x="373088" y="395857"/>
                    <a:pt x="236414" y="395857"/>
                  </a:cubicBezTo>
                  <a:cubicBezTo>
                    <a:pt x="99739" y="395857"/>
                    <a:pt x="15812" y="367902"/>
                    <a:pt x="15812" y="347916"/>
                  </a:cubicBezTo>
                  <a:lnTo>
                    <a:pt x="15812" y="274298"/>
                  </a:lnTo>
                  <a:cubicBezTo>
                    <a:pt x="15812" y="269931"/>
                    <a:pt x="12272" y="266392"/>
                    <a:pt x="7906" y="266392"/>
                  </a:cubicBezTo>
                  <a:cubicBezTo>
                    <a:pt x="3539" y="266392"/>
                    <a:pt x="0" y="269931"/>
                    <a:pt x="0" y="274298"/>
                  </a:cubicBezTo>
                  <a:lnTo>
                    <a:pt x="0" y="347916"/>
                  </a:lnTo>
                  <a:cubicBezTo>
                    <a:pt x="0" y="389785"/>
                    <a:pt x="118902" y="411668"/>
                    <a:pt x="236414" y="411668"/>
                  </a:cubicBezTo>
                  <a:cubicBezTo>
                    <a:pt x="329448" y="411668"/>
                    <a:pt x="423369" y="397881"/>
                    <a:pt x="458407" y="371381"/>
                  </a:cubicBezTo>
                  <a:lnTo>
                    <a:pt x="458407" y="489018"/>
                  </a:lnTo>
                  <a:cubicBezTo>
                    <a:pt x="457496" y="490246"/>
                    <a:pt x="456988" y="491727"/>
                    <a:pt x="456952" y="493256"/>
                  </a:cubicBezTo>
                  <a:cubicBezTo>
                    <a:pt x="456952" y="513241"/>
                    <a:pt x="373088" y="541133"/>
                    <a:pt x="236414" y="541133"/>
                  </a:cubicBezTo>
                  <a:cubicBezTo>
                    <a:pt x="99739" y="541133"/>
                    <a:pt x="15812" y="513241"/>
                    <a:pt x="15812" y="493256"/>
                  </a:cubicBezTo>
                  <a:lnTo>
                    <a:pt x="15812" y="419637"/>
                  </a:lnTo>
                  <a:cubicBezTo>
                    <a:pt x="15812" y="415271"/>
                    <a:pt x="12272" y="411731"/>
                    <a:pt x="7906" y="411731"/>
                  </a:cubicBezTo>
                  <a:cubicBezTo>
                    <a:pt x="3539" y="411731"/>
                    <a:pt x="0" y="415271"/>
                    <a:pt x="0" y="419637"/>
                  </a:cubicBezTo>
                  <a:lnTo>
                    <a:pt x="0" y="493256"/>
                  </a:lnTo>
                  <a:cubicBezTo>
                    <a:pt x="0" y="535061"/>
                    <a:pt x="118902" y="556944"/>
                    <a:pt x="236414" y="556944"/>
                  </a:cubicBezTo>
                  <a:cubicBezTo>
                    <a:pt x="349877" y="556944"/>
                    <a:pt x="464668" y="536516"/>
                    <a:pt x="472384" y="497430"/>
                  </a:cubicBezTo>
                  <a:lnTo>
                    <a:pt x="474219" y="497430"/>
                  </a:lnTo>
                  <a:lnTo>
                    <a:pt x="474219" y="68938"/>
                  </a:lnTo>
                  <a:lnTo>
                    <a:pt x="473523" y="68938"/>
                  </a:lnTo>
                  <a:cubicBezTo>
                    <a:pt x="473991" y="67248"/>
                    <a:pt x="474246" y="65506"/>
                    <a:pt x="474282" y="63752"/>
                  </a:cubicBezTo>
                  <a:close/>
                  <a:moveTo>
                    <a:pt x="237868" y="111629"/>
                  </a:moveTo>
                  <a:cubicBezTo>
                    <a:pt x="101194" y="111629"/>
                    <a:pt x="17266" y="83738"/>
                    <a:pt x="17266" y="63752"/>
                  </a:cubicBezTo>
                  <a:cubicBezTo>
                    <a:pt x="17266" y="43766"/>
                    <a:pt x="101194" y="15812"/>
                    <a:pt x="237868" y="15812"/>
                  </a:cubicBezTo>
                  <a:cubicBezTo>
                    <a:pt x="374543" y="15812"/>
                    <a:pt x="458470" y="43640"/>
                    <a:pt x="458470" y="63752"/>
                  </a:cubicBezTo>
                  <a:cubicBezTo>
                    <a:pt x="458470" y="83864"/>
                    <a:pt x="374543" y="111629"/>
                    <a:pt x="237868" y="11162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7190" name="Google Shape;7190;p52"/>
          <p:cNvSpPr/>
          <p:nvPr/>
        </p:nvSpPr>
        <p:spPr>
          <a:xfrm>
            <a:off x="8018185" y="1915093"/>
            <a:ext cx="499041" cy="500403"/>
          </a:xfrm>
          <a:prstGeom prst="ellipse">
            <a:avLst/>
          </a:prstGeom>
          <a:gradFill>
            <a:gsLst>
              <a:gs pos="0">
                <a:schemeClr val="accent2"/>
              </a:gs>
              <a:gs pos="67000">
                <a:schemeClr val="accent5"/>
              </a:gs>
              <a:gs pos="100000">
                <a:schemeClr val="accent5"/>
              </a:gs>
            </a:gsLst>
            <a:lin ang="18900044" scaled="0"/>
          </a:gra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000" b="0" i="0" u="none" strike="noStrike" cap="none">
              <a:solidFill>
                <a:srgbClr val="FFFFFF"/>
              </a:solidFill>
              <a:latin typeface="Arial"/>
              <a:ea typeface="Arial"/>
              <a:cs typeface="Arial"/>
              <a:sym typeface="Arial"/>
            </a:endParaRPr>
          </a:p>
        </p:txBody>
      </p:sp>
      <p:sp>
        <p:nvSpPr>
          <p:cNvPr id="7191" name="Google Shape;7191;p52"/>
          <p:cNvSpPr/>
          <p:nvPr/>
        </p:nvSpPr>
        <p:spPr>
          <a:xfrm rot="10800000">
            <a:off x="978502" y="1815723"/>
            <a:ext cx="10141237" cy="697981"/>
          </a:xfrm>
          <a:prstGeom prst="roundRect">
            <a:avLst>
              <a:gd name="adj" fmla="val 4329"/>
            </a:avLst>
          </a:prstGeom>
          <a:noFill/>
          <a:ln w="25400" cap="rnd" cmpd="sng">
            <a:solidFill>
              <a:schemeClr val="accent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798"/>
              <a:buFont typeface="Arial"/>
              <a:buNone/>
            </a:pPr>
            <a:endParaRPr sz="1798" b="0" i="0" u="none" strike="noStrike" cap="none">
              <a:solidFill>
                <a:srgbClr val="FFFFFF"/>
              </a:solidFill>
              <a:latin typeface="Arial"/>
              <a:ea typeface="Arial"/>
              <a:cs typeface="Arial"/>
              <a:sym typeface="Arial"/>
            </a:endParaRPr>
          </a:p>
        </p:txBody>
      </p:sp>
      <p:sp>
        <p:nvSpPr>
          <p:cNvPr id="7192" name="Google Shape;7192;p52"/>
          <p:cNvSpPr txBox="1"/>
          <p:nvPr/>
        </p:nvSpPr>
        <p:spPr>
          <a:xfrm>
            <a:off x="4722809" y="1483232"/>
            <a:ext cx="2631600" cy="231000"/>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500" b="0" i="0" u="none" strike="noStrike" cap="none">
                <a:solidFill>
                  <a:srgbClr val="005C8A"/>
                </a:solidFill>
                <a:latin typeface="Arial"/>
                <a:ea typeface="Arial"/>
                <a:cs typeface="Arial"/>
                <a:sym typeface="Arial"/>
              </a:rPr>
              <a:t>VMware Cloud Foundation </a:t>
            </a:r>
            <a:endParaRPr sz="1500" b="0" i="0" u="none" strike="noStrike" cap="none">
              <a:solidFill>
                <a:srgbClr val="005C8A"/>
              </a:solidFill>
              <a:latin typeface="Arial"/>
              <a:ea typeface="Arial"/>
              <a:cs typeface="Arial"/>
              <a:sym typeface="Arial"/>
            </a:endParaRPr>
          </a:p>
        </p:txBody>
      </p:sp>
      <p:sp>
        <p:nvSpPr>
          <p:cNvPr id="7193" name="Google Shape;7193;p52"/>
          <p:cNvSpPr txBox="1"/>
          <p:nvPr/>
        </p:nvSpPr>
        <p:spPr>
          <a:xfrm>
            <a:off x="5260916" y="1758207"/>
            <a:ext cx="1576409" cy="161583"/>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0" i="0" u="none" strike="noStrike" cap="none">
                <a:solidFill>
                  <a:srgbClr val="000000"/>
                </a:solidFill>
                <a:latin typeface="Arial"/>
                <a:ea typeface="Arial"/>
                <a:cs typeface="Arial"/>
                <a:sym typeface="Arial"/>
              </a:rPr>
              <a:t>Applications / Workloads</a:t>
            </a:r>
            <a:endParaRPr sz="1798" b="0" i="0" u="none" strike="noStrike" cap="none">
              <a:solidFill>
                <a:srgbClr val="000000"/>
              </a:solidFill>
              <a:latin typeface="Arial"/>
              <a:ea typeface="Arial"/>
              <a:cs typeface="Arial"/>
              <a:sym typeface="Arial"/>
            </a:endParaRPr>
          </a:p>
        </p:txBody>
      </p:sp>
      <p:sp>
        <p:nvSpPr>
          <p:cNvPr id="7194" name="Google Shape;7194;p52"/>
          <p:cNvSpPr/>
          <p:nvPr/>
        </p:nvSpPr>
        <p:spPr>
          <a:xfrm>
            <a:off x="3672422" y="1919311"/>
            <a:ext cx="498927" cy="500406"/>
          </a:xfrm>
          <a:prstGeom prst="ellipse">
            <a:avLst/>
          </a:prstGeom>
          <a:gradFill>
            <a:gsLst>
              <a:gs pos="0">
                <a:schemeClr val="accent2"/>
              </a:gs>
              <a:gs pos="67000">
                <a:schemeClr val="accent5"/>
              </a:gs>
              <a:gs pos="100000">
                <a:schemeClr val="accent5"/>
              </a:gs>
            </a:gsLst>
            <a:lin ang="18900044" scaled="0"/>
          </a:gra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000" b="0" i="0" u="none" strike="noStrike" cap="none">
              <a:solidFill>
                <a:srgbClr val="FFFFFF"/>
              </a:solidFill>
              <a:latin typeface="Arial"/>
              <a:ea typeface="Arial"/>
              <a:cs typeface="Arial"/>
              <a:sym typeface="Arial"/>
            </a:endParaRPr>
          </a:p>
        </p:txBody>
      </p:sp>
      <p:sp>
        <p:nvSpPr>
          <p:cNvPr id="7195" name="Google Shape;7195;p52"/>
          <p:cNvSpPr/>
          <p:nvPr/>
        </p:nvSpPr>
        <p:spPr>
          <a:xfrm>
            <a:off x="5789088" y="1922042"/>
            <a:ext cx="499041" cy="500403"/>
          </a:xfrm>
          <a:prstGeom prst="ellipse">
            <a:avLst/>
          </a:prstGeom>
          <a:gradFill>
            <a:gsLst>
              <a:gs pos="0">
                <a:schemeClr val="accent2"/>
              </a:gs>
              <a:gs pos="67000">
                <a:schemeClr val="accent5"/>
              </a:gs>
              <a:gs pos="100000">
                <a:schemeClr val="accent5"/>
              </a:gs>
            </a:gsLst>
            <a:lin ang="18900044" scaled="0"/>
          </a:gra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000" b="0" i="0" u="none" strike="noStrike" cap="none">
              <a:solidFill>
                <a:srgbClr val="FFFFFF"/>
              </a:solidFill>
              <a:latin typeface="Arial"/>
              <a:ea typeface="Arial"/>
              <a:cs typeface="Arial"/>
              <a:sym typeface="Arial"/>
            </a:endParaRPr>
          </a:p>
        </p:txBody>
      </p:sp>
      <p:sp>
        <p:nvSpPr>
          <p:cNvPr id="7196" name="Google Shape;7196;p52"/>
          <p:cNvSpPr/>
          <p:nvPr/>
        </p:nvSpPr>
        <p:spPr>
          <a:xfrm>
            <a:off x="384356" y="3721809"/>
            <a:ext cx="586753" cy="389860"/>
          </a:xfrm>
          <a:prstGeom prst="rightArrow">
            <a:avLst>
              <a:gd name="adj1" fmla="val 50000"/>
              <a:gd name="adj2" fmla="val 50000"/>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197" name="Google Shape;7197;p52"/>
          <p:cNvSpPr/>
          <p:nvPr/>
        </p:nvSpPr>
        <p:spPr>
          <a:xfrm>
            <a:off x="2005808" y="2897778"/>
            <a:ext cx="3474112" cy="210734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198" name="Google Shape;7198;p52"/>
          <p:cNvSpPr txBox="1"/>
          <p:nvPr/>
        </p:nvSpPr>
        <p:spPr>
          <a:xfrm>
            <a:off x="2875605" y="2864127"/>
            <a:ext cx="1734518" cy="35391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50" b="0" i="0" u="none" strike="noStrike" cap="none">
                <a:solidFill>
                  <a:srgbClr val="000000"/>
                </a:solidFill>
                <a:latin typeface="Arial"/>
                <a:ea typeface="Arial"/>
                <a:cs typeface="Arial"/>
                <a:sym typeface="Arial"/>
              </a:rPr>
              <a:t>Core Services</a:t>
            </a:r>
            <a:endParaRPr sz="1050" b="0" i="0" u="none" strike="noStrike" cap="none">
              <a:solidFill>
                <a:srgbClr val="000000"/>
              </a:solidFill>
              <a:latin typeface="Arial"/>
              <a:ea typeface="Arial"/>
              <a:cs typeface="Arial"/>
              <a:sym typeface="Arial"/>
            </a:endParaRPr>
          </a:p>
        </p:txBody>
      </p:sp>
      <p:sp>
        <p:nvSpPr>
          <p:cNvPr id="7199" name="Google Shape;7199;p52"/>
          <p:cNvSpPr txBox="1"/>
          <p:nvPr/>
        </p:nvSpPr>
        <p:spPr>
          <a:xfrm>
            <a:off x="3486135" y="2087929"/>
            <a:ext cx="871500" cy="15388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FFFFF"/>
                </a:solidFill>
                <a:latin typeface="Arial"/>
                <a:ea typeface="Arial"/>
                <a:cs typeface="Arial"/>
                <a:sym typeface="Arial"/>
              </a:rPr>
              <a:t>AI</a:t>
            </a:r>
            <a:endParaRPr sz="1000" b="0" i="0" u="none" strike="noStrike" cap="none">
              <a:solidFill>
                <a:srgbClr val="FFFFFF"/>
              </a:solidFill>
              <a:latin typeface="Arial"/>
              <a:ea typeface="Arial"/>
              <a:cs typeface="Arial"/>
              <a:sym typeface="Arial"/>
            </a:endParaRPr>
          </a:p>
        </p:txBody>
      </p:sp>
      <p:sp>
        <p:nvSpPr>
          <p:cNvPr id="7200" name="Google Shape;7200;p52"/>
          <p:cNvSpPr txBox="1"/>
          <p:nvPr/>
        </p:nvSpPr>
        <p:spPr>
          <a:xfrm>
            <a:off x="5502959" y="2092167"/>
            <a:ext cx="1071300" cy="15388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FFFFF"/>
                </a:solidFill>
                <a:latin typeface="Arial"/>
                <a:ea typeface="Arial"/>
                <a:cs typeface="Arial"/>
                <a:sym typeface="Arial"/>
              </a:rPr>
              <a:t>K8s</a:t>
            </a:r>
            <a:endParaRPr sz="1000" b="0" i="0" u="none" strike="noStrike" cap="none">
              <a:solidFill>
                <a:srgbClr val="FFFFFF"/>
              </a:solidFill>
              <a:latin typeface="Arial"/>
              <a:ea typeface="Arial"/>
              <a:cs typeface="Arial"/>
              <a:sym typeface="Arial"/>
            </a:endParaRPr>
          </a:p>
        </p:txBody>
      </p:sp>
      <p:sp>
        <p:nvSpPr>
          <p:cNvPr id="7201" name="Google Shape;7201;p52"/>
          <p:cNvSpPr txBox="1"/>
          <p:nvPr/>
        </p:nvSpPr>
        <p:spPr>
          <a:xfrm>
            <a:off x="7831955" y="2083698"/>
            <a:ext cx="871500" cy="15388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FFFFF"/>
                </a:solidFill>
                <a:latin typeface="Arial"/>
                <a:ea typeface="Arial"/>
                <a:cs typeface="Arial"/>
                <a:sym typeface="Arial"/>
              </a:rPr>
              <a:t>VM</a:t>
            </a:r>
            <a:endParaRPr sz="1000" b="0" i="0" u="none" strike="noStrike" cap="none">
              <a:solidFill>
                <a:srgbClr val="FFFFFF"/>
              </a:solidFill>
              <a:latin typeface="Arial"/>
              <a:ea typeface="Arial"/>
              <a:cs typeface="Arial"/>
              <a:sym typeface="Arial"/>
            </a:endParaRPr>
          </a:p>
        </p:txBody>
      </p:sp>
      <p:grpSp>
        <p:nvGrpSpPr>
          <p:cNvPr id="7202" name="Google Shape;7202;p52"/>
          <p:cNvGrpSpPr/>
          <p:nvPr/>
        </p:nvGrpSpPr>
        <p:grpSpPr>
          <a:xfrm>
            <a:off x="2085048" y="3179946"/>
            <a:ext cx="1051517" cy="864294"/>
            <a:chOff x="5343601" y="3571756"/>
            <a:chExt cx="1051517" cy="864294"/>
          </a:xfrm>
        </p:grpSpPr>
        <p:grpSp>
          <p:nvGrpSpPr>
            <p:cNvPr id="7203" name="Google Shape;7203;p52"/>
            <p:cNvGrpSpPr/>
            <p:nvPr/>
          </p:nvGrpSpPr>
          <p:grpSpPr>
            <a:xfrm>
              <a:off x="5343601" y="3571756"/>
              <a:ext cx="1051517" cy="864294"/>
              <a:chOff x="5677911" y="3307853"/>
              <a:chExt cx="1314725" cy="1020900"/>
            </a:xfrm>
          </p:grpSpPr>
          <p:sp>
            <p:nvSpPr>
              <p:cNvPr id="7204" name="Google Shape;7204;p52"/>
              <p:cNvSpPr/>
              <p:nvPr/>
            </p:nvSpPr>
            <p:spPr>
              <a:xfrm>
                <a:off x="5680736"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7205" name="Google Shape;7205;p52"/>
              <p:cNvSpPr/>
              <p:nvPr/>
            </p:nvSpPr>
            <p:spPr>
              <a:xfrm>
                <a:off x="5677911" y="3313168"/>
                <a:ext cx="1311900" cy="40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VM Service</a:t>
                </a:r>
                <a:endParaRPr sz="1400" b="0" i="0" u="none" strike="noStrike" cap="none">
                  <a:solidFill>
                    <a:srgbClr val="000000"/>
                  </a:solidFill>
                  <a:latin typeface="Arial"/>
                  <a:ea typeface="Arial"/>
                  <a:cs typeface="Arial"/>
                  <a:sym typeface="Arial"/>
                </a:endParaRPr>
              </a:p>
            </p:txBody>
          </p:sp>
        </p:grpSp>
        <p:sp>
          <p:nvSpPr>
            <p:cNvPr id="7206" name="Google Shape;7206;p52"/>
            <p:cNvSpPr/>
            <p:nvPr/>
          </p:nvSpPr>
          <p:spPr>
            <a:xfrm>
              <a:off x="5724925" y="3998562"/>
              <a:ext cx="340450" cy="340450"/>
            </a:xfrm>
            <a:custGeom>
              <a:avLst/>
              <a:gdLst/>
              <a:ahLst/>
              <a:cxnLst/>
              <a:rect l="l" t="t" r="r" b="b"/>
              <a:pathLst>
                <a:path w="384" h="384" extrusionOk="0">
                  <a:moveTo>
                    <a:pt x="368" y="16"/>
                  </a:moveTo>
                  <a:cubicBezTo>
                    <a:pt x="368" y="368"/>
                    <a:pt x="368" y="368"/>
                    <a:pt x="368" y="368"/>
                  </a:cubicBezTo>
                  <a:cubicBezTo>
                    <a:pt x="16" y="368"/>
                    <a:pt x="16" y="368"/>
                    <a:pt x="16" y="368"/>
                  </a:cubicBezTo>
                  <a:cubicBezTo>
                    <a:pt x="16" y="16"/>
                    <a:pt x="16" y="16"/>
                    <a:pt x="16" y="16"/>
                  </a:cubicBezTo>
                  <a:cubicBezTo>
                    <a:pt x="368" y="16"/>
                    <a:pt x="368" y="16"/>
                    <a:pt x="368" y="16"/>
                  </a:cubicBezTo>
                  <a:moveTo>
                    <a:pt x="384" y="0"/>
                  </a:moveTo>
                  <a:cubicBezTo>
                    <a:pt x="0" y="0"/>
                    <a:pt x="0" y="0"/>
                    <a:pt x="0" y="0"/>
                  </a:cubicBezTo>
                  <a:cubicBezTo>
                    <a:pt x="0" y="384"/>
                    <a:pt x="0" y="384"/>
                    <a:pt x="0" y="384"/>
                  </a:cubicBezTo>
                  <a:cubicBezTo>
                    <a:pt x="384" y="384"/>
                    <a:pt x="384" y="384"/>
                    <a:pt x="384" y="384"/>
                  </a:cubicBezTo>
                  <a:cubicBezTo>
                    <a:pt x="384" y="0"/>
                    <a:pt x="384" y="0"/>
                    <a:pt x="384" y="0"/>
                  </a:cubicBezTo>
                  <a:close/>
                  <a:moveTo>
                    <a:pt x="115" y="241"/>
                  </a:moveTo>
                  <a:cubicBezTo>
                    <a:pt x="121" y="241"/>
                    <a:pt x="125" y="237"/>
                    <a:pt x="127" y="231"/>
                  </a:cubicBezTo>
                  <a:cubicBezTo>
                    <a:pt x="127" y="231"/>
                    <a:pt x="127" y="231"/>
                    <a:pt x="159" y="160"/>
                  </a:cubicBezTo>
                  <a:cubicBezTo>
                    <a:pt x="159" y="159"/>
                    <a:pt x="160" y="157"/>
                    <a:pt x="160" y="154"/>
                  </a:cubicBezTo>
                  <a:cubicBezTo>
                    <a:pt x="160" y="149"/>
                    <a:pt x="155" y="144"/>
                    <a:pt x="149" y="144"/>
                  </a:cubicBezTo>
                  <a:cubicBezTo>
                    <a:pt x="144" y="144"/>
                    <a:pt x="141" y="148"/>
                    <a:pt x="139" y="152"/>
                  </a:cubicBezTo>
                  <a:cubicBezTo>
                    <a:pt x="139" y="152"/>
                    <a:pt x="139" y="152"/>
                    <a:pt x="115" y="214"/>
                  </a:cubicBezTo>
                  <a:cubicBezTo>
                    <a:pt x="115" y="214"/>
                    <a:pt x="115" y="214"/>
                    <a:pt x="91" y="152"/>
                  </a:cubicBezTo>
                  <a:cubicBezTo>
                    <a:pt x="89" y="148"/>
                    <a:pt x="86" y="144"/>
                    <a:pt x="80" y="144"/>
                  </a:cubicBezTo>
                  <a:cubicBezTo>
                    <a:pt x="74" y="144"/>
                    <a:pt x="69" y="149"/>
                    <a:pt x="69" y="154"/>
                  </a:cubicBezTo>
                  <a:cubicBezTo>
                    <a:pt x="69" y="157"/>
                    <a:pt x="70" y="158"/>
                    <a:pt x="71" y="160"/>
                  </a:cubicBezTo>
                  <a:cubicBezTo>
                    <a:pt x="71" y="160"/>
                    <a:pt x="71" y="160"/>
                    <a:pt x="102" y="231"/>
                  </a:cubicBezTo>
                  <a:cubicBezTo>
                    <a:pt x="105" y="237"/>
                    <a:pt x="108" y="241"/>
                    <a:pt x="114" y="241"/>
                  </a:cubicBezTo>
                  <a:cubicBezTo>
                    <a:pt x="114" y="241"/>
                    <a:pt x="114" y="241"/>
                    <a:pt x="115" y="241"/>
                  </a:cubicBezTo>
                  <a:close/>
                  <a:moveTo>
                    <a:pt x="177" y="155"/>
                  </a:moveTo>
                  <a:cubicBezTo>
                    <a:pt x="177" y="155"/>
                    <a:pt x="177" y="155"/>
                    <a:pt x="177" y="155"/>
                  </a:cubicBezTo>
                  <a:cubicBezTo>
                    <a:pt x="177" y="230"/>
                    <a:pt x="177" y="230"/>
                    <a:pt x="177" y="230"/>
                  </a:cubicBezTo>
                  <a:cubicBezTo>
                    <a:pt x="177" y="236"/>
                    <a:pt x="182" y="240"/>
                    <a:pt x="188" y="240"/>
                  </a:cubicBezTo>
                  <a:cubicBezTo>
                    <a:pt x="194" y="240"/>
                    <a:pt x="198" y="236"/>
                    <a:pt x="198" y="230"/>
                  </a:cubicBezTo>
                  <a:cubicBezTo>
                    <a:pt x="198" y="230"/>
                    <a:pt x="198" y="230"/>
                    <a:pt x="198" y="186"/>
                  </a:cubicBezTo>
                  <a:cubicBezTo>
                    <a:pt x="198" y="172"/>
                    <a:pt x="206" y="163"/>
                    <a:pt x="218" y="163"/>
                  </a:cubicBezTo>
                  <a:cubicBezTo>
                    <a:pt x="230" y="163"/>
                    <a:pt x="237" y="172"/>
                    <a:pt x="237" y="186"/>
                  </a:cubicBezTo>
                  <a:cubicBezTo>
                    <a:pt x="237" y="186"/>
                    <a:pt x="237" y="186"/>
                    <a:pt x="237" y="230"/>
                  </a:cubicBezTo>
                  <a:cubicBezTo>
                    <a:pt x="237" y="236"/>
                    <a:pt x="242" y="240"/>
                    <a:pt x="248" y="240"/>
                  </a:cubicBezTo>
                  <a:cubicBezTo>
                    <a:pt x="254" y="240"/>
                    <a:pt x="259" y="236"/>
                    <a:pt x="259" y="230"/>
                  </a:cubicBezTo>
                  <a:cubicBezTo>
                    <a:pt x="259" y="230"/>
                    <a:pt x="259" y="230"/>
                    <a:pt x="259" y="186"/>
                  </a:cubicBezTo>
                  <a:cubicBezTo>
                    <a:pt x="259" y="172"/>
                    <a:pt x="267" y="163"/>
                    <a:pt x="278" y="163"/>
                  </a:cubicBezTo>
                  <a:cubicBezTo>
                    <a:pt x="290" y="163"/>
                    <a:pt x="297" y="171"/>
                    <a:pt x="297" y="186"/>
                  </a:cubicBezTo>
                  <a:cubicBezTo>
                    <a:pt x="297" y="186"/>
                    <a:pt x="297" y="186"/>
                    <a:pt x="297" y="230"/>
                  </a:cubicBezTo>
                  <a:cubicBezTo>
                    <a:pt x="297" y="236"/>
                    <a:pt x="302" y="240"/>
                    <a:pt x="308" y="240"/>
                  </a:cubicBezTo>
                  <a:cubicBezTo>
                    <a:pt x="314" y="240"/>
                    <a:pt x="318" y="236"/>
                    <a:pt x="318" y="230"/>
                  </a:cubicBezTo>
                  <a:cubicBezTo>
                    <a:pt x="318" y="230"/>
                    <a:pt x="318" y="230"/>
                    <a:pt x="318" y="180"/>
                  </a:cubicBezTo>
                  <a:cubicBezTo>
                    <a:pt x="318" y="157"/>
                    <a:pt x="306" y="144"/>
                    <a:pt x="286" y="144"/>
                  </a:cubicBezTo>
                  <a:cubicBezTo>
                    <a:pt x="272" y="144"/>
                    <a:pt x="262" y="150"/>
                    <a:pt x="254" y="160"/>
                  </a:cubicBezTo>
                  <a:cubicBezTo>
                    <a:pt x="250" y="150"/>
                    <a:pt x="240" y="144"/>
                    <a:pt x="227" y="144"/>
                  </a:cubicBezTo>
                  <a:cubicBezTo>
                    <a:pt x="212" y="144"/>
                    <a:pt x="204" y="152"/>
                    <a:pt x="198" y="160"/>
                  </a:cubicBezTo>
                  <a:cubicBezTo>
                    <a:pt x="198" y="160"/>
                    <a:pt x="198" y="160"/>
                    <a:pt x="198" y="155"/>
                  </a:cubicBezTo>
                  <a:cubicBezTo>
                    <a:pt x="198" y="149"/>
                    <a:pt x="194" y="145"/>
                    <a:pt x="188" y="145"/>
                  </a:cubicBezTo>
                  <a:cubicBezTo>
                    <a:pt x="182" y="145"/>
                    <a:pt x="177" y="149"/>
                    <a:pt x="177" y="15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717074"/>
                </a:solidFill>
                <a:latin typeface="Arial"/>
                <a:ea typeface="Arial"/>
                <a:cs typeface="Arial"/>
                <a:sym typeface="Arial"/>
              </a:endParaRPr>
            </a:p>
          </p:txBody>
        </p:sp>
      </p:grpSp>
      <p:grpSp>
        <p:nvGrpSpPr>
          <p:cNvPr id="7207" name="Google Shape;7207;p52"/>
          <p:cNvGrpSpPr/>
          <p:nvPr/>
        </p:nvGrpSpPr>
        <p:grpSpPr>
          <a:xfrm>
            <a:off x="3200500" y="3179946"/>
            <a:ext cx="1051619" cy="864294"/>
            <a:chOff x="2995027" y="3575644"/>
            <a:chExt cx="1051619" cy="864294"/>
          </a:xfrm>
        </p:grpSpPr>
        <p:grpSp>
          <p:nvGrpSpPr>
            <p:cNvPr id="7208" name="Google Shape;7208;p52"/>
            <p:cNvGrpSpPr/>
            <p:nvPr/>
          </p:nvGrpSpPr>
          <p:grpSpPr>
            <a:xfrm>
              <a:off x="2995027" y="3575644"/>
              <a:ext cx="1051619" cy="864294"/>
              <a:chOff x="2967962" y="3307853"/>
              <a:chExt cx="1311900" cy="1020900"/>
            </a:xfrm>
          </p:grpSpPr>
          <p:sp>
            <p:nvSpPr>
              <p:cNvPr id="7209" name="Google Shape;7209;p52"/>
              <p:cNvSpPr/>
              <p:nvPr/>
            </p:nvSpPr>
            <p:spPr>
              <a:xfrm>
                <a:off x="2967962"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7210" name="Google Shape;7210;p52"/>
              <p:cNvSpPr txBox="1"/>
              <p:nvPr/>
            </p:nvSpPr>
            <p:spPr>
              <a:xfrm>
                <a:off x="2990321" y="3314416"/>
                <a:ext cx="1289400" cy="458100"/>
              </a:xfrm>
              <a:prstGeom prst="rect">
                <a:avLst/>
              </a:prstGeom>
              <a:noFill/>
              <a:ln>
                <a:noFill/>
              </a:ln>
            </p:spPr>
            <p:txBody>
              <a:bodyPr spcFirstLastPara="1" wrap="square" lIns="91400" tIns="91400" rIns="91400" bIns="914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800" b="0" i="0" u="none" strike="noStrike" cap="none">
                    <a:solidFill>
                      <a:srgbClr val="1B1D36"/>
                    </a:solidFill>
                    <a:latin typeface="Arial"/>
                    <a:ea typeface="Arial"/>
                    <a:cs typeface="Arial"/>
                    <a:sym typeface="Arial"/>
                  </a:rPr>
                  <a:t>vSphere Kubernetes Service (VKS)</a:t>
                </a:r>
                <a:endParaRPr sz="800" b="0" i="0" u="none" strike="noStrike" cap="none">
                  <a:solidFill>
                    <a:srgbClr val="1B1D36"/>
                  </a:solidFill>
                  <a:latin typeface="Arial"/>
                  <a:ea typeface="Arial"/>
                  <a:cs typeface="Arial"/>
                  <a:sym typeface="Arial"/>
                </a:endParaRPr>
              </a:p>
            </p:txBody>
          </p:sp>
        </p:grpSp>
        <p:pic>
          <p:nvPicPr>
            <p:cNvPr id="7211" name="Google Shape;7211;p52"/>
            <p:cNvPicPr preferRelativeResize="0"/>
            <p:nvPr/>
          </p:nvPicPr>
          <p:blipFill rotWithShape="1">
            <a:blip r:embed="rId4">
              <a:alphaModFix/>
            </a:blip>
            <a:srcRect/>
            <a:stretch/>
          </p:blipFill>
          <p:spPr>
            <a:xfrm>
              <a:off x="3398948" y="4022187"/>
              <a:ext cx="339875" cy="339875"/>
            </a:xfrm>
            <a:prstGeom prst="rect">
              <a:avLst/>
            </a:prstGeom>
            <a:noFill/>
            <a:ln>
              <a:noFill/>
            </a:ln>
          </p:spPr>
        </p:pic>
        <p:sp>
          <p:nvSpPr>
            <p:cNvPr id="7212" name="Google Shape;7212;p52"/>
            <p:cNvSpPr/>
            <p:nvPr/>
          </p:nvSpPr>
          <p:spPr>
            <a:xfrm>
              <a:off x="3354028" y="4030180"/>
              <a:ext cx="200096" cy="315780"/>
            </a:xfrm>
            <a:custGeom>
              <a:avLst/>
              <a:gdLst/>
              <a:ahLst/>
              <a:cxnLst/>
              <a:rect l="l" t="t" r="r" b="b"/>
              <a:pathLst>
                <a:path w="168857" h="254661" extrusionOk="0">
                  <a:moveTo>
                    <a:pt x="130750" y="0"/>
                  </a:moveTo>
                  <a:lnTo>
                    <a:pt x="168857" y="18455"/>
                  </a:lnTo>
                  <a:lnTo>
                    <a:pt x="160847" y="22166"/>
                  </a:lnTo>
                  <a:lnTo>
                    <a:pt x="130750" y="7659"/>
                  </a:lnTo>
                  <a:lnTo>
                    <a:pt x="32004" y="55254"/>
                  </a:lnTo>
                  <a:lnTo>
                    <a:pt x="7659" y="162207"/>
                  </a:lnTo>
                  <a:lnTo>
                    <a:pt x="76043" y="247823"/>
                  </a:lnTo>
                  <a:lnTo>
                    <a:pt x="109554" y="247823"/>
                  </a:lnTo>
                  <a:lnTo>
                    <a:pt x="115177" y="254661"/>
                  </a:lnTo>
                  <a:lnTo>
                    <a:pt x="72487" y="254661"/>
                  </a:lnTo>
                  <a:lnTo>
                    <a:pt x="0" y="163848"/>
                  </a:lnTo>
                  <a:lnTo>
                    <a:pt x="25986" y="5060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7213" name="Google Shape;7213;p52"/>
            <p:cNvSpPr/>
            <p:nvPr/>
          </p:nvSpPr>
          <p:spPr>
            <a:xfrm>
              <a:off x="3297920" y="4023483"/>
              <a:ext cx="200096" cy="315780"/>
            </a:xfrm>
            <a:custGeom>
              <a:avLst/>
              <a:gdLst/>
              <a:ahLst/>
              <a:cxnLst/>
              <a:rect l="l" t="t" r="r" b="b"/>
              <a:pathLst>
                <a:path w="168857" h="254661" extrusionOk="0">
                  <a:moveTo>
                    <a:pt x="130750" y="0"/>
                  </a:moveTo>
                  <a:lnTo>
                    <a:pt x="168857" y="18455"/>
                  </a:lnTo>
                  <a:lnTo>
                    <a:pt x="160847" y="22166"/>
                  </a:lnTo>
                  <a:lnTo>
                    <a:pt x="130750" y="7659"/>
                  </a:lnTo>
                  <a:lnTo>
                    <a:pt x="32004" y="55254"/>
                  </a:lnTo>
                  <a:lnTo>
                    <a:pt x="7659" y="162207"/>
                  </a:lnTo>
                  <a:lnTo>
                    <a:pt x="76043" y="247823"/>
                  </a:lnTo>
                  <a:lnTo>
                    <a:pt x="109554" y="247823"/>
                  </a:lnTo>
                  <a:lnTo>
                    <a:pt x="115177" y="254661"/>
                  </a:lnTo>
                  <a:lnTo>
                    <a:pt x="72487" y="254661"/>
                  </a:lnTo>
                  <a:lnTo>
                    <a:pt x="0" y="163848"/>
                  </a:lnTo>
                  <a:lnTo>
                    <a:pt x="25986" y="5060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grpSp>
        <p:nvGrpSpPr>
          <p:cNvPr id="7214" name="Google Shape;7214;p52"/>
          <p:cNvGrpSpPr/>
          <p:nvPr/>
        </p:nvGrpSpPr>
        <p:grpSpPr>
          <a:xfrm>
            <a:off x="2082584" y="4082795"/>
            <a:ext cx="1051619" cy="864396"/>
            <a:chOff x="7037124" y="3307853"/>
            <a:chExt cx="1311900" cy="1020900"/>
          </a:xfrm>
        </p:grpSpPr>
        <p:sp>
          <p:nvSpPr>
            <p:cNvPr id="7215" name="Google Shape;7215;p52"/>
            <p:cNvSpPr/>
            <p:nvPr/>
          </p:nvSpPr>
          <p:spPr>
            <a:xfrm>
              <a:off x="7037124"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7216" name="Google Shape;7216;p52"/>
            <p:cNvSpPr/>
            <p:nvPr/>
          </p:nvSpPr>
          <p:spPr>
            <a:xfrm>
              <a:off x="7147815" y="3318810"/>
              <a:ext cx="1090500" cy="401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Network Service</a:t>
              </a:r>
              <a:endParaRPr sz="1400" b="0" i="0" u="none" strike="noStrike" cap="none">
                <a:solidFill>
                  <a:srgbClr val="000000"/>
                </a:solidFill>
                <a:latin typeface="Arial"/>
                <a:ea typeface="Arial"/>
                <a:cs typeface="Arial"/>
                <a:sym typeface="Arial"/>
              </a:endParaRPr>
            </a:p>
          </p:txBody>
        </p:sp>
        <p:sp>
          <p:nvSpPr>
            <p:cNvPr id="7217" name="Google Shape;7217;p52"/>
            <p:cNvSpPr/>
            <p:nvPr/>
          </p:nvSpPr>
          <p:spPr>
            <a:xfrm>
              <a:off x="7493406" y="3789189"/>
              <a:ext cx="422660" cy="418749"/>
            </a:xfrm>
            <a:custGeom>
              <a:avLst/>
              <a:gdLst/>
              <a:ahLst/>
              <a:cxnLst/>
              <a:rect l="l" t="t" r="r" b="b"/>
              <a:pathLst>
                <a:path w="1134658" h="1124158" extrusionOk="0">
                  <a:moveTo>
                    <a:pt x="7193" y="95826"/>
                  </a:moveTo>
                  <a:cubicBezTo>
                    <a:pt x="14347" y="65926"/>
                    <a:pt x="44430" y="47491"/>
                    <a:pt x="74330" y="54645"/>
                  </a:cubicBezTo>
                  <a:cubicBezTo>
                    <a:pt x="103771" y="61707"/>
                    <a:pt x="122023" y="90965"/>
                    <a:pt x="115694" y="120406"/>
                  </a:cubicBezTo>
                  <a:lnTo>
                    <a:pt x="290232" y="215976"/>
                  </a:lnTo>
                  <a:lnTo>
                    <a:pt x="290232" y="365016"/>
                  </a:lnTo>
                  <a:cubicBezTo>
                    <a:pt x="279776" y="371620"/>
                    <a:pt x="269779" y="379049"/>
                    <a:pt x="260424" y="387120"/>
                  </a:cubicBezTo>
                  <a:lnTo>
                    <a:pt x="260424" y="233585"/>
                  </a:lnTo>
                  <a:lnTo>
                    <a:pt x="101753" y="146729"/>
                  </a:lnTo>
                  <a:cubicBezTo>
                    <a:pt x="88546" y="160762"/>
                    <a:pt x="68552" y="167733"/>
                    <a:pt x="48374" y="162872"/>
                  </a:cubicBezTo>
                  <a:cubicBezTo>
                    <a:pt x="18566" y="155718"/>
                    <a:pt x="39" y="125726"/>
                    <a:pt x="7193" y="95826"/>
                  </a:cubicBezTo>
                  <a:close/>
                  <a:moveTo>
                    <a:pt x="491918" y="109767"/>
                  </a:moveTo>
                  <a:cubicBezTo>
                    <a:pt x="492377" y="109859"/>
                    <a:pt x="492927" y="109859"/>
                    <a:pt x="493386" y="109951"/>
                  </a:cubicBezTo>
                  <a:lnTo>
                    <a:pt x="502099" y="323835"/>
                  </a:lnTo>
                  <a:cubicBezTo>
                    <a:pt x="510445" y="309344"/>
                    <a:pt x="519984" y="295861"/>
                    <a:pt x="530256" y="283296"/>
                  </a:cubicBezTo>
                  <a:lnTo>
                    <a:pt x="523102" y="108116"/>
                  </a:lnTo>
                  <a:cubicBezTo>
                    <a:pt x="540345" y="102063"/>
                    <a:pt x="554378" y="87755"/>
                    <a:pt x="558963" y="68586"/>
                  </a:cubicBezTo>
                  <a:cubicBezTo>
                    <a:pt x="566117" y="38686"/>
                    <a:pt x="547682" y="8695"/>
                    <a:pt x="517782" y="1541"/>
                  </a:cubicBezTo>
                  <a:cubicBezTo>
                    <a:pt x="487883" y="-5613"/>
                    <a:pt x="457891" y="12822"/>
                    <a:pt x="450737" y="42722"/>
                  </a:cubicBezTo>
                  <a:cubicBezTo>
                    <a:pt x="443583" y="72622"/>
                    <a:pt x="462018" y="102613"/>
                    <a:pt x="491918" y="109767"/>
                  </a:cubicBezTo>
                  <a:close/>
                  <a:moveTo>
                    <a:pt x="1042955" y="1018959"/>
                  </a:moveTo>
                  <a:cubicBezTo>
                    <a:pt x="1035342" y="1015107"/>
                    <a:pt x="1027363" y="1013273"/>
                    <a:pt x="1019384" y="1012998"/>
                  </a:cubicBezTo>
                  <a:lnTo>
                    <a:pt x="979212" y="888262"/>
                  </a:lnTo>
                  <a:cubicBezTo>
                    <a:pt x="974442" y="888629"/>
                    <a:pt x="969765" y="889088"/>
                    <a:pt x="964904" y="889088"/>
                  </a:cubicBezTo>
                  <a:cubicBezTo>
                    <a:pt x="964904" y="889088"/>
                    <a:pt x="961785" y="889088"/>
                    <a:pt x="960226" y="888996"/>
                  </a:cubicBezTo>
                  <a:cubicBezTo>
                    <a:pt x="958759" y="888996"/>
                    <a:pt x="954540" y="888996"/>
                    <a:pt x="948119" y="888905"/>
                  </a:cubicBezTo>
                  <a:lnTo>
                    <a:pt x="990309" y="1019968"/>
                  </a:lnTo>
                  <a:cubicBezTo>
                    <a:pt x="981046" y="1025104"/>
                    <a:pt x="973250" y="1032992"/>
                    <a:pt x="968022" y="1043081"/>
                  </a:cubicBezTo>
                  <a:cubicBezTo>
                    <a:pt x="953989" y="1070413"/>
                    <a:pt x="964812" y="1103981"/>
                    <a:pt x="992144" y="1118014"/>
                  </a:cubicBezTo>
                  <a:cubicBezTo>
                    <a:pt x="1019475" y="1132047"/>
                    <a:pt x="1053044" y="1121224"/>
                    <a:pt x="1067077" y="1093892"/>
                  </a:cubicBezTo>
                  <a:cubicBezTo>
                    <a:pt x="1081109" y="1066561"/>
                    <a:pt x="1070287" y="1032992"/>
                    <a:pt x="1042955" y="1018959"/>
                  </a:cubicBezTo>
                  <a:close/>
                  <a:moveTo>
                    <a:pt x="603171" y="980347"/>
                  </a:moveTo>
                  <a:lnTo>
                    <a:pt x="603171" y="890005"/>
                  </a:lnTo>
                  <a:cubicBezTo>
                    <a:pt x="593541" y="890005"/>
                    <a:pt x="583910" y="890097"/>
                    <a:pt x="574188" y="890097"/>
                  </a:cubicBezTo>
                  <a:cubicBezTo>
                    <a:pt x="573913" y="890097"/>
                    <a:pt x="573638" y="890097"/>
                    <a:pt x="573363" y="890097"/>
                  </a:cubicBezTo>
                  <a:lnTo>
                    <a:pt x="573363" y="980347"/>
                  </a:lnTo>
                  <a:cubicBezTo>
                    <a:pt x="554469" y="985574"/>
                    <a:pt x="538877" y="1000433"/>
                    <a:pt x="533925" y="1020794"/>
                  </a:cubicBezTo>
                  <a:cubicBezTo>
                    <a:pt x="526771" y="1050694"/>
                    <a:pt x="545206" y="1080685"/>
                    <a:pt x="575106" y="1087839"/>
                  </a:cubicBezTo>
                  <a:cubicBezTo>
                    <a:pt x="605005" y="1094993"/>
                    <a:pt x="634997" y="1076558"/>
                    <a:pt x="642151" y="1046658"/>
                  </a:cubicBezTo>
                  <a:cubicBezTo>
                    <a:pt x="649213" y="1017492"/>
                    <a:pt x="631787" y="988418"/>
                    <a:pt x="603171" y="980347"/>
                  </a:cubicBezTo>
                  <a:close/>
                  <a:moveTo>
                    <a:pt x="196589" y="891197"/>
                  </a:moveTo>
                  <a:cubicBezTo>
                    <a:pt x="188976" y="891197"/>
                    <a:pt x="183382" y="891197"/>
                    <a:pt x="179896" y="891197"/>
                  </a:cubicBezTo>
                  <a:lnTo>
                    <a:pt x="86345" y="984749"/>
                  </a:lnTo>
                  <a:cubicBezTo>
                    <a:pt x="78824" y="980897"/>
                    <a:pt x="70386" y="978512"/>
                    <a:pt x="61306" y="978512"/>
                  </a:cubicBezTo>
                  <a:cubicBezTo>
                    <a:pt x="30581" y="978512"/>
                    <a:pt x="5634" y="1003459"/>
                    <a:pt x="5634" y="1034185"/>
                  </a:cubicBezTo>
                  <a:cubicBezTo>
                    <a:pt x="5634" y="1064910"/>
                    <a:pt x="30581" y="1089857"/>
                    <a:pt x="61306" y="1089857"/>
                  </a:cubicBezTo>
                  <a:cubicBezTo>
                    <a:pt x="92031" y="1089857"/>
                    <a:pt x="116978" y="1064910"/>
                    <a:pt x="116978" y="1034185"/>
                  </a:cubicBezTo>
                  <a:cubicBezTo>
                    <a:pt x="116978" y="1023362"/>
                    <a:pt x="113768" y="1013365"/>
                    <a:pt x="108449" y="1004835"/>
                  </a:cubicBezTo>
                  <a:lnTo>
                    <a:pt x="221994" y="891197"/>
                  </a:lnTo>
                  <a:cubicBezTo>
                    <a:pt x="212089" y="891197"/>
                    <a:pt x="203559" y="891197"/>
                    <a:pt x="196589" y="891197"/>
                  </a:cubicBezTo>
                  <a:close/>
                  <a:moveTo>
                    <a:pt x="797611" y="130037"/>
                  </a:moveTo>
                  <a:lnTo>
                    <a:pt x="990584" y="130037"/>
                  </a:lnTo>
                  <a:cubicBezTo>
                    <a:pt x="996546" y="147555"/>
                    <a:pt x="1010946" y="161771"/>
                    <a:pt x="1030206" y="166357"/>
                  </a:cubicBezTo>
                  <a:cubicBezTo>
                    <a:pt x="1060106" y="173511"/>
                    <a:pt x="1090098" y="155076"/>
                    <a:pt x="1097252" y="125176"/>
                  </a:cubicBezTo>
                  <a:cubicBezTo>
                    <a:pt x="1104406" y="95276"/>
                    <a:pt x="1085970" y="65284"/>
                    <a:pt x="1056071" y="58131"/>
                  </a:cubicBezTo>
                  <a:cubicBezTo>
                    <a:pt x="1026171" y="50977"/>
                    <a:pt x="996179" y="69412"/>
                    <a:pt x="989025" y="99312"/>
                  </a:cubicBezTo>
                  <a:cubicBezTo>
                    <a:pt x="988934" y="99587"/>
                    <a:pt x="988934" y="99954"/>
                    <a:pt x="988934" y="100229"/>
                  </a:cubicBezTo>
                  <a:lnTo>
                    <a:pt x="767803" y="100229"/>
                  </a:lnTo>
                  <a:lnTo>
                    <a:pt x="767803" y="184975"/>
                  </a:lnTo>
                  <a:cubicBezTo>
                    <a:pt x="777892" y="186259"/>
                    <a:pt x="787798" y="188277"/>
                    <a:pt x="797611" y="190662"/>
                  </a:cubicBezTo>
                  <a:lnTo>
                    <a:pt x="797611" y="130037"/>
                  </a:lnTo>
                  <a:close/>
                  <a:moveTo>
                    <a:pt x="957658" y="859188"/>
                  </a:moveTo>
                  <a:cubicBezTo>
                    <a:pt x="955457" y="859188"/>
                    <a:pt x="948853" y="859096"/>
                    <a:pt x="938489" y="859096"/>
                  </a:cubicBezTo>
                  <a:cubicBezTo>
                    <a:pt x="829162" y="859096"/>
                    <a:pt x="303806" y="861389"/>
                    <a:pt x="193287" y="861389"/>
                  </a:cubicBezTo>
                  <a:cubicBezTo>
                    <a:pt x="182831" y="861389"/>
                    <a:pt x="176044" y="861389"/>
                    <a:pt x="173751" y="861298"/>
                  </a:cubicBezTo>
                  <a:cubicBezTo>
                    <a:pt x="81942" y="858821"/>
                    <a:pt x="-2071" y="774442"/>
                    <a:pt x="39" y="682174"/>
                  </a:cubicBezTo>
                  <a:cubicBezTo>
                    <a:pt x="2240" y="591374"/>
                    <a:pt x="76348" y="519101"/>
                    <a:pt x="166322" y="519101"/>
                  </a:cubicBezTo>
                  <a:cubicBezTo>
                    <a:pt x="167698" y="519101"/>
                    <a:pt x="169074" y="519101"/>
                    <a:pt x="170358" y="519193"/>
                  </a:cubicBezTo>
                  <a:cubicBezTo>
                    <a:pt x="184482" y="519468"/>
                    <a:pt x="198331" y="521394"/>
                    <a:pt x="211355" y="525063"/>
                  </a:cubicBezTo>
                  <a:cubicBezTo>
                    <a:pt x="231900" y="429218"/>
                    <a:pt x="315729" y="358229"/>
                    <a:pt x="415609" y="358229"/>
                  </a:cubicBezTo>
                  <a:cubicBezTo>
                    <a:pt x="417352" y="358229"/>
                    <a:pt x="419095" y="358229"/>
                    <a:pt x="420746" y="358321"/>
                  </a:cubicBezTo>
                  <a:cubicBezTo>
                    <a:pt x="451196" y="359146"/>
                    <a:pt x="479720" y="366117"/>
                    <a:pt x="505492" y="378590"/>
                  </a:cubicBezTo>
                  <a:cubicBezTo>
                    <a:pt x="543280" y="281095"/>
                    <a:pt x="631053" y="212857"/>
                    <a:pt x="732492" y="212857"/>
                  </a:cubicBezTo>
                  <a:cubicBezTo>
                    <a:pt x="734510" y="212857"/>
                    <a:pt x="736528" y="212857"/>
                    <a:pt x="738546" y="212949"/>
                  </a:cubicBezTo>
                  <a:cubicBezTo>
                    <a:pt x="864015" y="215976"/>
                    <a:pt x="965087" y="321909"/>
                    <a:pt x="977285" y="456091"/>
                  </a:cubicBezTo>
                  <a:cubicBezTo>
                    <a:pt x="1067443" y="464713"/>
                    <a:pt x="1137332" y="553862"/>
                    <a:pt x="1134580" y="661721"/>
                  </a:cubicBezTo>
                  <a:cubicBezTo>
                    <a:pt x="1132196" y="771323"/>
                    <a:pt x="1054695" y="859372"/>
                    <a:pt x="961418" y="859372"/>
                  </a:cubicBezTo>
                  <a:cubicBezTo>
                    <a:pt x="960318" y="859280"/>
                    <a:pt x="958942" y="859280"/>
                    <a:pt x="957658" y="859188"/>
                  </a:cubicBezTo>
                  <a:close/>
                  <a:moveTo>
                    <a:pt x="938489" y="829380"/>
                  </a:moveTo>
                  <a:cubicBezTo>
                    <a:pt x="949220" y="829380"/>
                    <a:pt x="956007" y="829380"/>
                    <a:pt x="958300" y="829472"/>
                  </a:cubicBezTo>
                  <a:cubicBezTo>
                    <a:pt x="959492" y="829472"/>
                    <a:pt x="960593" y="829472"/>
                    <a:pt x="961602" y="829472"/>
                  </a:cubicBezTo>
                  <a:cubicBezTo>
                    <a:pt x="1038644" y="829472"/>
                    <a:pt x="1102938" y="753897"/>
                    <a:pt x="1105048" y="660987"/>
                  </a:cubicBezTo>
                  <a:cubicBezTo>
                    <a:pt x="1107340" y="569821"/>
                    <a:pt x="1050109" y="492870"/>
                    <a:pt x="974717" y="485716"/>
                  </a:cubicBezTo>
                  <a:lnTo>
                    <a:pt x="950137" y="483331"/>
                  </a:lnTo>
                  <a:lnTo>
                    <a:pt x="947936" y="458751"/>
                  </a:lnTo>
                  <a:cubicBezTo>
                    <a:pt x="936930" y="338235"/>
                    <a:pt x="846772" y="245325"/>
                    <a:pt x="738087" y="242757"/>
                  </a:cubicBezTo>
                  <a:cubicBezTo>
                    <a:pt x="736253" y="242665"/>
                    <a:pt x="734510" y="242665"/>
                    <a:pt x="732767" y="242665"/>
                  </a:cubicBezTo>
                  <a:cubicBezTo>
                    <a:pt x="646278" y="242665"/>
                    <a:pt x="568135" y="300264"/>
                    <a:pt x="533558" y="389321"/>
                  </a:cubicBezTo>
                  <a:lnTo>
                    <a:pt x="521910" y="419496"/>
                  </a:lnTo>
                  <a:lnTo>
                    <a:pt x="492835" y="405372"/>
                  </a:lnTo>
                  <a:cubicBezTo>
                    <a:pt x="470640" y="394641"/>
                    <a:pt x="446151" y="388771"/>
                    <a:pt x="420287" y="388037"/>
                  </a:cubicBezTo>
                  <a:cubicBezTo>
                    <a:pt x="418911" y="388037"/>
                    <a:pt x="417444" y="387945"/>
                    <a:pt x="415976" y="387945"/>
                  </a:cubicBezTo>
                  <a:cubicBezTo>
                    <a:pt x="332330" y="387945"/>
                    <a:pt x="258681" y="448204"/>
                    <a:pt x="240888" y="531208"/>
                  </a:cubicBezTo>
                  <a:lnTo>
                    <a:pt x="234285" y="562116"/>
                  </a:lnTo>
                  <a:lnTo>
                    <a:pt x="203834" y="553678"/>
                  </a:lnTo>
                  <a:cubicBezTo>
                    <a:pt x="193287" y="550743"/>
                    <a:pt x="182006" y="549184"/>
                    <a:pt x="170174" y="548909"/>
                  </a:cubicBezTo>
                  <a:cubicBezTo>
                    <a:pt x="168890" y="548909"/>
                    <a:pt x="167790" y="548909"/>
                    <a:pt x="166689" y="548909"/>
                  </a:cubicBezTo>
                  <a:cubicBezTo>
                    <a:pt x="93224" y="548909"/>
                    <a:pt x="31956" y="609076"/>
                    <a:pt x="30214" y="682908"/>
                  </a:cubicBezTo>
                  <a:cubicBezTo>
                    <a:pt x="28471" y="757199"/>
                    <a:pt x="98818" y="829472"/>
                    <a:pt x="174944" y="831581"/>
                  </a:cubicBezTo>
                  <a:cubicBezTo>
                    <a:pt x="176961" y="831581"/>
                    <a:pt x="183473" y="831673"/>
                    <a:pt x="193654" y="831673"/>
                  </a:cubicBezTo>
                  <a:cubicBezTo>
                    <a:pt x="248959" y="831673"/>
                    <a:pt x="411024" y="831123"/>
                    <a:pt x="567768" y="830572"/>
                  </a:cubicBezTo>
                  <a:cubicBezTo>
                    <a:pt x="723045" y="829930"/>
                    <a:pt x="883917" y="829380"/>
                    <a:pt x="938489" y="829380"/>
                  </a:cubicBezTo>
                  <a:close/>
                </a:path>
              </a:pathLst>
            </a:custGeom>
            <a:solidFill>
              <a:schemeClr val="accent2"/>
            </a:solidFill>
            <a:ln>
              <a:noFill/>
            </a:ln>
          </p:spPr>
          <p:txBody>
            <a:bodyPr spcFirstLastPara="1" wrap="square" lIns="91375" tIns="45650" rIns="91375" bIns="45650" anchor="ctr" anchorCtr="0">
              <a:noAutofit/>
            </a:bodyPr>
            <a:lstStyle/>
            <a:p>
              <a:pPr marL="0" marR="0" lvl="0" indent="0" algn="l" rtl="0">
                <a:lnSpc>
                  <a:spcPct val="100000"/>
                </a:lnSpc>
                <a:spcBef>
                  <a:spcPts val="0"/>
                </a:spcBef>
                <a:spcAft>
                  <a:spcPts val="0"/>
                </a:spcAft>
                <a:buClr>
                  <a:srgbClr val="000000"/>
                </a:buClr>
                <a:buSzPts val="1796"/>
                <a:buFont typeface="Arial"/>
                <a:buNone/>
              </a:pPr>
              <a:endParaRPr sz="1795" b="0" i="0" u="none" strike="noStrike" cap="none">
                <a:solidFill>
                  <a:srgbClr val="717074"/>
                </a:solidFill>
                <a:latin typeface="Arial"/>
                <a:ea typeface="Arial"/>
                <a:cs typeface="Arial"/>
                <a:sym typeface="Arial"/>
              </a:endParaRPr>
            </a:p>
          </p:txBody>
        </p:sp>
      </p:grpSp>
      <p:grpSp>
        <p:nvGrpSpPr>
          <p:cNvPr id="7218" name="Google Shape;7218;p52"/>
          <p:cNvGrpSpPr/>
          <p:nvPr/>
        </p:nvGrpSpPr>
        <p:grpSpPr>
          <a:xfrm>
            <a:off x="3193196" y="4082795"/>
            <a:ext cx="1051619" cy="864396"/>
            <a:chOff x="7682466" y="3571756"/>
            <a:chExt cx="1051619" cy="864396"/>
          </a:xfrm>
        </p:grpSpPr>
        <p:grpSp>
          <p:nvGrpSpPr>
            <p:cNvPr id="7219" name="Google Shape;7219;p52"/>
            <p:cNvGrpSpPr/>
            <p:nvPr/>
          </p:nvGrpSpPr>
          <p:grpSpPr>
            <a:xfrm>
              <a:off x="7682466" y="3571756"/>
              <a:ext cx="1051619" cy="864396"/>
              <a:chOff x="8393511" y="3307853"/>
              <a:chExt cx="1311900" cy="1020900"/>
            </a:xfrm>
          </p:grpSpPr>
          <p:sp>
            <p:nvSpPr>
              <p:cNvPr id="7220" name="Google Shape;7220;p52"/>
              <p:cNvSpPr/>
              <p:nvPr/>
            </p:nvSpPr>
            <p:spPr>
              <a:xfrm>
                <a:off x="8393511"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7221" name="Google Shape;7221;p52"/>
              <p:cNvSpPr/>
              <p:nvPr/>
            </p:nvSpPr>
            <p:spPr>
              <a:xfrm>
                <a:off x="8405214" y="3310894"/>
                <a:ext cx="1263000" cy="401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Volume Service</a:t>
                </a:r>
                <a:endParaRPr sz="1400" b="0" i="0" u="none" strike="noStrike" cap="none">
                  <a:solidFill>
                    <a:srgbClr val="000000"/>
                  </a:solidFill>
                  <a:latin typeface="Arial"/>
                  <a:ea typeface="Arial"/>
                  <a:cs typeface="Arial"/>
                  <a:sym typeface="Arial"/>
                </a:endParaRPr>
              </a:p>
            </p:txBody>
          </p:sp>
        </p:grpSp>
        <p:pic>
          <p:nvPicPr>
            <p:cNvPr id="7222" name="Google Shape;7222;p52" descr="vSAN Database&#10;"/>
            <p:cNvPicPr preferRelativeResize="0"/>
            <p:nvPr/>
          </p:nvPicPr>
          <p:blipFill rotWithShape="1">
            <a:blip r:embed="rId5">
              <a:alphaModFix/>
            </a:blip>
            <a:srcRect/>
            <a:stretch/>
          </p:blipFill>
          <p:spPr>
            <a:xfrm>
              <a:off x="8025076" y="3946014"/>
              <a:ext cx="339877" cy="339792"/>
            </a:xfrm>
            <a:prstGeom prst="rect">
              <a:avLst/>
            </a:prstGeom>
            <a:solidFill>
              <a:srgbClr val="FFFFFF"/>
            </a:solidFill>
            <a:ln>
              <a:noFill/>
            </a:ln>
          </p:spPr>
        </p:pic>
      </p:grpSp>
      <p:grpSp>
        <p:nvGrpSpPr>
          <p:cNvPr id="7223" name="Google Shape;7223;p52"/>
          <p:cNvGrpSpPr/>
          <p:nvPr/>
        </p:nvGrpSpPr>
        <p:grpSpPr>
          <a:xfrm>
            <a:off x="4297645" y="3179946"/>
            <a:ext cx="1051619" cy="864396"/>
            <a:chOff x="8393511" y="3307853"/>
            <a:chExt cx="1311900" cy="1020900"/>
          </a:xfrm>
        </p:grpSpPr>
        <p:sp>
          <p:nvSpPr>
            <p:cNvPr id="7224" name="Google Shape;7224;p52"/>
            <p:cNvSpPr/>
            <p:nvPr/>
          </p:nvSpPr>
          <p:spPr>
            <a:xfrm>
              <a:off x="8393511"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7225" name="Google Shape;7225;p52"/>
            <p:cNvSpPr/>
            <p:nvPr/>
          </p:nvSpPr>
          <p:spPr>
            <a:xfrm>
              <a:off x="8405214" y="3310894"/>
              <a:ext cx="1263000" cy="401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VM Image</a:t>
              </a:r>
              <a:endParaRPr sz="1400" b="0" i="0" u="none" strike="noStrike" cap="none">
                <a:solidFill>
                  <a:srgbClr val="000000"/>
                </a:solidFill>
                <a:latin typeface="Arial"/>
                <a:ea typeface="Arial"/>
                <a:cs typeface="Arial"/>
                <a:sym typeface="Arial"/>
              </a:endParaRPr>
            </a:p>
          </p:txBody>
        </p:sp>
      </p:grpSp>
      <p:sp>
        <p:nvSpPr>
          <p:cNvPr id="7226" name="Google Shape;7226;p52"/>
          <p:cNvSpPr/>
          <p:nvPr/>
        </p:nvSpPr>
        <p:spPr>
          <a:xfrm>
            <a:off x="5601924" y="2916882"/>
            <a:ext cx="4671630" cy="207822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227" name="Google Shape;7227;p52"/>
          <p:cNvSpPr txBox="1"/>
          <p:nvPr/>
        </p:nvSpPr>
        <p:spPr>
          <a:xfrm>
            <a:off x="7070480" y="2864127"/>
            <a:ext cx="1734518" cy="35391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50" b="0" i="0" u="none" strike="noStrike" cap="none">
                <a:solidFill>
                  <a:srgbClr val="000000"/>
                </a:solidFill>
                <a:latin typeface="Arial"/>
                <a:ea typeface="Arial"/>
                <a:cs typeface="Arial"/>
                <a:sym typeface="Arial"/>
              </a:rPr>
              <a:t>Extensible Services</a:t>
            </a:r>
            <a:endParaRPr sz="1050" b="0" i="0" u="none" strike="noStrike" cap="none">
              <a:solidFill>
                <a:srgbClr val="000000"/>
              </a:solidFill>
              <a:latin typeface="Arial"/>
              <a:ea typeface="Arial"/>
              <a:cs typeface="Arial"/>
              <a:sym typeface="Arial"/>
            </a:endParaRPr>
          </a:p>
        </p:txBody>
      </p:sp>
      <p:grpSp>
        <p:nvGrpSpPr>
          <p:cNvPr id="7228" name="Google Shape;7228;p52"/>
          <p:cNvGrpSpPr/>
          <p:nvPr/>
        </p:nvGrpSpPr>
        <p:grpSpPr>
          <a:xfrm>
            <a:off x="5775415" y="3179946"/>
            <a:ext cx="1051500" cy="868800"/>
            <a:chOff x="10063041" y="3571756"/>
            <a:chExt cx="1051500" cy="868800"/>
          </a:xfrm>
        </p:grpSpPr>
        <p:sp>
          <p:nvSpPr>
            <p:cNvPr id="7229" name="Google Shape;7229;p52"/>
            <p:cNvSpPr/>
            <p:nvPr/>
          </p:nvSpPr>
          <p:spPr>
            <a:xfrm>
              <a:off x="10063041" y="3571756"/>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pic>
          <p:nvPicPr>
            <p:cNvPr id="7230" name="Google Shape;7230;p52"/>
            <p:cNvPicPr preferRelativeResize="0"/>
            <p:nvPr/>
          </p:nvPicPr>
          <p:blipFill rotWithShape="1">
            <a:blip r:embed="rId6">
              <a:alphaModFix/>
            </a:blip>
            <a:srcRect/>
            <a:stretch/>
          </p:blipFill>
          <p:spPr>
            <a:xfrm>
              <a:off x="10402218" y="3906647"/>
              <a:ext cx="422600" cy="422600"/>
            </a:xfrm>
            <a:prstGeom prst="rect">
              <a:avLst/>
            </a:prstGeom>
            <a:noFill/>
            <a:ln>
              <a:noFill/>
            </a:ln>
          </p:spPr>
        </p:pic>
        <p:sp>
          <p:nvSpPr>
            <p:cNvPr id="7231" name="Google Shape;7231;p52"/>
            <p:cNvSpPr txBox="1"/>
            <p:nvPr/>
          </p:nvSpPr>
          <p:spPr>
            <a:xfrm>
              <a:off x="10146332" y="3619975"/>
              <a:ext cx="962400" cy="161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Image Registry</a:t>
              </a:r>
              <a:endParaRPr sz="800" b="0" i="0" u="none" strike="noStrike" cap="none">
                <a:solidFill>
                  <a:srgbClr val="000000"/>
                </a:solidFill>
                <a:latin typeface="Arial"/>
                <a:ea typeface="Arial"/>
                <a:cs typeface="Arial"/>
                <a:sym typeface="Arial"/>
              </a:endParaRPr>
            </a:p>
          </p:txBody>
        </p:sp>
      </p:grpSp>
      <p:grpSp>
        <p:nvGrpSpPr>
          <p:cNvPr id="7232" name="Google Shape;7232;p52"/>
          <p:cNvGrpSpPr/>
          <p:nvPr/>
        </p:nvGrpSpPr>
        <p:grpSpPr>
          <a:xfrm>
            <a:off x="6867336" y="3179946"/>
            <a:ext cx="1051500" cy="868800"/>
            <a:chOff x="6134812" y="3192825"/>
            <a:chExt cx="1051500" cy="868800"/>
          </a:xfrm>
        </p:grpSpPr>
        <p:grpSp>
          <p:nvGrpSpPr>
            <p:cNvPr id="7233" name="Google Shape;7233;p52"/>
            <p:cNvGrpSpPr/>
            <p:nvPr/>
          </p:nvGrpSpPr>
          <p:grpSpPr>
            <a:xfrm>
              <a:off x="6134812" y="3192825"/>
              <a:ext cx="1051500" cy="868800"/>
              <a:chOff x="10063041" y="3571756"/>
              <a:chExt cx="1051500" cy="868800"/>
            </a:xfrm>
          </p:grpSpPr>
          <p:sp>
            <p:nvSpPr>
              <p:cNvPr id="7234" name="Google Shape;7234;p52"/>
              <p:cNvSpPr/>
              <p:nvPr/>
            </p:nvSpPr>
            <p:spPr>
              <a:xfrm>
                <a:off x="10063041" y="3571756"/>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7235" name="Google Shape;7235;p52"/>
              <p:cNvSpPr txBox="1"/>
              <p:nvPr/>
            </p:nvSpPr>
            <p:spPr>
              <a:xfrm>
                <a:off x="10146332" y="3661603"/>
                <a:ext cx="962400" cy="161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K8s Ingress Controller</a:t>
                </a:r>
                <a:endParaRPr sz="800" b="0" i="0" u="none" strike="noStrike" cap="none">
                  <a:solidFill>
                    <a:srgbClr val="000000"/>
                  </a:solidFill>
                  <a:latin typeface="Arial"/>
                  <a:ea typeface="Arial"/>
                  <a:cs typeface="Arial"/>
                  <a:sym typeface="Arial"/>
                </a:endParaRPr>
              </a:p>
            </p:txBody>
          </p:sp>
        </p:grpSp>
        <p:pic>
          <p:nvPicPr>
            <p:cNvPr id="7236" name="Google Shape;7236;p52"/>
            <p:cNvPicPr preferRelativeResize="0"/>
            <p:nvPr/>
          </p:nvPicPr>
          <p:blipFill rotWithShape="1">
            <a:blip r:embed="rId7">
              <a:alphaModFix/>
            </a:blip>
            <a:srcRect r="68660"/>
            <a:stretch/>
          </p:blipFill>
          <p:spPr>
            <a:xfrm>
              <a:off x="6379051" y="3474701"/>
              <a:ext cx="526817" cy="548640"/>
            </a:xfrm>
            <a:prstGeom prst="rect">
              <a:avLst/>
            </a:prstGeom>
            <a:noFill/>
            <a:ln>
              <a:noFill/>
            </a:ln>
          </p:spPr>
        </p:pic>
      </p:grpSp>
      <p:grpSp>
        <p:nvGrpSpPr>
          <p:cNvPr id="7237" name="Google Shape;7237;p52"/>
          <p:cNvGrpSpPr/>
          <p:nvPr/>
        </p:nvGrpSpPr>
        <p:grpSpPr>
          <a:xfrm>
            <a:off x="6837342" y="4082795"/>
            <a:ext cx="1120690" cy="868800"/>
            <a:chOff x="10033047" y="3571756"/>
            <a:chExt cx="1120690" cy="868800"/>
          </a:xfrm>
        </p:grpSpPr>
        <p:sp>
          <p:nvSpPr>
            <p:cNvPr id="7238" name="Google Shape;7238;p52"/>
            <p:cNvSpPr/>
            <p:nvPr/>
          </p:nvSpPr>
          <p:spPr>
            <a:xfrm>
              <a:off x="10063041" y="3571756"/>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7239" name="Google Shape;7239;p52"/>
            <p:cNvSpPr txBox="1"/>
            <p:nvPr/>
          </p:nvSpPr>
          <p:spPr>
            <a:xfrm>
              <a:off x="10033047" y="3653842"/>
              <a:ext cx="1120690" cy="161838"/>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DSM Consumption Operator</a:t>
              </a:r>
              <a:endParaRPr sz="800" b="0" i="0" u="none" strike="noStrike" cap="none">
                <a:solidFill>
                  <a:srgbClr val="000000"/>
                </a:solidFill>
                <a:latin typeface="Arial"/>
                <a:ea typeface="Arial"/>
                <a:cs typeface="Arial"/>
                <a:sym typeface="Arial"/>
              </a:endParaRPr>
            </a:p>
          </p:txBody>
        </p:sp>
      </p:grpSp>
      <p:grpSp>
        <p:nvGrpSpPr>
          <p:cNvPr id="7240" name="Google Shape;7240;p52"/>
          <p:cNvGrpSpPr/>
          <p:nvPr/>
        </p:nvGrpSpPr>
        <p:grpSpPr>
          <a:xfrm>
            <a:off x="5775415" y="4082795"/>
            <a:ext cx="1051500" cy="868800"/>
            <a:chOff x="10063041" y="3571756"/>
            <a:chExt cx="1051500" cy="868800"/>
          </a:xfrm>
        </p:grpSpPr>
        <p:sp>
          <p:nvSpPr>
            <p:cNvPr id="7241" name="Google Shape;7241;p52"/>
            <p:cNvSpPr/>
            <p:nvPr/>
          </p:nvSpPr>
          <p:spPr>
            <a:xfrm>
              <a:off x="10063041" y="3571756"/>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7242" name="Google Shape;7242;p52"/>
            <p:cNvSpPr txBox="1"/>
            <p:nvPr/>
          </p:nvSpPr>
          <p:spPr>
            <a:xfrm>
              <a:off x="10146332" y="3619975"/>
              <a:ext cx="962400" cy="161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External DNS</a:t>
              </a:r>
              <a:endParaRPr sz="800" b="0" i="0" u="none" strike="noStrike" cap="none">
                <a:solidFill>
                  <a:srgbClr val="000000"/>
                </a:solidFill>
                <a:latin typeface="Arial"/>
                <a:ea typeface="Arial"/>
                <a:cs typeface="Arial"/>
                <a:sym typeface="Arial"/>
              </a:endParaRPr>
            </a:p>
          </p:txBody>
        </p:sp>
      </p:grpSp>
      <p:pic>
        <p:nvPicPr>
          <p:cNvPr id="7243" name="Google Shape;7243;p52"/>
          <p:cNvPicPr preferRelativeResize="0"/>
          <p:nvPr/>
        </p:nvPicPr>
        <p:blipFill rotWithShape="1">
          <a:blip r:embed="rId8">
            <a:alphaModFix/>
          </a:blip>
          <a:srcRect/>
          <a:stretch/>
        </p:blipFill>
        <p:spPr>
          <a:xfrm>
            <a:off x="6003985" y="4307330"/>
            <a:ext cx="639679" cy="640080"/>
          </a:xfrm>
          <a:prstGeom prst="rect">
            <a:avLst/>
          </a:prstGeom>
          <a:noFill/>
          <a:ln>
            <a:noFill/>
          </a:ln>
        </p:spPr>
      </p:pic>
      <p:pic>
        <p:nvPicPr>
          <p:cNvPr id="7244" name="Google Shape;7244;p52" descr="vSAN Database&#10;"/>
          <p:cNvPicPr preferRelativeResize="0"/>
          <p:nvPr/>
        </p:nvPicPr>
        <p:blipFill rotWithShape="1">
          <a:blip r:embed="rId5">
            <a:alphaModFix/>
          </a:blip>
          <a:srcRect/>
          <a:stretch/>
        </p:blipFill>
        <p:spPr>
          <a:xfrm>
            <a:off x="7252787" y="4473136"/>
            <a:ext cx="339877" cy="339792"/>
          </a:xfrm>
          <a:prstGeom prst="rect">
            <a:avLst/>
          </a:prstGeom>
          <a:solidFill>
            <a:srgbClr val="FFFFFF"/>
          </a:solidFill>
          <a:ln>
            <a:noFill/>
          </a:ln>
        </p:spPr>
      </p:pic>
      <p:sp>
        <p:nvSpPr>
          <p:cNvPr id="7245" name="Google Shape;7245;p52"/>
          <p:cNvSpPr txBox="1"/>
          <p:nvPr/>
        </p:nvSpPr>
        <p:spPr>
          <a:xfrm>
            <a:off x="9494352" y="4269528"/>
            <a:ext cx="25648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1B1D36"/>
              </a:buClr>
              <a:buSzPts val="2000"/>
              <a:buFont typeface="Arial"/>
              <a:buNone/>
            </a:pPr>
            <a:r>
              <a:rPr lang="en-US" sz="2000" b="1" i="0" u="none" strike="noStrike" cap="none">
                <a:solidFill>
                  <a:srgbClr val="1B1D36"/>
                </a:solidFill>
                <a:latin typeface="Arial"/>
                <a:ea typeface="Arial"/>
                <a:cs typeface="Arial"/>
                <a:sym typeface="Arial"/>
              </a:rPr>
              <a:t>…</a:t>
            </a:r>
            <a:endParaRPr/>
          </a:p>
        </p:txBody>
      </p:sp>
      <p:sp>
        <p:nvSpPr>
          <p:cNvPr id="7246" name="Google Shape;7246;p52"/>
          <p:cNvSpPr txBox="1"/>
          <p:nvPr/>
        </p:nvSpPr>
        <p:spPr>
          <a:xfrm>
            <a:off x="355556" y="3444810"/>
            <a:ext cx="525785" cy="276999"/>
          </a:xfrm>
          <a:prstGeom prst="rect">
            <a:avLst/>
          </a:prstGeom>
          <a:solidFill>
            <a:schemeClr val="lt1"/>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C000"/>
              </a:buClr>
              <a:buSzPts val="1800"/>
              <a:buFont typeface="Arial"/>
              <a:buNone/>
            </a:pPr>
            <a:r>
              <a:rPr lang="en-US" sz="1800" b="0" i="0" u="none" strike="noStrike" cap="none">
                <a:solidFill>
                  <a:srgbClr val="FFC000"/>
                </a:solidFill>
                <a:latin typeface="Arial"/>
                <a:ea typeface="Arial"/>
                <a:cs typeface="Arial"/>
                <a:sym typeface="Arial"/>
              </a:rPr>
              <a:t>New!</a:t>
            </a:r>
            <a:endParaRPr/>
          </a:p>
        </p:txBody>
      </p:sp>
      <p:grpSp>
        <p:nvGrpSpPr>
          <p:cNvPr id="7247" name="Google Shape;7247;p52"/>
          <p:cNvGrpSpPr/>
          <p:nvPr/>
        </p:nvGrpSpPr>
        <p:grpSpPr>
          <a:xfrm>
            <a:off x="4604808" y="3492408"/>
            <a:ext cx="469047" cy="469048"/>
            <a:chOff x="10887313" y="485866"/>
            <a:chExt cx="633848" cy="633849"/>
          </a:xfrm>
        </p:grpSpPr>
        <p:grpSp>
          <p:nvGrpSpPr>
            <p:cNvPr id="7248" name="Google Shape;7248;p52"/>
            <p:cNvGrpSpPr/>
            <p:nvPr/>
          </p:nvGrpSpPr>
          <p:grpSpPr>
            <a:xfrm>
              <a:off x="10887313" y="485866"/>
              <a:ext cx="633848" cy="633849"/>
              <a:chOff x="10887313" y="485866"/>
              <a:chExt cx="633848" cy="633849"/>
            </a:xfrm>
          </p:grpSpPr>
          <p:sp>
            <p:nvSpPr>
              <p:cNvPr id="7249" name="Google Shape;7249;p52"/>
              <p:cNvSpPr/>
              <p:nvPr/>
            </p:nvSpPr>
            <p:spPr>
              <a:xfrm>
                <a:off x="11082596" y="681150"/>
                <a:ext cx="438565" cy="438565"/>
              </a:xfrm>
              <a:custGeom>
                <a:avLst/>
                <a:gdLst/>
                <a:ahLst/>
                <a:cxnLst/>
                <a:rect l="l" t="t" r="r" b="b"/>
                <a:pathLst>
                  <a:path w="438565" h="438565" extrusionOk="0">
                    <a:moveTo>
                      <a:pt x="383509" y="0"/>
                    </a:moveTo>
                    <a:lnTo>
                      <a:pt x="383509" y="23528"/>
                    </a:lnTo>
                    <a:lnTo>
                      <a:pt x="415037" y="23528"/>
                    </a:lnTo>
                    <a:lnTo>
                      <a:pt x="415037" y="415037"/>
                    </a:lnTo>
                    <a:lnTo>
                      <a:pt x="23528" y="415037"/>
                    </a:lnTo>
                    <a:lnTo>
                      <a:pt x="23528" y="383509"/>
                    </a:lnTo>
                    <a:lnTo>
                      <a:pt x="0" y="383509"/>
                    </a:lnTo>
                    <a:lnTo>
                      <a:pt x="0" y="438565"/>
                    </a:lnTo>
                    <a:lnTo>
                      <a:pt x="438565" y="438565"/>
                    </a:lnTo>
                    <a:lnTo>
                      <a:pt x="438565" y="0"/>
                    </a:lnTo>
                    <a:lnTo>
                      <a:pt x="383509"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50"/>
                  <a:buFont typeface="Arial"/>
                  <a:buNone/>
                </a:pPr>
                <a:endParaRPr sz="1050" b="0" i="0" u="none" strike="noStrike" cap="none">
                  <a:solidFill>
                    <a:srgbClr val="000000"/>
                  </a:solidFill>
                  <a:latin typeface="Arial"/>
                  <a:ea typeface="Arial"/>
                  <a:cs typeface="Arial"/>
                  <a:sym typeface="Arial"/>
                </a:endParaRPr>
              </a:p>
            </p:txBody>
          </p:sp>
          <p:sp>
            <p:nvSpPr>
              <p:cNvPr id="7250" name="Google Shape;7250;p52"/>
              <p:cNvSpPr/>
              <p:nvPr/>
            </p:nvSpPr>
            <p:spPr>
              <a:xfrm>
                <a:off x="11012953" y="611507"/>
                <a:ext cx="439035" cy="438565"/>
              </a:xfrm>
              <a:custGeom>
                <a:avLst/>
                <a:gdLst/>
                <a:ahLst/>
                <a:cxnLst/>
                <a:rect l="l" t="t" r="r" b="b"/>
                <a:pathLst>
                  <a:path w="439035" h="438565" extrusionOk="0">
                    <a:moveTo>
                      <a:pt x="384450" y="0"/>
                    </a:moveTo>
                    <a:lnTo>
                      <a:pt x="384450" y="23528"/>
                    </a:lnTo>
                    <a:lnTo>
                      <a:pt x="415507" y="23528"/>
                    </a:lnTo>
                    <a:lnTo>
                      <a:pt x="415507" y="415037"/>
                    </a:lnTo>
                    <a:lnTo>
                      <a:pt x="23528" y="415037"/>
                    </a:lnTo>
                    <a:lnTo>
                      <a:pt x="23528" y="383980"/>
                    </a:lnTo>
                    <a:lnTo>
                      <a:pt x="0" y="383980"/>
                    </a:lnTo>
                    <a:lnTo>
                      <a:pt x="0" y="438565"/>
                    </a:lnTo>
                    <a:lnTo>
                      <a:pt x="439036" y="438565"/>
                    </a:lnTo>
                    <a:lnTo>
                      <a:pt x="439036" y="0"/>
                    </a:lnTo>
                    <a:lnTo>
                      <a:pt x="384450"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50"/>
                  <a:buFont typeface="Arial"/>
                  <a:buNone/>
                </a:pPr>
                <a:endParaRPr sz="1050" b="0" i="0" u="none" strike="noStrike" cap="none">
                  <a:solidFill>
                    <a:srgbClr val="000000"/>
                  </a:solidFill>
                  <a:latin typeface="Arial"/>
                  <a:ea typeface="Arial"/>
                  <a:cs typeface="Arial"/>
                  <a:sym typeface="Arial"/>
                </a:endParaRPr>
              </a:p>
            </p:txBody>
          </p:sp>
          <p:sp>
            <p:nvSpPr>
              <p:cNvPr id="7251" name="Google Shape;7251;p52"/>
              <p:cNvSpPr/>
              <p:nvPr/>
            </p:nvSpPr>
            <p:spPr>
              <a:xfrm>
                <a:off x="10944251" y="542334"/>
                <a:ext cx="438565" cy="438565"/>
              </a:xfrm>
              <a:custGeom>
                <a:avLst/>
                <a:gdLst/>
                <a:ahLst/>
                <a:cxnLst/>
                <a:rect l="l" t="t" r="r" b="b"/>
                <a:pathLst>
                  <a:path w="438565" h="438565" extrusionOk="0">
                    <a:moveTo>
                      <a:pt x="381627" y="0"/>
                    </a:moveTo>
                    <a:lnTo>
                      <a:pt x="381627" y="6588"/>
                    </a:lnTo>
                    <a:lnTo>
                      <a:pt x="382097" y="23528"/>
                    </a:lnTo>
                    <a:lnTo>
                      <a:pt x="415037" y="23528"/>
                    </a:lnTo>
                    <a:lnTo>
                      <a:pt x="415037" y="415037"/>
                    </a:lnTo>
                    <a:lnTo>
                      <a:pt x="23528" y="415037"/>
                    </a:lnTo>
                    <a:lnTo>
                      <a:pt x="23528" y="384921"/>
                    </a:lnTo>
                    <a:lnTo>
                      <a:pt x="0" y="384921"/>
                    </a:lnTo>
                    <a:lnTo>
                      <a:pt x="0" y="438565"/>
                    </a:lnTo>
                    <a:lnTo>
                      <a:pt x="438565" y="438565"/>
                    </a:lnTo>
                    <a:lnTo>
                      <a:pt x="438565" y="0"/>
                    </a:lnTo>
                    <a:lnTo>
                      <a:pt x="381627"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50"/>
                  <a:buFont typeface="Arial"/>
                  <a:buNone/>
                </a:pPr>
                <a:endParaRPr sz="1050" b="0" i="0" u="none" strike="noStrike" cap="none">
                  <a:solidFill>
                    <a:srgbClr val="000000"/>
                  </a:solidFill>
                  <a:latin typeface="Arial"/>
                  <a:ea typeface="Arial"/>
                  <a:cs typeface="Arial"/>
                  <a:sym typeface="Arial"/>
                </a:endParaRPr>
              </a:p>
            </p:txBody>
          </p:sp>
          <p:sp>
            <p:nvSpPr>
              <p:cNvPr id="7252" name="Google Shape;7252;p52"/>
              <p:cNvSpPr/>
              <p:nvPr/>
            </p:nvSpPr>
            <p:spPr>
              <a:xfrm>
                <a:off x="10887313" y="485866"/>
                <a:ext cx="415036" cy="415036"/>
              </a:xfrm>
              <a:custGeom>
                <a:avLst/>
                <a:gdLst/>
                <a:ahLst/>
                <a:cxnLst/>
                <a:rect l="l" t="t" r="r" b="b"/>
                <a:pathLst>
                  <a:path w="415036" h="415036" extrusionOk="0">
                    <a:moveTo>
                      <a:pt x="0" y="0"/>
                    </a:moveTo>
                    <a:lnTo>
                      <a:pt x="0" y="415037"/>
                    </a:lnTo>
                    <a:lnTo>
                      <a:pt x="415037" y="415037"/>
                    </a:lnTo>
                    <a:lnTo>
                      <a:pt x="415037" y="0"/>
                    </a:lnTo>
                    <a:lnTo>
                      <a:pt x="0" y="0"/>
                    </a:lnTo>
                    <a:close/>
                    <a:moveTo>
                      <a:pt x="343511" y="247516"/>
                    </a:moveTo>
                    <a:lnTo>
                      <a:pt x="286573" y="180696"/>
                    </a:lnTo>
                    <a:lnTo>
                      <a:pt x="316689" y="175050"/>
                    </a:lnTo>
                    <a:cubicBezTo>
                      <a:pt x="306337" y="141640"/>
                      <a:pt x="282338" y="114347"/>
                      <a:pt x="248928" y="101642"/>
                    </a:cubicBezTo>
                    <a:cubicBezTo>
                      <a:pt x="220694" y="90819"/>
                      <a:pt x="189637" y="91760"/>
                      <a:pt x="161874" y="104465"/>
                    </a:cubicBezTo>
                    <a:cubicBezTo>
                      <a:pt x="134111" y="117170"/>
                      <a:pt x="112935" y="139287"/>
                      <a:pt x="102112" y="167991"/>
                    </a:cubicBezTo>
                    <a:cubicBezTo>
                      <a:pt x="79996" y="226812"/>
                      <a:pt x="109641" y="292690"/>
                      <a:pt x="167991" y="314807"/>
                    </a:cubicBezTo>
                    <a:cubicBezTo>
                      <a:pt x="199989" y="327042"/>
                      <a:pt x="234811" y="324218"/>
                      <a:pt x="264457" y="307278"/>
                    </a:cubicBezTo>
                    <a:lnTo>
                      <a:pt x="276221" y="327512"/>
                    </a:lnTo>
                    <a:cubicBezTo>
                      <a:pt x="255045" y="339276"/>
                      <a:pt x="231988" y="345393"/>
                      <a:pt x="208460" y="345393"/>
                    </a:cubicBezTo>
                    <a:cubicBezTo>
                      <a:pt x="191990" y="345393"/>
                      <a:pt x="175520" y="342570"/>
                      <a:pt x="159521" y="336453"/>
                    </a:cubicBezTo>
                    <a:cubicBezTo>
                      <a:pt x="88936" y="309631"/>
                      <a:pt x="53174" y="230105"/>
                      <a:pt x="79996" y="159521"/>
                    </a:cubicBezTo>
                    <a:cubicBezTo>
                      <a:pt x="93172" y="125170"/>
                      <a:pt x="118582" y="97877"/>
                      <a:pt x="151992" y="82819"/>
                    </a:cubicBezTo>
                    <a:cubicBezTo>
                      <a:pt x="185402" y="67761"/>
                      <a:pt x="222576" y="66820"/>
                      <a:pt x="256928" y="79525"/>
                    </a:cubicBezTo>
                    <a:cubicBezTo>
                      <a:pt x="297867" y="95054"/>
                      <a:pt x="327512" y="128934"/>
                      <a:pt x="339276" y="170814"/>
                    </a:cubicBezTo>
                    <a:lnTo>
                      <a:pt x="372686" y="164697"/>
                    </a:lnTo>
                    <a:lnTo>
                      <a:pt x="343041" y="24751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50"/>
                  <a:buFont typeface="Arial"/>
                  <a:buNone/>
                </a:pPr>
                <a:endParaRPr sz="1050" b="0" i="0" u="none" strike="noStrike" cap="none">
                  <a:solidFill>
                    <a:srgbClr val="000000"/>
                  </a:solidFill>
                  <a:latin typeface="Arial"/>
                  <a:ea typeface="Arial"/>
                  <a:cs typeface="Arial"/>
                  <a:sym typeface="Arial"/>
                </a:endParaRPr>
              </a:p>
            </p:txBody>
          </p:sp>
          <p:sp>
            <p:nvSpPr>
              <p:cNvPr id="7253" name="Google Shape;7253;p52"/>
              <p:cNvSpPr/>
              <p:nvPr/>
            </p:nvSpPr>
            <p:spPr>
              <a:xfrm>
                <a:off x="10944251" y="542334"/>
                <a:ext cx="331719" cy="307885"/>
              </a:xfrm>
              <a:prstGeom prst="rect">
                <a:avLst/>
              </a:prstGeom>
              <a:solidFill>
                <a:srgbClr val="0098C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Arial"/>
                  <a:buNone/>
                </a:pPr>
                <a:endParaRPr sz="1050" b="0" i="0" u="none" strike="noStrike" cap="none">
                  <a:solidFill>
                    <a:srgbClr val="FFFFFF"/>
                  </a:solidFill>
                  <a:latin typeface="Arial"/>
                  <a:ea typeface="Arial"/>
                  <a:cs typeface="Arial"/>
                  <a:sym typeface="Arial"/>
                </a:endParaRPr>
              </a:p>
            </p:txBody>
          </p:sp>
        </p:grpSp>
        <p:sp>
          <p:nvSpPr>
            <p:cNvPr id="7254" name="Google Shape;7254;p52"/>
            <p:cNvSpPr txBox="1"/>
            <p:nvPr/>
          </p:nvSpPr>
          <p:spPr>
            <a:xfrm>
              <a:off x="10994694" y="609463"/>
              <a:ext cx="207957" cy="1663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800"/>
                <a:buFont typeface="Arial"/>
                <a:buNone/>
              </a:pPr>
              <a:r>
                <a:rPr lang="en-US" sz="800" b="0" i="0" u="none" strike="noStrike" cap="none">
                  <a:solidFill>
                    <a:srgbClr val="FFFFFF"/>
                  </a:solidFill>
                  <a:latin typeface="Arial"/>
                  <a:ea typeface="Arial"/>
                  <a:cs typeface="Arial"/>
                  <a:sym typeface="Arial"/>
                </a:rPr>
                <a:t>VM</a:t>
              </a:r>
              <a:endParaRPr/>
            </a:p>
          </p:txBody>
        </p:sp>
      </p:grpSp>
      <p:sp>
        <p:nvSpPr>
          <p:cNvPr id="7255" name="Google Shape;7255;p52"/>
          <p:cNvSpPr txBox="1"/>
          <p:nvPr/>
        </p:nvSpPr>
        <p:spPr>
          <a:xfrm>
            <a:off x="1647994" y="6693423"/>
            <a:ext cx="4820580" cy="12311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1B1D36"/>
              </a:buClr>
              <a:buSzPts val="800"/>
              <a:buFont typeface="Arial"/>
              <a:buNone/>
            </a:pPr>
            <a:r>
              <a:rPr lang="en-US" sz="800" b="0" i="1" u="none" strike="noStrike" cap="none">
                <a:solidFill>
                  <a:srgbClr val="1B1D36"/>
                </a:solidFill>
                <a:latin typeface="Arial"/>
                <a:ea typeface="Arial"/>
                <a:cs typeface="Arial"/>
                <a:sym typeface="Arial"/>
              </a:rPr>
              <a:t>Note: Availability of certain features differ between Org for VM Apps and Org for All Apps experience</a:t>
            </a:r>
            <a:endParaRPr/>
          </a:p>
        </p:txBody>
      </p:sp>
      <p:grpSp>
        <p:nvGrpSpPr>
          <p:cNvPr id="7256" name="Google Shape;7256;p52"/>
          <p:cNvGrpSpPr/>
          <p:nvPr/>
        </p:nvGrpSpPr>
        <p:grpSpPr>
          <a:xfrm>
            <a:off x="7958302" y="3179946"/>
            <a:ext cx="1051500" cy="868800"/>
            <a:chOff x="8262607" y="3195258"/>
            <a:chExt cx="1051500" cy="868800"/>
          </a:xfrm>
        </p:grpSpPr>
        <p:sp>
          <p:nvSpPr>
            <p:cNvPr id="7257" name="Google Shape;7257;p52"/>
            <p:cNvSpPr/>
            <p:nvPr/>
          </p:nvSpPr>
          <p:spPr>
            <a:xfrm>
              <a:off x="8262607" y="3195258"/>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ctr" rtl="0">
                <a:lnSpc>
                  <a:spcPct val="8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58" name="Google Shape;7258;p52"/>
            <p:cNvSpPr txBox="1"/>
            <p:nvPr/>
          </p:nvSpPr>
          <p:spPr>
            <a:xfrm>
              <a:off x="8307157" y="3261670"/>
              <a:ext cx="962400" cy="161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Certificate Management</a:t>
              </a:r>
              <a:endParaRPr/>
            </a:p>
          </p:txBody>
        </p:sp>
        <p:pic>
          <p:nvPicPr>
            <p:cNvPr id="7259" name="Google Shape;7259;p52"/>
            <p:cNvPicPr preferRelativeResize="0"/>
            <p:nvPr/>
          </p:nvPicPr>
          <p:blipFill rotWithShape="1">
            <a:blip r:embed="rId9">
              <a:alphaModFix/>
            </a:blip>
            <a:srcRect r="51238"/>
            <a:stretch/>
          </p:blipFill>
          <p:spPr>
            <a:xfrm>
              <a:off x="8562858" y="3539073"/>
              <a:ext cx="450998" cy="457200"/>
            </a:xfrm>
            <a:prstGeom prst="rect">
              <a:avLst/>
            </a:prstGeom>
            <a:noFill/>
            <a:ln>
              <a:noFill/>
            </a:ln>
          </p:spPr>
        </p:pic>
      </p:grpSp>
      <p:grpSp>
        <p:nvGrpSpPr>
          <p:cNvPr id="7260" name="Google Shape;7260;p52"/>
          <p:cNvGrpSpPr/>
          <p:nvPr/>
        </p:nvGrpSpPr>
        <p:grpSpPr>
          <a:xfrm>
            <a:off x="9051005" y="3179946"/>
            <a:ext cx="1051500" cy="868800"/>
            <a:chOff x="9355310" y="3195189"/>
            <a:chExt cx="1051500" cy="868800"/>
          </a:xfrm>
        </p:grpSpPr>
        <p:sp>
          <p:nvSpPr>
            <p:cNvPr id="7261" name="Google Shape;7261;p52"/>
            <p:cNvSpPr/>
            <p:nvPr/>
          </p:nvSpPr>
          <p:spPr>
            <a:xfrm>
              <a:off x="9355310" y="3195189"/>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62" name="Google Shape;7262;p52"/>
            <p:cNvSpPr txBox="1"/>
            <p:nvPr/>
          </p:nvSpPr>
          <p:spPr>
            <a:xfrm>
              <a:off x="9399860" y="3283997"/>
              <a:ext cx="962400" cy="161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Service Mesh</a:t>
              </a:r>
              <a:endParaRPr/>
            </a:p>
          </p:txBody>
        </p:sp>
        <p:pic>
          <p:nvPicPr>
            <p:cNvPr id="7263" name="Google Shape;7263;p52" descr="istio Logo"/>
            <p:cNvPicPr preferRelativeResize="0"/>
            <p:nvPr/>
          </p:nvPicPr>
          <p:blipFill rotWithShape="1">
            <a:blip r:embed="rId10">
              <a:alphaModFix/>
            </a:blip>
            <a:srcRect/>
            <a:stretch/>
          </p:blipFill>
          <p:spPr>
            <a:xfrm>
              <a:off x="9593328" y="3439874"/>
              <a:ext cx="575464" cy="575464"/>
            </a:xfrm>
            <a:prstGeom prst="rect">
              <a:avLst/>
            </a:prstGeom>
            <a:noFill/>
            <a:ln>
              <a:noFill/>
            </a:ln>
          </p:spPr>
        </p:pic>
      </p:grpSp>
      <p:grpSp>
        <p:nvGrpSpPr>
          <p:cNvPr id="7264" name="Google Shape;7264;p52"/>
          <p:cNvGrpSpPr/>
          <p:nvPr/>
        </p:nvGrpSpPr>
        <p:grpSpPr>
          <a:xfrm>
            <a:off x="4292190" y="4082795"/>
            <a:ext cx="1051619" cy="864396"/>
            <a:chOff x="7682466" y="3571756"/>
            <a:chExt cx="1051619" cy="864396"/>
          </a:xfrm>
        </p:grpSpPr>
        <p:grpSp>
          <p:nvGrpSpPr>
            <p:cNvPr id="7265" name="Google Shape;7265;p52"/>
            <p:cNvGrpSpPr/>
            <p:nvPr/>
          </p:nvGrpSpPr>
          <p:grpSpPr>
            <a:xfrm>
              <a:off x="7682466" y="3571756"/>
              <a:ext cx="1051619" cy="864396"/>
              <a:chOff x="8393511" y="3307853"/>
              <a:chExt cx="1311900" cy="1020900"/>
            </a:xfrm>
          </p:grpSpPr>
          <p:sp>
            <p:nvSpPr>
              <p:cNvPr id="7266" name="Google Shape;7266;p52"/>
              <p:cNvSpPr/>
              <p:nvPr/>
            </p:nvSpPr>
            <p:spPr>
              <a:xfrm>
                <a:off x="8393511"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7267" name="Google Shape;7267;p52"/>
              <p:cNvSpPr/>
              <p:nvPr/>
            </p:nvSpPr>
            <p:spPr>
              <a:xfrm>
                <a:off x="8405214" y="3337362"/>
                <a:ext cx="1263000" cy="401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Velero</a:t>
                </a:r>
                <a:endParaRPr sz="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Backup Service</a:t>
                </a:r>
                <a:endParaRPr sz="1400" b="0" i="0" u="none" strike="noStrike" cap="none">
                  <a:solidFill>
                    <a:srgbClr val="000000"/>
                  </a:solidFill>
                  <a:latin typeface="Arial"/>
                  <a:ea typeface="Arial"/>
                  <a:cs typeface="Arial"/>
                  <a:sym typeface="Arial"/>
                </a:endParaRPr>
              </a:p>
            </p:txBody>
          </p:sp>
        </p:grpSp>
        <p:grpSp>
          <p:nvGrpSpPr>
            <p:cNvPr id="7268" name="Google Shape;7268;p52" descr="Application"/>
            <p:cNvGrpSpPr/>
            <p:nvPr/>
          </p:nvGrpSpPr>
          <p:grpSpPr>
            <a:xfrm>
              <a:off x="7817085" y="4000259"/>
              <a:ext cx="310692" cy="339773"/>
              <a:chOff x="530908" y="707686"/>
              <a:chExt cx="600836" cy="600837"/>
            </a:xfrm>
          </p:grpSpPr>
          <p:sp>
            <p:nvSpPr>
              <p:cNvPr id="7269" name="Google Shape;7269;p52"/>
              <p:cNvSpPr/>
              <p:nvPr/>
            </p:nvSpPr>
            <p:spPr>
              <a:xfrm>
                <a:off x="634568" y="934169"/>
                <a:ext cx="126808" cy="126049"/>
              </a:xfrm>
              <a:custGeom>
                <a:avLst/>
                <a:gdLst/>
                <a:ahLst/>
                <a:cxnLst/>
                <a:rect l="l" t="t" r="r" b="b"/>
                <a:pathLst>
                  <a:path w="126808" h="126049" extrusionOk="0">
                    <a:moveTo>
                      <a:pt x="98348" y="97462"/>
                    </a:moveTo>
                    <a:lnTo>
                      <a:pt x="28271" y="97462"/>
                    </a:lnTo>
                    <a:lnTo>
                      <a:pt x="15622" y="126049"/>
                    </a:lnTo>
                    <a:lnTo>
                      <a:pt x="0" y="126049"/>
                    </a:lnTo>
                    <a:lnTo>
                      <a:pt x="55593" y="0"/>
                    </a:lnTo>
                    <a:lnTo>
                      <a:pt x="71215" y="0"/>
                    </a:lnTo>
                    <a:lnTo>
                      <a:pt x="126808" y="126049"/>
                    </a:lnTo>
                    <a:lnTo>
                      <a:pt x="110997" y="126049"/>
                    </a:lnTo>
                    <a:close/>
                    <a:moveTo>
                      <a:pt x="92466" y="83864"/>
                    </a:moveTo>
                    <a:lnTo>
                      <a:pt x="63499" y="17646"/>
                    </a:lnTo>
                    <a:lnTo>
                      <a:pt x="34153" y="83864"/>
                    </a:lnTo>
                    <a:close/>
                  </a:path>
                </a:pathLst>
              </a:custGeom>
              <a:solidFill>
                <a:schemeClr val="lt1"/>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rtl="0">
                  <a:lnSpc>
                    <a:spcPct val="100000"/>
                  </a:lnSpc>
                  <a:spcBef>
                    <a:spcPts val="0"/>
                  </a:spcBef>
                  <a:spcAft>
                    <a:spcPts val="0"/>
                  </a:spcAft>
                  <a:buClr>
                    <a:srgbClr val="000000"/>
                  </a:buClr>
                  <a:buSzPts val="1700"/>
                  <a:buFont typeface="Arial"/>
                  <a:buNone/>
                </a:pPr>
                <a:endParaRPr sz="1700" b="0" i="0" u="none" strike="noStrike" cap="none">
                  <a:solidFill>
                    <a:srgbClr val="005C8A"/>
                  </a:solidFill>
                  <a:latin typeface="Arial"/>
                  <a:ea typeface="Arial"/>
                  <a:cs typeface="Arial"/>
                  <a:sym typeface="Arial"/>
                </a:endParaRPr>
              </a:p>
            </p:txBody>
          </p:sp>
          <p:sp>
            <p:nvSpPr>
              <p:cNvPr id="7270" name="Google Shape;7270;p52"/>
              <p:cNvSpPr/>
              <p:nvPr/>
            </p:nvSpPr>
            <p:spPr>
              <a:xfrm>
                <a:off x="790976"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636" y="66914"/>
                    </a:moveTo>
                    <a:cubicBezTo>
                      <a:pt x="69128" y="66914"/>
                      <a:pt x="83105" y="56985"/>
                      <a:pt x="83105" y="40161"/>
                    </a:cubicBezTo>
                    <a:cubicBezTo>
                      <a:pt x="83105" y="23338"/>
                      <a:pt x="69128" y="13345"/>
                      <a:pt x="48636" y="13345"/>
                    </a:cubicBezTo>
                    <a:lnTo>
                      <a:pt x="14294" y="13345"/>
                    </a:lnTo>
                    <a:lnTo>
                      <a:pt x="14294" y="66914"/>
                    </a:lnTo>
                    <a:close/>
                  </a:path>
                </a:pathLst>
              </a:custGeom>
              <a:solidFill>
                <a:schemeClr val="lt1"/>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rtl="0">
                  <a:lnSpc>
                    <a:spcPct val="100000"/>
                  </a:lnSpc>
                  <a:spcBef>
                    <a:spcPts val="0"/>
                  </a:spcBef>
                  <a:spcAft>
                    <a:spcPts val="0"/>
                  </a:spcAft>
                  <a:buClr>
                    <a:srgbClr val="000000"/>
                  </a:buClr>
                  <a:buSzPts val="1700"/>
                  <a:buFont typeface="Arial"/>
                  <a:buNone/>
                </a:pPr>
                <a:endParaRPr sz="1700" b="0" i="0" u="none" strike="noStrike" cap="none">
                  <a:solidFill>
                    <a:srgbClr val="717074"/>
                  </a:solidFill>
                  <a:latin typeface="Arial"/>
                  <a:ea typeface="Arial"/>
                  <a:cs typeface="Arial"/>
                  <a:sym typeface="Arial"/>
                </a:endParaRPr>
              </a:p>
            </p:txBody>
          </p:sp>
          <p:sp>
            <p:nvSpPr>
              <p:cNvPr id="7271" name="Google Shape;7271;p52"/>
              <p:cNvSpPr/>
              <p:nvPr/>
            </p:nvSpPr>
            <p:spPr>
              <a:xfrm>
                <a:off x="919302"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573" y="66914"/>
                    </a:moveTo>
                    <a:cubicBezTo>
                      <a:pt x="69128" y="66914"/>
                      <a:pt x="83105" y="56985"/>
                      <a:pt x="83105" y="40161"/>
                    </a:cubicBezTo>
                    <a:cubicBezTo>
                      <a:pt x="83105" y="23338"/>
                      <a:pt x="69128" y="13345"/>
                      <a:pt x="48573" y="13345"/>
                    </a:cubicBezTo>
                    <a:lnTo>
                      <a:pt x="14294" y="13345"/>
                    </a:lnTo>
                    <a:lnTo>
                      <a:pt x="14294" y="66914"/>
                    </a:lnTo>
                    <a:close/>
                  </a:path>
                </a:pathLst>
              </a:custGeom>
              <a:solidFill>
                <a:schemeClr val="lt1"/>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rtl="0">
                  <a:lnSpc>
                    <a:spcPct val="100000"/>
                  </a:lnSpc>
                  <a:spcBef>
                    <a:spcPts val="0"/>
                  </a:spcBef>
                  <a:spcAft>
                    <a:spcPts val="0"/>
                  </a:spcAft>
                  <a:buClr>
                    <a:srgbClr val="000000"/>
                  </a:buClr>
                  <a:buSzPts val="1700"/>
                  <a:buFont typeface="Arial"/>
                  <a:buNone/>
                </a:pPr>
                <a:endParaRPr sz="1700" b="0" i="0" u="none" strike="noStrike" cap="none">
                  <a:solidFill>
                    <a:srgbClr val="717074"/>
                  </a:solidFill>
                  <a:latin typeface="Arial"/>
                  <a:ea typeface="Arial"/>
                  <a:cs typeface="Arial"/>
                  <a:sym typeface="Arial"/>
                </a:endParaRPr>
              </a:p>
            </p:txBody>
          </p:sp>
          <p:sp>
            <p:nvSpPr>
              <p:cNvPr id="7272" name="Google Shape;7272;p52"/>
              <p:cNvSpPr/>
              <p:nvPr/>
            </p:nvSpPr>
            <p:spPr>
              <a:xfrm>
                <a:off x="530908" y="707686"/>
                <a:ext cx="600836" cy="600837"/>
              </a:xfrm>
              <a:custGeom>
                <a:avLst/>
                <a:gdLst/>
                <a:ahLst/>
                <a:cxnLst/>
                <a:rect l="l" t="t" r="r" b="b"/>
                <a:pathLst>
                  <a:path w="600836" h="600837" extrusionOk="0">
                    <a:moveTo>
                      <a:pt x="554920" y="15812"/>
                    </a:moveTo>
                    <a:cubicBezTo>
                      <a:pt x="571523" y="15812"/>
                      <a:pt x="584988" y="29251"/>
                      <a:pt x="585026" y="45853"/>
                    </a:cubicBezTo>
                    <a:lnTo>
                      <a:pt x="585026" y="554920"/>
                    </a:lnTo>
                    <a:cubicBezTo>
                      <a:pt x="585026" y="571548"/>
                      <a:pt x="571548" y="585026"/>
                      <a:pt x="554920" y="585026"/>
                    </a:cubicBezTo>
                    <a:lnTo>
                      <a:pt x="45853" y="585026"/>
                    </a:lnTo>
                    <a:cubicBezTo>
                      <a:pt x="29251" y="584988"/>
                      <a:pt x="15812" y="571523"/>
                      <a:pt x="15812" y="554920"/>
                    </a:cubicBezTo>
                    <a:lnTo>
                      <a:pt x="15812" y="45853"/>
                    </a:lnTo>
                    <a:cubicBezTo>
                      <a:pt x="15812" y="29261"/>
                      <a:pt x="29261" y="15812"/>
                      <a:pt x="45853" y="15812"/>
                    </a:cubicBezTo>
                    <a:lnTo>
                      <a:pt x="554920" y="15812"/>
                    </a:lnTo>
                    <a:moveTo>
                      <a:pt x="554920" y="0"/>
                    </a:moveTo>
                    <a:lnTo>
                      <a:pt x="45853" y="0"/>
                    </a:lnTo>
                    <a:cubicBezTo>
                      <a:pt x="20544" y="35"/>
                      <a:pt x="35" y="20544"/>
                      <a:pt x="0" y="45853"/>
                    </a:cubicBezTo>
                    <a:lnTo>
                      <a:pt x="0" y="554920"/>
                    </a:lnTo>
                    <a:cubicBezTo>
                      <a:pt x="0" y="580257"/>
                      <a:pt x="20519" y="600799"/>
                      <a:pt x="45853" y="600837"/>
                    </a:cubicBezTo>
                    <a:lnTo>
                      <a:pt x="554920" y="600837"/>
                    </a:lnTo>
                    <a:cubicBezTo>
                      <a:pt x="580282" y="600837"/>
                      <a:pt x="600837" y="580282"/>
                      <a:pt x="600837" y="554920"/>
                    </a:cubicBezTo>
                    <a:lnTo>
                      <a:pt x="600837" y="45853"/>
                    </a:lnTo>
                    <a:cubicBezTo>
                      <a:pt x="600799" y="20519"/>
                      <a:pt x="580257" y="0"/>
                      <a:pt x="554920" y="0"/>
                    </a:cubicBezTo>
                    <a:close/>
                  </a:path>
                </a:pathLst>
              </a:custGeom>
              <a:solidFill>
                <a:schemeClr val="lt1"/>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rtl="0">
                  <a:lnSpc>
                    <a:spcPct val="100000"/>
                  </a:lnSpc>
                  <a:spcBef>
                    <a:spcPts val="0"/>
                  </a:spcBef>
                  <a:spcAft>
                    <a:spcPts val="0"/>
                  </a:spcAft>
                  <a:buClr>
                    <a:srgbClr val="000000"/>
                  </a:buClr>
                  <a:buSzPts val="1700"/>
                  <a:buFont typeface="Arial"/>
                  <a:buNone/>
                </a:pPr>
                <a:endParaRPr sz="1700" b="0" i="0" u="none" strike="noStrike" cap="none">
                  <a:solidFill>
                    <a:srgbClr val="717074"/>
                  </a:solidFill>
                  <a:latin typeface="Arial"/>
                  <a:ea typeface="Arial"/>
                  <a:cs typeface="Arial"/>
                  <a:sym typeface="Arial"/>
                </a:endParaRPr>
              </a:p>
            </p:txBody>
          </p:sp>
        </p:grpSp>
        <p:pic>
          <p:nvPicPr>
            <p:cNvPr id="7273" name="Google Shape;7273;p52" descr="vSAN Database&#10;"/>
            <p:cNvPicPr preferRelativeResize="0"/>
            <p:nvPr/>
          </p:nvPicPr>
          <p:blipFill rotWithShape="1">
            <a:blip r:embed="rId5">
              <a:alphaModFix/>
            </a:blip>
            <a:srcRect/>
            <a:stretch/>
          </p:blipFill>
          <p:spPr>
            <a:xfrm>
              <a:off x="8329876" y="4022214"/>
              <a:ext cx="339877" cy="339792"/>
            </a:xfrm>
            <a:prstGeom prst="rect">
              <a:avLst/>
            </a:prstGeom>
            <a:noFill/>
            <a:ln>
              <a:noFill/>
            </a:ln>
          </p:spPr>
        </p:pic>
        <p:cxnSp>
          <p:nvCxnSpPr>
            <p:cNvPr id="7274" name="Google Shape;7274;p52"/>
            <p:cNvCxnSpPr/>
            <p:nvPr/>
          </p:nvCxnSpPr>
          <p:spPr>
            <a:xfrm>
              <a:off x="8176652" y="4173396"/>
              <a:ext cx="200100" cy="0"/>
            </a:xfrm>
            <a:prstGeom prst="straightConnector1">
              <a:avLst/>
            </a:prstGeom>
            <a:noFill/>
            <a:ln w="9525" cap="flat" cmpd="sng">
              <a:solidFill>
                <a:srgbClr val="0193C2"/>
              </a:solidFill>
              <a:prstDash val="solid"/>
              <a:round/>
              <a:headEnd type="none" w="sm" len="sm"/>
              <a:tailEnd type="triangle" w="med" len="med"/>
            </a:ln>
          </p:spPr>
        </p:cxnSp>
      </p:grpSp>
      <p:grpSp>
        <p:nvGrpSpPr>
          <p:cNvPr id="7275" name="Google Shape;7275;p52"/>
          <p:cNvGrpSpPr/>
          <p:nvPr/>
        </p:nvGrpSpPr>
        <p:grpSpPr>
          <a:xfrm>
            <a:off x="7969135" y="4082797"/>
            <a:ext cx="1051619" cy="864396"/>
            <a:chOff x="7843632" y="4088853"/>
            <a:chExt cx="1051619" cy="864396"/>
          </a:xfrm>
        </p:grpSpPr>
        <p:grpSp>
          <p:nvGrpSpPr>
            <p:cNvPr id="7276" name="Google Shape;7276;p52"/>
            <p:cNvGrpSpPr/>
            <p:nvPr/>
          </p:nvGrpSpPr>
          <p:grpSpPr>
            <a:xfrm>
              <a:off x="7843632" y="4088853"/>
              <a:ext cx="1051619" cy="864396"/>
              <a:chOff x="8393511" y="3307852"/>
              <a:chExt cx="1311900" cy="1020899"/>
            </a:xfrm>
          </p:grpSpPr>
          <p:sp>
            <p:nvSpPr>
              <p:cNvPr id="7277" name="Google Shape;7277;p52"/>
              <p:cNvSpPr/>
              <p:nvPr/>
            </p:nvSpPr>
            <p:spPr>
              <a:xfrm>
                <a:off x="8393511" y="3307852"/>
                <a:ext cx="1311900" cy="1020899"/>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7278" name="Google Shape;7278;p52"/>
              <p:cNvSpPr/>
              <p:nvPr/>
            </p:nvSpPr>
            <p:spPr>
              <a:xfrm>
                <a:off x="8405214" y="3310894"/>
                <a:ext cx="1263000" cy="401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Secret Store</a:t>
                </a:r>
                <a:endParaRPr sz="1400" b="0" i="0" u="none" strike="noStrike" cap="none">
                  <a:solidFill>
                    <a:srgbClr val="000000"/>
                  </a:solidFill>
                  <a:latin typeface="Arial"/>
                  <a:ea typeface="Arial"/>
                  <a:cs typeface="Arial"/>
                  <a:sym typeface="Arial"/>
                </a:endParaRPr>
              </a:p>
            </p:txBody>
          </p:sp>
        </p:grpSp>
        <p:pic>
          <p:nvPicPr>
            <p:cNvPr id="7279" name="Google Shape;7279;p52"/>
            <p:cNvPicPr preferRelativeResize="0"/>
            <p:nvPr/>
          </p:nvPicPr>
          <p:blipFill rotWithShape="1">
            <a:blip r:embed="rId11">
              <a:alphaModFix/>
            </a:blip>
            <a:srcRect/>
            <a:stretch/>
          </p:blipFill>
          <p:spPr>
            <a:xfrm>
              <a:off x="8126520" y="4358630"/>
              <a:ext cx="485843" cy="457264"/>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84"/>
        <p:cNvGrpSpPr/>
        <p:nvPr/>
      </p:nvGrpSpPr>
      <p:grpSpPr>
        <a:xfrm>
          <a:off x="0" y="0"/>
          <a:ext cx="0" cy="0"/>
          <a:chOff x="0" y="0"/>
          <a:chExt cx="0" cy="0"/>
        </a:xfrm>
      </p:grpSpPr>
      <p:sp>
        <p:nvSpPr>
          <p:cNvPr id="7285" name="Google Shape;7285;p53"/>
          <p:cNvSpPr/>
          <p:nvPr/>
        </p:nvSpPr>
        <p:spPr>
          <a:xfrm>
            <a:off x="579658" y="1621839"/>
            <a:ext cx="7386610" cy="4494996"/>
          </a:xfrm>
          <a:prstGeom prst="roundRect">
            <a:avLst>
              <a:gd name="adj" fmla="val 2525"/>
            </a:avLst>
          </a:prstGeom>
          <a:solidFill>
            <a:schemeClr val="lt1"/>
          </a:solidFill>
          <a:ln w="9525" cap="flat" cmpd="sng">
            <a:solidFill>
              <a:srgbClr val="797979"/>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FFFFFF"/>
              </a:solidFill>
              <a:latin typeface="Arial"/>
              <a:ea typeface="Arial"/>
              <a:cs typeface="Arial"/>
              <a:sym typeface="Arial"/>
            </a:endParaRPr>
          </a:p>
        </p:txBody>
      </p:sp>
      <p:sp>
        <p:nvSpPr>
          <p:cNvPr id="7286" name="Google Shape;7286;p5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Modern Service Provider Experience</a:t>
            </a:r>
            <a:endParaRPr/>
          </a:p>
        </p:txBody>
      </p:sp>
      <p:sp>
        <p:nvSpPr>
          <p:cNvPr id="7287" name="Google Shape;7287;p5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VCF Automation Tenant Management</a:t>
            </a:r>
            <a:endParaRPr/>
          </a:p>
        </p:txBody>
      </p:sp>
      <p:sp>
        <p:nvSpPr>
          <p:cNvPr id="7288" name="Google Shape;7288;p53"/>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Self-service consumption for developers and app owners</a:t>
            </a:r>
            <a:endParaRPr dirty="0"/>
          </a:p>
          <a:p>
            <a:pPr marL="0" lvl="0" indent="0" algn="l" rtl="0">
              <a:lnSpc>
                <a:spcPct val="100000"/>
              </a:lnSpc>
              <a:spcBef>
                <a:spcPts val="1200"/>
              </a:spcBef>
              <a:spcAft>
                <a:spcPts val="0"/>
              </a:spcAft>
              <a:buSzPts val="1440"/>
              <a:buNone/>
            </a:pPr>
            <a:r>
              <a:rPr lang="en-US" dirty="0"/>
              <a:t>Secure multi-tenancy</a:t>
            </a:r>
            <a:endParaRPr dirty="0"/>
          </a:p>
          <a:p>
            <a:pPr marL="0" lvl="0" indent="0" algn="l" rtl="0">
              <a:lnSpc>
                <a:spcPct val="100000"/>
              </a:lnSpc>
              <a:spcBef>
                <a:spcPts val="1200"/>
              </a:spcBef>
              <a:spcAft>
                <a:spcPts val="0"/>
              </a:spcAft>
              <a:buSzPts val="1440"/>
              <a:buNone/>
            </a:pPr>
            <a:r>
              <a:rPr lang="en-US" dirty="0"/>
              <a:t>Centralized governance for the IT infrastructure team</a:t>
            </a:r>
            <a:endParaRPr dirty="0"/>
          </a:p>
          <a:p>
            <a:pPr marL="0" lvl="0" indent="0" algn="l" rtl="0">
              <a:lnSpc>
                <a:spcPct val="100000"/>
              </a:lnSpc>
              <a:spcBef>
                <a:spcPts val="1200"/>
              </a:spcBef>
              <a:spcAft>
                <a:spcPts val="0"/>
              </a:spcAft>
              <a:buSzPts val="1440"/>
              <a:buNone/>
            </a:pPr>
            <a:r>
              <a:rPr lang="en-US" dirty="0"/>
              <a:t>Unified platform for VMs and containers</a:t>
            </a:r>
            <a:endParaRPr dirty="0"/>
          </a:p>
          <a:p>
            <a:pPr marL="0" lvl="0" indent="0" algn="l" rtl="0">
              <a:lnSpc>
                <a:spcPct val="100000"/>
              </a:lnSpc>
              <a:spcBef>
                <a:spcPts val="1200"/>
              </a:spcBef>
              <a:spcAft>
                <a:spcPts val="0"/>
              </a:spcAft>
              <a:buSzPts val="1440"/>
              <a:buNone/>
            </a:pPr>
            <a:r>
              <a:rPr lang="en-US" dirty="0"/>
              <a:t>Flexible resource allocation</a:t>
            </a:r>
            <a:endParaRPr dirty="0"/>
          </a:p>
          <a:p>
            <a:pPr marL="0" lvl="0" indent="0" algn="l" rtl="0">
              <a:lnSpc>
                <a:spcPct val="100000"/>
              </a:lnSpc>
              <a:spcBef>
                <a:spcPts val="1200"/>
              </a:spcBef>
              <a:spcAft>
                <a:spcPts val="0"/>
              </a:spcAft>
              <a:buSzPts val="1440"/>
              <a:buNone/>
            </a:pPr>
            <a:r>
              <a:rPr lang="en-US" dirty="0"/>
              <a:t>Cloud-like networking</a:t>
            </a:r>
            <a:endParaRPr dirty="0"/>
          </a:p>
        </p:txBody>
      </p:sp>
      <p:grpSp>
        <p:nvGrpSpPr>
          <p:cNvPr id="7289" name="Google Shape;7289;p53"/>
          <p:cNvGrpSpPr/>
          <p:nvPr/>
        </p:nvGrpSpPr>
        <p:grpSpPr>
          <a:xfrm>
            <a:off x="1937697" y="4132253"/>
            <a:ext cx="5694582" cy="358940"/>
            <a:chOff x="1936613" y="3668487"/>
            <a:chExt cx="5696065" cy="359033"/>
          </a:xfrm>
        </p:grpSpPr>
        <p:sp>
          <p:nvSpPr>
            <p:cNvPr id="7290" name="Google Shape;7290;p53"/>
            <p:cNvSpPr/>
            <p:nvPr/>
          </p:nvSpPr>
          <p:spPr>
            <a:xfrm>
              <a:off x="1936613" y="3670072"/>
              <a:ext cx="2724912" cy="357448"/>
            </a:xfrm>
            <a:prstGeom prst="rect">
              <a:avLst/>
            </a:prstGeom>
            <a:solidFill>
              <a:schemeClr val="accent4"/>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FFFFFF"/>
                  </a:solidFill>
                  <a:latin typeface="Arial"/>
                  <a:ea typeface="Arial"/>
                  <a:cs typeface="Arial"/>
                  <a:sym typeface="Arial"/>
                </a:rPr>
                <a:t>Region</a:t>
              </a:r>
              <a:endParaRPr sz="1600" b="1" i="0" u="none" strike="noStrike" cap="none">
                <a:solidFill>
                  <a:srgbClr val="000000"/>
                </a:solidFill>
                <a:latin typeface="Arial"/>
                <a:ea typeface="Arial"/>
                <a:cs typeface="Arial"/>
                <a:sym typeface="Arial"/>
              </a:endParaRPr>
            </a:p>
          </p:txBody>
        </p:sp>
        <p:sp>
          <p:nvSpPr>
            <p:cNvPr id="7291" name="Google Shape;7291;p53"/>
            <p:cNvSpPr/>
            <p:nvPr/>
          </p:nvSpPr>
          <p:spPr>
            <a:xfrm>
              <a:off x="4741618" y="3668487"/>
              <a:ext cx="2891060" cy="357448"/>
            </a:xfrm>
            <a:prstGeom prst="rect">
              <a:avLst/>
            </a:prstGeom>
            <a:solidFill>
              <a:schemeClr val="accent4"/>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FFFFFF"/>
                  </a:solidFill>
                  <a:latin typeface="Arial"/>
                  <a:ea typeface="Arial"/>
                  <a:cs typeface="Arial"/>
                  <a:sym typeface="Arial"/>
                </a:rPr>
                <a:t>Region</a:t>
              </a:r>
              <a:endParaRPr sz="1600" b="1" i="0" u="none" strike="noStrike" cap="none">
                <a:solidFill>
                  <a:srgbClr val="000000"/>
                </a:solidFill>
                <a:latin typeface="Arial"/>
                <a:ea typeface="Arial"/>
                <a:cs typeface="Arial"/>
                <a:sym typeface="Arial"/>
              </a:endParaRPr>
            </a:p>
          </p:txBody>
        </p:sp>
      </p:grpSp>
      <p:grpSp>
        <p:nvGrpSpPr>
          <p:cNvPr id="7292" name="Google Shape;7292;p53"/>
          <p:cNvGrpSpPr/>
          <p:nvPr/>
        </p:nvGrpSpPr>
        <p:grpSpPr>
          <a:xfrm>
            <a:off x="1935799" y="3671467"/>
            <a:ext cx="5700181" cy="376462"/>
            <a:chOff x="1934716" y="3207582"/>
            <a:chExt cx="5701666" cy="376560"/>
          </a:xfrm>
        </p:grpSpPr>
        <p:sp>
          <p:nvSpPr>
            <p:cNvPr id="7293" name="Google Shape;7293;p53"/>
            <p:cNvSpPr/>
            <p:nvPr/>
          </p:nvSpPr>
          <p:spPr>
            <a:xfrm>
              <a:off x="1934716" y="3207582"/>
              <a:ext cx="2277869" cy="376559"/>
            </a:xfrm>
            <a:prstGeom prst="rect">
              <a:avLst/>
            </a:prstGeom>
            <a:solidFill>
              <a:schemeClr val="accent4"/>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FFFFFF"/>
                  </a:solidFill>
                  <a:latin typeface="Arial"/>
                  <a:ea typeface="Arial"/>
                  <a:cs typeface="Arial"/>
                  <a:sym typeface="Arial"/>
                </a:rPr>
                <a:t>Organization</a:t>
              </a:r>
              <a:endParaRPr sz="1600" b="1" i="0" u="none" strike="noStrike" cap="none">
                <a:solidFill>
                  <a:srgbClr val="000000"/>
                </a:solidFill>
                <a:latin typeface="Arial"/>
                <a:ea typeface="Arial"/>
                <a:cs typeface="Arial"/>
                <a:sym typeface="Arial"/>
              </a:endParaRPr>
            </a:p>
          </p:txBody>
        </p:sp>
        <p:sp>
          <p:nvSpPr>
            <p:cNvPr id="7294" name="Google Shape;7294;p53"/>
            <p:cNvSpPr/>
            <p:nvPr/>
          </p:nvSpPr>
          <p:spPr>
            <a:xfrm>
              <a:off x="4285753" y="3207584"/>
              <a:ext cx="3350629" cy="376558"/>
            </a:xfrm>
            <a:prstGeom prst="rect">
              <a:avLst/>
            </a:prstGeom>
            <a:solidFill>
              <a:schemeClr val="accent4"/>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FFFFFF"/>
                  </a:solidFill>
                  <a:latin typeface="Arial"/>
                  <a:ea typeface="Arial"/>
                  <a:cs typeface="Arial"/>
                  <a:sym typeface="Arial"/>
                </a:rPr>
                <a:t>Organization</a:t>
              </a:r>
              <a:endParaRPr sz="1600" b="1" i="0" u="none" strike="noStrike" cap="none">
                <a:solidFill>
                  <a:srgbClr val="000000"/>
                </a:solidFill>
                <a:latin typeface="Arial"/>
                <a:ea typeface="Arial"/>
                <a:cs typeface="Arial"/>
                <a:sym typeface="Arial"/>
              </a:endParaRPr>
            </a:p>
          </p:txBody>
        </p:sp>
      </p:grpSp>
      <p:grpSp>
        <p:nvGrpSpPr>
          <p:cNvPr id="7295" name="Google Shape;7295;p53"/>
          <p:cNvGrpSpPr/>
          <p:nvPr/>
        </p:nvGrpSpPr>
        <p:grpSpPr>
          <a:xfrm>
            <a:off x="640469" y="4047993"/>
            <a:ext cx="6999771" cy="1980132"/>
            <a:chOff x="639048" y="3584206"/>
            <a:chExt cx="7001594" cy="1980648"/>
          </a:xfrm>
        </p:grpSpPr>
        <p:grpSp>
          <p:nvGrpSpPr>
            <p:cNvPr id="7296" name="Google Shape;7296;p53"/>
            <p:cNvGrpSpPr/>
            <p:nvPr/>
          </p:nvGrpSpPr>
          <p:grpSpPr>
            <a:xfrm>
              <a:off x="1934715" y="4552921"/>
              <a:ext cx="5705927" cy="1011933"/>
              <a:chOff x="1934715" y="4552921"/>
              <a:chExt cx="5705927" cy="1011933"/>
            </a:xfrm>
          </p:grpSpPr>
          <p:sp>
            <p:nvSpPr>
              <p:cNvPr id="7297" name="Google Shape;7297;p53"/>
              <p:cNvSpPr/>
              <p:nvPr/>
            </p:nvSpPr>
            <p:spPr>
              <a:xfrm>
                <a:off x="1934715" y="5336254"/>
                <a:ext cx="2704794" cy="228600"/>
              </a:xfrm>
              <a:prstGeom prst="rect">
                <a:avLst/>
              </a:prstGeom>
              <a:solidFill>
                <a:schemeClr val="accent4"/>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200" b="0" i="0" u="none" strike="noStrike" cap="none">
                    <a:solidFill>
                      <a:srgbClr val="FFFFFF"/>
                    </a:solidFill>
                    <a:latin typeface="Arial"/>
                    <a:ea typeface="Arial"/>
                    <a:cs typeface="Arial"/>
                    <a:sym typeface="Arial"/>
                  </a:rPr>
                  <a:t>vCenter</a:t>
                </a:r>
                <a:endParaRPr sz="1400" b="0" i="0" u="none" strike="noStrike" cap="none">
                  <a:solidFill>
                    <a:srgbClr val="000000"/>
                  </a:solidFill>
                  <a:latin typeface="Arial"/>
                  <a:ea typeface="Arial"/>
                  <a:cs typeface="Arial"/>
                  <a:sym typeface="Arial"/>
                </a:endParaRPr>
              </a:p>
            </p:txBody>
          </p:sp>
          <p:sp>
            <p:nvSpPr>
              <p:cNvPr id="7298" name="Google Shape;7298;p53"/>
              <p:cNvSpPr/>
              <p:nvPr/>
            </p:nvSpPr>
            <p:spPr>
              <a:xfrm>
                <a:off x="4741618" y="5336254"/>
                <a:ext cx="2899024" cy="228600"/>
              </a:xfrm>
              <a:prstGeom prst="rect">
                <a:avLst/>
              </a:prstGeom>
              <a:solidFill>
                <a:schemeClr val="accent4"/>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200" b="0" i="0" u="none" strike="noStrike" cap="none">
                    <a:solidFill>
                      <a:srgbClr val="FFFFFF"/>
                    </a:solidFill>
                    <a:latin typeface="Arial"/>
                    <a:ea typeface="Arial"/>
                    <a:cs typeface="Arial"/>
                    <a:sym typeface="Arial"/>
                  </a:rPr>
                  <a:t>vCenter</a:t>
                </a:r>
                <a:endParaRPr sz="1400" b="0" i="0" u="none" strike="noStrike" cap="none">
                  <a:solidFill>
                    <a:srgbClr val="000000"/>
                  </a:solidFill>
                  <a:latin typeface="Arial"/>
                  <a:ea typeface="Arial"/>
                  <a:cs typeface="Arial"/>
                  <a:sym typeface="Arial"/>
                </a:endParaRPr>
              </a:p>
            </p:txBody>
          </p:sp>
          <p:sp>
            <p:nvSpPr>
              <p:cNvPr id="7299" name="Google Shape;7299;p53"/>
              <p:cNvSpPr/>
              <p:nvPr/>
            </p:nvSpPr>
            <p:spPr>
              <a:xfrm>
                <a:off x="2053981" y="4552921"/>
                <a:ext cx="760621" cy="455468"/>
              </a:xfrm>
              <a:prstGeom prst="rect">
                <a:avLst/>
              </a:prstGeom>
              <a:solidFill>
                <a:schemeClr val="accent4"/>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vSphere Zone</a:t>
                </a:r>
                <a:endParaRPr sz="1400" b="0" i="0" u="none" strike="noStrike" cap="none">
                  <a:solidFill>
                    <a:srgbClr val="000000"/>
                  </a:solidFill>
                  <a:latin typeface="Arial"/>
                  <a:ea typeface="Arial"/>
                  <a:cs typeface="Arial"/>
                  <a:sym typeface="Arial"/>
                </a:endParaRPr>
              </a:p>
            </p:txBody>
          </p:sp>
          <p:sp>
            <p:nvSpPr>
              <p:cNvPr id="7300" name="Google Shape;7300;p53"/>
              <p:cNvSpPr/>
              <p:nvPr/>
            </p:nvSpPr>
            <p:spPr>
              <a:xfrm>
                <a:off x="2910126" y="4552921"/>
                <a:ext cx="760621" cy="455468"/>
              </a:xfrm>
              <a:prstGeom prst="rect">
                <a:avLst/>
              </a:prstGeom>
              <a:solidFill>
                <a:schemeClr val="accent4"/>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vSphere Zone</a:t>
                </a:r>
                <a:endParaRPr sz="1400" b="0" i="0" u="none" strike="noStrike" cap="none">
                  <a:solidFill>
                    <a:srgbClr val="000000"/>
                  </a:solidFill>
                  <a:latin typeface="Arial"/>
                  <a:ea typeface="Arial"/>
                  <a:cs typeface="Arial"/>
                  <a:sym typeface="Arial"/>
                </a:endParaRPr>
              </a:p>
            </p:txBody>
          </p:sp>
          <p:sp>
            <p:nvSpPr>
              <p:cNvPr id="7301" name="Google Shape;7301;p53"/>
              <p:cNvSpPr/>
              <p:nvPr/>
            </p:nvSpPr>
            <p:spPr>
              <a:xfrm>
                <a:off x="3766272" y="4552921"/>
                <a:ext cx="760621" cy="455468"/>
              </a:xfrm>
              <a:prstGeom prst="rect">
                <a:avLst/>
              </a:prstGeom>
              <a:solidFill>
                <a:schemeClr val="accent4"/>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vSphere Zone</a:t>
                </a:r>
                <a:endParaRPr sz="1400" b="0" i="0" u="none" strike="noStrike" cap="none">
                  <a:solidFill>
                    <a:srgbClr val="000000"/>
                  </a:solidFill>
                  <a:latin typeface="Arial"/>
                  <a:ea typeface="Arial"/>
                  <a:cs typeface="Arial"/>
                  <a:sym typeface="Arial"/>
                </a:endParaRPr>
              </a:p>
            </p:txBody>
          </p:sp>
          <p:sp>
            <p:nvSpPr>
              <p:cNvPr id="7302" name="Google Shape;7302;p53"/>
              <p:cNvSpPr/>
              <p:nvPr/>
            </p:nvSpPr>
            <p:spPr>
              <a:xfrm>
                <a:off x="2053981" y="5088335"/>
                <a:ext cx="760621" cy="162716"/>
              </a:xfrm>
              <a:prstGeom prst="rect">
                <a:avLst/>
              </a:prstGeom>
              <a:noFill/>
              <a:ln w="19050" cap="flat" cmpd="sng">
                <a:solidFill>
                  <a:schemeClr val="accent4"/>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61A60E"/>
                    </a:solidFill>
                    <a:latin typeface="Arial"/>
                    <a:ea typeface="Arial"/>
                    <a:cs typeface="Arial"/>
                    <a:sym typeface="Arial"/>
                  </a:rPr>
                  <a:t>Cluster</a:t>
                </a:r>
                <a:endParaRPr sz="1400" b="0" i="0" u="none" strike="noStrike" cap="none">
                  <a:solidFill>
                    <a:srgbClr val="61A60E"/>
                  </a:solidFill>
                  <a:latin typeface="Arial"/>
                  <a:ea typeface="Arial"/>
                  <a:cs typeface="Arial"/>
                  <a:sym typeface="Arial"/>
                </a:endParaRPr>
              </a:p>
            </p:txBody>
          </p:sp>
          <p:sp>
            <p:nvSpPr>
              <p:cNvPr id="7303" name="Google Shape;7303;p53"/>
              <p:cNvSpPr/>
              <p:nvPr/>
            </p:nvSpPr>
            <p:spPr>
              <a:xfrm>
                <a:off x="5068431" y="4552921"/>
                <a:ext cx="760621" cy="455468"/>
              </a:xfrm>
              <a:prstGeom prst="rect">
                <a:avLst/>
              </a:prstGeom>
              <a:solidFill>
                <a:schemeClr val="accent4"/>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vSphere Zone</a:t>
                </a:r>
                <a:endParaRPr sz="1400" b="0" i="0" u="none" strike="noStrike" cap="none">
                  <a:solidFill>
                    <a:srgbClr val="000000"/>
                  </a:solidFill>
                  <a:latin typeface="Arial"/>
                  <a:ea typeface="Arial"/>
                  <a:cs typeface="Arial"/>
                  <a:sym typeface="Arial"/>
                </a:endParaRPr>
              </a:p>
            </p:txBody>
          </p:sp>
          <p:sp>
            <p:nvSpPr>
              <p:cNvPr id="7304" name="Google Shape;7304;p53"/>
              <p:cNvSpPr/>
              <p:nvPr/>
            </p:nvSpPr>
            <p:spPr>
              <a:xfrm>
                <a:off x="6548749" y="4552921"/>
                <a:ext cx="760621" cy="455468"/>
              </a:xfrm>
              <a:prstGeom prst="rect">
                <a:avLst/>
              </a:prstGeom>
              <a:solidFill>
                <a:schemeClr val="accent4"/>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vSphere Zone</a:t>
                </a:r>
                <a:endParaRPr sz="1400" b="0" i="0" u="none" strike="noStrike" cap="none">
                  <a:solidFill>
                    <a:srgbClr val="000000"/>
                  </a:solidFill>
                  <a:latin typeface="Arial"/>
                  <a:ea typeface="Arial"/>
                  <a:cs typeface="Arial"/>
                  <a:sym typeface="Arial"/>
                </a:endParaRPr>
              </a:p>
            </p:txBody>
          </p:sp>
          <p:sp>
            <p:nvSpPr>
              <p:cNvPr id="7305" name="Google Shape;7305;p53"/>
              <p:cNvSpPr/>
              <p:nvPr/>
            </p:nvSpPr>
            <p:spPr>
              <a:xfrm>
                <a:off x="2910126" y="5088335"/>
                <a:ext cx="760621" cy="162716"/>
              </a:xfrm>
              <a:prstGeom prst="rect">
                <a:avLst/>
              </a:prstGeom>
              <a:noFill/>
              <a:ln w="19050" cap="flat" cmpd="sng">
                <a:solidFill>
                  <a:schemeClr val="accent4"/>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61A60E"/>
                    </a:solidFill>
                    <a:latin typeface="Arial"/>
                    <a:ea typeface="Arial"/>
                    <a:cs typeface="Arial"/>
                    <a:sym typeface="Arial"/>
                  </a:rPr>
                  <a:t>Cluster</a:t>
                </a:r>
                <a:endParaRPr sz="1400" b="0" i="0" u="none" strike="noStrike" cap="none">
                  <a:solidFill>
                    <a:srgbClr val="61A60E"/>
                  </a:solidFill>
                  <a:latin typeface="Arial"/>
                  <a:ea typeface="Arial"/>
                  <a:cs typeface="Arial"/>
                  <a:sym typeface="Arial"/>
                </a:endParaRPr>
              </a:p>
            </p:txBody>
          </p:sp>
          <p:sp>
            <p:nvSpPr>
              <p:cNvPr id="7306" name="Google Shape;7306;p53"/>
              <p:cNvSpPr/>
              <p:nvPr/>
            </p:nvSpPr>
            <p:spPr>
              <a:xfrm>
                <a:off x="3766272" y="5088335"/>
                <a:ext cx="760621" cy="162716"/>
              </a:xfrm>
              <a:prstGeom prst="rect">
                <a:avLst/>
              </a:prstGeom>
              <a:noFill/>
              <a:ln w="19050" cap="flat" cmpd="sng">
                <a:solidFill>
                  <a:schemeClr val="accent4"/>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61A60E"/>
                    </a:solidFill>
                    <a:latin typeface="Arial"/>
                    <a:ea typeface="Arial"/>
                    <a:cs typeface="Arial"/>
                    <a:sym typeface="Arial"/>
                  </a:rPr>
                  <a:t>Cluster</a:t>
                </a:r>
                <a:endParaRPr sz="1400" b="0" i="0" u="none" strike="noStrike" cap="none">
                  <a:solidFill>
                    <a:srgbClr val="61A60E"/>
                  </a:solidFill>
                  <a:latin typeface="Arial"/>
                  <a:ea typeface="Arial"/>
                  <a:cs typeface="Arial"/>
                  <a:sym typeface="Arial"/>
                </a:endParaRPr>
              </a:p>
            </p:txBody>
          </p:sp>
          <p:sp>
            <p:nvSpPr>
              <p:cNvPr id="7307" name="Google Shape;7307;p53"/>
              <p:cNvSpPr/>
              <p:nvPr/>
            </p:nvSpPr>
            <p:spPr>
              <a:xfrm>
                <a:off x="5068431" y="5088335"/>
                <a:ext cx="760621" cy="162716"/>
              </a:xfrm>
              <a:prstGeom prst="rect">
                <a:avLst/>
              </a:prstGeom>
              <a:noFill/>
              <a:ln w="19050" cap="flat" cmpd="sng">
                <a:solidFill>
                  <a:schemeClr val="accent4"/>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61A60E"/>
                    </a:solidFill>
                    <a:latin typeface="Arial"/>
                    <a:ea typeface="Arial"/>
                    <a:cs typeface="Arial"/>
                    <a:sym typeface="Arial"/>
                  </a:rPr>
                  <a:t>Cluster</a:t>
                </a:r>
                <a:endParaRPr sz="1400" b="0" i="0" u="none" strike="noStrike" cap="none">
                  <a:solidFill>
                    <a:srgbClr val="61A60E"/>
                  </a:solidFill>
                  <a:latin typeface="Arial"/>
                  <a:ea typeface="Arial"/>
                  <a:cs typeface="Arial"/>
                  <a:sym typeface="Arial"/>
                </a:endParaRPr>
              </a:p>
            </p:txBody>
          </p:sp>
          <p:sp>
            <p:nvSpPr>
              <p:cNvPr id="7308" name="Google Shape;7308;p53"/>
              <p:cNvSpPr/>
              <p:nvPr/>
            </p:nvSpPr>
            <p:spPr>
              <a:xfrm>
                <a:off x="6548749" y="5088335"/>
                <a:ext cx="760621" cy="162716"/>
              </a:xfrm>
              <a:prstGeom prst="rect">
                <a:avLst/>
              </a:prstGeom>
              <a:noFill/>
              <a:ln w="19050" cap="flat" cmpd="sng">
                <a:solidFill>
                  <a:schemeClr val="accent4"/>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61A60E"/>
                    </a:solidFill>
                    <a:latin typeface="Arial"/>
                    <a:ea typeface="Arial"/>
                    <a:cs typeface="Arial"/>
                    <a:sym typeface="Arial"/>
                  </a:rPr>
                  <a:t>Cluster</a:t>
                </a:r>
                <a:endParaRPr sz="1400" b="0" i="0" u="none" strike="noStrike" cap="none">
                  <a:solidFill>
                    <a:srgbClr val="61A60E"/>
                  </a:solidFill>
                  <a:latin typeface="Arial"/>
                  <a:ea typeface="Arial"/>
                  <a:cs typeface="Arial"/>
                  <a:sym typeface="Arial"/>
                </a:endParaRPr>
              </a:p>
            </p:txBody>
          </p:sp>
        </p:grpSp>
        <p:grpSp>
          <p:nvGrpSpPr>
            <p:cNvPr id="7309" name="Google Shape;7309;p53"/>
            <p:cNvGrpSpPr/>
            <p:nvPr/>
          </p:nvGrpSpPr>
          <p:grpSpPr>
            <a:xfrm>
              <a:off x="639048" y="3584206"/>
              <a:ext cx="1001413" cy="1737052"/>
              <a:chOff x="639048" y="3584206"/>
              <a:chExt cx="1001413" cy="1737052"/>
            </a:xfrm>
          </p:grpSpPr>
          <p:sp>
            <p:nvSpPr>
              <p:cNvPr id="7310" name="Google Shape;7310;p53"/>
              <p:cNvSpPr/>
              <p:nvPr/>
            </p:nvSpPr>
            <p:spPr>
              <a:xfrm>
                <a:off x="903079" y="3584206"/>
                <a:ext cx="473350" cy="497859"/>
              </a:xfrm>
              <a:custGeom>
                <a:avLst/>
                <a:gdLst/>
                <a:ahLst/>
                <a:cxnLst/>
                <a:rect l="l" t="t" r="r" b="b"/>
                <a:pathLst>
                  <a:path w="380" h="386" extrusionOk="0">
                    <a:moveTo>
                      <a:pt x="278" y="287"/>
                    </a:moveTo>
                    <a:cubicBezTo>
                      <a:pt x="262" y="283"/>
                      <a:pt x="244" y="261"/>
                      <a:pt x="244" y="213"/>
                    </a:cubicBezTo>
                    <a:cubicBezTo>
                      <a:pt x="265" y="191"/>
                      <a:pt x="280" y="157"/>
                      <a:pt x="280" y="119"/>
                    </a:cubicBezTo>
                    <a:cubicBezTo>
                      <a:pt x="280" y="46"/>
                      <a:pt x="246" y="0"/>
                      <a:pt x="190" y="0"/>
                    </a:cubicBezTo>
                    <a:cubicBezTo>
                      <a:pt x="135" y="0"/>
                      <a:pt x="100" y="46"/>
                      <a:pt x="100" y="119"/>
                    </a:cubicBezTo>
                    <a:cubicBezTo>
                      <a:pt x="100" y="157"/>
                      <a:pt x="116" y="193"/>
                      <a:pt x="138" y="215"/>
                    </a:cubicBezTo>
                    <a:cubicBezTo>
                      <a:pt x="138" y="244"/>
                      <a:pt x="129" y="279"/>
                      <a:pt x="106" y="287"/>
                    </a:cubicBezTo>
                    <a:cubicBezTo>
                      <a:pt x="37" y="301"/>
                      <a:pt x="0" y="333"/>
                      <a:pt x="0" y="381"/>
                    </a:cubicBezTo>
                    <a:cubicBezTo>
                      <a:pt x="0" y="384"/>
                      <a:pt x="2" y="386"/>
                      <a:pt x="5" y="386"/>
                    </a:cubicBezTo>
                    <a:cubicBezTo>
                      <a:pt x="376" y="386"/>
                      <a:pt x="376" y="386"/>
                      <a:pt x="376" y="386"/>
                    </a:cubicBezTo>
                    <a:cubicBezTo>
                      <a:pt x="378" y="386"/>
                      <a:pt x="380" y="384"/>
                      <a:pt x="380" y="381"/>
                    </a:cubicBezTo>
                    <a:cubicBezTo>
                      <a:pt x="380" y="334"/>
                      <a:pt x="345" y="302"/>
                      <a:pt x="278" y="287"/>
                    </a:cubicBezTo>
                    <a:close/>
                    <a:moveTo>
                      <a:pt x="110" y="119"/>
                    </a:moveTo>
                    <a:cubicBezTo>
                      <a:pt x="110" y="66"/>
                      <a:pt x="131" y="10"/>
                      <a:pt x="190" y="10"/>
                    </a:cubicBezTo>
                    <a:cubicBezTo>
                      <a:pt x="250" y="10"/>
                      <a:pt x="271" y="66"/>
                      <a:pt x="271" y="119"/>
                    </a:cubicBezTo>
                    <a:cubicBezTo>
                      <a:pt x="271" y="151"/>
                      <a:pt x="257" y="186"/>
                      <a:pt x="236" y="207"/>
                    </a:cubicBezTo>
                    <a:cubicBezTo>
                      <a:pt x="236" y="207"/>
                      <a:pt x="235" y="208"/>
                      <a:pt x="235" y="209"/>
                    </a:cubicBezTo>
                    <a:cubicBezTo>
                      <a:pt x="222" y="221"/>
                      <a:pt x="207" y="228"/>
                      <a:pt x="190" y="228"/>
                    </a:cubicBezTo>
                    <a:cubicBezTo>
                      <a:pt x="174" y="228"/>
                      <a:pt x="159" y="221"/>
                      <a:pt x="147" y="210"/>
                    </a:cubicBezTo>
                    <a:cubicBezTo>
                      <a:pt x="147" y="209"/>
                      <a:pt x="146" y="209"/>
                      <a:pt x="145" y="208"/>
                    </a:cubicBezTo>
                    <a:cubicBezTo>
                      <a:pt x="124" y="187"/>
                      <a:pt x="110" y="152"/>
                      <a:pt x="110" y="119"/>
                    </a:cubicBezTo>
                    <a:close/>
                    <a:moveTo>
                      <a:pt x="10" y="376"/>
                    </a:moveTo>
                    <a:cubicBezTo>
                      <a:pt x="12" y="335"/>
                      <a:pt x="45" y="308"/>
                      <a:pt x="108" y="296"/>
                    </a:cubicBezTo>
                    <a:cubicBezTo>
                      <a:pt x="108" y="296"/>
                      <a:pt x="108" y="296"/>
                      <a:pt x="108" y="296"/>
                    </a:cubicBezTo>
                    <a:cubicBezTo>
                      <a:pt x="135" y="287"/>
                      <a:pt x="146" y="254"/>
                      <a:pt x="147" y="222"/>
                    </a:cubicBezTo>
                    <a:cubicBezTo>
                      <a:pt x="160" y="232"/>
                      <a:pt x="175" y="238"/>
                      <a:pt x="190" y="238"/>
                    </a:cubicBezTo>
                    <a:cubicBezTo>
                      <a:pt x="206" y="238"/>
                      <a:pt x="221" y="232"/>
                      <a:pt x="234" y="221"/>
                    </a:cubicBezTo>
                    <a:cubicBezTo>
                      <a:pt x="236" y="253"/>
                      <a:pt x="248" y="289"/>
                      <a:pt x="275" y="296"/>
                    </a:cubicBezTo>
                    <a:cubicBezTo>
                      <a:pt x="276" y="297"/>
                      <a:pt x="276" y="297"/>
                      <a:pt x="276" y="297"/>
                    </a:cubicBezTo>
                    <a:cubicBezTo>
                      <a:pt x="337" y="309"/>
                      <a:pt x="369" y="336"/>
                      <a:pt x="371" y="376"/>
                    </a:cubicBezTo>
                    <a:lnTo>
                      <a:pt x="10" y="376"/>
                    </a:lnTo>
                    <a:close/>
                  </a:path>
                </a:pathLst>
              </a:custGeom>
              <a:noFill/>
              <a:ln w="12700" cap="flat" cmpd="sng">
                <a:solidFill>
                  <a:schemeClr val="accent4"/>
                </a:solidFill>
                <a:prstDash val="solid"/>
                <a:round/>
                <a:headEnd type="none" w="sm" len="sm"/>
                <a:tailEnd type="none" w="sm" len="sm"/>
              </a:ln>
            </p:spPr>
            <p:txBody>
              <a:bodyPr spcFirstLastPara="1" wrap="square" lIns="91375" tIns="45650" rIns="91375" bIns="45650" anchor="t" anchorCtr="0">
                <a:noAutofit/>
              </a:bodyPr>
              <a:lstStyle/>
              <a:p>
                <a:pPr marL="0" marR="0" lvl="0" indent="0" algn="l" rtl="0">
                  <a:lnSpc>
                    <a:spcPct val="100000"/>
                  </a:lnSpc>
                  <a:spcBef>
                    <a:spcPts val="0"/>
                  </a:spcBef>
                  <a:spcAft>
                    <a:spcPts val="0"/>
                  </a:spcAft>
                  <a:buClr>
                    <a:srgbClr val="000000"/>
                  </a:buClr>
                  <a:buSzPts val="1799"/>
                  <a:buFont typeface="Arial"/>
                  <a:buNone/>
                </a:pPr>
                <a:endParaRPr sz="1798" b="0" i="0" u="none" strike="noStrike" cap="none">
                  <a:solidFill>
                    <a:srgbClr val="F3BA16"/>
                  </a:solidFill>
                  <a:latin typeface="Open Sans Light"/>
                  <a:ea typeface="Open Sans Light"/>
                  <a:cs typeface="Open Sans Light"/>
                  <a:sym typeface="Open Sans Light"/>
                </a:endParaRPr>
              </a:p>
            </p:txBody>
          </p:sp>
          <p:sp>
            <p:nvSpPr>
              <p:cNvPr id="7311" name="Google Shape;7311;p53"/>
              <p:cNvSpPr txBox="1"/>
              <p:nvPr/>
            </p:nvSpPr>
            <p:spPr>
              <a:xfrm>
                <a:off x="639048" y="4212973"/>
                <a:ext cx="1001413" cy="1108285"/>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Enterprise IT Admin </a:t>
                </a:r>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or</a:t>
                </a:r>
                <a:br>
                  <a:rPr lang="en-US" sz="12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Service Provider Admin</a:t>
                </a:r>
                <a:endParaRPr/>
              </a:p>
            </p:txBody>
          </p:sp>
        </p:grpSp>
      </p:grpSp>
      <p:grpSp>
        <p:nvGrpSpPr>
          <p:cNvPr id="7312" name="Google Shape;7312;p53"/>
          <p:cNvGrpSpPr/>
          <p:nvPr/>
        </p:nvGrpSpPr>
        <p:grpSpPr>
          <a:xfrm>
            <a:off x="1935799" y="4574391"/>
            <a:ext cx="5686649" cy="357355"/>
            <a:chOff x="1934716" y="4110742"/>
            <a:chExt cx="5688130" cy="357448"/>
          </a:xfrm>
        </p:grpSpPr>
        <p:sp>
          <p:nvSpPr>
            <p:cNvPr id="7313" name="Google Shape;7313;p53"/>
            <p:cNvSpPr/>
            <p:nvPr/>
          </p:nvSpPr>
          <p:spPr>
            <a:xfrm>
              <a:off x="1934716" y="4110742"/>
              <a:ext cx="2704794" cy="357448"/>
            </a:xfrm>
            <a:prstGeom prst="rect">
              <a:avLst/>
            </a:prstGeom>
            <a:noFill/>
            <a:ln w="15875" cap="flat" cmpd="sng">
              <a:solidFill>
                <a:schemeClr val="accent4"/>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61A60E"/>
                  </a:solidFill>
                  <a:latin typeface="Arial"/>
                  <a:ea typeface="Arial"/>
                  <a:cs typeface="Arial"/>
                  <a:sym typeface="Arial"/>
                </a:rPr>
                <a:t>Supervisor</a:t>
              </a:r>
              <a:endParaRPr sz="1400" b="1" i="0" u="none" strike="noStrike" cap="none">
                <a:solidFill>
                  <a:srgbClr val="61A60E"/>
                </a:solidFill>
                <a:latin typeface="Arial"/>
                <a:ea typeface="Arial"/>
                <a:cs typeface="Arial"/>
                <a:sym typeface="Arial"/>
              </a:endParaRPr>
            </a:p>
          </p:txBody>
        </p:sp>
        <p:sp>
          <p:nvSpPr>
            <p:cNvPr id="7314" name="Google Shape;7314;p53"/>
            <p:cNvSpPr/>
            <p:nvPr/>
          </p:nvSpPr>
          <p:spPr>
            <a:xfrm>
              <a:off x="4741618" y="4110742"/>
              <a:ext cx="1414246" cy="357448"/>
            </a:xfrm>
            <a:prstGeom prst="rect">
              <a:avLst/>
            </a:prstGeom>
            <a:noFill/>
            <a:ln w="15875" cap="flat" cmpd="sng">
              <a:solidFill>
                <a:schemeClr val="accent4"/>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61A60E"/>
                  </a:solidFill>
                  <a:latin typeface="Arial"/>
                  <a:ea typeface="Arial"/>
                  <a:cs typeface="Arial"/>
                  <a:sym typeface="Arial"/>
                </a:rPr>
                <a:t>Supervisor</a:t>
              </a:r>
              <a:endParaRPr sz="1400" b="1" i="0" u="none" strike="noStrike" cap="none">
                <a:solidFill>
                  <a:srgbClr val="61A60E"/>
                </a:solidFill>
                <a:latin typeface="Arial"/>
                <a:ea typeface="Arial"/>
                <a:cs typeface="Arial"/>
                <a:sym typeface="Arial"/>
              </a:endParaRPr>
            </a:p>
          </p:txBody>
        </p:sp>
        <p:sp>
          <p:nvSpPr>
            <p:cNvPr id="7315" name="Google Shape;7315;p53"/>
            <p:cNvSpPr/>
            <p:nvPr/>
          </p:nvSpPr>
          <p:spPr>
            <a:xfrm>
              <a:off x="6235273" y="4110742"/>
              <a:ext cx="1387573" cy="357448"/>
            </a:xfrm>
            <a:prstGeom prst="rect">
              <a:avLst/>
            </a:prstGeom>
            <a:noFill/>
            <a:ln w="15875" cap="flat" cmpd="sng">
              <a:solidFill>
                <a:schemeClr val="accent4"/>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61A60E"/>
                  </a:solidFill>
                  <a:latin typeface="Arial"/>
                  <a:ea typeface="Arial"/>
                  <a:cs typeface="Arial"/>
                  <a:sym typeface="Arial"/>
                </a:rPr>
                <a:t>Supervisor</a:t>
              </a:r>
              <a:endParaRPr sz="1400" b="1" i="0" u="none" strike="noStrike" cap="none">
                <a:solidFill>
                  <a:srgbClr val="61A60E"/>
                </a:solidFill>
                <a:latin typeface="Arial"/>
                <a:ea typeface="Arial"/>
                <a:cs typeface="Arial"/>
                <a:sym typeface="Arial"/>
              </a:endParaRPr>
            </a:p>
          </p:txBody>
        </p:sp>
      </p:grpSp>
      <p:grpSp>
        <p:nvGrpSpPr>
          <p:cNvPr id="7316" name="Google Shape;7316;p53"/>
          <p:cNvGrpSpPr/>
          <p:nvPr/>
        </p:nvGrpSpPr>
        <p:grpSpPr>
          <a:xfrm>
            <a:off x="640470" y="2536394"/>
            <a:ext cx="6995243" cy="1109917"/>
            <a:chOff x="639048" y="2072211"/>
            <a:chExt cx="6997065" cy="1110206"/>
          </a:xfrm>
        </p:grpSpPr>
        <p:grpSp>
          <p:nvGrpSpPr>
            <p:cNvPr id="7317" name="Google Shape;7317;p53"/>
            <p:cNvGrpSpPr/>
            <p:nvPr/>
          </p:nvGrpSpPr>
          <p:grpSpPr>
            <a:xfrm>
              <a:off x="639048" y="2072211"/>
              <a:ext cx="1001413" cy="1110206"/>
              <a:chOff x="639048" y="2072211"/>
              <a:chExt cx="1001413" cy="1110206"/>
            </a:xfrm>
          </p:grpSpPr>
          <p:sp>
            <p:nvSpPr>
              <p:cNvPr id="7318" name="Google Shape;7318;p53"/>
              <p:cNvSpPr/>
              <p:nvPr/>
            </p:nvSpPr>
            <p:spPr>
              <a:xfrm>
                <a:off x="903079" y="2072211"/>
                <a:ext cx="473350" cy="497859"/>
              </a:xfrm>
              <a:custGeom>
                <a:avLst/>
                <a:gdLst/>
                <a:ahLst/>
                <a:cxnLst/>
                <a:rect l="l" t="t" r="r" b="b"/>
                <a:pathLst>
                  <a:path w="380" h="386" extrusionOk="0">
                    <a:moveTo>
                      <a:pt x="278" y="287"/>
                    </a:moveTo>
                    <a:cubicBezTo>
                      <a:pt x="262" y="283"/>
                      <a:pt x="244" y="261"/>
                      <a:pt x="244" y="213"/>
                    </a:cubicBezTo>
                    <a:cubicBezTo>
                      <a:pt x="265" y="191"/>
                      <a:pt x="280" y="157"/>
                      <a:pt x="280" y="119"/>
                    </a:cubicBezTo>
                    <a:cubicBezTo>
                      <a:pt x="280" y="46"/>
                      <a:pt x="246" y="0"/>
                      <a:pt x="190" y="0"/>
                    </a:cubicBezTo>
                    <a:cubicBezTo>
                      <a:pt x="135" y="0"/>
                      <a:pt x="100" y="46"/>
                      <a:pt x="100" y="119"/>
                    </a:cubicBezTo>
                    <a:cubicBezTo>
                      <a:pt x="100" y="157"/>
                      <a:pt x="116" y="193"/>
                      <a:pt x="138" y="215"/>
                    </a:cubicBezTo>
                    <a:cubicBezTo>
                      <a:pt x="138" y="244"/>
                      <a:pt x="129" y="279"/>
                      <a:pt x="106" y="287"/>
                    </a:cubicBezTo>
                    <a:cubicBezTo>
                      <a:pt x="37" y="301"/>
                      <a:pt x="0" y="333"/>
                      <a:pt x="0" y="381"/>
                    </a:cubicBezTo>
                    <a:cubicBezTo>
                      <a:pt x="0" y="384"/>
                      <a:pt x="2" y="386"/>
                      <a:pt x="5" y="386"/>
                    </a:cubicBezTo>
                    <a:cubicBezTo>
                      <a:pt x="376" y="386"/>
                      <a:pt x="376" y="386"/>
                      <a:pt x="376" y="386"/>
                    </a:cubicBezTo>
                    <a:cubicBezTo>
                      <a:pt x="378" y="386"/>
                      <a:pt x="380" y="384"/>
                      <a:pt x="380" y="381"/>
                    </a:cubicBezTo>
                    <a:cubicBezTo>
                      <a:pt x="380" y="334"/>
                      <a:pt x="345" y="302"/>
                      <a:pt x="278" y="287"/>
                    </a:cubicBezTo>
                    <a:close/>
                    <a:moveTo>
                      <a:pt x="110" y="119"/>
                    </a:moveTo>
                    <a:cubicBezTo>
                      <a:pt x="110" y="66"/>
                      <a:pt x="131" y="10"/>
                      <a:pt x="190" y="10"/>
                    </a:cubicBezTo>
                    <a:cubicBezTo>
                      <a:pt x="250" y="10"/>
                      <a:pt x="271" y="66"/>
                      <a:pt x="271" y="119"/>
                    </a:cubicBezTo>
                    <a:cubicBezTo>
                      <a:pt x="271" y="151"/>
                      <a:pt x="257" y="186"/>
                      <a:pt x="236" y="207"/>
                    </a:cubicBezTo>
                    <a:cubicBezTo>
                      <a:pt x="236" y="207"/>
                      <a:pt x="235" y="208"/>
                      <a:pt x="235" y="209"/>
                    </a:cubicBezTo>
                    <a:cubicBezTo>
                      <a:pt x="222" y="221"/>
                      <a:pt x="207" y="228"/>
                      <a:pt x="190" y="228"/>
                    </a:cubicBezTo>
                    <a:cubicBezTo>
                      <a:pt x="174" y="228"/>
                      <a:pt x="159" y="221"/>
                      <a:pt x="147" y="210"/>
                    </a:cubicBezTo>
                    <a:cubicBezTo>
                      <a:pt x="147" y="209"/>
                      <a:pt x="146" y="209"/>
                      <a:pt x="145" y="208"/>
                    </a:cubicBezTo>
                    <a:cubicBezTo>
                      <a:pt x="124" y="187"/>
                      <a:pt x="110" y="152"/>
                      <a:pt x="110" y="119"/>
                    </a:cubicBezTo>
                    <a:close/>
                    <a:moveTo>
                      <a:pt x="10" y="376"/>
                    </a:moveTo>
                    <a:cubicBezTo>
                      <a:pt x="12" y="335"/>
                      <a:pt x="45" y="308"/>
                      <a:pt x="108" y="296"/>
                    </a:cubicBezTo>
                    <a:cubicBezTo>
                      <a:pt x="108" y="296"/>
                      <a:pt x="108" y="296"/>
                      <a:pt x="108" y="296"/>
                    </a:cubicBezTo>
                    <a:cubicBezTo>
                      <a:pt x="135" y="287"/>
                      <a:pt x="146" y="254"/>
                      <a:pt x="147" y="222"/>
                    </a:cubicBezTo>
                    <a:cubicBezTo>
                      <a:pt x="160" y="232"/>
                      <a:pt x="175" y="238"/>
                      <a:pt x="190" y="238"/>
                    </a:cubicBezTo>
                    <a:cubicBezTo>
                      <a:pt x="206" y="238"/>
                      <a:pt x="221" y="232"/>
                      <a:pt x="234" y="221"/>
                    </a:cubicBezTo>
                    <a:cubicBezTo>
                      <a:pt x="236" y="253"/>
                      <a:pt x="248" y="289"/>
                      <a:pt x="275" y="296"/>
                    </a:cubicBezTo>
                    <a:cubicBezTo>
                      <a:pt x="276" y="297"/>
                      <a:pt x="276" y="297"/>
                      <a:pt x="276" y="297"/>
                    </a:cubicBezTo>
                    <a:cubicBezTo>
                      <a:pt x="337" y="309"/>
                      <a:pt x="369" y="336"/>
                      <a:pt x="371" y="376"/>
                    </a:cubicBezTo>
                    <a:lnTo>
                      <a:pt x="10" y="376"/>
                    </a:lnTo>
                    <a:close/>
                  </a:path>
                </a:pathLst>
              </a:custGeom>
              <a:solidFill>
                <a:schemeClr val="accent6"/>
              </a:solidFill>
              <a:ln w="12700" cap="flat" cmpd="sng">
                <a:solidFill>
                  <a:schemeClr val="accent5"/>
                </a:solidFill>
                <a:prstDash val="solid"/>
                <a:round/>
                <a:headEnd type="none" w="sm" len="sm"/>
                <a:tailEnd type="none" w="sm" len="sm"/>
              </a:ln>
            </p:spPr>
            <p:txBody>
              <a:bodyPr spcFirstLastPara="1" wrap="square" lIns="91375" tIns="45650" rIns="91375" bIns="45650" anchor="t" anchorCtr="0">
                <a:noAutofit/>
              </a:bodyPr>
              <a:lstStyle/>
              <a:p>
                <a:pPr marL="0" marR="0" lvl="0" indent="0" algn="l" rtl="0">
                  <a:lnSpc>
                    <a:spcPct val="100000"/>
                  </a:lnSpc>
                  <a:spcBef>
                    <a:spcPts val="0"/>
                  </a:spcBef>
                  <a:spcAft>
                    <a:spcPts val="0"/>
                  </a:spcAft>
                  <a:buClr>
                    <a:srgbClr val="000000"/>
                  </a:buClr>
                  <a:buSzPts val="1799"/>
                  <a:buFont typeface="Arial"/>
                  <a:buNone/>
                </a:pPr>
                <a:endParaRPr sz="1798" b="0" i="0" u="none" strike="noStrike" cap="none">
                  <a:solidFill>
                    <a:srgbClr val="FFFFFF"/>
                  </a:solidFill>
                  <a:latin typeface="Open Sans Light"/>
                  <a:ea typeface="Open Sans Light"/>
                  <a:cs typeface="Open Sans Light"/>
                  <a:sym typeface="Open Sans Light"/>
                </a:endParaRPr>
              </a:p>
            </p:txBody>
          </p:sp>
          <p:sp>
            <p:nvSpPr>
              <p:cNvPr id="7319" name="Google Shape;7319;p53"/>
              <p:cNvSpPr txBox="1"/>
              <p:nvPr/>
            </p:nvSpPr>
            <p:spPr>
              <a:xfrm>
                <a:off x="639048" y="2628275"/>
                <a:ext cx="1001413" cy="55414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LOB Admin </a:t>
                </a:r>
                <a:br>
                  <a:rPr lang="en-US" sz="12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or </a:t>
                </a:r>
                <a:br>
                  <a:rPr lang="en-US" sz="12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Org Admin</a:t>
                </a:r>
                <a:endParaRPr/>
              </a:p>
            </p:txBody>
          </p:sp>
        </p:grpSp>
        <p:grpSp>
          <p:nvGrpSpPr>
            <p:cNvPr id="7320" name="Google Shape;7320;p53"/>
            <p:cNvGrpSpPr/>
            <p:nvPr/>
          </p:nvGrpSpPr>
          <p:grpSpPr>
            <a:xfrm>
              <a:off x="1930499" y="2804394"/>
              <a:ext cx="5705614" cy="307314"/>
              <a:chOff x="1930499" y="2804394"/>
              <a:chExt cx="5705614" cy="307314"/>
            </a:xfrm>
          </p:grpSpPr>
          <p:sp>
            <p:nvSpPr>
              <p:cNvPr id="7321" name="Google Shape;7321;p53"/>
              <p:cNvSpPr/>
              <p:nvPr/>
            </p:nvSpPr>
            <p:spPr>
              <a:xfrm>
                <a:off x="5359543" y="2804394"/>
                <a:ext cx="2276570" cy="306401"/>
              </a:xfrm>
              <a:prstGeom prst="rect">
                <a:avLst/>
              </a:prstGeom>
              <a:solidFill>
                <a:schemeClr val="accent2"/>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FFFFFF"/>
                    </a:solidFill>
                    <a:latin typeface="Arial"/>
                    <a:ea typeface="Arial"/>
                    <a:cs typeface="Arial"/>
                    <a:sym typeface="Arial"/>
                  </a:rPr>
                  <a:t>Project</a:t>
                </a:r>
                <a:endParaRPr sz="1600" b="1" i="0" u="none" strike="noStrike" cap="none">
                  <a:solidFill>
                    <a:srgbClr val="000000"/>
                  </a:solidFill>
                  <a:latin typeface="Arial"/>
                  <a:ea typeface="Arial"/>
                  <a:cs typeface="Arial"/>
                  <a:sym typeface="Arial"/>
                </a:endParaRPr>
              </a:p>
            </p:txBody>
          </p:sp>
          <p:sp>
            <p:nvSpPr>
              <p:cNvPr id="7322" name="Google Shape;7322;p53"/>
              <p:cNvSpPr/>
              <p:nvPr/>
            </p:nvSpPr>
            <p:spPr>
              <a:xfrm>
                <a:off x="1930499" y="2805307"/>
                <a:ext cx="1115568" cy="306401"/>
              </a:xfrm>
              <a:prstGeom prst="rect">
                <a:avLst/>
              </a:prstGeom>
              <a:solidFill>
                <a:schemeClr val="accent2"/>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FFFFFF"/>
                    </a:solidFill>
                    <a:latin typeface="Arial"/>
                    <a:ea typeface="Arial"/>
                    <a:cs typeface="Arial"/>
                    <a:sym typeface="Arial"/>
                  </a:rPr>
                  <a:t>Project</a:t>
                </a:r>
                <a:endParaRPr sz="1600" b="1" i="0" u="none" strike="noStrike" cap="none">
                  <a:solidFill>
                    <a:srgbClr val="000000"/>
                  </a:solidFill>
                  <a:latin typeface="Arial"/>
                  <a:ea typeface="Arial"/>
                  <a:cs typeface="Arial"/>
                  <a:sym typeface="Arial"/>
                </a:endParaRPr>
              </a:p>
            </p:txBody>
          </p:sp>
          <p:sp>
            <p:nvSpPr>
              <p:cNvPr id="7323" name="Google Shape;7323;p53"/>
              <p:cNvSpPr/>
              <p:nvPr/>
            </p:nvSpPr>
            <p:spPr>
              <a:xfrm>
                <a:off x="3100922" y="2805307"/>
                <a:ext cx="1115568" cy="306401"/>
              </a:xfrm>
              <a:prstGeom prst="rect">
                <a:avLst/>
              </a:prstGeom>
              <a:solidFill>
                <a:schemeClr val="accent2"/>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FFFFFF"/>
                    </a:solidFill>
                    <a:latin typeface="Arial"/>
                    <a:ea typeface="Arial"/>
                    <a:cs typeface="Arial"/>
                    <a:sym typeface="Arial"/>
                  </a:rPr>
                  <a:t>Project</a:t>
                </a:r>
                <a:endParaRPr sz="1600" b="1" i="0" u="none" strike="noStrike" cap="none">
                  <a:solidFill>
                    <a:srgbClr val="000000"/>
                  </a:solidFill>
                  <a:latin typeface="Arial"/>
                  <a:ea typeface="Arial"/>
                  <a:cs typeface="Arial"/>
                  <a:sym typeface="Arial"/>
                </a:endParaRPr>
              </a:p>
            </p:txBody>
          </p:sp>
        </p:grpSp>
      </p:grpSp>
      <p:grpSp>
        <p:nvGrpSpPr>
          <p:cNvPr id="7324" name="Google Shape;7324;p53"/>
          <p:cNvGrpSpPr/>
          <p:nvPr/>
        </p:nvGrpSpPr>
        <p:grpSpPr>
          <a:xfrm>
            <a:off x="1941744" y="1958410"/>
            <a:ext cx="5683698" cy="1278557"/>
            <a:chOff x="1940661" y="1494077"/>
            <a:chExt cx="5685179" cy="1278890"/>
          </a:xfrm>
        </p:grpSpPr>
        <p:sp>
          <p:nvSpPr>
            <p:cNvPr id="7325" name="Google Shape;7325;p53"/>
            <p:cNvSpPr/>
            <p:nvPr/>
          </p:nvSpPr>
          <p:spPr>
            <a:xfrm>
              <a:off x="6566534" y="2277317"/>
              <a:ext cx="1005840" cy="445462"/>
            </a:xfrm>
            <a:prstGeom prst="rect">
              <a:avLst/>
            </a:prstGeom>
            <a:solidFill>
              <a:schemeClr val="accent2"/>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vSphere Namespace</a:t>
              </a:r>
              <a:endParaRPr sz="1400" b="0" i="0" u="none" strike="noStrike" cap="none">
                <a:solidFill>
                  <a:srgbClr val="000000"/>
                </a:solidFill>
                <a:latin typeface="Arial"/>
                <a:ea typeface="Arial"/>
                <a:cs typeface="Arial"/>
                <a:sym typeface="Arial"/>
              </a:endParaRPr>
            </a:p>
          </p:txBody>
        </p:sp>
        <p:sp>
          <p:nvSpPr>
            <p:cNvPr id="7326" name="Google Shape;7326;p53"/>
            <p:cNvSpPr/>
            <p:nvPr/>
          </p:nvSpPr>
          <p:spPr>
            <a:xfrm>
              <a:off x="5367272" y="1494077"/>
              <a:ext cx="2258568" cy="1277978"/>
            </a:xfrm>
            <a:prstGeom prst="rect">
              <a:avLst/>
            </a:prstGeom>
            <a:noFill/>
            <a:ln w="15875" cap="flat" cmpd="sng">
              <a:solidFill>
                <a:schemeClr val="accent2"/>
              </a:solidFill>
              <a:prstDash val="solid"/>
              <a:round/>
              <a:headEnd type="none" w="sm" len="sm"/>
              <a:tailEnd type="none" w="sm" len="sm"/>
            </a:ln>
          </p:spPr>
          <p:txBody>
            <a:bodyPr spcFirstLastPara="1" wrap="square" lIns="91400" tIns="45675" rIns="91400" bIns="4567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005C8A"/>
                  </a:solidFill>
                  <a:latin typeface="Arial"/>
                  <a:ea typeface="Arial"/>
                  <a:cs typeface="Arial"/>
                  <a:sym typeface="Arial"/>
                </a:rPr>
                <a:t>VPC</a:t>
              </a:r>
              <a:endParaRPr sz="1600" b="1" i="0" u="none" strike="noStrike" cap="none">
                <a:solidFill>
                  <a:srgbClr val="005C8A"/>
                </a:solidFill>
                <a:latin typeface="Arial"/>
                <a:ea typeface="Arial"/>
                <a:cs typeface="Arial"/>
                <a:sym typeface="Arial"/>
              </a:endParaRPr>
            </a:p>
          </p:txBody>
        </p:sp>
        <p:sp>
          <p:nvSpPr>
            <p:cNvPr id="7327" name="Google Shape;7327;p53"/>
            <p:cNvSpPr/>
            <p:nvPr/>
          </p:nvSpPr>
          <p:spPr>
            <a:xfrm>
              <a:off x="5422369" y="2277317"/>
              <a:ext cx="1005840" cy="445462"/>
            </a:xfrm>
            <a:prstGeom prst="rect">
              <a:avLst/>
            </a:prstGeom>
            <a:solidFill>
              <a:schemeClr val="accent2"/>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vSphere Namespace</a:t>
              </a:r>
              <a:endParaRPr sz="1400" b="0" i="0" u="none" strike="noStrike" cap="none">
                <a:solidFill>
                  <a:srgbClr val="000000"/>
                </a:solidFill>
                <a:latin typeface="Arial"/>
                <a:ea typeface="Arial"/>
                <a:cs typeface="Arial"/>
                <a:sym typeface="Arial"/>
              </a:endParaRPr>
            </a:p>
          </p:txBody>
        </p:sp>
        <p:sp>
          <p:nvSpPr>
            <p:cNvPr id="7328" name="Google Shape;7328;p53"/>
            <p:cNvSpPr/>
            <p:nvPr/>
          </p:nvSpPr>
          <p:spPr>
            <a:xfrm>
              <a:off x="1985363" y="2278230"/>
              <a:ext cx="1005840" cy="445462"/>
            </a:xfrm>
            <a:prstGeom prst="rect">
              <a:avLst/>
            </a:prstGeom>
            <a:solidFill>
              <a:schemeClr val="accent2"/>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vSphere Namespace</a:t>
              </a:r>
              <a:endParaRPr sz="1400" b="0" i="0" u="none" strike="noStrike" cap="none">
                <a:solidFill>
                  <a:srgbClr val="000000"/>
                </a:solidFill>
                <a:latin typeface="Arial"/>
                <a:ea typeface="Arial"/>
                <a:cs typeface="Arial"/>
                <a:sym typeface="Arial"/>
              </a:endParaRPr>
            </a:p>
          </p:txBody>
        </p:sp>
        <p:sp>
          <p:nvSpPr>
            <p:cNvPr id="7329" name="Google Shape;7329;p53"/>
            <p:cNvSpPr/>
            <p:nvPr/>
          </p:nvSpPr>
          <p:spPr>
            <a:xfrm>
              <a:off x="1940661" y="1494989"/>
              <a:ext cx="1095244" cy="1277978"/>
            </a:xfrm>
            <a:prstGeom prst="rect">
              <a:avLst/>
            </a:prstGeom>
            <a:noFill/>
            <a:ln w="15875" cap="flat" cmpd="sng">
              <a:solidFill>
                <a:schemeClr val="accent2"/>
              </a:solidFill>
              <a:prstDash val="solid"/>
              <a:round/>
              <a:headEnd type="none" w="sm" len="sm"/>
              <a:tailEnd type="none" w="sm" len="sm"/>
            </a:ln>
          </p:spPr>
          <p:txBody>
            <a:bodyPr spcFirstLastPara="1" wrap="square" lIns="91400" tIns="45675" rIns="91400" bIns="4567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005C8A"/>
                  </a:solidFill>
                  <a:latin typeface="Arial"/>
                  <a:ea typeface="Arial"/>
                  <a:cs typeface="Arial"/>
                  <a:sym typeface="Arial"/>
                </a:rPr>
                <a:t>VPC</a:t>
              </a:r>
              <a:endParaRPr sz="1600" b="1" i="0" u="none" strike="noStrike" cap="none">
                <a:solidFill>
                  <a:srgbClr val="005C8A"/>
                </a:solidFill>
                <a:latin typeface="Arial"/>
                <a:ea typeface="Arial"/>
                <a:cs typeface="Arial"/>
                <a:sym typeface="Arial"/>
              </a:endParaRPr>
            </a:p>
          </p:txBody>
        </p:sp>
        <p:sp>
          <p:nvSpPr>
            <p:cNvPr id="7330" name="Google Shape;7330;p53"/>
            <p:cNvSpPr/>
            <p:nvPr/>
          </p:nvSpPr>
          <p:spPr>
            <a:xfrm>
              <a:off x="3155786" y="2278230"/>
              <a:ext cx="1005840" cy="445462"/>
            </a:xfrm>
            <a:prstGeom prst="rect">
              <a:avLst/>
            </a:prstGeom>
            <a:solidFill>
              <a:schemeClr val="accent2"/>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vSphere Namespace</a:t>
              </a:r>
              <a:endParaRPr sz="1400" b="0" i="0" u="none" strike="noStrike" cap="none">
                <a:solidFill>
                  <a:srgbClr val="000000"/>
                </a:solidFill>
                <a:latin typeface="Arial"/>
                <a:ea typeface="Arial"/>
                <a:cs typeface="Arial"/>
                <a:sym typeface="Arial"/>
              </a:endParaRPr>
            </a:p>
          </p:txBody>
        </p:sp>
        <p:sp>
          <p:nvSpPr>
            <p:cNvPr id="7331" name="Google Shape;7331;p53"/>
            <p:cNvSpPr/>
            <p:nvPr/>
          </p:nvSpPr>
          <p:spPr>
            <a:xfrm>
              <a:off x="3111084" y="1494989"/>
              <a:ext cx="1095244" cy="1277978"/>
            </a:xfrm>
            <a:prstGeom prst="rect">
              <a:avLst/>
            </a:prstGeom>
            <a:noFill/>
            <a:ln w="15875" cap="flat" cmpd="sng">
              <a:solidFill>
                <a:schemeClr val="accent2"/>
              </a:solidFill>
              <a:prstDash val="solid"/>
              <a:round/>
              <a:headEnd type="none" w="sm" len="sm"/>
              <a:tailEnd type="none" w="sm" len="sm"/>
            </a:ln>
          </p:spPr>
          <p:txBody>
            <a:bodyPr spcFirstLastPara="1" wrap="square" lIns="91400" tIns="45675" rIns="91400" bIns="4567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400" b="1" i="0" u="none" strike="noStrike" cap="none">
                  <a:solidFill>
                    <a:srgbClr val="005C8A"/>
                  </a:solidFill>
                  <a:latin typeface="Arial"/>
                  <a:ea typeface="Arial"/>
                  <a:cs typeface="Arial"/>
                  <a:sym typeface="Arial"/>
                </a:rPr>
                <a:t>VPC</a:t>
              </a:r>
              <a:endParaRPr sz="1600" b="1" i="0" u="none" strike="noStrike" cap="none">
                <a:solidFill>
                  <a:srgbClr val="005C8A"/>
                </a:solidFill>
                <a:latin typeface="Arial"/>
                <a:ea typeface="Arial"/>
                <a:cs typeface="Arial"/>
                <a:sym typeface="Arial"/>
              </a:endParaRPr>
            </a:p>
          </p:txBody>
        </p:sp>
      </p:grpSp>
      <p:grpSp>
        <p:nvGrpSpPr>
          <p:cNvPr id="7332" name="Google Shape;7332;p53"/>
          <p:cNvGrpSpPr/>
          <p:nvPr/>
        </p:nvGrpSpPr>
        <p:grpSpPr>
          <a:xfrm>
            <a:off x="2002845" y="1861213"/>
            <a:ext cx="5547203" cy="1283368"/>
            <a:chOff x="2001779" y="1396863"/>
            <a:chExt cx="5548648" cy="1283702"/>
          </a:xfrm>
        </p:grpSpPr>
        <p:grpSp>
          <p:nvGrpSpPr>
            <p:cNvPr id="7333" name="Google Shape;7333;p53"/>
            <p:cNvGrpSpPr/>
            <p:nvPr/>
          </p:nvGrpSpPr>
          <p:grpSpPr>
            <a:xfrm>
              <a:off x="4288848" y="1396863"/>
              <a:ext cx="1001413" cy="1283702"/>
              <a:chOff x="4288848" y="1396863"/>
              <a:chExt cx="1001413" cy="1283702"/>
            </a:xfrm>
          </p:grpSpPr>
          <p:sp>
            <p:nvSpPr>
              <p:cNvPr id="7334" name="Google Shape;7334;p53"/>
              <p:cNvSpPr/>
              <p:nvPr/>
            </p:nvSpPr>
            <p:spPr>
              <a:xfrm>
                <a:off x="4552879" y="1396863"/>
                <a:ext cx="473350" cy="497859"/>
              </a:xfrm>
              <a:custGeom>
                <a:avLst/>
                <a:gdLst/>
                <a:ahLst/>
                <a:cxnLst/>
                <a:rect l="l" t="t" r="r" b="b"/>
                <a:pathLst>
                  <a:path w="380" h="386" extrusionOk="0">
                    <a:moveTo>
                      <a:pt x="278" y="287"/>
                    </a:moveTo>
                    <a:cubicBezTo>
                      <a:pt x="262" y="283"/>
                      <a:pt x="244" y="261"/>
                      <a:pt x="244" y="213"/>
                    </a:cubicBezTo>
                    <a:cubicBezTo>
                      <a:pt x="265" y="191"/>
                      <a:pt x="280" y="157"/>
                      <a:pt x="280" y="119"/>
                    </a:cubicBezTo>
                    <a:cubicBezTo>
                      <a:pt x="280" y="46"/>
                      <a:pt x="246" y="0"/>
                      <a:pt x="190" y="0"/>
                    </a:cubicBezTo>
                    <a:cubicBezTo>
                      <a:pt x="135" y="0"/>
                      <a:pt x="100" y="46"/>
                      <a:pt x="100" y="119"/>
                    </a:cubicBezTo>
                    <a:cubicBezTo>
                      <a:pt x="100" y="157"/>
                      <a:pt x="116" y="193"/>
                      <a:pt x="138" y="215"/>
                    </a:cubicBezTo>
                    <a:cubicBezTo>
                      <a:pt x="138" y="244"/>
                      <a:pt x="129" y="279"/>
                      <a:pt x="106" y="287"/>
                    </a:cubicBezTo>
                    <a:cubicBezTo>
                      <a:pt x="37" y="301"/>
                      <a:pt x="0" y="333"/>
                      <a:pt x="0" y="381"/>
                    </a:cubicBezTo>
                    <a:cubicBezTo>
                      <a:pt x="0" y="384"/>
                      <a:pt x="2" y="386"/>
                      <a:pt x="5" y="386"/>
                    </a:cubicBezTo>
                    <a:cubicBezTo>
                      <a:pt x="376" y="386"/>
                      <a:pt x="376" y="386"/>
                      <a:pt x="376" y="386"/>
                    </a:cubicBezTo>
                    <a:cubicBezTo>
                      <a:pt x="378" y="386"/>
                      <a:pt x="380" y="384"/>
                      <a:pt x="380" y="381"/>
                    </a:cubicBezTo>
                    <a:cubicBezTo>
                      <a:pt x="380" y="334"/>
                      <a:pt x="345" y="302"/>
                      <a:pt x="278" y="287"/>
                    </a:cubicBezTo>
                    <a:close/>
                    <a:moveTo>
                      <a:pt x="110" y="119"/>
                    </a:moveTo>
                    <a:cubicBezTo>
                      <a:pt x="110" y="66"/>
                      <a:pt x="131" y="10"/>
                      <a:pt x="190" y="10"/>
                    </a:cubicBezTo>
                    <a:cubicBezTo>
                      <a:pt x="250" y="10"/>
                      <a:pt x="271" y="66"/>
                      <a:pt x="271" y="119"/>
                    </a:cubicBezTo>
                    <a:cubicBezTo>
                      <a:pt x="271" y="151"/>
                      <a:pt x="257" y="186"/>
                      <a:pt x="236" y="207"/>
                    </a:cubicBezTo>
                    <a:cubicBezTo>
                      <a:pt x="236" y="207"/>
                      <a:pt x="235" y="208"/>
                      <a:pt x="235" y="209"/>
                    </a:cubicBezTo>
                    <a:cubicBezTo>
                      <a:pt x="222" y="221"/>
                      <a:pt x="207" y="228"/>
                      <a:pt x="190" y="228"/>
                    </a:cubicBezTo>
                    <a:cubicBezTo>
                      <a:pt x="174" y="228"/>
                      <a:pt x="159" y="221"/>
                      <a:pt x="147" y="210"/>
                    </a:cubicBezTo>
                    <a:cubicBezTo>
                      <a:pt x="147" y="209"/>
                      <a:pt x="146" y="209"/>
                      <a:pt x="145" y="208"/>
                    </a:cubicBezTo>
                    <a:cubicBezTo>
                      <a:pt x="124" y="187"/>
                      <a:pt x="110" y="152"/>
                      <a:pt x="110" y="119"/>
                    </a:cubicBezTo>
                    <a:close/>
                    <a:moveTo>
                      <a:pt x="10" y="376"/>
                    </a:moveTo>
                    <a:cubicBezTo>
                      <a:pt x="12" y="335"/>
                      <a:pt x="45" y="308"/>
                      <a:pt x="108" y="296"/>
                    </a:cubicBezTo>
                    <a:cubicBezTo>
                      <a:pt x="108" y="296"/>
                      <a:pt x="108" y="296"/>
                      <a:pt x="108" y="296"/>
                    </a:cubicBezTo>
                    <a:cubicBezTo>
                      <a:pt x="135" y="287"/>
                      <a:pt x="146" y="254"/>
                      <a:pt x="147" y="222"/>
                    </a:cubicBezTo>
                    <a:cubicBezTo>
                      <a:pt x="160" y="232"/>
                      <a:pt x="175" y="238"/>
                      <a:pt x="190" y="238"/>
                    </a:cubicBezTo>
                    <a:cubicBezTo>
                      <a:pt x="206" y="238"/>
                      <a:pt x="221" y="232"/>
                      <a:pt x="234" y="221"/>
                    </a:cubicBezTo>
                    <a:cubicBezTo>
                      <a:pt x="236" y="253"/>
                      <a:pt x="248" y="289"/>
                      <a:pt x="275" y="296"/>
                    </a:cubicBezTo>
                    <a:cubicBezTo>
                      <a:pt x="276" y="297"/>
                      <a:pt x="276" y="297"/>
                      <a:pt x="276" y="297"/>
                    </a:cubicBezTo>
                    <a:cubicBezTo>
                      <a:pt x="337" y="309"/>
                      <a:pt x="369" y="336"/>
                      <a:pt x="371" y="376"/>
                    </a:cubicBezTo>
                    <a:lnTo>
                      <a:pt x="10" y="376"/>
                    </a:lnTo>
                    <a:close/>
                  </a:path>
                </a:pathLst>
              </a:custGeom>
              <a:solidFill>
                <a:schemeClr val="accent6"/>
              </a:solidFill>
              <a:ln w="12700" cap="flat" cmpd="sng">
                <a:solidFill>
                  <a:schemeClr val="accent3"/>
                </a:solidFill>
                <a:prstDash val="solid"/>
                <a:round/>
                <a:headEnd type="none" w="sm" len="sm"/>
                <a:tailEnd type="none" w="sm" len="sm"/>
              </a:ln>
            </p:spPr>
            <p:txBody>
              <a:bodyPr spcFirstLastPara="1" wrap="square" lIns="91375" tIns="45650" rIns="91375" bIns="45650" anchor="t" anchorCtr="0">
                <a:noAutofit/>
              </a:bodyPr>
              <a:lstStyle/>
              <a:p>
                <a:pPr marL="0" marR="0" lvl="0" indent="0" algn="l" rtl="0">
                  <a:lnSpc>
                    <a:spcPct val="100000"/>
                  </a:lnSpc>
                  <a:spcBef>
                    <a:spcPts val="0"/>
                  </a:spcBef>
                  <a:spcAft>
                    <a:spcPts val="0"/>
                  </a:spcAft>
                  <a:buClr>
                    <a:srgbClr val="000000"/>
                  </a:buClr>
                  <a:buSzPts val="1799"/>
                  <a:buFont typeface="Arial"/>
                  <a:buNone/>
                </a:pPr>
                <a:endParaRPr sz="1798" b="0" i="0" u="none" strike="noStrike" cap="none">
                  <a:solidFill>
                    <a:srgbClr val="FFFFFF"/>
                  </a:solidFill>
                  <a:latin typeface="Open Sans Light"/>
                  <a:ea typeface="Open Sans Light"/>
                  <a:cs typeface="Open Sans Light"/>
                  <a:sym typeface="Open Sans Light"/>
                </a:endParaRPr>
              </a:p>
            </p:txBody>
          </p:sp>
          <p:sp>
            <p:nvSpPr>
              <p:cNvPr id="7335" name="Google Shape;7335;p53"/>
              <p:cNvSpPr txBox="1"/>
              <p:nvPr/>
            </p:nvSpPr>
            <p:spPr>
              <a:xfrm>
                <a:off x="4288848" y="1941709"/>
                <a:ext cx="1001413" cy="73885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End User, Developer, Platform Engineer </a:t>
                </a:r>
                <a:endParaRPr/>
              </a:p>
            </p:txBody>
          </p:sp>
        </p:grpSp>
        <p:grpSp>
          <p:nvGrpSpPr>
            <p:cNvPr id="7336" name="Google Shape;7336;p53"/>
            <p:cNvGrpSpPr/>
            <p:nvPr/>
          </p:nvGrpSpPr>
          <p:grpSpPr>
            <a:xfrm>
              <a:off x="2001779" y="1991344"/>
              <a:ext cx="5548648" cy="247721"/>
              <a:chOff x="2001779" y="1991344"/>
              <a:chExt cx="5548648" cy="247721"/>
            </a:xfrm>
          </p:grpSpPr>
          <p:grpSp>
            <p:nvGrpSpPr>
              <p:cNvPr id="7337" name="Google Shape;7337;p53"/>
              <p:cNvGrpSpPr/>
              <p:nvPr/>
            </p:nvGrpSpPr>
            <p:grpSpPr>
              <a:xfrm>
                <a:off x="6588481" y="1991344"/>
                <a:ext cx="961946" cy="247721"/>
                <a:chOff x="6588481" y="1995144"/>
                <a:chExt cx="961946" cy="247721"/>
              </a:xfrm>
            </p:grpSpPr>
            <p:grpSp>
              <p:nvGrpSpPr>
                <p:cNvPr id="7338" name="Google Shape;7338;p53" descr="Virtual Machine&#10;"/>
                <p:cNvGrpSpPr/>
                <p:nvPr/>
              </p:nvGrpSpPr>
              <p:grpSpPr>
                <a:xfrm>
                  <a:off x="6588481" y="2000447"/>
                  <a:ext cx="264817" cy="237114"/>
                  <a:chOff x="5798589" y="1951740"/>
                  <a:chExt cx="600836" cy="600837"/>
                </a:xfrm>
              </p:grpSpPr>
              <p:sp>
                <p:nvSpPr>
                  <p:cNvPr id="7339" name="Google Shape;7339;p53"/>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340" name="Google Shape;7340;p53"/>
                  <p:cNvGrpSpPr/>
                  <p:nvPr/>
                </p:nvGrpSpPr>
                <p:grpSpPr>
                  <a:xfrm>
                    <a:off x="5978207" y="2214844"/>
                    <a:ext cx="220729" cy="84117"/>
                    <a:chOff x="5978207" y="2214844"/>
                    <a:chExt cx="220729" cy="84117"/>
                  </a:xfrm>
                </p:grpSpPr>
                <p:sp>
                  <p:nvSpPr>
                    <p:cNvPr id="7341" name="Google Shape;7341;p53"/>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2" name="Google Shape;7342;p53"/>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7343" name="Google Shape;7343;p53" descr="Application"/>
                <p:cNvGrpSpPr/>
                <p:nvPr/>
              </p:nvGrpSpPr>
              <p:grpSpPr>
                <a:xfrm>
                  <a:off x="6937045" y="1995416"/>
                  <a:ext cx="264817" cy="247177"/>
                  <a:chOff x="530908" y="707686"/>
                  <a:chExt cx="600836" cy="600837"/>
                </a:xfrm>
              </p:grpSpPr>
              <p:sp>
                <p:nvSpPr>
                  <p:cNvPr id="7344" name="Google Shape;7344;p53"/>
                  <p:cNvSpPr/>
                  <p:nvPr/>
                </p:nvSpPr>
                <p:spPr>
                  <a:xfrm>
                    <a:off x="634568" y="934169"/>
                    <a:ext cx="126808" cy="126049"/>
                  </a:xfrm>
                  <a:custGeom>
                    <a:avLst/>
                    <a:gdLst/>
                    <a:ahLst/>
                    <a:cxnLst/>
                    <a:rect l="l" t="t" r="r" b="b"/>
                    <a:pathLst>
                      <a:path w="126808" h="126049" extrusionOk="0">
                        <a:moveTo>
                          <a:pt x="98348" y="97462"/>
                        </a:moveTo>
                        <a:lnTo>
                          <a:pt x="28271" y="97462"/>
                        </a:lnTo>
                        <a:lnTo>
                          <a:pt x="15622" y="126049"/>
                        </a:lnTo>
                        <a:lnTo>
                          <a:pt x="0" y="126049"/>
                        </a:lnTo>
                        <a:lnTo>
                          <a:pt x="55593" y="0"/>
                        </a:lnTo>
                        <a:lnTo>
                          <a:pt x="71215" y="0"/>
                        </a:lnTo>
                        <a:lnTo>
                          <a:pt x="126808" y="126049"/>
                        </a:lnTo>
                        <a:lnTo>
                          <a:pt x="110997" y="126049"/>
                        </a:lnTo>
                        <a:close/>
                        <a:moveTo>
                          <a:pt x="92466" y="83864"/>
                        </a:moveTo>
                        <a:lnTo>
                          <a:pt x="63499" y="17646"/>
                        </a:lnTo>
                        <a:lnTo>
                          <a:pt x="34153" y="8386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5" name="Google Shape;7345;p53"/>
                  <p:cNvSpPr/>
                  <p:nvPr/>
                </p:nvSpPr>
                <p:spPr>
                  <a:xfrm>
                    <a:off x="790976"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636" y="66914"/>
                        </a:moveTo>
                        <a:cubicBezTo>
                          <a:pt x="69128" y="66914"/>
                          <a:pt x="83105" y="56985"/>
                          <a:pt x="83105" y="40161"/>
                        </a:cubicBezTo>
                        <a:cubicBezTo>
                          <a:pt x="83105" y="23338"/>
                          <a:pt x="69128" y="13345"/>
                          <a:pt x="48636" y="13345"/>
                        </a:cubicBezTo>
                        <a:lnTo>
                          <a:pt x="14294" y="13345"/>
                        </a:lnTo>
                        <a:lnTo>
                          <a:pt x="14294" y="6691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6" name="Google Shape;7346;p53"/>
                  <p:cNvSpPr/>
                  <p:nvPr/>
                </p:nvSpPr>
                <p:spPr>
                  <a:xfrm>
                    <a:off x="919302"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573" y="66914"/>
                        </a:moveTo>
                        <a:cubicBezTo>
                          <a:pt x="69128" y="66914"/>
                          <a:pt x="83105" y="56985"/>
                          <a:pt x="83105" y="40161"/>
                        </a:cubicBezTo>
                        <a:cubicBezTo>
                          <a:pt x="83105" y="23338"/>
                          <a:pt x="69128" y="13345"/>
                          <a:pt x="48573" y="13345"/>
                        </a:cubicBezTo>
                        <a:lnTo>
                          <a:pt x="14294" y="13345"/>
                        </a:lnTo>
                        <a:lnTo>
                          <a:pt x="14294" y="6691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7" name="Google Shape;7347;p53"/>
                  <p:cNvSpPr/>
                  <p:nvPr/>
                </p:nvSpPr>
                <p:spPr>
                  <a:xfrm>
                    <a:off x="530908" y="707686"/>
                    <a:ext cx="600836" cy="600837"/>
                  </a:xfrm>
                  <a:custGeom>
                    <a:avLst/>
                    <a:gdLst/>
                    <a:ahLst/>
                    <a:cxnLst/>
                    <a:rect l="l" t="t" r="r" b="b"/>
                    <a:pathLst>
                      <a:path w="600836" h="600837" extrusionOk="0">
                        <a:moveTo>
                          <a:pt x="554920" y="15812"/>
                        </a:moveTo>
                        <a:cubicBezTo>
                          <a:pt x="571523" y="15812"/>
                          <a:pt x="584988" y="29251"/>
                          <a:pt x="585026" y="45853"/>
                        </a:cubicBezTo>
                        <a:lnTo>
                          <a:pt x="585026" y="554920"/>
                        </a:lnTo>
                        <a:cubicBezTo>
                          <a:pt x="585026" y="571548"/>
                          <a:pt x="571548" y="585026"/>
                          <a:pt x="554920" y="585026"/>
                        </a:cubicBezTo>
                        <a:lnTo>
                          <a:pt x="45853" y="585026"/>
                        </a:lnTo>
                        <a:cubicBezTo>
                          <a:pt x="29251" y="584988"/>
                          <a:pt x="15812" y="571523"/>
                          <a:pt x="15812" y="554920"/>
                        </a:cubicBezTo>
                        <a:lnTo>
                          <a:pt x="15812" y="45853"/>
                        </a:lnTo>
                        <a:cubicBezTo>
                          <a:pt x="15812" y="29261"/>
                          <a:pt x="29261" y="15812"/>
                          <a:pt x="45853" y="15812"/>
                        </a:cubicBezTo>
                        <a:lnTo>
                          <a:pt x="554920" y="15812"/>
                        </a:lnTo>
                        <a:moveTo>
                          <a:pt x="554920" y="0"/>
                        </a:moveTo>
                        <a:lnTo>
                          <a:pt x="45853" y="0"/>
                        </a:lnTo>
                        <a:cubicBezTo>
                          <a:pt x="20544" y="35"/>
                          <a:pt x="35" y="20544"/>
                          <a:pt x="0" y="45853"/>
                        </a:cubicBezTo>
                        <a:lnTo>
                          <a:pt x="0" y="554920"/>
                        </a:lnTo>
                        <a:cubicBezTo>
                          <a:pt x="0" y="580257"/>
                          <a:pt x="20519" y="600799"/>
                          <a:pt x="45853" y="600837"/>
                        </a:cubicBezTo>
                        <a:lnTo>
                          <a:pt x="554920" y="600837"/>
                        </a:lnTo>
                        <a:cubicBezTo>
                          <a:pt x="580282" y="600837"/>
                          <a:pt x="600837" y="580282"/>
                          <a:pt x="600837" y="554920"/>
                        </a:cubicBezTo>
                        <a:lnTo>
                          <a:pt x="600837" y="45853"/>
                        </a:lnTo>
                        <a:cubicBezTo>
                          <a:pt x="600799" y="20519"/>
                          <a:pt x="580257" y="0"/>
                          <a:pt x="554920" y="0"/>
                        </a:cubicBez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48" name="Google Shape;7348;p53" descr="Container 3&#10;"/>
                <p:cNvGrpSpPr/>
                <p:nvPr/>
              </p:nvGrpSpPr>
              <p:grpSpPr>
                <a:xfrm>
                  <a:off x="7285609" y="1995144"/>
                  <a:ext cx="264818" cy="247721"/>
                  <a:chOff x="1852129" y="4420190"/>
                  <a:chExt cx="601469" cy="601469"/>
                </a:xfrm>
              </p:grpSpPr>
              <p:sp>
                <p:nvSpPr>
                  <p:cNvPr id="7349" name="Google Shape;7349;p53"/>
                  <p:cNvSpPr/>
                  <p:nvPr/>
                </p:nvSpPr>
                <p:spPr>
                  <a:xfrm>
                    <a:off x="1852129" y="4420190"/>
                    <a:ext cx="601469" cy="601469"/>
                  </a:xfrm>
                  <a:custGeom>
                    <a:avLst/>
                    <a:gdLst/>
                    <a:ahLst/>
                    <a:cxnLst/>
                    <a:rect l="l" t="t" r="r" b="b"/>
                    <a:pathLst>
                      <a:path w="601469" h="601469" extrusionOk="0">
                        <a:moveTo>
                          <a:pt x="554667" y="15812"/>
                        </a:moveTo>
                        <a:cubicBezTo>
                          <a:pt x="571111" y="15812"/>
                          <a:pt x="585026" y="29093"/>
                          <a:pt x="585026" y="46170"/>
                        </a:cubicBezTo>
                        <a:lnTo>
                          <a:pt x="585026" y="555300"/>
                        </a:lnTo>
                        <a:cubicBezTo>
                          <a:pt x="585026" y="571744"/>
                          <a:pt x="571744" y="585658"/>
                          <a:pt x="554667" y="585658"/>
                        </a:cubicBezTo>
                        <a:lnTo>
                          <a:pt x="46170" y="585658"/>
                        </a:lnTo>
                        <a:cubicBezTo>
                          <a:pt x="29726" y="585658"/>
                          <a:pt x="15812" y="572376"/>
                          <a:pt x="15812" y="555300"/>
                        </a:cubicBezTo>
                        <a:lnTo>
                          <a:pt x="15812" y="46170"/>
                        </a:lnTo>
                        <a:cubicBezTo>
                          <a:pt x="15812" y="29726"/>
                          <a:pt x="29093" y="15812"/>
                          <a:pt x="46170" y="15812"/>
                        </a:cubicBezTo>
                        <a:lnTo>
                          <a:pt x="554667" y="15812"/>
                        </a:lnTo>
                        <a:moveTo>
                          <a:pt x="554667" y="0"/>
                        </a:moveTo>
                        <a:lnTo>
                          <a:pt x="46170" y="0"/>
                        </a:lnTo>
                        <a:cubicBezTo>
                          <a:pt x="20871" y="0"/>
                          <a:pt x="0" y="20239"/>
                          <a:pt x="0" y="46170"/>
                        </a:cubicBezTo>
                        <a:lnTo>
                          <a:pt x="0" y="555300"/>
                        </a:lnTo>
                        <a:cubicBezTo>
                          <a:pt x="0" y="580598"/>
                          <a:pt x="20239" y="601469"/>
                          <a:pt x="46170" y="601469"/>
                        </a:cubicBezTo>
                        <a:lnTo>
                          <a:pt x="555300" y="601469"/>
                        </a:lnTo>
                        <a:cubicBezTo>
                          <a:pt x="580598" y="601469"/>
                          <a:pt x="601469" y="581231"/>
                          <a:pt x="601469" y="555300"/>
                        </a:cubicBezTo>
                        <a:lnTo>
                          <a:pt x="601469" y="46170"/>
                        </a:lnTo>
                        <a:cubicBezTo>
                          <a:pt x="600837" y="20239"/>
                          <a:pt x="580598" y="0"/>
                          <a:pt x="554667" y="0"/>
                        </a:cubicBezTo>
                        <a:lnTo>
                          <a:pt x="554667" y="0"/>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350" name="Google Shape;7350;p53"/>
                  <p:cNvGrpSpPr/>
                  <p:nvPr/>
                </p:nvGrpSpPr>
                <p:grpSpPr>
                  <a:xfrm>
                    <a:off x="1946998" y="4528341"/>
                    <a:ext cx="157482" cy="156850"/>
                    <a:chOff x="1946998" y="4528341"/>
                    <a:chExt cx="157482" cy="156850"/>
                  </a:xfrm>
                </p:grpSpPr>
                <p:grpSp>
                  <p:nvGrpSpPr>
                    <p:cNvPr id="7351" name="Google Shape;7351;p53"/>
                    <p:cNvGrpSpPr/>
                    <p:nvPr/>
                  </p:nvGrpSpPr>
                  <p:grpSpPr>
                    <a:xfrm>
                      <a:off x="1986843" y="4567553"/>
                      <a:ext cx="78425" cy="78425"/>
                      <a:chOff x="1986843" y="4567553"/>
                      <a:chExt cx="78425" cy="78425"/>
                    </a:xfrm>
                  </p:grpSpPr>
                  <p:sp>
                    <p:nvSpPr>
                      <p:cNvPr id="7352" name="Google Shape;7352;p53"/>
                      <p:cNvSpPr/>
                      <p:nvPr/>
                    </p:nvSpPr>
                    <p:spPr>
                      <a:xfrm>
                        <a:off x="1986843"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3" name="Google Shape;7353;p53"/>
                      <p:cNvSpPr/>
                      <p:nvPr/>
                    </p:nvSpPr>
                    <p:spPr>
                      <a:xfrm>
                        <a:off x="2017834"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4" name="Google Shape;7354;p53"/>
                      <p:cNvSpPr/>
                      <p:nvPr/>
                    </p:nvSpPr>
                    <p:spPr>
                      <a:xfrm>
                        <a:off x="204945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55" name="Google Shape;7355;p53"/>
                    <p:cNvSpPr/>
                    <p:nvPr/>
                  </p:nvSpPr>
                  <p:spPr>
                    <a:xfrm>
                      <a:off x="1946998"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56" name="Google Shape;7356;p53"/>
                  <p:cNvGrpSpPr/>
                  <p:nvPr/>
                </p:nvGrpSpPr>
                <p:grpSpPr>
                  <a:xfrm>
                    <a:off x="2199982" y="4528341"/>
                    <a:ext cx="157482" cy="156850"/>
                    <a:chOff x="2199982" y="4528341"/>
                    <a:chExt cx="157482" cy="156850"/>
                  </a:xfrm>
                </p:grpSpPr>
                <p:grpSp>
                  <p:nvGrpSpPr>
                    <p:cNvPr id="7357" name="Google Shape;7357;p53"/>
                    <p:cNvGrpSpPr/>
                    <p:nvPr/>
                  </p:nvGrpSpPr>
                  <p:grpSpPr>
                    <a:xfrm>
                      <a:off x="2239827" y="4567553"/>
                      <a:ext cx="78425" cy="78425"/>
                      <a:chOff x="2239827" y="4567553"/>
                      <a:chExt cx="78425" cy="78425"/>
                    </a:xfrm>
                  </p:grpSpPr>
                  <p:sp>
                    <p:nvSpPr>
                      <p:cNvPr id="7358" name="Google Shape;7358;p53"/>
                      <p:cNvSpPr/>
                      <p:nvPr/>
                    </p:nvSpPr>
                    <p:spPr>
                      <a:xfrm>
                        <a:off x="223982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9" name="Google Shape;7359;p53"/>
                      <p:cNvSpPr/>
                      <p:nvPr/>
                    </p:nvSpPr>
                    <p:spPr>
                      <a:xfrm>
                        <a:off x="2270818"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0" name="Google Shape;7360;p53"/>
                      <p:cNvSpPr/>
                      <p:nvPr/>
                    </p:nvSpPr>
                    <p:spPr>
                      <a:xfrm>
                        <a:off x="2302441"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61" name="Google Shape;7361;p53"/>
                    <p:cNvSpPr/>
                    <p:nvPr/>
                  </p:nvSpPr>
                  <p:spPr>
                    <a:xfrm>
                      <a:off x="2199982"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62" name="Google Shape;7362;p53"/>
                  <p:cNvGrpSpPr/>
                  <p:nvPr/>
                </p:nvGrpSpPr>
                <p:grpSpPr>
                  <a:xfrm>
                    <a:off x="1946998" y="4768675"/>
                    <a:ext cx="157482" cy="156850"/>
                    <a:chOff x="1946998" y="4768675"/>
                    <a:chExt cx="157482" cy="156850"/>
                  </a:xfrm>
                </p:grpSpPr>
                <p:grpSp>
                  <p:nvGrpSpPr>
                    <p:cNvPr id="7363" name="Google Shape;7363;p53"/>
                    <p:cNvGrpSpPr/>
                    <p:nvPr/>
                  </p:nvGrpSpPr>
                  <p:grpSpPr>
                    <a:xfrm>
                      <a:off x="1986843" y="4807888"/>
                      <a:ext cx="78425" cy="78425"/>
                      <a:chOff x="1986843" y="4807888"/>
                      <a:chExt cx="78425" cy="78425"/>
                    </a:xfrm>
                  </p:grpSpPr>
                  <p:sp>
                    <p:nvSpPr>
                      <p:cNvPr id="7364" name="Google Shape;7364;p53"/>
                      <p:cNvSpPr/>
                      <p:nvPr/>
                    </p:nvSpPr>
                    <p:spPr>
                      <a:xfrm>
                        <a:off x="1986843"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5" name="Google Shape;7365;p53"/>
                      <p:cNvSpPr/>
                      <p:nvPr/>
                    </p:nvSpPr>
                    <p:spPr>
                      <a:xfrm>
                        <a:off x="2017834"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6" name="Google Shape;7366;p53"/>
                      <p:cNvSpPr/>
                      <p:nvPr/>
                    </p:nvSpPr>
                    <p:spPr>
                      <a:xfrm>
                        <a:off x="204945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67" name="Google Shape;7367;p53"/>
                    <p:cNvSpPr/>
                    <p:nvPr/>
                  </p:nvSpPr>
                  <p:spPr>
                    <a:xfrm>
                      <a:off x="1946998"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68" name="Google Shape;7368;p53"/>
                  <p:cNvGrpSpPr/>
                  <p:nvPr/>
                </p:nvGrpSpPr>
                <p:grpSpPr>
                  <a:xfrm>
                    <a:off x="2199982" y="4768675"/>
                    <a:ext cx="157482" cy="156850"/>
                    <a:chOff x="2199982" y="4768675"/>
                    <a:chExt cx="157482" cy="156850"/>
                  </a:xfrm>
                </p:grpSpPr>
                <p:grpSp>
                  <p:nvGrpSpPr>
                    <p:cNvPr id="7369" name="Google Shape;7369;p53"/>
                    <p:cNvGrpSpPr/>
                    <p:nvPr/>
                  </p:nvGrpSpPr>
                  <p:grpSpPr>
                    <a:xfrm>
                      <a:off x="2239827" y="4807888"/>
                      <a:ext cx="78425" cy="78425"/>
                      <a:chOff x="2239827" y="4807888"/>
                      <a:chExt cx="78425" cy="78425"/>
                    </a:xfrm>
                  </p:grpSpPr>
                  <p:sp>
                    <p:nvSpPr>
                      <p:cNvPr id="7370" name="Google Shape;7370;p53"/>
                      <p:cNvSpPr/>
                      <p:nvPr/>
                    </p:nvSpPr>
                    <p:spPr>
                      <a:xfrm>
                        <a:off x="223982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1" name="Google Shape;7371;p53"/>
                      <p:cNvSpPr/>
                      <p:nvPr/>
                    </p:nvSpPr>
                    <p:spPr>
                      <a:xfrm>
                        <a:off x="2270818"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2" name="Google Shape;7372;p53"/>
                      <p:cNvSpPr/>
                      <p:nvPr/>
                    </p:nvSpPr>
                    <p:spPr>
                      <a:xfrm>
                        <a:off x="2302441"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73" name="Google Shape;7373;p53"/>
                    <p:cNvSpPr/>
                    <p:nvPr/>
                  </p:nvSpPr>
                  <p:spPr>
                    <a:xfrm>
                      <a:off x="2199982"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grpSp>
            <p:nvGrpSpPr>
              <p:cNvPr id="7374" name="Google Shape;7374;p53"/>
              <p:cNvGrpSpPr/>
              <p:nvPr/>
            </p:nvGrpSpPr>
            <p:grpSpPr>
              <a:xfrm>
                <a:off x="5444316" y="1991344"/>
                <a:ext cx="961946" cy="247721"/>
                <a:chOff x="5444316" y="1995144"/>
                <a:chExt cx="961946" cy="247721"/>
              </a:xfrm>
            </p:grpSpPr>
            <p:grpSp>
              <p:nvGrpSpPr>
                <p:cNvPr id="7375" name="Google Shape;7375;p53" descr="Virtual Machine&#10;"/>
                <p:cNvGrpSpPr/>
                <p:nvPr/>
              </p:nvGrpSpPr>
              <p:grpSpPr>
                <a:xfrm>
                  <a:off x="5444316" y="2000447"/>
                  <a:ext cx="264817" cy="237114"/>
                  <a:chOff x="5798589" y="1951740"/>
                  <a:chExt cx="600836" cy="600837"/>
                </a:xfrm>
              </p:grpSpPr>
              <p:sp>
                <p:nvSpPr>
                  <p:cNvPr id="7376" name="Google Shape;7376;p53"/>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377" name="Google Shape;7377;p53"/>
                  <p:cNvGrpSpPr/>
                  <p:nvPr/>
                </p:nvGrpSpPr>
                <p:grpSpPr>
                  <a:xfrm>
                    <a:off x="5978207" y="2214844"/>
                    <a:ext cx="220729" cy="84117"/>
                    <a:chOff x="5978207" y="2214844"/>
                    <a:chExt cx="220729" cy="84117"/>
                  </a:xfrm>
                </p:grpSpPr>
                <p:sp>
                  <p:nvSpPr>
                    <p:cNvPr id="7378" name="Google Shape;7378;p53"/>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9" name="Google Shape;7379;p53"/>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7380" name="Google Shape;7380;p53" descr="Application"/>
                <p:cNvGrpSpPr/>
                <p:nvPr/>
              </p:nvGrpSpPr>
              <p:grpSpPr>
                <a:xfrm>
                  <a:off x="5792880" y="1995416"/>
                  <a:ext cx="264817" cy="247177"/>
                  <a:chOff x="530908" y="707686"/>
                  <a:chExt cx="600836" cy="600837"/>
                </a:xfrm>
              </p:grpSpPr>
              <p:sp>
                <p:nvSpPr>
                  <p:cNvPr id="7381" name="Google Shape;7381;p53"/>
                  <p:cNvSpPr/>
                  <p:nvPr/>
                </p:nvSpPr>
                <p:spPr>
                  <a:xfrm>
                    <a:off x="634568" y="934169"/>
                    <a:ext cx="126808" cy="126049"/>
                  </a:xfrm>
                  <a:custGeom>
                    <a:avLst/>
                    <a:gdLst/>
                    <a:ahLst/>
                    <a:cxnLst/>
                    <a:rect l="l" t="t" r="r" b="b"/>
                    <a:pathLst>
                      <a:path w="126808" h="126049" extrusionOk="0">
                        <a:moveTo>
                          <a:pt x="98348" y="97462"/>
                        </a:moveTo>
                        <a:lnTo>
                          <a:pt x="28271" y="97462"/>
                        </a:lnTo>
                        <a:lnTo>
                          <a:pt x="15622" y="126049"/>
                        </a:lnTo>
                        <a:lnTo>
                          <a:pt x="0" y="126049"/>
                        </a:lnTo>
                        <a:lnTo>
                          <a:pt x="55593" y="0"/>
                        </a:lnTo>
                        <a:lnTo>
                          <a:pt x="71215" y="0"/>
                        </a:lnTo>
                        <a:lnTo>
                          <a:pt x="126808" y="126049"/>
                        </a:lnTo>
                        <a:lnTo>
                          <a:pt x="110997" y="126049"/>
                        </a:lnTo>
                        <a:close/>
                        <a:moveTo>
                          <a:pt x="92466" y="83864"/>
                        </a:moveTo>
                        <a:lnTo>
                          <a:pt x="63499" y="17646"/>
                        </a:lnTo>
                        <a:lnTo>
                          <a:pt x="34153" y="8386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2" name="Google Shape;7382;p53"/>
                  <p:cNvSpPr/>
                  <p:nvPr/>
                </p:nvSpPr>
                <p:spPr>
                  <a:xfrm>
                    <a:off x="790976"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636" y="66914"/>
                        </a:moveTo>
                        <a:cubicBezTo>
                          <a:pt x="69128" y="66914"/>
                          <a:pt x="83105" y="56985"/>
                          <a:pt x="83105" y="40161"/>
                        </a:cubicBezTo>
                        <a:cubicBezTo>
                          <a:pt x="83105" y="23338"/>
                          <a:pt x="69128" y="13345"/>
                          <a:pt x="48636" y="13345"/>
                        </a:cubicBezTo>
                        <a:lnTo>
                          <a:pt x="14294" y="13345"/>
                        </a:lnTo>
                        <a:lnTo>
                          <a:pt x="14294" y="6691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3" name="Google Shape;7383;p53"/>
                  <p:cNvSpPr/>
                  <p:nvPr/>
                </p:nvSpPr>
                <p:spPr>
                  <a:xfrm>
                    <a:off x="919302"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573" y="66914"/>
                        </a:moveTo>
                        <a:cubicBezTo>
                          <a:pt x="69128" y="66914"/>
                          <a:pt x="83105" y="56985"/>
                          <a:pt x="83105" y="40161"/>
                        </a:cubicBezTo>
                        <a:cubicBezTo>
                          <a:pt x="83105" y="23338"/>
                          <a:pt x="69128" y="13345"/>
                          <a:pt x="48573" y="13345"/>
                        </a:cubicBezTo>
                        <a:lnTo>
                          <a:pt x="14294" y="13345"/>
                        </a:lnTo>
                        <a:lnTo>
                          <a:pt x="14294" y="6691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4" name="Google Shape;7384;p53"/>
                  <p:cNvSpPr/>
                  <p:nvPr/>
                </p:nvSpPr>
                <p:spPr>
                  <a:xfrm>
                    <a:off x="530908" y="707686"/>
                    <a:ext cx="600836" cy="600837"/>
                  </a:xfrm>
                  <a:custGeom>
                    <a:avLst/>
                    <a:gdLst/>
                    <a:ahLst/>
                    <a:cxnLst/>
                    <a:rect l="l" t="t" r="r" b="b"/>
                    <a:pathLst>
                      <a:path w="600836" h="600837" extrusionOk="0">
                        <a:moveTo>
                          <a:pt x="554920" y="15812"/>
                        </a:moveTo>
                        <a:cubicBezTo>
                          <a:pt x="571523" y="15812"/>
                          <a:pt x="584988" y="29251"/>
                          <a:pt x="585026" y="45853"/>
                        </a:cubicBezTo>
                        <a:lnTo>
                          <a:pt x="585026" y="554920"/>
                        </a:lnTo>
                        <a:cubicBezTo>
                          <a:pt x="585026" y="571548"/>
                          <a:pt x="571548" y="585026"/>
                          <a:pt x="554920" y="585026"/>
                        </a:cubicBezTo>
                        <a:lnTo>
                          <a:pt x="45853" y="585026"/>
                        </a:lnTo>
                        <a:cubicBezTo>
                          <a:pt x="29251" y="584988"/>
                          <a:pt x="15812" y="571523"/>
                          <a:pt x="15812" y="554920"/>
                        </a:cubicBezTo>
                        <a:lnTo>
                          <a:pt x="15812" y="45853"/>
                        </a:lnTo>
                        <a:cubicBezTo>
                          <a:pt x="15812" y="29261"/>
                          <a:pt x="29261" y="15812"/>
                          <a:pt x="45853" y="15812"/>
                        </a:cubicBezTo>
                        <a:lnTo>
                          <a:pt x="554920" y="15812"/>
                        </a:lnTo>
                        <a:moveTo>
                          <a:pt x="554920" y="0"/>
                        </a:moveTo>
                        <a:lnTo>
                          <a:pt x="45853" y="0"/>
                        </a:lnTo>
                        <a:cubicBezTo>
                          <a:pt x="20544" y="35"/>
                          <a:pt x="35" y="20544"/>
                          <a:pt x="0" y="45853"/>
                        </a:cubicBezTo>
                        <a:lnTo>
                          <a:pt x="0" y="554920"/>
                        </a:lnTo>
                        <a:cubicBezTo>
                          <a:pt x="0" y="580257"/>
                          <a:pt x="20519" y="600799"/>
                          <a:pt x="45853" y="600837"/>
                        </a:cubicBezTo>
                        <a:lnTo>
                          <a:pt x="554920" y="600837"/>
                        </a:lnTo>
                        <a:cubicBezTo>
                          <a:pt x="580282" y="600837"/>
                          <a:pt x="600837" y="580282"/>
                          <a:pt x="600837" y="554920"/>
                        </a:cubicBezTo>
                        <a:lnTo>
                          <a:pt x="600837" y="45853"/>
                        </a:lnTo>
                        <a:cubicBezTo>
                          <a:pt x="600799" y="20519"/>
                          <a:pt x="580257" y="0"/>
                          <a:pt x="554920" y="0"/>
                        </a:cubicBez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85" name="Google Shape;7385;p53" descr="Container 3&#10;"/>
                <p:cNvGrpSpPr/>
                <p:nvPr/>
              </p:nvGrpSpPr>
              <p:grpSpPr>
                <a:xfrm>
                  <a:off x="6141444" y="1995144"/>
                  <a:ext cx="264818" cy="247721"/>
                  <a:chOff x="1852129" y="4420190"/>
                  <a:chExt cx="601469" cy="601469"/>
                </a:xfrm>
              </p:grpSpPr>
              <p:sp>
                <p:nvSpPr>
                  <p:cNvPr id="7386" name="Google Shape;7386;p53"/>
                  <p:cNvSpPr/>
                  <p:nvPr/>
                </p:nvSpPr>
                <p:spPr>
                  <a:xfrm>
                    <a:off x="1852129" y="4420190"/>
                    <a:ext cx="601469" cy="601469"/>
                  </a:xfrm>
                  <a:custGeom>
                    <a:avLst/>
                    <a:gdLst/>
                    <a:ahLst/>
                    <a:cxnLst/>
                    <a:rect l="l" t="t" r="r" b="b"/>
                    <a:pathLst>
                      <a:path w="601469" h="601469" extrusionOk="0">
                        <a:moveTo>
                          <a:pt x="554667" y="15812"/>
                        </a:moveTo>
                        <a:cubicBezTo>
                          <a:pt x="571111" y="15812"/>
                          <a:pt x="585026" y="29093"/>
                          <a:pt x="585026" y="46170"/>
                        </a:cubicBezTo>
                        <a:lnTo>
                          <a:pt x="585026" y="555300"/>
                        </a:lnTo>
                        <a:cubicBezTo>
                          <a:pt x="585026" y="571744"/>
                          <a:pt x="571744" y="585658"/>
                          <a:pt x="554667" y="585658"/>
                        </a:cubicBezTo>
                        <a:lnTo>
                          <a:pt x="46170" y="585658"/>
                        </a:lnTo>
                        <a:cubicBezTo>
                          <a:pt x="29726" y="585658"/>
                          <a:pt x="15812" y="572376"/>
                          <a:pt x="15812" y="555300"/>
                        </a:cubicBezTo>
                        <a:lnTo>
                          <a:pt x="15812" y="46170"/>
                        </a:lnTo>
                        <a:cubicBezTo>
                          <a:pt x="15812" y="29726"/>
                          <a:pt x="29093" y="15812"/>
                          <a:pt x="46170" y="15812"/>
                        </a:cubicBezTo>
                        <a:lnTo>
                          <a:pt x="554667" y="15812"/>
                        </a:lnTo>
                        <a:moveTo>
                          <a:pt x="554667" y="0"/>
                        </a:moveTo>
                        <a:lnTo>
                          <a:pt x="46170" y="0"/>
                        </a:lnTo>
                        <a:cubicBezTo>
                          <a:pt x="20871" y="0"/>
                          <a:pt x="0" y="20239"/>
                          <a:pt x="0" y="46170"/>
                        </a:cubicBezTo>
                        <a:lnTo>
                          <a:pt x="0" y="555300"/>
                        </a:lnTo>
                        <a:cubicBezTo>
                          <a:pt x="0" y="580598"/>
                          <a:pt x="20239" y="601469"/>
                          <a:pt x="46170" y="601469"/>
                        </a:cubicBezTo>
                        <a:lnTo>
                          <a:pt x="555300" y="601469"/>
                        </a:lnTo>
                        <a:cubicBezTo>
                          <a:pt x="580598" y="601469"/>
                          <a:pt x="601469" y="581231"/>
                          <a:pt x="601469" y="555300"/>
                        </a:cubicBezTo>
                        <a:lnTo>
                          <a:pt x="601469" y="46170"/>
                        </a:lnTo>
                        <a:cubicBezTo>
                          <a:pt x="600837" y="20239"/>
                          <a:pt x="580598" y="0"/>
                          <a:pt x="554667" y="0"/>
                        </a:cubicBezTo>
                        <a:lnTo>
                          <a:pt x="554667" y="0"/>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387" name="Google Shape;7387;p53"/>
                  <p:cNvGrpSpPr/>
                  <p:nvPr/>
                </p:nvGrpSpPr>
                <p:grpSpPr>
                  <a:xfrm>
                    <a:off x="1946998" y="4528341"/>
                    <a:ext cx="157482" cy="156850"/>
                    <a:chOff x="1946998" y="4528341"/>
                    <a:chExt cx="157482" cy="156850"/>
                  </a:xfrm>
                </p:grpSpPr>
                <p:grpSp>
                  <p:nvGrpSpPr>
                    <p:cNvPr id="7388" name="Google Shape;7388;p53"/>
                    <p:cNvGrpSpPr/>
                    <p:nvPr/>
                  </p:nvGrpSpPr>
                  <p:grpSpPr>
                    <a:xfrm>
                      <a:off x="1986843" y="4567553"/>
                      <a:ext cx="78425" cy="78425"/>
                      <a:chOff x="1986843" y="4567553"/>
                      <a:chExt cx="78425" cy="78425"/>
                    </a:xfrm>
                  </p:grpSpPr>
                  <p:sp>
                    <p:nvSpPr>
                      <p:cNvPr id="7389" name="Google Shape;7389;p53"/>
                      <p:cNvSpPr/>
                      <p:nvPr/>
                    </p:nvSpPr>
                    <p:spPr>
                      <a:xfrm>
                        <a:off x="1986843"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0" name="Google Shape;7390;p53"/>
                      <p:cNvSpPr/>
                      <p:nvPr/>
                    </p:nvSpPr>
                    <p:spPr>
                      <a:xfrm>
                        <a:off x="2017834"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1" name="Google Shape;7391;p53"/>
                      <p:cNvSpPr/>
                      <p:nvPr/>
                    </p:nvSpPr>
                    <p:spPr>
                      <a:xfrm>
                        <a:off x="204945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92" name="Google Shape;7392;p53"/>
                    <p:cNvSpPr/>
                    <p:nvPr/>
                  </p:nvSpPr>
                  <p:spPr>
                    <a:xfrm>
                      <a:off x="1946998"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93" name="Google Shape;7393;p53"/>
                  <p:cNvGrpSpPr/>
                  <p:nvPr/>
                </p:nvGrpSpPr>
                <p:grpSpPr>
                  <a:xfrm>
                    <a:off x="2199982" y="4528341"/>
                    <a:ext cx="157482" cy="156850"/>
                    <a:chOff x="2199982" y="4528341"/>
                    <a:chExt cx="157482" cy="156850"/>
                  </a:xfrm>
                </p:grpSpPr>
                <p:grpSp>
                  <p:nvGrpSpPr>
                    <p:cNvPr id="7394" name="Google Shape;7394;p53"/>
                    <p:cNvGrpSpPr/>
                    <p:nvPr/>
                  </p:nvGrpSpPr>
                  <p:grpSpPr>
                    <a:xfrm>
                      <a:off x="2239827" y="4567553"/>
                      <a:ext cx="78425" cy="78425"/>
                      <a:chOff x="2239827" y="4567553"/>
                      <a:chExt cx="78425" cy="78425"/>
                    </a:xfrm>
                  </p:grpSpPr>
                  <p:sp>
                    <p:nvSpPr>
                      <p:cNvPr id="7395" name="Google Shape;7395;p53"/>
                      <p:cNvSpPr/>
                      <p:nvPr/>
                    </p:nvSpPr>
                    <p:spPr>
                      <a:xfrm>
                        <a:off x="223982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6" name="Google Shape;7396;p53"/>
                      <p:cNvSpPr/>
                      <p:nvPr/>
                    </p:nvSpPr>
                    <p:spPr>
                      <a:xfrm>
                        <a:off x="2270818"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7" name="Google Shape;7397;p53"/>
                      <p:cNvSpPr/>
                      <p:nvPr/>
                    </p:nvSpPr>
                    <p:spPr>
                      <a:xfrm>
                        <a:off x="2302441"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98" name="Google Shape;7398;p53"/>
                    <p:cNvSpPr/>
                    <p:nvPr/>
                  </p:nvSpPr>
                  <p:spPr>
                    <a:xfrm>
                      <a:off x="2199982"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99" name="Google Shape;7399;p53"/>
                  <p:cNvGrpSpPr/>
                  <p:nvPr/>
                </p:nvGrpSpPr>
                <p:grpSpPr>
                  <a:xfrm>
                    <a:off x="1946998" y="4768675"/>
                    <a:ext cx="157482" cy="156850"/>
                    <a:chOff x="1946998" y="4768675"/>
                    <a:chExt cx="157482" cy="156850"/>
                  </a:xfrm>
                </p:grpSpPr>
                <p:grpSp>
                  <p:nvGrpSpPr>
                    <p:cNvPr id="7400" name="Google Shape;7400;p53"/>
                    <p:cNvGrpSpPr/>
                    <p:nvPr/>
                  </p:nvGrpSpPr>
                  <p:grpSpPr>
                    <a:xfrm>
                      <a:off x="1986843" y="4807888"/>
                      <a:ext cx="78425" cy="78425"/>
                      <a:chOff x="1986843" y="4807888"/>
                      <a:chExt cx="78425" cy="78425"/>
                    </a:xfrm>
                  </p:grpSpPr>
                  <p:sp>
                    <p:nvSpPr>
                      <p:cNvPr id="7401" name="Google Shape;7401;p53"/>
                      <p:cNvSpPr/>
                      <p:nvPr/>
                    </p:nvSpPr>
                    <p:spPr>
                      <a:xfrm>
                        <a:off x="1986843"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2" name="Google Shape;7402;p53"/>
                      <p:cNvSpPr/>
                      <p:nvPr/>
                    </p:nvSpPr>
                    <p:spPr>
                      <a:xfrm>
                        <a:off x="2017834"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3" name="Google Shape;7403;p53"/>
                      <p:cNvSpPr/>
                      <p:nvPr/>
                    </p:nvSpPr>
                    <p:spPr>
                      <a:xfrm>
                        <a:off x="204945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404" name="Google Shape;7404;p53"/>
                    <p:cNvSpPr/>
                    <p:nvPr/>
                  </p:nvSpPr>
                  <p:spPr>
                    <a:xfrm>
                      <a:off x="1946998"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05" name="Google Shape;7405;p53"/>
                  <p:cNvGrpSpPr/>
                  <p:nvPr/>
                </p:nvGrpSpPr>
                <p:grpSpPr>
                  <a:xfrm>
                    <a:off x="2199982" y="4768675"/>
                    <a:ext cx="157482" cy="156850"/>
                    <a:chOff x="2199982" y="4768675"/>
                    <a:chExt cx="157482" cy="156850"/>
                  </a:xfrm>
                </p:grpSpPr>
                <p:grpSp>
                  <p:nvGrpSpPr>
                    <p:cNvPr id="7406" name="Google Shape;7406;p53"/>
                    <p:cNvGrpSpPr/>
                    <p:nvPr/>
                  </p:nvGrpSpPr>
                  <p:grpSpPr>
                    <a:xfrm>
                      <a:off x="2239827" y="4807888"/>
                      <a:ext cx="78425" cy="78425"/>
                      <a:chOff x="2239827" y="4807888"/>
                      <a:chExt cx="78425" cy="78425"/>
                    </a:xfrm>
                  </p:grpSpPr>
                  <p:sp>
                    <p:nvSpPr>
                      <p:cNvPr id="7407" name="Google Shape;7407;p53"/>
                      <p:cNvSpPr/>
                      <p:nvPr/>
                    </p:nvSpPr>
                    <p:spPr>
                      <a:xfrm>
                        <a:off x="223982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8" name="Google Shape;7408;p53"/>
                      <p:cNvSpPr/>
                      <p:nvPr/>
                    </p:nvSpPr>
                    <p:spPr>
                      <a:xfrm>
                        <a:off x="2270818"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9" name="Google Shape;7409;p53"/>
                      <p:cNvSpPr/>
                      <p:nvPr/>
                    </p:nvSpPr>
                    <p:spPr>
                      <a:xfrm>
                        <a:off x="2302441"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410" name="Google Shape;7410;p53"/>
                    <p:cNvSpPr/>
                    <p:nvPr/>
                  </p:nvSpPr>
                  <p:spPr>
                    <a:xfrm>
                      <a:off x="2199982"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grpSp>
            <p:nvGrpSpPr>
              <p:cNvPr id="7411" name="Google Shape;7411;p53"/>
              <p:cNvGrpSpPr/>
              <p:nvPr/>
            </p:nvGrpSpPr>
            <p:grpSpPr>
              <a:xfrm>
                <a:off x="3175570" y="1996647"/>
                <a:ext cx="955835" cy="237114"/>
                <a:chOff x="3175570" y="1998991"/>
                <a:chExt cx="955835" cy="237114"/>
              </a:xfrm>
            </p:grpSpPr>
            <p:grpSp>
              <p:nvGrpSpPr>
                <p:cNvPr id="7412" name="Google Shape;7412;p53" descr="Virtual Machine&#10;"/>
                <p:cNvGrpSpPr/>
                <p:nvPr/>
              </p:nvGrpSpPr>
              <p:grpSpPr>
                <a:xfrm>
                  <a:off x="3175570" y="1998991"/>
                  <a:ext cx="264817" cy="237114"/>
                  <a:chOff x="5798589" y="1951740"/>
                  <a:chExt cx="600836" cy="600837"/>
                </a:xfrm>
              </p:grpSpPr>
              <p:sp>
                <p:nvSpPr>
                  <p:cNvPr id="7413" name="Google Shape;7413;p53"/>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414" name="Google Shape;7414;p53"/>
                  <p:cNvGrpSpPr/>
                  <p:nvPr/>
                </p:nvGrpSpPr>
                <p:grpSpPr>
                  <a:xfrm>
                    <a:off x="5978207" y="2214844"/>
                    <a:ext cx="220729" cy="84117"/>
                    <a:chOff x="5978207" y="2214844"/>
                    <a:chExt cx="220729" cy="84117"/>
                  </a:xfrm>
                </p:grpSpPr>
                <p:sp>
                  <p:nvSpPr>
                    <p:cNvPr id="7415" name="Google Shape;7415;p53"/>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16" name="Google Shape;7416;p53"/>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7417" name="Google Shape;7417;p53" descr="Virtual Machine&#10;"/>
                <p:cNvGrpSpPr/>
                <p:nvPr/>
              </p:nvGrpSpPr>
              <p:grpSpPr>
                <a:xfrm>
                  <a:off x="3866588" y="1998991"/>
                  <a:ext cx="264817" cy="237114"/>
                  <a:chOff x="5798589" y="1951740"/>
                  <a:chExt cx="600836" cy="600837"/>
                </a:xfrm>
              </p:grpSpPr>
              <p:sp>
                <p:nvSpPr>
                  <p:cNvPr id="7418" name="Google Shape;7418;p53"/>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419" name="Google Shape;7419;p53"/>
                  <p:cNvGrpSpPr/>
                  <p:nvPr/>
                </p:nvGrpSpPr>
                <p:grpSpPr>
                  <a:xfrm>
                    <a:off x="5978207" y="2214844"/>
                    <a:ext cx="220729" cy="84117"/>
                    <a:chOff x="5978207" y="2214844"/>
                    <a:chExt cx="220729" cy="84117"/>
                  </a:xfrm>
                </p:grpSpPr>
                <p:sp>
                  <p:nvSpPr>
                    <p:cNvPr id="7420" name="Google Shape;7420;p53"/>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21" name="Google Shape;7421;p53"/>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7422" name="Google Shape;7422;p53" descr="Virtual Machine&#10;"/>
                <p:cNvGrpSpPr/>
                <p:nvPr/>
              </p:nvGrpSpPr>
              <p:grpSpPr>
                <a:xfrm>
                  <a:off x="3521079" y="1998991"/>
                  <a:ext cx="264817" cy="237114"/>
                  <a:chOff x="5798589" y="1951740"/>
                  <a:chExt cx="600836" cy="600837"/>
                </a:xfrm>
              </p:grpSpPr>
              <p:sp>
                <p:nvSpPr>
                  <p:cNvPr id="7423" name="Google Shape;7423;p53"/>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424" name="Google Shape;7424;p53"/>
                  <p:cNvGrpSpPr/>
                  <p:nvPr/>
                </p:nvGrpSpPr>
                <p:grpSpPr>
                  <a:xfrm>
                    <a:off x="5978207" y="2214844"/>
                    <a:ext cx="220729" cy="84117"/>
                    <a:chOff x="5978207" y="2214844"/>
                    <a:chExt cx="220729" cy="84117"/>
                  </a:xfrm>
                </p:grpSpPr>
                <p:sp>
                  <p:nvSpPr>
                    <p:cNvPr id="7425" name="Google Shape;7425;p53"/>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26" name="Google Shape;7426;p53"/>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grpSp>
            <p:nvGrpSpPr>
              <p:cNvPr id="7427" name="Google Shape;7427;p53"/>
              <p:cNvGrpSpPr/>
              <p:nvPr/>
            </p:nvGrpSpPr>
            <p:grpSpPr>
              <a:xfrm>
                <a:off x="2001779" y="1991344"/>
                <a:ext cx="961946" cy="247721"/>
                <a:chOff x="5444316" y="1995144"/>
                <a:chExt cx="961946" cy="247721"/>
              </a:xfrm>
            </p:grpSpPr>
            <p:grpSp>
              <p:nvGrpSpPr>
                <p:cNvPr id="7428" name="Google Shape;7428;p53" descr="Virtual Machine&#10;"/>
                <p:cNvGrpSpPr/>
                <p:nvPr/>
              </p:nvGrpSpPr>
              <p:grpSpPr>
                <a:xfrm>
                  <a:off x="5444316" y="2000447"/>
                  <a:ext cx="264817" cy="237114"/>
                  <a:chOff x="5798589" y="1951740"/>
                  <a:chExt cx="600836" cy="600837"/>
                </a:xfrm>
              </p:grpSpPr>
              <p:sp>
                <p:nvSpPr>
                  <p:cNvPr id="7429" name="Google Shape;7429;p53"/>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430" name="Google Shape;7430;p53"/>
                  <p:cNvGrpSpPr/>
                  <p:nvPr/>
                </p:nvGrpSpPr>
                <p:grpSpPr>
                  <a:xfrm>
                    <a:off x="5978207" y="2214844"/>
                    <a:ext cx="220729" cy="84117"/>
                    <a:chOff x="5978207" y="2214844"/>
                    <a:chExt cx="220729" cy="84117"/>
                  </a:xfrm>
                </p:grpSpPr>
                <p:sp>
                  <p:nvSpPr>
                    <p:cNvPr id="7431" name="Google Shape;7431;p53"/>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2" name="Google Shape;7432;p53"/>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7433" name="Google Shape;7433;p53" descr="Application"/>
                <p:cNvGrpSpPr/>
                <p:nvPr/>
              </p:nvGrpSpPr>
              <p:grpSpPr>
                <a:xfrm>
                  <a:off x="5792880" y="1995416"/>
                  <a:ext cx="264817" cy="247177"/>
                  <a:chOff x="530908" y="707686"/>
                  <a:chExt cx="600836" cy="600837"/>
                </a:xfrm>
              </p:grpSpPr>
              <p:sp>
                <p:nvSpPr>
                  <p:cNvPr id="7434" name="Google Shape;7434;p53"/>
                  <p:cNvSpPr/>
                  <p:nvPr/>
                </p:nvSpPr>
                <p:spPr>
                  <a:xfrm>
                    <a:off x="634568" y="934169"/>
                    <a:ext cx="126808" cy="126049"/>
                  </a:xfrm>
                  <a:custGeom>
                    <a:avLst/>
                    <a:gdLst/>
                    <a:ahLst/>
                    <a:cxnLst/>
                    <a:rect l="l" t="t" r="r" b="b"/>
                    <a:pathLst>
                      <a:path w="126808" h="126049" extrusionOk="0">
                        <a:moveTo>
                          <a:pt x="98348" y="97462"/>
                        </a:moveTo>
                        <a:lnTo>
                          <a:pt x="28271" y="97462"/>
                        </a:lnTo>
                        <a:lnTo>
                          <a:pt x="15622" y="126049"/>
                        </a:lnTo>
                        <a:lnTo>
                          <a:pt x="0" y="126049"/>
                        </a:lnTo>
                        <a:lnTo>
                          <a:pt x="55593" y="0"/>
                        </a:lnTo>
                        <a:lnTo>
                          <a:pt x="71215" y="0"/>
                        </a:lnTo>
                        <a:lnTo>
                          <a:pt x="126808" y="126049"/>
                        </a:lnTo>
                        <a:lnTo>
                          <a:pt x="110997" y="126049"/>
                        </a:lnTo>
                        <a:close/>
                        <a:moveTo>
                          <a:pt x="92466" y="83864"/>
                        </a:moveTo>
                        <a:lnTo>
                          <a:pt x="63499" y="17646"/>
                        </a:lnTo>
                        <a:lnTo>
                          <a:pt x="34153" y="8386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5" name="Google Shape;7435;p53"/>
                  <p:cNvSpPr/>
                  <p:nvPr/>
                </p:nvSpPr>
                <p:spPr>
                  <a:xfrm>
                    <a:off x="790976"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636" y="66914"/>
                        </a:moveTo>
                        <a:cubicBezTo>
                          <a:pt x="69128" y="66914"/>
                          <a:pt x="83105" y="56985"/>
                          <a:pt x="83105" y="40161"/>
                        </a:cubicBezTo>
                        <a:cubicBezTo>
                          <a:pt x="83105" y="23338"/>
                          <a:pt x="69128" y="13345"/>
                          <a:pt x="48636" y="13345"/>
                        </a:cubicBezTo>
                        <a:lnTo>
                          <a:pt x="14294" y="13345"/>
                        </a:lnTo>
                        <a:lnTo>
                          <a:pt x="14294" y="6691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6" name="Google Shape;7436;p53"/>
                  <p:cNvSpPr/>
                  <p:nvPr/>
                </p:nvSpPr>
                <p:spPr>
                  <a:xfrm>
                    <a:off x="919302"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573" y="66914"/>
                        </a:moveTo>
                        <a:cubicBezTo>
                          <a:pt x="69128" y="66914"/>
                          <a:pt x="83105" y="56985"/>
                          <a:pt x="83105" y="40161"/>
                        </a:cubicBezTo>
                        <a:cubicBezTo>
                          <a:pt x="83105" y="23338"/>
                          <a:pt x="69128" y="13345"/>
                          <a:pt x="48573" y="13345"/>
                        </a:cubicBezTo>
                        <a:lnTo>
                          <a:pt x="14294" y="13345"/>
                        </a:lnTo>
                        <a:lnTo>
                          <a:pt x="14294" y="6691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7" name="Google Shape;7437;p53"/>
                  <p:cNvSpPr/>
                  <p:nvPr/>
                </p:nvSpPr>
                <p:spPr>
                  <a:xfrm>
                    <a:off x="530908" y="707686"/>
                    <a:ext cx="600836" cy="600837"/>
                  </a:xfrm>
                  <a:custGeom>
                    <a:avLst/>
                    <a:gdLst/>
                    <a:ahLst/>
                    <a:cxnLst/>
                    <a:rect l="l" t="t" r="r" b="b"/>
                    <a:pathLst>
                      <a:path w="600836" h="600837" extrusionOk="0">
                        <a:moveTo>
                          <a:pt x="554920" y="15812"/>
                        </a:moveTo>
                        <a:cubicBezTo>
                          <a:pt x="571523" y="15812"/>
                          <a:pt x="584988" y="29251"/>
                          <a:pt x="585026" y="45853"/>
                        </a:cubicBezTo>
                        <a:lnTo>
                          <a:pt x="585026" y="554920"/>
                        </a:lnTo>
                        <a:cubicBezTo>
                          <a:pt x="585026" y="571548"/>
                          <a:pt x="571548" y="585026"/>
                          <a:pt x="554920" y="585026"/>
                        </a:cubicBezTo>
                        <a:lnTo>
                          <a:pt x="45853" y="585026"/>
                        </a:lnTo>
                        <a:cubicBezTo>
                          <a:pt x="29251" y="584988"/>
                          <a:pt x="15812" y="571523"/>
                          <a:pt x="15812" y="554920"/>
                        </a:cubicBezTo>
                        <a:lnTo>
                          <a:pt x="15812" y="45853"/>
                        </a:lnTo>
                        <a:cubicBezTo>
                          <a:pt x="15812" y="29261"/>
                          <a:pt x="29261" y="15812"/>
                          <a:pt x="45853" y="15812"/>
                        </a:cubicBezTo>
                        <a:lnTo>
                          <a:pt x="554920" y="15812"/>
                        </a:lnTo>
                        <a:moveTo>
                          <a:pt x="554920" y="0"/>
                        </a:moveTo>
                        <a:lnTo>
                          <a:pt x="45853" y="0"/>
                        </a:lnTo>
                        <a:cubicBezTo>
                          <a:pt x="20544" y="35"/>
                          <a:pt x="35" y="20544"/>
                          <a:pt x="0" y="45853"/>
                        </a:cubicBezTo>
                        <a:lnTo>
                          <a:pt x="0" y="554920"/>
                        </a:lnTo>
                        <a:cubicBezTo>
                          <a:pt x="0" y="580257"/>
                          <a:pt x="20519" y="600799"/>
                          <a:pt x="45853" y="600837"/>
                        </a:cubicBezTo>
                        <a:lnTo>
                          <a:pt x="554920" y="600837"/>
                        </a:lnTo>
                        <a:cubicBezTo>
                          <a:pt x="580282" y="600837"/>
                          <a:pt x="600837" y="580282"/>
                          <a:pt x="600837" y="554920"/>
                        </a:cubicBezTo>
                        <a:lnTo>
                          <a:pt x="600837" y="45853"/>
                        </a:lnTo>
                        <a:cubicBezTo>
                          <a:pt x="600799" y="20519"/>
                          <a:pt x="580257" y="0"/>
                          <a:pt x="554920" y="0"/>
                        </a:cubicBez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38" name="Google Shape;7438;p53" descr="Container 3&#10;"/>
                <p:cNvGrpSpPr/>
                <p:nvPr/>
              </p:nvGrpSpPr>
              <p:grpSpPr>
                <a:xfrm>
                  <a:off x="6141444" y="1995144"/>
                  <a:ext cx="264818" cy="247721"/>
                  <a:chOff x="1852129" y="4420190"/>
                  <a:chExt cx="601469" cy="601469"/>
                </a:xfrm>
              </p:grpSpPr>
              <p:sp>
                <p:nvSpPr>
                  <p:cNvPr id="7439" name="Google Shape;7439;p53"/>
                  <p:cNvSpPr/>
                  <p:nvPr/>
                </p:nvSpPr>
                <p:spPr>
                  <a:xfrm>
                    <a:off x="1852129" y="4420190"/>
                    <a:ext cx="601469" cy="601469"/>
                  </a:xfrm>
                  <a:custGeom>
                    <a:avLst/>
                    <a:gdLst/>
                    <a:ahLst/>
                    <a:cxnLst/>
                    <a:rect l="l" t="t" r="r" b="b"/>
                    <a:pathLst>
                      <a:path w="601469" h="601469" extrusionOk="0">
                        <a:moveTo>
                          <a:pt x="554667" y="15812"/>
                        </a:moveTo>
                        <a:cubicBezTo>
                          <a:pt x="571111" y="15812"/>
                          <a:pt x="585026" y="29093"/>
                          <a:pt x="585026" y="46170"/>
                        </a:cubicBezTo>
                        <a:lnTo>
                          <a:pt x="585026" y="555300"/>
                        </a:lnTo>
                        <a:cubicBezTo>
                          <a:pt x="585026" y="571744"/>
                          <a:pt x="571744" y="585658"/>
                          <a:pt x="554667" y="585658"/>
                        </a:cubicBezTo>
                        <a:lnTo>
                          <a:pt x="46170" y="585658"/>
                        </a:lnTo>
                        <a:cubicBezTo>
                          <a:pt x="29726" y="585658"/>
                          <a:pt x="15812" y="572376"/>
                          <a:pt x="15812" y="555300"/>
                        </a:cubicBezTo>
                        <a:lnTo>
                          <a:pt x="15812" y="46170"/>
                        </a:lnTo>
                        <a:cubicBezTo>
                          <a:pt x="15812" y="29726"/>
                          <a:pt x="29093" y="15812"/>
                          <a:pt x="46170" y="15812"/>
                        </a:cubicBezTo>
                        <a:lnTo>
                          <a:pt x="554667" y="15812"/>
                        </a:lnTo>
                        <a:moveTo>
                          <a:pt x="554667" y="0"/>
                        </a:moveTo>
                        <a:lnTo>
                          <a:pt x="46170" y="0"/>
                        </a:lnTo>
                        <a:cubicBezTo>
                          <a:pt x="20871" y="0"/>
                          <a:pt x="0" y="20239"/>
                          <a:pt x="0" y="46170"/>
                        </a:cubicBezTo>
                        <a:lnTo>
                          <a:pt x="0" y="555300"/>
                        </a:lnTo>
                        <a:cubicBezTo>
                          <a:pt x="0" y="580598"/>
                          <a:pt x="20239" y="601469"/>
                          <a:pt x="46170" y="601469"/>
                        </a:cubicBezTo>
                        <a:lnTo>
                          <a:pt x="555300" y="601469"/>
                        </a:lnTo>
                        <a:cubicBezTo>
                          <a:pt x="580598" y="601469"/>
                          <a:pt x="601469" y="581231"/>
                          <a:pt x="601469" y="555300"/>
                        </a:cubicBezTo>
                        <a:lnTo>
                          <a:pt x="601469" y="46170"/>
                        </a:lnTo>
                        <a:cubicBezTo>
                          <a:pt x="600837" y="20239"/>
                          <a:pt x="580598" y="0"/>
                          <a:pt x="554667" y="0"/>
                        </a:cubicBezTo>
                        <a:lnTo>
                          <a:pt x="554667" y="0"/>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440" name="Google Shape;7440;p53"/>
                  <p:cNvGrpSpPr/>
                  <p:nvPr/>
                </p:nvGrpSpPr>
                <p:grpSpPr>
                  <a:xfrm>
                    <a:off x="1946998" y="4528341"/>
                    <a:ext cx="157482" cy="156850"/>
                    <a:chOff x="1946998" y="4528341"/>
                    <a:chExt cx="157482" cy="156850"/>
                  </a:xfrm>
                </p:grpSpPr>
                <p:grpSp>
                  <p:nvGrpSpPr>
                    <p:cNvPr id="7441" name="Google Shape;7441;p53"/>
                    <p:cNvGrpSpPr/>
                    <p:nvPr/>
                  </p:nvGrpSpPr>
                  <p:grpSpPr>
                    <a:xfrm>
                      <a:off x="1986843" y="4567553"/>
                      <a:ext cx="78425" cy="78425"/>
                      <a:chOff x="1986843" y="4567553"/>
                      <a:chExt cx="78425" cy="78425"/>
                    </a:xfrm>
                  </p:grpSpPr>
                  <p:sp>
                    <p:nvSpPr>
                      <p:cNvPr id="7442" name="Google Shape;7442;p53"/>
                      <p:cNvSpPr/>
                      <p:nvPr/>
                    </p:nvSpPr>
                    <p:spPr>
                      <a:xfrm>
                        <a:off x="1986843"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3" name="Google Shape;7443;p53"/>
                      <p:cNvSpPr/>
                      <p:nvPr/>
                    </p:nvSpPr>
                    <p:spPr>
                      <a:xfrm>
                        <a:off x="2017834"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4" name="Google Shape;7444;p53"/>
                      <p:cNvSpPr/>
                      <p:nvPr/>
                    </p:nvSpPr>
                    <p:spPr>
                      <a:xfrm>
                        <a:off x="204945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445" name="Google Shape;7445;p53"/>
                    <p:cNvSpPr/>
                    <p:nvPr/>
                  </p:nvSpPr>
                  <p:spPr>
                    <a:xfrm>
                      <a:off x="1946998"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46" name="Google Shape;7446;p53"/>
                  <p:cNvGrpSpPr/>
                  <p:nvPr/>
                </p:nvGrpSpPr>
                <p:grpSpPr>
                  <a:xfrm>
                    <a:off x="2199982" y="4528341"/>
                    <a:ext cx="157482" cy="156850"/>
                    <a:chOff x="2199982" y="4528341"/>
                    <a:chExt cx="157482" cy="156850"/>
                  </a:xfrm>
                </p:grpSpPr>
                <p:grpSp>
                  <p:nvGrpSpPr>
                    <p:cNvPr id="7447" name="Google Shape;7447;p53"/>
                    <p:cNvGrpSpPr/>
                    <p:nvPr/>
                  </p:nvGrpSpPr>
                  <p:grpSpPr>
                    <a:xfrm>
                      <a:off x="2239827" y="4567553"/>
                      <a:ext cx="78425" cy="78425"/>
                      <a:chOff x="2239827" y="4567553"/>
                      <a:chExt cx="78425" cy="78425"/>
                    </a:xfrm>
                  </p:grpSpPr>
                  <p:sp>
                    <p:nvSpPr>
                      <p:cNvPr id="7448" name="Google Shape;7448;p53"/>
                      <p:cNvSpPr/>
                      <p:nvPr/>
                    </p:nvSpPr>
                    <p:spPr>
                      <a:xfrm>
                        <a:off x="223982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9" name="Google Shape;7449;p53"/>
                      <p:cNvSpPr/>
                      <p:nvPr/>
                    </p:nvSpPr>
                    <p:spPr>
                      <a:xfrm>
                        <a:off x="2270818"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0" name="Google Shape;7450;p53"/>
                      <p:cNvSpPr/>
                      <p:nvPr/>
                    </p:nvSpPr>
                    <p:spPr>
                      <a:xfrm>
                        <a:off x="2302441"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451" name="Google Shape;7451;p53"/>
                    <p:cNvSpPr/>
                    <p:nvPr/>
                  </p:nvSpPr>
                  <p:spPr>
                    <a:xfrm>
                      <a:off x="2199982"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52" name="Google Shape;7452;p53"/>
                  <p:cNvGrpSpPr/>
                  <p:nvPr/>
                </p:nvGrpSpPr>
                <p:grpSpPr>
                  <a:xfrm>
                    <a:off x="1946998" y="4768675"/>
                    <a:ext cx="157482" cy="156850"/>
                    <a:chOff x="1946998" y="4768675"/>
                    <a:chExt cx="157482" cy="156850"/>
                  </a:xfrm>
                </p:grpSpPr>
                <p:grpSp>
                  <p:nvGrpSpPr>
                    <p:cNvPr id="7453" name="Google Shape;7453;p53"/>
                    <p:cNvGrpSpPr/>
                    <p:nvPr/>
                  </p:nvGrpSpPr>
                  <p:grpSpPr>
                    <a:xfrm>
                      <a:off x="1986843" y="4807888"/>
                      <a:ext cx="78425" cy="78425"/>
                      <a:chOff x="1986843" y="4807888"/>
                      <a:chExt cx="78425" cy="78425"/>
                    </a:xfrm>
                  </p:grpSpPr>
                  <p:sp>
                    <p:nvSpPr>
                      <p:cNvPr id="7454" name="Google Shape;7454;p53"/>
                      <p:cNvSpPr/>
                      <p:nvPr/>
                    </p:nvSpPr>
                    <p:spPr>
                      <a:xfrm>
                        <a:off x="1986843"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5" name="Google Shape;7455;p53"/>
                      <p:cNvSpPr/>
                      <p:nvPr/>
                    </p:nvSpPr>
                    <p:spPr>
                      <a:xfrm>
                        <a:off x="2017834"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6" name="Google Shape;7456;p53"/>
                      <p:cNvSpPr/>
                      <p:nvPr/>
                    </p:nvSpPr>
                    <p:spPr>
                      <a:xfrm>
                        <a:off x="204945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457" name="Google Shape;7457;p53"/>
                    <p:cNvSpPr/>
                    <p:nvPr/>
                  </p:nvSpPr>
                  <p:spPr>
                    <a:xfrm>
                      <a:off x="1946998"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58" name="Google Shape;7458;p53"/>
                  <p:cNvGrpSpPr/>
                  <p:nvPr/>
                </p:nvGrpSpPr>
                <p:grpSpPr>
                  <a:xfrm>
                    <a:off x="2199982" y="4768675"/>
                    <a:ext cx="157482" cy="156850"/>
                    <a:chOff x="2199982" y="4768675"/>
                    <a:chExt cx="157482" cy="156850"/>
                  </a:xfrm>
                </p:grpSpPr>
                <p:grpSp>
                  <p:nvGrpSpPr>
                    <p:cNvPr id="7459" name="Google Shape;7459;p53"/>
                    <p:cNvGrpSpPr/>
                    <p:nvPr/>
                  </p:nvGrpSpPr>
                  <p:grpSpPr>
                    <a:xfrm>
                      <a:off x="2239827" y="4807888"/>
                      <a:ext cx="78425" cy="78425"/>
                      <a:chOff x="2239827" y="4807888"/>
                      <a:chExt cx="78425" cy="78425"/>
                    </a:xfrm>
                  </p:grpSpPr>
                  <p:sp>
                    <p:nvSpPr>
                      <p:cNvPr id="7460" name="Google Shape;7460;p53"/>
                      <p:cNvSpPr/>
                      <p:nvPr/>
                    </p:nvSpPr>
                    <p:spPr>
                      <a:xfrm>
                        <a:off x="223982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1" name="Google Shape;7461;p53"/>
                      <p:cNvSpPr/>
                      <p:nvPr/>
                    </p:nvSpPr>
                    <p:spPr>
                      <a:xfrm>
                        <a:off x="2270818"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2" name="Google Shape;7462;p53"/>
                      <p:cNvSpPr/>
                      <p:nvPr/>
                    </p:nvSpPr>
                    <p:spPr>
                      <a:xfrm>
                        <a:off x="2302441"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463" name="Google Shape;7463;p53"/>
                    <p:cNvSpPr/>
                    <p:nvPr/>
                  </p:nvSpPr>
                  <p:spPr>
                    <a:xfrm>
                      <a:off x="2199982"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9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3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68"/>
        <p:cNvGrpSpPr/>
        <p:nvPr/>
      </p:nvGrpSpPr>
      <p:grpSpPr>
        <a:xfrm>
          <a:off x="0" y="0"/>
          <a:ext cx="0" cy="0"/>
          <a:chOff x="0" y="0"/>
          <a:chExt cx="0" cy="0"/>
        </a:xfrm>
      </p:grpSpPr>
      <p:pic>
        <p:nvPicPr>
          <p:cNvPr id="7469" name="Google Shape;7469;p54"/>
          <p:cNvPicPr preferRelativeResize="0"/>
          <p:nvPr/>
        </p:nvPicPr>
        <p:blipFill rotWithShape="1">
          <a:blip r:embed="rId3">
            <a:alphaModFix/>
          </a:blip>
          <a:srcRect b="20828"/>
          <a:stretch/>
        </p:blipFill>
        <p:spPr>
          <a:xfrm>
            <a:off x="595863" y="1694870"/>
            <a:ext cx="7397496" cy="3687839"/>
          </a:xfrm>
          <a:prstGeom prst="rect">
            <a:avLst/>
          </a:prstGeom>
          <a:noFill/>
          <a:ln>
            <a:noFill/>
          </a:ln>
          <a:effectLst>
            <a:outerShdw blurRad="50800" dist="38100" dir="2700000" algn="tl" rotWithShape="0">
              <a:srgbClr val="000000">
                <a:alpha val="40000"/>
              </a:srgbClr>
            </a:outerShdw>
          </a:effectLst>
        </p:spPr>
      </p:pic>
      <p:sp>
        <p:nvSpPr>
          <p:cNvPr id="7470" name="Google Shape;7470;p5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Streamlined Processes for Efficient Organization Management</a:t>
            </a:r>
            <a:endParaRPr/>
          </a:p>
        </p:txBody>
      </p:sp>
      <p:sp>
        <p:nvSpPr>
          <p:cNvPr id="7471" name="Google Shape;7471;p54"/>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1200"/>
              </a:spcAft>
              <a:buSzPts val="1800"/>
              <a:buNone/>
            </a:pPr>
            <a:r>
              <a:rPr lang="en-US"/>
              <a:t>Quick Setup and Guided Workflows to Configure Organizations</a:t>
            </a:r>
            <a:endParaRPr/>
          </a:p>
        </p:txBody>
      </p:sp>
      <p:sp>
        <p:nvSpPr>
          <p:cNvPr id="7472" name="Google Shape;7472;p54"/>
          <p:cNvSpPr txBox="1">
            <a:spLocks noGrp="1"/>
          </p:cNvSpPr>
          <p:nvPr>
            <p:ph type="body" idx="2"/>
          </p:nvPr>
        </p:nvSpPr>
        <p:spPr>
          <a:xfrm>
            <a:off x="8380413" y="1600200"/>
            <a:ext cx="3808412" cy="4572000"/>
          </a:xfrm>
          <a:prstGeom prst="rect">
            <a:avLst/>
          </a:prstGeom>
          <a:noFill/>
          <a:ln>
            <a:noFill/>
          </a:ln>
        </p:spPr>
        <p:txBody>
          <a:bodyPr spcFirstLastPara="1" wrap="square" lIns="0" tIns="457075" rIns="594175" bIns="457075" anchor="t" anchorCtr="0">
            <a:noAutofit/>
          </a:bodyPr>
          <a:lstStyle/>
          <a:p>
            <a:pPr marL="0" lvl="0" indent="0" algn="l" rtl="0">
              <a:lnSpc>
                <a:spcPct val="100000"/>
              </a:lnSpc>
              <a:spcBef>
                <a:spcPts val="0"/>
              </a:spcBef>
              <a:spcAft>
                <a:spcPts val="0"/>
              </a:spcAft>
              <a:buSzPts val="1440"/>
              <a:buNone/>
            </a:pPr>
            <a:r>
              <a:rPr lang="en-US" dirty="0"/>
              <a:t>Simplify the adoption process for customers using VCF Automation 9, streamlining processes to save time, reduce errors, and boost productivity. </a:t>
            </a:r>
            <a:endParaRPr dirty="0"/>
          </a:p>
          <a:p>
            <a:pPr marL="0" lvl="0" indent="0" algn="l" rtl="0">
              <a:lnSpc>
                <a:spcPct val="100000"/>
              </a:lnSpc>
              <a:spcBef>
                <a:spcPts val="1200"/>
              </a:spcBef>
              <a:spcAft>
                <a:spcPts val="0"/>
              </a:spcAft>
              <a:buSzPts val="1440"/>
              <a:buNone/>
            </a:pPr>
            <a:r>
              <a:rPr lang="en-US" dirty="0"/>
              <a:t>Enhance onboarding and support to create a better user experience.</a:t>
            </a:r>
            <a:endParaRPr dirty="0"/>
          </a:p>
          <a:p>
            <a:pPr marL="285750" lvl="0" indent="-285750" algn="l" rtl="0">
              <a:lnSpc>
                <a:spcPct val="100000"/>
              </a:lnSpc>
              <a:spcBef>
                <a:spcPts val="1200"/>
              </a:spcBef>
              <a:spcAft>
                <a:spcPts val="0"/>
              </a:spcAft>
              <a:buSzPts val="1260"/>
              <a:buFont typeface="Arial"/>
              <a:buChar char="•"/>
            </a:pPr>
            <a:r>
              <a:rPr lang="en-US" sz="1400" dirty="0"/>
              <a:t>Create organizations with network-isolated workloads and external connectivity through automated project and vSphere namespace creation.</a:t>
            </a:r>
            <a:endParaRPr dirty="0"/>
          </a:p>
          <a:p>
            <a:pPr marL="285750" lvl="0" indent="-285750" algn="l" rtl="0">
              <a:lnSpc>
                <a:spcPct val="100000"/>
              </a:lnSpc>
              <a:spcBef>
                <a:spcPts val="1200"/>
              </a:spcBef>
              <a:spcAft>
                <a:spcPts val="1200"/>
              </a:spcAft>
              <a:buSzPts val="1260"/>
              <a:buFont typeface="Arial"/>
              <a:buChar char="•"/>
            </a:pPr>
            <a:r>
              <a:rPr lang="en-US" sz="1400" dirty="0"/>
              <a:t>Guided workflows assist users who opt out of the Quick Start.</a:t>
            </a:r>
            <a:endParaRPr dirty="0"/>
          </a:p>
        </p:txBody>
      </p:sp>
      <p:pic>
        <p:nvPicPr>
          <p:cNvPr id="7473" name="Google Shape;7473;p54" descr="Ubuntu blueprint"/>
          <p:cNvPicPr preferRelativeResize="0">
            <a:picLocks noGrp="1"/>
          </p:cNvPicPr>
          <p:nvPr>
            <p:ph type="body" idx="3"/>
          </p:nvPr>
        </p:nvPicPr>
        <p:blipFill rotWithShape="1">
          <a:blip r:embed="rId4">
            <a:alphaModFix/>
          </a:blip>
          <a:srcRect b="7473"/>
          <a:stretch/>
        </p:blipFill>
        <p:spPr>
          <a:xfrm>
            <a:off x="595863" y="1694870"/>
            <a:ext cx="7397750" cy="3535826"/>
          </a:xfrm>
          <a:prstGeom prst="rect">
            <a:avLst/>
          </a:prstGeom>
          <a:noFill/>
          <a:ln>
            <a:noFill/>
          </a:ln>
        </p:spPr>
      </p:pic>
      <p:pic>
        <p:nvPicPr>
          <p:cNvPr id="7474" name="Google Shape;7474;p54"/>
          <p:cNvPicPr preferRelativeResize="0"/>
          <p:nvPr/>
        </p:nvPicPr>
        <p:blipFill rotWithShape="1">
          <a:blip r:embed="rId5">
            <a:alphaModFix/>
          </a:blip>
          <a:srcRect/>
          <a:stretch/>
        </p:blipFill>
        <p:spPr>
          <a:xfrm>
            <a:off x="595863" y="1999541"/>
            <a:ext cx="7397496" cy="3383168"/>
          </a:xfrm>
          <a:prstGeom prst="rect">
            <a:avLst/>
          </a:prstGeom>
          <a:noFill/>
          <a:ln>
            <a:noFill/>
          </a:ln>
          <a:effectLst>
            <a:outerShdw blurRad="50800" dist="38100" dir="27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79"/>
        <p:cNvGrpSpPr/>
        <p:nvPr/>
      </p:nvGrpSpPr>
      <p:grpSpPr>
        <a:xfrm>
          <a:off x="0" y="0"/>
          <a:ext cx="0" cy="0"/>
          <a:chOff x="0" y="0"/>
          <a:chExt cx="0" cy="0"/>
        </a:xfrm>
      </p:grpSpPr>
      <p:sp>
        <p:nvSpPr>
          <p:cNvPr id="7480" name="Google Shape;7480;p55"/>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Provide Out-of-the-Box IaaS Services </a:t>
            </a:r>
            <a:endParaRPr/>
          </a:p>
        </p:txBody>
      </p:sp>
      <p:sp>
        <p:nvSpPr>
          <p:cNvPr id="7481" name="Google Shape;7481;p55"/>
          <p:cNvSpPr txBox="1">
            <a:spLocks noGrp="1"/>
          </p:cNvSpPr>
          <p:nvPr>
            <p:ph type="subTitle" idx="1"/>
          </p:nvPr>
        </p:nvSpPr>
        <p:spPr>
          <a:xfrm>
            <a:off x="592867" y="812513"/>
            <a:ext cx="10962687" cy="24767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Self-service cloud experience enabled by Supervisor Services</a:t>
            </a:r>
            <a:endParaRPr/>
          </a:p>
        </p:txBody>
      </p:sp>
      <p:sp>
        <p:nvSpPr>
          <p:cNvPr id="7482" name="Google Shape;7482;p55"/>
          <p:cNvSpPr txBox="1">
            <a:spLocks noGrp="1"/>
          </p:cNvSpPr>
          <p:nvPr>
            <p:ph type="body" idx="2"/>
          </p:nvPr>
        </p:nvSpPr>
        <p:spPr>
          <a:xfrm>
            <a:off x="8380413" y="1600676"/>
            <a:ext cx="3920146" cy="5256431"/>
          </a:xfrm>
          <a:prstGeom prst="rect">
            <a:avLst/>
          </a:prstGeom>
          <a:noFill/>
          <a:ln>
            <a:noFill/>
          </a:ln>
        </p:spPr>
        <p:txBody>
          <a:bodyPr spcFirstLastPara="1" wrap="square" lIns="0" tIns="457075" rIns="594175" bIns="457075" anchor="t" anchorCtr="0">
            <a:noAutofit/>
          </a:bodyPr>
          <a:lstStyle/>
          <a:p>
            <a:pPr marL="0" lvl="0" indent="0" algn="l" rtl="0">
              <a:lnSpc>
                <a:spcPct val="100000"/>
              </a:lnSpc>
              <a:spcBef>
                <a:spcPts val="0"/>
              </a:spcBef>
              <a:spcAft>
                <a:spcPts val="0"/>
              </a:spcAft>
              <a:buSzPts val="1440"/>
              <a:buNone/>
            </a:pPr>
            <a:r>
              <a:rPr lang="en-US"/>
              <a:t>Simplify the deployment and management of IT resources.</a:t>
            </a:r>
            <a:endParaRPr/>
          </a:p>
          <a:p>
            <a:pPr marL="0" lvl="0" indent="0" algn="l" rtl="0">
              <a:lnSpc>
                <a:spcPct val="100000"/>
              </a:lnSpc>
              <a:spcBef>
                <a:spcPts val="600"/>
              </a:spcBef>
              <a:spcAft>
                <a:spcPts val="0"/>
              </a:spcAft>
              <a:buSzPts val="1440"/>
              <a:buNone/>
            </a:pPr>
            <a:r>
              <a:rPr lang="en-US"/>
              <a:t>Increase user productivity by reducing dependence on IT Admins.</a:t>
            </a:r>
            <a:endParaRPr/>
          </a:p>
          <a:p>
            <a:pPr marL="0" lvl="0" indent="0" algn="l" rtl="0">
              <a:lnSpc>
                <a:spcPct val="100000"/>
              </a:lnSpc>
              <a:spcBef>
                <a:spcPts val="600"/>
              </a:spcBef>
              <a:spcAft>
                <a:spcPts val="0"/>
              </a:spcAft>
              <a:buSzPts val="1440"/>
              <a:buNone/>
            </a:pPr>
            <a:r>
              <a:rPr lang="en-US"/>
              <a:t>User-friendly interface to save time and simplify operations.</a:t>
            </a:r>
            <a:endParaRPr/>
          </a:p>
          <a:p>
            <a:pPr marL="285664" lvl="0" indent="-285664" algn="l" rtl="0">
              <a:lnSpc>
                <a:spcPct val="100000"/>
              </a:lnSpc>
              <a:spcBef>
                <a:spcPts val="600"/>
              </a:spcBef>
              <a:spcAft>
                <a:spcPts val="0"/>
              </a:spcAft>
              <a:buSzPts val="1260"/>
              <a:buFont typeface="Arial"/>
              <a:buChar char="•"/>
            </a:pPr>
            <a:r>
              <a:rPr lang="en-US" sz="1400"/>
              <a:t>Comprehensive OOTB IaaS services.</a:t>
            </a:r>
            <a:endParaRPr/>
          </a:p>
          <a:p>
            <a:pPr marL="285664" lvl="0" indent="-285664" algn="l" rtl="0">
              <a:lnSpc>
                <a:spcPct val="100000"/>
              </a:lnSpc>
              <a:spcBef>
                <a:spcPts val="600"/>
              </a:spcBef>
              <a:spcAft>
                <a:spcPts val="0"/>
              </a:spcAft>
              <a:buSzPts val="1260"/>
              <a:buFont typeface="Arial"/>
              <a:buChar char="•"/>
            </a:pPr>
            <a:r>
              <a:rPr lang="en-US" sz="1400"/>
              <a:t>Public cloud-like experience.</a:t>
            </a:r>
            <a:endParaRPr/>
          </a:p>
          <a:p>
            <a:pPr marL="285664" lvl="0" indent="-285664" algn="l" rtl="0">
              <a:lnSpc>
                <a:spcPct val="100000"/>
              </a:lnSpc>
              <a:spcBef>
                <a:spcPts val="600"/>
              </a:spcBef>
              <a:spcAft>
                <a:spcPts val="0"/>
              </a:spcAft>
              <a:buSzPts val="1260"/>
              <a:buFont typeface="Arial"/>
              <a:buChar char="•"/>
            </a:pPr>
            <a:r>
              <a:rPr lang="en-US" sz="1400"/>
              <a:t>Streamline provisioning of IaaS services with VCFA’s interface.</a:t>
            </a:r>
            <a:endParaRPr/>
          </a:p>
        </p:txBody>
      </p:sp>
      <p:grpSp>
        <p:nvGrpSpPr>
          <p:cNvPr id="7483" name="Google Shape;7483;p55"/>
          <p:cNvGrpSpPr/>
          <p:nvPr/>
        </p:nvGrpSpPr>
        <p:grpSpPr>
          <a:xfrm>
            <a:off x="607317" y="1694870"/>
            <a:ext cx="7398998" cy="3666159"/>
            <a:chOff x="612197" y="1808760"/>
            <a:chExt cx="7398998" cy="3666159"/>
          </a:xfrm>
        </p:grpSpPr>
        <p:pic>
          <p:nvPicPr>
            <p:cNvPr id="7484" name="Google Shape;7484;p55" descr="Ubuntu blueprint"/>
            <p:cNvPicPr preferRelativeResize="0"/>
            <p:nvPr/>
          </p:nvPicPr>
          <p:blipFill rotWithShape="1">
            <a:blip r:embed="rId3">
              <a:alphaModFix/>
            </a:blip>
            <a:srcRect b="7473"/>
            <a:stretch/>
          </p:blipFill>
          <p:spPr>
            <a:xfrm>
              <a:off x="612197" y="1808760"/>
              <a:ext cx="7398998" cy="3536414"/>
            </a:xfrm>
            <a:prstGeom prst="rect">
              <a:avLst/>
            </a:prstGeom>
            <a:noFill/>
            <a:ln>
              <a:noFill/>
            </a:ln>
          </p:spPr>
        </p:pic>
        <p:pic>
          <p:nvPicPr>
            <p:cNvPr id="7485" name="Google Shape;7485;p55"/>
            <p:cNvPicPr preferRelativeResize="0"/>
            <p:nvPr/>
          </p:nvPicPr>
          <p:blipFill rotWithShape="1">
            <a:blip r:embed="rId4">
              <a:alphaModFix/>
            </a:blip>
            <a:srcRect b="2917"/>
            <a:stretch/>
          </p:blipFill>
          <p:spPr>
            <a:xfrm>
              <a:off x="612197" y="2087353"/>
              <a:ext cx="7398998" cy="3387566"/>
            </a:xfrm>
            <a:prstGeom prst="rect">
              <a:avLst/>
            </a:prstGeom>
            <a:noFill/>
            <a:ln>
              <a:noFill/>
            </a:ln>
            <a:effectLst>
              <a:outerShdw blurRad="50800" dist="38100" dir="2700000" algn="tl" rotWithShape="0">
                <a:srgbClr val="000000">
                  <a:alpha val="40000"/>
                </a:srgbClr>
              </a:outerShdw>
            </a:effectLst>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77"/>
        <p:cNvGrpSpPr/>
        <p:nvPr/>
      </p:nvGrpSpPr>
      <p:grpSpPr>
        <a:xfrm>
          <a:off x="0" y="0"/>
          <a:ext cx="0" cy="0"/>
          <a:chOff x="0" y="0"/>
          <a:chExt cx="0" cy="0"/>
        </a:xfrm>
      </p:grpSpPr>
      <p:pic>
        <p:nvPicPr>
          <p:cNvPr id="3381" name="Google Shape;3381;p130" descr="A screenshot of a computer&#10;&#10;AI-generated content may be incorrect."/>
          <p:cNvPicPr preferRelativeResize="0"/>
          <p:nvPr/>
        </p:nvPicPr>
        <p:blipFill rotWithShape="1">
          <a:blip r:embed="rId3">
            <a:alphaModFix/>
          </a:blip>
          <a:srcRect b="93226"/>
          <a:stretch/>
        </p:blipFill>
        <p:spPr>
          <a:xfrm>
            <a:off x="579809" y="1694870"/>
            <a:ext cx="7395570" cy="247743"/>
          </a:xfrm>
          <a:prstGeom prst="rect">
            <a:avLst/>
          </a:prstGeom>
          <a:noFill/>
          <a:ln>
            <a:noFill/>
          </a:ln>
          <a:effectLst>
            <a:outerShdw blurRad="50800" dist="38100" dir="2700000" algn="tl" rotWithShape="0">
              <a:prstClr val="black">
                <a:alpha val="40000"/>
              </a:prstClr>
            </a:outerShdw>
          </a:effectLst>
        </p:spPr>
      </p:pic>
      <p:sp>
        <p:nvSpPr>
          <p:cNvPr id="3378" name="Google Shape;3378;p130"/>
          <p:cNvSpPr txBox="1">
            <a:spLocks noGrp="1"/>
          </p:cNvSpPr>
          <p:nvPr>
            <p:ph type="title"/>
          </p:nvPr>
        </p:nvSpPr>
        <p:spPr>
          <a:noFill/>
          <a:ln>
            <a:noFill/>
          </a:ln>
        </p:spPr>
        <p:txBody>
          <a:bodyPr spcFirstLastPara="1" vert="horz" wrap="square" lIns="0" tIns="0" rIns="0" bIns="0" rtlCol="0" anchor="b" anchorCtr="0">
            <a:noAutofit/>
          </a:bodyPr>
          <a:lstStyle/>
          <a:p>
            <a:r>
              <a:rPr lang="en-US" dirty="0"/>
              <a:t>Balancing Access and Efficiency for Optimal Resource Management</a:t>
            </a:r>
          </a:p>
        </p:txBody>
      </p:sp>
      <p:sp>
        <p:nvSpPr>
          <p:cNvPr id="3379" name="Google Shape;3379;p130"/>
          <p:cNvSpPr txBox="1">
            <a:spLocks noGrp="1"/>
          </p:cNvSpPr>
          <p:nvPr>
            <p:ph type="subTitle" idx="10"/>
          </p:nvPr>
        </p:nvSpPr>
        <p:spPr>
          <a:noFill/>
          <a:ln>
            <a:noFill/>
          </a:ln>
        </p:spPr>
        <p:txBody>
          <a:bodyPr spcFirstLastPara="1" vert="horz" wrap="square" lIns="0" tIns="0" rIns="0" bIns="0" rtlCol="0" anchor="t" anchorCtr="0">
            <a:noAutofit/>
          </a:bodyPr>
          <a:lstStyle/>
          <a:p>
            <a:r>
              <a:rPr lang="en-US" dirty="0"/>
              <a:t>Governance for users and resources with Limits and Reservations. </a:t>
            </a:r>
          </a:p>
        </p:txBody>
      </p:sp>
      <p:sp>
        <p:nvSpPr>
          <p:cNvPr id="3380" name="Google Shape;3380;p130"/>
          <p:cNvSpPr txBox="1">
            <a:spLocks noGrp="1"/>
          </p:cNvSpPr>
          <p:nvPr>
            <p:ph type="body" sz="quarter" idx="17"/>
          </p:nvPr>
        </p:nvSpPr>
        <p:spPr>
          <a:xfrm>
            <a:off x="8380412" y="1600200"/>
            <a:ext cx="3906837" cy="5257800"/>
          </a:xfrm>
          <a:noFill/>
          <a:ln>
            <a:noFill/>
          </a:ln>
        </p:spPr>
        <p:txBody>
          <a:bodyPr spcFirstLastPara="1" vert="horz" wrap="square" lIns="0" tIns="457081" rIns="594195" bIns="457081" rtlCol="0" anchor="t" anchorCtr="0">
            <a:noAutofit/>
          </a:bodyPr>
          <a:lstStyle/>
          <a:p>
            <a:pPr>
              <a:buNone/>
            </a:pPr>
            <a:r>
              <a:rPr lang="en-US" dirty="0"/>
              <a:t>Enhance efficiency and streamline processes of infrastructure resources.</a:t>
            </a:r>
          </a:p>
          <a:p>
            <a:pPr>
              <a:buNone/>
            </a:pPr>
            <a:r>
              <a:rPr lang="en-US" dirty="0"/>
              <a:t>Achieve control over resources, cost, scaling, and overall operational performance.</a:t>
            </a:r>
          </a:p>
          <a:p>
            <a:pPr marL="285750" indent="-285750">
              <a:buFont typeface="Arial" panose="020B0604020202020204" pitchFamily="34" charset="0"/>
              <a:buChar char="•"/>
            </a:pPr>
            <a:r>
              <a:rPr lang="en-US" sz="1400" dirty="0"/>
              <a:t>Organization Admins can create projects and vSphere Namespaces, assign users, and view usage/costs.</a:t>
            </a:r>
          </a:p>
          <a:p>
            <a:pPr marL="285750" indent="-285750">
              <a:buFont typeface="Arial" panose="020B0604020202020204" pitchFamily="34" charset="0"/>
              <a:buChar char="•"/>
            </a:pPr>
            <a:r>
              <a:rPr lang="en-US" sz="1400" dirty="0"/>
              <a:t>A vSphere Namespace is a resource pool that facilitates IaaS provisioning by providing a framework through the vSphere Namespace class.</a:t>
            </a:r>
          </a:p>
        </p:txBody>
      </p:sp>
      <p:grpSp>
        <p:nvGrpSpPr>
          <p:cNvPr id="11" name="Group 10">
            <a:extLst>
              <a:ext uri="{FF2B5EF4-FFF2-40B4-BE49-F238E27FC236}">
                <a16:creationId xmlns:a16="http://schemas.microsoft.com/office/drawing/2014/main" id="{E06E733D-8237-9986-2D09-D683414E14EE}"/>
              </a:ext>
            </a:extLst>
          </p:cNvPr>
          <p:cNvGrpSpPr/>
          <p:nvPr/>
        </p:nvGrpSpPr>
        <p:grpSpPr>
          <a:xfrm>
            <a:off x="577883" y="1941642"/>
            <a:ext cx="7397496" cy="3692966"/>
            <a:chOff x="577883" y="1941642"/>
            <a:chExt cx="7397496" cy="3692966"/>
          </a:xfrm>
          <a:effectLst>
            <a:outerShdw blurRad="50800" dist="38100" dir="2700000" algn="tl" rotWithShape="0">
              <a:prstClr val="black">
                <a:alpha val="40000"/>
              </a:prstClr>
            </a:outerShdw>
          </a:effectLst>
        </p:grpSpPr>
        <p:pic>
          <p:nvPicPr>
            <p:cNvPr id="6" name="Picture 5">
              <a:extLst>
                <a:ext uri="{FF2B5EF4-FFF2-40B4-BE49-F238E27FC236}">
                  <a16:creationId xmlns:a16="http://schemas.microsoft.com/office/drawing/2014/main" id="{573FE9BB-1FE9-D020-068E-A835ACF53CD6}"/>
                </a:ext>
              </a:extLst>
            </p:cNvPr>
            <p:cNvPicPr>
              <a:picLocks noChangeAspect="1"/>
            </p:cNvPicPr>
            <p:nvPr/>
          </p:nvPicPr>
          <p:blipFill>
            <a:blip r:embed="rId4"/>
            <a:stretch>
              <a:fillRect/>
            </a:stretch>
          </p:blipFill>
          <p:spPr>
            <a:xfrm>
              <a:off x="577883" y="1941642"/>
              <a:ext cx="7397496" cy="3692966"/>
            </a:xfrm>
            <a:prstGeom prst="rect">
              <a:avLst/>
            </a:prstGeom>
          </p:spPr>
        </p:pic>
        <p:pic>
          <p:nvPicPr>
            <p:cNvPr id="10" name="Picture 9">
              <a:extLst>
                <a:ext uri="{FF2B5EF4-FFF2-40B4-BE49-F238E27FC236}">
                  <a16:creationId xmlns:a16="http://schemas.microsoft.com/office/drawing/2014/main" id="{4DBE365C-AB41-B075-173D-7C5297554266}"/>
                </a:ext>
              </a:extLst>
            </p:cNvPr>
            <p:cNvPicPr>
              <a:picLocks noChangeAspect="1"/>
            </p:cNvPicPr>
            <p:nvPr/>
          </p:nvPicPr>
          <p:blipFill>
            <a:blip r:embed="rId5"/>
            <a:stretch>
              <a:fillRect/>
            </a:stretch>
          </p:blipFill>
          <p:spPr>
            <a:xfrm>
              <a:off x="4824184" y="3877272"/>
              <a:ext cx="60545" cy="72653"/>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02"/>
        <p:cNvGrpSpPr/>
        <p:nvPr/>
      </p:nvGrpSpPr>
      <p:grpSpPr>
        <a:xfrm>
          <a:off x="0" y="0"/>
          <a:ext cx="0" cy="0"/>
          <a:chOff x="0" y="0"/>
          <a:chExt cx="0" cy="0"/>
        </a:xfrm>
      </p:grpSpPr>
      <p:pic>
        <p:nvPicPr>
          <p:cNvPr id="7503" name="Google Shape;7503;p57" descr="A screenshot of a computer&#10;&#10;AI-generated content may be incorrect."/>
          <p:cNvPicPr preferRelativeResize="0">
            <a:picLocks noGrp="1"/>
          </p:cNvPicPr>
          <p:nvPr>
            <p:ph type="body" idx="3"/>
          </p:nvPr>
        </p:nvPicPr>
        <p:blipFill rotWithShape="1">
          <a:blip r:embed="rId3">
            <a:alphaModFix/>
          </a:blip>
          <a:srcRect t="1" b="93392"/>
          <a:stretch/>
        </p:blipFill>
        <p:spPr>
          <a:xfrm>
            <a:off x="580113" y="1694870"/>
            <a:ext cx="7397496" cy="247744"/>
          </a:xfrm>
          <a:prstGeom prst="rect">
            <a:avLst/>
          </a:prstGeom>
          <a:noFill/>
          <a:ln>
            <a:noFill/>
          </a:ln>
          <a:effectLst>
            <a:outerShdw blurRad="50800" dist="38100" dir="2700000" algn="tl" rotWithShape="0">
              <a:srgbClr val="000000">
                <a:alpha val="40000"/>
              </a:srgbClr>
            </a:outerShdw>
          </a:effectLst>
        </p:spPr>
      </p:pic>
      <p:pic>
        <p:nvPicPr>
          <p:cNvPr id="7504" name="Google Shape;7504;p57"/>
          <p:cNvPicPr preferRelativeResize="0"/>
          <p:nvPr/>
        </p:nvPicPr>
        <p:blipFill rotWithShape="1">
          <a:blip r:embed="rId4">
            <a:alphaModFix/>
          </a:blip>
          <a:srcRect/>
          <a:stretch/>
        </p:blipFill>
        <p:spPr>
          <a:xfrm>
            <a:off x="586387" y="1926010"/>
            <a:ext cx="7397496" cy="3692966"/>
          </a:xfrm>
          <a:prstGeom prst="rect">
            <a:avLst/>
          </a:prstGeom>
          <a:noFill/>
          <a:ln>
            <a:noFill/>
          </a:ln>
          <a:effectLst>
            <a:outerShdw blurRad="50800" dist="38100" dir="2700000" algn="tl" rotWithShape="0">
              <a:srgbClr val="000000">
                <a:alpha val="40000"/>
              </a:srgbClr>
            </a:outerShdw>
          </a:effectLst>
        </p:spPr>
      </p:pic>
      <p:pic>
        <p:nvPicPr>
          <p:cNvPr id="7505" name="Google Shape;7505;p57" descr="Cursor with solid fill"/>
          <p:cNvPicPr preferRelativeResize="0"/>
          <p:nvPr/>
        </p:nvPicPr>
        <p:blipFill rotWithShape="1">
          <a:blip r:embed="rId5">
            <a:alphaModFix/>
          </a:blip>
          <a:srcRect/>
          <a:stretch/>
        </p:blipFill>
        <p:spPr>
          <a:xfrm>
            <a:off x="7806297" y="4879586"/>
            <a:ext cx="244191" cy="244191"/>
          </a:xfrm>
          <a:prstGeom prst="rect">
            <a:avLst/>
          </a:prstGeom>
          <a:noFill/>
          <a:ln>
            <a:noFill/>
          </a:ln>
        </p:spPr>
      </p:pic>
      <p:pic>
        <p:nvPicPr>
          <p:cNvPr id="7506" name="Google Shape;7506;p57"/>
          <p:cNvPicPr preferRelativeResize="0"/>
          <p:nvPr/>
        </p:nvPicPr>
        <p:blipFill rotWithShape="1">
          <a:blip r:embed="rId6">
            <a:alphaModFix/>
          </a:blip>
          <a:srcRect/>
          <a:stretch/>
        </p:blipFill>
        <p:spPr>
          <a:xfrm>
            <a:off x="586387" y="1926010"/>
            <a:ext cx="7397496" cy="3696821"/>
          </a:xfrm>
          <a:prstGeom prst="rect">
            <a:avLst/>
          </a:prstGeom>
          <a:noFill/>
          <a:ln>
            <a:noFill/>
          </a:ln>
        </p:spPr>
      </p:pic>
      <p:pic>
        <p:nvPicPr>
          <p:cNvPr id="7507" name="Google Shape;7507;p57" descr="Cursor with solid fill"/>
          <p:cNvPicPr preferRelativeResize="0"/>
          <p:nvPr/>
        </p:nvPicPr>
        <p:blipFill rotWithShape="1">
          <a:blip r:embed="rId5">
            <a:alphaModFix/>
          </a:blip>
          <a:srcRect/>
          <a:stretch/>
        </p:blipFill>
        <p:spPr>
          <a:xfrm>
            <a:off x="2794284" y="4373431"/>
            <a:ext cx="244191" cy="244191"/>
          </a:xfrm>
          <a:prstGeom prst="rect">
            <a:avLst/>
          </a:prstGeom>
          <a:noFill/>
          <a:ln>
            <a:noFill/>
          </a:ln>
        </p:spPr>
      </p:pic>
      <p:pic>
        <p:nvPicPr>
          <p:cNvPr id="7508" name="Google Shape;7508;p57"/>
          <p:cNvPicPr preferRelativeResize="0"/>
          <p:nvPr/>
        </p:nvPicPr>
        <p:blipFill rotWithShape="1">
          <a:blip r:embed="rId7">
            <a:alphaModFix/>
          </a:blip>
          <a:srcRect t="827"/>
          <a:stretch/>
        </p:blipFill>
        <p:spPr>
          <a:xfrm>
            <a:off x="586387" y="1926010"/>
            <a:ext cx="7397496" cy="3696822"/>
          </a:xfrm>
          <a:prstGeom prst="rect">
            <a:avLst/>
          </a:prstGeom>
          <a:noFill/>
          <a:ln>
            <a:noFill/>
          </a:ln>
        </p:spPr>
      </p:pic>
      <p:pic>
        <p:nvPicPr>
          <p:cNvPr id="7509" name="Google Shape;7509;p57" descr="Cursor with solid fill"/>
          <p:cNvPicPr preferRelativeResize="0"/>
          <p:nvPr/>
        </p:nvPicPr>
        <p:blipFill rotWithShape="1">
          <a:blip r:embed="rId5">
            <a:alphaModFix/>
          </a:blip>
          <a:srcRect/>
          <a:stretch/>
        </p:blipFill>
        <p:spPr>
          <a:xfrm>
            <a:off x="6270909" y="4635395"/>
            <a:ext cx="244191" cy="244191"/>
          </a:xfrm>
          <a:prstGeom prst="rect">
            <a:avLst/>
          </a:prstGeom>
          <a:noFill/>
          <a:ln>
            <a:noFill/>
          </a:ln>
        </p:spPr>
      </p:pic>
      <p:pic>
        <p:nvPicPr>
          <p:cNvPr id="7510" name="Google Shape;7510;p57"/>
          <p:cNvPicPr preferRelativeResize="0"/>
          <p:nvPr/>
        </p:nvPicPr>
        <p:blipFill rotWithShape="1">
          <a:blip r:embed="rId8">
            <a:alphaModFix/>
          </a:blip>
          <a:srcRect/>
          <a:stretch/>
        </p:blipFill>
        <p:spPr>
          <a:xfrm>
            <a:off x="586387" y="1926010"/>
            <a:ext cx="7397496" cy="3696821"/>
          </a:xfrm>
          <a:prstGeom prst="rect">
            <a:avLst/>
          </a:prstGeom>
          <a:noFill/>
          <a:ln>
            <a:noFill/>
          </a:ln>
        </p:spPr>
      </p:pic>
      <p:sp>
        <p:nvSpPr>
          <p:cNvPr id="7511" name="Google Shape;7511;p5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Enforce Best Practices for Resource and Security Configurations</a:t>
            </a:r>
            <a:endParaRPr/>
          </a:p>
        </p:txBody>
      </p:sp>
      <p:sp>
        <p:nvSpPr>
          <p:cNvPr id="7512" name="Google Shape;7512;p5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1200"/>
              </a:spcAft>
              <a:buSzPts val="1800"/>
              <a:buNone/>
            </a:pPr>
            <a:r>
              <a:rPr lang="en-US"/>
              <a:t>Implement resource policies with Policy as Code. </a:t>
            </a:r>
            <a:endParaRPr/>
          </a:p>
        </p:txBody>
      </p:sp>
      <p:sp>
        <p:nvSpPr>
          <p:cNvPr id="7513" name="Google Shape;7513;p57"/>
          <p:cNvSpPr txBox="1">
            <a:spLocks noGrp="1"/>
          </p:cNvSpPr>
          <p:nvPr>
            <p:ph type="body" idx="2"/>
          </p:nvPr>
        </p:nvSpPr>
        <p:spPr>
          <a:xfrm>
            <a:off x="8380413" y="1600200"/>
            <a:ext cx="3808412" cy="4572000"/>
          </a:xfrm>
          <a:prstGeom prst="rect">
            <a:avLst/>
          </a:prstGeom>
          <a:noFill/>
          <a:ln>
            <a:noFill/>
          </a:ln>
        </p:spPr>
        <p:txBody>
          <a:bodyPr spcFirstLastPara="1" wrap="square" lIns="0" tIns="457075" rIns="594175" bIns="457075" anchor="t" anchorCtr="0">
            <a:noAutofit/>
          </a:bodyPr>
          <a:lstStyle/>
          <a:p>
            <a:pPr marL="0" lvl="0" indent="0" algn="l" rtl="0">
              <a:lnSpc>
                <a:spcPct val="100000"/>
              </a:lnSpc>
              <a:spcBef>
                <a:spcPts val="0"/>
              </a:spcBef>
              <a:spcAft>
                <a:spcPts val="0"/>
              </a:spcAft>
              <a:buSzPts val="1440"/>
              <a:buNone/>
            </a:pPr>
            <a:r>
              <a:rPr lang="en-US"/>
              <a:t>Create a secure, compliant, and efficient cloud infrastructure while empowering teams with the tools they need to manage policies.</a:t>
            </a:r>
            <a:endParaRPr/>
          </a:p>
          <a:p>
            <a:pPr marL="0" lvl="0" indent="0" algn="l" rtl="0">
              <a:lnSpc>
                <a:spcPct val="100000"/>
              </a:lnSpc>
              <a:spcBef>
                <a:spcPts val="1200"/>
              </a:spcBef>
              <a:spcAft>
                <a:spcPts val="0"/>
              </a:spcAft>
              <a:buSzPts val="1440"/>
              <a:buNone/>
            </a:pPr>
            <a:r>
              <a:rPr lang="en-US"/>
              <a:t>An effective policy management process enables customers to focus on innovation and core business activities.</a:t>
            </a:r>
            <a:endParaRPr/>
          </a:p>
          <a:p>
            <a:pPr marL="285750" lvl="0" indent="-285750" algn="l" rtl="0">
              <a:lnSpc>
                <a:spcPct val="100000"/>
              </a:lnSpc>
              <a:spcBef>
                <a:spcPts val="1200"/>
              </a:spcBef>
              <a:spcAft>
                <a:spcPts val="0"/>
              </a:spcAft>
              <a:buSzPts val="1260"/>
              <a:buFont typeface="Arial"/>
              <a:buChar char="•"/>
            </a:pPr>
            <a:r>
              <a:rPr lang="en-US" sz="1400"/>
              <a:t>Flexible framework for implementing IaaS and Kubernetes policies.</a:t>
            </a:r>
            <a:endParaRPr/>
          </a:p>
          <a:p>
            <a:pPr marL="285750" lvl="0" indent="-285750" algn="l" rtl="0">
              <a:lnSpc>
                <a:spcPct val="100000"/>
              </a:lnSpc>
              <a:spcBef>
                <a:spcPts val="1200"/>
              </a:spcBef>
              <a:spcAft>
                <a:spcPts val="1200"/>
              </a:spcAft>
              <a:buSzPts val="1260"/>
              <a:buFont typeface="Arial"/>
              <a:buChar char="•"/>
            </a:pPr>
            <a:r>
              <a:rPr lang="en-US" sz="1400"/>
              <a:t>OOTB templates for day 0 Kubernetes and VM policies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05"/>
                                        </p:tgtEl>
                                        <p:attrNameLst>
                                          <p:attrName>style.visibility</p:attrName>
                                        </p:attrNameLst>
                                      </p:cBhvr>
                                      <p:to>
                                        <p:strVal val="visible"/>
                                      </p:to>
                                    </p:set>
                                  </p:childTnLst>
                                </p:cTn>
                              </p:par>
                              <p:par>
                                <p:cTn id="7" presetID="2" presetClass="entr" presetSubtype="4" fill="hold" nodeType="withEffect">
                                  <p:stCondLst>
                                    <p:cond delay="500"/>
                                  </p:stCondLst>
                                  <p:childTnLst>
                                    <p:set>
                                      <p:cBhvr>
                                        <p:cTn id="8" dur="1" fill="hold">
                                          <p:stCondLst>
                                            <p:cond delay="0"/>
                                          </p:stCondLst>
                                        </p:cTn>
                                        <p:tgtEl>
                                          <p:spTgt spid="7506"/>
                                        </p:tgtEl>
                                        <p:attrNameLst>
                                          <p:attrName>style.visibility</p:attrName>
                                        </p:attrNameLst>
                                      </p:cBhvr>
                                      <p:to>
                                        <p:strVal val="visible"/>
                                      </p:to>
                                    </p:set>
                                    <p:anim calcmode="lin" valueType="num">
                                      <p:cBhvr additive="base">
                                        <p:cTn id="9" dur="500"/>
                                        <p:tgtEl>
                                          <p:spTgt spid="750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75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50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50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18"/>
        <p:cNvGrpSpPr/>
        <p:nvPr/>
      </p:nvGrpSpPr>
      <p:grpSpPr>
        <a:xfrm>
          <a:off x="0" y="0"/>
          <a:ext cx="0" cy="0"/>
          <a:chOff x="0" y="0"/>
          <a:chExt cx="0" cy="0"/>
        </a:xfrm>
      </p:grpSpPr>
      <p:sp>
        <p:nvSpPr>
          <p:cNvPr id="7519" name="Google Shape;7519;p58"/>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VMs and Kubernetes Services</a:t>
            </a:r>
            <a:endParaRPr/>
          </a:p>
          <a:p>
            <a:pPr marL="0" lvl="0" indent="0" algn="l" rtl="0">
              <a:lnSpc>
                <a:spcPct val="100000"/>
              </a:lnSpc>
              <a:spcBef>
                <a:spcPts val="1200"/>
              </a:spcBef>
              <a:spcAft>
                <a:spcPts val="0"/>
              </a:spcAft>
              <a:buSzPts val="1800"/>
              <a:buNone/>
            </a:pPr>
            <a:endParaRPr/>
          </a:p>
        </p:txBody>
      </p:sp>
      <p:sp>
        <p:nvSpPr>
          <p:cNvPr id="7520" name="Google Shape;7520;p58"/>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285664" marR="0" lvl="0" indent="-285664" algn="l" rtl="0">
              <a:lnSpc>
                <a:spcPct val="100000"/>
              </a:lnSpc>
              <a:spcBef>
                <a:spcPts val="0"/>
              </a:spcBef>
              <a:spcAft>
                <a:spcPts val="0"/>
              </a:spcAft>
              <a:buClr>
                <a:srgbClr val="666666"/>
              </a:buClr>
              <a:buSzPts val="1260"/>
              <a:buFont typeface="Arial"/>
              <a:buChar char="•"/>
            </a:pPr>
            <a:r>
              <a:rPr lang="en-US" sz="1600">
                <a:latin typeface="Arial"/>
                <a:ea typeface="Arial"/>
                <a:cs typeface="Arial"/>
                <a:sym typeface="Arial"/>
              </a:rPr>
              <a:t>Rich set of metrics for VMs and K8s clusters that can be accessed directly by end-users and developers</a:t>
            </a:r>
            <a:endParaRPr/>
          </a:p>
          <a:p>
            <a:pPr marL="285664" marR="0" lvl="0" indent="-285664" algn="l" rtl="0">
              <a:lnSpc>
                <a:spcPct val="100000"/>
              </a:lnSpc>
              <a:spcBef>
                <a:spcPts val="900"/>
              </a:spcBef>
              <a:spcAft>
                <a:spcPts val="0"/>
              </a:spcAft>
              <a:buClr>
                <a:srgbClr val="666666"/>
              </a:buClr>
              <a:buSzPts val="1260"/>
              <a:buFont typeface="Arial"/>
              <a:buChar char="•"/>
            </a:pPr>
            <a:r>
              <a:rPr lang="en-US" sz="1600">
                <a:latin typeface="Arial"/>
                <a:ea typeface="Arial"/>
                <a:cs typeface="Arial"/>
                <a:sym typeface="Arial"/>
              </a:rPr>
              <a:t>VM – Utilization metric for CPU, Mem, Disk IOPS and Network throughput </a:t>
            </a:r>
            <a:endParaRPr/>
          </a:p>
          <a:p>
            <a:pPr marL="285664" marR="0" lvl="0" indent="-285664" algn="l" rtl="0">
              <a:lnSpc>
                <a:spcPct val="100000"/>
              </a:lnSpc>
              <a:spcBef>
                <a:spcPts val="900"/>
              </a:spcBef>
              <a:spcAft>
                <a:spcPts val="0"/>
              </a:spcAft>
              <a:buClr>
                <a:srgbClr val="666666"/>
              </a:buClr>
              <a:buSzPts val="1260"/>
              <a:buFont typeface="Arial"/>
              <a:buChar char="•"/>
            </a:pPr>
            <a:r>
              <a:rPr lang="en-US" sz="1600">
                <a:latin typeface="Arial"/>
                <a:ea typeface="Arial"/>
                <a:cs typeface="Arial"/>
                <a:sym typeface="Arial"/>
              </a:rPr>
              <a:t>K8s cluster – K8s version, Utilization metrics for CPU, Memory</a:t>
            </a:r>
            <a:endParaRPr/>
          </a:p>
          <a:p>
            <a:pPr marL="285664" lvl="0" indent="-285664" algn="l" rtl="0">
              <a:lnSpc>
                <a:spcPct val="100000"/>
              </a:lnSpc>
              <a:spcBef>
                <a:spcPts val="900"/>
              </a:spcBef>
              <a:spcAft>
                <a:spcPts val="0"/>
              </a:spcAft>
              <a:buClr>
                <a:srgbClr val="666666"/>
              </a:buClr>
              <a:buSzPts val="1260"/>
              <a:buFont typeface="Arial"/>
              <a:buChar char="•"/>
            </a:pPr>
            <a:r>
              <a:rPr lang="en-US" sz="1600">
                <a:latin typeface="Arial"/>
                <a:ea typeface="Arial"/>
                <a:cs typeface="Arial"/>
                <a:sym typeface="Arial"/>
              </a:rPr>
              <a:t>Visibility for End users and Developers, not just Admin</a:t>
            </a:r>
            <a:endParaRPr/>
          </a:p>
          <a:p>
            <a:pPr marL="285664" marR="0" lvl="0" indent="-205654" algn="l" rtl="0">
              <a:lnSpc>
                <a:spcPct val="100000"/>
              </a:lnSpc>
              <a:spcBef>
                <a:spcPts val="900"/>
              </a:spcBef>
              <a:spcAft>
                <a:spcPts val="0"/>
              </a:spcAft>
              <a:buClr>
                <a:srgbClr val="666666"/>
              </a:buClr>
              <a:buSzPts val="1260"/>
              <a:buFont typeface="Arial"/>
              <a:buNone/>
            </a:pPr>
            <a:endParaRPr sz="1600">
              <a:solidFill>
                <a:srgbClr val="000000"/>
              </a:solidFill>
              <a:latin typeface="Arial"/>
              <a:ea typeface="Arial"/>
              <a:cs typeface="Arial"/>
              <a:sym typeface="Arial"/>
            </a:endParaRPr>
          </a:p>
          <a:p>
            <a:pPr marL="0" lvl="0" indent="0" algn="l" rtl="0">
              <a:lnSpc>
                <a:spcPct val="100000"/>
              </a:lnSpc>
              <a:spcBef>
                <a:spcPts val="0"/>
              </a:spcBef>
              <a:spcAft>
                <a:spcPts val="0"/>
              </a:spcAft>
              <a:buSzPts val="1440"/>
              <a:buNone/>
            </a:pPr>
            <a:endParaRPr/>
          </a:p>
        </p:txBody>
      </p:sp>
      <p:pic>
        <p:nvPicPr>
          <p:cNvPr id="7521" name="Google Shape;7521;p58"/>
          <p:cNvPicPr preferRelativeResize="0"/>
          <p:nvPr/>
        </p:nvPicPr>
        <p:blipFill rotWithShape="1">
          <a:blip r:embed="rId3">
            <a:alphaModFix/>
          </a:blip>
          <a:srcRect/>
          <a:stretch/>
        </p:blipFill>
        <p:spPr>
          <a:xfrm>
            <a:off x="584753" y="1657832"/>
            <a:ext cx="7426506" cy="3864640"/>
          </a:xfrm>
          <a:prstGeom prst="rect">
            <a:avLst/>
          </a:prstGeom>
          <a:solidFill>
            <a:schemeClr val="lt1"/>
          </a:solidFill>
          <a:ln>
            <a:noFill/>
          </a:ln>
        </p:spPr>
      </p:pic>
      <p:sp>
        <p:nvSpPr>
          <p:cNvPr id="7522" name="Google Shape;7522;p5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799"/>
              <a:buFont typeface="Arial"/>
              <a:buNone/>
            </a:pPr>
            <a:r>
              <a:rPr lang="en-US" sz="2799"/>
              <a:t>Application Operations visibility</a:t>
            </a:r>
            <a:endParaRPr/>
          </a:p>
        </p:txBody>
      </p:sp>
      <p:sp>
        <p:nvSpPr>
          <p:cNvPr id="7523" name="Google Shape;7523;p58"/>
          <p:cNvSpPr/>
          <p:nvPr/>
        </p:nvSpPr>
        <p:spPr>
          <a:xfrm>
            <a:off x="543698" y="1609531"/>
            <a:ext cx="7512908" cy="3960895"/>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7524" name="Google Shape;7524;p58"/>
          <p:cNvGrpSpPr/>
          <p:nvPr/>
        </p:nvGrpSpPr>
        <p:grpSpPr>
          <a:xfrm>
            <a:off x="3479534" y="3099335"/>
            <a:ext cx="4828164" cy="3195430"/>
            <a:chOff x="3479534" y="3099335"/>
            <a:chExt cx="4828164" cy="3195430"/>
          </a:xfrm>
        </p:grpSpPr>
        <p:sp>
          <p:nvSpPr>
            <p:cNvPr id="7525" name="Google Shape;7525;p58"/>
            <p:cNvSpPr/>
            <p:nvPr/>
          </p:nvSpPr>
          <p:spPr>
            <a:xfrm>
              <a:off x="3479534" y="3099335"/>
              <a:ext cx="4828164" cy="319543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7526" name="Google Shape;7526;p58"/>
            <p:cNvPicPr preferRelativeResize="0"/>
            <p:nvPr/>
          </p:nvPicPr>
          <p:blipFill rotWithShape="1">
            <a:blip r:embed="rId4">
              <a:alphaModFix/>
            </a:blip>
            <a:srcRect t="11363"/>
            <a:stretch/>
          </p:blipFill>
          <p:spPr>
            <a:xfrm>
              <a:off x="3528329" y="3140618"/>
              <a:ext cx="4736052" cy="3103469"/>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24"/>
                                        </p:tgtEl>
                                        <p:attrNameLst>
                                          <p:attrName>style.visibility</p:attrName>
                                        </p:attrNameLst>
                                      </p:cBhvr>
                                      <p:to>
                                        <p:strVal val="visible"/>
                                      </p:to>
                                    </p:set>
                                    <p:animEffect transition="in" filter="fade">
                                      <p:cBhvr>
                                        <p:cTn id="7" dur="500"/>
                                        <p:tgtEl>
                                          <p:spTgt spid="7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531"/>
        <p:cNvGrpSpPr/>
        <p:nvPr/>
      </p:nvGrpSpPr>
      <p:grpSpPr>
        <a:xfrm>
          <a:off x="0" y="0"/>
          <a:ext cx="0" cy="0"/>
          <a:chOff x="0" y="0"/>
          <a:chExt cx="0" cy="0"/>
        </a:xfrm>
      </p:grpSpPr>
      <p:sp>
        <p:nvSpPr>
          <p:cNvPr id="7532" name="Google Shape;7532;p59"/>
          <p:cNvSpPr/>
          <p:nvPr/>
        </p:nvSpPr>
        <p:spPr>
          <a:xfrm>
            <a:off x="592866" y="1609531"/>
            <a:ext cx="7350519" cy="3818503"/>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533" name="Google Shape;7533;p59"/>
          <p:cNvSpPr txBox="1">
            <a:spLocks noGrp="1"/>
          </p:cNvSpPr>
          <p:nvPr>
            <p:ph type="title"/>
          </p:nvPr>
        </p:nvSpPr>
        <p:spPr>
          <a:xfrm>
            <a:off x="579809" y="413536"/>
            <a:ext cx="11001004" cy="380901"/>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Enforce Infrastructure Governance and Enable Self-service</a:t>
            </a:r>
            <a:endParaRPr/>
          </a:p>
        </p:txBody>
      </p:sp>
      <p:sp>
        <p:nvSpPr>
          <p:cNvPr id="7534" name="Google Shape;7534;p59"/>
          <p:cNvSpPr txBox="1">
            <a:spLocks noGrp="1"/>
          </p:cNvSpPr>
          <p:nvPr>
            <p:ph type="subTitle" idx="1"/>
          </p:nvPr>
        </p:nvSpPr>
        <p:spPr>
          <a:xfrm>
            <a:off x="592867" y="812513"/>
            <a:ext cx="10962687" cy="24767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Provide custom blueprint development for tailored IaaS services</a:t>
            </a:r>
            <a:endParaRPr/>
          </a:p>
        </p:txBody>
      </p:sp>
      <p:sp>
        <p:nvSpPr>
          <p:cNvPr id="7535" name="Google Shape;7535;p59"/>
          <p:cNvSpPr txBox="1">
            <a:spLocks noGrp="1"/>
          </p:cNvSpPr>
          <p:nvPr>
            <p:ph type="body" idx="2"/>
          </p:nvPr>
        </p:nvSpPr>
        <p:spPr>
          <a:xfrm>
            <a:off x="8380413" y="1600676"/>
            <a:ext cx="3808412" cy="4570809"/>
          </a:xfrm>
          <a:prstGeom prst="rect">
            <a:avLst/>
          </a:prstGeom>
          <a:noFill/>
          <a:ln>
            <a:noFill/>
          </a:ln>
        </p:spPr>
        <p:txBody>
          <a:bodyPr spcFirstLastPara="1" wrap="square" lIns="0" tIns="457075" rIns="594175" bIns="457075" anchor="t" anchorCtr="0">
            <a:noAutofit/>
          </a:bodyPr>
          <a:lstStyle/>
          <a:p>
            <a:pPr marL="0" lvl="0" indent="0" algn="l" rtl="0">
              <a:lnSpc>
                <a:spcPct val="100000"/>
              </a:lnSpc>
              <a:spcBef>
                <a:spcPts val="0"/>
              </a:spcBef>
              <a:spcAft>
                <a:spcPts val="0"/>
              </a:spcAft>
              <a:buSzPts val="1440"/>
              <a:buNone/>
            </a:pPr>
            <a:r>
              <a:rPr lang="en-US" dirty="0"/>
              <a:t>Implement controls to enhance security and efficiency for reduced downtime </a:t>
            </a:r>
            <a:endParaRPr dirty="0"/>
          </a:p>
          <a:p>
            <a:pPr marL="0" lvl="0" indent="0" algn="l" rtl="0">
              <a:lnSpc>
                <a:spcPct val="100000"/>
              </a:lnSpc>
              <a:spcBef>
                <a:spcPts val="600"/>
              </a:spcBef>
              <a:spcAft>
                <a:spcPts val="0"/>
              </a:spcAft>
              <a:buSzPts val="1440"/>
              <a:buNone/>
            </a:pPr>
            <a:r>
              <a:rPr lang="en-US" dirty="0"/>
              <a:t>Accelerate app development and reduce time-to-market</a:t>
            </a:r>
            <a:endParaRPr sz="1400" dirty="0"/>
          </a:p>
          <a:p>
            <a:pPr marL="0" lvl="0" indent="0" algn="l" rtl="0">
              <a:lnSpc>
                <a:spcPct val="100000"/>
              </a:lnSpc>
              <a:spcBef>
                <a:spcPts val="600"/>
              </a:spcBef>
              <a:spcAft>
                <a:spcPts val="0"/>
              </a:spcAft>
              <a:buSzPts val="1260"/>
              <a:buNone/>
            </a:pPr>
            <a:r>
              <a:rPr lang="en-US" dirty="0"/>
              <a:t>Self-Service Catalog Experience: </a:t>
            </a:r>
            <a:endParaRPr dirty="0"/>
          </a:p>
          <a:p>
            <a:pPr marL="285664" lvl="0" indent="-285664" algn="l" rtl="0">
              <a:lnSpc>
                <a:spcPct val="100000"/>
              </a:lnSpc>
              <a:spcBef>
                <a:spcPts val="600"/>
              </a:spcBef>
              <a:spcAft>
                <a:spcPts val="0"/>
              </a:spcAft>
              <a:buSzPts val="1260"/>
              <a:buFont typeface="Arial"/>
              <a:buChar char="•"/>
            </a:pPr>
            <a:r>
              <a:rPr lang="en-US" sz="1400" dirty="0"/>
              <a:t>Provide curated catalog items based on IaC templates</a:t>
            </a:r>
            <a:endParaRPr dirty="0"/>
          </a:p>
          <a:p>
            <a:pPr marL="285664" lvl="0" indent="-285664" algn="l" rtl="0">
              <a:lnSpc>
                <a:spcPct val="100000"/>
              </a:lnSpc>
              <a:spcBef>
                <a:spcPts val="600"/>
              </a:spcBef>
              <a:spcAft>
                <a:spcPts val="0"/>
              </a:spcAft>
              <a:buSzPts val="1260"/>
              <a:buFont typeface="Arial"/>
              <a:buChar char="•"/>
            </a:pPr>
            <a:r>
              <a:rPr lang="en-US" sz="1400" dirty="0"/>
              <a:t>Facilitate the creation of customized IaaS services and publish them to the catalog, as needed</a:t>
            </a:r>
            <a:endParaRPr dirty="0"/>
          </a:p>
        </p:txBody>
      </p:sp>
      <p:pic>
        <p:nvPicPr>
          <p:cNvPr id="7536" name="Google Shape;7536;p59" descr="Ubuntu blueprint"/>
          <p:cNvPicPr preferRelativeResize="0">
            <a:picLocks noGrp="1"/>
          </p:cNvPicPr>
          <p:nvPr>
            <p:ph type="body" idx="3"/>
          </p:nvPr>
        </p:nvPicPr>
        <p:blipFill rotWithShape="1">
          <a:blip r:embed="rId3">
            <a:alphaModFix/>
          </a:blip>
          <a:srcRect b="92028"/>
          <a:stretch/>
        </p:blipFill>
        <p:spPr>
          <a:xfrm>
            <a:off x="632817" y="1656522"/>
            <a:ext cx="7252226" cy="276787"/>
          </a:xfrm>
          <a:prstGeom prst="rect">
            <a:avLst/>
          </a:prstGeom>
          <a:noFill/>
          <a:ln>
            <a:noFill/>
          </a:ln>
        </p:spPr>
      </p:pic>
      <p:pic>
        <p:nvPicPr>
          <p:cNvPr id="7537" name="Google Shape;7537;p59"/>
          <p:cNvPicPr preferRelativeResize="0"/>
          <p:nvPr/>
        </p:nvPicPr>
        <p:blipFill rotWithShape="1">
          <a:blip r:embed="rId4">
            <a:alphaModFix/>
          </a:blip>
          <a:srcRect/>
          <a:stretch/>
        </p:blipFill>
        <p:spPr>
          <a:xfrm>
            <a:off x="632817" y="2001207"/>
            <a:ext cx="7250754" cy="3354939"/>
          </a:xfrm>
          <a:prstGeom prst="rect">
            <a:avLst/>
          </a:prstGeom>
          <a:noFill/>
          <a:ln>
            <a:noFill/>
          </a:ln>
          <a:effectLst>
            <a:outerShdw blurRad="50800" dist="38100" dir="27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542"/>
        <p:cNvGrpSpPr/>
        <p:nvPr/>
      </p:nvGrpSpPr>
      <p:grpSpPr>
        <a:xfrm>
          <a:off x="0" y="0"/>
          <a:ext cx="0" cy="0"/>
          <a:chOff x="0" y="0"/>
          <a:chExt cx="0" cy="0"/>
        </a:xfrm>
      </p:grpSpPr>
      <p:sp>
        <p:nvSpPr>
          <p:cNvPr id="7543" name="Google Shape;7543;p60"/>
          <p:cNvSpPr/>
          <p:nvPr/>
        </p:nvSpPr>
        <p:spPr>
          <a:xfrm>
            <a:off x="592866" y="1609531"/>
            <a:ext cx="7350519" cy="3818503"/>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7544" name="Google Shape;7544;p60" descr="Content Libaries"/>
          <p:cNvPicPr preferRelativeResize="0">
            <a:picLocks noGrp="1"/>
          </p:cNvPicPr>
          <p:nvPr>
            <p:ph type="body" idx="3"/>
          </p:nvPr>
        </p:nvPicPr>
        <p:blipFill rotWithShape="1">
          <a:blip r:embed="rId3">
            <a:alphaModFix/>
          </a:blip>
          <a:srcRect b="1253"/>
          <a:stretch/>
        </p:blipFill>
        <p:spPr>
          <a:xfrm>
            <a:off x="646070" y="1655114"/>
            <a:ext cx="7224867" cy="3685490"/>
          </a:xfrm>
          <a:prstGeom prst="rect">
            <a:avLst/>
          </a:prstGeom>
          <a:noFill/>
          <a:ln>
            <a:noFill/>
          </a:ln>
          <a:effectLst>
            <a:outerShdw blurRad="50800" dist="38100" dir="2700000" algn="tl" rotWithShape="0">
              <a:srgbClr val="000000">
                <a:alpha val="40000"/>
              </a:srgbClr>
            </a:outerShdw>
          </a:effectLst>
        </p:spPr>
      </p:pic>
      <p:sp>
        <p:nvSpPr>
          <p:cNvPr id="7545" name="Google Shape;7545;p60"/>
          <p:cNvSpPr txBox="1">
            <a:spLocks noGrp="1"/>
          </p:cNvSpPr>
          <p:nvPr>
            <p:ph type="title"/>
          </p:nvPr>
        </p:nvSpPr>
        <p:spPr>
          <a:xfrm>
            <a:off x="579809" y="413536"/>
            <a:ext cx="11001004" cy="380901"/>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Simplify the Content Management Experience</a:t>
            </a:r>
            <a:endParaRPr/>
          </a:p>
        </p:txBody>
      </p:sp>
      <p:sp>
        <p:nvSpPr>
          <p:cNvPr id="7546" name="Google Shape;7546;p60"/>
          <p:cNvSpPr txBox="1">
            <a:spLocks noGrp="1"/>
          </p:cNvSpPr>
          <p:nvPr>
            <p:ph type="subTitle" idx="1"/>
          </p:nvPr>
        </p:nvSpPr>
        <p:spPr>
          <a:xfrm>
            <a:off x="592867" y="812513"/>
            <a:ext cx="10962687" cy="24767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Centralize content management via Content Hub.</a:t>
            </a:r>
            <a:endParaRPr/>
          </a:p>
        </p:txBody>
      </p:sp>
      <p:sp>
        <p:nvSpPr>
          <p:cNvPr id="7547" name="Google Shape;7547;p60"/>
          <p:cNvSpPr txBox="1">
            <a:spLocks noGrp="1"/>
          </p:cNvSpPr>
          <p:nvPr>
            <p:ph type="body" idx="2"/>
          </p:nvPr>
        </p:nvSpPr>
        <p:spPr>
          <a:xfrm>
            <a:off x="8380413" y="1600676"/>
            <a:ext cx="3808412" cy="4570809"/>
          </a:xfrm>
          <a:prstGeom prst="rect">
            <a:avLst/>
          </a:prstGeom>
          <a:noFill/>
          <a:ln>
            <a:noFill/>
          </a:ln>
        </p:spPr>
        <p:txBody>
          <a:bodyPr spcFirstLastPara="1" wrap="square" lIns="0" tIns="457075" rIns="594175" bIns="457075" anchor="t" anchorCtr="0">
            <a:noAutofit/>
          </a:bodyPr>
          <a:lstStyle/>
          <a:p>
            <a:pPr marL="0" lvl="0" indent="0" algn="l" rtl="0">
              <a:lnSpc>
                <a:spcPct val="100000"/>
              </a:lnSpc>
              <a:spcBef>
                <a:spcPts val="0"/>
              </a:spcBef>
              <a:spcAft>
                <a:spcPts val="0"/>
              </a:spcAft>
              <a:buSzPts val="1440"/>
              <a:buNone/>
            </a:pPr>
            <a:r>
              <a:rPr lang="en-US"/>
              <a:t>Streamline the overall content management process</a:t>
            </a:r>
            <a:endParaRPr/>
          </a:p>
          <a:p>
            <a:pPr marL="0" lvl="0" indent="0" algn="l" rtl="0">
              <a:lnSpc>
                <a:spcPct val="100000"/>
              </a:lnSpc>
              <a:spcBef>
                <a:spcPts val="600"/>
              </a:spcBef>
              <a:spcAft>
                <a:spcPts val="0"/>
              </a:spcAft>
              <a:buSzPts val="1440"/>
              <a:buNone/>
            </a:pPr>
            <a:r>
              <a:rPr lang="en-US"/>
              <a:t>Boost productivity and collaboration with a unified content portal</a:t>
            </a:r>
            <a:endParaRPr/>
          </a:p>
          <a:p>
            <a:pPr marL="285664" lvl="0" indent="-285664" algn="l" rtl="0">
              <a:lnSpc>
                <a:spcPct val="100000"/>
              </a:lnSpc>
              <a:spcBef>
                <a:spcPts val="600"/>
              </a:spcBef>
              <a:spcAft>
                <a:spcPts val="0"/>
              </a:spcAft>
              <a:buSzPts val="1260"/>
              <a:buFont typeface="Arial"/>
              <a:buChar char="•"/>
            </a:pPr>
            <a:r>
              <a:rPr lang="en-US" sz="1400"/>
              <a:t>Discover vCenter content libraries automatically and allocate new or existing libraries to one or more organizations</a:t>
            </a:r>
            <a:endParaRPr/>
          </a:p>
          <a:p>
            <a:pPr marL="285664" lvl="0" indent="-285664" algn="l" rtl="0">
              <a:lnSpc>
                <a:spcPct val="100000"/>
              </a:lnSpc>
              <a:spcBef>
                <a:spcPts val="600"/>
              </a:spcBef>
              <a:spcAft>
                <a:spcPts val="0"/>
              </a:spcAft>
              <a:buSzPts val="1260"/>
              <a:buFont typeface="Arial"/>
              <a:buChar char="•"/>
            </a:pPr>
            <a:r>
              <a:rPr lang="en-US" sz="1400"/>
              <a:t>Publish content to the self-service catalog with one click</a:t>
            </a:r>
            <a:endParaRPr/>
          </a:p>
          <a:p>
            <a:pPr marL="285664" lvl="0" indent="-285664" algn="l" rtl="0">
              <a:lnSpc>
                <a:spcPct val="100000"/>
              </a:lnSpc>
              <a:spcBef>
                <a:spcPts val="600"/>
              </a:spcBef>
              <a:spcAft>
                <a:spcPts val="0"/>
              </a:spcAft>
              <a:buSzPts val="1260"/>
              <a:buFont typeface="Arial"/>
              <a:buChar char="•"/>
            </a:pPr>
            <a:r>
              <a:rPr lang="en-US" sz="1400"/>
              <a:t>Create orchestrator workflows in VCFA that can be easily published to the catalog</a:t>
            </a:r>
            <a:endParaRPr/>
          </a:p>
        </p:txBody>
      </p:sp>
      <p:grpSp>
        <p:nvGrpSpPr>
          <p:cNvPr id="7548" name="Google Shape;7548;p60"/>
          <p:cNvGrpSpPr/>
          <p:nvPr/>
        </p:nvGrpSpPr>
        <p:grpSpPr>
          <a:xfrm>
            <a:off x="648322" y="1946894"/>
            <a:ext cx="7223400" cy="3400577"/>
            <a:chOff x="611997" y="2266745"/>
            <a:chExt cx="7397496" cy="3482537"/>
          </a:xfrm>
        </p:grpSpPr>
        <p:pic>
          <p:nvPicPr>
            <p:cNvPr id="7549" name="Google Shape;7549;p60"/>
            <p:cNvPicPr preferRelativeResize="0"/>
            <p:nvPr/>
          </p:nvPicPr>
          <p:blipFill rotWithShape="1">
            <a:blip r:embed="rId4">
              <a:alphaModFix/>
            </a:blip>
            <a:srcRect/>
            <a:stretch/>
          </p:blipFill>
          <p:spPr>
            <a:xfrm>
              <a:off x="611997" y="2266745"/>
              <a:ext cx="7397496" cy="3482537"/>
            </a:xfrm>
            <a:prstGeom prst="rect">
              <a:avLst/>
            </a:prstGeom>
            <a:noFill/>
            <a:ln>
              <a:noFill/>
            </a:ln>
          </p:spPr>
        </p:pic>
        <p:pic>
          <p:nvPicPr>
            <p:cNvPr id="7550" name="Google Shape;7550;p60"/>
            <p:cNvPicPr preferRelativeResize="0"/>
            <p:nvPr/>
          </p:nvPicPr>
          <p:blipFill rotWithShape="1">
            <a:blip r:embed="rId5">
              <a:alphaModFix/>
            </a:blip>
            <a:srcRect/>
            <a:stretch/>
          </p:blipFill>
          <p:spPr>
            <a:xfrm>
              <a:off x="6540500" y="3740149"/>
              <a:ext cx="132272" cy="103337"/>
            </a:xfrm>
            <a:prstGeom prst="rect">
              <a:avLst/>
            </a:prstGeom>
            <a:noFill/>
            <a:ln>
              <a:noFill/>
            </a:ln>
          </p:spPr>
        </p:pic>
      </p:grpSp>
      <p:grpSp>
        <p:nvGrpSpPr>
          <p:cNvPr id="7551" name="Google Shape;7551;p60"/>
          <p:cNvGrpSpPr/>
          <p:nvPr/>
        </p:nvGrpSpPr>
        <p:grpSpPr>
          <a:xfrm>
            <a:off x="1890296" y="3044262"/>
            <a:ext cx="5946559" cy="647605"/>
            <a:chOff x="1853970" y="3376814"/>
            <a:chExt cx="6089880" cy="663213"/>
          </a:xfrm>
        </p:grpSpPr>
        <p:pic>
          <p:nvPicPr>
            <p:cNvPr id="7552" name="Google Shape;7552;p60"/>
            <p:cNvPicPr preferRelativeResize="0"/>
            <p:nvPr/>
          </p:nvPicPr>
          <p:blipFill rotWithShape="1">
            <a:blip r:embed="rId6">
              <a:alphaModFix/>
            </a:blip>
            <a:srcRect/>
            <a:stretch/>
          </p:blipFill>
          <p:spPr>
            <a:xfrm>
              <a:off x="1853970" y="3376814"/>
              <a:ext cx="6089880" cy="575391"/>
            </a:xfrm>
            <a:prstGeom prst="rect">
              <a:avLst/>
            </a:prstGeom>
            <a:noFill/>
            <a:ln>
              <a:noFill/>
            </a:ln>
          </p:spPr>
        </p:pic>
        <p:pic>
          <p:nvPicPr>
            <p:cNvPr id="7553" name="Google Shape;7553;p60" descr="Cursor with solid fill"/>
            <p:cNvPicPr preferRelativeResize="0"/>
            <p:nvPr/>
          </p:nvPicPr>
          <p:blipFill rotWithShape="1">
            <a:blip r:embed="rId7">
              <a:alphaModFix/>
            </a:blip>
            <a:srcRect/>
            <a:stretch/>
          </p:blipFill>
          <p:spPr>
            <a:xfrm>
              <a:off x="2302159" y="3795836"/>
              <a:ext cx="244191" cy="244191"/>
            </a:xfrm>
            <a:prstGeom prst="rect">
              <a:avLst/>
            </a:prstGeom>
            <a:noFill/>
            <a:ln>
              <a:noFill/>
            </a:ln>
          </p:spPr>
        </p:pic>
      </p:grpSp>
      <p:grpSp>
        <p:nvGrpSpPr>
          <p:cNvPr id="7554" name="Google Shape;7554;p60"/>
          <p:cNvGrpSpPr/>
          <p:nvPr/>
        </p:nvGrpSpPr>
        <p:grpSpPr>
          <a:xfrm>
            <a:off x="648322" y="1956193"/>
            <a:ext cx="7223400" cy="3391497"/>
            <a:chOff x="707247" y="4040027"/>
            <a:chExt cx="7397496" cy="3473238"/>
          </a:xfrm>
        </p:grpSpPr>
        <p:pic>
          <p:nvPicPr>
            <p:cNvPr id="7555" name="Google Shape;7555;p60"/>
            <p:cNvPicPr preferRelativeResize="0"/>
            <p:nvPr/>
          </p:nvPicPr>
          <p:blipFill rotWithShape="1">
            <a:blip r:embed="rId8">
              <a:alphaModFix/>
            </a:blip>
            <a:srcRect/>
            <a:stretch/>
          </p:blipFill>
          <p:spPr>
            <a:xfrm>
              <a:off x="707247" y="4040027"/>
              <a:ext cx="7397496" cy="3473238"/>
            </a:xfrm>
            <a:prstGeom prst="rect">
              <a:avLst/>
            </a:prstGeom>
            <a:noFill/>
            <a:ln>
              <a:noFill/>
            </a:ln>
          </p:spPr>
        </p:pic>
        <p:pic>
          <p:nvPicPr>
            <p:cNvPr id="7556" name="Google Shape;7556;p60" descr="Cursor with solid fill"/>
            <p:cNvPicPr preferRelativeResize="0"/>
            <p:nvPr/>
          </p:nvPicPr>
          <p:blipFill rotWithShape="1">
            <a:blip r:embed="rId7">
              <a:alphaModFix/>
            </a:blip>
            <a:srcRect/>
            <a:stretch/>
          </p:blipFill>
          <p:spPr>
            <a:xfrm>
              <a:off x="3737259" y="5747469"/>
              <a:ext cx="244191" cy="244191"/>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61"/>
        <p:cNvGrpSpPr/>
        <p:nvPr/>
      </p:nvGrpSpPr>
      <p:grpSpPr>
        <a:xfrm>
          <a:off x="0" y="0"/>
          <a:ext cx="0" cy="0"/>
          <a:chOff x="0" y="0"/>
          <a:chExt cx="0" cy="0"/>
        </a:xfrm>
      </p:grpSpPr>
      <p:sp>
        <p:nvSpPr>
          <p:cNvPr id="7562" name="Google Shape;7562;p61"/>
          <p:cNvSpPr/>
          <p:nvPr/>
        </p:nvSpPr>
        <p:spPr>
          <a:xfrm>
            <a:off x="600300" y="1605779"/>
            <a:ext cx="7350519" cy="3887663"/>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563" name="Google Shape;7563;p6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Build a Secure, Compliant and Efficient Private Cloud</a:t>
            </a:r>
            <a:endParaRPr/>
          </a:p>
        </p:txBody>
      </p:sp>
      <p:sp>
        <p:nvSpPr>
          <p:cNvPr id="7564" name="Google Shape;7564;p61"/>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1200"/>
              </a:spcAft>
              <a:buSzPts val="1800"/>
              <a:buNone/>
            </a:pPr>
            <a:r>
              <a:rPr lang="en-US"/>
              <a:t>Streamline organizational resource management and operations</a:t>
            </a:r>
            <a:endParaRPr/>
          </a:p>
        </p:txBody>
      </p:sp>
      <p:sp>
        <p:nvSpPr>
          <p:cNvPr id="7565" name="Google Shape;7565;p61"/>
          <p:cNvSpPr txBox="1">
            <a:spLocks noGrp="1"/>
          </p:cNvSpPr>
          <p:nvPr>
            <p:ph type="body" idx="2"/>
          </p:nvPr>
        </p:nvSpPr>
        <p:spPr>
          <a:xfrm>
            <a:off x="8380413" y="1600200"/>
            <a:ext cx="3808412" cy="4572000"/>
          </a:xfrm>
          <a:prstGeom prst="rect">
            <a:avLst/>
          </a:prstGeom>
          <a:noFill/>
          <a:ln>
            <a:noFill/>
          </a:ln>
        </p:spPr>
        <p:txBody>
          <a:bodyPr spcFirstLastPara="1" wrap="square" lIns="0" tIns="457075" rIns="594175" bIns="457075" anchor="t" anchorCtr="0">
            <a:noAutofit/>
          </a:bodyPr>
          <a:lstStyle/>
          <a:p>
            <a:pPr marL="0" lvl="0" indent="-91440" algn="l" rtl="0">
              <a:lnSpc>
                <a:spcPct val="100000"/>
              </a:lnSpc>
              <a:spcBef>
                <a:spcPts val="0"/>
              </a:spcBef>
              <a:spcAft>
                <a:spcPts val="0"/>
              </a:spcAft>
              <a:buSzPts val="1440"/>
              <a:buChar char="​"/>
            </a:pPr>
            <a:r>
              <a:rPr lang="en-US"/>
              <a:t>Highly available and fault tolerant</a:t>
            </a:r>
            <a:endParaRPr/>
          </a:p>
          <a:p>
            <a:pPr marL="0" lvl="0" indent="-91440" algn="l" rtl="0">
              <a:lnSpc>
                <a:spcPct val="100000"/>
              </a:lnSpc>
              <a:spcBef>
                <a:spcPts val="1200"/>
              </a:spcBef>
              <a:spcAft>
                <a:spcPts val="0"/>
              </a:spcAft>
              <a:buSzPts val="1440"/>
              <a:buChar char="​"/>
            </a:pPr>
            <a:r>
              <a:rPr lang="en-US"/>
              <a:t>Comprehensive network isolation</a:t>
            </a:r>
            <a:endParaRPr/>
          </a:p>
          <a:p>
            <a:pPr marL="0" lvl="0" indent="-91440" algn="l" rtl="0">
              <a:lnSpc>
                <a:spcPct val="100000"/>
              </a:lnSpc>
              <a:spcBef>
                <a:spcPts val="1200"/>
              </a:spcBef>
              <a:spcAft>
                <a:spcPts val="0"/>
              </a:spcAft>
              <a:buSzPts val="1440"/>
              <a:buChar char="​"/>
            </a:pPr>
            <a:r>
              <a:rPr lang="en-US"/>
              <a:t>Extensible services ecosystem.</a:t>
            </a:r>
            <a:endParaRPr/>
          </a:p>
          <a:p>
            <a:pPr marL="0" lvl="0" indent="-91440" algn="l" rtl="0">
              <a:lnSpc>
                <a:spcPct val="100000"/>
              </a:lnSpc>
              <a:spcBef>
                <a:spcPts val="1200"/>
              </a:spcBef>
              <a:spcAft>
                <a:spcPts val="0"/>
              </a:spcAft>
              <a:buSzPts val="1440"/>
              <a:buChar char="​"/>
            </a:pPr>
            <a:r>
              <a:rPr lang="en-US"/>
              <a:t>Increased visibility and control:</a:t>
            </a:r>
            <a:endParaRPr/>
          </a:p>
          <a:p>
            <a:pPr marL="457200" lvl="1" indent="-184150" algn="l" rtl="0">
              <a:lnSpc>
                <a:spcPct val="100000"/>
              </a:lnSpc>
              <a:spcBef>
                <a:spcPts val="1200"/>
              </a:spcBef>
              <a:spcAft>
                <a:spcPts val="0"/>
              </a:spcAft>
              <a:buSzPts val="1260"/>
              <a:buChar char="•"/>
            </a:pPr>
            <a:r>
              <a:rPr lang="en-US"/>
              <a:t>Application teams can choose multiple vSphere zones for deploying applications</a:t>
            </a:r>
            <a:endParaRPr/>
          </a:p>
          <a:p>
            <a:pPr marL="457200" lvl="1" indent="-184150" algn="l" rtl="0">
              <a:lnSpc>
                <a:spcPct val="100000"/>
              </a:lnSpc>
              <a:spcBef>
                <a:spcPts val="1200"/>
              </a:spcBef>
              <a:spcAft>
                <a:spcPts val="0"/>
              </a:spcAft>
              <a:buSzPts val="1260"/>
              <a:buChar char="•"/>
            </a:pPr>
            <a:r>
              <a:rPr lang="en-US"/>
              <a:t>Organizations have separate resources and use VPCs to isolate teams in those organizations</a:t>
            </a:r>
            <a:endParaRPr/>
          </a:p>
          <a:p>
            <a:pPr marL="457200" lvl="1" indent="-184150" algn="l" rtl="0">
              <a:lnSpc>
                <a:spcPct val="100000"/>
              </a:lnSpc>
              <a:spcBef>
                <a:spcPts val="1200"/>
              </a:spcBef>
              <a:spcAft>
                <a:spcPts val="1200"/>
              </a:spcAft>
              <a:buSzPts val="1260"/>
              <a:buChar char="•"/>
            </a:pPr>
            <a:r>
              <a:rPr lang="en-US"/>
              <a:t>Manage resources, set quotas, control permissions, and offer managed services like encryption and backup</a:t>
            </a:r>
            <a:endParaRPr/>
          </a:p>
        </p:txBody>
      </p:sp>
      <p:pic>
        <p:nvPicPr>
          <p:cNvPr id="7566" name="Google Shape;7566;p61"/>
          <p:cNvPicPr preferRelativeResize="0">
            <a:picLocks noGrp="1"/>
          </p:cNvPicPr>
          <p:nvPr>
            <p:ph type="body" idx="3"/>
          </p:nvPr>
        </p:nvPicPr>
        <p:blipFill rotWithShape="1">
          <a:blip r:embed="rId3">
            <a:alphaModFix/>
          </a:blip>
          <a:srcRect/>
          <a:stretch/>
        </p:blipFill>
        <p:spPr>
          <a:xfrm>
            <a:off x="646926" y="1707499"/>
            <a:ext cx="7224867" cy="3680306"/>
          </a:xfrm>
          <a:prstGeom prst="rect">
            <a:avLst/>
          </a:prstGeom>
          <a:noFill/>
          <a:ln>
            <a:noFill/>
          </a:ln>
          <a:effectLst>
            <a:outerShdw blurRad="50800" dist="38100" dir="2700000" algn="tl" rotWithShape="0">
              <a:srgbClr val="000000">
                <a:alpha val="40000"/>
              </a:srgbClr>
            </a:outerShdw>
          </a:effectLst>
        </p:spPr>
      </p:pic>
      <p:grpSp>
        <p:nvGrpSpPr>
          <p:cNvPr id="7567" name="Google Shape;7567;p61"/>
          <p:cNvGrpSpPr/>
          <p:nvPr/>
        </p:nvGrpSpPr>
        <p:grpSpPr>
          <a:xfrm>
            <a:off x="1970475" y="2673959"/>
            <a:ext cx="5810477" cy="783774"/>
            <a:chOff x="1946709" y="3276600"/>
            <a:chExt cx="5949516" cy="802529"/>
          </a:xfrm>
        </p:grpSpPr>
        <p:pic>
          <p:nvPicPr>
            <p:cNvPr id="7568" name="Google Shape;7568;p61"/>
            <p:cNvPicPr preferRelativeResize="0"/>
            <p:nvPr/>
          </p:nvPicPr>
          <p:blipFill rotWithShape="1">
            <a:blip r:embed="rId4">
              <a:alphaModFix/>
            </a:blip>
            <a:srcRect/>
            <a:stretch/>
          </p:blipFill>
          <p:spPr>
            <a:xfrm>
              <a:off x="1946709" y="3276600"/>
              <a:ext cx="5949516" cy="802529"/>
            </a:xfrm>
            <a:prstGeom prst="rect">
              <a:avLst/>
            </a:prstGeom>
            <a:noFill/>
            <a:ln>
              <a:noFill/>
            </a:ln>
          </p:spPr>
        </p:pic>
        <p:pic>
          <p:nvPicPr>
            <p:cNvPr id="7569" name="Google Shape;7569;p61" descr="Cursor with solid fill"/>
            <p:cNvPicPr preferRelativeResize="0"/>
            <p:nvPr/>
          </p:nvPicPr>
          <p:blipFill rotWithShape="1">
            <a:blip r:embed="rId5">
              <a:alphaModFix/>
            </a:blip>
            <a:srcRect/>
            <a:stretch/>
          </p:blipFill>
          <p:spPr>
            <a:xfrm>
              <a:off x="2546634" y="3735529"/>
              <a:ext cx="244191" cy="244191"/>
            </a:xfrm>
            <a:prstGeom prst="rect">
              <a:avLst/>
            </a:prstGeom>
            <a:noFill/>
            <a:ln>
              <a:noFill/>
            </a:ln>
          </p:spPr>
        </p:pic>
      </p:grpSp>
      <p:pic>
        <p:nvPicPr>
          <p:cNvPr id="7570" name="Google Shape;7570;p61"/>
          <p:cNvPicPr preferRelativeResize="0"/>
          <p:nvPr/>
        </p:nvPicPr>
        <p:blipFill rotWithShape="1">
          <a:blip r:embed="rId6">
            <a:alphaModFix/>
          </a:blip>
          <a:srcRect/>
          <a:stretch/>
        </p:blipFill>
        <p:spPr>
          <a:xfrm>
            <a:off x="651490" y="1697716"/>
            <a:ext cx="7224617" cy="3679287"/>
          </a:xfrm>
          <a:prstGeom prst="rect">
            <a:avLst/>
          </a:prstGeom>
          <a:noFill/>
          <a:ln>
            <a:noFill/>
          </a:ln>
        </p:spPr>
      </p:pic>
      <p:grpSp>
        <p:nvGrpSpPr>
          <p:cNvPr id="7571" name="Google Shape;7571;p61"/>
          <p:cNvGrpSpPr/>
          <p:nvPr/>
        </p:nvGrpSpPr>
        <p:grpSpPr>
          <a:xfrm>
            <a:off x="1869082" y="2297630"/>
            <a:ext cx="5810477" cy="2496103"/>
            <a:chOff x="1852140" y="2893446"/>
            <a:chExt cx="5949516" cy="2555832"/>
          </a:xfrm>
        </p:grpSpPr>
        <p:pic>
          <p:nvPicPr>
            <p:cNvPr id="7572" name="Google Shape;7572;p61"/>
            <p:cNvPicPr preferRelativeResize="0"/>
            <p:nvPr/>
          </p:nvPicPr>
          <p:blipFill rotWithShape="1">
            <a:blip r:embed="rId7">
              <a:alphaModFix/>
            </a:blip>
            <a:srcRect/>
            <a:stretch/>
          </p:blipFill>
          <p:spPr>
            <a:xfrm>
              <a:off x="1852140" y="2893446"/>
              <a:ext cx="5949516" cy="2555832"/>
            </a:xfrm>
            <a:prstGeom prst="rect">
              <a:avLst/>
            </a:prstGeom>
            <a:noFill/>
            <a:ln>
              <a:noFill/>
            </a:ln>
          </p:spPr>
        </p:pic>
        <p:pic>
          <p:nvPicPr>
            <p:cNvPr id="7573" name="Google Shape;7573;p61" descr="Cursor with solid fill"/>
            <p:cNvPicPr preferRelativeResize="0"/>
            <p:nvPr/>
          </p:nvPicPr>
          <p:blipFill rotWithShape="1">
            <a:blip r:embed="rId5">
              <a:alphaModFix/>
            </a:blip>
            <a:srcRect/>
            <a:stretch/>
          </p:blipFill>
          <p:spPr>
            <a:xfrm>
              <a:off x="2424538" y="3293307"/>
              <a:ext cx="244191" cy="244191"/>
            </a:xfrm>
            <a:prstGeom prst="rect">
              <a:avLst/>
            </a:prstGeom>
            <a:noFill/>
            <a:ln>
              <a:noFill/>
            </a:ln>
          </p:spPr>
        </p:pic>
      </p:grpSp>
      <p:grpSp>
        <p:nvGrpSpPr>
          <p:cNvPr id="7574" name="Google Shape;7574;p61"/>
          <p:cNvGrpSpPr/>
          <p:nvPr/>
        </p:nvGrpSpPr>
        <p:grpSpPr>
          <a:xfrm>
            <a:off x="2001672" y="2697350"/>
            <a:ext cx="5785680" cy="2396135"/>
            <a:chOff x="1958451" y="3002630"/>
            <a:chExt cx="5812559" cy="2408707"/>
          </a:xfrm>
        </p:grpSpPr>
        <p:pic>
          <p:nvPicPr>
            <p:cNvPr id="7575" name="Google Shape;7575;p61"/>
            <p:cNvPicPr preferRelativeResize="0"/>
            <p:nvPr/>
          </p:nvPicPr>
          <p:blipFill rotWithShape="1">
            <a:blip r:embed="rId8">
              <a:alphaModFix/>
            </a:blip>
            <a:srcRect/>
            <a:stretch/>
          </p:blipFill>
          <p:spPr>
            <a:xfrm>
              <a:off x="1958451" y="3002630"/>
              <a:ext cx="5812559" cy="2408707"/>
            </a:xfrm>
            <a:prstGeom prst="rect">
              <a:avLst/>
            </a:prstGeom>
            <a:noFill/>
            <a:ln>
              <a:noFill/>
            </a:ln>
          </p:spPr>
        </p:pic>
        <p:pic>
          <p:nvPicPr>
            <p:cNvPr id="7576" name="Google Shape;7576;p61" descr="Cursor with solid fill"/>
            <p:cNvPicPr preferRelativeResize="0"/>
            <p:nvPr/>
          </p:nvPicPr>
          <p:blipFill rotWithShape="1">
            <a:blip r:embed="rId5">
              <a:alphaModFix/>
            </a:blip>
            <a:srcRect/>
            <a:stretch/>
          </p:blipFill>
          <p:spPr>
            <a:xfrm>
              <a:off x="2346315" y="3490418"/>
              <a:ext cx="244191" cy="244191"/>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581"/>
        <p:cNvGrpSpPr/>
        <p:nvPr/>
      </p:nvGrpSpPr>
      <p:grpSpPr>
        <a:xfrm>
          <a:off x="0" y="0"/>
          <a:ext cx="0" cy="0"/>
          <a:chOff x="0" y="0"/>
          <a:chExt cx="0" cy="0"/>
        </a:xfrm>
      </p:grpSpPr>
      <p:sp>
        <p:nvSpPr>
          <p:cNvPr id="7582" name="Google Shape;7582;p6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Support Network Governance and Enable Self-service Networking</a:t>
            </a:r>
            <a:endParaRPr/>
          </a:p>
        </p:txBody>
      </p:sp>
      <p:sp>
        <p:nvSpPr>
          <p:cNvPr id="7583" name="Google Shape;7583;p62"/>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1200"/>
              </a:spcAft>
              <a:buSzPts val="1800"/>
              <a:buNone/>
            </a:pPr>
            <a:r>
              <a:rPr lang="en-US"/>
              <a:t>Manage IP Addresses and Isolation via VPCs. </a:t>
            </a:r>
            <a:endParaRPr/>
          </a:p>
        </p:txBody>
      </p:sp>
      <p:sp>
        <p:nvSpPr>
          <p:cNvPr id="7584" name="Google Shape;7584;p62"/>
          <p:cNvSpPr txBox="1">
            <a:spLocks noGrp="1"/>
          </p:cNvSpPr>
          <p:nvPr>
            <p:ph type="body" idx="2"/>
          </p:nvPr>
        </p:nvSpPr>
        <p:spPr>
          <a:xfrm>
            <a:off x="8380413" y="1600199"/>
            <a:ext cx="3808412" cy="5153025"/>
          </a:xfrm>
          <a:prstGeom prst="rect">
            <a:avLst/>
          </a:prstGeom>
          <a:noFill/>
          <a:ln>
            <a:noFill/>
          </a:ln>
        </p:spPr>
        <p:txBody>
          <a:bodyPr spcFirstLastPara="1" wrap="square" lIns="0" tIns="457075" rIns="594175" bIns="457075" anchor="t" anchorCtr="0">
            <a:noAutofit/>
          </a:bodyPr>
          <a:lstStyle/>
          <a:p>
            <a:pPr marL="0" lvl="0" indent="0" algn="l" rtl="0">
              <a:lnSpc>
                <a:spcPct val="100000"/>
              </a:lnSpc>
              <a:spcBef>
                <a:spcPts val="0"/>
              </a:spcBef>
              <a:spcAft>
                <a:spcPts val="0"/>
              </a:spcAft>
              <a:buSzPts val="1440"/>
              <a:buNone/>
            </a:pPr>
            <a:r>
              <a:rPr lang="en-US" dirty="0"/>
              <a:t>Enhance Security through network isolation.</a:t>
            </a:r>
            <a:endParaRPr dirty="0"/>
          </a:p>
          <a:p>
            <a:pPr marL="285750" lvl="0" indent="-285750" algn="l" rtl="0">
              <a:lnSpc>
                <a:spcPct val="100000"/>
              </a:lnSpc>
              <a:spcBef>
                <a:spcPts val="1200"/>
              </a:spcBef>
              <a:spcAft>
                <a:spcPts val="0"/>
              </a:spcAft>
              <a:buSzPts val="1260"/>
              <a:buFont typeface="Arial"/>
              <a:buChar char="•"/>
            </a:pPr>
            <a:r>
              <a:rPr lang="en-US" sz="1400" dirty="0"/>
              <a:t>Leverage VPCs networks for each application team to ensure isolation.</a:t>
            </a:r>
            <a:endParaRPr dirty="0"/>
          </a:p>
          <a:p>
            <a:pPr marL="285750" lvl="0" indent="-285750" algn="l" rtl="0">
              <a:lnSpc>
                <a:spcPct val="100000"/>
              </a:lnSpc>
              <a:spcBef>
                <a:spcPts val="1200"/>
              </a:spcBef>
              <a:spcAft>
                <a:spcPts val="0"/>
              </a:spcAft>
              <a:buSzPts val="1260"/>
              <a:buFont typeface="Arial"/>
              <a:buChar char="•"/>
            </a:pPr>
            <a:r>
              <a:rPr lang="en-US" sz="1400" dirty="0"/>
              <a:t>Link each VPC to one or more vSphere Namespaces for resource control.</a:t>
            </a:r>
            <a:endParaRPr dirty="0"/>
          </a:p>
          <a:p>
            <a:pPr marL="285750" lvl="0" indent="-285750" algn="l" rtl="0">
              <a:lnSpc>
                <a:spcPct val="100000"/>
              </a:lnSpc>
              <a:spcBef>
                <a:spcPts val="1200"/>
              </a:spcBef>
              <a:spcAft>
                <a:spcPts val="0"/>
              </a:spcAft>
              <a:buSzPts val="1260"/>
              <a:buFont typeface="Arial"/>
              <a:buChar char="•"/>
            </a:pPr>
            <a:r>
              <a:rPr lang="en-US" sz="1400" dirty="0"/>
              <a:t>Oversee IP addresses provided by IT Admins or external Providers to prevent conflicts.</a:t>
            </a:r>
            <a:endParaRPr dirty="0"/>
          </a:p>
          <a:p>
            <a:pPr marL="285750" lvl="0" indent="-285750" algn="l" rtl="0">
              <a:lnSpc>
                <a:spcPct val="100000"/>
              </a:lnSpc>
              <a:spcBef>
                <a:spcPts val="1200"/>
              </a:spcBef>
              <a:spcAft>
                <a:spcPts val="1200"/>
              </a:spcAft>
              <a:buSzPts val="1260"/>
              <a:buFont typeface="Arial"/>
              <a:buChar char="•"/>
            </a:pPr>
            <a:r>
              <a:rPr lang="en-US" sz="1400" dirty="0"/>
              <a:t>Develop and manage IP addresses for internal use.</a:t>
            </a:r>
            <a:endParaRPr dirty="0"/>
          </a:p>
        </p:txBody>
      </p:sp>
      <p:sp>
        <p:nvSpPr>
          <p:cNvPr id="7585" name="Google Shape;7585;p62"/>
          <p:cNvSpPr txBox="1">
            <a:spLocks noGrp="1"/>
          </p:cNvSpPr>
          <p:nvPr>
            <p:ph type="body" idx="3"/>
          </p:nvPr>
        </p:nvSpPr>
        <p:spPr>
          <a:xfrm>
            <a:off x="608012" y="1600201"/>
            <a:ext cx="7398303" cy="4147456"/>
          </a:xfrm>
          <a:prstGeom prst="rect">
            <a:avLst/>
          </a:prstGeom>
          <a:noFill/>
          <a:ln>
            <a:noFill/>
          </a:ln>
        </p:spPr>
        <p:txBody>
          <a:bodyPr spcFirstLastPara="1" wrap="square" lIns="594350" tIns="1371600" rIns="457200" bIns="457200" anchor="t" anchorCtr="0">
            <a:noAutofit/>
          </a:bodyPr>
          <a:lstStyle/>
          <a:p>
            <a:pPr marL="0" lvl="0" indent="0" algn="ctr" rtl="0">
              <a:lnSpc>
                <a:spcPct val="100000"/>
              </a:lnSpc>
              <a:spcBef>
                <a:spcPts val="0"/>
              </a:spcBef>
              <a:spcAft>
                <a:spcPts val="0"/>
              </a:spcAft>
              <a:buSzPts val="990"/>
              <a:buNone/>
            </a:pPr>
            <a:endParaRPr dirty="0"/>
          </a:p>
        </p:txBody>
      </p:sp>
      <p:grpSp>
        <p:nvGrpSpPr>
          <p:cNvPr id="7586" name="Google Shape;7586;p62"/>
          <p:cNvGrpSpPr/>
          <p:nvPr/>
        </p:nvGrpSpPr>
        <p:grpSpPr>
          <a:xfrm>
            <a:off x="608819" y="1694870"/>
            <a:ext cx="7397496" cy="3959189"/>
            <a:chOff x="608819" y="1600677"/>
            <a:chExt cx="7397496" cy="3959189"/>
          </a:xfrm>
        </p:grpSpPr>
        <p:pic>
          <p:nvPicPr>
            <p:cNvPr id="7587" name="Google Shape;7587;p62" descr="A screenshot of a computer&#10;&#10;AI-generated content may be incorrect."/>
            <p:cNvPicPr preferRelativeResize="0"/>
            <p:nvPr/>
          </p:nvPicPr>
          <p:blipFill rotWithShape="1">
            <a:blip r:embed="rId3">
              <a:alphaModFix/>
            </a:blip>
            <a:srcRect b="93940"/>
            <a:stretch/>
          </p:blipFill>
          <p:spPr>
            <a:xfrm>
              <a:off x="609782" y="1600677"/>
              <a:ext cx="7395570" cy="266223"/>
            </a:xfrm>
            <a:prstGeom prst="rect">
              <a:avLst/>
            </a:prstGeom>
            <a:noFill/>
            <a:ln>
              <a:noFill/>
            </a:ln>
            <a:effectLst>
              <a:outerShdw blurRad="50800" dist="38100" dir="2700000" algn="tl" rotWithShape="0">
                <a:srgbClr val="000000">
                  <a:alpha val="40000"/>
                </a:srgbClr>
              </a:outerShdw>
            </a:effectLst>
          </p:spPr>
        </p:pic>
        <p:pic>
          <p:nvPicPr>
            <p:cNvPr id="7588" name="Google Shape;7588;p62"/>
            <p:cNvPicPr preferRelativeResize="0"/>
            <p:nvPr/>
          </p:nvPicPr>
          <p:blipFill rotWithShape="1">
            <a:blip r:embed="rId4">
              <a:alphaModFix/>
            </a:blip>
            <a:srcRect/>
            <a:stretch/>
          </p:blipFill>
          <p:spPr>
            <a:xfrm>
              <a:off x="608819" y="1866900"/>
              <a:ext cx="7397496" cy="3692966"/>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593"/>
        <p:cNvGrpSpPr/>
        <p:nvPr/>
      </p:nvGrpSpPr>
      <p:grpSpPr>
        <a:xfrm>
          <a:off x="0" y="0"/>
          <a:ext cx="0" cy="0"/>
          <a:chOff x="0" y="0"/>
          <a:chExt cx="0" cy="0"/>
        </a:xfrm>
      </p:grpSpPr>
      <p:sp>
        <p:nvSpPr>
          <p:cNvPr id="7594" name="Google Shape;7594;p63"/>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3600"/>
              <a:buNone/>
            </a:pPr>
            <a:r>
              <a:rPr lang="en-US"/>
              <a:t>Migrations</a:t>
            </a:r>
            <a:br>
              <a:rPr lang="en-US"/>
            </a:br>
            <a:endParaRPr/>
          </a:p>
        </p:txBody>
      </p:sp>
      <p:sp>
        <p:nvSpPr>
          <p:cNvPr id="7595" name="Google Shape;7595;p63"/>
          <p:cNvSpPr txBox="1">
            <a:spLocks noGrp="1"/>
          </p:cNvSpPr>
          <p:nvPr>
            <p:ph type="subTitle" idx="1"/>
          </p:nvPr>
        </p:nvSpPr>
        <p:spPr>
          <a:xfrm>
            <a:off x="602966" y="2267712"/>
            <a:ext cx="6542112" cy="700882"/>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160"/>
              <a:buNone/>
            </a:pPr>
            <a:r>
              <a:rPr lang="en-US"/>
              <a:t>Integrated Migration Planning</a:t>
            </a:r>
            <a:endParaRPr/>
          </a:p>
          <a:p>
            <a:pPr marL="0" lvl="0" indent="0" algn="l" rtl="0">
              <a:lnSpc>
                <a:spcPct val="100000"/>
              </a:lnSpc>
              <a:spcBef>
                <a:spcPts val="0"/>
              </a:spcBef>
              <a:spcAft>
                <a:spcPts val="0"/>
              </a:spcAft>
              <a:buSzPts val="2160"/>
              <a:buNone/>
            </a:pPr>
            <a:r>
              <a:rPr lang="en-US"/>
              <a:t>Non-disruptive Workload Migration</a:t>
            </a:r>
            <a:endParaRPr/>
          </a:p>
          <a:p>
            <a:pPr marL="0" lvl="0" indent="0" algn="l" rtl="0">
              <a:lnSpc>
                <a:spcPct val="100000"/>
              </a:lnSpc>
              <a:spcBef>
                <a:spcPts val="0"/>
              </a:spcBef>
              <a:spcAft>
                <a:spcPts val="0"/>
              </a:spcAft>
              <a:buSzPts val="2160"/>
              <a:buNone/>
            </a:pPr>
            <a:r>
              <a:rPr lang="en-US"/>
              <a:t>Simplified HCX Experience</a:t>
            </a:r>
            <a:endParaRPr/>
          </a:p>
          <a:p>
            <a:pPr marL="0" lvl="0" indent="0" algn="l" rtl="0">
              <a:lnSpc>
                <a:spcPct val="100000"/>
              </a:lnSpc>
              <a:spcBef>
                <a:spcPts val="0"/>
              </a:spcBef>
              <a:spcAft>
                <a:spcPts val="0"/>
              </a:spcAft>
              <a:buSzPts val="2160"/>
              <a:buNone/>
            </a:pPr>
            <a:endParaRPr/>
          </a:p>
          <a:p>
            <a:pPr marL="0" lvl="0" indent="0" algn="l" rtl="0">
              <a:lnSpc>
                <a:spcPct val="100000"/>
              </a:lnSpc>
              <a:spcBef>
                <a:spcPts val="0"/>
              </a:spcBef>
              <a:spcAft>
                <a:spcPts val="0"/>
              </a:spcAft>
              <a:buSzPts val="2160"/>
              <a:buNone/>
            </a:pPr>
            <a:endParaRPr/>
          </a:p>
        </p:txBody>
      </p:sp>
      <p:sp>
        <p:nvSpPr>
          <p:cNvPr id="7596" name="Google Shape;7596;p63"/>
          <p:cNvSpPr txBox="1"/>
          <p:nvPr/>
        </p:nvSpPr>
        <p:spPr>
          <a:xfrm>
            <a:off x="588963" y="1823094"/>
            <a:ext cx="487313"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chemeClr val="accent2"/>
                </a:solidFill>
                <a:latin typeface="Arial"/>
                <a:ea typeface="Arial"/>
                <a:cs typeface="Arial"/>
                <a:sym typeface="Arial"/>
              </a:rPr>
              <a:t>HCX</a:t>
            </a:r>
            <a:endParaRPr sz="1800">
              <a:solidFill>
                <a:schemeClr val="accen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601"/>
        <p:cNvGrpSpPr/>
        <p:nvPr/>
      </p:nvGrpSpPr>
      <p:grpSpPr>
        <a:xfrm>
          <a:off x="0" y="0"/>
          <a:ext cx="0" cy="0"/>
          <a:chOff x="0" y="0"/>
          <a:chExt cx="0" cy="0"/>
        </a:xfrm>
      </p:grpSpPr>
      <p:sp>
        <p:nvSpPr>
          <p:cNvPr id="7602" name="Google Shape;7602;p64"/>
          <p:cNvSpPr/>
          <p:nvPr/>
        </p:nvSpPr>
        <p:spPr>
          <a:xfrm>
            <a:off x="608012" y="1600199"/>
            <a:ext cx="7398303" cy="4672361"/>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a:t>
            </a:r>
            <a:endParaRPr sz="1200" b="0" i="0" u="none" strike="noStrike" cap="none">
              <a:solidFill>
                <a:srgbClr val="FFFFFF"/>
              </a:solidFill>
              <a:latin typeface="Arial"/>
              <a:ea typeface="Arial"/>
              <a:cs typeface="Arial"/>
              <a:sym typeface="Arial"/>
            </a:endParaRPr>
          </a:p>
        </p:txBody>
      </p:sp>
      <p:sp>
        <p:nvSpPr>
          <p:cNvPr id="7603" name="Google Shape;7603;p6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Seamless Migration Planning and Execution </a:t>
            </a:r>
            <a:endParaRPr/>
          </a:p>
        </p:txBody>
      </p:sp>
      <p:sp>
        <p:nvSpPr>
          <p:cNvPr id="7604" name="Google Shape;7604;p64"/>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Automation of Migration Planning between VCF Operations for Networks and HCX</a:t>
            </a:r>
            <a:endParaRPr/>
          </a:p>
          <a:p>
            <a:pPr marL="0" lvl="0" indent="0" algn="l" rtl="0">
              <a:lnSpc>
                <a:spcPct val="100000"/>
              </a:lnSpc>
              <a:spcBef>
                <a:spcPts val="0"/>
              </a:spcBef>
              <a:spcAft>
                <a:spcPts val="0"/>
              </a:spcAft>
              <a:buSzPts val="1800"/>
              <a:buNone/>
            </a:pPr>
            <a:endParaRPr/>
          </a:p>
        </p:txBody>
      </p:sp>
      <p:sp>
        <p:nvSpPr>
          <p:cNvPr id="7605" name="Google Shape;7605;p64"/>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457200" lvl="0" indent="-320040" algn="l" rtl="0">
              <a:lnSpc>
                <a:spcPct val="100000"/>
              </a:lnSpc>
              <a:spcBef>
                <a:spcPts val="0"/>
              </a:spcBef>
              <a:spcAft>
                <a:spcPts val="0"/>
              </a:spcAft>
              <a:buSzPts val="1440"/>
              <a:buChar char="​"/>
            </a:pPr>
            <a:r>
              <a:rPr lang="en-US"/>
              <a:t>Automatically import Plans from VCF Operations for Networks directly into HCX</a:t>
            </a:r>
            <a:endParaRPr/>
          </a:p>
          <a:p>
            <a:pPr marL="457200" lvl="0" indent="-228600" algn="l" rtl="0">
              <a:lnSpc>
                <a:spcPct val="100000"/>
              </a:lnSpc>
              <a:spcBef>
                <a:spcPts val="0"/>
              </a:spcBef>
              <a:spcAft>
                <a:spcPts val="0"/>
              </a:spcAft>
              <a:buSzPts val="1440"/>
              <a:buNone/>
            </a:pPr>
            <a:endParaRPr/>
          </a:p>
          <a:p>
            <a:pPr marL="457200" lvl="0" indent="-320040" algn="l" rtl="0">
              <a:lnSpc>
                <a:spcPct val="100000"/>
              </a:lnSpc>
              <a:spcBef>
                <a:spcPts val="0"/>
              </a:spcBef>
              <a:spcAft>
                <a:spcPts val="0"/>
              </a:spcAft>
              <a:buSzPts val="1440"/>
              <a:buChar char="​"/>
            </a:pPr>
            <a:r>
              <a:rPr lang="en-US"/>
              <a:t>Process imported data to auto-create HCX Networks and Mobility Groups</a:t>
            </a:r>
            <a:endParaRPr/>
          </a:p>
          <a:p>
            <a:pPr marL="457200" lvl="0" indent="-228600" algn="l" rtl="0">
              <a:lnSpc>
                <a:spcPct val="100000"/>
              </a:lnSpc>
              <a:spcBef>
                <a:spcPts val="0"/>
              </a:spcBef>
              <a:spcAft>
                <a:spcPts val="0"/>
              </a:spcAft>
              <a:buSzPts val="1440"/>
              <a:buNone/>
            </a:pPr>
            <a:endParaRPr/>
          </a:p>
          <a:p>
            <a:pPr marL="457200" lvl="0" indent="-320040" algn="l" rtl="0">
              <a:lnSpc>
                <a:spcPct val="100000"/>
              </a:lnSpc>
              <a:spcBef>
                <a:spcPts val="0"/>
              </a:spcBef>
              <a:spcAft>
                <a:spcPts val="0"/>
              </a:spcAft>
              <a:buSzPts val="1440"/>
              <a:buChar char="​"/>
            </a:pPr>
            <a:r>
              <a:rPr lang="en-US"/>
              <a:t>Ability to modify Migration Wave from HCX</a:t>
            </a:r>
            <a:endParaRPr/>
          </a:p>
          <a:p>
            <a:pPr marL="457200" lvl="0" indent="-228600" algn="l" rtl="0">
              <a:lnSpc>
                <a:spcPct val="100000"/>
              </a:lnSpc>
              <a:spcBef>
                <a:spcPts val="0"/>
              </a:spcBef>
              <a:spcAft>
                <a:spcPts val="0"/>
              </a:spcAft>
              <a:buSzPts val="1440"/>
              <a:buNone/>
            </a:pPr>
            <a:endParaRPr/>
          </a:p>
          <a:p>
            <a:pPr marL="457200" lvl="0" indent="-320040" algn="l" rtl="0">
              <a:lnSpc>
                <a:spcPct val="100000"/>
              </a:lnSpc>
              <a:spcBef>
                <a:spcPts val="0"/>
              </a:spcBef>
              <a:spcAft>
                <a:spcPts val="0"/>
              </a:spcAft>
              <a:buSzPts val="1440"/>
              <a:buChar char="​"/>
            </a:pPr>
            <a:r>
              <a:rPr lang="en-US"/>
              <a:t>Ability to manually import Migration Wave</a:t>
            </a:r>
            <a:endParaRPr/>
          </a:p>
          <a:p>
            <a:pPr marL="457200" lvl="0" indent="-228600" algn="l" rtl="0">
              <a:lnSpc>
                <a:spcPct val="100000"/>
              </a:lnSpc>
              <a:spcBef>
                <a:spcPts val="0"/>
              </a:spcBef>
              <a:spcAft>
                <a:spcPts val="0"/>
              </a:spcAft>
              <a:buSzPts val="1440"/>
              <a:buNone/>
            </a:pPr>
            <a:endParaRPr/>
          </a:p>
        </p:txBody>
      </p:sp>
      <p:sp>
        <p:nvSpPr>
          <p:cNvPr id="7606" name="Google Shape;7606;p64"/>
          <p:cNvSpPr txBox="1">
            <a:spLocks noGrp="1"/>
          </p:cNvSpPr>
          <p:nvPr>
            <p:ph type="body" idx="3"/>
          </p:nvPr>
        </p:nvSpPr>
        <p:spPr>
          <a:xfrm>
            <a:off x="608012" y="1600201"/>
            <a:ext cx="7398303" cy="4572000"/>
          </a:xfrm>
          <a:prstGeom prst="rect">
            <a:avLst/>
          </a:prstGeom>
          <a:noFill/>
          <a:ln>
            <a:noFill/>
          </a:ln>
        </p:spPr>
        <p:txBody>
          <a:bodyPr spcFirstLastPara="1" wrap="square" lIns="594350" tIns="1371600" rIns="457200" bIns="457200" anchor="t" anchorCtr="0">
            <a:noAutofit/>
          </a:bodyPr>
          <a:lstStyle/>
          <a:p>
            <a:pPr marL="457200" lvl="0" indent="-228600" algn="ctr" rtl="0">
              <a:lnSpc>
                <a:spcPct val="100000"/>
              </a:lnSpc>
              <a:spcBef>
                <a:spcPts val="1200"/>
              </a:spcBef>
              <a:spcAft>
                <a:spcPts val="0"/>
              </a:spcAft>
              <a:buSzPts val="990"/>
              <a:buNone/>
            </a:pPr>
            <a:endParaRPr/>
          </a:p>
        </p:txBody>
      </p:sp>
      <p:pic>
        <p:nvPicPr>
          <p:cNvPr id="7607" name="Google Shape;7607;p64"/>
          <p:cNvPicPr preferRelativeResize="0"/>
          <p:nvPr/>
        </p:nvPicPr>
        <p:blipFill rotWithShape="1">
          <a:blip r:embed="rId3">
            <a:alphaModFix/>
          </a:blip>
          <a:srcRect/>
          <a:stretch/>
        </p:blipFill>
        <p:spPr>
          <a:xfrm>
            <a:off x="687995" y="1661901"/>
            <a:ext cx="7242048" cy="4011930"/>
          </a:xfrm>
          <a:prstGeom prst="rect">
            <a:avLst/>
          </a:prstGeom>
          <a:noFill/>
          <a:ln>
            <a:noFill/>
          </a:ln>
        </p:spPr>
      </p:pic>
      <p:pic>
        <p:nvPicPr>
          <p:cNvPr id="7608" name="Google Shape;7608;p64"/>
          <p:cNvPicPr preferRelativeResize="0"/>
          <p:nvPr/>
        </p:nvPicPr>
        <p:blipFill rotWithShape="1">
          <a:blip r:embed="rId4">
            <a:alphaModFix/>
          </a:blip>
          <a:srcRect/>
          <a:stretch/>
        </p:blipFill>
        <p:spPr>
          <a:xfrm>
            <a:off x="2140604" y="2778878"/>
            <a:ext cx="5843016" cy="3435858"/>
          </a:xfrm>
          <a:prstGeom prst="rect">
            <a:avLst/>
          </a:prstGeom>
          <a:noFill/>
          <a:ln>
            <a:noFill/>
          </a:ln>
        </p:spPr>
      </p:pic>
      <p:pic>
        <p:nvPicPr>
          <p:cNvPr id="7609" name="Google Shape;7609;p64"/>
          <p:cNvPicPr preferRelativeResize="0"/>
          <p:nvPr/>
        </p:nvPicPr>
        <p:blipFill rotWithShape="1">
          <a:blip r:embed="rId5">
            <a:alphaModFix/>
          </a:blip>
          <a:srcRect/>
          <a:stretch/>
        </p:blipFill>
        <p:spPr>
          <a:xfrm>
            <a:off x="2162030" y="2597868"/>
            <a:ext cx="5760720" cy="312724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7609"/>
                                        </p:tgtEl>
                                      </p:cBhvr>
                                    </p:animEffect>
                                    <p:set>
                                      <p:cBhvr>
                                        <p:cTn id="7" dur="1" fill="hold">
                                          <p:stCondLst>
                                            <p:cond delay="500"/>
                                          </p:stCondLst>
                                        </p:cTn>
                                        <p:tgtEl>
                                          <p:spTgt spid="76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1C277-14A7-01B5-169C-214DC1F490E1}"/>
            </a:ext>
          </a:extLst>
        </p:cNvPr>
        <p:cNvGrpSpPr/>
        <p:nvPr/>
      </p:nvGrpSpPr>
      <p:grpSpPr>
        <a:xfrm>
          <a:off x="0" y="0"/>
          <a:ext cx="0" cy="0"/>
          <a:chOff x="0" y="0"/>
          <a:chExt cx="0" cy="0"/>
        </a:xfrm>
      </p:grpSpPr>
      <p:sp>
        <p:nvSpPr>
          <p:cNvPr id="196" name="Title 195">
            <a:extLst>
              <a:ext uri="{FF2B5EF4-FFF2-40B4-BE49-F238E27FC236}">
                <a16:creationId xmlns:a16="http://schemas.microsoft.com/office/drawing/2014/main" id="{583A35F4-8E37-2779-A517-70520631CBE5}"/>
              </a:ext>
            </a:extLst>
          </p:cNvPr>
          <p:cNvSpPr>
            <a:spLocks noGrp="1"/>
          </p:cNvSpPr>
          <p:nvPr>
            <p:ph type="title"/>
          </p:nvPr>
        </p:nvSpPr>
        <p:spPr/>
        <p:txBody>
          <a:bodyPr/>
          <a:lstStyle/>
          <a:p>
            <a:r>
              <a:rPr lang="en-US" dirty="0"/>
              <a:t>Non-Disruptive Workload Migration to VPC</a:t>
            </a:r>
          </a:p>
        </p:txBody>
      </p:sp>
      <p:sp>
        <p:nvSpPr>
          <p:cNvPr id="197" name="Subtitle 196">
            <a:extLst>
              <a:ext uri="{FF2B5EF4-FFF2-40B4-BE49-F238E27FC236}">
                <a16:creationId xmlns:a16="http://schemas.microsoft.com/office/drawing/2014/main" id="{E6AA49D6-F2D4-5317-54A1-7290B12B9FFF}"/>
              </a:ext>
            </a:extLst>
          </p:cNvPr>
          <p:cNvSpPr>
            <a:spLocks noGrp="1"/>
          </p:cNvSpPr>
          <p:nvPr>
            <p:ph type="subTitle" idx="1"/>
          </p:nvPr>
        </p:nvSpPr>
        <p:spPr/>
        <p:txBody>
          <a:bodyPr/>
          <a:lstStyle/>
          <a:p>
            <a:r>
              <a:rPr lang="en-US" dirty="0"/>
              <a:t>HCX Migration and Network Extension support for NSX VPC</a:t>
            </a:r>
          </a:p>
        </p:txBody>
      </p:sp>
      <p:sp>
        <p:nvSpPr>
          <p:cNvPr id="4" name="Text Placeholder 3">
            <a:extLst>
              <a:ext uri="{FF2B5EF4-FFF2-40B4-BE49-F238E27FC236}">
                <a16:creationId xmlns:a16="http://schemas.microsoft.com/office/drawing/2014/main" id="{BFC0889C-F0AB-FF1C-1F07-67AE8532D3AD}"/>
              </a:ext>
            </a:extLst>
          </p:cNvPr>
          <p:cNvSpPr>
            <a:spLocks noGrp="1"/>
          </p:cNvSpPr>
          <p:nvPr>
            <p:ph type="body" idx="2"/>
          </p:nvPr>
        </p:nvSpPr>
        <p:spPr/>
        <p:txBody>
          <a:bodyPr/>
          <a:lstStyle/>
          <a:p>
            <a:pPr lvl="0"/>
            <a:r>
              <a:rPr lang="en-US" dirty="0"/>
              <a:t>NSX VPC and Project support </a:t>
            </a:r>
          </a:p>
          <a:p>
            <a:pPr lvl="0"/>
            <a:endParaRPr lang="en-US" dirty="0"/>
          </a:p>
          <a:p>
            <a:pPr lvl="0"/>
            <a:r>
              <a:rPr lang="en-US" dirty="0"/>
              <a:t>Migration To and Between VPCs</a:t>
            </a:r>
          </a:p>
          <a:p>
            <a:pPr lvl="0"/>
            <a:endParaRPr lang="en-US" dirty="0"/>
          </a:p>
          <a:p>
            <a:pPr lvl="0"/>
            <a:r>
              <a:rPr lang="en-US" dirty="0"/>
              <a:t>L2 Network Extension To and Between VPCs</a:t>
            </a:r>
          </a:p>
          <a:p>
            <a:pPr lvl="0"/>
            <a:endParaRPr lang="en-US" dirty="0"/>
          </a:p>
          <a:p>
            <a:pPr lvl="0"/>
            <a:r>
              <a:rPr lang="en-US" dirty="0"/>
              <a:t>All Migration types and all Extension features supported except MON</a:t>
            </a:r>
          </a:p>
          <a:p>
            <a:pPr lvl="0"/>
            <a:endParaRPr lang="en-US" dirty="0"/>
          </a:p>
          <a:p>
            <a:pPr lvl="0"/>
            <a:r>
              <a:rPr lang="en-US" dirty="0"/>
              <a:t>Project and VPC as Primary Entities in HCX </a:t>
            </a:r>
          </a:p>
          <a:p>
            <a:endParaRPr lang="en-US" dirty="0"/>
          </a:p>
          <a:p>
            <a:r>
              <a:rPr lang="en-US" dirty="0"/>
              <a:t>Enables non-disruptive migration to VPC</a:t>
            </a:r>
          </a:p>
        </p:txBody>
      </p:sp>
      <p:sp>
        <p:nvSpPr>
          <p:cNvPr id="6" name="Google Shape;1292;p6">
            <a:extLst>
              <a:ext uri="{FF2B5EF4-FFF2-40B4-BE49-F238E27FC236}">
                <a16:creationId xmlns:a16="http://schemas.microsoft.com/office/drawing/2014/main" id="{79BD0081-2415-926E-7808-B4C287C14F87}"/>
              </a:ext>
            </a:extLst>
          </p:cNvPr>
          <p:cNvSpPr/>
          <p:nvPr/>
        </p:nvSpPr>
        <p:spPr>
          <a:xfrm>
            <a:off x="6479" y="1625635"/>
            <a:ext cx="8133399" cy="4572000"/>
          </a:xfrm>
          <a:prstGeom prst="roundRect">
            <a:avLst>
              <a:gd name="adj" fmla="val 0"/>
            </a:avLst>
          </a:prstGeom>
          <a:solidFill>
            <a:srgbClr val="F4F8F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000"/>
              <a:buFont typeface="Arial"/>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7" name="Google Shape;1293;p6">
            <a:extLst>
              <a:ext uri="{FF2B5EF4-FFF2-40B4-BE49-F238E27FC236}">
                <a16:creationId xmlns:a16="http://schemas.microsoft.com/office/drawing/2014/main" id="{1901349F-55E6-743F-DD79-EE23331DF5BB}"/>
              </a:ext>
            </a:extLst>
          </p:cNvPr>
          <p:cNvSpPr/>
          <p:nvPr/>
        </p:nvSpPr>
        <p:spPr>
          <a:xfrm>
            <a:off x="606342" y="1750219"/>
            <a:ext cx="7405481" cy="4295951"/>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98" name="Freeform 97">
            <a:extLst>
              <a:ext uri="{FF2B5EF4-FFF2-40B4-BE49-F238E27FC236}">
                <a16:creationId xmlns:a16="http://schemas.microsoft.com/office/drawing/2014/main" id="{FA6AD11E-FA27-B842-B96B-6F9CE9EEAE9B}"/>
              </a:ext>
            </a:extLst>
          </p:cNvPr>
          <p:cNvSpPr/>
          <p:nvPr/>
        </p:nvSpPr>
        <p:spPr bwMode="gray">
          <a:xfrm>
            <a:off x="2482930" y="2918821"/>
            <a:ext cx="1399005" cy="474908"/>
          </a:xfrm>
          <a:custGeom>
            <a:avLst/>
            <a:gdLst>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67377 h 1438977"/>
              <a:gd name="connsiteX4" fmla="*/ 0 w 4995512"/>
              <a:gd name="connsiteY4" fmla="*/ 822960 h 1438977"/>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822960 h 1438977"/>
            </a:gdLst>
            <a:ahLst/>
            <a:cxnLst>
              <a:cxn ang="0">
                <a:pos x="connsiteX0" y="connsiteY0"/>
              </a:cxn>
              <a:cxn ang="0">
                <a:pos x="connsiteX1" y="connsiteY1"/>
              </a:cxn>
              <a:cxn ang="0">
                <a:pos x="connsiteX2" y="connsiteY2"/>
              </a:cxn>
              <a:cxn ang="0">
                <a:pos x="connsiteX3" y="connsiteY3"/>
              </a:cxn>
            </a:cxnLst>
            <a:rect l="l" t="t" r="r" b="b"/>
            <a:pathLst>
              <a:path w="4995512" h="1438977">
                <a:moveTo>
                  <a:pt x="4995512" y="1438977"/>
                </a:moveTo>
                <a:lnTo>
                  <a:pt x="4995512" y="0"/>
                </a:lnTo>
                <a:lnTo>
                  <a:pt x="0" y="0"/>
                </a:lnTo>
                <a:lnTo>
                  <a:pt x="0" y="822960"/>
                </a:lnTo>
              </a:path>
            </a:pathLst>
          </a:custGeom>
          <a:noFill/>
          <a:ln w="158750" cap="flat" cmpd="sng">
            <a:solidFill>
              <a:srgbClr val="00C3FF">
                <a:alpha val="32000"/>
              </a:srgbClr>
            </a:solid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9" name="Freeform 98">
            <a:extLst>
              <a:ext uri="{FF2B5EF4-FFF2-40B4-BE49-F238E27FC236}">
                <a16:creationId xmlns:a16="http://schemas.microsoft.com/office/drawing/2014/main" id="{36EED4F1-A213-2758-575F-A5605B2D5183}"/>
              </a:ext>
            </a:extLst>
          </p:cNvPr>
          <p:cNvSpPr/>
          <p:nvPr/>
        </p:nvSpPr>
        <p:spPr bwMode="gray">
          <a:xfrm>
            <a:off x="1315048" y="1988997"/>
            <a:ext cx="6235971" cy="2539360"/>
          </a:xfrm>
          <a:custGeom>
            <a:avLst/>
            <a:gdLst>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67377 h 1438977"/>
              <a:gd name="connsiteX4" fmla="*/ 0 w 4995512"/>
              <a:gd name="connsiteY4" fmla="*/ 822960 h 1438977"/>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822960 h 1438977"/>
              <a:gd name="connsiteX0" fmla="*/ 4999371 w 4999371"/>
              <a:gd name="connsiteY0" fmla="*/ 1438977 h 1438977"/>
              <a:gd name="connsiteX1" fmla="*/ 4999371 w 4999371"/>
              <a:gd name="connsiteY1" fmla="*/ 0 h 1438977"/>
              <a:gd name="connsiteX2" fmla="*/ 3859 w 4999371"/>
              <a:gd name="connsiteY2" fmla="*/ 0 h 1438977"/>
              <a:gd name="connsiteX3" fmla="*/ 0 w 4999371"/>
              <a:gd name="connsiteY3" fmla="*/ 949940 h 1438977"/>
            </a:gdLst>
            <a:ahLst/>
            <a:cxnLst>
              <a:cxn ang="0">
                <a:pos x="connsiteX0" y="connsiteY0"/>
              </a:cxn>
              <a:cxn ang="0">
                <a:pos x="connsiteX1" y="connsiteY1"/>
              </a:cxn>
              <a:cxn ang="0">
                <a:pos x="connsiteX2" y="connsiteY2"/>
              </a:cxn>
              <a:cxn ang="0">
                <a:pos x="connsiteX3" y="connsiteY3"/>
              </a:cxn>
            </a:cxnLst>
            <a:rect l="l" t="t" r="r" b="b"/>
            <a:pathLst>
              <a:path w="4999371" h="1438977">
                <a:moveTo>
                  <a:pt x="4999371" y="1438977"/>
                </a:moveTo>
                <a:lnTo>
                  <a:pt x="4999371" y="0"/>
                </a:lnTo>
                <a:lnTo>
                  <a:pt x="3859" y="0"/>
                </a:lnTo>
                <a:cubicBezTo>
                  <a:pt x="2573" y="316647"/>
                  <a:pt x="1286" y="633293"/>
                  <a:pt x="0" y="949940"/>
                </a:cubicBezTo>
              </a:path>
            </a:pathLst>
          </a:custGeom>
          <a:noFill/>
          <a:ln w="158750" cap="flat" cmpd="sng">
            <a:solidFill>
              <a:srgbClr val="00C3FF">
                <a:alpha val="32000"/>
              </a:srgbClr>
            </a:solid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0" name="Rectangle 99">
            <a:extLst>
              <a:ext uri="{FF2B5EF4-FFF2-40B4-BE49-F238E27FC236}">
                <a16:creationId xmlns:a16="http://schemas.microsoft.com/office/drawing/2014/main" id="{74C195A8-619C-5254-69BE-BBF8C4A331D6}"/>
              </a:ext>
            </a:extLst>
          </p:cNvPr>
          <p:cNvSpPr/>
          <p:nvPr/>
        </p:nvSpPr>
        <p:spPr>
          <a:xfrm rot="10800000" flipV="1">
            <a:off x="1188680" y="2892366"/>
            <a:ext cx="2996688" cy="273257"/>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01" name="Rectangle 100">
            <a:extLst>
              <a:ext uri="{FF2B5EF4-FFF2-40B4-BE49-F238E27FC236}">
                <a16:creationId xmlns:a16="http://schemas.microsoft.com/office/drawing/2014/main" id="{B117E7E6-31E5-804B-A968-49C422CE8002}"/>
              </a:ext>
            </a:extLst>
          </p:cNvPr>
          <p:cNvSpPr/>
          <p:nvPr/>
        </p:nvSpPr>
        <p:spPr>
          <a:xfrm rot="10800000" flipV="1">
            <a:off x="6622141" y="3890877"/>
            <a:ext cx="1102963" cy="631909"/>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nvGrpSpPr>
          <p:cNvPr id="102" name="Group 101">
            <a:extLst>
              <a:ext uri="{FF2B5EF4-FFF2-40B4-BE49-F238E27FC236}">
                <a16:creationId xmlns:a16="http://schemas.microsoft.com/office/drawing/2014/main" id="{B39DF944-1999-E086-E7E6-E2639CFDF8E2}"/>
              </a:ext>
            </a:extLst>
          </p:cNvPr>
          <p:cNvGrpSpPr/>
          <p:nvPr/>
        </p:nvGrpSpPr>
        <p:grpSpPr>
          <a:xfrm>
            <a:off x="5014762" y="2925209"/>
            <a:ext cx="1281896" cy="1613609"/>
            <a:chOff x="5014762" y="2466418"/>
            <a:chExt cx="1281896" cy="883986"/>
          </a:xfrm>
        </p:grpSpPr>
        <p:sp>
          <p:nvSpPr>
            <p:cNvPr id="103" name="Freeform 102">
              <a:extLst>
                <a:ext uri="{FF2B5EF4-FFF2-40B4-BE49-F238E27FC236}">
                  <a16:creationId xmlns:a16="http://schemas.microsoft.com/office/drawing/2014/main" id="{DEB51111-F033-BF15-D7DA-0D2F8261A0C0}"/>
                </a:ext>
              </a:extLst>
            </p:cNvPr>
            <p:cNvSpPr/>
            <p:nvPr/>
          </p:nvSpPr>
          <p:spPr bwMode="gray">
            <a:xfrm>
              <a:off x="5014762" y="2466418"/>
              <a:ext cx="1281896" cy="694081"/>
            </a:xfrm>
            <a:custGeom>
              <a:avLst/>
              <a:gdLst>
                <a:gd name="connsiteX0" fmla="*/ 1068404 w 1068404"/>
                <a:gd name="connsiteY0" fmla="*/ 697831 h 697831"/>
                <a:gd name="connsiteX1" fmla="*/ 630455 w 1068404"/>
                <a:gd name="connsiteY1" fmla="*/ 697831 h 697831"/>
                <a:gd name="connsiteX2" fmla="*/ 630455 w 1068404"/>
                <a:gd name="connsiteY2" fmla="*/ 611204 h 697831"/>
                <a:gd name="connsiteX3" fmla="*/ 630455 w 1068404"/>
                <a:gd name="connsiteY3" fmla="*/ 0 h 697831"/>
                <a:gd name="connsiteX4" fmla="*/ 0 w 1068404"/>
                <a:gd name="connsiteY4" fmla="*/ 0 h 697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04" h="697831">
                  <a:moveTo>
                    <a:pt x="1068404" y="697831"/>
                  </a:moveTo>
                  <a:lnTo>
                    <a:pt x="630455" y="697831"/>
                  </a:lnTo>
                  <a:lnTo>
                    <a:pt x="630455" y="611204"/>
                  </a:lnTo>
                  <a:lnTo>
                    <a:pt x="630455" y="0"/>
                  </a:lnTo>
                  <a:lnTo>
                    <a:pt x="0" y="0"/>
                  </a:lnTo>
                </a:path>
              </a:pathLst>
            </a:custGeom>
            <a:noFill/>
            <a:ln w="158750" cap="flat" cmpd="sng">
              <a:solidFill>
                <a:schemeClr val="accent3">
                  <a:lumMod val="20000"/>
                  <a:lumOff val="80000"/>
                </a:schemeClr>
              </a:solid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4" name="Freeform 103">
              <a:extLst>
                <a:ext uri="{FF2B5EF4-FFF2-40B4-BE49-F238E27FC236}">
                  <a16:creationId xmlns:a16="http://schemas.microsoft.com/office/drawing/2014/main" id="{AE3878F8-BC83-505D-4B48-478EAF3AF7BA}"/>
                </a:ext>
              </a:extLst>
            </p:cNvPr>
            <p:cNvSpPr/>
            <p:nvPr/>
          </p:nvSpPr>
          <p:spPr bwMode="gray">
            <a:xfrm>
              <a:off x="5014762" y="2626781"/>
              <a:ext cx="1164657" cy="723623"/>
            </a:xfrm>
            <a:custGeom>
              <a:avLst/>
              <a:gdLst>
                <a:gd name="connsiteX0" fmla="*/ 1068404 w 1068404"/>
                <a:gd name="connsiteY0" fmla="*/ 697831 h 697831"/>
                <a:gd name="connsiteX1" fmla="*/ 630455 w 1068404"/>
                <a:gd name="connsiteY1" fmla="*/ 697831 h 697831"/>
                <a:gd name="connsiteX2" fmla="*/ 630455 w 1068404"/>
                <a:gd name="connsiteY2" fmla="*/ 611204 h 697831"/>
                <a:gd name="connsiteX3" fmla="*/ 630455 w 1068404"/>
                <a:gd name="connsiteY3" fmla="*/ 0 h 697831"/>
                <a:gd name="connsiteX4" fmla="*/ 0 w 1068404"/>
                <a:gd name="connsiteY4" fmla="*/ 0 h 697831"/>
                <a:gd name="connsiteX0" fmla="*/ 1068404 w 1068404"/>
                <a:gd name="connsiteY0" fmla="*/ 697831 h 697831"/>
                <a:gd name="connsiteX1" fmla="*/ 630455 w 1068404"/>
                <a:gd name="connsiteY1" fmla="*/ 697831 h 697831"/>
                <a:gd name="connsiteX2" fmla="*/ 630455 w 1068404"/>
                <a:gd name="connsiteY2" fmla="*/ 0 h 697831"/>
                <a:gd name="connsiteX3" fmla="*/ 0 w 1068404"/>
                <a:gd name="connsiteY3" fmla="*/ 0 h 697831"/>
                <a:gd name="connsiteX0" fmla="*/ 1164657 w 1164657"/>
                <a:gd name="connsiteY0" fmla="*/ 697831 h 697831"/>
                <a:gd name="connsiteX1" fmla="*/ 630455 w 1164657"/>
                <a:gd name="connsiteY1" fmla="*/ 697831 h 697831"/>
                <a:gd name="connsiteX2" fmla="*/ 630455 w 1164657"/>
                <a:gd name="connsiteY2" fmla="*/ 0 h 697831"/>
                <a:gd name="connsiteX3" fmla="*/ 0 w 1164657"/>
                <a:gd name="connsiteY3" fmla="*/ 0 h 697831"/>
              </a:gdLst>
              <a:ahLst/>
              <a:cxnLst>
                <a:cxn ang="0">
                  <a:pos x="connsiteX0" y="connsiteY0"/>
                </a:cxn>
                <a:cxn ang="0">
                  <a:pos x="connsiteX1" y="connsiteY1"/>
                </a:cxn>
                <a:cxn ang="0">
                  <a:pos x="connsiteX2" y="connsiteY2"/>
                </a:cxn>
                <a:cxn ang="0">
                  <a:pos x="connsiteX3" y="connsiteY3"/>
                </a:cxn>
              </a:cxnLst>
              <a:rect l="l" t="t" r="r" b="b"/>
              <a:pathLst>
                <a:path w="1164657" h="697831">
                  <a:moveTo>
                    <a:pt x="1164657" y="697831"/>
                  </a:moveTo>
                  <a:lnTo>
                    <a:pt x="630455" y="697831"/>
                  </a:lnTo>
                  <a:lnTo>
                    <a:pt x="630455" y="0"/>
                  </a:lnTo>
                  <a:lnTo>
                    <a:pt x="0" y="0"/>
                  </a:lnTo>
                </a:path>
              </a:pathLst>
            </a:custGeom>
            <a:noFill/>
            <a:ln w="19050">
              <a:solidFill>
                <a:schemeClr val="tx1"/>
              </a:solidFill>
              <a:prstDash val="sysDash"/>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05" name="Rectangle 104">
            <a:extLst>
              <a:ext uri="{FF2B5EF4-FFF2-40B4-BE49-F238E27FC236}">
                <a16:creationId xmlns:a16="http://schemas.microsoft.com/office/drawing/2014/main" id="{CD754646-2024-F3AC-762E-E24386BA8D7D}"/>
              </a:ext>
            </a:extLst>
          </p:cNvPr>
          <p:cNvSpPr/>
          <p:nvPr/>
        </p:nvSpPr>
        <p:spPr bwMode="gray">
          <a:xfrm>
            <a:off x="2910694" y="2006159"/>
            <a:ext cx="2903092" cy="5119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HCX Service Mesh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(IPsec tunnels)</a:t>
            </a:r>
          </a:p>
        </p:txBody>
      </p:sp>
      <p:sp>
        <p:nvSpPr>
          <p:cNvPr id="106" name="Rectangle: Rounded Corners 2399">
            <a:extLst>
              <a:ext uri="{FF2B5EF4-FFF2-40B4-BE49-F238E27FC236}">
                <a16:creationId xmlns:a16="http://schemas.microsoft.com/office/drawing/2014/main" id="{076F9143-57AA-73C9-D680-16343AA1E401}"/>
              </a:ext>
            </a:extLst>
          </p:cNvPr>
          <p:cNvSpPr/>
          <p:nvPr/>
        </p:nvSpPr>
        <p:spPr>
          <a:xfrm>
            <a:off x="1052012" y="5674886"/>
            <a:ext cx="1562656" cy="19691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1" i="0" u="none" strike="noStrike" kern="0" cap="none" spc="0" normalizeH="0" baseline="0" noProof="0" dirty="0">
                <a:ln>
                  <a:noFill/>
                </a:ln>
                <a:solidFill>
                  <a:srgbClr val="005C8A"/>
                </a:solidFill>
                <a:effectLst/>
                <a:uLnTx/>
                <a:uFillTx/>
                <a:latin typeface="Arial" panose="020B0604020202020204"/>
                <a:ea typeface="+mn-ea"/>
                <a:cs typeface="Arial" panose="020B0604020202020204" pitchFamily="34" charset="0"/>
              </a:rPr>
              <a:t>VCF-Site B</a:t>
            </a:r>
          </a:p>
        </p:txBody>
      </p:sp>
      <p:grpSp>
        <p:nvGrpSpPr>
          <p:cNvPr id="107" name="Group 106">
            <a:extLst>
              <a:ext uri="{FF2B5EF4-FFF2-40B4-BE49-F238E27FC236}">
                <a16:creationId xmlns:a16="http://schemas.microsoft.com/office/drawing/2014/main" id="{5BBAA907-07C3-3B9D-E2E9-7C96924433EB}"/>
              </a:ext>
            </a:extLst>
          </p:cNvPr>
          <p:cNvGrpSpPr/>
          <p:nvPr/>
        </p:nvGrpSpPr>
        <p:grpSpPr>
          <a:xfrm>
            <a:off x="779792" y="3135469"/>
            <a:ext cx="2030928" cy="1973275"/>
            <a:chOff x="579809" y="1937123"/>
            <a:chExt cx="2840179" cy="2759552"/>
          </a:xfrm>
        </p:grpSpPr>
        <p:sp>
          <p:nvSpPr>
            <p:cNvPr id="108" name="Google Shape;2848;p22">
              <a:extLst>
                <a:ext uri="{FF2B5EF4-FFF2-40B4-BE49-F238E27FC236}">
                  <a16:creationId xmlns:a16="http://schemas.microsoft.com/office/drawing/2014/main" id="{4695AECB-5B1D-EB17-60B3-5D8CA1B33B94}"/>
                </a:ext>
              </a:extLst>
            </p:cNvPr>
            <p:cNvSpPr/>
            <p:nvPr/>
          </p:nvSpPr>
          <p:spPr>
            <a:xfrm>
              <a:off x="579809" y="2378763"/>
              <a:ext cx="2840179" cy="2317912"/>
            </a:xfrm>
            <a:prstGeom prst="roundRect">
              <a:avLst>
                <a:gd name="adj" fmla="val 1496"/>
              </a:avLst>
            </a:prstGeom>
            <a:solidFill>
              <a:schemeClr val="bg1"/>
            </a:solidFill>
            <a:ln w="1270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a:ea typeface="Arial"/>
                <a:cs typeface="Arial" panose="020B0604020202020204" pitchFamily="34" charset="0"/>
                <a:sym typeface="Arial"/>
              </a:endParaRPr>
            </a:p>
          </p:txBody>
        </p:sp>
        <p:grpSp>
          <p:nvGrpSpPr>
            <p:cNvPr id="109" name="Group 108">
              <a:extLst>
                <a:ext uri="{FF2B5EF4-FFF2-40B4-BE49-F238E27FC236}">
                  <a16:creationId xmlns:a16="http://schemas.microsoft.com/office/drawing/2014/main" id="{02F029AC-160A-9376-DA03-A97B10037DAD}"/>
                </a:ext>
              </a:extLst>
            </p:cNvPr>
            <p:cNvGrpSpPr/>
            <p:nvPr/>
          </p:nvGrpSpPr>
          <p:grpSpPr>
            <a:xfrm>
              <a:off x="686064" y="1937123"/>
              <a:ext cx="2630190" cy="1551245"/>
              <a:chOff x="686064" y="1937123"/>
              <a:chExt cx="2630190" cy="1551245"/>
            </a:xfrm>
          </p:grpSpPr>
          <p:sp>
            <p:nvSpPr>
              <p:cNvPr id="111" name="Rectangle 110">
                <a:extLst>
                  <a:ext uri="{FF2B5EF4-FFF2-40B4-BE49-F238E27FC236}">
                    <a16:creationId xmlns:a16="http://schemas.microsoft.com/office/drawing/2014/main" id="{C8A11AFA-1954-E8A9-A1E1-04CC70D64931}"/>
                  </a:ext>
                </a:extLst>
              </p:cNvPr>
              <p:cNvSpPr/>
              <p:nvPr/>
            </p:nvSpPr>
            <p:spPr>
              <a:xfrm rot="10800000" flipV="1">
                <a:off x="686064" y="2137245"/>
                <a:ext cx="1262109" cy="1351123"/>
              </a:xfrm>
              <a:prstGeom prst="rect">
                <a:avLst/>
              </a:prstGeom>
              <a:solidFill>
                <a:schemeClr val="bg1"/>
              </a:solidFill>
              <a:ln w="19050" cap="flat" cmpd="sng" algn="ctr">
                <a:solidFill>
                  <a:schemeClr val="accent3"/>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VPC 1</a:t>
                </a:r>
              </a:p>
            </p:txBody>
          </p:sp>
          <p:sp>
            <p:nvSpPr>
              <p:cNvPr id="112" name="Rectangle: Rounded Corners 2399">
                <a:extLst>
                  <a:ext uri="{FF2B5EF4-FFF2-40B4-BE49-F238E27FC236}">
                    <a16:creationId xmlns:a16="http://schemas.microsoft.com/office/drawing/2014/main" id="{A5000972-46F0-4F2C-5C72-F28968153DB6}"/>
                  </a:ext>
                </a:extLst>
              </p:cNvPr>
              <p:cNvSpPr/>
              <p:nvPr/>
            </p:nvSpPr>
            <p:spPr>
              <a:xfrm>
                <a:off x="811426" y="1937123"/>
                <a:ext cx="1011387" cy="399990"/>
              </a:xfrm>
              <a:prstGeom prst="roundRect">
                <a:avLst>
                  <a:gd name="adj" fmla="val 50000"/>
                </a:avLst>
              </a:prstGeom>
              <a:gradFill flip="none" rotWithShape="1">
                <a:gsLst>
                  <a:gs pos="8000">
                    <a:schemeClr val="accent2"/>
                  </a:gs>
                  <a:gs pos="90000">
                    <a:schemeClr val="accent3"/>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Subnet A</a:t>
                </a:r>
              </a:p>
            </p:txBody>
          </p:sp>
          <p:sp>
            <p:nvSpPr>
              <p:cNvPr id="113" name="Rectangle 112">
                <a:extLst>
                  <a:ext uri="{FF2B5EF4-FFF2-40B4-BE49-F238E27FC236}">
                    <a16:creationId xmlns:a16="http://schemas.microsoft.com/office/drawing/2014/main" id="{B6B3C4C7-043D-1D2D-7409-4479F8B3DA07}"/>
                  </a:ext>
                </a:extLst>
              </p:cNvPr>
              <p:cNvSpPr/>
              <p:nvPr/>
            </p:nvSpPr>
            <p:spPr>
              <a:xfrm rot="10800000" flipV="1">
                <a:off x="2054145" y="2137245"/>
                <a:ext cx="1262109" cy="1351123"/>
              </a:xfrm>
              <a:prstGeom prst="rect">
                <a:avLst/>
              </a:prstGeom>
              <a:solidFill>
                <a:schemeClr val="bg1"/>
              </a:solidFill>
              <a:ln w="19050" cap="flat" cmpd="sng" algn="ctr">
                <a:solidFill>
                  <a:schemeClr val="accent3"/>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VPC 2</a:t>
                </a:r>
              </a:p>
            </p:txBody>
          </p:sp>
          <p:sp>
            <p:nvSpPr>
              <p:cNvPr id="114" name="Rectangle: Rounded Corners 2399">
                <a:extLst>
                  <a:ext uri="{FF2B5EF4-FFF2-40B4-BE49-F238E27FC236}">
                    <a16:creationId xmlns:a16="http://schemas.microsoft.com/office/drawing/2014/main" id="{892ECAEC-09B0-153F-3EB8-C21B3FE29099}"/>
                  </a:ext>
                </a:extLst>
              </p:cNvPr>
              <p:cNvSpPr/>
              <p:nvPr/>
            </p:nvSpPr>
            <p:spPr>
              <a:xfrm>
                <a:off x="2179507" y="1937123"/>
                <a:ext cx="1011387" cy="399990"/>
              </a:xfrm>
              <a:prstGeom prst="roundRect">
                <a:avLst>
                  <a:gd name="adj" fmla="val 50000"/>
                </a:avLst>
              </a:prstGeom>
              <a:gradFill flip="none" rotWithShape="1">
                <a:gsLst>
                  <a:gs pos="8000">
                    <a:schemeClr val="accent2"/>
                  </a:gs>
                  <a:gs pos="90000">
                    <a:schemeClr val="accent3"/>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Subnet B</a:t>
                </a:r>
                <a:endParaRPr kumimoji="0" lang="en-US" sz="1200" b="1" i="0" u="none" strike="noStrike" kern="0" cap="all"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grpSp>
        <p:sp>
          <p:nvSpPr>
            <p:cNvPr id="110" name="Rectangle: Rounded Corners 2399">
              <a:extLst>
                <a:ext uri="{FF2B5EF4-FFF2-40B4-BE49-F238E27FC236}">
                  <a16:creationId xmlns:a16="http://schemas.microsoft.com/office/drawing/2014/main" id="{019BA3F3-81CD-C3B3-7B75-4AA55B3BE06F}"/>
                </a:ext>
              </a:extLst>
            </p:cNvPr>
            <p:cNvSpPr/>
            <p:nvPr/>
          </p:nvSpPr>
          <p:spPr>
            <a:xfrm>
              <a:off x="1046229" y="4175330"/>
              <a:ext cx="1970907" cy="248361"/>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all" spc="0" normalizeH="0" baseline="0" noProof="0" dirty="0">
                  <a:ln>
                    <a:noFill/>
                  </a:ln>
                  <a:solidFill>
                    <a:srgbClr val="000000"/>
                  </a:solidFill>
                  <a:effectLst/>
                  <a:uLnTx/>
                  <a:uFillTx/>
                  <a:latin typeface="Arial" panose="020B0604020202020204"/>
                  <a:ea typeface="+mn-ea"/>
                  <a:cs typeface="Arial" panose="020B0604020202020204" pitchFamily="34" charset="0"/>
                </a:rPr>
                <a:t>VCF Cluster 1</a:t>
              </a:r>
            </a:p>
          </p:txBody>
        </p:sp>
      </p:grpSp>
      <p:grpSp>
        <p:nvGrpSpPr>
          <p:cNvPr id="115" name="Group 114">
            <a:extLst>
              <a:ext uri="{FF2B5EF4-FFF2-40B4-BE49-F238E27FC236}">
                <a16:creationId xmlns:a16="http://schemas.microsoft.com/office/drawing/2014/main" id="{F8CEA2FB-2BB7-E148-71A4-3AA9218D303A}"/>
              </a:ext>
            </a:extLst>
          </p:cNvPr>
          <p:cNvGrpSpPr/>
          <p:nvPr/>
        </p:nvGrpSpPr>
        <p:grpSpPr>
          <a:xfrm>
            <a:off x="3350824" y="3135468"/>
            <a:ext cx="2030928" cy="2321056"/>
            <a:chOff x="579809" y="1937123"/>
            <a:chExt cx="2840179" cy="3245910"/>
          </a:xfrm>
        </p:grpSpPr>
        <p:sp>
          <p:nvSpPr>
            <p:cNvPr id="116" name="Google Shape;2848;p22">
              <a:extLst>
                <a:ext uri="{FF2B5EF4-FFF2-40B4-BE49-F238E27FC236}">
                  <a16:creationId xmlns:a16="http://schemas.microsoft.com/office/drawing/2014/main" id="{49C8CE6C-312E-31A4-7171-0665BE1D7DA4}"/>
                </a:ext>
              </a:extLst>
            </p:cNvPr>
            <p:cNvSpPr/>
            <p:nvPr/>
          </p:nvSpPr>
          <p:spPr>
            <a:xfrm>
              <a:off x="579809" y="2378763"/>
              <a:ext cx="2840179" cy="2317912"/>
            </a:xfrm>
            <a:prstGeom prst="roundRect">
              <a:avLst>
                <a:gd name="adj" fmla="val 1496"/>
              </a:avLst>
            </a:prstGeom>
            <a:solidFill>
              <a:schemeClr val="bg1"/>
            </a:solidFill>
            <a:ln w="1270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a:ea typeface="Arial"/>
                <a:cs typeface="Arial" panose="020B0604020202020204" pitchFamily="34" charset="0"/>
                <a:sym typeface="Arial"/>
              </a:endParaRPr>
            </a:p>
          </p:txBody>
        </p:sp>
        <p:pic>
          <p:nvPicPr>
            <p:cNvPr id="117" name="Graphic 116">
              <a:extLst>
                <a:ext uri="{FF2B5EF4-FFF2-40B4-BE49-F238E27FC236}">
                  <a16:creationId xmlns:a16="http://schemas.microsoft.com/office/drawing/2014/main" id="{12F05B3A-78AF-EC1E-0F07-94D9189BC7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7904" y="4516232"/>
              <a:ext cx="666799" cy="666801"/>
            </a:xfrm>
            <a:prstGeom prst="rect">
              <a:avLst/>
            </a:prstGeom>
          </p:spPr>
        </p:pic>
        <p:grpSp>
          <p:nvGrpSpPr>
            <p:cNvPr id="118" name="Group 117">
              <a:extLst>
                <a:ext uri="{FF2B5EF4-FFF2-40B4-BE49-F238E27FC236}">
                  <a16:creationId xmlns:a16="http://schemas.microsoft.com/office/drawing/2014/main" id="{E203970C-18DC-2A47-196C-393D5FA38F96}"/>
                </a:ext>
              </a:extLst>
            </p:cNvPr>
            <p:cNvGrpSpPr/>
            <p:nvPr/>
          </p:nvGrpSpPr>
          <p:grpSpPr>
            <a:xfrm>
              <a:off x="686064" y="1937123"/>
              <a:ext cx="2630188" cy="1551244"/>
              <a:chOff x="686064" y="1937123"/>
              <a:chExt cx="2630188" cy="1551244"/>
            </a:xfrm>
          </p:grpSpPr>
          <p:sp>
            <p:nvSpPr>
              <p:cNvPr id="120" name="Rectangle 119">
                <a:extLst>
                  <a:ext uri="{FF2B5EF4-FFF2-40B4-BE49-F238E27FC236}">
                    <a16:creationId xmlns:a16="http://schemas.microsoft.com/office/drawing/2014/main" id="{DCEF6992-23D1-B1C6-D8F8-86FAEFC1E9A5}"/>
                  </a:ext>
                </a:extLst>
              </p:cNvPr>
              <p:cNvSpPr/>
              <p:nvPr/>
            </p:nvSpPr>
            <p:spPr>
              <a:xfrm rot="10800000" flipV="1">
                <a:off x="686064" y="2137244"/>
                <a:ext cx="1262109" cy="1351123"/>
              </a:xfrm>
              <a:prstGeom prst="rect">
                <a:avLst/>
              </a:prstGeom>
              <a:solidFill>
                <a:schemeClr val="bg1"/>
              </a:solidFill>
              <a:ln w="19050" cap="flat" cmpd="sng" algn="ctr">
                <a:solidFill>
                  <a:schemeClr val="accent1"/>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5C8A"/>
                    </a:solidFill>
                    <a:effectLst/>
                    <a:uLnTx/>
                    <a:uFillTx/>
                    <a:latin typeface="Arial" panose="020B0604020202020204"/>
                    <a:ea typeface="+mn-ea"/>
                    <a:cs typeface="Arial" panose="020B0604020202020204" pitchFamily="34" charset="0"/>
                  </a:rPr>
                  <a:t>VPC 3</a:t>
                </a:r>
              </a:p>
            </p:txBody>
          </p:sp>
          <p:sp>
            <p:nvSpPr>
              <p:cNvPr id="121" name="Rectangle: Rounded Corners 2399">
                <a:extLst>
                  <a:ext uri="{FF2B5EF4-FFF2-40B4-BE49-F238E27FC236}">
                    <a16:creationId xmlns:a16="http://schemas.microsoft.com/office/drawing/2014/main" id="{809EE48F-9BD9-0D88-7673-7B2970B4D90D}"/>
                  </a:ext>
                </a:extLst>
              </p:cNvPr>
              <p:cNvSpPr/>
              <p:nvPr/>
            </p:nvSpPr>
            <p:spPr>
              <a:xfrm>
                <a:off x="811426" y="1937123"/>
                <a:ext cx="1011387" cy="399990"/>
              </a:xfrm>
              <a:prstGeom prst="roundRect">
                <a:avLst>
                  <a:gd name="adj" fmla="val 50000"/>
                </a:avLst>
              </a:prstGeom>
              <a:gradFill flip="none" rotWithShape="1">
                <a:gsLst>
                  <a:gs pos="0">
                    <a:schemeClr val="accent1">
                      <a:lumMod val="50000"/>
                    </a:schemeClr>
                  </a:gs>
                  <a:gs pos="70000">
                    <a:schemeClr val="accent1"/>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Subnet C</a:t>
                </a:r>
                <a:endParaRPr kumimoji="0" lang="en-US" sz="1200" b="1" i="0" u="none" strike="noStrike" kern="0" cap="all"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sp>
            <p:nvSpPr>
              <p:cNvPr id="122" name="Rectangle 121">
                <a:extLst>
                  <a:ext uri="{FF2B5EF4-FFF2-40B4-BE49-F238E27FC236}">
                    <a16:creationId xmlns:a16="http://schemas.microsoft.com/office/drawing/2014/main" id="{5205C858-FC50-EB15-0DD4-7F630C5334E9}"/>
                  </a:ext>
                </a:extLst>
              </p:cNvPr>
              <p:cNvSpPr/>
              <p:nvPr/>
            </p:nvSpPr>
            <p:spPr>
              <a:xfrm rot="10800000" flipV="1">
                <a:off x="2054143" y="2137244"/>
                <a:ext cx="1262109" cy="1351123"/>
              </a:xfrm>
              <a:prstGeom prst="rect">
                <a:avLst/>
              </a:prstGeom>
              <a:solidFill>
                <a:schemeClr val="bg1"/>
              </a:solidFill>
              <a:ln w="19050" cap="flat" cmpd="sng" algn="ctr">
                <a:solidFill>
                  <a:schemeClr val="accent1"/>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5C8A"/>
                    </a:solidFill>
                    <a:effectLst/>
                    <a:uLnTx/>
                    <a:uFillTx/>
                    <a:latin typeface="Arial" panose="020B0604020202020204"/>
                    <a:ea typeface="+mn-ea"/>
                    <a:cs typeface="Arial" panose="020B0604020202020204" pitchFamily="34" charset="0"/>
                  </a:rPr>
                  <a:t>VPC 4</a:t>
                </a:r>
              </a:p>
            </p:txBody>
          </p:sp>
          <p:sp>
            <p:nvSpPr>
              <p:cNvPr id="123" name="Rectangle: Rounded Corners 2399">
                <a:extLst>
                  <a:ext uri="{FF2B5EF4-FFF2-40B4-BE49-F238E27FC236}">
                    <a16:creationId xmlns:a16="http://schemas.microsoft.com/office/drawing/2014/main" id="{F0D34034-F180-27C6-F531-6A83D4C34FB5}"/>
                  </a:ext>
                </a:extLst>
              </p:cNvPr>
              <p:cNvSpPr/>
              <p:nvPr/>
            </p:nvSpPr>
            <p:spPr>
              <a:xfrm>
                <a:off x="2179507" y="1937123"/>
                <a:ext cx="1011387" cy="399990"/>
              </a:xfrm>
              <a:prstGeom prst="roundRect">
                <a:avLst>
                  <a:gd name="adj" fmla="val 50000"/>
                </a:avLst>
              </a:prstGeom>
              <a:gradFill flip="none" rotWithShape="1">
                <a:gsLst>
                  <a:gs pos="0">
                    <a:schemeClr val="accent1">
                      <a:lumMod val="50000"/>
                    </a:schemeClr>
                  </a:gs>
                  <a:gs pos="70000">
                    <a:schemeClr val="accent1"/>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Subnet D</a:t>
                </a:r>
                <a:endParaRPr kumimoji="0" lang="en-US" sz="1200" b="1" i="0" u="none" strike="noStrike" kern="0" cap="all"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grpSp>
        <p:sp>
          <p:nvSpPr>
            <p:cNvPr id="119" name="Rectangle: Rounded Corners 2399">
              <a:extLst>
                <a:ext uri="{FF2B5EF4-FFF2-40B4-BE49-F238E27FC236}">
                  <a16:creationId xmlns:a16="http://schemas.microsoft.com/office/drawing/2014/main" id="{6BCB8EE1-5843-9755-CC52-020A52A815BF}"/>
                </a:ext>
              </a:extLst>
            </p:cNvPr>
            <p:cNvSpPr/>
            <p:nvPr/>
          </p:nvSpPr>
          <p:spPr>
            <a:xfrm>
              <a:off x="1046229" y="4175330"/>
              <a:ext cx="1970907" cy="248361"/>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all" spc="0" normalizeH="0" baseline="0" noProof="0" dirty="0">
                  <a:ln>
                    <a:noFill/>
                  </a:ln>
                  <a:solidFill>
                    <a:srgbClr val="000000"/>
                  </a:solidFill>
                  <a:effectLst/>
                  <a:uLnTx/>
                  <a:uFillTx/>
                  <a:latin typeface="Arial" panose="020B0604020202020204"/>
                  <a:ea typeface="+mn-ea"/>
                  <a:cs typeface="Arial" panose="020B0604020202020204" pitchFamily="34" charset="0"/>
                </a:rPr>
                <a:t>VCF Cluster 2</a:t>
              </a:r>
            </a:p>
          </p:txBody>
        </p:sp>
      </p:grpSp>
      <p:sp>
        <p:nvSpPr>
          <p:cNvPr id="124" name="Rectangle: Rounded Corners 2399">
            <a:extLst>
              <a:ext uri="{FF2B5EF4-FFF2-40B4-BE49-F238E27FC236}">
                <a16:creationId xmlns:a16="http://schemas.microsoft.com/office/drawing/2014/main" id="{CE64CF93-BE6B-B498-2861-4773F5C919B0}"/>
              </a:ext>
            </a:extLst>
          </p:cNvPr>
          <p:cNvSpPr/>
          <p:nvPr/>
        </p:nvSpPr>
        <p:spPr>
          <a:xfrm>
            <a:off x="3590853" y="5676447"/>
            <a:ext cx="1550271" cy="195355"/>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1" i="0" u="none" strike="noStrike" kern="0" cap="none" spc="0" normalizeH="0" baseline="0" noProof="0" dirty="0">
                <a:ln>
                  <a:noFill/>
                </a:ln>
                <a:solidFill>
                  <a:srgbClr val="007B8C"/>
                </a:solidFill>
                <a:effectLst/>
                <a:uLnTx/>
                <a:uFillTx/>
                <a:latin typeface="Arial" panose="020B0604020202020204"/>
                <a:ea typeface="+mn-ea"/>
                <a:cs typeface="Arial" panose="020B0604020202020204" pitchFamily="34" charset="0"/>
              </a:rPr>
              <a:t>VCF-Site C</a:t>
            </a:r>
          </a:p>
        </p:txBody>
      </p:sp>
      <p:grpSp>
        <p:nvGrpSpPr>
          <p:cNvPr id="125" name="Group 124">
            <a:extLst>
              <a:ext uri="{FF2B5EF4-FFF2-40B4-BE49-F238E27FC236}">
                <a16:creationId xmlns:a16="http://schemas.microsoft.com/office/drawing/2014/main" id="{133BCEAE-B9F1-573D-C855-23DE81A7B7ED}"/>
              </a:ext>
            </a:extLst>
          </p:cNvPr>
          <p:cNvGrpSpPr/>
          <p:nvPr/>
        </p:nvGrpSpPr>
        <p:grpSpPr>
          <a:xfrm>
            <a:off x="5445546" y="4527259"/>
            <a:ext cx="1525624" cy="546615"/>
            <a:chOff x="2941177" y="2364232"/>
            <a:chExt cx="1588289" cy="512037"/>
          </a:xfrm>
        </p:grpSpPr>
        <p:sp>
          <p:nvSpPr>
            <p:cNvPr id="126" name="Rectangle 125">
              <a:extLst>
                <a:ext uri="{FF2B5EF4-FFF2-40B4-BE49-F238E27FC236}">
                  <a16:creationId xmlns:a16="http://schemas.microsoft.com/office/drawing/2014/main" id="{4CDB8E92-5CC9-BE31-FA2E-8CBAC982B034}"/>
                </a:ext>
              </a:extLst>
            </p:cNvPr>
            <p:cNvSpPr/>
            <p:nvPr/>
          </p:nvSpPr>
          <p:spPr>
            <a:xfrm rot="10800000" flipV="1">
              <a:off x="3018446" y="2364232"/>
              <a:ext cx="1463251" cy="399478"/>
            </a:xfrm>
            <a:prstGeom prst="rect">
              <a:avLst/>
            </a:prstGeom>
            <a:solidFill>
              <a:schemeClr val="bg1"/>
            </a:solidFill>
            <a:ln w="19050" cap="flat" cmpd="sng" algn="ctr">
              <a:solidFill>
                <a:schemeClr val="accent5"/>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27" name="Rectangle 126">
              <a:extLst>
                <a:ext uri="{FF2B5EF4-FFF2-40B4-BE49-F238E27FC236}">
                  <a16:creationId xmlns:a16="http://schemas.microsoft.com/office/drawing/2014/main" id="{B9FA8D5D-0420-30D0-525E-BB30578641DA}"/>
                </a:ext>
              </a:extLst>
            </p:cNvPr>
            <p:cNvSpPr/>
            <p:nvPr/>
          </p:nvSpPr>
          <p:spPr>
            <a:xfrm rot="16200000" flipV="1">
              <a:off x="3389457" y="1922168"/>
              <a:ext cx="505821" cy="1402382"/>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28" name="Rectangle 127">
              <a:extLst>
                <a:ext uri="{FF2B5EF4-FFF2-40B4-BE49-F238E27FC236}">
                  <a16:creationId xmlns:a16="http://schemas.microsoft.com/office/drawing/2014/main" id="{7E288443-73D6-2B5B-E75B-9E636EA0F8A3}"/>
                </a:ext>
              </a:extLst>
            </p:cNvPr>
            <p:cNvSpPr/>
            <p:nvPr/>
          </p:nvSpPr>
          <p:spPr>
            <a:xfrm rot="10800000" flipV="1">
              <a:off x="3133659" y="2405473"/>
              <a:ext cx="1395807" cy="399477"/>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sp>
        <p:nvSpPr>
          <p:cNvPr id="129" name="Rectangle: Rounded Corners 2399">
            <a:extLst>
              <a:ext uri="{FF2B5EF4-FFF2-40B4-BE49-F238E27FC236}">
                <a16:creationId xmlns:a16="http://schemas.microsoft.com/office/drawing/2014/main" id="{0048DD62-4C79-AD28-869C-30E0C40784BB}"/>
              </a:ext>
            </a:extLst>
          </p:cNvPr>
          <p:cNvSpPr/>
          <p:nvPr/>
        </p:nvSpPr>
        <p:spPr>
          <a:xfrm>
            <a:off x="6341975" y="5676447"/>
            <a:ext cx="1550271" cy="195355"/>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1" i="0" u="none" strike="noStrike" kern="0" cap="none" spc="0" normalizeH="0" baseline="0" noProof="0" dirty="0">
                <a:ln>
                  <a:noFill/>
                </a:ln>
                <a:solidFill>
                  <a:srgbClr val="6C4B94"/>
                </a:solidFill>
                <a:effectLst/>
                <a:uLnTx/>
                <a:uFillTx/>
                <a:latin typeface="Arial" panose="020B0604020202020204"/>
                <a:ea typeface="+mn-ea"/>
                <a:cs typeface="Arial" panose="020B0604020202020204" pitchFamily="34" charset="0"/>
              </a:rPr>
              <a:t>vCenter Site A</a:t>
            </a:r>
          </a:p>
        </p:txBody>
      </p:sp>
      <p:grpSp>
        <p:nvGrpSpPr>
          <p:cNvPr id="130" name="Group 129">
            <a:extLst>
              <a:ext uri="{FF2B5EF4-FFF2-40B4-BE49-F238E27FC236}">
                <a16:creationId xmlns:a16="http://schemas.microsoft.com/office/drawing/2014/main" id="{731FC81E-57C8-63FE-A8B9-07C4A4973610}"/>
              </a:ext>
            </a:extLst>
          </p:cNvPr>
          <p:cNvGrpSpPr/>
          <p:nvPr/>
        </p:nvGrpSpPr>
        <p:grpSpPr>
          <a:xfrm flipH="1">
            <a:off x="7255604" y="4516481"/>
            <a:ext cx="657466" cy="539981"/>
            <a:chOff x="3511165" y="2354134"/>
            <a:chExt cx="1018301" cy="505822"/>
          </a:xfrm>
        </p:grpSpPr>
        <p:sp>
          <p:nvSpPr>
            <p:cNvPr id="131" name="Rectangle 130">
              <a:extLst>
                <a:ext uri="{FF2B5EF4-FFF2-40B4-BE49-F238E27FC236}">
                  <a16:creationId xmlns:a16="http://schemas.microsoft.com/office/drawing/2014/main" id="{6DE0654F-4D32-943C-E2F3-0E6415D96067}"/>
                </a:ext>
              </a:extLst>
            </p:cNvPr>
            <p:cNvSpPr/>
            <p:nvPr/>
          </p:nvSpPr>
          <p:spPr>
            <a:xfrm rot="10800000" flipV="1">
              <a:off x="3579200" y="2364232"/>
              <a:ext cx="902497" cy="399478"/>
            </a:xfrm>
            <a:prstGeom prst="rect">
              <a:avLst/>
            </a:prstGeom>
            <a:solidFill>
              <a:schemeClr val="bg1"/>
            </a:solidFill>
            <a:ln w="19050" cap="flat" cmpd="sng" algn="ctr">
              <a:solidFill>
                <a:schemeClr val="accent5"/>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32" name="Rectangle 131">
              <a:extLst>
                <a:ext uri="{FF2B5EF4-FFF2-40B4-BE49-F238E27FC236}">
                  <a16:creationId xmlns:a16="http://schemas.microsoft.com/office/drawing/2014/main" id="{302FE1CF-EDBD-0485-CE83-4B79F709A23A}"/>
                </a:ext>
              </a:extLst>
            </p:cNvPr>
            <p:cNvSpPr/>
            <p:nvPr/>
          </p:nvSpPr>
          <p:spPr>
            <a:xfrm rot="16200000" flipV="1">
              <a:off x="3697857" y="2214253"/>
              <a:ext cx="505822" cy="785584"/>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33" name="Rectangle 132">
              <a:extLst>
                <a:ext uri="{FF2B5EF4-FFF2-40B4-BE49-F238E27FC236}">
                  <a16:creationId xmlns:a16="http://schemas.microsoft.com/office/drawing/2014/main" id="{09596F3E-8907-EBE5-5094-BDD2A75DF482}"/>
                </a:ext>
              </a:extLst>
            </p:cNvPr>
            <p:cNvSpPr/>
            <p:nvPr/>
          </p:nvSpPr>
          <p:spPr>
            <a:xfrm rot="10800000" flipV="1">
              <a:off x="3511165" y="2405473"/>
              <a:ext cx="1018301" cy="399477"/>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pic>
        <p:nvPicPr>
          <p:cNvPr id="134" name="Graphic 133">
            <a:extLst>
              <a:ext uri="{FF2B5EF4-FFF2-40B4-BE49-F238E27FC236}">
                <a16:creationId xmlns:a16="http://schemas.microsoft.com/office/drawing/2014/main" id="{5EEEF81B-06B8-D53D-FA84-BEBDFC5BC6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83072" y="4967123"/>
            <a:ext cx="476808" cy="476810"/>
          </a:xfrm>
          <a:prstGeom prst="rect">
            <a:avLst/>
          </a:prstGeom>
        </p:spPr>
      </p:pic>
      <p:pic>
        <p:nvPicPr>
          <p:cNvPr id="135" name="Graphic 134">
            <a:extLst>
              <a:ext uri="{FF2B5EF4-FFF2-40B4-BE49-F238E27FC236}">
                <a16:creationId xmlns:a16="http://schemas.microsoft.com/office/drawing/2014/main" id="{596B2EA3-432E-6EE0-7023-9D3A199DBCD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61955" y="4967123"/>
            <a:ext cx="476808" cy="476810"/>
          </a:xfrm>
          <a:prstGeom prst="rect">
            <a:avLst/>
          </a:prstGeom>
        </p:spPr>
      </p:pic>
      <p:sp>
        <p:nvSpPr>
          <p:cNvPr id="136" name="Rectangle 135">
            <a:extLst>
              <a:ext uri="{FF2B5EF4-FFF2-40B4-BE49-F238E27FC236}">
                <a16:creationId xmlns:a16="http://schemas.microsoft.com/office/drawing/2014/main" id="{B1032EC6-7D89-6B7B-4B78-191D8BB0A1F9}"/>
              </a:ext>
            </a:extLst>
          </p:cNvPr>
          <p:cNvSpPr/>
          <p:nvPr/>
        </p:nvSpPr>
        <p:spPr bwMode="gray">
          <a:xfrm>
            <a:off x="6564250" y="5240529"/>
            <a:ext cx="1095999" cy="161452"/>
          </a:xfrm>
          <a:prstGeom prst="rect">
            <a:avLst/>
          </a:prstGeom>
          <a:solidFill>
            <a:schemeClr val="bg1">
              <a:alpha val="92363"/>
            </a:schemeClr>
          </a:solidFill>
          <a:ln w="1587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vCenter</a:t>
            </a:r>
          </a:p>
        </p:txBody>
      </p:sp>
      <p:sp>
        <p:nvSpPr>
          <p:cNvPr id="137" name="Rectangle: Rounded Corners 2399">
            <a:extLst>
              <a:ext uri="{FF2B5EF4-FFF2-40B4-BE49-F238E27FC236}">
                <a16:creationId xmlns:a16="http://schemas.microsoft.com/office/drawing/2014/main" id="{98690DB3-5948-BDA7-5923-61DA1224A8FE}"/>
              </a:ext>
            </a:extLst>
          </p:cNvPr>
          <p:cNvSpPr/>
          <p:nvPr/>
        </p:nvSpPr>
        <p:spPr>
          <a:xfrm>
            <a:off x="6226903" y="4597913"/>
            <a:ext cx="657466"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VLAN 1</a:t>
            </a:r>
          </a:p>
        </p:txBody>
      </p:sp>
      <p:sp>
        <p:nvSpPr>
          <p:cNvPr id="138" name="Rectangle: Rounded Corners 2399">
            <a:extLst>
              <a:ext uri="{FF2B5EF4-FFF2-40B4-BE49-F238E27FC236}">
                <a16:creationId xmlns:a16="http://schemas.microsoft.com/office/drawing/2014/main" id="{4FC30602-6EAF-72B9-B2B6-DACF8903AABA}"/>
              </a:ext>
            </a:extLst>
          </p:cNvPr>
          <p:cNvSpPr/>
          <p:nvPr/>
        </p:nvSpPr>
        <p:spPr>
          <a:xfrm>
            <a:off x="7350280" y="4597913"/>
            <a:ext cx="657466"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VLAN 2</a:t>
            </a:r>
          </a:p>
        </p:txBody>
      </p:sp>
      <p:sp>
        <p:nvSpPr>
          <p:cNvPr id="139" name="Rectangle 138">
            <a:extLst>
              <a:ext uri="{FF2B5EF4-FFF2-40B4-BE49-F238E27FC236}">
                <a16:creationId xmlns:a16="http://schemas.microsoft.com/office/drawing/2014/main" id="{17CA70BF-EDC1-4C0B-A52E-A8B47BE9837A}"/>
              </a:ext>
            </a:extLst>
          </p:cNvPr>
          <p:cNvSpPr/>
          <p:nvPr/>
        </p:nvSpPr>
        <p:spPr bwMode="gray">
          <a:xfrm>
            <a:off x="6564251" y="5009521"/>
            <a:ext cx="1074512" cy="161452"/>
          </a:xfrm>
          <a:prstGeom prst="rect">
            <a:avLst/>
          </a:prstGeom>
          <a:solidFill>
            <a:schemeClr val="bg1">
              <a:alpha val="92363"/>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HCX Manager</a:t>
            </a:r>
          </a:p>
        </p:txBody>
      </p:sp>
      <p:cxnSp>
        <p:nvCxnSpPr>
          <p:cNvPr id="140" name="Straight Connector 139">
            <a:extLst>
              <a:ext uri="{FF2B5EF4-FFF2-40B4-BE49-F238E27FC236}">
                <a16:creationId xmlns:a16="http://schemas.microsoft.com/office/drawing/2014/main" id="{708EC65F-A79B-51E0-56E9-AD78789C666F}"/>
              </a:ext>
            </a:extLst>
          </p:cNvPr>
          <p:cNvCxnSpPr/>
          <p:nvPr/>
        </p:nvCxnSpPr>
        <p:spPr bwMode="gray">
          <a:xfrm>
            <a:off x="7545648" y="4423983"/>
            <a:ext cx="0" cy="97309"/>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E0C45545-D766-FFBE-4769-5747AA58C41B}"/>
              </a:ext>
            </a:extLst>
          </p:cNvPr>
          <p:cNvSpPr/>
          <p:nvPr/>
        </p:nvSpPr>
        <p:spPr>
          <a:xfrm>
            <a:off x="880533" y="5905544"/>
            <a:ext cx="1905614" cy="14567"/>
          </a:xfrm>
          <a:prstGeom prst="rect">
            <a:avLst/>
          </a:prstGeom>
          <a:gradFill>
            <a:gsLst>
              <a:gs pos="0">
                <a:schemeClr val="accent3">
                  <a:alpha val="0"/>
                </a:schemeClr>
              </a:gs>
              <a:gs pos="39000">
                <a:schemeClr val="accent3"/>
              </a:gs>
              <a:gs pos="60000">
                <a:schemeClr val="accent3"/>
              </a:gs>
              <a:gs pos="100000">
                <a:schemeClr val="accent3">
                  <a:alpha val="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2" name="Rectangle 141">
            <a:extLst>
              <a:ext uri="{FF2B5EF4-FFF2-40B4-BE49-F238E27FC236}">
                <a16:creationId xmlns:a16="http://schemas.microsoft.com/office/drawing/2014/main" id="{381DD69F-14FF-0BE5-00BD-8C9315D5F351}"/>
              </a:ext>
            </a:extLst>
          </p:cNvPr>
          <p:cNvSpPr/>
          <p:nvPr/>
        </p:nvSpPr>
        <p:spPr>
          <a:xfrm>
            <a:off x="3413181" y="5905544"/>
            <a:ext cx="1905614" cy="14567"/>
          </a:xfrm>
          <a:prstGeom prst="rect">
            <a:avLst/>
          </a:prstGeom>
          <a:gradFill>
            <a:gsLst>
              <a:gs pos="0">
                <a:schemeClr val="accent1">
                  <a:alpha val="0"/>
                </a:schemeClr>
              </a:gs>
              <a:gs pos="38000">
                <a:schemeClr val="accent1"/>
              </a:gs>
              <a:gs pos="59000">
                <a:schemeClr val="accent1"/>
              </a:gs>
              <a:gs pos="100000">
                <a:schemeClr val="accent1">
                  <a:alpha val="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3" name="Rectangle 142">
            <a:extLst>
              <a:ext uri="{FF2B5EF4-FFF2-40B4-BE49-F238E27FC236}">
                <a16:creationId xmlns:a16="http://schemas.microsoft.com/office/drawing/2014/main" id="{2E19620D-EDDE-523E-5E03-EE0147FF628D}"/>
              </a:ext>
            </a:extLst>
          </p:cNvPr>
          <p:cNvSpPr/>
          <p:nvPr/>
        </p:nvSpPr>
        <p:spPr>
          <a:xfrm>
            <a:off x="6164304" y="5905544"/>
            <a:ext cx="1905614" cy="14567"/>
          </a:xfrm>
          <a:prstGeom prst="rect">
            <a:avLst/>
          </a:prstGeom>
          <a:gradFill>
            <a:gsLst>
              <a:gs pos="0">
                <a:schemeClr val="accent5">
                  <a:alpha val="0"/>
                </a:schemeClr>
              </a:gs>
              <a:gs pos="38000">
                <a:schemeClr val="accent5"/>
              </a:gs>
              <a:gs pos="59000">
                <a:schemeClr val="accent5"/>
              </a:gs>
              <a:gs pos="99000">
                <a:schemeClr val="accent5">
                  <a:alpha val="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4" name="Rectangle 143">
            <a:extLst>
              <a:ext uri="{FF2B5EF4-FFF2-40B4-BE49-F238E27FC236}">
                <a16:creationId xmlns:a16="http://schemas.microsoft.com/office/drawing/2014/main" id="{099E22BF-D992-6794-41AC-A2A3C0245A47}"/>
              </a:ext>
            </a:extLst>
          </p:cNvPr>
          <p:cNvSpPr/>
          <p:nvPr/>
        </p:nvSpPr>
        <p:spPr>
          <a:xfrm rot="5400000" flipV="1">
            <a:off x="5985594" y="3957055"/>
            <a:ext cx="228711" cy="426454"/>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45" name="Rectangle 144">
            <a:extLst>
              <a:ext uri="{FF2B5EF4-FFF2-40B4-BE49-F238E27FC236}">
                <a16:creationId xmlns:a16="http://schemas.microsoft.com/office/drawing/2014/main" id="{84FA8E82-E597-BCE4-AF15-D3323EBE0B3A}"/>
              </a:ext>
            </a:extLst>
          </p:cNvPr>
          <p:cNvSpPr/>
          <p:nvPr/>
        </p:nvSpPr>
        <p:spPr>
          <a:xfrm rot="5400000" flipV="1">
            <a:off x="5874904" y="4178437"/>
            <a:ext cx="228711" cy="426454"/>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46" name="Rectangle 145">
            <a:extLst>
              <a:ext uri="{FF2B5EF4-FFF2-40B4-BE49-F238E27FC236}">
                <a16:creationId xmlns:a16="http://schemas.microsoft.com/office/drawing/2014/main" id="{D3DA3112-6529-2395-6D41-13B75E48FC9B}"/>
              </a:ext>
            </a:extLst>
          </p:cNvPr>
          <p:cNvSpPr/>
          <p:nvPr/>
        </p:nvSpPr>
        <p:spPr>
          <a:xfrm rot="16200000" flipV="1">
            <a:off x="5051630" y="2738905"/>
            <a:ext cx="319679" cy="426454"/>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nvGrpSpPr>
          <p:cNvPr id="147" name="Group 146">
            <a:extLst>
              <a:ext uri="{FF2B5EF4-FFF2-40B4-BE49-F238E27FC236}">
                <a16:creationId xmlns:a16="http://schemas.microsoft.com/office/drawing/2014/main" id="{5AC80D0D-C042-E84E-4F60-18AF1ED7451D}"/>
              </a:ext>
            </a:extLst>
          </p:cNvPr>
          <p:cNvGrpSpPr/>
          <p:nvPr/>
        </p:nvGrpSpPr>
        <p:grpSpPr>
          <a:xfrm>
            <a:off x="7273702" y="3853648"/>
            <a:ext cx="542117" cy="573911"/>
            <a:chOff x="6036855" y="2199341"/>
            <a:chExt cx="542117" cy="573911"/>
          </a:xfrm>
        </p:grpSpPr>
        <p:grpSp>
          <p:nvGrpSpPr>
            <p:cNvPr id="148" name="Group 147">
              <a:extLst>
                <a:ext uri="{FF2B5EF4-FFF2-40B4-BE49-F238E27FC236}">
                  <a16:creationId xmlns:a16="http://schemas.microsoft.com/office/drawing/2014/main" id="{8F8B5E2C-7E68-8C9E-6D85-792CF677BF27}"/>
                </a:ext>
              </a:extLst>
            </p:cNvPr>
            <p:cNvGrpSpPr/>
            <p:nvPr/>
          </p:nvGrpSpPr>
          <p:grpSpPr>
            <a:xfrm>
              <a:off x="6125753" y="2406901"/>
              <a:ext cx="366096" cy="366354"/>
              <a:chOff x="6048000" y="2396768"/>
              <a:chExt cx="402706" cy="402989"/>
            </a:xfrm>
          </p:grpSpPr>
          <p:sp>
            <p:nvSpPr>
              <p:cNvPr id="150" name="Rectangle 149">
                <a:extLst>
                  <a:ext uri="{FF2B5EF4-FFF2-40B4-BE49-F238E27FC236}">
                    <a16:creationId xmlns:a16="http://schemas.microsoft.com/office/drawing/2014/main" id="{A5560660-AFAA-342D-5BD7-EF899EA541A8}"/>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51" name="Group 150">
                <a:extLst>
                  <a:ext uri="{FF2B5EF4-FFF2-40B4-BE49-F238E27FC236}">
                    <a16:creationId xmlns:a16="http://schemas.microsoft.com/office/drawing/2014/main" id="{5B5D206C-5CE6-0D9D-DE3F-0B96539A07B7}"/>
                  </a:ext>
                </a:extLst>
              </p:cNvPr>
              <p:cNvGrpSpPr/>
              <p:nvPr/>
            </p:nvGrpSpPr>
            <p:grpSpPr>
              <a:xfrm>
                <a:off x="6048000" y="2396768"/>
                <a:ext cx="402706" cy="402989"/>
                <a:chOff x="611268" y="5235083"/>
                <a:chExt cx="682595" cy="683075"/>
              </a:xfrm>
              <a:solidFill>
                <a:schemeClr val="accent3"/>
              </a:solidFill>
            </p:grpSpPr>
            <p:sp>
              <p:nvSpPr>
                <p:cNvPr id="152" name="Freeform 151">
                  <a:extLst>
                    <a:ext uri="{FF2B5EF4-FFF2-40B4-BE49-F238E27FC236}">
                      <a16:creationId xmlns:a16="http://schemas.microsoft.com/office/drawing/2014/main" id="{CCA4324E-1F70-FA84-AD6B-5F71663841F2}"/>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53" name="Freeform 152">
                  <a:extLst>
                    <a:ext uri="{FF2B5EF4-FFF2-40B4-BE49-F238E27FC236}">
                      <a16:creationId xmlns:a16="http://schemas.microsoft.com/office/drawing/2014/main" id="{21138FC7-DF13-62EB-B188-5521B770B4DD}"/>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54" name="Freeform 153">
                  <a:extLst>
                    <a:ext uri="{FF2B5EF4-FFF2-40B4-BE49-F238E27FC236}">
                      <a16:creationId xmlns:a16="http://schemas.microsoft.com/office/drawing/2014/main" id="{1447BD46-A922-1E28-1BF5-FE0FAE86582B}"/>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149" name="Rectangle 148">
              <a:extLst>
                <a:ext uri="{FF2B5EF4-FFF2-40B4-BE49-F238E27FC236}">
                  <a16:creationId xmlns:a16="http://schemas.microsoft.com/office/drawing/2014/main" id="{24B140A1-25A7-DDF7-BD30-6FC222AB371A}"/>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VM1</a:t>
              </a:r>
            </a:p>
          </p:txBody>
        </p:sp>
      </p:grpSp>
      <p:grpSp>
        <p:nvGrpSpPr>
          <p:cNvPr id="155" name="Group 154">
            <a:extLst>
              <a:ext uri="{FF2B5EF4-FFF2-40B4-BE49-F238E27FC236}">
                <a16:creationId xmlns:a16="http://schemas.microsoft.com/office/drawing/2014/main" id="{2FAD5870-74AF-21AF-020C-784C6FAEFA12}"/>
              </a:ext>
            </a:extLst>
          </p:cNvPr>
          <p:cNvGrpSpPr/>
          <p:nvPr/>
        </p:nvGrpSpPr>
        <p:grpSpPr>
          <a:xfrm>
            <a:off x="5705831" y="3853648"/>
            <a:ext cx="542117" cy="573914"/>
            <a:chOff x="6036855" y="2199341"/>
            <a:chExt cx="542117" cy="573914"/>
          </a:xfrm>
        </p:grpSpPr>
        <p:grpSp>
          <p:nvGrpSpPr>
            <p:cNvPr id="156" name="Group 155">
              <a:extLst>
                <a:ext uri="{FF2B5EF4-FFF2-40B4-BE49-F238E27FC236}">
                  <a16:creationId xmlns:a16="http://schemas.microsoft.com/office/drawing/2014/main" id="{1B90D049-BD4A-77A9-6FBD-9D701A105CF5}"/>
                </a:ext>
              </a:extLst>
            </p:cNvPr>
            <p:cNvGrpSpPr/>
            <p:nvPr/>
          </p:nvGrpSpPr>
          <p:grpSpPr>
            <a:xfrm>
              <a:off x="6125756" y="2406901"/>
              <a:ext cx="366096" cy="366354"/>
              <a:chOff x="6048003" y="2396768"/>
              <a:chExt cx="402706" cy="402989"/>
            </a:xfrm>
          </p:grpSpPr>
          <p:sp>
            <p:nvSpPr>
              <p:cNvPr id="158" name="Rectangle 157">
                <a:extLst>
                  <a:ext uri="{FF2B5EF4-FFF2-40B4-BE49-F238E27FC236}">
                    <a16:creationId xmlns:a16="http://schemas.microsoft.com/office/drawing/2014/main" id="{CB62AC1F-E805-E0F5-6ABE-C47BB755F853}"/>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59" name="Group 158">
                <a:extLst>
                  <a:ext uri="{FF2B5EF4-FFF2-40B4-BE49-F238E27FC236}">
                    <a16:creationId xmlns:a16="http://schemas.microsoft.com/office/drawing/2014/main" id="{61FB1B34-9248-4050-CC5E-B53B0A42D4DF}"/>
                  </a:ext>
                </a:extLst>
              </p:cNvPr>
              <p:cNvGrpSpPr/>
              <p:nvPr/>
            </p:nvGrpSpPr>
            <p:grpSpPr>
              <a:xfrm>
                <a:off x="6048003" y="2396768"/>
                <a:ext cx="402706" cy="402989"/>
                <a:chOff x="611272" y="5235083"/>
                <a:chExt cx="682595" cy="683075"/>
              </a:xfrm>
              <a:solidFill>
                <a:schemeClr val="accent3"/>
              </a:solidFill>
            </p:grpSpPr>
            <p:sp>
              <p:nvSpPr>
                <p:cNvPr id="160" name="Freeform 159">
                  <a:extLst>
                    <a:ext uri="{FF2B5EF4-FFF2-40B4-BE49-F238E27FC236}">
                      <a16:creationId xmlns:a16="http://schemas.microsoft.com/office/drawing/2014/main" id="{F43971C5-72D8-A8A6-6CAF-BF747480E9C3}"/>
                    </a:ext>
                  </a:extLst>
                </p:cNvPr>
                <p:cNvSpPr/>
                <p:nvPr/>
              </p:nvSpPr>
              <p:spPr>
                <a:xfrm>
                  <a:off x="611272"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solidFill>
                  <a:schemeClr val="accent5"/>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61" name="Freeform 160">
                  <a:extLst>
                    <a:ext uri="{FF2B5EF4-FFF2-40B4-BE49-F238E27FC236}">
                      <a16:creationId xmlns:a16="http://schemas.microsoft.com/office/drawing/2014/main" id="{27EA66E2-6A8F-59D0-78A3-A3E6130D5ECE}"/>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solidFill>
                  <a:schemeClr val="accent5"/>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62" name="Freeform 161">
                  <a:extLst>
                    <a:ext uri="{FF2B5EF4-FFF2-40B4-BE49-F238E27FC236}">
                      <a16:creationId xmlns:a16="http://schemas.microsoft.com/office/drawing/2014/main" id="{A63EEB7A-58D9-AEA4-ACB6-2ECF8A955D1F}"/>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solidFill>
                  <a:schemeClr val="accent5"/>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157" name="Rectangle 156">
              <a:extLst>
                <a:ext uri="{FF2B5EF4-FFF2-40B4-BE49-F238E27FC236}">
                  <a16:creationId xmlns:a16="http://schemas.microsoft.com/office/drawing/2014/main" id="{9E81D816-358D-1870-4002-AE24E7519725}"/>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C4B94"/>
                  </a:solidFill>
                  <a:effectLst/>
                  <a:uLnTx/>
                  <a:uFillTx/>
                  <a:latin typeface="Arial" panose="020B0604020202020204"/>
                  <a:ea typeface="+mn-ea"/>
                  <a:cs typeface="Arial" panose="020B0604020202020204" pitchFamily="34" charset="0"/>
                </a:rPr>
                <a:t>VM2</a:t>
              </a:r>
            </a:p>
          </p:txBody>
        </p:sp>
      </p:grpSp>
      <p:cxnSp>
        <p:nvCxnSpPr>
          <p:cNvPr id="163" name="Straight Connector 162">
            <a:extLst>
              <a:ext uri="{FF2B5EF4-FFF2-40B4-BE49-F238E27FC236}">
                <a16:creationId xmlns:a16="http://schemas.microsoft.com/office/drawing/2014/main" id="{F44C60D5-A23B-7A09-CA89-71A85BB72E1C}"/>
              </a:ext>
            </a:extLst>
          </p:cNvPr>
          <p:cNvCxnSpPr/>
          <p:nvPr/>
        </p:nvCxnSpPr>
        <p:spPr bwMode="gray">
          <a:xfrm>
            <a:off x="1308478" y="3056015"/>
            <a:ext cx="0" cy="80421"/>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B8699682-6178-7834-AA39-C6A37E93E8FE}"/>
              </a:ext>
            </a:extLst>
          </p:cNvPr>
          <p:cNvCxnSpPr/>
          <p:nvPr/>
        </p:nvCxnSpPr>
        <p:spPr bwMode="gray">
          <a:xfrm>
            <a:off x="4855388" y="3056015"/>
            <a:ext cx="0" cy="80421"/>
          </a:xfrm>
          <a:prstGeom prst="line">
            <a:avLst/>
          </a:prstGeom>
          <a:ln w="15875">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C55BA953-B957-01B1-9281-2B0273BB8E4D}"/>
              </a:ext>
            </a:extLst>
          </p:cNvPr>
          <p:cNvGrpSpPr/>
          <p:nvPr/>
        </p:nvGrpSpPr>
        <p:grpSpPr>
          <a:xfrm>
            <a:off x="2215254" y="2498496"/>
            <a:ext cx="542117" cy="573911"/>
            <a:chOff x="6036855" y="2199341"/>
            <a:chExt cx="542117" cy="573911"/>
          </a:xfrm>
        </p:grpSpPr>
        <p:grpSp>
          <p:nvGrpSpPr>
            <p:cNvPr id="166" name="Group 165">
              <a:extLst>
                <a:ext uri="{FF2B5EF4-FFF2-40B4-BE49-F238E27FC236}">
                  <a16:creationId xmlns:a16="http://schemas.microsoft.com/office/drawing/2014/main" id="{14D96A44-7D93-37B5-8639-B45F44481E83}"/>
                </a:ext>
              </a:extLst>
            </p:cNvPr>
            <p:cNvGrpSpPr/>
            <p:nvPr/>
          </p:nvGrpSpPr>
          <p:grpSpPr>
            <a:xfrm>
              <a:off x="6125753" y="2406901"/>
              <a:ext cx="366096" cy="366354"/>
              <a:chOff x="6048000" y="2396768"/>
              <a:chExt cx="402706" cy="402989"/>
            </a:xfrm>
          </p:grpSpPr>
          <p:sp>
            <p:nvSpPr>
              <p:cNvPr id="168" name="Rectangle 167">
                <a:extLst>
                  <a:ext uri="{FF2B5EF4-FFF2-40B4-BE49-F238E27FC236}">
                    <a16:creationId xmlns:a16="http://schemas.microsoft.com/office/drawing/2014/main" id="{D39D3B38-AA16-D9B0-A7F5-F8D261D9F64F}"/>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69" name="Group 168">
                <a:extLst>
                  <a:ext uri="{FF2B5EF4-FFF2-40B4-BE49-F238E27FC236}">
                    <a16:creationId xmlns:a16="http://schemas.microsoft.com/office/drawing/2014/main" id="{2ACFF1C8-216E-F893-E57C-6DCA6E0F8628}"/>
                  </a:ext>
                </a:extLst>
              </p:cNvPr>
              <p:cNvGrpSpPr/>
              <p:nvPr/>
            </p:nvGrpSpPr>
            <p:grpSpPr>
              <a:xfrm>
                <a:off x="6048000" y="2396768"/>
                <a:ext cx="402706" cy="402989"/>
                <a:chOff x="611268" y="5235083"/>
                <a:chExt cx="682595" cy="683075"/>
              </a:xfrm>
              <a:solidFill>
                <a:schemeClr val="accent3"/>
              </a:solidFill>
            </p:grpSpPr>
            <p:sp>
              <p:nvSpPr>
                <p:cNvPr id="170" name="Freeform 169">
                  <a:extLst>
                    <a:ext uri="{FF2B5EF4-FFF2-40B4-BE49-F238E27FC236}">
                      <a16:creationId xmlns:a16="http://schemas.microsoft.com/office/drawing/2014/main" id="{D2A67CA4-7A3A-4A27-612F-161B440A993E}"/>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solidFill>
                  <a:srgbClr val="E68C2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E68C28"/>
                    </a:solidFill>
                    <a:effectLst/>
                    <a:uLnTx/>
                    <a:uFillTx/>
                    <a:latin typeface="Arial" panose="020B0604020202020204"/>
                    <a:ea typeface="+mn-ea"/>
                    <a:cs typeface="Arial"/>
                  </a:endParaRPr>
                </a:p>
              </p:txBody>
            </p:sp>
            <p:sp>
              <p:nvSpPr>
                <p:cNvPr id="171" name="Freeform 170">
                  <a:extLst>
                    <a:ext uri="{FF2B5EF4-FFF2-40B4-BE49-F238E27FC236}">
                      <a16:creationId xmlns:a16="http://schemas.microsoft.com/office/drawing/2014/main" id="{06C7B819-8060-8983-D47A-166B2EE50A35}"/>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solidFill>
                  <a:srgbClr val="E68C2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E68C28"/>
                    </a:solidFill>
                    <a:effectLst/>
                    <a:uLnTx/>
                    <a:uFillTx/>
                    <a:latin typeface="Arial" panose="020B0604020202020204"/>
                    <a:ea typeface="+mn-ea"/>
                    <a:cs typeface="Arial"/>
                  </a:endParaRPr>
                </a:p>
              </p:txBody>
            </p:sp>
            <p:sp>
              <p:nvSpPr>
                <p:cNvPr id="172" name="Freeform 171">
                  <a:extLst>
                    <a:ext uri="{FF2B5EF4-FFF2-40B4-BE49-F238E27FC236}">
                      <a16:creationId xmlns:a16="http://schemas.microsoft.com/office/drawing/2014/main" id="{CDB2C8F2-7C19-4D99-7F8A-2D1C0B60B78B}"/>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solidFill>
                  <a:srgbClr val="E68C2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E68C28"/>
                    </a:solidFill>
                    <a:effectLst/>
                    <a:uLnTx/>
                    <a:uFillTx/>
                    <a:latin typeface="Arial" panose="020B0604020202020204"/>
                    <a:ea typeface="+mn-ea"/>
                    <a:cs typeface="Arial"/>
                  </a:endParaRPr>
                </a:p>
              </p:txBody>
            </p:sp>
          </p:grpSp>
        </p:grpSp>
        <p:sp>
          <p:nvSpPr>
            <p:cNvPr id="167" name="Rectangle 166">
              <a:extLst>
                <a:ext uri="{FF2B5EF4-FFF2-40B4-BE49-F238E27FC236}">
                  <a16:creationId xmlns:a16="http://schemas.microsoft.com/office/drawing/2014/main" id="{D23CA84B-C027-C4C3-7C40-00B8FB478916}"/>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E68C28"/>
                  </a:solidFill>
                  <a:effectLst/>
                  <a:uLnTx/>
                  <a:uFillTx/>
                  <a:latin typeface="Arial" panose="020B0604020202020204"/>
                  <a:ea typeface="+mn-ea"/>
                  <a:cs typeface="Arial" panose="020B0604020202020204" pitchFamily="34" charset="0"/>
                </a:rPr>
                <a:t>VM4</a:t>
              </a:r>
            </a:p>
          </p:txBody>
        </p:sp>
      </p:grpSp>
      <p:cxnSp>
        <p:nvCxnSpPr>
          <p:cNvPr id="173" name="Straight Connector 172">
            <a:extLst>
              <a:ext uri="{FF2B5EF4-FFF2-40B4-BE49-F238E27FC236}">
                <a16:creationId xmlns:a16="http://schemas.microsoft.com/office/drawing/2014/main" id="{11A4FEAD-0413-80E6-5461-28429CC35FFC}"/>
              </a:ext>
            </a:extLst>
          </p:cNvPr>
          <p:cNvCxnSpPr/>
          <p:nvPr/>
        </p:nvCxnSpPr>
        <p:spPr bwMode="gray">
          <a:xfrm>
            <a:off x="2486034" y="3056015"/>
            <a:ext cx="0" cy="80421"/>
          </a:xfrm>
          <a:prstGeom prst="line">
            <a:avLst/>
          </a:prstGeom>
          <a:ln w="15875">
            <a:solidFill>
              <a:srgbClr val="E68C28"/>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1262D8E8-8F4A-719B-5904-68D24DE27394}"/>
              </a:ext>
            </a:extLst>
          </p:cNvPr>
          <p:cNvCxnSpPr/>
          <p:nvPr/>
        </p:nvCxnSpPr>
        <p:spPr bwMode="gray">
          <a:xfrm>
            <a:off x="3881935" y="3056015"/>
            <a:ext cx="0" cy="80421"/>
          </a:xfrm>
          <a:prstGeom prst="line">
            <a:avLst/>
          </a:prstGeom>
          <a:ln w="15875">
            <a:solidFill>
              <a:srgbClr val="E68C28"/>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75" name="Group 174">
            <a:extLst>
              <a:ext uri="{FF2B5EF4-FFF2-40B4-BE49-F238E27FC236}">
                <a16:creationId xmlns:a16="http://schemas.microsoft.com/office/drawing/2014/main" id="{147CF56C-E7AD-3AB4-04A0-B86A99B44B80}"/>
              </a:ext>
            </a:extLst>
          </p:cNvPr>
          <p:cNvGrpSpPr/>
          <p:nvPr/>
        </p:nvGrpSpPr>
        <p:grpSpPr>
          <a:xfrm>
            <a:off x="6078811" y="3853648"/>
            <a:ext cx="542117" cy="573914"/>
            <a:chOff x="6108891" y="3315760"/>
            <a:chExt cx="542117" cy="573914"/>
          </a:xfrm>
        </p:grpSpPr>
        <p:grpSp>
          <p:nvGrpSpPr>
            <p:cNvPr id="176" name="Group 175">
              <a:extLst>
                <a:ext uri="{FF2B5EF4-FFF2-40B4-BE49-F238E27FC236}">
                  <a16:creationId xmlns:a16="http://schemas.microsoft.com/office/drawing/2014/main" id="{9C59E2A8-349C-E47A-8164-F22FD47DAAA8}"/>
                </a:ext>
              </a:extLst>
            </p:cNvPr>
            <p:cNvGrpSpPr/>
            <p:nvPr/>
          </p:nvGrpSpPr>
          <p:grpSpPr>
            <a:xfrm>
              <a:off x="6197789" y="3523320"/>
              <a:ext cx="366096" cy="366354"/>
              <a:chOff x="6048000" y="2396768"/>
              <a:chExt cx="402706" cy="402989"/>
            </a:xfrm>
          </p:grpSpPr>
          <p:sp>
            <p:nvSpPr>
              <p:cNvPr id="178" name="Rectangle 177">
                <a:extLst>
                  <a:ext uri="{FF2B5EF4-FFF2-40B4-BE49-F238E27FC236}">
                    <a16:creationId xmlns:a16="http://schemas.microsoft.com/office/drawing/2014/main" id="{FF16695D-60D2-98F6-07CB-B452AC13FAA0}"/>
                  </a:ext>
                </a:extLst>
              </p:cNvPr>
              <p:cNvSpPr/>
              <p:nvPr/>
            </p:nvSpPr>
            <p:spPr bwMode="gray">
              <a:xfrm>
                <a:off x="6069960" y="2410621"/>
                <a:ext cx="354789"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79" name="Group 178">
                <a:extLst>
                  <a:ext uri="{FF2B5EF4-FFF2-40B4-BE49-F238E27FC236}">
                    <a16:creationId xmlns:a16="http://schemas.microsoft.com/office/drawing/2014/main" id="{DF8783CB-FA56-F698-6A98-470FDFE09FC7}"/>
                  </a:ext>
                </a:extLst>
              </p:cNvPr>
              <p:cNvGrpSpPr/>
              <p:nvPr/>
            </p:nvGrpSpPr>
            <p:grpSpPr>
              <a:xfrm>
                <a:off x="6048000" y="2396768"/>
                <a:ext cx="402706" cy="402989"/>
                <a:chOff x="611268" y="5235083"/>
                <a:chExt cx="682595" cy="683075"/>
              </a:xfrm>
              <a:solidFill>
                <a:schemeClr val="accent3"/>
              </a:solidFill>
            </p:grpSpPr>
            <p:sp>
              <p:nvSpPr>
                <p:cNvPr id="180" name="Freeform 179">
                  <a:extLst>
                    <a:ext uri="{FF2B5EF4-FFF2-40B4-BE49-F238E27FC236}">
                      <a16:creationId xmlns:a16="http://schemas.microsoft.com/office/drawing/2014/main" id="{33B0816D-394F-83E0-26EF-9351C470DC71}"/>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solidFill>
                  <a:schemeClr val="accent5"/>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81" name="Freeform 180">
                  <a:extLst>
                    <a:ext uri="{FF2B5EF4-FFF2-40B4-BE49-F238E27FC236}">
                      <a16:creationId xmlns:a16="http://schemas.microsoft.com/office/drawing/2014/main" id="{5B04FEEB-AB34-BE80-03C7-7D1E4447919D}"/>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solidFill>
                  <a:schemeClr val="accent5"/>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82" name="Freeform 181">
                  <a:extLst>
                    <a:ext uri="{FF2B5EF4-FFF2-40B4-BE49-F238E27FC236}">
                      <a16:creationId xmlns:a16="http://schemas.microsoft.com/office/drawing/2014/main" id="{020523C5-37B4-EE89-9488-697FF5511861}"/>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solidFill>
                  <a:schemeClr val="accent5"/>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177" name="Rectangle 176">
              <a:extLst>
                <a:ext uri="{FF2B5EF4-FFF2-40B4-BE49-F238E27FC236}">
                  <a16:creationId xmlns:a16="http://schemas.microsoft.com/office/drawing/2014/main" id="{7211FBD3-7E48-686A-476C-58097549D6E8}"/>
                </a:ext>
              </a:extLst>
            </p:cNvPr>
            <p:cNvSpPr/>
            <p:nvPr/>
          </p:nvSpPr>
          <p:spPr bwMode="gray">
            <a:xfrm>
              <a:off x="6108891" y="3315760"/>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C4B94"/>
                  </a:solidFill>
                  <a:effectLst/>
                  <a:uLnTx/>
                  <a:uFillTx/>
                  <a:latin typeface="Arial" panose="020B0604020202020204"/>
                  <a:ea typeface="+mn-ea"/>
                  <a:cs typeface="Arial" panose="020B0604020202020204" pitchFamily="34" charset="0"/>
                </a:rPr>
                <a:t>VM3</a:t>
              </a:r>
            </a:p>
          </p:txBody>
        </p:sp>
      </p:grpSp>
      <p:cxnSp>
        <p:nvCxnSpPr>
          <p:cNvPr id="183" name="Straight Connector 182">
            <a:extLst>
              <a:ext uri="{FF2B5EF4-FFF2-40B4-BE49-F238E27FC236}">
                <a16:creationId xmlns:a16="http://schemas.microsoft.com/office/drawing/2014/main" id="{20B271CE-6320-6BE3-C399-4D381A6D2884}"/>
              </a:ext>
            </a:extLst>
          </p:cNvPr>
          <p:cNvCxnSpPr/>
          <p:nvPr/>
        </p:nvCxnSpPr>
        <p:spPr bwMode="gray">
          <a:xfrm>
            <a:off x="5977823" y="4423983"/>
            <a:ext cx="0" cy="97309"/>
          </a:xfrm>
          <a:prstGeom prst="line">
            <a:avLst/>
          </a:prstGeom>
          <a:ln w="15875">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DAB2B9CD-104D-400B-AD41-B58D19EFFA16}"/>
              </a:ext>
            </a:extLst>
          </p:cNvPr>
          <p:cNvCxnSpPr/>
          <p:nvPr/>
        </p:nvCxnSpPr>
        <p:spPr bwMode="gray">
          <a:xfrm>
            <a:off x="6336933" y="4423983"/>
            <a:ext cx="0" cy="97309"/>
          </a:xfrm>
          <a:prstGeom prst="line">
            <a:avLst/>
          </a:prstGeom>
          <a:ln w="15875">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85" name="Graphic 184">
            <a:extLst>
              <a:ext uri="{FF2B5EF4-FFF2-40B4-BE49-F238E27FC236}">
                <a16:creationId xmlns:a16="http://schemas.microsoft.com/office/drawing/2014/main" id="{A28D26C6-C41E-07DE-48CC-B0B200BB26A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73712" y="4979715"/>
            <a:ext cx="476808" cy="476810"/>
          </a:xfrm>
          <a:prstGeom prst="rect">
            <a:avLst/>
          </a:prstGeom>
        </p:spPr>
      </p:pic>
      <p:sp>
        <p:nvSpPr>
          <p:cNvPr id="186" name="Rectangle 185">
            <a:extLst>
              <a:ext uri="{FF2B5EF4-FFF2-40B4-BE49-F238E27FC236}">
                <a16:creationId xmlns:a16="http://schemas.microsoft.com/office/drawing/2014/main" id="{99FA5FA1-EB74-D74C-F8DE-7CD635360B88}"/>
              </a:ext>
            </a:extLst>
          </p:cNvPr>
          <p:cNvSpPr/>
          <p:nvPr/>
        </p:nvSpPr>
        <p:spPr bwMode="gray">
          <a:xfrm>
            <a:off x="5451051" y="4561377"/>
            <a:ext cx="999334" cy="428121"/>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HCX Network Extension (L2)</a:t>
            </a:r>
          </a:p>
        </p:txBody>
      </p:sp>
    </p:spTree>
    <p:extLst>
      <p:ext uri="{BB962C8B-B14F-4D97-AF65-F5344CB8AC3E}">
        <p14:creationId xmlns:p14="http://schemas.microsoft.com/office/powerpoint/2010/main" val="3854351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nodeType="clickEffect">
                                  <p:stCondLst>
                                    <p:cond delay="0"/>
                                  </p:stCondLst>
                                  <p:childTnLst>
                                    <p:animEffect transition="out" filter="wipe(up)">
                                      <p:cBhvr>
                                        <p:cTn id="6" dur="500"/>
                                        <p:tgtEl>
                                          <p:spTgt spid="140"/>
                                        </p:tgtEl>
                                      </p:cBhvr>
                                    </p:animEffect>
                                    <p:set>
                                      <p:cBhvr>
                                        <p:cTn id="7" dur="1" fill="hold">
                                          <p:stCondLst>
                                            <p:cond delay="499"/>
                                          </p:stCondLst>
                                        </p:cTn>
                                        <p:tgtEl>
                                          <p:spTgt spid="140"/>
                                        </p:tgtEl>
                                        <p:attrNameLst>
                                          <p:attrName>style.visibility</p:attrName>
                                        </p:attrNameLst>
                                      </p:cBhvr>
                                      <p:to>
                                        <p:strVal val="hidden"/>
                                      </p:to>
                                    </p:set>
                                  </p:childTnLst>
                                </p:cTn>
                              </p:par>
                              <p:par>
                                <p:cTn id="8" presetID="0" presetClass="path" presetSubtype="0" decel="50000" fill="hold" nodeType="withEffect">
                                  <p:stCondLst>
                                    <p:cond delay="0"/>
                                  </p:stCondLst>
                                  <p:childTnLst>
                                    <p:animMotion origin="layout" path="M -1.17479E-6 -1.48148E-6 L -1.17479E-6 -0.33171 L -0.51107 -0.33171 C -0.51107 -0.30116 -0.51107 -0.23009 -0.51107 -0.19722 " pathEditMode="relative" rAng="0" ptsTypes="AAAA">
                                      <p:cBhvr>
                                        <p:cTn id="9" dur="2000" fill="hold"/>
                                        <p:tgtEl>
                                          <p:spTgt spid="147"/>
                                        </p:tgtEl>
                                        <p:attrNameLst>
                                          <p:attrName>ppt_x</p:attrName>
                                          <p:attrName>ppt_y</p:attrName>
                                        </p:attrNameLst>
                                      </p:cBhvr>
                                      <p:rCtr x="-25554" y="-16597"/>
                                    </p:animMotion>
                                  </p:childTnLst>
                                </p:cTn>
                              </p:par>
                            </p:childTnLst>
                          </p:cTn>
                        </p:par>
                        <p:par>
                          <p:cTn id="10" fill="hold">
                            <p:stCondLst>
                              <p:cond delay="2000"/>
                            </p:stCondLst>
                            <p:childTnLst>
                              <p:par>
                                <p:cTn id="11" presetID="22" presetClass="entr" presetSubtype="1" fill="hold" nodeType="afterEffect">
                                  <p:stCondLst>
                                    <p:cond delay="0"/>
                                  </p:stCondLst>
                                  <p:childTnLst>
                                    <p:set>
                                      <p:cBhvr>
                                        <p:cTn id="12" dur="1" fill="hold">
                                          <p:stCondLst>
                                            <p:cond delay="0"/>
                                          </p:stCondLst>
                                        </p:cTn>
                                        <p:tgtEl>
                                          <p:spTgt spid="163"/>
                                        </p:tgtEl>
                                        <p:attrNameLst>
                                          <p:attrName>style.visibility</p:attrName>
                                        </p:attrNameLst>
                                      </p:cBhvr>
                                      <p:to>
                                        <p:strVal val="visible"/>
                                      </p:to>
                                    </p:set>
                                    <p:animEffect transition="in" filter="wipe(up)">
                                      <p:cBhvr>
                                        <p:cTn id="13" dur="500"/>
                                        <p:tgtEl>
                                          <p:spTgt spid="16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xit" presetSubtype="1" fill="hold" nodeType="clickEffect">
                                  <p:stCondLst>
                                    <p:cond delay="0"/>
                                  </p:stCondLst>
                                  <p:childTnLst>
                                    <p:animEffect transition="out" filter="wipe(up)">
                                      <p:cBhvr>
                                        <p:cTn id="17" dur="500"/>
                                        <p:tgtEl>
                                          <p:spTgt spid="183"/>
                                        </p:tgtEl>
                                      </p:cBhvr>
                                    </p:animEffect>
                                    <p:set>
                                      <p:cBhvr>
                                        <p:cTn id="18" dur="1" fill="hold">
                                          <p:stCondLst>
                                            <p:cond delay="499"/>
                                          </p:stCondLst>
                                        </p:cTn>
                                        <p:tgtEl>
                                          <p:spTgt spid="183"/>
                                        </p:tgtEl>
                                        <p:attrNameLst>
                                          <p:attrName>style.visibility</p:attrName>
                                        </p:attrNameLst>
                                      </p:cBhvr>
                                      <p:to>
                                        <p:strVal val="hidden"/>
                                      </p:to>
                                    </p:set>
                                  </p:childTnLst>
                                </p:cTn>
                              </p:par>
                              <p:par>
                                <p:cTn id="19" presetID="0" presetClass="path" presetSubtype="0" accel="50000" decel="50000" fill="hold" nodeType="withEffect">
                                  <p:stCondLst>
                                    <p:cond delay="0"/>
                                  </p:stCondLst>
                                  <p:childTnLst>
                                    <p:animMotion origin="layout" path="M -2.07346E-6 -1.48148E-6 L -0.02448 -0.00116 C -0.02513 -0.06667 -0.0237 -0.13171 -0.02435 -0.19722 L -0.09208 -0.19792 " pathEditMode="relative" rAng="0" ptsTypes="AAAA">
                                      <p:cBhvr>
                                        <p:cTn id="20" dur="2000" fill="hold"/>
                                        <p:tgtEl>
                                          <p:spTgt spid="155"/>
                                        </p:tgtEl>
                                        <p:attrNameLst>
                                          <p:attrName>ppt_x</p:attrName>
                                          <p:attrName>ppt_y</p:attrName>
                                        </p:attrNameLst>
                                      </p:cBhvr>
                                      <p:rCtr x="-4611" y="-9907"/>
                                    </p:animMotion>
                                  </p:childTnLst>
                                </p:cTn>
                              </p:par>
                            </p:childTnLst>
                          </p:cTn>
                        </p:par>
                        <p:par>
                          <p:cTn id="21" fill="hold">
                            <p:stCondLst>
                              <p:cond delay="2000"/>
                            </p:stCondLst>
                            <p:childTnLst>
                              <p:par>
                                <p:cTn id="22" presetID="22" presetClass="entr" presetSubtype="1" fill="hold" nodeType="afterEffect">
                                  <p:stCondLst>
                                    <p:cond delay="0"/>
                                  </p:stCondLst>
                                  <p:childTnLst>
                                    <p:set>
                                      <p:cBhvr>
                                        <p:cTn id="23" dur="1" fill="hold">
                                          <p:stCondLst>
                                            <p:cond delay="0"/>
                                          </p:stCondLst>
                                        </p:cTn>
                                        <p:tgtEl>
                                          <p:spTgt spid="164"/>
                                        </p:tgtEl>
                                        <p:attrNameLst>
                                          <p:attrName>style.visibility</p:attrName>
                                        </p:attrNameLst>
                                      </p:cBhvr>
                                      <p:to>
                                        <p:strVal val="visible"/>
                                      </p:to>
                                    </p:set>
                                    <p:animEffect transition="in" filter="wipe(up)">
                                      <p:cBhvr>
                                        <p:cTn id="24" dur="500"/>
                                        <p:tgtEl>
                                          <p:spTgt spid="16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xit" presetSubtype="1" fill="hold" nodeType="clickEffect">
                                  <p:stCondLst>
                                    <p:cond delay="0"/>
                                  </p:stCondLst>
                                  <p:childTnLst>
                                    <p:animEffect transition="out" filter="wipe(up)">
                                      <p:cBhvr>
                                        <p:cTn id="28" dur="500"/>
                                        <p:tgtEl>
                                          <p:spTgt spid="173"/>
                                        </p:tgtEl>
                                      </p:cBhvr>
                                    </p:animEffect>
                                    <p:set>
                                      <p:cBhvr>
                                        <p:cTn id="29" dur="1" fill="hold">
                                          <p:stCondLst>
                                            <p:cond delay="499"/>
                                          </p:stCondLst>
                                        </p:cTn>
                                        <p:tgtEl>
                                          <p:spTgt spid="173"/>
                                        </p:tgtEl>
                                        <p:attrNameLst>
                                          <p:attrName>style.visibility</p:attrName>
                                        </p:attrNameLst>
                                      </p:cBhvr>
                                      <p:to>
                                        <p:strVal val="hidden"/>
                                      </p:to>
                                    </p:set>
                                  </p:childTnLst>
                                </p:cTn>
                              </p:par>
                            </p:childTnLst>
                          </p:cTn>
                        </p:par>
                        <p:par>
                          <p:cTn id="30" fill="hold">
                            <p:stCondLst>
                              <p:cond delay="500"/>
                            </p:stCondLst>
                            <p:childTnLst>
                              <p:par>
                                <p:cTn id="31" presetID="63" presetClass="path" presetSubtype="0" accel="50000" decel="50000" fill="hold" nodeType="afterEffect">
                                  <p:stCondLst>
                                    <p:cond delay="0"/>
                                  </p:stCondLst>
                                  <p:childTnLst>
                                    <p:animMotion origin="layout" path="M 6.35582E-7 2.22222E-6 L 0.11435 1.85185E-6 " pathEditMode="relative" rAng="0" ptsTypes="AA">
                                      <p:cBhvr>
                                        <p:cTn id="32" dur="1000" fill="hold"/>
                                        <p:tgtEl>
                                          <p:spTgt spid="165"/>
                                        </p:tgtEl>
                                        <p:attrNameLst>
                                          <p:attrName>ppt_x</p:attrName>
                                          <p:attrName>ppt_y</p:attrName>
                                        </p:attrNameLst>
                                      </p:cBhvr>
                                      <p:rCtr x="5718" y="69"/>
                                    </p:animMotion>
                                  </p:childTnLst>
                                </p:cTn>
                              </p:par>
                            </p:childTnLst>
                          </p:cTn>
                        </p:par>
                        <p:par>
                          <p:cTn id="33" fill="hold">
                            <p:stCondLst>
                              <p:cond delay="1500"/>
                            </p:stCondLst>
                            <p:childTnLst>
                              <p:par>
                                <p:cTn id="34" presetID="22" presetClass="entr" presetSubtype="1" fill="hold" nodeType="afterEffect">
                                  <p:stCondLst>
                                    <p:cond delay="0"/>
                                  </p:stCondLst>
                                  <p:childTnLst>
                                    <p:set>
                                      <p:cBhvr>
                                        <p:cTn id="35" dur="1" fill="hold">
                                          <p:stCondLst>
                                            <p:cond delay="0"/>
                                          </p:stCondLst>
                                        </p:cTn>
                                        <p:tgtEl>
                                          <p:spTgt spid="174"/>
                                        </p:tgtEl>
                                        <p:attrNameLst>
                                          <p:attrName>style.visibility</p:attrName>
                                        </p:attrNameLst>
                                      </p:cBhvr>
                                      <p:to>
                                        <p:strVal val="visible"/>
                                      </p:to>
                                    </p:set>
                                    <p:animEffect transition="in" filter="wipe(up)">
                                      <p:cBhvr>
                                        <p:cTn id="36"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70A9D-06EB-24BF-7C27-114D37BB571C}"/>
            </a:ext>
          </a:extLst>
        </p:cNvPr>
        <p:cNvGrpSpPr/>
        <p:nvPr/>
      </p:nvGrpSpPr>
      <p:grpSpPr>
        <a:xfrm>
          <a:off x="0" y="0"/>
          <a:ext cx="0" cy="0"/>
          <a:chOff x="0" y="0"/>
          <a:chExt cx="0" cy="0"/>
        </a:xfrm>
      </p:grpSpPr>
      <p:sp>
        <p:nvSpPr>
          <p:cNvPr id="196" name="Title 195">
            <a:extLst>
              <a:ext uri="{FF2B5EF4-FFF2-40B4-BE49-F238E27FC236}">
                <a16:creationId xmlns:a16="http://schemas.microsoft.com/office/drawing/2014/main" id="{3207E7D0-5C74-5349-A0B2-408298DCEC4F}"/>
              </a:ext>
            </a:extLst>
          </p:cNvPr>
          <p:cNvSpPr>
            <a:spLocks noGrp="1"/>
          </p:cNvSpPr>
          <p:nvPr>
            <p:ph type="title"/>
          </p:nvPr>
        </p:nvSpPr>
        <p:spPr/>
        <p:txBody>
          <a:bodyPr/>
          <a:lstStyle/>
          <a:p>
            <a:r>
              <a:rPr lang="en-US"/>
              <a:t>Workload Migration to Supervisor Cluster</a:t>
            </a:r>
            <a:endParaRPr lang="en-US" dirty="0"/>
          </a:p>
        </p:txBody>
      </p:sp>
      <p:sp>
        <p:nvSpPr>
          <p:cNvPr id="197" name="Subtitle 196">
            <a:extLst>
              <a:ext uri="{FF2B5EF4-FFF2-40B4-BE49-F238E27FC236}">
                <a16:creationId xmlns:a16="http://schemas.microsoft.com/office/drawing/2014/main" id="{3F1E26CD-1ED3-E287-43BF-BE405E7099D6}"/>
              </a:ext>
            </a:extLst>
          </p:cNvPr>
          <p:cNvSpPr>
            <a:spLocks noGrp="1"/>
          </p:cNvSpPr>
          <p:nvPr>
            <p:ph type="subTitle" idx="1"/>
          </p:nvPr>
        </p:nvSpPr>
        <p:spPr/>
        <p:txBody>
          <a:bodyPr/>
          <a:lstStyle/>
          <a:p>
            <a:pPr lvl="0"/>
            <a:r>
              <a:rPr lang="en-US"/>
              <a:t>HCX Migration support for Supervisor Cluster</a:t>
            </a:r>
            <a:endParaRPr lang="en-US" dirty="0"/>
          </a:p>
        </p:txBody>
      </p:sp>
      <p:sp>
        <p:nvSpPr>
          <p:cNvPr id="4" name="Text Placeholder 3">
            <a:extLst>
              <a:ext uri="{FF2B5EF4-FFF2-40B4-BE49-F238E27FC236}">
                <a16:creationId xmlns:a16="http://schemas.microsoft.com/office/drawing/2014/main" id="{593F2AB4-057D-7C0E-741A-388EDCF530D9}"/>
              </a:ext>
            </a:extLst>
          </p:cNvPr>
          <p:cNvSpPr>
            <a:spLocks noGrp="1"/>
          </p:cNvSpPr>
          <p:nvPr>
            <p:ph type="body" idx="2"/>
          </p:nvPr>
        </p:nvSpPr>
        <p:spPr/>
        <p:txBody>
          <a:bodyPr/>
          <a:lstStyle/>
          <a:p>
            <a:pPr lvl="0"/>
            <a:r>
              <a:rPr lang="en-US" dirty="0"/>
              <a:t>Support Supervisor Onboarding (Migration Only)</a:t>
            </a:r>
          </a:p>
          <a:p>
            <a:pPr lvl="0"/>
            <a:endParaRPr lang="en-US" dirty="0"/>
          </a:p>
          <a:p>
            <a:pPr lvl="0"/>
            <a:r>
              <a:rPr lang="en-US" dirty="0"/>
              <a:t>Support for multi-NIC VM</a:t>
            </a:r>
          </a:p>
          <a:p>
            <a:pPr lvl="0"/>
            <a:endParaRPr lang="en-US" dirty="0"/>
          </a:p>
          <a:p>
            <a:pPr lvl="0"/>
            <a:r>
              <a:rPr lang="en-US" dirty="0"/>
              <a:t>Bulk migration types only</a:t>
            </a:r>
          </a:p>
          <a:p>
            <a:pPr lvl="0"/>
            <a:endParaRPr lang="en-US" dirty="0"/>
          </a:p>
          <a:p>
            <a:pPr lvl="0"/>
            <a:r>
              <a:rPr lang="en-US" dirty="0"/>
              <a:t>HCX support all Supervisor supported Guest OS</a:t>
            </a:r>
          </a:p>
          <a:p>
            <a:pPr lvl="0"/>
            <a:endParaRPr lang="en-US" dirty="0"/>
          </a:p>
          <a:p>
            <a:pPr lvl="0"/>
            <a:r>
              <a:rPr lang="en-US" dirty="0"/>
              <a:t>Build with Robust and Resilient Architecture</a:t>
            </a:r>
          </a:p>
        </p:txBody>
      </p:sp>
      <p:sp>
        <p:nvSpPr>
          <p:cNvPr id="6" name="Google Shape;1292;p6">
            <a:extLst>
              <a:ext uri="{FF2B5EF4-FFF2-40B4-BE49-F238E27FC236}">
                <a16:creationId xmlns:a16="http://schemas.microsoft.com/office/drawing/2014/main" id="{58279827-1E19-2340-95BA-5C0CD055A9DB}"/>
              </a:ext>
            </a:extLst>
          </p:cNvPr>
          <p:cNvSpPr/>
          <p:nvPr/>
        </p:nvSpPr>
        <p:spPr>
          <a:xfrm>
            <a:off x="6479" y="1611780"/>
            <a:ext cx="8133399" cy="4572000"/>
          </a:xfrm>
          <a:prstGeom prst="roundRect">
            <a:avLst>
              <a:gd name="adj" fmla="val 0"/>
            </a:avLst>
          </a:prstGeom>
          <a:solidFill>
            <a:srgbClr val="F4F8F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000"/>
              <a:buFont typeface="Arial"/>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7" name="Google Shape;1293;p6">
            <a:extLst>
              <a:ext uri="{FF2B5EF4-FFF2-40B4-BE49-F238E27FC236}">
                <a16:creationId xmlns:a16="http://schemas.microsoft.com/office/drawing/2014/main" id="{6A7D6639-03E9-3E6C-3FBE-80441978561F}"/>
              </a:ext>
            </a:extLst>
          </p:cNvPr>
          <p:cNvSpPr/>
          <p:nvPr/>
        </p:nvSpPr>
        <p:spPr>
          <a:xfrm>
            <a:off x="606342" y="1750219"/>
            <a:ext cx="7405481" cy="4295951"/>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84" name="Freeform 83">
            <a:extLst>
              <a:ext uri="{FF2B5EF4-FFF2-40B4-BE49-F238E27FC236}">
                <a16:creationId xmlns:a16="http://schemas.microsoft.com/office/drawing/2014/main" id="{E50D37BF-6E05-4B7B-5F3A-55B9DB9EC896}"/>
              </a:ext>
            </a:extLst>
          </p:cNvPr>
          <p:cNvSpPr/>
          <p:nvPr/>
        </p:nvSpPr>
        <p:spPr bwMode="gray">
          <a:xfrm>
            <a:off x="1306083" y="2033818"/>
            <a:ext cx="6235971" cy="2539360"/>
          </a:xfrm>
          <a:custGeom>
            <a:avLst/>
            <a:gdLst>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67377 h 1438977"/>
              <a:gd name="connsiteX4" fmla="*/ 0 w 4995512"/>
              <a:gd name="connsiteY4" fmla="*/ 822960 h 1438977"/>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822960 h 1438977"/>
              <a:gd name="connsiteX0" fmla="*/ 4999371 w 4999371"/>
              <a:gd name="connsiteY0" fmla="*/ 1438977 h 1438977"/>
              <a:gd name="connsiteX1" fmla="*/ 4999371 w 4999371"/>
              <a:gd name="connsiteY1" fmla="*/ 0 h 1438977"/>
              <a:gd name="connsiteX2" fmla="*/ 3859 w 4999371"/>
              <a:gd name="connsiteY2" fmla="*/ 0 h 1438977"/>
              <a:gd name="connsiteX3" fmla="*/ 0 w 4999371"/>
              <a:gd name="connsiteY3" fmla="*/ 949940 h 1438977"/>
            </a:gdLst>
            <a:ahLst/>
            <a:cxnLst>
              <a:cxn ang="0">
                <a:pos x="connsiteX0" y="connsiteY0"/>
              </a:cxn>
              <a:cxn ang="0">
                <a:pos x="connsiteX1" y="connsiteY1"/>
              </a:cxn>
              <a:cxn ang="0">
                <a:pos x="connsiteX2" y="connsiteY2"/>
              </a:cxn>
              <a:cxn ang="0">
                <a:pos x="connsiteX3" y="connsiteY3"/>
              </a:cxn>
            </a:cxnLst>
            <a:rect l="l" t="t" r="r" b="b"/>
            <a:pathLst>
              <a:path w="4999371" h="1438977">
                <a:moveTo>
                  <a:pt x="4999371" y="1438977"/>
                </a:moveTo>
                <a:lnTo>
                  <a:pt x="4999371" y="0"/>
                </a:lnTo>
                <a:lnTo>
                  <a:pt x="3859" y="0"/>
                </a:lnTo>
                <a:cubicBezTo>
                  <a:pt x="2573" y="316647"/>
                  <a:pt x="1286" y="633293"/>
                  <a:pt x="0" y="949940"/>
                </a:cubicBezTo>
              </a:path>
            </a:pathLst>
          </a:custGeom>
          <a:noFill/>
          <a:ln w="158750" cap="flat" cmpd="sng">
            <a:solidFill>
              <a:schemeClr val="accent3">
                <a:lumMod val="60000"/>
                <a:lumOff val="40000"/>
                <a:alpha val="32000"/>
              </a:schemeClr>
            </a:solid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5" name="Rectangle 84">
            <a:extLst>
              <a:ext uri="{FF2B5EF4-FFF2-40B4-BE49-F238E27FC236}">
                <a16:creationId xmlns:a16="http://schemas.microsoft.com/office/drawing/2014/main" id="{6C11C4DB-3ABA-0347-D09F-DA45071FA24F}"/>
              </a:ext>
            </a:extLst>
          </p:cNvPr>
          <p:cNvSpPr/>
          <p:nvPr/>
        </p:nvSpPr>
        <p:spPr>
          <a:xfrm rot="10800000" flipV="1">
            <a:off x="1179716" y="2783991"/>
            <a:ext cx="1288437" cy="426454"/>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86" name="Rectangle 85">
            <a:extLst>
              <a:ext uri="{FF2B5EF4-FFF2-40B4-BE49-F238E27FC236}">
                <a16:creationId xmlns:a16="http://schemas.microsoft.com/office/drawing/2014/main" id="{7917B738-2EDD-EFE7-6EA7-D931E597C161}"/>
              </a:ext>
            </a:extLst>
          </p:cNvPr>
          <p:cNvSpPr/>
          <p:nvPr/>
        </p:nvSpPr>
        <p:spPr>
          <a:xfrm rot="10800000" flipV="1">
            <a:off x="6613176" y="3935698"/>
            <a:ext cx="1102963" cy="631909"/>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87" name="Freeform 86">
            <a:extLst>
              <a:ext uri="{FF2B5EF4-FFF2-40B4-BE49-F238E27FC236}">
                <a16:creationId xmlns:a16="http://schemas.microsoft.com/office/drawing/2014/main" id="{53651F6C-6AC5-3B49-67D6-81B88F7108A3}"/>
              </a:ext>
            </a:extLst>
          </p:cNvPr>
          <p:cNvSpPr/>
          <p:nvPr/>
        </p:nvSpPr>
        <p:spPr bwMode="gray">
          <a:xfrm>
            <a:off x="5005797" y="2970025"/>
            <a:ext cx="1281896" cy="1266957"/>
          </a:xfrm>
          <a:custGeom>
            <a:avLst/>
            <a:gdLst>
              <a:gd name="connsiteX0" fmla="*/ 1068404 w 1068404"/>
              <a:gd name="connsiteY0" fmla="*/ 697831 h 697831"/>
              <a:gd name="connsiteX1" fmla="*/ 630455 w 1068404"/>
              <a:gd name="connsiteY1" fmla="*/ 697831 h 697831"/>
              <a:gd name="connsiteX2" fmla="*/ 630455 w 1068404"/>
              <a:gd name="connsiteY2" fmla="*/ 611204 h 697831"/>
              <a:gd name="connsiteX3" fmla="*/ 630455 w 1068404"/>
              <a:gd name="connsiteY3" fmla="*/ 0 h 697831"/>
              <a:gd name="connsiteX4" fmla="*/ 0 w 1068404"/>
              <a:gd name="connsiteY4" fmla="*/ 0 h 697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04" h="697831">
                <a:moveTo>
                  <a:pt x="1068404" y="697831"/>
                </a:moveTo>
                <a:lnTo>
                  <a:pt x="630455" y="697831"/>
                </a:lnTo>
                <a:lnTo>
                  <a:pt x="630455" y="611204"/>
                </a:lnTo>
                <a:lnTo>
                  <a:pt x="630455" y="0"/>
                </a:lnTo>
                <a:lnTo>
                  <a:pt x="0" y="0"/>
                </a:lnTo>
              </a:path>
            </a:pathLst>
          </a:custGeom>
          <a:noFill/>
          <a:ln w="158750" cap="flat" cmpd="sng">
            <a:solidFill>
              <a:schemeClr val="accent3">
                <a:lumMod val="60000"/>
                <a:lumOff val="40000"/>
                <a:alpha val="32000"/>
              </a:schemeClr>
            </a:solid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8" name="Rectangle 87">
            <a:extLst>
              <a:ext uri="{FF2B5EF4-FFF2-40B4-BE49-F238E27FC236}">
                <a16:creationId xmlns:a16="http://schemas.microsoft.com/office/drawing/2014/main" id="{9C9F15D2-10BC-5529-F163-989BE5FB261B}"/>
              </a:ext>
            </a:extLst>
          </p:cNvPr>
          <p:cNvSpPr/>
          <p:nvPr/>
        </p:nvSpPr>
        <p:spPr bwMode="gray">
          <a:xfrm>
            <a:off x="2901729" y="1963890"/>
            <a:ext cx="2903092" cy="5119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HCX Service Mesh  (IPsec tunnels)</a:t>
            </a:r>
          </a:p>
        </p:txBody>
      </p:sp>
      <p:grpSp>
        <p:nvGrpSpPr>
          <p:cNvPr id="89" name="Group 88">
            <a:extLst>
              <a:ext uri="{FF2B5EF4-FFF2-40B4-BE49-F238E27FC236}">
                <a16:creationId xmlns:a16="http://schemas.microsoft.com/office/drawing/2014/main" id="{9B3CD914-2078-913C-1923-8C147254836F}"/>
              </a:ext>
            </a:extLst>
          </p:cNvPr>
          <p:cNvGrpSpPr/>
          <p:nvPr/>
        </p:nvGrpSpPr>
        <p:grpSpPr>
          <a:xfrm>
            <a:off x="669281" y="3180290"/>
            <a:ext cx="2368854" cy="1973275"/>
            <a:chOff x="437801" y="1937123"/>
            <a:chExt cx="3312756" cy="2759552"/>
          </a:xfrm>
        </p:grpSpPr>
        <p:sp>
          <p:nvSpPr>
            <p:cNvPr id="90" name="Google Shape;2848;p22">
              <a:extLst>
                <a:ext uri="{FF2B5EF4-FFF2-40B4-BE49-F238E27FC236}">
                  <a16:creationId xmlns:a16="http://schemas.microsoft.com/office/drawing/2014/main" id="{CFBC0C59-4495-431A-64CD-813459655C3D}"/>
                </a:ext>
              </a:extLst>
            </p:cNvPr>
            <p:cNvSpPr/>
            <p:nvPr/>
          </p:nvSpPr>
          <p:spPr>
            <a:xfrm>
              <a:off x="437801" y="2378763"/>
              <a:ext cx="3312756" cy="2317912"/>
            </a:xfrm>
            <a:prstGeom prst="roundRect">
              <a:avLst>
                <a:gd name="adj" fmla="val 1496"/>
              </a:avLst>
            </a:prstGeom>
            <a:solidFill>
              <a:schemeClr val="bg1"/>
            </a:solidFill>
            <a:ln w="1270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a:ea typeface="Arial"/>
                <a:cs typeface="Arial" panose="020B0604020202020204" pitchFamily="34" charset="0"/>
                <a:sym typeface="Arial"/>
              </a:endParaRPr>
            </a:p>
          </p:txBody>
        </p:sp>
        <p:grpSp>
          <p:nvGrpSpPr>
            <p:cNvPr id="91" name="Group 90">
              <a:extLst>
                <a:ext uri="{FF2B5EF4-FFF2-40B4-BE49-F238E27FC236}">
                  <a16:creationId xmlns:a16="http://schemas.microsoft.com/office/drawing/2014/main" id="{E42C24E2-E717-999A-831E-C766BA7DFC0F}"/>
                </a:ext>
              </a:extLst>
            </p:cNvPr>
            <p:cNvGrpSpPr/>
            <p:nvPr/>
          </p:nvGrpSpPr>
          <p:grpSpPr>
            <a:xfrm>
              <a:off x="686064" y="1937123"/>
              <a:ext cx="2630190" cy="1551245"/>
              <a:chOff x="686064" y="1937123"/>
              <a:chExt cx="2630190" cy="1551245"/>
            </a:xfrm>
          </p:grpSpPr>
          <p:sp>
            <p:nvSpPr>
              <p:cNvPr id="92" name="Rectangle 91">
                <a:extLst>
                  <a:ext uri="{FF2B5EF4-FFF2-40B4-BE49-F238E27FC236}">
                    <a16:creationId xmlns:a16="http://schemas.microsoft.com/office/drawing/2014/main" id="{3AF9DEF6-D722-D5E0-2E4C-250BBCE91201}"/>
                  </a:ext>
                </a:extLst>
              </p:cNvPr>
              <p:cNvSpPr/>
              <p:nvPr/>
            </p:nvSpPr>
            <p:spPr>
              <a:xfrm rot="10800000" flipV="1">
                <a:off x="686064" y="2137245"/>
                <a:ext cx="1262109" cy="1351123"/>
              </a:xfrm>
              <a:prstGeom prst="rect">
                <a:avLst/>
              </a:prstGeom>
              <a:solidFill>
                <a:schemeClr val="bg1"/>
              </a:solidFill>
              <a:ln w="19050" cap="flat" cmpd="sng" algn="ctr">
                <a:solidFill>
                  <a:schemeClr val="accent3"/>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VPC 1</a:t>
                </a:r>
              </a:p>
            </p:txBody>
          </p:sp>
          <p:sp>
            <p:nvSpPr>
              <p:cNvPr id="93" name="Rectangle: Rounded Corners 2399">
                <a:extLst>
                  <a:ext uri="{FF2B5EF4-FFF2-40B4-BE49-F238E27FC236}">
                    <a16:creationId xmlns:a16="http://schemas.microsoft.com/office/drawing/2014/main" id="{6DECCF53-DD6F-9A77-415D-502ECE566B30}"/>
                  </a:ext>
                </a:extLst>
              </p:cNvPr>
              <p:cNvSpPr/>
              <p:nvPr/>
            </p:nvSpPr>
            <p:spPr>
              <a:xfrm>
                <a:off x="811426" y="1937123"/>
                <a:ext cx="1011387" cy="399990"/>
              </a:xfrm>
              <a:prstGeom prst="roundRect">
                <a:avLst>
                  <a:gd name="adj" fmla="val 50000"/>
                </a:avLst>
              </a:prstGeom>
              <a:gradFill flip="none" rotWithShape="1">
                <a:gsLst>
                  <a:gs pos="8000">
                    <a:schemeClr val="accent2"/>
                  </a:gs>
                  <a:gs pos="90000">
                    <a:schemeClr val="accent3"/>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Subnet</a:t>
                </a:r>
              </a:p>
            </p:txBody>
          </p:sp>
          <p:sp>
            <p:nvSpPr>
              <p:cNvPr id="94" name="Rectangle 93">
                <a:extLst>
                  <a:ext uri="{FF2B5EF4-FFF2-40B4-BE49-F238E27FC236}">
                    <a16:creationId xmlns:a16="http://schemas.microsoft.com/office/drawing/2014/main" id="{52CDCC0D-9A30-20FD-7A00-34D807824134}"/>
                  </a:ext>
                </a:extLst>
              </p:cNvPr>
              <p:cNvSpPr/>
              <p:nvPr/>
            </p:nvSpPr>
            <p:spPr>
              <a:xfrm rot="10800000" flipV="1">
                <a:off x="2054145" y="2137245"/>
                <a:ext cx="1262109" cy="1351123"/>
              </a:xfrm>
              <a:prstGeom prst="rect">
                <a:avLst/>
              </a:prstGeom>
              <a:solidFill>
                <a:schemeClr val="bg1"/>
              </a:solidFill>
              <a:ln w="19050" cap="flat" cmpd="sng" algn="ctr">
                <a:solidFill>
                  <a:schemeClr val="accent3"/>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VPC 2</a:t>
                </a:r>
              </a:p>
            </p:txBody>
          </p:sp>
          <p:sp>
            <p:nvSpPr>
              <p:cNvPr id="95" name="Rectangle: Rounded Corners 2399">
                <a:extLst>
                  <a:ext uri="{FF2B5EF4-FFF2-40B4-BE49-F238E27FC236}">
                    <a16:creationId xmlns:a16="http://schemas.microsoft.com/office/drawing/2014/main" id="{7EFE2CA3-7E9F-5584-C345-D13C7E15F542}"/>
                  </a:ext>
                </a:extLst>
              </p:cNvPr>
              <p:cNvSpPr/>
              <p:nvPr/>
            </p:nvSpPr>
            <p:spPr>
              <a:xfrm>
                <a:off x="2179507" y="1937123"/>
                <a:ext cx="1011387" cy="399990"/>
              </a:xfrm>
              <a:prstGeom prst="roundRect">
                <a:avLst>
                  <a:gd name="adj" fmla="val 50000"/>
                </a:avLst>
              </a:prstGeom>
              <a:gradFill flip="none" rotWithShape="1">
                <a:gsLst>
                  <a:gs pos="8000">
                    <a:schemeClr val="accent2"/>
                  </a:gs>
                  <a:gs pos="90000">
                    <a:schemeClr val="accent3"/>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Subnet</a:t>
                </a:r>
                <a:endParaRPr kumimoji="0" lang="en-US" sz="1200" b="1" i="0" u="none" strike="noStrike" kern="0" cap="all"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grpSp>
      </p:grpSp>
      <p:grpSp>
        <p:nvGrpSpPr>
          <p:cNvPr id="97" name="Group 96">
            <a:extLst>
              <a:ext uri="{FF2B5EF4-FFF2-40B4-BE49-F238E27FC236}">
                <a16:creationId xmlns:a16="http://schemas.microsoft.com/office/drawing/2014/main" id="{4C40222D-EBE4-CFF1-664A-1001B2C999A4}"/>
              </a:ext>
            </a:extLst>
          </p:cNvPr>
          <p:cNvGrpSpPr/>
          <p:nvPr/>
        </p:nvGrpSpPr>
        <p:grpSpPr>
          <a:xfrm>
            <a:off x="3116566" y="3180289"/>
            <a:ext cx="2256221" cy="1973275"/>
            <a:chOff x="264745" y="1937123"/>
            <a:chExt cx="3155243" cy="2759552"/>
          </a:xfrm>
        </p:grpSpPr>
        <p:sp>
          <p:nvSpPr>
            <p:cNvPr id="187" name="Google Shape;2848;p22">
              <a:extLst>
                <a:ext uri="{FF2B5EF4-FFF2-40B4-BE49-F238E27FC236}">
                  <a16:creationId xmlns:a16="http://schemas.microsoft.com/office/drawing/2014/main" id="{0FD88233-A52F-4EDC-06D2-631378BA050C}"/>
                </a:ext>
              </a:extLst>
            </p:cNvPr>
            <p:cNvSpPr/>
            <p:nvPr/>
          </p:nvSpPr>
          <p:spPr>
            <a:xfrm>
              <a:off x="264745" y="2378763"/>
              <a:ext cx="3155243" cy="2317912"/>
            </a:xfrm>
            <a:prstGeom prst="roundRect">
              <a:avLst>
                <a:gd name="adj" fmla="val 1496"/>
              </a:avLst>
            </a:prstGeom>
            <a:solidFill>
              <a:schemeClr val="bg1"/>
            </a:solidFill>
            <a:ln w="1270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a:ea typeface="Arial"/>
                <a:cs typeface="Arial" panose="020B0604020202020204" pitchFamily="34" charset="0"/>
                <a:sym typeface="Arial"/>
              </a:endParaRPr>
            </a:p>
          </p:txBody>
        </p:sp>
        <p:grpSp>
          <p:nvGrpSpPr>
            <p:cNvPr id="188" name="Group 187">
              <a:extLst>
                <a:ext uri="{FF2B5EF4-FFF2-40B4-BE49-F238E27FC236}">
                  <a16:creationId xmlns:a16="http://schemas.microsoft.com/office/drawing/2014/main" id="{F0C25409-948B-1E27-5563-4136E59FBE47}"/>
                </a:ext>
              </a:extLst>
            </p:cNvPr>
            <p:cNvGrpSpPr/>
            <p:nvPr/>
          </p:nvGrpSpPr>
          <p:grpSpPr>
            <a:xfrm>
              <a:off x="2054145" y="1937123"/>
              <a:ext cx="1262109" cy="1551245"/>
              <a:chOff x="2054145" y="1937123"/>
              <a:chExt cx="1262109" cy="1551245"/>
            </a:xfrm>
          </p:grpSpPr>
          <p:sp>
            <p:nvSpPr>
              <p:cNvPr id="189" name="Rectangle 188">
                <a:extLst>
                  <a:ext uri="{FF2B5EF4-FFF2-40B4-BE49-F238E27FC236}">
                    <a16:creationId xmlns:a16="http://schemas.microsoft.com/office/drawing/2014/main" id="{AE08F826-D080-1048-6509-6F2B31E778FE}"/>
                  </a:ext>
                </a:extLst>
              </p:cNvPr>
              <p:cNvSpPr/>
              <p:nvPr/>
            </p:nvSpPr>
            <p:spPr>
              <a:xfrm rot="10800000" flipV="1">
                <a:off x="2054145" y="2137245"/>
                <a:ext cx="1262109" cy="1351123"/>
              </a:xfrm>
              <a:prstGeom prst="rect">
                <a:avLst/>
              </a:prstGeom>
              <a:solidFill>
                <a:schemeClr val="bg1"/>
              </a:solidFill>
              <a:ln w="19050" cap="flat" cmpd="sng" algn="ctr">
                <a:solidFill>
                  <a:schemeClr val="accent1"/>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7B8C"/>
                    </a:solidFill>
                    <a:effectLst/>
                    <a:uLnTx/>
                    <a:uFillTx/>
                    <a:latin typeface="Arial" panose="020B0604020202020204"/>
                    <a:ea typeface="+mn-ea"/>
                    <a:cs typeface="Arial" panose="020B0604020202020204" pitchFamily="34" charset="0"/>
                  </a:rPr>
                  <a:t>VPC 3</a:t>
                </a:r>
              </a:p>
            </p:txBody>
          </p:sp>
          <p:sp>
            <p:nvSpPr>
              <p:cNvPr id="190" name="Rectangle: Rounded Corners 2399">
                <a:extLst>
                  <a:ext uri="{FF2B5EF4-FFF2-40B4-BE49-F238E27FC236}">
                    <a16:creationId xmlns:a16="http://schemas.microsoft.com/office/drawing/2014/main" id="{4201606C-214D-D8EA-C4B0-773810FA4322}"/>
                  </a:ext>
                </a:extLst>
              </p:cNvPr>
              <p:cNvSpPr/>
              <p:nvPr/>
            </p:nvSpPr>
            <p:spPr>
              <a:xfrm>
                <a:off x="2179507" y="1937123"/>
                <a:ext cx="1011387" cy="399990"/>
              </a:xfrm>
              <a:prstGeom prst="roundRect">
                <a:avLst>
                  <a:gd name="adj" fmla="val 50000"/>
                </a:avLst>
              </a:prstGeom>
              <a:gradFill flip="none" rotWithShape="1">
                <a:gsLst>
                  <a:gs pos="0">
                    <a:schemeClr val="accent1">
                      <a:lumMod val="50000"/>
                    </a:schemeClr>
                  </a:gs>
                  <a:gs pos="70000">
                    <a:schemeClr val="accent1"/>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Subnet</a:t>
                </a:r>
                <a:endParaRPr kumimoji="0" lang="en-US" sz="1200" b="1" i="0" u="none" strike="noStrike" kern="0" cap="all"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grpSp>
      </p:grpSp>
      <p:grpSp>
        <p:nvGrpSpPr>
          <p:cNvPr id="192" name="Group 191">
            <a:extLst>
              <a:ext uri="{FF2B5EF4-FFF2-40B4-BE49-F238E27FC236}">
                <a16:creationId xmlns:a16="http://schemas.microsoft.com/office/drawing/2014/main" id="{5ADCA023-4712-06E6-1A2D-EA564726BD2D}"/>
              </a:ext>
            </a:extLst>
          </p:cNvPr>
          <p:cNvGrpSpPr/>
          <p:nvPr/>
        </p:nvGrpSpPr>
        <p:grpSpPr>
          <a:xfrm flipH="1">
            <a:off x="7246639" y="4561302"/>
            <a:ext cx="657466" cy="539981"/>
            <a:chOff x="3511165" y="2354134"/>
            <a:chExt cx="1018301" cy="505822"/>
          </a:xfrm>
        </p:grpSpPr>
        <p:sp>
          <p:nvSpPr>
            <p:cNvPr id="193" name="Rectangle 192">
              <a:extLst>
                <a:ext uri="{FF2B5EF4-FFF2-40B4-BE49-F238E27FC236}">
                  <a16:creationId xmlns:a16="http://schemas.microsoft.com/office/drawing/2014/main" id="{58CFED82-FAAA-BA29-5FCA-FF4A05E88C15}"/>
                </a:ext>
              </a:extLst>
            </p:cNvPr>
            <p:cNvSpPr/>
            <p:nvPr/>
          </p:nvSpPr>
          <p:spPr>
            <a:xfrm rot="10800000" flipV="1">
              <a:off x="3579200" y="2364232"/>
              <a:ext cx="902497" cy="399478"/>
            </a:xfrm>
            <a:prstGeom prst="rect">
              <a:avLst/>
            </a:prstGeom>
            <a:solidFill>
              <a:schemeClr val="bg1"/>
            </a:solidFill>
            <a:ln w="19050" cap="flat" cmpd="sng" algn="ctr">
              <a:solidFill>
                <a:schemeClr val="accent5"/>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94" name="Rectangle 193">
              <a:extLst>
                <a:ext uri="{FF2B5EF4-FFF2-40B4-BE49-F238E27FC236}">
                  <a16:creationId xmlns:a16="http://schemas.microsoft.com/office/drawing/2014/main" id="{B4C44BE1-01D0-B107-10D7-810AF0A62644}"/>
                </a:ext>
              </a:extLst>
            </p:cNvPr>
            <p:cNvSpPr/>
            <p:nvPr/>
          </p:nvSpPr>
          <p:spPr>
            <a:xfrm rot="16200000" flipV="1">
              <a:off x="3697857" y="2214253"/>
              <a:ext cx="505822" cy="785584"/>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95" name="Rectangle 194">
              <a:extLst>
                <a:ext uri="{FF2B5EF4-FFF2-40B4-BE49-F238E27FC236}">
                  <a16:creationId xmlns:a16="http://schemas.microsoft.com/office/drawing/2014/main" id="{C2586B9D-9EFC-3496-EFEE-B55C851D9C7F}"/>
                </a:ext>
              </a:extLst>
            </p:cNvPr>
            <p:cNvSpPr/>
            <p:nvPr/>
          </p:nvSpPr>
          <p:spPr>
            <a:xfrm rot="10800000" flipV="1">
              <a:off x="3511165" y="2405473"/>
              <a:ext cx="1018301" cy="399477"/>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sp>
        <p:nvSpPr>
          <p:cNvPr id="198" name="Rectangle: Rounded Corners 2399">
            <a:extLst>
              <a:ext uri="{FF2B5EF4-FFF2-40B4-BE49-F238E27FC236}">
                <a16:creationId xmlns:a16="http://schemas.microsoft.com/office/drawing/2014/main" id="{502C5F96-6E03-FEE7-19F5-C5F83BF98D84}"/>
              </a:ext>
            </a:extLst>
          </p:cNvPr>
          <p:cNvSpPr/>
          <p:nvPr/>
        </p:nvSpPr>
        <p:spPr>
          <a:xfrm>
            <a:off x="7341315" y="4642734"/>
            <a:ext cx="657466"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NSX Network</a:t>
            </a:r>
          </a:p>
        </p:txBody>
      </p:sp>
      <p:cxnSp>
        <p:nvCxnSpPr>
          <p:cNvPr id="199" name="Straight Connector 198">
            <a:extLst>
              <a:ext uri="{FF2B5EF4-FFF2-40B4-BE49-F238E27FC236}">
                <a16:creationId xmlns:a16="http://schemas.microsoft.com/office/drawing/2014/main" id="{B6234170-4E92-72B9-1D2A-9792CBCA0A3B}"/>
              </a:ext>
            </a:extLst>
          </p:cNvPr>
          <p:cNvCxnSpPr/>
          <p:nvPr/>
        </p:nvCxnSpPr>
        <p:spPr bwMode="gray">
          <a:xfrm>
            <a:off x="7536683" y="4468804"/>
            <a:ext cx="0" cy="97309"/>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1" name="Rectangle: Rounded Corners 2399">
            <a:extLst>
              <a:ext uri="{FF2B5EF4-FFF2-40B4-BE49-F238E27FC236}">
                <a16:creationId xmlns:a16="http://schemas.microsoft.com/office/drawing/2014/main" id="{DB8877E3-297D-4BB6-8962-CB237950556B}"/>
              </a:ext>
            </a:extLst>
          </p:cNvPr>
          <p:cNvSpPr/>
          <p:nvPr/>
        </p:nvSpPr>
        <p:spPr>
          <a:xfrm>
            <a:off x="1288739" y="5664213"/>
            <a:ext cx="3801603" cy="19691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1" i="0" u="none" strike="noStrike" kern="0" cap="none" spc="0" normalizeH="0" baseline="0" noProof="0" dirty="0">
                <a:ln>
                  <a:noFill/>
                </a:ln>
                <a:solidFill>
                  <a:srgbClr val="005C8A"/>
                </a:solidFill>
                <a:effectLst/>
                <a:uLnTx/>
                <a:uFillTx/>
                <a:latin typeface="Arial" panose="020B0604020202020204"/>
                <a:ea typeface="+mn-ea"/>
                <a:cs typeface="Arial" panose="020B0604020202020204" pitchFamily="34" charset="0"/>
              </a:rPr>
              <a:t>VCF-Site B</a:t>
            </a:r>
          </a:p>
        </p:txBody>
      </p:sp>
      <p:sp>
        <p:nvSpPr>
          <p:cNvPr id="203" name="Rectangle 202">
            <a:extLst>
              <a:ext uri="{FF2B5EF4-FFF2-40B4-BE49-F238E27FC236}">
                <a16:creationId xmlns:a16="http://schemas.microsoft.com/office/drawing/2014/main" id="{41CA33DD-C496-E5C6-F645-327C4F2307A5}"/>
              </a:ext>
            </a:extLst>
          </p:cNvPr>
          <p:cNvSpPr/>
          <p:nvPr/>
        </p:nvSpPr>
        <p:spPr>
          <a:xfrm>
            <a:off x="871568" y="5950365"/>
            <a:ext cx="4635946" cy="14567"/>
          </a:xfrm>
          <a:prstGeom prst="rect">
            <a:avLst/>
          </a:prstGeom>
          <a:gradFill>
            <a:gsLst>
              <a:gs pos="0">
                <a:schemeClr val="accent3">
                  <a:alpha val="0"/>
                </a:schemeClr>
              </a:gs>
              <a:gs pos="39000">
                <a:schemeClr val="accent3"/>
              </a:gs>
              <a:gs pos="60000">
                <a:schemeClr val="accent3"/>
              </a:gs>
              <a:gs pos="100000">
                <a:schemeClr val="accent3">
                  <a:alpha val="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4" name="Rectangle 203">
            <a:extLst>
              <a:ext uri="{FF2B5EF4-FFF2-40B4-BE49-F238E27FC236}">
                <a16:creationId xmlns:a16="http://schemas.microsoft.com/office/drawing/2014/main" id="{B84958D2-ACF1-12F7-24A8-41A5BB664A2B}"/>
              </a:ext>
            </a:extLst>
          </p:cNvPr>
          <p:cNvSpPr/>
          <p:nvPr/>
        </p:nvSpPr>
        <p:spPr>
          <a:xfrm rot="5400000" flipV="1">
            <a:off x="5976629" y="4001876"/>
            <a:ext cx="228711" cy="426454"/>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05" name="Rectangle 204">
            <a:extLst>
              <a:ext uri="{FF2B5EF4-FFF2-40B4-BE49-F238E27FC236}">
                <a16:creationId xmlns:a16="http://schemas.microsoft.com/office/drawing/2014/main" id="{2379B568-3768-28A6-B71A-5CF3D5EB4D43}"/>
              </a:ext>
            </a:extLst>
          </p:cNvPr>
          <p:cNvSpPr/>
          <p:nvPr/>
        </p:nvSpPr>
        <p:spPr>
          <a:xfrm rot="5400000" flipV="1">
            <a:off x="5865939" y="4223258"/>
            <a:ext cx="228711" cy="426454"/>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06" name="Rectangle 205">
            <a:extLst>
              <a:ext uri="{FF2B5EF4-FFF2-40B4-BE49-F238E27FC236}">
                <a16:creationId xmlns:a16="http://schemas.microsoft.com/office/drawing/2014/main" id="{B264DD41-F5F0-8968-C915-6D7C8E9D200E}"/>
              </a:ext>
            </a:extLst>
          </p:cNvPr>
          <p:cNvSpPr/>
          <p:nvPr/>
        </p:nvSpPr>
        <p:spPr>
          <a:xfrm rot="16200000" flipV="1">
            <a:off x="5042665" y="2783726"/>
            <a:ext cx="319679" cy="426454"/>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nvGrpSpPr>
          <p:cNvPr id="207" name="Group 206">
            <a:extLst>
              <a:ext uri="{FF2B5EF4-FFF2-40B4-BE49-F238E27FC236}">
                <a16:creationId xmlns:a16="http://schemas.microsoft.com/office/drawing/2014/main" id="{7FEB060E-70CA-C6A1-F78B-569E8CE151CA}"/>
              </a:ext>
            </a:extLst>
          </p:cNvPr>
          <p:cNvGrpSpPr/>
          <p:nvPr/>
        </p:nvGrpSpPr>
        <p:grpSpPr>
          <a:xfrm>
            <a:off x="7264737" y="3898469"/>
            <a:ext cx="542117" cy="573911"/>
            <a:chOff x="6036855" y="2199341"/>
            <a:chExt cx="542117" cy="573911"/>
          </a:xfrm>
        </p:grpSpPr>
        <p:grpSp>
          <p:nvGrpSpPr>
            <p:cNvPr id="208" name="Group 207">
              <a:extLst>
                <a:ext uri="{FF2B5EF4-FFF2-40B4-BE49-F238E27FC236}">
                  <a16:creationId xmlns:a16="http://schemas.microsoft.com/office/drawing/2014/main" id="{738D5746-7BD8-B94C-3B9E-76DB81117889}"/>
                </a:ext>
              </a:extLst>
            </p:cNvPr>
            <p:cNvGrpSpPr/>
            <p:nvPr/>
          </p:nvGrpSpPr>
          <p:grpSpPr>
            <a:xfrm>
              <a:off x="6125753" y="2406901"/>
              <a:ext cx="366096" cy="366354"/>
              <a:chOff x="6048000" y="2396768"/>
              <a:chExt cx="402706" cy="402989"/>
            </a:xfrm>
          </p:grpSpPr>
          <p:sp>
            <p:nvSpPr>
              <p:cNvPr id="210" name="Rectangle 209">
                <a:extLst>
                  <a:ext uri="{FF2B5EF4-FFF2-40B4-BE49-F238E27FC236}">
                    <a16:creationId xmlns:a16="http://schemas.microsoft.com/office/drawing/2014/main" id="{0B2E22D3-F370-CCA5-0B2D-FCFF6D4CD92F}"/>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211" name="Group 210">
                <a:extLst>
                  <a:ext uri="{FF2B5EF4-FFF2-40B4-BE49-F238E27FC236}">
                    <a16:creationId xmlns:a16="http://schemas.microsoft.com/office/drawing/2014/main" id="{02B2BDC5-7D37-F25F-EF11-268364C1CCC2}"/>
                  </a:ext>
                </a:extLst>
              </p:cNvPr>
              <p:cNvGrpSpPr/>
              <p:nvPr/>
            </p:nvGrpSpPr>
            <p:grpSpPr>
              <a:xfrm>
                <a:off x="6048000" y="2396768"/>
                <a:ext cx="402706" cy="402989"/>
                <a:chOff x="611268" y="5235083"/>
                <a:chExt cx="682595" cy="683075"/>
              </a:xfrm>
              <a:solidFill>
                <a:schemeClr val="accent3"/>
              </a:solidFill>
            </p:grpSpPr>
            <p:sp>
              <p:nvSpPr>
                <p:cNvPr id="212" name="Freeform 211">
                  <a:extLst>
                    <a:ext uri="{FF2B5EF4-FFF2-40B4-BE49-F238E27FC236}">
                      <a16:creationId xmlns:a16="http://schemas.microsoft.com/office/drawing/2014/main" id="{BE7633CE-5B1D-CE19-AEA4-90B37360C50F}"/>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213" name="Freeform 212">
                  <a:extLst>
                    <a:ext uri="{FF2B5EF4-FFF2-40B4-BE49-F238E27FC236}">
                      <a16:creationId xmlns:a16="http://schemas.microsoft.com/office/drawing/2014/main" id="{79AB9A01-51FE-C297-25AE-99916C28E087}"/>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214" name="Freeform 213">
                  <a:extLst>
                    <a:ext uri="{FF2B5EF4-FFF2-40B4-BE49-F238E27FC236}">
                      <a16:creationId xmlns:a16="http://schemas.microsoft.com/office/drawing/2014/main" id="{81A84AA5-3775-9324-8CAA-64E8621C5D36}"/>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209" name="Rectangle 208">
              <a:extLst>
                <a:ext uri="{FF2B5EF4-FFF2-40B4-BE49-F238E27FC236}">
                  <a16:creationId xmlns:a16="http://schemas.microsoft.com/office/drawing/2014/main" id="{01842A13-C530-9D7B-FC4E-5F5B578400DA}"/>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VM1</a:t>
              </a:r>
            </a:p>
          </p:txBody>
        </p:sp>
      </p:grpSp>
      <p:cxnSp>
        <p:nvCxnSpPr>
          <p:cNvPr id="215" name="Straight Connector 214">
            <a:extLst>
              <a:ext uri="{FF2B5EF4-FFF2-40B4-BE49-F238E27FC236}">
                <a16:creationId xmlns:a16="http://schemas.microsoft.com/office/drawing/2014/main" id="{E21B7C7A-9388-3A56-B6C9-2D02D8E0D0A0}"/>
              </a:ext>
            </a:extLst>
          </p:cNvPr>
          <p:cNvCxnSpPr/>
          <p:nvPr/>
        </p:nvCxnSpPr>
        <p:spPr bwMode="gray">
          <a:xfrm>
            <a:off x="1299513" y="3100836"/>
            <a:ext cx="0" cy="80421"/>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335D6108-7430-7B2B-135C-BBA7C612E328}"/>
              </a:ext>
            </a:extLst>
          </p:cNvPr>
          <p:cNvCxnSpPr/>
          <p:nvPr/>
        </p:nvCxnSpPr>
        <p:spPr bwMode="gray">
          <a:xfrm>
            <a:off x="4846423" y="3100836"/>
            <a:ext cx="0" cy="80421"/>
          </a:xfrm>
          <a:prstGeom prst="line">
            <a:avLst/>
          </a:prstGeom>
          <a:ln w="15875">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217" name="Group 216">
            <a:extLst>
              <a:ext uri="{FF2B5EF4-FFF2-40B4-BE49-F238E27FC236}">
                <a16:creationId xmlns:a16="http://schemas.microsoft.com/office/drawing/2014/main" id="{6022792F-5708-7A2A-F143-4CB92375F340}"/>
              </a:ext>
            </a:extLst>
          </p:cNvPr>
          <p:cNvGrpSpPr/>
          <p:nvPr/>
        </p:nvGrpSpPr>
        <p:grpSpPr>
          <a:xfrm>
            <a:off x="4078686" y="4822951"/>
            <a:ext cx="612773" cy="640958"/>
            <a:chOff x="3624840" y="4415372"/>
            <a:chExt cx="506424" cy="529717"/>
          </a:xfrm>
        </p:grpSpPr>
        <p:sp>
          <p:nvSpPr>
            <p:cNvPr id="218" name="Rectangle 217">
              <a:extLst>
                <a:ext uri="{FF2B5EF4-FFF2-40B4-BE49-F238E27FC236}">
                  <a16:creationId xmlns:a16="http://schemas.microsoft.com/office/drawing/2014/main" id="{576E90E1-0664-4ABF-CFA7-546805A2865E}"/>
                </a:ext>
              </a:extLst>
            </p:cNvPr>
            <p:cNvSpPr/>
            <p:nvPr/>
          </p:nvSpPr>
          <p:spPr>
            <a:xfrm rot="10800000" flipV="1">
              <a:off x="3624840" y="4415372"/>
              <a:ext cx="506424" cy="529717"/>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pic>
          <p:nvPicPr>
            <p:cNvPr id="219" name="Graphic 218">
              <a:extLst>
                <a:ext uri="{FF2B5EF4-FFF2-40B4-BE49-F238E27FC236}">
                  <a16:creationId xmlns:a16="http://schemas.microsoft.com/office/drawing/2014/main" id="{70352B2B-9BE9-B5D9-1A02-F4D032B2AC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39647" y="4441826"/>
              <a:ext cx="476808" cy="476810"/>
            </a:xfrm>
            <a:prstGeom prst="rect">
              <a:avLst/>
            </a:prstGeom>
          </p:spPr>
        </p:pic>
      </p:grpSp>
      <p:grpSp>
        <p:nvGrpSpPr>
          <p:cNvPr id="220" name="Group 219">
            <a:extLst>
              <a:ext uri="{FF2B5EF4-FFF2-40B4-BE49-F238E27FC236}">
                <a16:creationId xmlns:a16="http://schemas.microsoft.com/office/drawing/2014/main" id="{895472F7-AAA3-BAC9-04E6-D9C46825E3ED}"/>
              </a:ext>
            </a:extLst>
          </p:cNvPr>
          <p:cNvGrpSpPr/>
          <p:nvPr/>
        </p:nvGrpSpPr>
        <p:grpSpPr>
          <a:xfrm>
            <a:off x="2770500" y="4822952"/>
            <a:ext cx="612773" cy="640958"/>
            <a:chOff x="2032082" y="4415373"/>
            <a:chExt cx="506424" cy="529717"/>
          </a:xfrm>
        </p:grpSpPr>
        <p:sp>
          <p:nvSpPr>
            <p:cNvPr id="221" name="Rectangle 220">
              <a:extLst>
                <a:ext uri="{FF2B5EF4-FFF2-40B4-BE49-F238E27FC236}">
                  <a16:creationId xmlns:a16="http://schemas.microsoft.com/office/drawing/2014/main" id="{FB2659F0-6A57-5B68-F47E-6D0033920820}"/>
                </a:ext>
              </a:extLst>
            </p:cNvPr>
            <p:cNvSpPr/>
            <p:nvPr/>
          </p:nvSpPr>
          <p:spPr>
            <a:xfrm rot="10800000" flipV="1">
              <a:off x="2032082" y="4415373"/>
              <a:ext cx="506424" cy="529717"/>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pic>
          <p:nvPicPr>
            <p:cNvPr id="222" name="Graphic 221">
              <a:extLst>
                <a:ext uri="{FF2B5EF4-FFF2-40B4-BE49-F238E27FC236}">
                  <a16:creationId xmlns:a16="http://schemas.microsoft.com/office/drawing/2014/main" id="{65FA9969-C28D-4A78-EAD4-B2E4B34D58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46889" y="4441827"/>
              <a:ext cx="476808" cy="476810"/>
            </a:xfrm>
            <a:prstGeom prst="rect">
              <a:avLst/>
            </a:prstGeom>
          </p:spPr>
        </p:pic>
      </p:grpSp>
      <p:grpSp>
        <p:nvGrpSpPr>
          <p:cNvPr id="223" name="Group 222">
            <a:extLst>
              <a:ext uri="{FF2B5EF4-FFF2-40B4-BE49-F238E27FC236}">
                <a16:creationId xmlns:a16="http://schemas.microsoft.com/office/drawing/2014/main" id="{F934CC65-1C39-496B-C7FB-B1EE2117BEF6}"/>
              </a:ext>
            </a:extLst>
          </p:cNvPr>
          <p:cNvGrpSpPr/>
          <p:nvPr/>
        </p:nvGrpSpPr>
        <p:grpSpPr>
          <a:xfrm>
            <a:off x="1507655" y="4822951"/>
            <a:ext cx="612773" cy="640958"/>
            <a:chOff x="1053808" y="4415373"/>
            <a:chExt cx="506424" cy="529717"/>
          </a:xfrm>
        </p:grpSpPr>
        <p:sp>
          <p:nvSpPr>
            <p:cNvPr id="224" name="Rectangle 223">
              <a:extLst>
                <a:ext uri="{FF2B5EF4-FFF2-40B4-BE49-F238E27FC236}">
                  <a16:creationId xmlns:a16="http://schemas.microsoft.com/office/drawing/2014/main" id="{54EE228D-5732-0C24-CB15-A8FAAD1868A6}"/>
                </a:ext>
              </a:extLst>
            </p:cNvPr>
            <p:cNvSpPr/>
            <p:nvPr/>
          </p:nvSpPr>
          <p:spPr>
            <a:xfrm rot="10800000" flipV="1">
              <a:off x="1053808" y="4415373"/>
              <a:ext cx="506424" cy="529717"/>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pic>
          <p:nvPicPr>
            <p:cNvPr id="225" name="Graphic 224">
              <a:extLst>
                <a:ext uri="{FF2B5EF4-FFF2-40B4-BE49-F238E27FC236}">
                  <a16:creationId xmlns:a16="http://schemas.microsoft.com/office/drawing/2014/main" id="{B76ED6EC-644F-089F-F92D-1349733C77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8615" y="4441827"/>
              <a:ext cx="476808" cy="476810"/>
            </a:xfrm>
            <a:prstGeom prst="rect">
              <a:avLst/>
            </a:prstGeom>
          </p:spPr>
        </p:pic>
      </p:grpSp>
      <p:sp>
        <p:nvSpPr>
          <p:cNvPr id="226" name="Rectangle 225">
            <a:extLst>
              <a:ext uri="{FF2B5EF4-FFF2-40B4-BE49-F238E27FC236}">
                <a16:creationId xmlns:a16="http://schemas.microsoft.com/office/drawing/2014/main" id="{2522341D-361D-1D33-584F-4EA239480B3A}"/>
              </a:ext>
            </a:extLst>
          </p:cNvPr>
          <p:cNvSpPr/>
          <p:nvPr/>
        </p:nvSpPr>
        <p:spPr bwMode="gray">
          <a:xfrm>
            <a:off x="1481620" y="5035747"/>
            <a:ext cx="3228150" cy="214893"/>
          </a:xfrm>
          <a:prstGeom prst="rect">
            <a:avLst/>
          </a:prstGeom>
          <a:solidFill>
            <a:schemeClr val="bg1">
              <a:alpha val="92363"/>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Supervisor Cluster</a:t>
            </a:r>
          </a:p>
        </p:txBody>
      </p:sp>
      <p:sp>
        <p:nvSpPr>
          <p:cNvPr id="230" name="Rectangle: Rounded Corners 2399">
            <a:extLst>
              <a:ext uri="{FF2B5EF4-FFF2-40B4-BE49-F238E27FC236}">
                <a16:creationId xmlns:a16="http://schemas.microsoft.com/office/drawing/2014/main" id="{D3A8D431-BD3F-3A25-0E27-0AB43F0DE064}"/>
              </a:ext>
            </a:extLst>
          </p:cNvPr>
          <p:cNvSpPr/>
          <p:nvPr/>
        </p:nvSpPr>
        <p:spPr>
          <a:xfrm>
            <a:off x="883136" y="4618040"/>
            <a:ext cx="1875828"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all" spc="0" normalizeH="0" baseline="0" noProof="0" dirty="0">
                <a:ln>
                  <a:noFill/>
                </a:ln>
                <a:solidFill>
                  <a:srgbClr val="000000"/>
                </a:solidFill>
                <a:effectLst/>
                <a:uLnTx/>
                <a:uFillTx/>
                <a:latin typeface="Arial" panose="020B0604020202020204"/>
                <a:ea typeface="+mn-ea"/>
                <a:cs typeface="Arial" panose="020B0604020202020204" pitchFamily="34" charset="0"/>
              </a:rPr>
              <a:t>WORKLOAD DOMAIN 1</a:t>
            </a:r>
          </a:p>
        </p:txBody>
      </p:sp>
      <p:sp>
        <p:nvSpPr>
          <p:cNvPr id="231" name="Rectangle: Rounded Corners 2399">
            <a:extLst>
              <a:ext uri="{FF2B5EF4-FFF2-40B4-BE49-F238E27FC236}">
                <a16:creationId xmlns:a16="http://schemas.microsoft.com/office/drawing/2014/main" id="{7AC59970-1666-4003-6F6B-42001EFAF162}"/>
              </a:ext>
            </a:extLst>
          </p:cNvPr>
          <p:cNvSpPr/>
          <p:nvPr/>
        </p:nvSpPr>
        <p:spPr>
          <a:xfrm>
            <a:off x="3539433" y="4618039"/>
            <a:ext cx="1705298"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all" spc="0" normalizeH="0" baseline="0" noProof="0" dirty="0">
                <a:ln>
                  <a:noFill/>
                </a:ln>
                <a:solidFill>
                  <a:srgbClr val="000000"/>
                </a:solidFill>
                <a:effectLst/>
                <a:uLnTx/>
                <a:uFillTx/>
                <a:latin typeface="Arial" panose="020B0604020202020204"/>
                <a:ea typeface="+mn-ea"/>
                <a:cs typeface="Arial" panose="020B0604020202020204" pitchFamily="34" charset="0"/>
              </a:rPr>
              <a:t>WORKLOAD DOMAIN 2</a:t>
            </a:r>
          </a:p>
        </p:txBody>
      </p:sp>
      <p:grpSp>
        <p:nvGrpSpPr>
          <p:cNvPr id="232" name="Group 231">
            <a:extLst>
              <a:ext uri="{FF2B5EF4-FFF2-40B4-BE49-F238E27FC236}">
                <a16:creationId xmlns:a16="http://schemas.microsoft.com/office/drawing/2014/main" id="{AEDF308E-375A-ADF7-19F2-D3211A5DDEB2}"/>
              </a:ext>
            </a:extLst>
          </p:cNvPr>
          <p:cNvGrpSpPr/>
          <p:nvPr/>
        </p:nvGrpSpPr>
        <p:grpSpPr>
          <a:xfrm>
            <a:off x="5492819" y="4561301"/>
            <a:ext cx="1469386" cy="539980"/>
            <a:chOff x="2941177" y="2354132"/>
            <a:chExt cx="1588289" cy="505821"/>
          </a:xfrm>
        </p:grpSpPr>
        <p:sp>
          <p:nvSpPr>
            <p:cNvPr id="233" name="Rectangle 232">
              <a:extLst>
                <a:ext uri="{FF2B5EF4-FFF2-40B4-BE49-F238E27FC236}">
                  <a16:creationId xmlns:a16="http://schemas.microsoft.com/office/drawing/2014/main" id="{0A1B8278-76D5-9877-8E2F-B1A95145C424}"/>
                </a:ext>
              </a:extLst>
            </p:cNvPr>
            <p:cNvSpPr/>
            <p:nvPr/>
          </p:nvSpPr>
          <p:spPr>
            <a:xfrm rot="10800000" flipV="1">
              <a:off x="3018446" y="2364232"/>
              <a:ext cx="1463251" cy="399478"/>
            </a:xfrm>
            <a:prstGeom prst="rect">
              <a:avLst/>
            </a:prstGeom>
            <a:solidFill>
              <a:schemeClr val="bg1"/>
            </a:solidFill>
            <a:ln w="19050" cap="flat" cmpd="sng" algn="ctr">
              <a:solidFill>
                <a:schemeClr val="accent5"/>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34" name="Rectangle 233">
              <a:extLst>
                <a:ext uri="{FF2B5EF4-FFF2-40B4-BE49-F238E27FC236}">
                  <a16:creationId xmlns:a16="http://schemas.microsoft.com/office/drawing/2014/main" id="{3DBCD0E9-2BB3-B9C2-3D8E-3127C5BA65AF}"/>
                </a:ext>
              </a:extLst>
            </p:cNvPr>
            <p:cNvSpPr/>
            <p:nvPr/>
          </p:nvSpPr>
          <p:spPr>
            <a:xfrm rot="16200000" flipV="1">
              <a:off x="3389457" y="1905852"/>
              <a:ext cx="505821" cy="1402382"/>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35" name="Rectangle 234">
              <a:extLst>
                <a:ext uri="{FF2B5EF4-FFF2-40B4-BE49-F238E27FC236}">
                  <a16:creationId xmlns:a16="http://schemas.microsoft.com/office/drawing/2014/main" id="{B9D4D2EA-1E31-39AF-8178-913BD1873FEA}"/>
                </a:ext>
              </a:extLst>
            </p:cNvPr>
            <p:cNvSpPr/>
            <p:nvPr/>
          </p:nvSpPr>
          <p:spPr>
            <a:xfrm rot="10800000" flipV="1">
              <a:off x="3133659" y="2405473"/>
              <a:ext cx="1395807" cy="399477"/>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grpSp>
        <p:nvGrpSpPr>
          <p:cNvPr id="236" name="Group 235">
            <a:extLst>
              <a:ext uri="{FF2B5EF4-FFF2-40B4-BE49-F238E27FC236}">
                <a16:creationId xmlns:a16="http://schemas.microsoft.com/office/drawing/2014/main" id="{BB64B1F8-037A-20CD-5548-56EEA0A73E37}"/>
              </a:ext>
            </a:extLst>
          </p:cNvPr>
          <p:cNvGrpSpPr/>
          <p:nvPr/>
        </p:nvGrpSpPr>
        <p:grpSpPr>
          <a:xfrm>
            <a:off x="6122897" y="3898469"/>
            <a:ext cx="542117" cy="573911"/>
            <a:chOff x="6036855" y="2199341"/>
            <a:chExt cx="542117" cy="573911"/>
          </a:xfrm>
        </p:grpSpPr>
        <p:grpSp>
          <p:nvGrpSpPr>
            <p:cNvPr id="237" name="Group 236">
              <a:extLst>
                <a:ext uri="{FF2B5EF4-FFF2-40B4-BE49-F238E27FC236}">
                  <a16:creationId xmlns:a16="http://schemas.microsoft.com/office/drawing/2014/main" id="{B3A520B6-A3A9-9EE3-F30E-746D36736A38}"/>
                </a:ext>
              </a:extLst>
            </p:cNvPr>
            <p:cNvGrpSpPr/>
            <p:nvPr/>
          </p:nvGrpSpPr>
          <p:grpSpPr>
            <a:xfrm>
              <a:off x="6125753" y="2406901"/>
              <a:ext cx="366096" cy="366354"/>
              <a:chOff x="6048000" y="2396768"/>
              <a:chExt cx="402706" cy="402989"/>
            </a:xfrm>
          </p:grpSpPr>
          <p:sp>
            <p:nvSpPr>
              <p:cNvPr id="239" name="Rectangle 238">
                <a:extLst>
                  <a:ext uri="{FF2B5EF4-FFF2-40B4-BE49-F238E27FC236}">
                    <a16:creationId xmlns:a16="http://schemas.microsoft.com/office/drawing/2014/main" id="{68C45EF2-2DD5-0E9C-40E2-66D828E6F399}"/>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240" name="Group 239">
                <a:extLst>
                  <a:ext uri="{FF2B5EF4-FFF2-40B4-BE49-F238E27FC236}">
                    <a16:creationId xmlns:a16="http://schemas.microsoft.com/office/drawing/2014/main" id="{C67124C9-DBD8-4A40-EF41-3BF6CF4EF488}"/>
                  </a:ext>
                </a:extLst>
              </p:cNvPr>
              <p:cNvGrpSpPr/>
              <p:nvPr/>
            </p:nvGrpSpPr>
            <p:grpSpPr>
              <a:xfrm>
                <a:off x="6048000" y="2396768"/>
                <a:ext cx="402706" cy="402989"/>
                <a:chOff x="611268" y="5235083"/>
                <a:chExt cx="682595" cy="683075"/>
              </a:xfrm>
              <a:solidFill>
                <a:schemeClr val="accent3"/>
              </a:solidFill>
            </p:grpSpPr>
            <p:sp>
              <p:nvSpPr>
                <p:cNvPr id="241" name="Freeform 240">
                  <a:extLst>
                    <a:ext uri="{FF2B5EF4-FFF2-40B4-BE49-F238E27FC236}">
                      <a16:creationId xmlns:a16="http://schemas.microsoft.com/office/drawing/2014/main" id="{693FC236-C0FB-A1A3-9016-9928D278794B}"/>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solidFill>
                  <a:schemeClr val="accent5"/>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242" name="Freeform 241">
                  <a:extLst>
                    <a:ext uri="{FF2B5EF4-FFF2-40B4-BE49-F238E27FC236}">
                      <a16:creationId xmlns:a16="http://schemas.microsoft.com/office/drawing/2014/main" id="{0542376E-D7BA-D45D-5570-74246DE82D94}"/>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solidFill>
                  <a:schemeClr val="accent5"/>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243" name="Freeform 242">
                  <a:extLst>
                    <a:ext uri="{FF2B5EF4-FFF2-40B4-BE49-F238E27FC236}">
                      <a16:creationId xmlns:a16="http://schemas.microsoft.com/office/drawing/2014/main" id="{7AB5E6C9-9FDF-6E3F-B7E1-8169E427119B}"/>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solidFill>
                  <a:schemeClr val="accent5"/>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238" name="Rectangle 237">
              <a:extLst>
                <a:ext uri="{FF2B5EF4-FFF2-40B4-BE49-F238E27FC236}">
                  <a16:creationId xmlns:a16="http://schemas.microsoft.com/office/drawing/2014/main" id="{DEB4747B-78BA-7871-473A-D905B98B766D}"/>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6C4B94"/>
                  </a:solidFill>
                  <a:effectLst/>
                  <a:uLnTx/>
                  <a:uFillTx/>
                  <a:latin typeface="Arial" panose="020B0604020202020204"/>
                  <a:ea typeface="+mn-ea"/>
                  <a:cs typeface="Arial" panose="020B0604020202020204" pitchFamily="34" charset="0"/>
                </a:rPr>
                <a:t>VM2</a:t>
              </a:r>
            </a:p>
          </p:txBody>
        </p:sp>
      </p:grpSp>
      <p:sp>
        <p:nvSpPr>
          <p:cNvPr id="244" name="Rectangle: Rounded Corners 2399">
            <a:extLst>
              <a:ext uri="{FF2B5EF4-FFF2-40B4-BE49-F238E27FC236}">
                <a16:creationId xmlns:a16="http://schemas.microsoft.com/office/drawing/2014/main" id="{FE100116-F33A-1DBA-28A6-14255195434F}"/>
              </a:ext>
            </a:extLst>
          </p:cNvPr>
          <p:cNvSpPr/>
          <p:nvPr/>
        </p:nvSpPr>
        <p:spPr>
          <a:xfrm>
            <a:off x="6212527" y="4642734"/>
            <a:ext cx="657466"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VLAN 1</a:t>
            </a:r>
          </a:p>
        </p:txBody>
      </p:sp>
      <p:sp>
        <p:nvSpPr>
          <p:cNvPr id="245" name="Rectangle: Rounded Corners 2399">
            <a:extLst>
              <a:ext uri="{FF2B5EF4-FFF2-40B4-BE49-F238E27FC236}">
                <a16:creationId xmlns:a16="http://schemas.microsoft.com/office/drawing/2014/main" id="{F2B78A7E-D9A3-75E5-42F3-22A0C37CDE96}"/>
              </a:ext>
            </a:extLst>
          </p:cNvPr>
          <p:cNvSpPr/>
          <p:nvPr/>
        </p:nvSpPr>
        <p:spPr>
          <a:xfrm>
            <a:off x="6333010" y="5665774"/>
            <a:ext cx="1550271" cy="195355"/>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1" i="0" u="none" strike="noStrike" kern="0" cap="none" spc="0" normalizeH="0" baseline="0" noProof="0" dirty="0">
                <a:ln>
                  <a:noFill/>
                </a:ln>
                <a:solidFill>
                  <a:srgbClr val="6C4B94"/>
                </a:solidFill>
                <a:effectLst/>
                <a:uLnTx/>
                <a:uFillTx/>
                <a:latin typeface="Arial" panose="020B0604020202020204"/>
                <a:ea typeface="+mn-ea"/>
                <a:cs typeface="Arial" panose="020B0604020202020204" pitchFamily="34" charset="0"/>
              </a:rPr>
              <a:t>vCenter Site A</a:t>
            </a:r>
          </a:p>
        </p:txBody>
      </p:sp>
      <p:pic>
        <p:nvPicPr>
          <p:cNvPr id="246" name="Graphic 245">
            <a:extLst>
              <a:ext uri="{FF2B5EF4-FFF2-40B4-BE49-F238E27FC236}">
                <a16:creationId xmlns:a16="http://schemas.microsoft.com/office/drawing/2014/main" id="{F79FF6EE-ECFB-71F1-D092-F4E23EDCD1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74107" y="5011944"/>
            <a:ext cx="476808" cy="476810"/>
          </a:xfrm>
          <a:prstGeom prst="rect">
            <a:avLst/>
          </a:prstGeom>
        </p:spPr>
      </p:pic>
      <p:pic>
        <p:nvPicPr>
          <p:cNvPr id="247" name="Graphic 246">
            <a:extLst>
              <a:ext uri="{FF2B5EF4-FFF2-40B4-BE49-F238E27FC236}">
                <a16:creationId xmlns:a16="http://schemas.microsoft.com/office/drawing/2014/main" id="{11A3746F-C7B9-B499-106D-BB393832D07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52990" y="5011944"/>
            <a:ext cx="476808" cy="476810"/>
          </a:xfrm>
          <a:prstGeom prst="rect">
            <a:avLst/>
          </a:prstGeom>
        </p:spPr>
      </p:pic>
      <p:sp>
        <p:nvSpPr>
          <p:cNvPr id="250" name="Rectangle 249">
            <a:extLst>
              <a:ext uri="{FF2B5EF4-FFF2-40B4-BE49-F238E27FC236}">
                <a16:creationId xmlns:a16="http://schemas.microsoft.com/office/drawing/2014/main" id="{10729421-F128-C900-4F44-AD77F5898CCF}"/>
              </a:ext>
            </a:extLst>
          </p:cNvPr>
          <p:cNvSpPr/>
          <p:nvPr/>
        </p:nvSpPr>
        <p:spPr bwMode="gray">
          <a:xfrm>
            <a:off x="6555285" y="5285350"/>
            <a:ext cx="1095999" cy="161452"/>
          </a:xfrm>
          <a:prstGeom prst="rect">
            <a:avLst/>
          </a:prstGeom>
          <a:solidFill>
            <a:schemeClr val="bg1">
              <a:alpha val="92363"/>
            </a:schemeClr>
          </a:solidFill>
          <a:ln w="1587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vCenter</a:t>
            </a:r>
          </a:p>
        </p:txBody>
      </p:sp>
      <p:sp>
        <p:nvSpPr>
          <p:cNvPr id="251" name="Rectangle 250">
            <a:extLst>
              <a:ext uri="{FF2B5EF4-FFF2-40B4-BE49-F238E27FC236}">
                <a16:creationId xmlns:a16="http://schemas.microsoft.com/office/drawing/2014/main" id="{794F7EFF-0B18-13FC-6593-87D57E062250}"/>
              </a:ext>
            </a:extLst>
          </p:cNvPr>
          <p:cNvSpPr/>
          <p:nvPr/>
        </p:nvSpPr>
        <p:spPr>
          <a:xfrm>
            <a:off x="6155339" y="5950365"/>
            <a:ext cx="1905614" cy="14567"/>
          </a:xfrm>
          <a:prstGeom prst="rect">
            <a:avLst/>
          </a:prstGeom>
          <a:gradFill>
            <a:gsLst>
              <a:gs pos="0">
                <a:schemeClr val="accent5">
                  <a:alpha val="0"/>
                </a:schemeClr>
              </a:gs>
              <a:gs pos="38000">
                <a:schemeClr val="accent5"/>
              </a:gs>
              <a:gs pos="59000">
                <a:schemeClr val="accent5"/>
              </a:gs>
              <a:gs pos="99000">
                <a:schemeClr val="accent5">
                  <a:alpha val="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52" name="Straight Connector 251">
            <a:extLst>
              <a:ext uri="{FF2B5EF4-FFF2-40B4-BE49-F238E27FC236}">
                <a16:creationId xmlns:a16="http://schemas.microsoft.com/office/drawing/2014/main" id="{6089A2C9-B039-27C6-4764-1F32DB8764BF}"/>
              </a:ext>
            </a:extLst>
          </p:cNvPr>
          <p:cNvCxnSpPr>
            <a:cxnSpLocks/>
          </p:cNvCxnSpPr>
          <p:nvPr/>
        </p:nvCxnSpPr>
        <p:spPr bwMode="gray">
          <a:xfrm>
            <a:off x="6393955" y="4468804"/>
            <a:ext cx="0" cy="97309"/>
          </a:xfrm>
          <a:prstGeom prst="line">
            <a:avLst/>
          </a:prstGeom>
          <a:ln w="15875">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1" name="Rectangle 260">
            <a:extLst>
              <a:ext uri="{FF2B5EF4-FFF2-40B4-BE49-F238E27FC236}">
                <a16:creationId xmlns:a16="http://schemas.microsoft.com/office/drawing/2014/main" id="{53C2903B-63CF-DC6C-20A3-F223901FF378}"/>
              </a:ext>
            </a:extLst>
          </p:cNvPr>
          <p:cNvSpPr/>
          <p:nvPr/>
        </p:nvSpPr>
        <p:spPr bwMode="gray">
          <a:xfrm>
            <a:off x="6564251" y="5055821"/>
            <a:ext cx="1074512" cy="161452"/>
          </a:xfrm>
          <a:prstGeom prst="rect">
            <a:avLst/>
          </a:prstGeom>
          <a:solidFill>
            <a:schemeClr val="bg1">
              <a:alpha val="92363"/>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HCX Manager</a:t>
            </a:r>
          </a:p>
        </p:txBody>
      </p:sp>
    </p:spTree>
    <p:extLst>
      <p:ext uri="{BB962C8B-B14F-4D97-AF65-F5344CB8AC3E}">
        <p14:creationId xmlns:p14="http://schemas.microsoft.com/office/powerpoint/2010/main" val="2472059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nodeType="clickEffect">
                                  <p:stCondLst>
                                    <p:cond delay="0"/>
                                  </p:stCondLst>
                                  <p:childTnLst>
                                    <p:animEffect transition="out" filter="wipe(up)">
                                      <p:cBhvr>
                                        <p:cTn id="6" dur="500"/>
                                        <p:tgtEl>
                                          <p:spTgt spid="199"/>
                                        </p:tgtEl>
                                      </p:cBhvr>
                                    </p:animEffect>
                                    <p:set>
                                      <p:cBhvr>
                                        <p:cTn id="7" dur="1" fill="hold">
                                          <p:stCondLst>
                                            <p:cond delay="499"/>
                                          </p:stCondLst>
                                        </p:cTn>
                                        <p:tgtEl>
                                          <p:spTgt spid="199"/>
                                        </p:tgtEl>
                                        <p:attrNameLst>
                                          <p:attrName>style.visibility</p:attrName>
                                        </p:attrNameLst>
                                      </p:cBhvr>
                                      <p:to>
                                        <p:strVal val="hidden"/>
                                      </p:to>
                                    </p:set>
                                  </p:childTnLst>
                                </p:cTn>
                              </p:par>
                              <p:par>
                                <p:cTn id="8" presetID="0" presetClass="path" presetSubtype="0" decel="50000" fill="hold" nodeType="withEffect">
                                  <p:stCondLst>
                                    <p:cond delay="0"/>
                                  </p:stCondLst>
                                  <p:childTnLst>
                                    <p:animMotion origin="layout" path="M -1.17479E-6 -1.48148E-6 L -1.17479E-6 -0.33171 L -0.51107 -0.33171 C -0.51107 -0.30116 -0.51107 -0.23009 -0.51107 -0.19722 " pathEditMode="relative" rAng="0" ptsTypes="AAAA">
                                      <p:cBhvr>
                                        <p:cTn id="9" dur="2000" fill="hold"/>
                                        <p:tgtEl>
                                          <p:spTgt spid="207"/>
                                        </p:tgtEl>
                                        <p:attrNameLst>
                                          <p:attrName>ppt_x</p:attrName>
                                          <p:attrName>ppt_y</p:attrName>
                                        </p:attrNameLst>
                                      </p:cBhvr>
                                      <p:rCtr x="-25554" y="-16597"/>
                                    </p:animMotion>
                                  </p:childTnLst>
                                </p:cTn>
                              </p:par>
                            </p:childTnLst>
                          </p:cTn>
                        </p:par>
                        <p:par>
                          <p:cTn id="10" fill="hold">
                            <p:stCondLst>
                              <p:cond delay="2000"/>
                            </p:stCondLst>
                            <p:childTnLst>
                              <p:par>
                                <p:cTn id="11" presetID="22" presetClass="entr" presetSubtype="1" fill="hold" nodeType="afterEffect">
                                  <p:stCondLst>
                                    <p:cond delay="0"/>
                                  </p:stCondLst>
                                  <p:childTnLst>
                                    <p:set>
                                      <p:cBhvr>
                                        <p:cTn id="12" dur="1" fill="hold">
                                          <p:stCondLst>
                                            <p:cond delay="0"/>
                                          </p:stCondLst>
                                        </p:cTn>
                                        <p:tgtEl>
                                          <p:spTgt spid="215"/>
                                        </p:tgtEl>
                                        <p:attrNameLst>
                                          <p:attrName>style.visibility</p:attrName>
                                        </p:attrNameLst>
                                      </p:cBhvr>
                                      <p:to>
                                        <p:strVal val="visible"/>
                                      </p:to>
                                    </p:set>
                                    <p:animEffect transition="in" filter="wipe(up)">
                                      <p:cBhvr>
                                        <p:cTn id="13" dur="500"/>
                                        <p:tgtEl>
                                          <p:spTgt spid="21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xit" presetSubtype="1" fill="hold" nodeType="clickEffect">
                                  <p:stCondLst>
                                    <p:cond delay="0"/>
                                  </p:stCondLst>
                                  <p:childTnLst>
                                    <p:animEffect transition="out" filter="wipe(up)">
                                      <p:cBhvr>
                                        <p:cTn id="17" dur="500"/>
                                        <p:tgtEl>
                                          <p:spTgt spid="252"/>
                                        </p:tgtEl>
                                      </p:cBhvr>
                                    </p:animEffect>
                                    <p:set>
                                      <p:cBhvr>
                                        <p:cTn id="18" dur="1" fill="hold">
                                          <p:stCondLst>
                                            <p:cond delay="499"/>
                                          </p:stCondLst>
                                        </p:cTn>
                                        <p:tgtEl>
                                          <p:spTgt spid="252"/>
                                        </p:tgtEl>
                                        <p:attrNameLst>
                                          <p:attrName>style.visibility</p:attrName>
                                        </p:attrNameLst>
                                      </p:cBhvr>
                                      <p:to>
                                        <p:strVal val="hidden"/>
                                      </p:to>
                                    </p:set>
                                  </p:childTnLst>
                                </p:cTn>
                              </p:par>
                              <p:par>
                                <p:cTn id="19" presetID="0" presetClass="path" presetSubtype="0" accel="50000" decel="50000" fill="hold" nodeType="withEffect">
                                  <p:stCondLst>
                                    <p:cond delay="0"/>
                                  </p:stCondLst>
                                  <p:childTnLst>
                                    <p:animMotion origin="layout" path="M 3.00339E-6 -0.00023 C -0.01511 -0.00116 -0.02761 0.00093 -0.04259 -1.48148E-6 C -0.04324 -0.06528 -0.04363 -0.13241 -0.04429 -0.19768 L -0.1253 -0.19792 " pathEditMode="relative" rAng="0" ptsTypes="AAAA">
                                      <p:cBhvr>
                                        <p:cTn id="20" dur="2000" fill="hold"/>
                                        <p:tgtEl>
                                          <p:spTgt spid="236"/>
                                        </p:tgtEl>
                                        <p:attrNameLst>
                                          <p:attrName>ppt_x</p:attrName>
                                          <p:attrName>ppt_y</p:attrName>
                                        </p:attrNameLst>
                                      </p:cBhvr>
                                      <p:rCtr x="-6265" y="-9861"/>
                                    </p:animMotion>
                                  </p:childTnLst>
                                </p:cTn>
                              </p:par>
                            </p:childTnLst>
                          </p:cTn>
                        </p:par>
                        <p:par>
                          <p:cTn id="21" fill="hold">
                            <p:stCondLst>
                              <p:cond delay="2000"/>
                            </p:stCondLst>
                            <p:childTnLst>
                              <p:par>
                                <p:cTn id="22" presetID="22" presetClass="entr" presetSubtype="1" fill="hold" nodeType="afterEffect">
                                  <p:stCondLst>
                                    <p:cond delay="0"/>
                                  </p:stCondLst>
                                  <p:childTnLst>
                                    <p:set>
                                      <p:cBhvr>
                                        <p:cTn id="23" dur="1" fill="hold">
                                          <p:stCondLst>
                                            <p:cond delay="0"/>
                                          </p:stCondLst>
                                        </p:cTn>
                                        <p:tgtEl>
                                          <p:spTgt spid="216"/>
                                        </p:tgtEl>
                                        <p:attrNameLst>
                                          <p:attrName>style.visibility</p:attrName>
                                        </p:attrNameLst>
                                      </p:cBhvr>
                                      <p:to>
                                        <p:strVal val="visible"/>
                                      </p:to>
                                    </p:set>
                                    <p:animEffect transition="in" filter="wipe(up)">
                                      <p:cBhvr>
                                        <p:cTn id="24" dur="500"/>
                                        <p:tgtEl>
                                          <p:spTgt spid="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A34AE-42F8-179E-170B-024BAB07B23E}"/>
            </a:ext>
          </a:extLst>
        </p:cNvPr>
        <p:cNvGrpSpPr/>
        <p:nvPr/>
      </p:nvGrpSpPr>
      <p:grpSpPr>
        <a:xfrm>
          <a:off x="0" y="0"/>
          <a:ext cx="0" cy="0"/>
          <a:chOff x="0" y="0"/>
          <a:chExt cx="0" cy="0"/>
        </a:xfrm>
      </p:grpSpPr>
      <p:sp>
        <p:nvSpPr>
          <p:cNvPr id="196" name="Title 195">
            <a:extLst>
              <a:ext uri="{FF2B5EF4-FFF2-40B4-BE49-F238E27FC236}">
                <a16:creationId xmlns:a16="http://schemas.microsoft.com/office/drawing/2014/main" id="{72D92B91-6731-E348-2F78-0EF51D35383A}"/>
              </a:ext>
            </a:extLst>
          </p:cNvPr>
          <p:cNvSpPr>
            <a:spLocks noGrp="1"/>
          </p:cNvSpPr>
          <p:nvPr>
            <p:ph type="title"/>
          </p:nvPr>
        </p:nvSpPr>
        <p:spPr/>
        <p:txBody>
          <a:bodyPr/>
          <a:lstStyle/>
          <a:p>
            <a:r>
              <a:rPr lang="en-US" dirty="0"/>
              <a:t>Non-Disruptive Workload Migration to a Federated Environment</a:t>
            </a:r>
          </a:p>
        </p:txBody>
      </p:sp>
      <p:sp>
        <p:nvSpPr>
          <p:cNvPr id="197" name="Subtitle 196">
            <a:extLst>
              <a:ext uri="{FF2B5EF4-FFF2-40B4-BE49-F238E27FC236}">
                <a16:creationId xmlns:a16="http://schemas.microsoft.com/office/drawing/2014/main" id="{A6215612-8D89-D3CB-1C50-2499187CC2CF}"/>
              </a:ext>
            </a:extLst>
          </p:cNvPr>
          <p:cNvSpPr>
            <a:spLocks noGrp="1"/>
          </p:cNvSpPr>
          <p:nvPr>
            <p:ph type="subTitle" idx="1"/>
          </p:nvPr>
        </p:nvSpPr>
        <p:spPr/>
        <p:txBody>
          <a:bodyPr/>
          <a:lstStyle/>
          <a:p>
            <a:pPr lvl="0"/>
            <a:r>
              <a:rPr lang="en-US"/>
              <a:t>HCX Migration support for NSX Global Objects/Segments</a:t>
            </a:r>
            <a:endParaRPr lang="en-US" dirty="0"/>
          </a:p>
        </p:txBody>
      </p:sp>
      <p:sp>
        <p:nvSpPr>
          <p:cNvPr id="4" name="Text Placeholder 3">
            <a:extLst>
              <a:ext uri="{FF2B5EF4-FFF2-40B4-BE49-F238E27FC236}">
                <a16:creationId xmlns:a16="http://schemas.microsoft.com/office/drawing/2014/main" id="{B3510B01-991F-D779-9B60-7C3C0AC6890C}"/>
              </a:ext>
            </a:extLst>
          </p:cNvPr>
          <p:cNvSpPr>
            <a:spLocks noGrp="1"/>
          </p:cNvSpPr>
          <p:nvPr>
            <p:ph type="body" idx="2"/>
          </p:nvPr>
        </p:nvSpPr>
        <p:spPr/>
        <p:txBody>
          <a:bodyPr/>
          <a:lstStyle/>
          <a:p>
            <a:pPr lvl="0"/>
            <a:r>
              <a:rPr lang="en-US" dirty="0"/>
              <a:t>NSX Global Segment is supported in HCX Migration</a:t>
            </a:r>
          </a:p>
          <a:p>
            <a:pPr lvl="0"/>
            <a:endParaRPr lang="en-US" dirty="0"/>
          </a:p>
          <a:p>
            <a:pPr lvl="0"/>
            <a:r>
              <a:rPr lang="en-US" dirty="0"/>
              <a:t>Global Segment is supported in HCX Compute Network Profile as a guest network for the OSAM</a:t>
            </a:r>
          </a:p>
          <a:p>
            <a:pPr lvl="0"/>
            <a:endParaRPr lang="en-US" dirty="0"/>
          </a:p>
          <a:p>
            <a:pPr lvl="0"/>
            <a:r>
              <a:rPr lang="en-US" dirty="0"/>
              <a:t>Enforcement of NSX Federated Network</a:t>
            </a:r>
          </a:p>
          <a:p>
            <a:endParaRPr lang="en-US" dirty="0"/>
          </a:p>
          <a:p>
            <a:r>
              <a:rPr lang="en-US" dirty="0"/>
              <a:t>Enables non-disruptive migration to NSX Global and Local Segments</a:t>
            </a:r>
          </a:p>
        </p:txBody>
      </p:sp>
      <p:sp>
        <p:nvSpPr>
          <p:cNvPr id="6" name="Google Shape;1292;p6">
            <a:extLst>
              <a:ext uri="{FF2B5EF4-FFF2-40B4-BE49-F238E27FC236}">
                <a16:creationId xmlns:a16="http://schemas.microsoft.com/office/drawing/2014/main" id="{DED8220C-7C2D-158A-D218-A0642BC3D23B}"/>
              </a:ext>
            </a:extLst>
          </p:cNvPr>
          <p:cNvSpPr/>
          <p:nvPr/>
        </p:nvSpPr>
        <p:spPr>
          <a:xfrm>
            <a:off x="6479" y="1611780"/>
            <a:ext cx="8133399" cy="4572000"/>
          </a:xfrm>
          <a:prstGeom prst="roundRect">
            <a:avLst>
              <a:gd name="adj" fmla="val 0"/>
            </a:avLst>
          </a:prstGeom>
          <a:solidFill>
            <a:srgbClr val="F4F8F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000"/>
              <a:buFont typeface="Arial"/>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7" name="Google Shape;1293;p6">
            <a:extLst>
              <a:ext uri="{FF2B5EF4-FFF2-40B4-BE49-F238E27FC236}">
                <a16:creationId xmlns:a16="http://schemas.microsoft.com/office/drawing/2014/main" id="{65C26A68-1FD5-22A9-D0E4-6B03F9EA773F}"/>
              </a:ext>
            </a:extLst>
          </p:cNvPr>
          <p:cNvSpPr/>
          <p:nvPr/>
        </p:nvSpPr>
        <p:spPr>
          <a:xfrm>
            <a:off x="579809" y="1750219"/>
            <a:ext cx="7405481" cy="4295951"/>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9" name="Freeform 8">
            <a:extLst>
              <a:ext uri="{FF2B5EF4-FFF2-40B4-BE49-F238E27FC236}">
                <a16:creationId xmlns:a16="http://schemas.microsoft.com/office/drawing/2014/main" id="{88F40183-8CB8-82B0-70A3-9673E8B92F7E}"/>
              </a:ext>
            </a:extLst>
          </p:cNvPr>
          <p:cNvSpPr/>
          <p:nvPr/>
        </p:nvSpPr>
        <p:spPr bwMode="gray">
          <a:xfrm>
            <a:off x="2273472" y="2072768"/>
            <a:ext cx="5346476" cy="774096"/>
          </a:xfrm>
          <a:custGeom>
            <a:avLst/>
            <a:gdLst>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67377 h 1438977"/>
              <a:gd name="connsiteX4" fmla="*/ 0 w 4995512"/>
              <a:gd name="connsiteY4" fmla="*/ 822960 h 1438977"/>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822960 h 1438977"/>
              <a:gd name="connsiteX0" fmla="*/ 4999371 w 4999371"/>
              <a:gd name="connsiteY0" fmla="*/ 1438977 h 1438977"/>
              <a:gd name="connsiteX1" fmla="*/ 4999371 w 4999371"/>
              <a:gd name="connsiteY1" fmla="*/ 0 h 1438977"/>
              <a:gd name="connsiteX2" fmla="*/ 3859 w 4999371"/>
              <a:gd name="connsiteY2" fmla="*/ 0 h 1438977"/>
              <a:gd name="connsiteX3" fmla="*/ 0 w 4999371"/>
              <a:gd name="connsiteY3" fmla="*/ 949940 h 1438977"/>
            </a:gdLst>
            <a:ahLst/>
            <a:cxnLst>
              <a:cxn ang="0">
                <a:pos x="connsiteX0" y="connsiteY0"/>
              </a:cxn>
              <a:cxn ang="0">
                <a:pos x="connsiteX1" y="connsiteY1"/>
              </a:cxn>
              <a:cxn ang="0">
                <a:pos x="connsiteX2" y="connsiteY2"/>
              </a:cxn>
              <a:cxn ang="0">
                <a:pos x="connsiteX3" y="connsiteY3"/>
              </a:cxn>
            </a:cxnLst>
            <a:rect l="l" t="t" r="r" b="b"/>
            <a:pathLst>
              <a:path w="4999371" h="1438977">
                <a:moveTo>
                  <a:pt x="4999371" y="1438977"/>
                </a:moveTo>
                <a:lnTo>
                  <a:pt x="4999371" y="0"/>
                </a:lnTo>
                <a:lnTo>
                  <a:pt x="3859" y="0"/>
                </a:lnTo>
                <a:cubicBezTo>
                  <a:pt x="2573" y="316647"/>
                  <a:pt x="1286" y="633293"/>
                  <a:pt x="0" y="949940"/>
                </a:cubicBezTo>
              </a:path>
            </a:pathLst>
          </a:custGeom>
          <a:noFill/>
          <a:ln w="158750" cap="flat" cmpd="sng">
            <a:solidFill>
              <a:srgbClr val="00C3FF">
                <a:alpha val="32000"/>
              </a:srgbClr>
            </a:solid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BBF3FA42-B8AC-196A-512E-FBCCA5FC9164}"/>
              </a:ext>
            </a:extLst>
          </p:cNvPr>
          <p:cNvSpPr/>
          <p:nvPr/>
        </p:nvSpPr>
        <p:spPr>
          <a:xfrm rot="10800000" flipV="1">
            <a:off x="757892" y="3378582"/>
            <a:ext cx="1919789" cy="870252"/>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nvGrpSpPr>
          <p:cNvPr id="11" name="Group 10">
            <a:extLst>
              <a:ext uri="{FF2B5EF4-FFF2-40B4-BE49-F238E27FC236}">
                <a16:creationId xmlns:a16="http://schemas.microsoft.com/office/drawing/2014/main" id="{A31F134F-111F-8328-EFF9-6E8FE97A6DEC}"/>
              </a:ext>
            </a:extLst>
          </p:cNvPr>
          <p:cNvGrpSpPr/>
          <p:nvPr/>
        </p:nvGrpSpPr>
        <p:grpSpPr>
          <a:xfrm>
            <a:off x="2886729" y="3081247"/>
            <a:ext cx="2732876" cy="1037073"/>
            <a:chOff x="2632079" y="2495871"/>
            <a:chExt cx="2732876" cy="1037073"/>
          </a:xfrm>
        </p:grpSpPr>
        <p:sp>
          <p:nvSpPr>
            <p:cNvPr id="12" name="Rectangle 11">
              <a:extLst>
                <a:ext uri="{FF2B5EF4-FFF2-40B4-BE49-F238E27FC236}">
                  <a16:creationId xmlns:a16="http://schemas.microsoft.com/office/drawing/2014/main" id="{8761FA9A-CC6E-129A-B2ED-C3F50AA0CBBF}"/>
                </a:ext>
              </a:extLst>
            </p:cNvPr>
            <p:cNvSpPr/>
            <p:nvPr/>
          </p:nvSpPr>
          <p:spPr>
            <a:xfrm rot="10800000" flipV="1">
              <a:off x="2632079" y="2495871"/>
              <a:ext cx="2693212" cy="216308"/>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3" name="Rectangle 12">
              <a:extLst>
                <a:ext uri="{FF2B5EF4-FFF2-40B4-BE49-F238E27FC236}">
                  <a16:creationId xmlns:a16="http://schemas.microsoft.com/office/drawing/2014/main" id="{3BA76FF1-E6E1-4C3C-0B36-9DD6FAC3ABC5}"/>
                </a:ext>
              </a:extLst>
            </p:cNvPr>
            <p:cNvSpPr/>
            <p:nvPr/>
          </p:nvSpPr>
          <p:spPr>
            <a:xfrm rot="10800000" flipV="1">
              <a:off x="2632079" y="2662692"/>
              <a:ext cx="2732876" cy="870252"/>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grpSp>
        <p:nvGrpSpPr>
          <p:cNvPr id="14" name="Group 13">
            <a:extLst>
              <a:ext uri="{FF2B5EF4-FFF2-40B4-BE49-F238E27FC236}">
                <a16:creationId xmlns:a16="http://schemas.microsoft.com/office/drawing/2014/main" id="{701C6E47-71F7-F801-A78C-4F48ACDD5114}"/>
              </a:ext>
            </a:extLst>
          </p:cNvPr>
          <p:cNvGrpSpPr/>
          <p:nvPr/>
        </p:nvGrpSpPr>
        <p:grpSpPr>
          <a:xfrm>
            <a:off x="5852691" y="4464732"/>
            <a:ext cx="1016309" cy="539979"/>
            <a:chOff x="2941177" y="2354132"/>
            <a:chExt cx="1588289" cy="505821"/>
          </a:xfrm>
        </p:grpSpPr>
        <p:sp>
          <p:nvSpPr>
            <p:cNvPr id="15" name="Rectangle 14">
              <a:extLst>
                <a:ext uri="{FF2B5EF4-FFF2-40B4-BE49-F238E27FC236}">
                  <a16:creationId xmlns:a16="http://schemas.microsoft.com/office/drawing/2014/main" id="{52430C19-0C0C-5B20-E56D-EBBB58540AA2}"/>
                </a:ext>
              </a:extLst>
            </p:cNvPr>
            <p:cNvSpPr/>
            <p:nvPr/>
          </p:nvSpPr>
          <p:spPr>
            <a:xfrm rot="10800000" flipV="1">
              <a:off x="3018446" y="2364232"/>
              <a:ext cx="1463251" cy="399478"/>
            </a:xfrm>
            <a:prstGeom prst="rect">
              <a:avLst/>
            </a:prstGeom>
            <a:solidFill>
              <a:schemeClr val="bg1"/>
            </a:solidFill>
            <a:ln w="19050" cap="flat" cmpd="sng" algn="ctr">
              <a:solidFill>
                <a:schemeClr val="accent5"/>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6" name="Rectangle 15">
              <a:extLst>
                <a:ext uri="{FF2B5EF4-FFF2-40B4-BE49-F238E27FC236}">
                  <a16:creationId xmlns:a16="http://schemas.microsoft.com/office/drawing/2014/main" id="{AD782397-D46C-C881-E563-F530E53F49C8}"/>
                </a:ext>
              </a:extLst>
            </p:cNvPr>
            <p:cNvSpPr/>
            <p:nvPr/>
          </p:nvSpPr>
          <p:spPr>
            <a:xfrm rot="16200000" flipV="1">
              <a:off x="3389457" y="1905852"/>
              <a:ext cx="505821" cy="1402382"/>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7" name="Rectangle 16">
              <a:extLst>
                <a:ext uri="{FF2B5EF4-FFF2-40B4-BE49-F238E27FC236}">
                  <a16:creationId xmlns:a16="http://schemas.microsoft.com/office/drawing/2014/main" id="{0C01838C-9B1C-16EF-4ABB-1197ADC097CB}"/>
                </a:ext>
              </a:extLst>
            </p:cNvPr>
            <p:cNvSpPr/>
            <p:nvPr/>
          </p:nvSpPr>
          <p:spPr>
            <a:xfrm rot="10800000" flipV="1">
              <a:off x="3133659" y="2405473"/>
              <a:ext cx="1395807" cy="399477"/>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grpSp>
        <p:nvGrpSpPr>
          <p:cNvPr id="18" name="Group 17">
            <a:extLst>
              <a:ext uri="{FF2B5EF4-FFF2-40B4-BE49-F238E27FC236}">
                <a16:creationId xmlns:a16="http://schemas.microsoft.com/office/drawing/2014/main" id="{117C603C-4F05-F6E5-AB5A-14BF0D51D236}"/>
              </a:ext>
            </a:extLst>
          </p:cNvPr>
          <p:cNvGrpSpPr/>
          <p:nvPr/>
        </p:nvGrpSpPr>
        <p:grpSpPr>
          <a:xfrm flipH="1">
            <a:off x="4800602" y="3121191"/>
            <a:ext cx="602416" cy="1738792"/>
            <a:chOff x="3557976" y="2354134"/>
            <a:chExt cx="933038" cy="505822"/>
          </a:xfrm>
        </p:grpSpPr>
        <p:sp>
          <p:nvSpPr>
            <p:cNvPr id="19" name="Rectangle 18">
              <a:extLst>
                <a:ext uri="{FF2B5EF4-FFF2-40B4-BE49-F238E27FC236}">
                  <a16:creationId xmlns:a16="http://schemas.microsoft.com/office/drawing/2014/main" id="{4832C29B-B8F8-7153-7858-E832E8995937}"/>
                </a:ext>
              </a:extLst>
            </p:cNvPr>
            <p:cNvSpPr/>
            <p:nvPr/>
          </p:nvSpPr>
          <p:spPr>
            <a:xfrm rot="10800000" flipV="1">
              <a:off x="3588517" y="2364232"/>
              <a:ext cx="902497" cy="341168"/>
            </a:xfrm>
            <a:prstGeom prst="rect">
              <a:avLst/>
            </a:prstGeom>
            <a:solidFill>
              <a:schemeClr val="bg1"/>
            </a:solidFill>
            <a:ln w="19050" cap="flat" cmpd="sng" algn="ctr">
              <a:solidFill>
                <a:schemeClr val="accent1"/>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0" name="Rectangle 19">
              <a:extLst>
                <a:ext uri="{FF2B5EF4-FFF2-40B4-BE49-F238E27FC236}">
                  <a16:creationId xmlns:a16="http://schemas.microsoft.com/office/drawing/2014/main" id="{1FD1ABC2-2475-B92E-2FB6-B48421B4F6A4}"/>
                </a:ext>
              </a:extLst>
            </p:cNvPr>
            <p:cNvSpPr/>
            <p:nvPr/>
          </p:nvSpPr>
          <p:spPr>
            <a:xfrm rot="16200000" flipV="1">
              <a:off x="3697857" y="2214253"/>
              <a:ext cx="505822" cy="785584"/>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grpSp>
        <p:nvGrpSpPr>
          <p:cNvPr id="21" name="Group 20">
            <a:extLst>
              <a:ext uri="{FF2B5EF4-FFF2-40B4-BE49-F238E27FC236}">
                <a16:creationId xmlns:a16="http://schemas.microsoft.com/office/drawing/2014/main" id="{18A0A02C-C72B-A33E-680E-8794228B3D5C}"/>
              </a:ext>
            </a:extLst>
          </p:cNvPr>
          <p:cNvGrpSpPr/>
          <p:nvPr/>
        </p:nvGrpSpPr>
        <p:grpSpPr>
          <a:xfrm flipH="1">
            <a:off x="4148495" y="2819980"/>
            <a:ext cx="616219" cy="1903786"/>
            <a:chOff x="3545914" y="2255133"/>
            <a:chExt cx="954419" cy="567997"/>
          </a:xfrm>
        </p:grpSpPr>
        <p:sp>
          <p:nvSpPr>
            <p:cNvPr id="22" name="Rectangle 21">
              <a:extLst>
                <a:ext uri="{FF2B5EF4-FFF2-40B4-BE49-F238E27FC236}">
                  <a16:creationId xmlns:a16="http://schemas.microsoft.com/office/drawing/2014/main" id="{986F65FF-2568-C051-3353-723528B37A9E}"/>
                </a:ext>
              </a:extLst>
            </p:cNvPr>
            <p:cNvSpPr/>
            <p:nvPr/>
          </p:nvSpPr>
          <p:spPr>
            <a:xfrm rot="10800000" flipV="1">
              <a:off x="3597837" y="2278685"/>
              <a:ext cx="902496" cy="485025"/>
            </a:xfrm>
            <a:prstGeom prst="rect">
              <a:avLst/>
            </a:prstGeom>
            <a:solidFill>
              <a:schemeClr val="bg1"/>
            </a:solidFill>
            <a:ln w="19050" cap="flat" cmpd="sng" algn="ctr">
              <a:solidFill>
                <a:srgbClr val="E68C28"/>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3" name="Rectangle 22">
              <a:extLst>
                <a:ext uri="{FF2B5EF4-FFF2-40B4-BE49-F238E27FC236}">
                  <a16:creationId xmlns:a16="http://schemas.microsoft.com/office/drawing/2014/main" id="{186A5427-BCE6-A4D1-C1FB-8F984637C275}"/>
                </a:ext>
              </a:extLst>
            </p:cNvPr>
            <p:cNvSpPr/>
            <p:nvPr/>
          </p:nvSpPr>
          <p:spPr>
            <a:xfrm rot="16200000" flipV="1">
              <a:off x="3704575" y="2096472"/>
              <a:ext cx="567997" cy="885319"/>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grpSp>
        <p:nvGrpSpPr>
          <p:cNvPr id="24" name="Group 23">
            <a:extLst>
              <a:ext uri="{FF2B5EF4-FFF2-40B4-BE49-F238E27FC236}">
                <a16:creationId xmlns:a16="http://schemas.microsoft.com/office/drawing/2014/main" id="{8AF512F0-5853-83F1-F653-AAE17BCB524B}"/>
              </a:ext>
            </a:extLst>
          </p:cNvPr>
          <p:cNvGrpSpPr/>
          <p:nvPr/>
        </p:nvGrpSpPr>
        <p:grpSpPr>
          <a:xfrm flipH="1">
            <a:off x="3501191" y="3248389"/>
            <a:ext cx="596400" cy="1585660"/>
            <a:chOff x="3557976" y="2354134"/>
            <a:chExt cx="923721" cy="505822"/>
          </a:xfrm>
        </p:grpSpPr>
        <p:sp>
          <p:nvSpPr>
            <p:cNvPr id="25" name="Rectangle 24">
              <a:extLst>
                <a:ext uri="{FF2B5EF4-FFF2-40B4-BE49-F238E27FC236}">
                  <a16:creationId xmlns:a16="http://schemas.microsoft.com/office/drawing/2014/main" id="{3B95DE67-3665-D7E8-CE3F-F9231025C16B}"/>
                </a:ext>
              </a:extLst>
            </p:cNvPr>
            <p:cNvSpPr/>
            <p:nvPr/>
          </p:nvSpPr>
          <p:spPr>
            <a:xfrm rot="10800000" flipV="1">
              <a:off x="3579200" y="2446285"/>
              <a:ext cx="902497" cy="317425"/>
            </a:xfrm>
            <a:prstGeom prst="rect">
              <a:avLst/>
            </a:prstGeom>
            <a:solidFill>
              <a:schemeClr val="bg1"/>
            </a:solidFill>
            <a:ln w="19050" cap="flat" cmpd="sng" algn="ctr">
              <a:solidFill>
                <a:schemeClr val="accent1"/>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6" name="Rectangle 25">
              <a:extLst>
                <a:ext uri="{FF2B5EF4-FFF2-40B4-BE49-F238E27FC236}">
                  <a16:creationId xmlns:a16="http://schemas.microsoft.com/office/drawing/2014/main" id="{33643A85-697A-6E41-D81B-D1D7537EAF83}"/>
                </a:ext>
              </a:extLst>
            </p:cNvPr>
            <p:cNvSpPr/>
            <p:nvPr/>
          </p:nvSpPr>
          <p:spPr>
            <a:xfrm rot="16200000" flipV="1">
              <a:off x="3697858" y="2214252"/>
              <a:ext cx="505822" cy="785586"/>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sp>
        <p:nvSpPr>
          <p:cNvPr id="27" name="Google Shape;2848;p22">
            <a:extLst>
              <a:ext uri="{FF2B5EF4-FFF2-40B4-BE49-F238E27FC236}">
                <a16:creationId xmlns:a16="http://schemas.microsoft.com/office/drawing/2014/main" id="{B24277DD-0FA4-E70B-EA65-FA6AEA1D5CB6}"/>
              </a:ext>
            </a:extLst>
          </p:cNvPr>
          <p:cNvSpPr/>
          <p:nvPr/>
        </p:nvSpPr>
        <p:spPr>
          <a:xfrm>
            <a:off x="3370793" y="2518807"/>
            <a:ext cx="2342261" cy="2677170"/>
          </a:xfrm>
          <a:prstGeom prst="roundRect">
            <a:avLst>
              <a:gd name="adj" fmla="val 1496"/>
            </a:avLst>
          </a:prstGeom>
          <a:noFill/>
          <a:ln w="1270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a:ea typeface="Arial"/>
              <a:cs typeface="Arial" panose="020B0604020202020204" pitchFamily="34" charset="0"/>
              <a:sym typeface="Arial"/>
            </a:endParaRPr>
          </a:p>
        </p:txBody>
      </p:sp>
      <p:sp>
        <p:nvSpPr>
          <p:cNvPr id="28" name="Rectangle 27">
            <a:extLst>
              <a:ext uri="{FF2B5EF4-FFF2-40B4-BE49-F238E27FC236}">
                <a16:creationId xmlns:a16="http://schemas.microsoft.com/office/drawing/2014/main" id="{4DE6B26D-86FE-3363-EB7D-8F61B3982E49}"/>
              </a:ext>
            </a:extLst>
          </p:cNvPr>
          <p:cNvSpPr/>
          <p:nvPr/>
        </p:nvSpPr>
        <p:spPr bwMode="gray">
          <a:xfrm>
            <a:off x="3618571" y="2049851"/>
            <a:ext cx="2903092" cy="5119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HCX Service Mesh  (IPsec tunnels)</a:t>
            </a:r>
          </a:p>
        </p:txBody>
      </p:sp>
      <p:sp>
        <p:nvSpPr>
          <p:cNvPr id="29" name="Google Shape;2848;p22">
            <a:extLst>
              <a:ext uri="{FF2B5EF4-FFF2-40B4-BE49-F238E27FC236}">
                <a16:creationId xmlns:a16="http://schemas.microsoft.com/office/drawing/2014/main" id="{B298965F-AAD7-F04A-7D57-70DAEC9C64E4}"/>
              </a:ext>
            </a:extLst>
          </p:cNvPr>
          <p:cNvSpPr/>
          <p:nvPr/>
        </p:nvSpPr>
        <p:spPr>
          <a:xfrm>
            <a:off x="718953" y="2518807"/>
            <a:ext cx="2122143" cy="2677982"/>
          </a:xfrm>
          <a:prstGeom prst="roundRect">
            <a:avLst>
              <a:gd name="adj" fmla="val 1496"/>
            </a:avLst>
          </a:prstGeom>
          <a:solidFill>
            <a:schemeClr val="bg1"/>
          </a:solidFill>
          <a:ln w="1270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a:ea typeface="Arial"/>
              <a:cs typeface="Arial" panose="020B0604020202020204" pitchFamily="34" charset="0"/>
              <a:sym typeface="Arial"/>
            </a:endParaRPr>
          </a:p>
        </p:txBody>
      </p:sp>
      <p:sp>
        <p:nvSpPr>
          <p:cNvPr id="31" name="Rectangle: Rounded Corners 2399">
            <a:extLst>
              <a:ext uri="{FF2B5EF4-FFF2-40B4-BE49-F238E27FC236}">
                <a16:creationId xmlns:a16="http://schemas.microsoft.com/office/drawing/2014/main" id="{E9B88E6F-A0AD-0868-4AB2-FED1D4E54253}"/>
              </a:ext>
            </a:extLst>
          </p:cNvPr>
          <p:cNvSpPr/>
          <p:nvPr/>
        </p:nvSpPr>
        <p:spPr>
          <a:xfrm>
            <a:off x="757893" y="5718122"/>
            <a:ext cx="1942526" cy="19691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1" i="0" u="none" strike="noStrike" kern="0" cap="none" spc="0" normalizeH="0" baseline="0" noProof="0" dirty="0">
                <a:ln>
                  <a:noFill/>
                </a:ln>
                <a:solidFill>
                  <a:srgbClr val="005C8A"/>
                </a:solidFill>
                <a:effectLst/>
                <a:uLnTx/>
                <a:uFillTx/>
                <a:latin typeface="Arial" panose="020B0604020202020204"/>
                <a:ea typeface="+mn-ea"/>
                <a:cs typeface="Arial" panose="020B0604020202020204" pitchFamily="34" charset="0"/>
              </a:rPr>
              <a:t>VCF-Fed Site B</a:t>
            </a:r>
          </a:p>
        </p:txBody>
      </p:sp>
      <p:sp>
        <p:nvSpPr>
          <p:cNvPr id="32" name="Rectangle 31">
            <a:extLst>
              <a:ext uri="{FF2B5EF4-FFF2-40B4-BE49-F238E27FC236}">
                <a16:creationId xmlns:a16="http://schemas.microsoft.com/office/drawing/2014/main" id="{25611B11-EC09-D334-1A06-78CF6D46DA88}"/>
              </a:ext>
            </a:extLst>
          </p:cNvPr>
          <p:cNvSpPr/>
          <p:nvPr/>
        </p:nvSpPr>
        <p:spPr>
          <a:xfrm>
            <a:off x="544729" y="5969550"/>
            <a:ext cx="2368854" cy="14567"/>
          </a:xfrm>
          <a:prstGeom prst="rect">
            <a:avLst/>
          </a:prstGeom>
          <a:gradFill>
            <a:gsLst>
              <a:gs pos="0">
                <a:schemeClr val="accent3">
                  <a:alpha val="0"/>
                </a:schemeClr>
              </a:gs>
              <a:gs pos="39000">
                <a:schemeClr val="accent3"/>
              </a:gs>
              <a:gs pos="60000">
                <a:schemeClr val="accent3"/>
              </a:gs>
              <a:gs pos="100000">
                <a:schemeClr val="accent3">
                  <a:alpha val="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33" name="Group 32">
            <a:extLst>
              <a:ext uri="{FF2B5EF4-FFF2-40B4-BE49-F238E27FC236}">
                <a16:creationId xmlns:a16="http://schemas.microsoft.com/office/drawing/2014/main" id="{B838496E-3973-58C7-A7E8-34F8D0BA90B7}"/>
              </a:ext>
            </a:extLst>
          </p:cNvPr>
          <p:cNvGrpSpPr/>
          <p:nvPr/>
        </p:nvGrpSpPr>
        <p:grpSpPr>
          <a:xfrm>
            <a:off x="1418682" y="4993328"/>
            <a:ext cx="612773" cy="640958"/>
            <a:chOff x="2032082" y="4415373"/>
            <a:chExt cx="506424" cy="529717"/>
          </a:xfrm>
        </p:grpSpPr>
        <p:sp>
          <p:nvSpPr>
            <p:cNvPr id="34" name="Rectangle 33">
              <a:extLst>
                <a:ext uri="{FF2B5EF4-FFF2-40B4-BE49-F238E27FC236}">
                  <a16:creationId xmlns:a16="http://schemas.microsoft.com/office/drawing/2014/main" id="{598AC254-6EF5-6264-B222-730E14EC3E13}"/>
                </a:ext>
              </a:extLst>
            </p:cNvPr>
            <p:cNvSpPr/>
            <p:nvPr/>
          </p:nvSpPr>
          <p:spPr>
            <a:xfrm rot="10800000" flipV="1">
              <a:off x="2032082" y="4415373"/>
              <a:ext cx="506424" cy="529717"/>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pic>
          <p:nvPicPr>
            <p:cNvPr id="35" name="Graphic 34">
              <a:extLst>
                <a:ext uri="{FF2B5EF4-FFF2-40B4-BE49-F238E27FC236}">
                  <a16:creationId xmlns:a16="http://schemas.microsoft.com/office/drawing/2014/main" id="{46916AD1-5CDD-72E2-E8BD-C199FDE84D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46889" y="4441827"/>
              <a:ext cx="476808" cy="476810"/>
            </a:xfrm>
            <a:prstGeom prst="rect">
              <a:avLst/>
            </a:prstGeom>
          </p:spPr>
        </p:pic>
      </p:grpSp>
      <p:sp>
        <p:nvSpPr>
          <p:cNvPr id="36" name="Rectangle: Rounded Corners 2399">
            <a:extLst>
              <a:ext uri="{FF2B5EF4-FFF2-40B4-BE49-F238E27FC236}">
                <a16:creationId xmlns:a16="http://schemas.microsoft.com/office/drawing/2014/main" id="{2AB203CE-5F24-F10D-ADFB-767887DCEB46}"/>
              </a:ext>
            </a:extLst>
          </p:cNvPr>
          <p:cNvSpPr/>
          <p:nvPr/>
        </p:nvSpPr>
        <p:spPr>
          <a:xfrm>
            <a:off x="6124734" y="4546169"/>
            <a:ext cx="657466"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VLAN 1</a:t>
            </a:r>
          </a:p>
        </p:txBody>
      </p:sp>
      <p:sp>
        <p:nvSpPr>
          <p:cNvPr id="37" name="Rectangle: Rounded Corners 2399">
            <a:extLst>
              <a:ext uri="{FF2B5EF4-FFF2-40B4-BE49-F238E27FC236}">
                <a16:creationId xmlns:a16="http://schemas.microsoft.com/office/drawing/2014/main" id="{2B87FFC6-78E3-E37A-3A71-E1552138448A}"/>
              </a:ext>
            </a:extLst>
          </p:cNvPr>
          <p:cNvSpPr/>
          <p:nvPr/>
        </p:nvSpPr>
        <p:spPr>
          <a:xfrm>
            <a:off x="3631561" y="5719683"/>
            <a:ext cx="1550271" cy="195355"/>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1" i="0" u="none" strike="noStrike" kern="0" cap="none" spc="0" normalizeH="0" baseline="0" noProof="0" dirty="0">
                <a:ln>
                  <a:noFill/>
                </a:ln>
                <a:solidFill>
                  <a:srgbClr val="007B8C"/>
                </a:solidFill>
                <a:effectLst/>
                <a:uLnTx/>
                <a:uFillTx/>
                <a:latin typeface="Arial" panose="020B0604020202020204"/>
                <a:ea typeface="+mn-ea"/>
                <a:cs typeface="Arial" panose="020B0604020202020204" pitchFamily="34" charset="0"/>
              </a:rPr>
              <a:t>VCF-Fed Site A</a:t>
            </a:r>
          </a:p>
        </p:txBody>
      </p:sp>
      <p:sp>
        <p:nvSpPr>
          <p:cNvPr id="38" name="Rectangle 37">
            <a:extLst>
              <a:ext uri="{FF2B5EF4-FFF2-40B4-BE49-F238E27FC236}">
                <a16:creationId xmlns:a16="http://schemas.microsoft.com/office/drawing/2014/main" id="{048E1B7F-34E4-5DF7-1404-1880DDFD0224}"/>
              </a:ext>
            </a:extLst>
          </p:cNvPr>
          <p:cNvSpPr/>
          <p:nvPr/>
        </p:nvSpPr>
        <p:spPr>
          <a:xfrm>
            <a:off x="3453889" y="5969550"/>
            <a:ext cx="1905614" cy="14567"/>
          </a:xfrm>
          <a:prstGeom prst="rect">
            <a:avLst/>
          </a:prstGeom>
          <a:gradFill>
            <a:gsLst>
              <a:gs pos="0">
                <a:schemeClr val="accent1">
                  <a:alpha val="0"/>
                </a:schemeClr>
              </a:gs>
              <a:gs pos="38000">
                <a:schemeClr val="accent1"/>
              </a:gs>
              <a:gs pos="59000">
                <a:schemeClr val="accent1"/>
              </a:gs>
              <a:gs pos="100000">
                <a:schemeClr val="accent1">
                  <a:alpha val="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9" name="Rectangle: Rounded Corners 2399">
            <a:extLst>
              <a:ext uri="{FF2B5EF4-FFF2-40B4-BE49-F238E27FC236}">
                <a16:creationId xmlns:a16="http://schemas.microsoft.com/office/drawing/2014/main" id="{D39DE53D-FDBB-06F8-025C-80B9C99885F0}"/>
              </a:ext>
            </a:extLst>
          </p:cNvPr>
          <p:cNvSpPr/>
          <p:nvPr/>
        </p:nvSpPr>
        <p:spPr>
          <a:xfrm>
            <a:off x="6239806" y="5719683"/>
            <a:ext cx="1550271" cy="195355"/>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1" i="0" u="none" strike="noStrike" kern="0" cap="none" spc="0" normalizeH="0" baseline="0" noProof="0" dirty="0">
                <a:ln>
                  <a:noFill/>
                </a:ln>
                <a:solidFill>
                  <a:srgbClr val="6C4B94"/>
                </a:solidFill>
                <a:effectLst/>
                <a:uLnTx/>
                <a:uFillTx/>
                <a:latin typeface="Arial" panose="020B0604020202020204"/>
                <a:ea typeface="+mn-ea"/>
                <a:cs typeface="Arial" panose="020B0604020202020204" pitchFamily="34" charset="0"/>
              </a:rPr>
              <a:t>vCenter Site 1</a:t>
            </a:r>
          </a:p>
        </p:txBody>
      </p:sp>
      <p:pic>
        <p:nvPicPr>
          <p:cNvPr id="40" name="Graphic 39">
            <a:extLst>
              <a:ext uri="{FF2B5EF4-FFF2-40B4-BE49-F238E27FC236}">
                <a16:creationId xmlns:a16="http://schemas.microsoft.com/office/drawing/2014/main" id="{FC7B5697-9904-ECD9-A491-0623F8BA7AF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0903" y="4915379"/>
            <a:ext cx="476808" cy="476810"/>
          </a:xfrm>
          <a:prstGeom prst="rect">
            <a:avLst/>
          </a:prstGeom>
        </p:spPr>
      </p:pic>
      <p:pic>
        <p:nvPicPr>
          <p:cNvPr id="41" name="Graphic 40">
            <a:extLst>
              <a:ext uri="{FF2B5EF4-FFF2-40B4-BE49-F238E27FC236}">
                <a16:creationId xmlns:a16="http://schemas.microsoft.com/office/drawing/2014/main" id="{DEC04C0F-FCC3-97CA-63AC-97D7F4D4C9E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59786" y="4915379"/>
            <a:ext cx="476808" cy="476810"/>
          </a:xfrm>
          <a:prstGeom prst="rect">
            <a:avLst/>
          </a:prstGeom>
        </p:spPr>
      </p:pic>
      <p:sp>
        <p:nvSpPr>
          <p:cNvPr id="42" name="Rectangle 41">
            <a:extLst>
              <a:ext uri="{FF2B5EF4-FFF2-40B4-BE49-F238E27FC236}">
                <a16:creationId xmlns:a16="http://schemas.microsoft.com/office/drawing/2014/main" id="{55503A07-3AA8-C349-CCAE-7398027A80F1}"/>
              </a:ext>
            </a:extLst>
          </p:cNvPr>
          <p:cNvSpPr/>
          <p:nvPr/>
        </p:nvSpPr>
        <p:spPr bwMode="gray">
          <a:xfrm>
            <a:off x="6462081" y="5188785"/>
            <a:ext cx="1095999" cy="161452"/>
          </a:xfrm>
          <a:prstGeom prst="rect">
            <a:avLst/>
          </a:prstGeom>
          <a:solidFill>
            <a:schemeClr val="bg1">
              <a:alpha val="92363"/>
            </a:schemeClr>
          </a:solidFill>
          <a:ln w="1587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vCenter</a:t>
            </a:r>
          </a:p>
        </p:txBody>
      </p:sp>
      <p:sp>
        <p:nvSpPr>
          <p:cNvPr id="43" name="Rectangle 42">
            <a:extLst>
              <a:ext uri="{FF2B5EF4-FFF2-40B4-BE49-F238E27FC236}">
                <a16:creationId xmlns:a16="http://schemas.microsoft.com/office/drawing/2014/main" id="{44241E47-40E5-0DAE-EB77-347F1A6CBDEB}"/>
              </a:ext>
            </a:extLst>
          </p:cNvPr>
          <p:cNvSpPr/>
          <p:nvPr/>
        </p:nvSpPr>
        <p:spPr>
          <a:xfrm>
            <a:off x="6205012" y="5969550"/>
            <a:ext cx="1905614" cy="14567"/>
          </a:xfrm>
          <a:prstGeom prst="rect">
            <a:avLst/>
          </a:prstGeom>
          <a:gradFill>
            <a:gsLst>
              <a:gs pos="0">
                <a:schemeClr val="accent5">
                  <a:alpha val="0"/>
                </a:schemeClr>
              </a:gs>
              <a:gs pos="38000">
                <a:schemeClr val="accent5"/>
              </a:gs>
              <a:gs pos="59000">
                <a:schemeClr val="accent5"/>
              </a:gs>
              <a:gs pos="99000">
                <a:schemeClr val="accent5">
                  <a:alpha val="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4" name="Rectangle: Rounded Corners 2399">
            <a:extLst>
              <a:ext uri="{FF2B5EF4-FFF2-40B4-BE49-F238E27FC236}">
                <a16:creationId xmlns:a16="http://schemas.microsoft.com/office/drawing/2014/main" id="{FF0547E6-C1B9-F6AB-ADFF-9EB3B1147BBA}"/>
              </a:ext>
            </a:extLst>
          </p:cNvPr>
          <p:cNvSpPr/>
          <p:nvPr/>
        </p:nvSpPr>
        <p:spPr>
          <a:xfrm>
            <a:off x="2058290" y="4407076"/>
            <a:ext cx="694223" cy="362043"/>
          </a:xfrm>
          <a:prstGeom prst="roundRect">
            <a:avLst>
              <a:gd name="adj" fmla="val 0"/>
            </a:avLst>
          </a:prstGeom>
          <a:gradFill flip="none" rotWithShape="1">
            <a:gsLst>
              <a:gs pos="8000">
                <a:schemeClr val="accent2"/>
              </a:gs>
              <a:gs pos="90000">
                <a:schemeClr val="accent3"/>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HCX Manager</a:t>
            </a:r>
          </a:p>
        </p:txBody>
      </p:sp>
      <p:sp>
        <p:nvSpPr>
          <p:cNvPr id="45" name="Rectangle: Rounded Corners 2399">
            <a:extLst>
              <a:ext uri="{FF2B5EF4-FFF2-40B4-BE49-F238E27FC236}">
                <a16:creationId xmlns:a16="http://schemas.microsoft.com/office/drawing/2014/main" id="{BAC13EA3-141A-EDD3-AE27-934BC77C4FF2}"/>
              </a:ext>
            </a:extLst>
          </p:cNvPr>
          <p:cNvSpPr/>
          <p:nvPr/>
        </p:nvSpPr>
        <p:spPr>
          <a:xfrm>
            <a:off x="2058292" y="3971794"/>
            <a:ext cx="692482" cy="365760"/>
          </a:xfrm>
          <a:prstGeom prst="roundRect">
            <a:avLst>
              <a:gd name="adj" fmla="val 0"/>
            </a:avLst>
          </a:prstGeom>
          <a:gradFill flip="none" rotWithShape="1">
            <a:gsLst>
              <a:gs pos="8000">
                <a:schemeClr val="accent2"/>
              </a:gs>
              <a:gs pos="90000">
                <a:schemeClr val="accent3"/>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NSX LM</a:t>
            </a:r>
          </a:p>
        </p:txBody>
      </p:sp>
      <p:sp>
        <p:nvSpPr>
          <p:cNvPr id="46" name="Rectangle: Rounded Corners 2399">
            <a:extLst>
              <a:ext uri="{FF2B5EF4-FFF2-40B4-BE49-F238E27FC236}">
                <a16:creationId xmlns:a16="http://schemas.microsoft.com/office/drawing/2014/main" id="{1C649ADE-A230-96B5-DA6A-C6DBFA31648C}"/>
              </a:ext>
            </a:extLst>
          </p:cNvPr>
          <p:cNvSpPr/>
          <p:nvPr/>
        </p:nvSpPr>
        <p:spPr>
          <a:xfrm>
            <a:off x="1170214" y="4407077"/>
            <a:ext cx="457200" cy="228600"/>
          </a:xfrm>
          <a:prstGeom prst="roundRect">
            <a:avLst>
              <a:gd name="adj" fmla="val 0"/>
            </a:avLst>
          </a:prstGeom>
          <a:gradFill flip="none" rotWithShape="1">
            <a:gsLst>
              <a:gs pos="8000">
                <a:schemeClr val="accent2"/>
              </a:gs>
              <a:gs pos="90000">
                <a:schemeClr val="accent3"/>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VC</a:t>
            </a:r>
          </a:p>
        </p:txBody>
      </p:sp>
      <p:sp>
        <p:nvSpPr>
          <p:cNvPr id="47" name="Freeform 46">
            <a:extLst>
              <a:ext uri="{FF2B5EF4-FFF2-40B4-BE49-F238E27FC236}">
                <a16:creationId xmlns:a16="http://schemas.microsoft.com/office/drawing/2014/main" id="{9CBF4DE1-0CA5-527A-3E90-C7B749E16893}"/>
              </a:ext>
            </a:extLst>
          </p:cNvPr>
          <p:cNvSpPr/>
          <p:nvPr/>
        </p:nvSpPr>
        <p:spPr bwMode="gray">
          <a:xfrm flipH="1">
            <a:off x="2411708" y="3540163"/>
            <a:ext cx="45719" cy="496560"/>
          </a:xfrm>
          <a:custGeom>
            <a:avLst/>
            <a:gdLst>
              <a:gd name="connsiteX0" fmla="*/ 517358 w 517358"/>
              <a:gd name="connsiteY0" fmla="*/ 493295 h 493295"/>
              <a:gd name="connsiteX1" fmla="*/ 517358 w 517358"/>
              <a:gd name="connsiteY1" fmla="*/ 0 h 493295"/>
              <a:gd name="connsiteX2" fmla="*/ 0 w 517358"/>
              <a:gd name="connsiteY2" fmla="*/ 0 h 493295"/>
              <a:gd name="connsiteX0" fmla="*/ 0 w 0"/>
              <a:gd name="connsiteY0" fmla="*/ 493295 h 493295"/>
              <a:gd name="connsiteX1" fmla="*/ 0 w 0"/>
              <a:gd name="connsiteY1" fmla="*/ 0 h 493295"/>
            </a:gdLst>
            <a:ahLst/>
            <a:cxnLst>
              <a:cxn ang="0">
                <a:pos x="connsiteX0" y="connsiteY0"/>
              </a:cxn>
              <a:cxn ang="0">
                <a:pos x="connsiteX1" y="connsiteY1"/>
              </a:cxn>
            </a:cxnLst>
            <a:rect l="l" t="t" r="r" b="b"/>
            <a:pathLst>
              <a:path h="493295">
                <a:moveTo>
                  <a:pt x="0" y="493295"/>
                </a:moveTo>
                <a:lnTo>
                  <a:pt x="0" y="0"/>
                </a:lnTo>
              </a:path>
            </a:pathLst>
          </a:custGeom>
          <a:noFill/>
          <a:ln w="19050" cap="flat" cmpd="sng" algn="ctr">
            <a:solidFill>
              <a:schemeClr val="accent3"/>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2F2F2"/>
              </a:solidFill>
              <a:effectLst/>
              <a:uLnTx/>
              <a:uFillTx/>
              <a:latin typeface="Arial" panose="020B0604020202020204"/>
              <a:ea typeface="+mn-ea"/>
              <a:cs typeface="Arial" panose="020B0604020202020204" pitchFamily="34" charset="0"/>
            </a:endParaRPr>
          </a:p>
        </p:txBody>
      </p:sp>
      <p:sp>
        <p:nvSpPr>
          <p:cNvPr id="48" name="Rectangle: Rounded Corners 2399">
            <a:extLst>
              <a:ext uri="{FF2B5EF4-FFF2-40B4-BE49-F238E27FC236}">
                <a16:creationId xmlns:a16="http://schemas.microsoft.com/office/drawing/2014/main" id="{6D5B03CC-3DD0-1601-77F3-5C229B9C1674}"/>
              </a:ext>
            </a:extLst>
          </p:cNvPr>
          <p:cNvSpPr/>
          <p:nvPr/>
        </p:nvSpPr>
        <p:spPr>
          <a:xfrm>
            <a:off x="1702801" y="3533958"/>
            <a:ext cx="765739" cy="15248"/>
          </a:xfrm>
          <a:prstGeom prst="roundRect">
            <a:avLst>
              <a:gd name="adj" fmla="val 0"/>
            </a:avLst>
          </a:prstGeom>
          <a:solidFill>
            <a:schemeClr val="accent3"/>
          </a:soli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endParaRPr kumimoji="0" lang="en-US" sz="12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sp>
        <p:nvSpPr>
          <p:cNvPr id="49" name="Rectangle: Rounded Corners 2399">
            <a:extLst>
              <a:ext uri="{FF2B5EF4-FFF2-40B4-BE49-F238E27FC236}">
                <a16:creationId xmlns:a16="http://schemas.microsoft.com/office/drawing/2014/main" id="{BEEE121D-31AD-F5EF-9AD0-EAB07F8000FF}"/>
              </a:ext>
            </a:extLst>
          </p:cNvPr>
          <p:cNvSpPr/>
          <p:nvPr/>
        </p:nvSpPr>
        <p:spPr>
          <a:xfrm>
            <a:off x="1006999" y="3581215"/>
            <a:ext cx="1400721" cy="233511"/>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NSX Local Segment</a:t>
            </a:r>
          </a:p>
        </p:txBody>
      </p:sp>
      <p:cxnSp>
        <p:nvCxnSpPr>
          <p:cNvPr id="50" name="Elbow Connector 49">
            <a:extLst>
              <a:ext uri="{FF2B5EF4-FFF2-40B4-BE49-F238E27FC236}">
                <a16:creationId xmlns:a16="http://schemas.microsoft.com/office/drawing/2014/main" id="{1365BFBC-1DAD-1E21-8499-347763E290A9}"/>
              </a:ext>
            </a:extLst>
          </p:cNvPr>
          <p:cNvCxnSpPr>
            <a:cxnSpLocks/>
            <a:stCxn id="45" idx="1"/>
            <a:endCxn id="44" idx="1"/>
          </p:cNvCxnSpPr>
          <p:nvPr/>
        </p:nvCxnSpPr>
        <p:spPr bwMode="gray">
          <a:xfrm rot="10800000" flipV="1">
            <a:off x="2058290" y="4154674"/>
            <a:ext cx="2" cy="433424"/>
          </a:xfrm>
          <a:prstGeom prst="bentConnector3">
            <a:avLst>
              <a:gd name="adj1" fmla="val 11430100000"/>
            </a:avLst>
          </a:prstGeom>
          <a:solidFill>
            <a:schemeClr val="bg1"/>
          </a:solidFill>
          <a:ln w="19050" cap="flat" cmpd="sng" algn="ctr">
            <a:solidFill>
              <a:schemeClr val="accent3"/>
            </a:solidFill>
            <a:prstDash val="solid"/>
            <a:miter lim="800000"/>
            <a:headEnd type="oval" w="sm" len="sm"/>
            <a:tailEnd type="oval" w="sm" len="sm"/>
          </a:ln>
          <a:effectLst/>
        </p:spPr>
      </p:cxnSp>
      <p:grpSp>
        <p:nvGrpSpPr>
          <p:cNvPr id="51" name="Group 50">
            <a:extLst>
              <a:ext uri="{FF2B5EF4-FFF2-40B4-BE49-F238E27FC236}">
                <a16:creationId xmlns:a16="http://schemas.microsoft.com/office/drawing/2014/main" id="{0ADD2A24-D187-F7F5-394C-CF5A56D25CEC}"/>
              </a:ext>
            </a:extLst>
          </p:cNvPr>
          <p:cNvGrpSpPr/>
          <p:nvPr/>
        </p:nvGrpSpPr>
        <p:grpSpPr>
          <a:xfrm>
            <a:off x="4101724" y="4975280"/>
            <a:ext cx="612773" cy="640958"/>
            <a:chOff x="2032082" y="4415373"/>
            <a:chExt cx="506424" cy="529717"/>
          </a:xfrm>
        </p:grpSpPr>
        <p:sp>
          <p:nvSpPr>
            <p:cNvPr id="52" name="Rectangle 51">
              <a:extLst>
                <a:ext uri="{FF2B5EF4-FFF2-40B4-BE49-F238E27FC236}">
                  <a16:creationId xmlns:a16="http://schemas.microsoft.com/office/drawing/2014/main" id="{EA6B9C07-62D6-18EA-815B-DAD81F93B50E}"/>
                </a:ext>
              </a:extLst>
            </p:cNvPr>
            <p:cNvSpPr/>
            <p:nvPr/>
          </p:nvSpPr>
          <p:spPr>
            <a:xfrm rot="10800000" flipV="1">
              <a:off x="2032082" y="4415373"/>
              <a:ext cx="506424" cy="529717"/>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pic>
          <p:nvPicPr>
            <p:cNvPr id="53" name="Graphic 52">
              <a:extLst>
                <a:ext uri="{FF2B5EF4-FFF2-40B4-BE49-F238E27FC236}">
                  <a16:creationId xmlns:a16="http://schemas.microsoft.com/office/drawing/2014/main" id="{35ACCD88-7CF4-6ED2-4D40-95D02F62CCA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46889" y="4441827"/>
              <a:ext cx="476808" cy="476810"/>
            </a:xfrm>
            <a:prstGeom prst="rect">
              <a:avLst/>
            </a:prstGeom>
          </p:spPr>
        </p:pic>
      </p:grpSp>
      <p:sp>
        <p:nvSpPr>
          <p:cNvPr id="54" name="Rectangle: Rounded Corners 2399">
            <a:extLst>
              <a:ext uri="{FF2B5EF4-FFF2-40B4-BE49-F238E27FC236}">
                <a16:creationId xmlns:a16="http://schemas.microsoft.com/office/drawing/2014/main" id="{AAB785CE-0D39-0246-33BD-89F95087C42A}"/>
              </a:ext>
            </a:extLst>
          </p:cNvPr>
          <p:cNvSpPr/>
          <p:nvPr/>
        </p:nvSpPr>
        <p:spPr>
          <a:xfrm>
            <a:off x="4795475" y="4401664"/>
            <a:ext cx="694944" cy="365760"/>
          </a:xfrm>
          <a:prstGeom prst="roundRect">
            <a:avLst>
              <a:gd name="adj" fmla="val 0"/>
            </a:avLst>
          </a:prstGeom>
          <a:gradFill flip="none" rotWithShape="1">
            <a:gsLst>
              <a:gs pos="0">
                <a:schemeClr val="accent1">
                  <a:lumMod val="50000"/>
                </a:schemeClr>
              </a:gs>
              <a:gs pos="100000">
                <a:schemeClr val="accent1"/>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HCX Manager</a:t>
            </a:r>
          </a:p>
        </p:txBody>
      </p:sp>
      <p:sp>
        <p:nvSpPr>
          <p:cNvPr id="55" name="Rectangle: Rounded Corners 2399">
            <a:extLst>
              <a:ext uri="{FF2B5EF4-FFF2-40B4-BE49-F238E27FC236}">
                <a16:creationId xmlns:a16="http://schemas.microsoft.com/office/drawing/2014/main" id="{5003FD17-6FED-8936-CBC6-1A47F17C805C}"/>
              </a:ext>
            </a:extLst>
          </p:cNvPr>
          <p:cNvSpPr/>
          <p:nvPr/>
        </p:nvSpPr>
        <p:spPr>
          <a:xfrm>
            <a:off x="4795474" y="3962888"/>
            <a:ext cx="694944" cy="365760"/>
          </a:xfrm>
          <a:prstGeom prst="roundRect">
            <a:avLst>
              <a:gd name="adj" fmla="val 0"/>
            </a:avLst>
          </a:prstGeom>
          <a:gradFill flip="none" rotWithShape="1">
            <a:gsLst>
              <a:gs pos="0">
                <a:schemeClr val="accent1">
                  <a:lumMod val="50000"/>
                </a:schemeClr>
              </a:gs>
              <a:gs pos="100000">
                <a:schemeClr val="accent1"/>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NSX LM</a:t>
            </a:r>
          </a:p>
        </p:txBody>
      </p:sp>
      <p:sp>
        <p:nvSpPr>
          <p:cNvPr id="56" name="Rectangle: Rounded Corners 2399">
            <a:extLst>
              <a:ext uri="{FF2B5EF4-FFF2-40B4-BE49-F238E27FC236}">
                <a16:creationId xmlns:a16="http://schemas.microsoft.com/office/drawing/2014/main" id="{EFDEE67A-CC3C-79CB-2785-158B782D5724}"/>
              </a:ext>
            </a:extLst>
          </p:cNvPr>
          <p:cNvSpPr/>
          <p:nvPr/>
        </p:nvSpPr>
        <p:spPr>
          <a:xfrm>
            <a:off x="3488602" y="4337334"/>
            <a:ext cx="457200" cy="228600"/>
          </a:xfrm>
          <a:prstGeom prst="roundRect">
            <a:avLst>
              <a:gd name="adj" fmla="val 0"/>
            </a:avLst>
          </a:prstGeom>
          <a:gradFill flip="none" rotWithShape="1">
            <a:gsLst>
              <a:gs pos="0">
                <a:schemeClr val="accent1">
                  <a:lumMod val="50000"/>
                </a:schemeClr>
              </a:gs>
              <a:gs pos="100000">
                <a:schemeClr val="accent1"/>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VC</a:t>
            </a:r>
          </a:p>
        </p:txBody>
      </p:sp>
      <p:sp>
        <p:nvSpPr>
          <p:cNvPr id="57" name="Rectangle: Rounded Corners 2399">
            <a:extLst>
              <a:ext uri="{FF2B5EF4-FFF2-40B4-BE49-F238E27FC236}">
                <a16:creationId xmlns:a16="http://schemas.microsoft.com/office/drawing/2014/main" id="{19415267-DA12-734A-211D-53A0D6DCE203}"/>
              </a:ext>
            </a:extLst>
          </p:cNvPr>
          <p:cNvSpPr/>
          <p:nvPr/>
        </p:nvSpPr>
        <p:spPr>
          <a:xfrm>
            <a:off x="4141818" y="4192976"/>
            <a:ext cx="457200" cy="457200"/>
          </a:xfrm>
          <a:prstGeom prst="roundRect">
            <a:avLst>
              <a:gd name="adj" fmla="val 0"/>
            </a:avLst>
          </a:prstGeom>
          <a:gradFill flip="none" rotWithShape="1">
            <a:gsLst>
              <a:gs pos="0">
                <a:schemeClr val="accent1">
                  <a:lumMod val="50000"/>
                </a:schemeClr>
              </a:gs>
              <a:gs pos="100000">
                <a:schemeClr val="accent1"/>
              </a:gs>
            </a:gsLst>
            <a:lin ang="18900000" scaled="1"/>
            <a:tileRect/>
          </a:grad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NSX</a:t>
            </a:r>
            <a:br>
              <a:rPr kumimoji="0" lang="en-US" sz="10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br>
            <a:r>
              <a:rPr kumimoji="0" lang="en-US" sz="1000" b="0" i="0" u="none" strike="noStrike" kern="0" cap="none" spc="0" normalizeH="0" baseline="0" noProof="0" dirty="0">
                <a:ln>
                  <a:noFill/>
                </a:ln>
                <a:solidFill>
                  <a:srgbClr val="FFFFFF"/>
                </a:solidFill>
                <a:effectLst/>
                <a:uLnTx/>
                <a:uFillTx/>
                <a:latin typeface="Arial" panose="020B0604020202020204"/>
                <a:ea typeface="+mn-ea"/>
                <a:cs typeface="Arial" panose="020B0604020202020204" pitchFamily="34" charset="0"/>
              </a:rPr>
              <a:t>GM</a:t>
            </a:r>
          </a:p>
        </p:txBody>
      </p:sp>
      <p:sp>
        <p:nvSpPr>
          <p:cNvPr id="58" name="Rectangle: Rounded Corners 2399">
            <a:extLst>
              <a:ext uri="{FF2B5EF4-FFF2-40B4-BE49-F238E27FC236}">
                <a16:creationId xmlns:a16="http://schemas.microsoft.com/office/drawing/2014/main" id="{FB355A59-FD41-800E-CBF7-AEAB6622DCF9}"/>
              </a:ext>
            </a:extLst>
          </p:cNvPr>
          <p:cNvSpPr/>
          <p:nvPr/>
        </p:nvSpPr>
        <p:spPr>
          <a:xfrm>
            <a:off x="3564516" y="3662083"/>
            <a:ext cx="657466"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VLAN</a:t>
            </a:r>
            <a:r>
              <a:rPr kumimoji="0" lang="en-US" sz="12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 </a:t>
            </a:r>
          </a:p>
        </p:txBody>
      </p:sp>
      <p:sp>
        <p:nvSpPr>
          <p:cNvPr id="59" name="Rectangle: Rounded Corners 2399">
            <a:extLst>
              <a:ext uri="{FF2B5EF4-FFF2-40B4-BE49-F238E27FC236}">
                <a16:creationId xmlns:a16="http://schemas.microsoft.com/office/drawing/2014/main" id="{F280BB31-19B0-D2A7-395C-B6A05A5D1861}"/>
              </a:ext>
            </a:extLst>
          </p:cNvPr>
          <p:cNvSpPr/>
          <p:nvPr/>
        </p:nvSpPr>
        <p:spPr>
          <a:xfrm>
            <a:off x="2853228" y="2743083"/>
            <a:ext cx="1915477" cy="159657"/>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NSX Global Segment</a:t>
            </a:r>
          </a:p>
        </p:txBody>
      </p:sp>
      <p:sp>
        <p:nvSpPr>
          <p:cNvPr id="60" name="Rectangle: Rounded Corners 2399">
            <a:extLst>
              <a:ext uri="{FF2B5EF4-FFF2-40B4-BE49-F238E27FC236}">
                <a16:creationId xmlns:a16="http://schemas.microsoft.com/office/drawing/2014/main" id="{E6ED5D28-EBF2-CE96-3192-7F1D69FCC5C3}"/>
              </a:ext>
            </a:extLst>
          </p:cNvPr>
          <p:cNvSpPr/>
          <p:nvPr/>
        </p:nvSpPr>
        <p:spPr>
          <a:xfrm>
            <a:off x="4870706" y="3240743"/>
            <a:ext cx="834292" cy="153668"/>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NSX Local Segment</a:t>
            </a:r>
          </a:p>
        </p:txBody>
      </p:sp>
      <p:sp>
        <p:nvSpPr>
          <p:cNvPr id="62" name="Rectangle 61">
            <a:extLst>
              <a:ext uri="{FF2B5EF4-FFF2-40B4-BE49-F238E27FC236}">
                <a16:creationId xmlns:a16="http://schemas.microsoft.com/office/drawing/2014/main" id="{D060600A-1B02-075F-A802-C0D5032C65BC}"/>
              </a:ext>
            </a:extLst>
          </p:cNvPr>
          <p:cNvSpPr/>
          <p:nvPr/>
        </p:nvSpPr>
        <p:spPr bwMode="gray">
          <a:xfrm>
            <a:off x="6462081" y="4957777"/>
            <a:ext cx="1095999" cy="134408"/>
          </a:xfrm>
          <a:prstGeom prst="rect">
            <a:avLst/>
          </a:prstGeom>
          <a:solidFill>
            <a:schemeClr val="bg1">
              <a:alpha val="92363"/>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HCX Manager</a:t>
            </a:r>
          </a:p>
        </p:txBody>
      </p:sp>
      <p:sp>
        <p:nvSpPr>
          <p:cNvPr id="63" name="Freeform 62">
            <a:extLst>
              <a:ext uri="{FF2B5EF4-FFF2-40B4-BE49-F238E27FC236}">
                <a16:creationId xmlns:a16="http://schemas.microsoft.com/office/drawing/2014/main" id="{050985B0-D38E-AA9A-3088-00E681CD6A17}"/>
              </a:ext>
            </a:extLst>
          </p:cNvPr>
          <p:cNvSpPr/>
          <p:nvPr/>
        </p:nvSpPr>
        <p:spPr bwMode="gray">
          <a:xfrm>
            <a:off x="5482996" y="4572369"/>
            <a:ext cx="971532" cy="414001"/>
          </a:xfrm>
          <a:custGeom>
            <a:avLst/>
            <a:gdLst>
              <a:gd name="connsiteX0" fmla="*/ 0 w 1221582"/>
              <a:gd name="connsiteY0" fmla="*/ 0 h 450056"/>
              <a:gd name="connsiteX1" fmla="*/ 214313 w 1221582"/>
              <a:gd name="connsiteY1" fmla="*/ 0 h 450056"/>
              <a:gd name="connsiteX2" fmla="*/ 214313 w 1221582"/>
              <a:gd name="connsiteY2" fmla="*/ 450056 h 450056"/>
              <a:gd name="connsiteX3" fmla="*/ 1221582 w 1221582"/>
              <a:gd name="connsiteY3" fmla="*/ 450056 h 450056"/>
            </a:gdLst>
            <a:ahLst/>
            <a:cxnLst>
              <a:cxn ang="0">
                <a:pos x="connsiteX0" y="connsiteY0"/>
              </a:cxn>
              <a:cxn ang="0">
                <a:pos x="connsiteX1" y="connsiteY1"/>
              </a:cxn>
              <a:cxn ang="0">
                <a:pos x="connsiteX2" y="connsiteY2"/>
              </a:cxn>
              <a:cxn ang="0">
                <a:pos x="connsiteX3" y="connsiteY3"/>
              </a:cxn>
            </a:cxnLst>
            <a:rect l="l" t="t" r="r" b="b"/>
            <a:pathLst>
              <a:path w="1221582" h="450056">
                <a:moveTo>
                  <a:pt x="0" y="0"/>
                </a:moveTo>
                <a:lnTo>
                  <a:pt x="214313" y="0"/>
                </a:lnTo>
                <a:lnTo>
                  <a:pt x="214313" y="450056"/>
                </a:lnTo>
                <a:lnTo>
                  <a:pt x="1221582" y="450056"/>
                </a:lnTo>
              </a:path>
            </a:pathLst>
          </a:custGeom>
          <a:ln w="12700">
            <a:solidFill>
              <a:schemeClr val="bg1">
                <a:lumMod val="50000"/>
              </a:schemeClr>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4" name="Rectangle: Rounded Corners 2399">
            <a:extLst>
              <a:ext uri="{FF2B5EF4-FFF2-40B4-BE49-F238E27FC236}">
                <a16:creationId xmlns:a16="http://schemas.microsoft.com/office/drawing/2014/main" id="{0415E682-C730-C233-263A-5F06172FBA3D}"/>
              </a:ext>
            </a:extLst>
          </p:cNvPr>
          <p:cNvSpPr/>
          <p:nvPr/>
        </p:nvSpPr>
        <p:spPr>
          <a:xfrm>
            <a:off x="5504366" y="5011021"/>
            <a:ext cx="795534" cy="646919"/>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HCX </a:t>
            </a:r>
          </a:p>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Site Pairs</a:t>
            </a:r>
          </a:p>
        </p:txBody>
      </p:sp>
      <p:sp>
        <p:nvSpPr>
          <p:cNvPr id="65" name="Freeform 64">
            <a:extLst>
              <a:ext uri="{FF2B5EF4-FFF2-40B4-BE49-F238E27FC236}">
                <a16:creationId xmlns:a16="http://schemas.microsoft.com/office/drawing/2014/main" id="{A23AC06A-B78E-0519-26E7-4F83C062DC36}"/>
              </a:ext>
            </a:extLst>
          </p:cNvPr>
          <p:cNvSpPr/>
          <p:nvPr/>
        </p:nvSpPr>
        <p:spPr bwMode="gray">
          <a:xfrm>
            <a:off x="2750774" y="4579513"/>
            <a:ext cx="3708643" cy="1092994"/>
          </a:xfrm>
          <a:custGeom>
            <a:avLst/>
            <a:gdLst>
              <a:gd name="connsiteX0" fmla="*/ 0 w 3929063"/>
              <a:gd name="connsiteY0" fmla="*/ 0 h 1092994"/>
              <a:gd name="connsiteX1" fmla="*/ 471488 w 3929063"/>
              <a:gd name="connsiteY1" fmla="*/ 0 h 1092994"/>
              <a:gd name="connsiteX2" fmla="*/ 471488 w 3929063"/>
              <a:gd name="connsiteY2" fmla="*/ 1092994 h 1092994"/>
              <a:gd name="connsiteX3" fmla="*/ 578644 w 3929063"/>
              <a:gd name="connsiteY3" fmla="*/ 1092994 h 1092994"/>
              <a:gd name="connsiteX4" fmla="*/ 3793331 w 3929063"/>
              <a:gd name="connsiteY4" fmla="*/ 1092994 h 1092994"/>
              <a:gd name="connsiteX5" fmla="*/ 3793331 w 3929063"/>
              <a:gd name="connsiteY5" fmla="*/ 1028700 h 1092994"/>
              <a:gd name="connsiteX6" fmla="*/ 3793331 w 3929063"/>
              <a:gd name="connsiteY6" fmla="*/ 492919 h 1092994"/>
              <a:gd name="connsiteX7" fmla="*/ 3929063 w 3929063"/>
              <a:gd name="connsiteY7" fmla="*/ 492919 h 109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29063" h="1092994">
                <a:moveTo>
                  <a:pt x="0" y="0"/>
                </a:moveTo>
                <a:lnTo>
                  <a:pt x="471488" y="0"/>
                </a:lnTo>
                <a:lnTo>
                  <a:pt x="471488" y="1092994"/>
                </a:lnTo>
                <a:lnTo>
                  <a:pt x="578644" y="1092994"/>
                </a:lnTo>
                <a:lnTo>
                  <a:pt x="3793331" y="1092994"/>
                </a:lnTo>
                <a:lnTo>
                  <a:pt x="3793331" y="1028700"/>
                </a:lnTo>
                <a:lnTo>
                  <a:pt x="3793331" y="492919"/>
                </a:lnTo>
                <a:lnTo>
                  <a:pt x="3929063" y="492919"/>
                </a:lnTo>
              </a:path>
            </a:pathLst>
          </a:custGeom>
          <a:ln w="12700">
            <a:solidFill>
              <a:schemeClr val="bg1">
                <a:lumMod val="50000"/>
              </a:schemeClr>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6" name="Rectangle 65">
            <a:extLst>
              <a:ext uri="{FF2B5EF4-FFF2-40B4-BE49-F238E27FC236}">
                <a16:creationId xmlns:a16="http://schemas.microsoft.com/office/drawing/2014/main" id="{09D9B144-BD4F-7346-B71A-B98D924FBBB1}"/>
              </a:ext>
            </a:extLst>
          </p:cNvPr>
          <p:cNvSpPr/>
          <p:nvPr/>
        </p:nvSpPr>
        <p:spPr>
          <a:xfrm rot="16200000" flipV="1">
            <a:off x="4936341" y="2766593"/>
            <a:ext cx="319679" cy="426454"/>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67" name="Rectangle 66">
            <a:extLst>
              <a:ext uri="{FF2B5EF4-FFF2-40B4-BE49-F238E27FC236}">
                <a16:creationId xmlns:a16="http://schemas.microsoft.com/office/drawing/2014/main" id="{015B7E86-0846-3EF6-9293-46FEE046EBBF}"/>
              </a:ext>
            </a:extLst>
          </p:cNvPr>
          <p:cNvSpPr/>
          <p:nvPr/>
        </p:nvSpPr>
        <p:spPr>
          <a:xfrm rot="5400000" flipV="1">
            <a:off x="5864278" y="4093982"/>
            <a:ext cx="302814" cy="426454"/>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cxnSp>
        <p:nvCxnSpPr>
          <p:cNvPr id="68" name="Straight Connector 67">
            <a:extLst>
              <a:ext uri="{FF2B5EF4-FFF2-40B4-BE49-F238E27FC236}">
                <a16:creationId xmlns:a16="http://schemas.microsoft.com/office/drawing/2014/main" id="{65D75C99-7FC6-7A50-7C6E-D4B5119DF94B}"/>
              </a:ext>
            </a:extLst>
          </p:cNvPr>
          <p:cNvCxnSpPr>
            <a:cxnSpLocks/>
          </p:cNvCxnSpPr>
          <p:nvPr/>
        </p:nvCxnSpPr>
        <p:spPr bwMode="gray">
          <a:xfrm>
            <a:off x="7252776" y="4372239"/>
            <a:ext cx="0" cy="97309"/>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E2DC5B9-6542-14A6-F213-13F9DB242947}"/>
              </a:ext>
            </a:extLst>
          </p:cNvPr>
          <p:cNvCxnSpPr/>
          <p:nvPr/>
        </p:nvCxnSpPr>
        <p:spPr bwMode="gray">
          <a:xfrm>
            <a:off x="6702341" y="4372239"/>
            <a:ext cx="0" cy="97309"/>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ACF272C-AB06-B0C3-7BCE-A79AE39FE11D}"/>
              </a:ext>
            </a:extLst>
          </p:cNvPr>
          <p:cNvCxnSpPr/>
          <p:nvPr/>
        </p:nvCxnSpPr>
        <p:spPr bwMode="gray">
          <a:xfrm>
            <a:off x="7619956" y="4372239"/>
            <a:ext cx="0" cy="97309"/>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B6954A7-CAD3-B858-33C5-4985F9023FD2}"/>
              </a:ext>
            </a:extLst>
          </p:cNvPr>
          <p:cNvCxnSpPr>
            <a:cxnSpLocks/>
          </p:cNvCxnSpPr>
          <p:nvPr/>
        </p:nvCxnSpPr>
        <p:spPr bwMode="gray">
          <a:xfrm>
            <a:off x="6296018" y="4372239"/>
            <a:ext cx="0" cy="97309"/>
          </a:xfrm>
          <a:prstGeom prst="line">
            <a:avLst/>
          </a:prstGeom>
          <a:ln w="15875">
            <a:solidFill>
              <a:srgbClr val="0098C8"/>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2130CFE4-13CB-FF04-305B-4EFBB1202C0D}"/>
              </a:ext>
            </a:extLst>
          </p:cNvPr>
          <p:cNvCxnSpPr/>
          <p:nvPr/>
        </p:nvCxnSpPr>
        <p:spPr bwMode="gray">
          <a:xfrm>
            <a:off x="5018598" y="3076046"/>
            <a:ext cx="0" cy="73110"/>
          </a:xfrm>
          <a:prstGeom prst="line">
            <a:avLst/>
          </a:prstGeom>
          <a:ln w="15875">
            <a:solidFill>
              <a:srgbClr val="007B8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993B616-CFA3-096E-182A-2571113BF448}"/>
              </a:ext>
            </a:extLst>
          </p:cNvPr>
          <p:cNvCxnSpPr/>
          <p:nvPr/>
        </p:nvCxnSpPr>
        <p:spPr bwMode="gray">
          <a:xfrm>
            <a:off x="3707791" y="3458815"/>
            <a:ext cx="0" cy="73110"/>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F7E60041-1079-0C5F-E8B8-87EA3E2C6543}"/>
              </a:ext>
            </a:extLst>
          </p:cNvPr>
          <p:cNvCxnSpPr/>
          <p:nvPr/>
        </p:nvCxnSpPr>
        <p:spPr bwMode="gray">
          <a:xfrm>
            <a:off x="2278746" y="3462371"/>
            <a:ext cx="0" cy="80421"/>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9A8B8C5-DBC9-DD72-69A5-EF629C24F746}"/>
              </a:ext>
            </a:extLst>
          </p:cNvPr>
          <p:cNvCxnSpPr/>
          <p:nvPr/>
        </p:nvCxnSpPr>
        <p:spPr bwMode="gray">
          <a:xfrm>
            <a:off x="2595628" y="2811620"/>
            <a:ext cx="0" cy="80421"/>
          </a:xfrm>
          <a:prstGeom prst="line">
            <a:avLst/>
          </a:prstGeom>
          <a:ln w="15875">
            <a:solidFill>
              <a:srgbClr val="E68C28"/>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85F0C256-172A-FBCF-88C7-AA6F2B2A168E}"/>
              </a:ext>
            </a:extLst>
          </p:cNvPr>
          <p:cNvGrpSpPr/>
          <p:nvPr/>
        </p:nvGrpSpPr>
        <p:grpSpPr>
          <a:xfrm>
            <a:off x="6430395" y="3801904"/>
            <a:ext cx="542117" cy="573911"/>
            <a:chOff x="6036855" y="2199341"/>
            <a:chExt cx="542117" cy="573911"/>
          </a:xfrm>
        </p:grpSpPr>
        <p:grpSp>
          <p:nvGrpSpPr>
            <p:cNvPr id="77" name="Group 76">
              <a:extLst>
                <a:ext uri="{FF2B5EF4-FFF2-40B4-BE49-F238E27FC236}">
                  <a16:creationId xmlns:a16="http://schemas.microsoft.com/office/drawing/2014/main" id="{82B302D5-B474-7808-A310-40E162503E11}"/>
                </a:ext>
              </a:extLst>
            </p:cNvPr>
            <p:cNvGrpSpPr/>
            <p:nvPr/>
          </p:nvGrpSpPr>
          <p:grpSpPr>
            <a:xfrm>
              <a:off x="6125753" y="2406901"/>
              <a:ext cx="366096" cy="366354"/>
              <a:chOff x="6048000" y="2396768"/>
              <a:chExt cx="402706" cy="402989"/>
            </a:xfrm>
          </p:grpSpPr>
          <p:sp>
            <p:nvSpPr>
              <p:cNvPr id="79" name="Rectangle 78">
                <a:extLst>
                  <a:ext uri="{FF2B5EF4-FFF2-40B4-BE49-F238E27FC236}">
                    <a16:creationId xmlns:a16="http://schemas.microsoft.com/office/drawing/2014/main" id="{EB3FAA07-014A-E607-C38E-3B48A6AD3E7C}"/>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80" name="Group 79">
                <a:extLst>
                  <a:ext uri="{FF2B5EF4-FFF2-40B4-BE49-F238E27FC236}">
                    <a16:creationId xmlns:a16="http://schemas.microsoft.com/office/drawing/2014/main" id="{E28B2E05-A58C-ECEF-8ABD-FF746B0DB6D4}"/>
                  </a:ext>
                </a:extLst>
              </p:cNvPr>
              <p:cNvGrpSpPr/>
              <p:nvPr/>
            </p:nvGrpSpPr>
            <p:grpSpPr>
              <a:xfrm>
                <a:off x="6048000" y="2396768"/>
                <a:ext cx="402706" cy="402989"/>
                <a:chOff x="611268" y="5235083"/>
                <a:chExt cx="682595" cy="683075"/>
              </a:xfrm>
              <a:solidFill>
                <a:schemeClr val="accent3"/>
              </a:solidFill>
            </p:grpSpPr>
            <p:sp>
              <p:nvSpPr>
                <p:cNvPr id="81" name="Freeform 80">
                  <a:extLst>
                    <a:ext uri="{FF2B5EF4-FFF2-40B4-BE49-F238E27FC236}">
                      <a16:creationId xmlns:a16="http://schemas.microsoft.com/office/drawing/2014/main" id="{A62DCB14-AFB4-4CEC-1819-8F5C4B89488A}"/>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82" name="Freeform 81">
                  <a:extLst>
                    <a:ext uri="{FF2B5EF4-FFF2-40B4-BE49-F238E27FC236}">
                      <a16:creationId xmlns:a16="http://schemas.microsoft.com/office/drawing/2014/main" id="{21972222-1ABD-7C24-C507-9ACBEA344C73}"/>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83" name="Freeform 82">
                  <a:extLst>
                    <a:ext uri="{FF2B5EF4-FFF2-40B4-BE49-F238E27FC236}">
                      <a16:creationId xmlns:a16="http://schemas.microsoft.com/office/drawing/2014/main" id="{8EBD7089-3DE0-50C0-F0D4-C0BE8A4BAC4F}"/>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78" name="Rectangle 77">
              <a:extLst>
                <a:ext uri="{FF2B5EF4-FFF2-40B4-BE49-F238E27FC236}">
                  <a16:creationId xmlns:a16="http://schemas.microsoft.com/office/drawing/2014/main" id="{17880F32-996C-4CA3-F5FC-7F54B8CFEEFE}"/>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VM3</a:t>
              </a:r>
            </a:p>
          </p:txBody>
        </p:sp>
      </p:grpSp>
      <p:grpSp>
        <p:nvGrpSpPr>
          <p:cNvPr id="84" name="Group 83">
            <a:extLst>
              <a:ext uri="{FF2B5EF4-FFF2-40B4-BE49-F238E27FC236}">
                <a16:creationId xmlns:a16="http://schemas.microsoft.com/office/drawing/2014/main" id="{4CCAA6DE-7D6C-D744-92B7-0875A7BE89DF}"/>
              </a:ext>
            </a:extLst>
          </p:cNvPr>
          <p:cNvGrpSpPr/>
          <p:nvPr/>
        </p:nvGrpSpPr>
        <p:grpSpPr>
          <a:xfrm>
            <a:off x="6981718" y="3801904"/>
            <a:ext cx="542117" cy="573911"/>
            <a:chOff x="6036855" y="2199341"/>
            <a:chExt cx="542117" cy="573911"/>
          </a:xfrm>
        </p:grpSpPr>
        <p:grpSp>
          <p:nvGrpSpPr>
            <p:cNvPr id="85" name="Group 84">
              <a:extLst>
                <a:ext uri="{FF2B5EF4-FFF2-40B4-BE49-F238E27FC236}">
                  <a16:creationId xmlns:a16="http://schemas.microsoft.com/office/drawing/2014/main" id="{194CAB24-9F78-0494-3EE8-A44814639F86}"/>
                </a:ext>
              </a:extLst>
            </p:cNvPr>
            <p:cNvGrpSpPr/>
            <p:nvPr/>
          </p:nvGrpSpPr>
          <p:grpSpPr>
            <a:xfrm>
              <a:off x="6125753" y="2406901"/>
              <a:ext cx="366096" cy="366354"/>
              <a:chOff x="6048000" y="2396768"/>
              <a:chExt cx="402706" cy="402989"/>
            </a:xfrm>
          </p:grpSpPr>
          <p:sp>
            <p:nvSpPr>
              <p:cNvPr id="87" name="Rectangle 86">
                <a:extLst>
                  <a:ext uri="{FF2B5EF4-FFF2-40B4-BE49-F238E27FC236}">
                    <a16:creationId xmlns:a16="http://schemas.microsoft.com/office/drawing/2014/main" id="{7D84B348-FD59-0A5C-1AF0-9A03F56B8E30}"/>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88" name="Group 87">
                <a:extLst>
                  <a:ext uri="{FF2B5EF4-FFF2-40B4-BE49-F238E27FC236}">
                    <a16:creationId xmlns:a16="http://schemas.microsoft.com/office/drawing/2014/main" id="{D63D92F5-FC15-F2E3-7629-87E546B1738F}"/>
                  </a:ext>
                </a:extLst>
              </p:cNvPr>
              <p:cNvGrpSpPr/>
              <p:nvPr/>
            </p:nvGrpSpPr>
            <p:grpSpPr>
              <a:xfrm>
                <a:off x="6048000" y="2396768"/>
                <a:ext cx="402706" cy="402989"/>
                <a:chOff x="611268" y="5235083"/>
                <a:chExt cx="682595" cy="683075"/>
              </a:xfrm>
              <a:solidFill>
                <a:schemeClr val="accent3"/>
              </a:solidFill>
            </p:grpSpPr>
            <p:sp>
              <p:nvSpPr>
                <p:cNvPr id="89" name="Freeform 88">
                  <a:extLst>
                    <a:ext uri="{FF2B5EF4-FFF2-40B4-BE49-F238E27FC236}">
                      <a16:creationId xmlns:a16="http://schemas.microsoft.com/office/drawing/2014/main" id="{AF1679D5-7424-AFBF-D3B1-A088E43BE6E6}"/>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90" name="Freeform 89">
                  <a:extLst>
                    <a:ext uri="{FF2B5EF4-FFF2-40B4-BE49-F238E27FC236}">
                      <a16:creationId xmlns:a16="http://schemas.microsoft.com/office/drawing/2014/main" id="{D89CD0E8-0324-1790-9353-26939F5D36EC}"/>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91" name="Freeform 90">
                  <a:extLst>
                    <a:ext uri="{FF2B5EF4-FFF2-40B4-BE49-F238E27FC236}">
                      <a16:creationId xmlns:a16="http://schemas.microsoft.com/office/drawing/2014/main" id="{C6B3CD31-290A-DB98-86C1-24F64CC1C715}"/>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86" name="Rectangle 85">
              <a:extLst>
                <a:ext uri="{FF2B5EF4-FFF2-40B4-BE49-F238E27FC236}">
                  <a16:creationId xmlns:a16="http://schemas.microsoft.com/office/drawing/2014/main" id="{E6A509BE-D54A-0549-E1DD-092AE031E091}"/>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VM1</a:t>
              </a:r>
            </a:p>
          </p:txBody>
        </p:sp>
      </p:grpSp>
      <p:grpSp>
        <p:nvGrpSpPr>
          <p:cNvPr id="92" name="Group 91">
            <a:extLst>
              <a:ext uri="{FF2B5EF4-FFF2-40B4-BE49-F238E27FC236}">
                <a16:creationId xmlns:a16="http://schemas.microsoft.com/office/drawing/2014/main" id="{6C4D97A4-6C60-0DE9-F340-7ADCE31E3493}"/>
              </a:ext>
            </a:extLst>
          </p:cNvPr>
          <p:cNvGrpSpPr/>
          <p:nvPr/>
        </p:nvGrpSpPr>
        <p:grpSpPr>
          <a:xfrm>
            <a:off x="7374794" y="3801904"/>
            <a:ext cx="542117" cy="573914"/>
            <a:chOff x="6108891" y="3315760"/>
            <a:chExt cx="542117" cy="573914"/>
          </a:xfrm>
        </p:grpSpPr>
        <p:grpSp>
          <p:nvGrpSpPr>
            <p:cNvPr id="93" name="Group 92">
              <a:extLst>
                <a:ext uri="{FF2B5EF4-FFF2-40B4-BE49-F238E27FC236}">
                  <a16:creationId xmlns:a16="http://schemas.microsoft.com/office/drawing/2014/main" id="{6B91A4BE-B0CB-2C05-9D52-B6B1597ADB36}"/>
                </a:ext>
              </a:extLst>
            </p:cNvPr>
            <p:cNvGrpSpPr/>
            <p:nvPr/>
          </p:nvGrpSpPr>
          <p:grpSpPr>
            <a:xfrm>
              <a:off x="6197791" y="3523320"/>
              <a:ext cx="382697" cy="366354"/>
              <a:chOff x="6048000" y="2396768"/>
              <a:chExt cx="420967" cy="402989"/>
            </a:xfrm>
          </p:grpSpPr>
          <p:sp>
            <p:nvSpPr>
              <p:cNvPr id="95" name="Rectangle 94">
                <a:extLst>
                  <a:ext uri="{FF2B5EF4-FFF2-40B4-BE49-F238E27FC236}">
                    <a16:creationId xmlns:a16="http://schemas.microsoft.com/office/drawing/2014/main" id="{74F4E09A-4510-8907-4C1D-5661AB9622F1}"/>
                  </a:ext>
                </a:extLst>
              </p:cNvPr>
              <p:cNvSpPr/>
              <p:nvPr/>
            </p:nvSpPr>
            <p:spPr bwMode="gray">
              <a:xfrm>
                <a:off x="6114179"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96" name="Group 95">
                <a:extLst>
                  <a:ext uri="{FF2B5EF4-FFF2-40B4-BE49-F238E27FC236}">
                    <a16:creationId xmlns:a16="http://schemas.microsoft.com/office/drawing/2014/main" id="{1B366015-CE23-4A71-6D9B-F5FF2B670083}"/>
                  </a:ext>
                </a:extLst>
              </p:cNvPr>
              <p:cNvGrpSpPr/>
              <p:nvPr/>
            </p:nvGrpSpPr>
            <p:grpSpPr>
              <a:xfrm>
                <a:off x="6048000" y="2396768"/>
                <a:ext cx="402706" cy="402989"/>
                <a:chOff x="611268" y="5235083"/>
                <a:chExt cx="682595" cy="683075"/>
              </a:xfrm>
              <a:solidFill>
                <a:schemeClr val="accent3"/>
              </a:solidFill>
            </p:grpSpPr>
            <p:sp>
              <p:nvSpPr>
                <p:cNvPr id="97" name="Freeform 96">
                  <a:extLst>
                    <a:ext uri="{FF2B5EF4-FFF2-40B4-BE49-F238E27FC236}">
                      <a16:creationId xmlns:a16="http://schemas.microsoft.com/office/drawing/2014/main" id="{F43A400B-842B-9560-9F6E-A2363B6776E7}"/>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87" name="Freeform 186">
                  <a:extLst>
                    <a:ext uri="{FF2B5EF4-FFF2-40B4-BE49-F238E27FC236}">
                      <a16:creationId xmlns:a16="http://schemas.microsoft.com/office/drawing/2014/main" id="{A52C91C5-0FB7-0097-BE70-8E1CFAA10C03}"/>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88" name="Freeform 187">
                  <a:extLst>
                    <a:ext uri="{FF2B5EF4-FFF2-40B4-BE49-F238E27FC236}">
                      <a16:creationId xmlns:a16="http://schemas.microsoft.com/office/drawing/2014/main" id="{8BDB7A5D-A471-97CC-3ECA-B77420031987}"/>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94" name="Rectangle 93">
              <a:extLst>
                <a:ext uri="{FF2B5EF4-FFF2-40B4-BE49-F238E27FC236}">
                  <a16:creationId xmlns:a16="http://schemas.microsoft.com/office/drawing/2014/main" id="{5ADF659A-506C-8C09-8998-FCBDFCD77F85}"/>
                </a:ext>
              </a:extLst>
            </p:cNvPr>
            <p:cNvSpPr/>
            <p:nvPr/>
          </p:nvSpPr>
          <p:spPr bwMode="gray">
            <a:xfrm>
              <a:off x="6108891" y="3315760"/>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VM2</a:t>
              </a:r>
            </a:p>
          </p:txBody>
        </p:sp>
      </p:grpSp>
      <p:grpSp>
        <p:nvGrpSpPr>
          <p:cNvPr id="189" name="Group 188">
            <a:extLst>
              <a:ext uri="{FF2B5EF4-FFF2-40B4-BE49-F238E27FC236}">
                <a16:creationId xmlns:a16="http://schemas.microsoft.com/office/drawing/2014/main" id="{91C27F0D-BF37-C4E8-8989-BE9C17F2EF6D}"/>
              </a:ext>
            </a:extLst>
          </p:cNvPr>
          <p:cNvGrpSpPr/>
          <p:nvPr/>
        </p:nvGrpSpPr>
        <p:grpSpPr>
          <a:xfrm>
            <a:off x="6024960" y="3801904"/>
            <a:ext cx="542117" cy="573911"/>
            <a:chOff x="6036855" y="2199341"/>
            <a:chExt cx="542117" cy="573911"/>
          </a:xfrm>
        </p:grpSpPr>
        <p:grpSp>
          <p:nvGrpSpPr>
            <p:cNvPr id="190" name="Group 189">
              <a:extLst>
                <a:ext uri="{FF2B5EF4-FFF2-40B4-BE49-F238E27FC236}">
                  <a16:creationId xmlns:a16="http://schemas.microsoft.com/office/drawing/2014/main" id="{1EFE9D63-8F64-1FA7-B5D4-FCC79E565245}"/>
                </a:ext>
              </a:extLst>
            </p:cNvPr>
            <p:cNvGrpSpPr/>
            <p:nvPr/>
          </p:nvGrpSpPr>
          <p:grpSpPr>
            <a:xfrm>
              <a:off x="6125753" y="2406901"/>
              <a:ext cx="366096" cy="366354"/>
              <a:chOff x="6048000" y="2396768"/>
              <a:chExt cx="402706" cy="402989"/>
            </a:xfrm>
          </p:grpSpPr>
          <p:sp>
            <p:nvSpPr>
              <p:cNvPr id="192" name="Rectangle 191">
                <a:extLst>
                  <a:ext uri="{FF2B5EF4-FFF2-40B4-BE49-F238E27FC236}">
                    <a16:creationId xmlns:a16="http://schemas.microsoft.com/office/drawing/2014/main" id="{D4BE42FE-F487-27C3-1A08-443320DC4128}"/>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93" name="Group 192">
                <a:extLst>
                  <a:ext uri="{FF2B5EF4-FFF2-40B4-BE49-F238E27FC236}">
                    <a16:creationId xmlns:a16="http://schemas.microsoft.com/office/drawing/2014/main" id="{2DEA8B92-2CB6-D7A6-3AF2-CD9E4EF034FB}"/>
                  </a:ext>
                </a:extLst>
              </p:cNvPr>
              <p:cNvGrpSpPr/>
              <p:nvPr/>
            </p:nvGrpSpPr>
            <p:grpSpPr>
              <a:xfrm>
                <a:off x="6048000" y="2396768"/>
                <a:ext cx="402706" cy="402989"/>
                <a:chOff x="611268" y="5235083"/>
                <a:chExt cx="682595" cy="683075"/>
              </a:xfrm>
              <a:solidFill>
                <a:schemeClr val="accent3"/>
              </a:solidFill>
            </p:grpSpPr>
            <p:sp>
              <p:nvSpPr>
                <p:cNvPr id="194" name="Freeform 193">
                  <a:extLst>
                    <a:ext uri="{FF2B5EF4-FFF2-40B4-BE49-F238E27FC236}">
                      <a16:creationId xmlns:a16="http://schemas.microsoft.com/office/drawing/2014/main" id="{91F47E17-0C31-06C3-D090-0A60DBD6A48B}"/>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95" name="Freeform 194">
                  <a:extLst>
                    <a:ext uri="{FF2B5EF4-FFF2-40B4-BE49-F238E27FC236}">
                      <a16:creationId xmlns:a16="http://schemas.microsoft.com/office/drawing/2014/main" id="{1183F0EB-AD2A-D69B-8B87-D734FAAE74AD}"/>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98" name="Freeform 197">
                  <a:extLst>
                    <a:ext uri="{FF2B5EF4-FFF2-40B4-BE49-F238E27FC236}">
                      <a16:creationId xmlns:a16="http://schemas.microsoft.com/office/drawing/2014/main" id="{8C74B091-5062-3830-D4DA-152FDD01AF88}"/>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191" name="Rectangle 190">
              <a:extLst>
                <a:ext uri="{FF2B5EF4-FFF2-40B4-BE49-F238E27FC236}">
                  <a16:creationId xmlns:a16="http://schemas.microsoft.com/office/drawing/2014/main" id="{94CAB4AD-5464-84B8-8A55-C990913DED42}"/>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VM4</a:t>
              </a:r>
            </a:p>
          </p:txBody>
        </p:sp>
      </p:grpSp>
      <p:sp>
        <p:nvSpPr>
          <p:cNvPr id="199" name="Rectangle: Rounded Corners 2399">
            <a:extLst>
              <a:ext uri="{FF2B5EF4-FFF2-40B4-BE49-F238E27FC236}">
                <a16:creationId xmlns:a16="http://schemas.microsoft.com/office/drawing/2014/main" id="{B5382C9F-E379-67EB-5F0A-8240E912BBBB}"/>
              </a:ext>
            </a:extLst>
          </p:cNvPr>
          <p:cNvSpPr/>
          <p:nvPr/>
        </p:nvSpPr>
        <p:spPr>
          <a:xfrm>
            <a:off x="3869628" y="4758335"/>
            <a:ext cx="1064468" cy="315899"/>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all" spc="0" normalizeH="0" baseline="0" noProof="0" dirty="0">
                <a:ln>
                  <a:noFill/>
                </a:ln>
                <a:solidFill>
                  <a:srgbClr val="000000"/>
                </a:solidFill>
                <a:effectLst/>
                <a:uLnTx/>
                <a:uFillTx/>
                <a:latin typeface="Arial" panose="020B0604020202020204"/>
                <a:ea typeface="+mn-ea"/>
                <a:cs typeface="Arial" panose="020B0604020202020204" pitchFamily="34" charset="0"/>
              </a:rPr>
              <a:t>VCF Cluster</a:t>
            </a:r>
          </a:p>
        </p:txBody>
      </p:sp>
      <p:sp>
        <p:nvSpPr>
          <p:cNvPr id="200" name="Rectangle: Rounded Corners 2399">
            <a:extLst>
              <a:ext uri="{FF2B5EF4-FFF2-40B4-BE49-F238E27FC236}">
                <a16:creationId xmlns:a16="http://schemas.microsoft.com/office/drawing/2014/main" id="{9CBDE92B-22B4-625A-9221-42E7CCD753B9}"/>
              </a:ext>
            </a:extLst>
          </p:cNvPr>
          <p:cNvSpPr/>
          <p:nvPr/>
        </p:nvSpPr>
        <p:spPr>
          <a:xfrm>
            <a:off x="1174847" y="4656755"/>
            <a:ext cx="1098621" cy="502198"/>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all" spc="0" normalizeH="0" baseline="0" noProof="0" dirty="0">
                <a:ln>
                  <a:noFill/>
                </a:ln>
                <a:solidFill>
                  <a:srgbClr val="000000"/>
                </a:solidFill>
                <a:effectLst/>
                <a:uLnTx/>
                <a:uFillTx/>
                <a:latin typeface="Arial" panose="020B0604020202020204"/>
                <a:ea typeface="+mn-ea"/>
                <a:cs typeface="Arial" panose="020B0604020202020204" pitchFamily="34" charset="0"/>
              </a:rPr>
              <a:t>VCF Cluster</a:t>
            </a:r>
          </a:p>
        </p:txBody>
      </p:sp>
      <p:sp>
        <p:nvSpPr>
          <p:cNvPr id="201" name="Rectangle 200">
            <a:extLst>
              <a:ext uri="{FF2B5EF4-FFF2-40B4-BE49-F238E27FC236}">
                <a16:creationId xmlns:a16="http://schemas.microsoft.com/office/drawing/2014/main" id="{5D24F5AC-021C-3574-C42C-3C1B5BB81925}"/>
              </a:ext>
            </a:extLst>
          </p:cNvPr>
          <p:cNvSpPr/>
          <p:nvPr/>
        </p:nvSpPr>
        <p:spPr>
          <a:xfrm rot="10800000" flipV="1">
            <a:off x="2119308" y="2285483"/>
            <a:ext cx="302541" cy="230323"/>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03" name="Rectangle 202">
            <a:extLst>
              <a:ext uri="{FF2B5EF4-FFF2-40B4-BE49-F238E27FC236}">
                <a16:creationId xmlns:a16="http://schemas.microsoft.com/office/drawing/2014/main" id="{29E9F832-8EED-12E2-F6BA-7196E8DACFB0}"/>
              </a:ext>
            </a:extLst>
          </p:cNvPr>
          <p:cNvSpPr/>
          <p:nvPr/>
        </p:nvSpPr>
        <p:spPr>
          <a:xfrm rot="10800000" flipV="1">
            <a:off x="7517452" y="2612681"/>
            <a:ext cx="245008" cy="263184"/>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cxnSp>
        <p:nvCxnSpPr>
          <p:cNvPr id="204" name="Elbow Connector 192">
            <a:extLst>
              <a:ext uri="{FF2B5EF4-FFF2-40B4-BE49-F238E27FC236}">
                <a16:creationId xmlns:a16="http://schemas.microsoft.com/office/drawing/2014/main" id="{92B48E5C-5F46-3B72-35C6-2BCACA179D89}"/>
              </a:ext>
            </a:extLst>
          </p:cNvPr>
          <p:cNvCxnSpPr>
            <a:cxnSpLocks/>
          </p:cNvCxnSpPr>
          <p:nvPr/>
        </p:nvCxnSpPr>
        <p:spPr bwMode="gray">
          <a:xfrm>
            <a:off x="2050760" y="2898162"/>
            <a:ext cx="2603681" cy="0"/>
          </a:xfrm>
          <a:prstGeom prst="straightConnector1">
            <a:avLst/>
          </a:prstGeom>
          <a:solidFill>
            <a:schemeClr val="bg1"/>
          </a:solidFill>
          <a:ln w="19050" cap="flat" cmpd="sng" algn="ctr">
            <a:solidFill>
              <a:srgbClr val="E68C28"/>
            </a:solidFill>
            <a:prstDash val="solid"/>
            <a:miter lim="800000"/>
            <a:tailEnd type="none"/>
          </a:ln>
          <a:effectLst/>
        </p:spPr>
      </p:cxnSp>
      <p:sp>
        <p:nvSpPr>
          <p:cNvPr id="207" name="Google Shape;4884;p61">
            <a:extLst>
              <a:ext uri="{FF2B5EF4-FFF2-40B4-BE49-F238E27FC236}">
                <a16:creationId xmlns:a16="http://schemas.microsoft.com/office/drawing/2014/main" id="{CBF1BE60-ADCD-2493-43DB-B2399E74000A}"/>
              </a:ext>
            </a:extLst>
          </p:cNvPr>
          <p:cNvSpPr/>
          <p:nvPr/>
        </p:nvSpPr>
        <p:spPr>
          <a:xfrm>
            <a:off x="6960685" y="4475512"/>
            <a:ext cx="936302" cy="426455"/>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80425" tIns="40200" rIns="80425" bIns="402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200" b="0" i="0" u="none" strike="noStrike" kern="1200" cap="none" spc="0" normalizeH="0" baseline="0" noProof="0">
              <a:ln>
                <a:noFill/>
              </a:ln>
              <a:solidFill>
                <a:srgbClr val="F2F2F2"/>
              </a:solidFill>
              <a:effectLst/>
              <a:uLnTx/>
              <a:uFillTx/>
              <a:latin typeface="Arial" panose="020B0604020202020204"/>
              <a:ea typeface="Arial"/>
              <a:cs typeface="Arial"/>
              <a:sym typeface="Arial"/>
            </a:endParaRPr>
          </a:p>
        </p:txBody>
      </p:sp>
      <p:sp>
        <p:nvSpPr>
          <p:cNvPr id="208" name="Google Shape;4886;p61">
            <a:extLst>
              <a:ext uri="{FF2B5EF4-FFF2-40B4-BE49-F238E27FC236}">
                <a16:creationId xmlns:a16="http://schemas.microsoft.com/office/drawing/2014/main" id="{3CB27759-B3AC-9802-6DAD-D651290D103F}"/>
              </a:ext>
            </a:extLst>
          </p:cNvPr>
          <p:cNvSpPr/>
          <p:nvPr/>
        </p:nvSpPr>
        <p:spPr>
          <a:xfrm>
            <a:off x="6948978" y="4482940"/>
            <a:ext cx="984786" cy="437886"/>
          </a:xfrm>
          <a:prstGeom prst="rect">
            <a:avLst/>
          </a:prstGeom>
          <a:gradFill flip="none" rotWithShape="1">
            <a:gsLst>
              <a:gs pos="0">
                <a:srgbClr val="FFFFFF">
                  <a:alpha val="0"/>
                </a:srgbClr>
              </a:gs>
              <a:gs pos="47000">
                <a:schemeClr val="lt1"/>
              </a:gs>
              <a:gs pos="100000">
                <a:schemeClr val="lt1"/>
              </a:gs>
            </a:gsLst>
            <a:lin ang="2700000" scaled="1"/>
            <a:tileRect/>
          </a:gradFill>
          <a:ln>
            <a:noFill/>
          </a:ln>
        </p:spPr>
        <p:txBody>
          <a:bodyPr spcFirstLastPara="1" wrap="square" lIns="80425" tIns="40200" rIns="80425" bIns="402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200" b="0" i="0" u="none" strike="noStrike" kern="1200" cap="none" spc="0" normalizeH="0" baseline="0" noProof="0">
              <a:ln>
                <a:noFill/>
              </a:ln>
              <a:solidFill>
                <a:srgbClr val="F2F2F2"/>
              </a:solidFill>
              <a:effectLst/>
              <a:uLnTx/>
              <a:uFillTx/>
              <a:latin typeface="Arial" panose="020B0604020202020204"/>
              <a:ea typeface="Arial"/>
              <a:cs typeface="Arial"/>
              <a:sym typeface="Arial"/>
            </a:endParaRPr>
          </a:p>
        </p:txBody>
      </p:sp>
      <p:sp>
        <p:nvSpPr>
          <p:cNvPr id="209" name="Google Shape;4887;p61">
            <a:extLst>
              <a:ext uri="{FF2B5EF4-FFF2-40B4-BE49-F238E27FC236}">
                <a16:creationId xmlns:a16="http://schemas.microsoft.com/office/drawing/2014/main" id="{E4431E7F-E7A6-B8B0-CD4A-693F55A64A63}"/>
              </a:ext>
            </a:extLst>
          </p:cNvPr>
          <p:cNvSpPr/>
          <p:nvPr/>
        </p:nvSpPr>
        <p:spPr>
          <a:xfrm>
            <a:off x="7042717" y="4546164"/>
            <a:ext cx="1252303" cy="177596"/>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90000"/>
              </a:lnSpc>
              <a:spcBef>
                <a:spcPts val="0"/>
              </a:spcBef>
              <a:spcAft>
                <a:spcPts val="0"/>
              </a:spcAft>
              <a:buClr>
                <a:srgbClr val="000000"/>
              </a:buClr>
              <a:buSzPts val="900"/>
              <a:buFont typeface="Arial"/>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VLAN 2</a:t>
            </a:r>
            <a:endParaRPr kumimoji="0" sz="1000"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108" name="Elbow Connector 107">
            <a:extLst>
              <a:ext uri="{FF2B5EF4-FFF2-40B4-BE49-F238E27FC236}">
                <a16:creationId xmlns:a16="http://schemas.microsoft.com/office/drawing/2014/main" id="{6B07819C-E173-2993-4380-3C33CC2299D2}"/>
              </a:ext>
            </a:extLst>
          </p:cNvPr>
          <p:cNvCxnSpPr>
            <a:cxnSpLocks/>
          </p:cNvCxnSpPr>
          <p:nvPr/>
        </p:nvCxnSpPr>
        <p:spPr bwMode="gray">
          <a:xfrm rot="10800000" flipV="1">
            <a:off x="4781770" y="4135509"/>
            <a:ext cx="2" cy="433424"/>
          </a:xfrm>
          <a:prstGeom prst="bentConnector3">
            <a:avLst>
              <a:gd name="adj1" fmla="val 2147483646"/>
            </a:avLst>
          </a:prstGeom>
          <a:solidFill>
            <a:schemeClr val="bg1"/>
          </a:solidFill>
          <a:ln w="19050" cap="flat" cmpd="sng" algn="ctr">
            <a:solidFill>
              <a:schemeClr val="accent1"/>
            </a:solidFill>
            <a:prstDash val="solid"/>
            <a:miter lim="800000"/>
            <a:headEnd type="oval" w="sm" len="sm"/>
            <a:tailEnd type="oval" w="sm" len="sm"/>
          </a:ln>
          <a:effectLst/>
        </p:spPr>
      </p:cxnSp>
    </p:spTree>
    <p:extLst>
      <p:ext uri="{BB962C8B-B14F-4D97-AF65-F5344CB8AC3E}">
        <p14:creationId xmlns:p14="http://schemas.microsoft.com/office/powerpoint/2010/main" val="199306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nodeType="clickEffect">
                                  <p:stCondLst>
                                    <p:cond delay="0"/>
                                  </p:stCondLst>
                                  <p:childTnLst>
                                    <p:animEffect transition="out" filter="wipe(up)">
                                      <p:cBhvr>
                                        <p:cTn id="6" dur="500"/>
                                        <p:tgtEl>
                                          <p:spTgt spid="68"/>
                                        </p:tgtEl>
                                      </p:cBhvr>
                                    </p:animEffect>
                                    <p:set>
                                      <p:cBhvr>
                                        <p:cTn id="7" dur="1" fill="hold">
                                          <p:stCondLst>
                                            <p:cond delay="499"/>
                                          </p:stCondLst>
                                        </p:cTn>
                                        <p:tgtEl>
                                          <p:spTgt spid="68"/>
                                        </p:tgtEl>
                                        <p:attrNameLst>
                                          <p:attrName>style.visibility</p:attrName>
                                        </p:attrNameLst>
                                      </p:cBhvr>
                                      <p:to>
                                        <p:strVal val="hidden"/>
                                      </p:to>
                                    </p:set>
                                  </p:childTnLst>
                                </p:cTn>
                              </p:par>
                              <p:par>
                                <p:cTn id="8" presetID="0" presetClass="path" presetSubtype="0" accel="50000" decel="50000" fill="hold" nodeType="withEffect">
                                  <p:stCondLst>
                                    <p:cond delay="0"/>
                                  </p:stCondLst>
                                  <p:childTnLst>
                                    <p:animMotion origin="layout" path="M 2.15942E-6 -1.48148E-6 L 2.15942E-6 -0.2831 L -0.00782 -0.2831 L -0.29109 -0.2831 C -0.29109 -0.22592 -0.29057 -0.1875 -0.29057 -0.13032 " pathEditMode="relative" rAng="0" ptsTypes="AAAAA">
                                      <p:cBhvr>
                                        <p:cTn id="9" dur="2000" fill="hold"/>
                                        <p:tgtEl>
                                          <p:spTgt spid="84"/>
                                        </p:tgtEl>
                                        <p:attrNameLst>
                                          <p:attrName>ppt_x</p:attrName>
                                          <p:attrName>ppt_y</p:attrName>
                                        </p:attrNameLst>
                                      </p:cBhvr>
                                      <p:rCtr x="-14561" y="-14167"/>
                                    </p:animMotion>
                                  </p:childTnLst>
                                </p:cTn>
                              </p:par>
                            </p:childTnLst>
                          </p:cTn>
                        </p:par>
                        <p:par>
                          <p:cTn id="10" fill="hold">
                            <p:stCondLst>
                              <p:cond delay="2000"/>
                            </p:stCondLst>
                            <p:childTnLst>
                              <p:par>
                                <p:cTn id="11" presetID="22" presetClass="entr" presetSubtype="1" fill="hold" nodeType="afterEffect">
                                  <p:stCondLst>
                                    <p:cond delay="0"/>
                                  </p:stCondLst>
                                  <p:childTnLst>
                                    <p:set>
                                      <p:cBhvr>
                                        <p:cTn id="12" dur="1" fill="hold">
                                          <p:stCondLst>
                                            <p:cond delay="0"/>
                                          </p:stCondLst>
                                        </p:cTn>
                                        <p:tgtEl>
                                          <p:spTgt spid="73"/>
                                        </p:tgtEl>
                                        <p:attrNameLst>
                                          <p:attrName>style.visibility</p:attrName>
                                        </p:attrNameLst>
                                      </p:cBhvr>
                                      <p:to>
                                        <p:strVal val="visible"/>
                                      </p:to>
                                    </p:set>
                                    <p:animEffect transition="in" filter="wipe(up)">
                                      <p:cBhvr>
                                        <p:cTn id="13" dur="500"/>
                                        <p:tgtEl>
                                          <p:spTgt spid="7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xit" presetSubtype="1" fill="hold" nodeType="clickEffect">
                                  <p:stCondLst>
                                    <p:cond delay="0"/>
                                  </p:stCondLst>
                                  <p:childTnLst>
                                    <p:animEffect transition="out" filter="wipe(up)">
                                      <p:cBhvr>
                                        <p:cTn id="17" dur="500"/>
                                        <p:tgtEl>
                                          <p:spTgt spid="70"/>
                                        </p:tgtEl>
                                      </p:cBhvr>
                                    </p:animEffect>
                                    <p:set>
                                      <p:cBhvr>
                                        <p:cTn id="18" dur="1" fill="hold">
                                          <p:stCondLst>
                                            <p:cond delay="499"/>
                                          </p:stCondLst>
                                        </p:cTn>
                                        <p:tgtEl>
                                          <p:spTgt spid="70"/>
                                        </p:tgtEl>
                                        <p:attrNameLst>
                                          <p:attrName>style.visibility</p:attrName>
                                        </p:attrNameLst>
                                      </p:cBhvr>
                                      <p:to>
                                        <p:strVal val="hidden"/>
                                      </p:to>
                                    </p:set>
                                  </p:childTnLst>
                                </p:cTn>
                              </p:par>
                              <p:par>
                                <p:cTn id="19" presetID="0" presetClass="path" presetSubtype="0" accel="50000" decel="50000" fill="hold" nodeType="withEffect">
                                  <p:stCondLst>
                                    <p:cond delay="0"/>
                                  </p:stCondLst>
                                  <p:childTnLst>
                                    <p:animMotion origin="layout" path="M 2.08127E-6 -1.48148E-6 L 2.08127E-6 -0.32546 L -0.01277 -0.32546 L -0.43931 -0.32523 L -0.43931 -0.12963 " pathEditMode="relative" rAng="0" ptsTypes="AAAAA">
                                      <p:cBhvr>
                                        <p:cTn id="20" dur="2000" fill="hold"/>
                                        <p:tgtEl>
                                          <p:spTgt spid="92"/>
                                        </p:tgtEl>
                                        <p:attrNameLst>
                                          <p:attrName>ppt_x</p:attrName>
                                          <p:attrName>ppt_y</p:attrName>
                                        </p:attrNameLst>
                                      </p:cBhvr>
                                      <p:rCtr x="-21972" y="-16273"/>
                                    </p:animMotion>
                                  </p:childTnLst>
                                </p:cTn>
                              </p:par>
                            </p:childTnLst>
                          </p:cTn>
                        </p:par>
                        <p:par>
                          <p:cTn id="21" fill="hold">
                            <p:stCondLst>
                              <p:cond delay="2000"/>
                            </p:stCondLst>
                            <p:childTnLst>
                              <p:par>
                                <p:cTn id="22" presetID="22" presetClass="entr" presetSubtype="1" fill="hold" nodeType="afterEffect">
                                  <p:stCondLst>
                                    <p:cond delay="0"/>
                                  </p:stCondLst>
                                  <p:childTnLst>
                                    <p:set>
                                      <p:cBhvr>
                                        <p:cTn id="23" dur="1" fill="hold">
                                          <p:stCondLst>
                                            <p:cond delay="0"/>
                                          </p:stCondLst>
                                        </p:cTn>
                                        <p:tgtEl>
                                          <p:spTgt spid="74"/>
                                        </p:tgtEl>
                                        <p:attrNameLst>
                                          <p:attrName>style.visibility</p:attrName>
                                        </p:attrNameLst>
                                      </p:cBhvr>
                                      <p:to>
                                        <p:strVal val="visible"/>
                                      </p:to>
                                    </p:set>
                                    <p:animEffect transition="in" filter="wipe(up)">
                                      <p:cBhvr>
                                        <p:cTn id="24" dur="500"/>
                                        <p:tgtEl>
                                          <p:spTgt spid="7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xit" presetSubtype="1" fill="hold" nodeType="clickEffect">
                                  <p:stCondLst>
                                    <p:cond delay="0"/>
                                  </p:stCondLst>
                                  <p:childTnLst>
                                    <p:animEffect transition="out" filter="wipe(up)">
                                      <p:cBhvr>
                                        <p:cTn id="28" dur="500"/>
                                        <p:tgtEl>
                                          <p:spTgt spid="69"/>
                                        </p:tgtEl>
                                      </p:cBhvr>
                                    </p:animEffect>
                                    <p:set>
                                      <p:cBhvr>
                                        <p:cTn id="29" dur="1" fill="hold">
                                          <p:stCondLst>
                                            <p:cond delay="499"/>
                                          </p:stCondLst>
                                        </p:cTn>
                                        <p:tgtEl>
                                          <p:spTgt spid="69"/>
                                        </p:tgtEl>
                                        <p:attrNameLst>
                                          <p:attrName>style.visibility</p:attrName>
                                        </p:attrNameLst>
                                      </p:cBhvr>
                                      <p:to>
                                        <p:strVal val="hidden"/>
                                      </p:to>
                                    </p:set>
                                  </p:childTnLst>
                                </p:cTn>
                              </p:par>
                              <p:par>
                                <p:cTn id="30" presetID="0" presetClass="path" presetSubtype="0" accel="50000" decel="50000" fill="hold" nodeType="withEffect">
                                  <p:stCondLst>
                                    <p:cond delay="0"/>
                                  </p:stCondLst>
                                  <p:childTnLst>
                                    <p:animMotion origin="layout" path="M -2.53972E-6 -4.81481E-6 L -2.53972E-6 -0.30995 L -0.33719 -0.31087 C -0.33719 -0.27314 -0.3368 -0.26319 -0.3368 -0.22453 " pathEditMode="relative" rAng="0" ptsTypes="AAAA">
                                      <p:cBhvr>
                                        <p:cTn id="31" dur="2000" fill="hold"/>
                                        <p:tgtEl>
                                          <p:spTgt spid="76"/>
                                        </p:tgtEl>
                                        <p:attrNameLst>
                                          <p:attrName>ppt_x</p:attrName>
                                          <p:attrName>ppt_y</p:attrName>
                                        </p:attrNameLst>
                                      </p:cBhvr>
                                      <p:rCtr x="-16866" y="-15556"/>
                                    </p:animMotion>
                                  </p:childTnLst>
                                </p:cTn>
                              </p:par>
                            </p:childTnLst>
                          </p:cTn>
                        </p:par>
                        <p:par>
                          <p:cTn id="32" fill="hold">
                            <p:stCondLst>
                              <p:cond delay="2000"/>
                            </p:stCondLst>
                            <p:childTnLst>
                              <p:par>
                                <p:cTn id="33" presetID="22" presetClass="entr" presetSubtype="1" fill="hold" nodeType="afterEffect">
                                  <p:stCondLst>
                                    <p:cond delay="0"/>
                                  </p:stCondLst>
                                  <p:childTnLst>
                                    <p:set>
                                      <p:cBhvr>
                                        <p:cTn id="34" dur="1" fill="hold">
                                          <p:stCondLst>
                                            <p:cond delay="0"/>
                                          </p:stCondLst>
                                        </p:cTn>
                                        <p:tgtEl>
                                          <p:spTgt spid="75"/>
                                        </p:tgtEl>
                                        <p:attrNameLst>
                                          <p:attrName>style.visibility</p:attrName>
                                        </p:attrNameLst>
                                      </p:cBhvr>
                                      <p:to>
                                        <p:strVal val="visible"/>
                                      </p:to>
                                    </p:set>
                                    <p:animEffect transition="in" filter="wipe(up)">
                                      <p:cBhvr>
                                        <p:cTn id="35" dur="500"/>
                                        <p:tgtEl>
                                          <p:spTgt spid="7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xit" presetSubtype="1" fill="hold" nodeType="clickEffect">
                                  <p:stCondLst>
                                    <p:cond delay="0"/>
                                  </p:stCondLst>
                                  <p:childTnLst>
                                    <p:animEffect transition="out" filter="wipe(up)">
                                      <p:cBhvr>
                                        <p:cTn id="39" dur="500"/>
                                        <p:tgtEl>
                                          <p:spTgt spid="71"/>
                                        </p:tgtEl>
                                      </p:cBhvr>
                                    </p:animEffect>
                                    <p:set>
                                      <p:cBhvr>
                                        <p:cTn id="40" dur="1" fill="hold">
                                          <p:stCondLst>
                                            <p:cond delay="499"/>
                                          </p:stCondLst>
                                        </p:cTn>
                                        <p:tgtEl>
                                          <p:spTgt spid="71"/>
                                        </p:tgtEl>
                                        <p:attrNameLst>
                                          <p:attrName>style.visibility</p:attrName>
                                        </p:attrNameLst>
                                      </p:cBhvr>
                                      <p:to>
                                        <p:strVal val="hidden"/>
                                      </p:to>
                                    </p:set>
                                  </p:childTnLst>
                                </p:cTn>
                              </p:par>
                              <p:par>
                                <p:cTn id="41" presetID="0" presetClass="path" presetSubtype="0" accel="50000" decel="50000" fill="hold" nodeType="withEffect">
                                  <p:stCondLst>
                                    <p:cond delay="0"/>
                                  </p:stCondLst>
                                  <p:childTnLst>
                                    <p:animMotion origin="layout" path="M -0.00039 -1.48148E-6 C 0.00039 -0.06342 -0.0013 -0.12361 -0.00052 -0.1868 L -0.05978 -0.1875 L -0.10471 -0.1875 " pathEditMode="relative" rAng="0" ptsTypes="AAAA">
                                      <p:cBhvr>
                                        <p:cTn id="42" dur="2000" fill="hold"/>
                                        <p:tgtEl>
                                          <p:spTgt spid="189"/>
                                        </p:tgtEl>
                                        <p:attrNameLst>
                                          <p:attrName>ppt_x</p:attrName>
                                          <p:attrName>ppt_y</p:attrName>
                                        </p:attrNameLst>
                                      </p:cBhvr>
                                      <p:rCtr x="-5210" y="-9375"/>
                                    </p:animMotion>
                                  </p:childTnLst>
                                </p:cTn>
                              </p:par>
                            </p:childTnLst>
                          </p:cTn>
                        </p:par>
                        <p:par>
                          <p:cTn id="43" fill="hold">
                            <p:stCondLst>
                              <p:cond delay="2000"/>
                            </p:stCondLst>
                            <p:childTnLst>
                              <p:par>
                                <p:cTn id="44" presetID="22" presetClass="entr" presetSubtype="1" fill="hold" nodeType="after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wipe(up)">
                                      <p:cBhvr>
                                        <p:cTn id="46"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B82A8-8184-D845-0675-60870DBC2FC8}"/>
            </a:ext>
          </a:extLst>
        </p:cNvPr>
        <p:cNvGrpSpPr/>
        <p:nvPr/>
      </p:nvGrpSpPr>
      <p:grpSpPr>
        <a:xfrm>
          <a:off x="0" y="0"/>
          <a:ext cx="0" cy="0"/>
          <a:chOff x="0" y="0"/>
          <a:chExt cx="0" cy="0"/>
        </a:xfrm>
      </p:grpSpPr>
      <p:sp>
        <p:nvSpPr>
          <p:cNvPr id="196" name="Title 195">
            <a:extLst>
              <a:ext uri="{FF2B5EF4-FFF2-40B4-BE49-F238E27FC236}">
                <a16:creationId xmlns:a16="http://schemas.microsoft.com/office/drawing/2014/main" id="{FBE9ABC7-2F83-D446-3785-FDD677EE606C}"/>
              </a:ext>
            </a:extLst>
          </p:cNvPr>
          <p:cNvSpPr>
            <a:spLocks noGrp="1"/>
          </p:cNvSpPr>
          <p:nvPr>
            <p:ph type="title"/>
          </p:nvPr>
        </p:nvSpPr>
        <p:spPr/>
        <p:txBody>
          <a:bodyPr/>
          <a:lstStyle/>
          <a:p>
            <a:r>
              <a:rPr lang="en-US" dirty="0"/>
              <a:t>Non-Disruptive Workload Migration from NSX VLAN Segments</a:t>
            </a:r>
          </a:p>
        </p:txBody>
      </p:sp>
      <p:sp>
        <p:nvSpPr>
          <p:cNvPr id="197" name="Subtitle 196">
            <a:extLst>
              <a:ext uri="{FF2B5EF4-FFF2-40B4-BE49-F238E27FC236}">
                <a16:creationId xmlns:a16="http://schemas.microsoft.com/office/drawing/2014/main" id="{42D9244F-CD63-C349-8C01-3B26771B0FB8}"/>
              </a:ext>
            </a:extLst>
          </p:cNvPr>
          <p:cNvSpPr>
            <a:spLocks noGrp="1"/>
          </p:cNvSpPr>
          <p:nvPr>
            <p:ph type="subTitle" idx="1"/>
          </p:nvPr>
        </p:nvSpPr>
        <p:spPr/>
        <p:txBody>
          <a:bodyPr/>
          <a:lstStyle/>
          <a:p>
            <a:pPr lvl="0"/>
            <a:r>
              <a:rPr lang="en-US" dirty="0"/>
              <a:t>HCX Migration and Network Extension support for NSX VLAN Segments</a:t>
            </a:r>
          </a:p>
        </p:txBody>
      </p:sp>
      <p:sp>
        <p:nvSpPr>
          <p:cNvPr id="4" name="Text Placeholder 3">
            <a:extLst>
              <a:ext uri="{FF2B5EF4-FFF2-40B4-BE49-F238E27FC236}">
                <a16:creationId xmlns:a16="http://schemas.microsoft.com/office/drawing/2014/main" id="{CDC88EA7-6BDA-C0B5-84CD-C166A9D2CA97}"/>
              </a:ext>
            </a:extLst>
          </p:cNvPr>
          <p:cNvSpPr>
            <a:spLocks noGrp="1"/>
          </p:cNvSpPr>
          <p:nvPr>
            <p:ph type="body" idx="2"/>
          </p:nvPr>
        </p:nvSpPr>
        <p:spPr/>
        <p:txBody>
          <a:bodyPr/>
          <a:lstStyle/>
          <a:p>
            <a:pPr lvl="0"/>
            <a:r>
              <a:rPr lang="en-US" dirty="0"/>
              <a:t>NSX-VLAN support </a:t>
            </a:r>
          </a:p>
          <a:p>
            <a:pPr lvl="0"/>
            <a:endParaRPr lang="en-US" dirty="0"/>
          </a:p>
          <a:p>
            <a:pPr lvl="0"/>
            <a:r>
              <a:rPr lang="en-US" dirty="0"/>
              <a:t>Migration From, To, and Between NSX-VLAN</a:t>
            </a:r>
          </a:p>
          <a:p>
            <a:pPr lvl="0"/>
            <a:endParaRPr lang="en-US" dirty="0"/>
          </a:p>
          <a:p>
            <a:pPr lvl="0"/>
            <a:r>
              <a:rPr lang="en-US" dirty="0"/>
              <a:t>L2 Network Extension From, To, and Between NSX-VLAN</a:t>
            </a:r>
          </a:p>
          <a:p>
            <a:pPr lvl="0"/>
            <a:endParaRPr lang="en-US" dirty="0"/>
          </a:p>
          <a:p>
            <a:pPr lvl="0"/>
            <a:r>
              <a:rPr lang="en-US" dirty="0"/>
              <a:t>All Migration types and all Extension features supported except MON</a:t>
            </a:r>
          </a:p>
          <a:p>
            <a:pPr lvl="0"/>
            <a:endParaRPr lang="en-US" dirty="0"/>
          </a:p>
          <a:p>
            <a:pPr lvl="0"/>
            <a:r>
              <a:rPr lang="en-US" dirty="0"/>
              <a:t>Automates NSX VLAN segment creation at the Dest.</a:t>
            </a:r>
          </a:p>
          <a:p>
            <a:endParaRPr lang="en-US" dirty="0"/>
          </a:p>
          <a:p>
            <a:pPr lvl="0"/>
            <a:r>
              <a:rPr lang="en-US" dirty="0"/>
              <a:t>More flexibility by supporting wider migration scenarios</a:t>
            </a:r>
          </a:p>
        </p:txBody>
      </p:sp>
      <p:sp>
        <p:nvSpPr>
          <p:cNvPr id="6" name="Google Shape;1292;p6">
            <a:extLst>
              <a:ext uri="{FF2B5EF4-FFF2-40B4-BE49-F238E27FC236}">
                <a16:creationId xmlns:a16="http://schemas.microsoft.com/office/drawing/2014/main" id="{C396A1C1-6CEB-1083-2FBF-9FDAC3D2F9CA}"/>
              </a:ext>
            </a:extLst>
          </p:cNvPr>
          <p:cNvSpPr/>
          <p:nvPr/>
        </p:nvSpPr>
        <p:spPr>
          <a:xfrm>
            <a:off x="5823" y="1611063"/>
            <a:ext cx="8133399" cy="4572000"/>
          </a:xfrm>
          <a:prstGeom prst="roundRect">
            <a:avLst>
              <a:gd name="adj" fmla="val 0"/>
            </a:avLst>
          </a:prstGeom>
          <a:solidFill>
            <a:srgbClr val="F4F8F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000"/>
              <a:buFont typeface="Arial"/>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7" name="Google Shape;1293;p6">
            <a:extLst>
              <a:ext uri="{FF2B5EF4-FFF2-40B4-BE49-F238E27FC236}">
                <a16:creationId xmlns:a16="http://schemas.microsoft.com/office/drawing/2014/main" id="{9EED1BF5-233E-73D6-80AE-5B57D4C18375}"/>
              </a:ext>
            </a:extLst>
          </p:cNvPr>
          <p:cNvSpPr/>
          <p:nvPr/>
        </p:nvSpPr>
        <p:spPr>
          <a:xfrm>
            <a:off x="606342" y="1750219"/>
            <a:ext cx="7405481" cy="4295951"/>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 name="Freeform 1">
            <a:extLst>
              <a:ext uri="{FF2B5EF4-FFF2-40B4-BE49-F238E27FC236}">
                <a16:creationId xmlns:a16="http://schemas.microsoft.com/office/drawing/2014/main" id="{C4EC6985-A8CD-7E79-74AA-99F4B952EB83}"/>
              </a:ext>
            </a:extLst>
          </p:cNvPr>
          <p:cNvSpPr/>
          <p:nvPr/>
        </p:nvSpPr>
        <p:spPr bwMode="gray">
          <a:xfrm flipV="1">
            <a:off x="1480164" y="2281584"/>
            <a:ext cx="5589227" cy="1883528"/>
          </a:xfrm>
          <a:custGeom>
            <a:avLst/>
            <a:gdLst>
              <a:gd name="connsiteX0" fmla="*/ 6230982 w 6505302"/>
              <a:gd name="connsiteY0" fmla="*/ 409303 h 1750423"/>
              <a:gd name="connsiteX1" fmla="*/ 6505302 w 6505302"/>
              <a:gd name="connsiteY1" fmla="*/ 409303 h 1750423"/>
              <a:gd name="connsiteX2" fmla="*/ 6505302 w 6505302"/>
              <a:gd name="connsiteY2" fmla="*/ 452845 h 1750423"/>
              <a:gd name="connsiteX3" fmla="*/ 6505302 w 6505302"/>
              <a:gd name="connsiteY3" fmla="*/ 1750423 h 1750423"/>
              <a:gd name="connsiteX4" fmla="*/ 0 w 6505302"/>
              <a:gd name="connsiteY4" fmla="*/ 1750423 h 1750423"/>
              <a:gd name="connsiteX5" fmla="*/ 0 w 6505302"/>
              <a:gd name="connsiteY5" fmla="*/ 1602377 h 1750423"/>
              <a:gd name="connsiteX6" fmla="*/ 0 w 6505302"/>
              <a:gd name="connsiteY6" fmla="*/ 0 h 1750423"/>
              <a:gd name="connsiteX7" fmla="*/ 396240 w 6505302"/>
              <a:gd name="connsiteY7" fmla="*/ 0 h 1750423"/>
              <a:gd name="connsiteX0" fmla="*/ 6505302 w 6505302"/>
              <a:gd name="connsiteY0" fmla="*/ 409303 h 1750423"/>
              <a:gd name="connsiteX1" fmla="*/ 6505302 w 6505302"/>
              <a:gd name="connsiteY1" fmla="*/ 452845 h 1750423"/>
              <a:gd name="connsiteX2" fmla="*/ 6505302 w 6505302"/>
              <a:gd name="connsiteY2" fmla="*/ 1750423 h 1750423"/>
              <a:gd name="connsiteX3" fmla="*/ 0 w 6505302"/>
              <a:gd name="connsiteY3" fmla="*/ 1750423 h 1750423"/>
              <a:gd name="connsiteX4" fmla="*/ 0 w 6505302"/>
              <a:gd name="connsiteY4" fmla="*/ 1602377 h 1750423"/>
              <a:gd name="connsiteX5" fmla="*/ 0 w 6505302"/>
              <a:gd name="connsiteY5" fmla="*/ 0 h 1750423"/>
              <a:gd name="connsiteX6" fmla="*/ 396240 w 6505302"/>
              <a:gd name="connsiteY6" fmla="*/ 0 h 1750423"/>
              <a:gd name="connsiteX0" fmla="*/ 6505302 w 6505302"/>
              <a:gd name="connsiteY0" fmla="*/ 409303 h 1750423"/>
              <a:gd name="connsiteX1" fmla="*/ 6505302 w 6505302"/>
              <a:gd name="connsiteY1" fmla="*/ 452845 h 1750423"/>
              <a:gd name="connsiteX2" fmla="*/ 6505302 w 6505302"/>
              <a:gd name="connsiteY2" fmla="*/ 1750423 h 1750423"/>
              <a:gd name="connsiteX3" fmla="*/ 0 w 6505302"/>
              <a:gd name="connsiteY3" fmla="*/ 1750423 h 1750423"/>
              <a:gd name="connsiteX4" fmla="*/ 0 w 6505302"/>
              <a:gd name="connsiteY4" fmla="*/ 1602377 h 1750423"/>
              <a:gd name="connsiteX5" fmla="*/ 0 w 6505302"/>
              <a:gd name="connsiteY5" fmla="*/ 0 h 1750423"/>
              <a:gd name="connsiteX0" fmla="*/ 6505302 w 6505302"/>
              <a:gd name="connsiteY0" fmla="*/ 409303 h 1750423"/>
              <a:gd name="connsiteX1" fmla="*/ 6505302 w 6505302"/>
              <a:gd name="connsiteY1" fmla="*/ 452845 h 1750423"/>
              <a:gd name="connsiteX2" fmla="*/ 6505302 w 6505302"/>
              <a:gd name="connsiteY2" fmla="*/ 1750423 h 1750423"/>
              <a:gd name="connsiteX3" fmla="*/ 0 w 6505302"/>
              <a:gd name="connsiteY3" fmla="*/ 1750423 h 1750423"/>
              <a:gd name="connsiteX4" fmla="*/ 0 w 6505302"/>
              <a:gd name="connsiteY4" fmla="*/ 0 h 1750423"/>
              <a:gd name="connsiteX0" fmla="*/ 6505302 w 6505302"/>
              <a:gd name="connsiteY0" fmla="*/ 0 h 1341120"/>
              <a:gd name="connsiteX1" fmla="*/ 6505302 w 6505302"/>
              <a:gd name="connsiteY1" fmla="*/ 43542 h 1341120"/>
              <a:gd name="connsiteX2" fmla="*/ 6505302 w 6505302"/>
              <a:gd name="connsiteY2" fmla="*/ 1341120 h 1341120"/>
              <a:gd name="connsiteX3" fmla="*/ 0 w 6505302"/>
              <a:gd name="connsiteY3" fmla="*/ 1341120 h 1341120"/>
              <a:gd name="connsiteX4" fmla="*/ 12293 w 6505302"/>
              <a:gd name="connsiteY4" fmla="*/ 346332 h 1341120"/>
              <a:gd name="connsiteX0" fmla="*/ 6511450 w 6511450"/>
              <a:gd name="connsiteY0" fmla="*/ 0 h 1341120"/>
              <a:gd name="connsiteX1" fmla="*/ 6511450 w 6511450"/>
              <a:gd name="connsiteY1" fmla="*/ 43542 h 1341120"/>
              <a:gd name="connsiteX2" fmla="*/ 6511450 w 6511450"/>
              <a:gd name="connsiteY2" fmla="*/ 1341120 h 1341120"/>
              <a:gd name="connsiteX3" fmla="*/ 6148 w 6511450"/>
              <a:gd name="connsiteY3" fmla="*/ 1341120 h 1341120"/>
              <a:gd name="connsiteX4" fmla="*/ 0 w 6511450"/>
              <a:gd name="connsiteY4" fmla="*/ 338775 h 1341120"/>
              <a:gd name="connsiteX0" fmla="*/ 6505894 w 6505894"/>
              <a:gd name="connsiteY0" fmla="*/ 0 h 1341120"/>
              <a:gd name="connsiteX1" fmla="*/ 6505894 w 6505894"/>
              <a:gd name="connsiteY1" fmla="*/ 43542 h 1341120"/>
              <a:gd name="connsiteX2" fmla="*/ 6505894 w 6505894"/>
              <a:gd name="connsiteY2" fmla="*/ 1341120 h 1341120"/>
              <a:gd name="connsiteX3" fmla="*/ 592 w 6505894"/>
              <a:gd name="connsiteY3" fmla="*/ 1341120 h 1341120"/>
              <a:gd name="connsiteX4" fmla="*/ 591 w 6505894"/>
              <a:gd name="connsiteY4" fmla="*/ 346332 h 1341120"/>
              <a:gd name="connsiteX0" fmla="*/ 6511450 w 6511450"/>
              <a:gd name="connsiteY0" fmla="*/ 0 h 1341120"/>
              <a:gd name="connsiteX1" fmla="*/ 6511450 w 6511450"/>
              <a:gd name="connsiteY1" fmla="*/ 43542 h 1341120"/>
              <a:gd name="connsiteX2" fmla="*/ 6511450 w 6511450"/>
              <a:gd name="connsiteY2" fmla="*/ 1341120 h 1341120"/>
              <a:gd name="connsiteX3" fmla="*/ 6148 w 6511450"/>
              <a:gd name="connsiteY3" fmla="*/ 1341120 h 1341120"/>
              <a:gd name="connsiteX4" fmla="*/ 0 w 6511450"/>
              <a:gd name="connsiteY4" fmla="*/ 338775 h 1341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1450" h="1341120">
                <a:moveTo>
                  <a:pt x="6511450" y="0"/>
                </a:moveTo>
                <a:lnTo>
                  <a:pt x="6511450" y="43542"/>
                </a:lnTo>
                <a:lnTo>
                  <a:pt x="6511450" y="1341120"/>
                </a:lnTo>
                <a:lnTo>
                  <a:pt x="6148" y="1341120"/>
                </a:lnTo>
                <a:cubicBezTo>
                  <a:pt x="4099" y="1007005"/>
                  <a:pt x="2049" y="672890"/>
                  <a:pt x="0" y="338775"/>
                </a:cubicBezTo>
              </a:path>
            </a:pathLst>
          </a:custGeom>
          <a:noFill/>
          <a:ln w="19050">
            <a:solidFill>
              <a:schemeClr val="bg2">
                <a:lumMod val="50000"/>
              </a:schemeClr>
            </a:solidFill>
            <a:prstDash val="sysDash"/>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Freeform 2">
            <a:extLst>
              <a:ext uri="{FF2B5EF4-FFF2-40B4-BE49-F238E27FC236}">
                <a16:creationId xmlns:a16="http://schemas.microsoft.com/office/drawing/2014/main" id="{77D34257-6287-9531-BF5A-A8C26B537AB0}"/>
              </a:ext>
            </a:extLst>
          </p:cNvPr>
          <p:cNvSpPr/>
          <p:nvPr/>
        </p:nvSpPr>
        <p:spPr bwMode="gray">
          <a:xfrm>
            <a:off x="1690732" y="2467461"/>
            <a:ext cx="4947366" cy="1624502"/>
          </a:xfrm>
          <a:custGeom>
            <a:avLst/>
            <a:gdLst>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67377 h 1438977"/>
              <a:gd name="connsiteX4" fmla="*/ 0 w 4995512"/>
              <a:gd name="connsiteY4" fmla="*/ 822960 h 1438977"/>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822960 h 1438977"/>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1343731 h 1438977"/>
            </a:gdLst>
            <a:ahLst/>
            <a:cxnLst>
              <a:cxn ang="0">
                <a:pos x="connsiteX0" y="connsiteY0"/>
              </a:cxn>
              <a:cxn ang="0">
                <a:pos x="connsiteX1" y="connsiteY1"/>
              </a:cxn>
              <a:cxn ang="0">
                <a:pos x="connsiteX2" y="connsiteY2"/>
              </a:cxn>
              <a:cxn ang="0">
                <a:pos x="connsiteX3" y="connsiteY3"/>
              </a:cxn>
            </a:cxnLst>
            <a:rect l="l" t="t" r="r" b="b"/>
            <a:pathLst>
              <a:path w="4995512" h="1438977">
                <a:moveTo>
                  <a:pt x="4995512" y="1438977"/>
                </a:moveTo>
                <a:lnTo>
                  <a:pt x="4995512" y="0"/>
                </a:lnTo>
                <a:lnTo>
                  <a:pt x="0" y="0"/>
                </a:lnTo>
                <a:lnTo>
                  <a:pt x="0" y="1343731"/>
                </a:lnTo>
              </a:path>
            </a:pathLst>
          </a:custGeom>
          <a:noFill/>
          <a:ln w="158750" cap="flat" cmpd="sng">
            <a:solidFill>
              <a:schemeClr val="accent3">
                <a:lumMod val="60000"/>
                <a:lumOff val="40000"/>
                <a:alpha val="32000"/>
              </a:schemeClr>
            </a:solid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Freeform 4">
            <a:extLst>
              <a:ext uri="{FF2B5EF4-FFF2-40B4-BE49-F238E27FC236}">
                <a16:creationId xmlns:a16="http://schemas.microsoft.com/office/drawing/2014/main" id="{AF434D08-0A81-0AA6-BDA2-47AF56EF8C59}"/>
              </a:ext>
            </a:extLst>
          </p:cNvPr>
          <p:cNvSpPr/>
          <p:nvPr/>
        </p:nvSpPr>
        <p:spPr bwMode="gray">
          <a:xfrm>
            <a:off x="3052040" y="3064207"/>
            <a:ext cx="2852412" cy="1027755"/>
          </a:xfrm>
          <a:custGeom>
            <a:avLst/>
            <a:gdLst>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67377 h 1438977"/>
              <a:gd name="connsiteX4" fmla="*/ 0 w 4995512"/>
              <a:gd name="connsiteY4" fmla="*/ 822960 h 1438977"/>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822960 h 1438977"/>
            </a:gdLst>
            <a:ahLst/>
            <a:cxnLst>
              <a:cxn ang="0">
                <a:pos x="connsiteX0" y="connsiteY0"/>
              </a:cxn>
              <a:cxn ang="0">
                <a:pos x="connsiteX1" y="connsiteY1"/>
              </a:cxn>
              <a:cxn ang="0">
                <a:pos x="connsiteX2" y="connsiteY2"/>
              </a:cxn>
              <a:cxn ang="0">
                <a:pos x="connsiteX3" y="connsiteY3"/>
              </a:cxn>
            </a:cxnLst>
            <a:rect l="l" t="t" r="r" b="b"/>
            <a:pathLst>
              <a:path w="4995512" h="1438977">
                <a:moveTo>
                  <a:pt x="4995512" y="1438977"/>
                </a:moveTo>
                <a:lnTo>
                  <a:pt x="4995512" y="0"/>
                </a:lnTo>
                <a:lnTo>
                  <a:pt x="0" y="0"/>
                </a:lnTo>
                <a:lnTo>
                  <a:pt x="0" y="822960"/>
                </a:lnTo>
              </a:path>
            </a:pathLst>
          </a:custGeom>
          <a:noFill/>
          <a:ln w="158750" cap="flat" cmpd="sng">
            <a:solidFill>
              <a:srgbClr val="00C3FF">
                <a:alpha val="32000"/>
              </a:srgbClr>
            </a:solid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 name="Freeform 7">
            <a:extLst>
              <a:ext uri="{FF2B5EF4-FFF2-40B4-BE49-F238E27FC236}">
                <a16:creationId xmlns:a16="http://schemas.microsoft.com/office/drawing/2014/main" id="{4A895B4B-C7CD-C564-F7D3-5D485FBD7A2D}"/>
              </a:ext>
            </a:extLst>
          </p:cNvPr>
          <p:cNvSpPr/>
          <p:nvPr/>
        </p:nvSpPr>
        <p:spPr bwMode="gray">
          <a:xfrm>
            <a:off x="3459044" y="3354701"/>
            <a:ext cx="1485220" cy="737261"/>
          </a:xfrm>
          <a:custGeom>
            <a:avLst/>
            <a:gdLst>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67377 h 1438977"/>
              <a:gd name="connsiteX4" fmla="*/ 0 w 4995512"/>
              <a:gd name="connsiteY4" fmla="*/ 822960 h 1438977"/>
              <a:gd name="connsiteX0" fmla="*/ 4995512 w 4995512"/>
              <a:gd name="connsiteY0" fmla="*/ 1438977 h 1438977"/>
              <a:gd name="connsiteX1" fmla="*/ 4995512 w 4995512"/>
              <a:gd name="connsiteY1" fmla="*/ 0 h 1438977"/>
              <a:gd name="connsiteX2" fmla="*/ 0 w 4995512"/>
              <a:gd name="connsiteY2" fmla="*/ 0 h 1438977"/>
              <a:gd name="connsiteX3" fmla="*/ 0 w 4995512"/>
              <a:gd name="connsiteY3" fmla="*/ 822960 h 1438977"/>
            </a:gdLst>
            <a:ahLst/>
            <a:cxnLst>
              <a:cxn ang="0">
                <a:pos x="connsiteX0" y="connsiteY0"/>
              </a:cxn>
              <a:cxn ang="0">
                <a:pos x="connsiteX1" y="connsiteY1"/>
              </a:cxn>
              <a:cxn ang="0">
                <a:pos x="connsiteX2" y="connsiteY2"/>
              </a:cxn>
              <a:cxn ang="0">
                <a:pos x="connsiteX3" y="connsiteY3"/>
              </a:cxn>
            </a:cxnLst>
            <a:rect l="l" t="t" r="r" b="b"/>
            <a:pathLst>
              <a:path w="4995512" h="1438977">
                <a:moveTo>
                  <a:pt x="4995512" y="1438977"/>
                </a:moveTo>
                <a:lnTo>
                  <a:pt x="4995512" y="0"/>
                </a:lnTo>
                <a:lnTo>
                  <a:pt x="0" y="0"/>
                </a:lnTo>
                <a:lnTo>
                  <a:pt x="0" y="822960"/>
                </a:lnTo>
              </a:path>
            </a:pathLst>
          </a:custGeom>
          <a:noFill/>
          <a:ln w="158750" cap="flat" cmpd="sng">
            <a:solidFill>
              <a:srgbClr val="00C3FF">
                <a:alpha val="32000"/>
              </a:srgbClr>
            </a:solid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9" name="Group 8">
            <a:extLst>
              <a:ext uri="{FF2B5EF4-FFF2-40B4-BE49-F238E27FC236}">
                <a16:creationId xmlns:a16="http://schemas.microsoft.com/office/drawing/2014/main" id="{0CE0B86D-E526-3C27-3677-7DAA9CF40D0C}"/>
              </a:ext>
            </a:extLst>
          </p:cNvPr>
          <p:cNvGrpSpPr/>
          <p:nvPr/>
        </p:nvGrpSpPr>
        <p:grpSpPr>
          <a:xfrm>
            <a:off x="4591461" y="3913297"/>
            <a:ext cx="2549801" cy="1037073"/>
            <a:chOff x="2632079" y="2495871"/>
            <a:chExt cx="3089126" cy="1037073"/>
          </a:xfrm>
        </p:grpSpPr>
        <p:sp>
          <p:nvSpPr>
            <p:cNvPr id="10" name="Rectangle 9">
              <a:extLst>
                <a:ext uri="{FF2B5EF4-FFF2-40B4-BE49-F238E27FC236}">
                  <a16:creationId xmlns:a16="http://schemas.microsoft.com/office/drawing/2014/main" id="{E0E4F6E6-E046-63B6-6EC7-D2F1301DA59C}"/>
                </a:ext>
              </a:extLst>
            </p:cNvPr>
            <p:cNvSpPr/>
            <p:nvPr/>
          </p:nvSpPr>
          <p:spPr>
            <a:xfrm rot="10800000" flipV="1">
              <a:off x="2632079" y="2495871"/>
              <a:ext cx="3089126" cy="216308"/>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1" name="Rectangle 10">
              <a:extLst>
                <a:ext uri="{FF2B5EF4-FFF2-40B4-BE49-F238E27FC236}">
                  <a16:creationId xmlns:a16="http://schemas.microsoft.com/office/drawing/2014/main" id="{20DA7468-84F9-A140-2C53-817E6B0B3281}"/>
                </a:ext>
              </a:extLst>
            </p:cNvPr>
            <p:cNvSpPr/>
            <p:nvPr/>
          </p:nvSpPr>
          <p:spPr>
            <a:xfrm rot="10800000" flipV="1">
              <a:off x="2632079" y="2662692"/>
              <a:ext cx="2732876" cy="870252"/>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grpSp>
        <p:nvGrpSpPr>
          <p:cNvPr id="12" name="Group 11">
            <a:extLst>
              <a:ext uri="{FF2B5EF4-FFF2-40B4-BE49-F238E27FC236}">
                <a16:creationId xmlns:a16="http://schemas.microsoft.com/office/drawing/2014/main" id="{6ABB0083-F659-0BFE-72BA-B742ED9D31DC}"/>
              </a:ext>
            </a:extLst>
          </p:cNvPr>
          <p:cNvGrpSpPr/>
          <p:nvPr/>
        </p:nvGrpSpPr>
        <p:grpSpPr>
          <a:xfrm>
            <a:off x="1263470" y="3472484"/>
            <a:ext cx="2549801" cy="1037073"/>
            <a:chOff x="2632079" y="2495871"/>
            <a:chExt cx="3089126" cy="1037073"/>
          </a:xfrm>
        </p:grpSpPr>
        <p:sp>
          <p:nvSpPr>
            <p:cNvPr id="13" name="Rectangle 12">
              <a:extLst>
                <a:ext uri="{FF2B5EF4-FFF2-40B4-BE49-F238E27FC236}">
                  <a16:creationId xmlns:a16="http://schemas.microsoft.com/office/drawing/2014/main" id="{80127BCE-925B-1B73-0592-ED1D7146E808}"/>
                </a:ext>
              </a:extLst>
            </p:cNvPr>
            <p:cNvSpPr/>
            <p:nvPr/>
          </p:nvSpPr>
          <p:spPr>
            <a:xfrm rot="10800000" flipV="1">
              <a:off x="2632079" y="2495871"/>
              <a:ext cx="3089126" cy="216308"/>
            </a:xfrm>
            <a:prstGeom prst="rect">
              <a:avLst/>
            </a:prstGeom>
            <a:gradFill>
              <a:gsLst>
                <a:gs pos="0">
                  <a:schemeClr val="bg1">
                    <a:alpha val="0"/>
                  </a:schemeClr>
                </a:gs>
                <a:gs pos="90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4" name="Rectangle 13">
              <a:extLst>
                <a:ext uri="{FF2B5EF4-FFF2-40B4-BE49-F238E27FC236}">
                  <a16:creationId xmlns:a16="http://schemas.microsoft.com/office/drawing/2014/main" id="{30D7C471-BA56-957E-26F7-192F411E9653}"/>
                </a:ext>
              </a:extLst>
            </p:cNvPr>
            <p:cNvSpPr/>
            <p:nvPr/>
          </p:nvSpPr>
          <p:spPr>
            <a:xfrm rot="10800000" flipV="1">
              <a:off x="2632079" y="2662692"/>
              <a:ext cx="2732876" cy="870252"/>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grpSp>
        <p:nvGrpSpPr>
          <p:cNvPr id="15" name="Group 14">
            <a:extLst>
              <a:ext uri="{FF2B5EF4-FFF2-40B4-BE49-F238E27FC236}">
                <a16:creationId xmlns:a16="http://schemas.microsoft.com/office/drawing/2014/main" id="{60CFB30C-8701-A5CF-F21E-7E71674F78DF}"/>
              </a:ext>
            </a:extLst>
          </p:cNvPr>
          <p:cNvGrpSpPr/>
          <p:nvPr/>
        </p:nvGrpSpPr>
        <p:grpSpPr>
          <a:xfrm flipH="1">
            <a:off x="2254506" y="3667166"/>
            <a:ext cx="1883897" cy="539981"/>
            <a:chOff x="3278891" y="2354134"/>
            <a:chExt cx="1250574" cy="505822"/>
          </a:xfrm>
        </p:grpSpPr>
        <p:sp>
          <p:nvSpPr>
            <p:cNvPr id="16" name="Rectangle 15">
              <a:extLst>
                <a:ext uri="{FF2B5EF4-FFF2-40B4-BE49-F238E27FC236}">
                  <a16:creationId xmlns:a16="http://schemas.microsoft.com/office/drawing/2014/main" id="{5847D33E-5F3B-D3F5-0142-0789738FB8B8}"/>
                </a:ext>
              </a:extLst>
            </p:cNvPr>
            <p:cNvSpPr/>
            <p:nvPr/>
          </p:nvSpPr>
          <p:spPr>
            <a:xfrm rot="10800000" flipV="1">
              <a:off x="3311848" y="2364232"/>
              <a:ext cx="1169849" cy="399478"/>
            </a:xfrm>
            <a:prstGeom prst="rect">
              <a:avLst/>
            </a:prstGeom>
            <a:solidFill>
              <a:schemeClr val="bg1"/>
            </a:solidFill>
            <a:ln w="19050" cap="flat" cmpd="sng" algn="ctr">
              <a:solidFill>
                <a:schemeClr val="accent2"/>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7" name="Rectangle 16">
              <a:extLst>
                <a:ext uri="{FF2B5EF4-FFF2-40B4-BE49-F238E27FC236}">
                  <a16:creationId xmlns:a16="http://schemas.microsoft.com/office/drawing/2014/main" id="{7F9A5322-760D-7F1E-CDFE-76D7B81AE3D9}"/>
                </a:ext>
              </a:extLst>
            </p:cNvPr>
            <p:cNvSpPr/>
            <p:nvPr/>
          </p:nvSpPr>
          <p:spPr>
            <a:xfrm rot="16200000" flipV="1">
              <a:off x="3535131" y="2097894"/>
              <a:ext cx="505822" cy="1018302"/>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18" name="Rectangle 17">
              <a:extLst>
                <a:ext uri="{FF2B5EF4-FFF2-40B4-BE49-F238E27FC236}">
                  <a16:creationId xmlns:a16="http://schemas.microsoft.com/office/drawing/2014/main" id="{CC41A07C-D04B-4253-E475-C4F247C590F3}"/>
                </a:ext>
              </a:extLst>
            </p:cNvPr>
            <p:cNvSpPr/>
            <p:nvPr/>
          </p:nvSpPr>
          <p:spPr>
            <a:xfrm rot="10800000" flipV="1">
              <a:off x="3511164" y="2405473"/>
              <a:ext cx="1018301" cy="399477"/>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grpSp>
        <p:nvGrpSpPr>
          <p:cNvPr id="19" name="Group 18">
            <a:extLst>
              <a:ext uri="{FF2B5EF4-FFF2-40B4-BE49-F238E27FC236}">
                <a16:creationId xmlns:a16="http://schemas.microsoft.com/office/drawing/2014/main" id="{9CF3660D-6E18-1760-68E5-D1C1FE9EE45B}"/>
              </a:ext>
            </a:extLst>
          </p:cNvPr>
          <p:cNvGrpSpPr/>
          <p:nvPr/>
        </p:nvGrpSpPr>
        <p:grpSpPr>
          <a:xfrm>
            <a:off x="1031634" y="3667161"/>
            <a:ext cx="1016309" cy="539979"/>
            <a:chOff x="2941177" y="2354132"/>
            <a:chExt cx="1588289" cy="505821"/>
          </a:xfrm>
        </p:grpSpPr>
        <p:sp>
          <p:nvSpPr>
            <p:cNvPr id="20" name="Rectangle 19">
              <a:extLst>
                <a:ext uri="{FF2B5EF4-FFF2-40B4-BE49-F238E27FC236}">
                  <a16:creationId xmlns:a16="http://schemas.microsoft.com/office/drawing/2014/main" id="{CE389DCE-E03C-4A76-6039-E09D14670914}"/>
                </a:ext>
              </a:extLst>
            </p:cNvPr>
            <p:cNvSpPr/>
            <p:nvPr/>
          </p:nvSpPr>
          <p:spPr>
            <a:xfrm rot="10800000" flipV="1">
              <a:off x="3018446" y="2364232"/>
              <a:ext cx="1463251" cy="399478"/>
            </a:xfrm>
            <a:prstGeom prst="rect">
              <a:avLst/>
            </a:prstGeom>
            <a:solidFill>
              <a:schemeClr val="bg1"/>
            </a:solidFill>
            <a:ln w="19050" cap="flat" cmpd="sng" algn="ctr">
              <a:solidFill>
                <a:schemeClr val="accent2"/>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1" name="Rectangle 20">
              <a:extLst>
                <a:ext uri="{FF2B5EF4-FFF2-40B4-BE49-F238E27FC236}">
                  <a16:creationId xmlns:a16="http://schemas.microsoft.com/office/drawing/2014/main" id="{CD583182-C50C-2FC2-8C12-6505F6829DD7}"/>
                </a:ext>
              </a:extLst>
            </p:cNvPr>
            <p:cNvSpPr/>
            <p:nvPr/>
          </p:nvSpPr>
          <p:spPr>
            <a:xfrm rot="16200000" flipV="1">
              <a:off x="3389457" y="1905852"/>
              <a:ext cx="505821" cy="1402382"/>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2" name="Rectangle 21">
              <a:extLst>
                <a:ext uri="{FF2B5EF4-FFF2-40B4-BE49-F238E27FC236}">
                  <a16:creationId xmlns:a16="http://schemas.microsoft.com/office/drawing/2014/main" id="{EF25ABEE-AD72-0D8A-E3CC-174B42CB68FE}"/>
                </a:ext>
              </a:extLst>
            </p:cNvPr>
            <p:cNvSpPr/>
            <p:nvPr/>
          </p:nvSpPr>
          <p:spPr>
            <a:xfrm rot="10800000" flipV="1">
              <a:off x="3133659" y="2405473"/>
              <a:ext cx="1395807" cy="399477"/>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grpSp>
        <p:nvGrpSpPr>
          <p:cNvPr id="23" name="Group 22">
            <a:extLst>
              <a:ext uri="{FF2B5EF4-FFF2-40B4-BE49-F238E27FC236}">
                <a16:creationId xmlns:a16="http://schemas.microsoft.com/office/drawing/2014/main" id="{9879B5B6-C924-5421-E997-B13BF90B8E62}"/>
              </a:ext>
            </a:extLst>
          </p:cNvPr>
          <p:cNvGrpSpPr/>
          <p:nvPr/>
        </p:nvGrpSpPr>
        <p:grpSpPr>
          <a:xfrm flipH="1">
            <a:off x="5248415" y="4087152"/>
            <a:ext cx="1042999" cy="539981"/>
            <a:chOff x="7255604" y="3978593"/>
            <a:chExt cx="1532808" cy="539981"/>
          </a:xfrm>
        </p:grpSpPr>
        <p:grpSp>
          <p:nvGrpSpPr>
            <p:cNvPr id="24" name="Group 23">
              <a:extLst>
                <a:ext uri="{FF2B5EF4-FFF2-40B4-BE49-F238E27FC236}">
                  <a16:creationId xmlns:a16="http://schemas.microsoft.com/office/drawing/2014/main" id="{EB5235E8-399A-3116-D3E0-F22C6799B744}"/>
                </a:ext>
              </a:extLst>
            </p:cNvPr>
            <p:cNvGrpSpPr/>
            <p:nvPr/>
          </p:nvGrpSpPr>
          <p:grpSpPr>
            <a:xfrm flipH="1">
              <a:off x="7255604" y="3978593"/>
              <a:ext cx="807433" cy="539981"/>
              <a:chOff x="3278891" y="2354134"/>
              <a:chExt cx="1250574" cy="505822"/>
            </a:xfrm>
          </p:grpSpPr>
          <p:sp>
            <p:nvSpPr>
              <p:cNvPr id="26" name="Rectangle 25">
                <a:extLst>
                  <a:ext uri="{FF2B5EF4-FFF2-40B4-BE49-F238E27FC236}">
                    <a16:creationId xmlns:a16="http://schemas.microsoft.com/office/drawing/2014/main" id="{F1DD0058-685F-193A-62A1-BDCC77EFB226}"/>
                  </a:ext>
                </a:extLst>
              </p:cNvPr>
              <p:cNvSpPr/>
              <p:nvPr/>
            </p:nvSpPr>
            <p:spPr>
              <a:xfrm rot="10800000" flipV="1">
                <a:off x="3311848" y="2364232"/>
                <a:ext cx="1169849" cy="399478"/>
              </a:xfrm>
              <a:prstGeom prst="rect">
                <a:avLst/>
              </a:prstGeom>
              <a:solidFill>
                <a:schemeClr val="bg1"/>
              </a:solidFill>
              <a:ln w="19050" cap="flat" cmpd="sng" algn="ctr">
                <a:solidFill>
                  <a:schemeClr val="accent5"/>
                </a:solidFill>
                <a:prstDash val="solid"/>
                <a:miter lim="800000"/>
                <a:tailEnd type="none"/>
              </a:ln>
              <a:effectLst/>
            </p:spPr>
            <p:txBody>
              <a:bodyPr lIns="80446" tIns="40223" rIns="80446" bIns="40223"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7" name="Rectangle 26">
                <a:extLst>
                  <a:ext uri="{FF2B5EF4-FFF2-40B4-BE49-F238E27FC236}">
                    <a16:creationId xmlns:a16="http://schemas.microsoft.com/office/drawing/2014/main" id="{E65244F0-D2C2-6F71-DDB1-7513F7C4C5E7}"/>
                  </a:ext>
                </a:extLst>
              </p:cNvPr>
              <p:cNvSpPr/>
              <p:nvPr/>
            </p:nvSpPr>
            <p:spPr>
              <a:xfrm rot="16200000" flipV="1">
                <a:off x="3535131" y="2097894"/>
                <a:ext cx="505822" cy="1018302"/>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28" name="Rectangle 27">
                <a:extLst>
                  <a:ext uri="{FF2B5EF4-FFF2-40B4-BE49-F238E27FC236}">
                    <a16:creationId xmlns:a16="http://schemas.microsoft.com/office/drawing/2014/main" id="{58940393-EAC2-D173-62D0-78939EFE7C87}"/>
                  </a:ext>
                </a:extLst>
              </p:cNvPr>
              <p:cNvSpPr/>
              <p:nvPr/>
            </p:nvSpPr>
            <p:spPr>
              <a:xfrm rot="10800000" flipV="1">
                <a:off x="3511164" y="2405473"/>
                <a:ext cx="1018301" cy="399477"/>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sp>
          <p:nvSpPr>
            <p:cNvPr id="25" name="Rectangle: Rounded Corners 2399">
              <a:extLst>
                <a:ext uri="{FF2B5EF4-FFF2-40B4-BE49-F238E27FC236}">
                  <a16:creationId xmlns:a16="http://schemas.microsoft.com/office/drawing/2014/main" id="{6F38C2F3-3D1D-9C22-0DE9-14675024806D}"/>
                </a:ext>
              </a:extLst>
            </p:cNvPr>
            <p:cNvSpPr/>
            <p:nvPr/>
          </p:nvSpPr>
          <p:spPr>
            <a:xfrm>
              <a:off x="7349222" y="4060025"/>
              <a:ext cx="1439190"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NSX Network</a:t>
              </a:r>
            </a:p>
          </p:txBody>
        </p:sp>
      </p:grpSp>
      <p:grpSp>
        <p:nvGrpSpPr>
          <p:cNvPr id="29" name="Group 28">
            <a:extLst>
              <a:ext uri="{FF2B5EF4-FFF2-40B4-BE49-F238E27FC236}">
                <a16:creationId xmlns:a16="http://schemas.microsoft.com/office/drawing/2014/main" id="{5F05C033-1142-2809-DD15-A90F376B11FD}"/>
              </a:ext>
            </a:extLst>
          </p:cNvPr>
          <p:cNvGrpSpPr/>
          <p:nvPr/>
        </p:nvGrpSpPr>
        <p:grpSpPr>
          <a:xfrm>
            <a:off x="4440644" y="4087147"/>
            <a:ext cx="757144" cy="539979"/>
            <a:chOff x="2941177" y="2354132"/>
            <a:chExt cx="1588289" cy="505821"/>
          </a:xfrm>
        </p:grpSpPr>
        <p:sp>
          <p:nvSpPr>
            <p:cNvPr id="30" name="Rectangle 29">
              <a:extLst>
                <a:ext uri="{FF2B5EF4-FFF2-40B4-BE49-F238E27FC236}">
                  <a16:creationId xmlns:a16="http://schemas.microsoft.com/office/drawing/2014/main" id="{935CC45A-0D4C-F6E9-B108-184A3EADC0B7}"/>
                </a:ext>
              </a:extLst>
            </p:cNvPr>
            <p:cNvSpPr/>
            <p:nvPr/>
          </p:nvSpPr>
          <p:spPr>
            <a:xfrm rot="10800000" flipV="1">
              <a:off x="3018446" y="2364232"/>
              <a:ext cx="1463251" cy="399478"/>
            </a:xfrm>
            <a:prstGeom prst="rect">
              <a:avLst/>
            </a:prstGeom>
            <a:solidFill>
              <a:schemeClr val="bg1"/>
            </a:solidFill>
            <a:ln w="19050" cap="flat" cmpd="sng" algn="ctr">
              <a:solidFill>
                <a:schemeClr val="accent5"/>
              </a:solid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31" name="Rectangle 30">
              <a:extLst>
                <a:ext uri="{FF2B5EF4-FFF2-40B4-BE49-F238E27FC236}">
                  <a16:creationId xmlns:a16="http://schemas.microsoft.com/office/drawing/2014/main" id="{74615786-9152-0601-78FC-9039A50F14BE}"/>
                </a:ext>
              </a:extLst>
            </p:cNvPr>
            <p:cNvSpPr/>
            <p:nvPr/>
          </p:nvSpPr>
          <p:spPr>
            <a:xfrm rot="16200000" flipV="1">
              <a:off x="3389457" y="1905852"/>
              <a:ext cx="505821" cy="1402382"/>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32" name="Rectangle 31">
              <a:extLst>
                <a:ext uri="{FF2B5EF4-FFF2-40B4-BE49-F238E27FC236}">
                  <a16:creationId xmlns:a16="http://schemas.microsoft.com/office/drawing/2014/main" id="{A3D35E84-5C02-1E09-EF19-C13007AEE246}"/>
                </a:ext>
              </a:extLst>
            </p:cNvPr>
            <p:cNvSpPr/>
            <p:nvPr/>
          </p:nvSpPr>
          <p:spPr>
            <a:xfrm rot="10800000" flipV="1">
              <a:off x="3133659" y="2405473"/>
              <a:ext cx="1395807" cy="399477"/>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sp>
        <p:nvSpPr>
          <p:cNvPr id="33" name="Rectangle: Rounded Corners 2399">
            <a:extLst>
              <a:ext uri="{FF2B5EF4-FFF2-40B4-BE49-F238E27FC236}">
                <a16:creationId xmlns:a16="http://schemas.microsoft.com/office/drawing/2014/main" id="{8271873E-711E-0F1E-353C-733F4669EA66}"/>
              </a:ext>
            </a:extLst>
          </p:cNvPr>
          <p:cNvSpPr/>
          <p:nvPr/>
        </p:nvSpPr>
        <p:spPr>
          <a:xfrm>
            <a:off x="4459123" y="4168584"/>
            <a:ext cx="657466"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VLAN</a:t>
            </a:r>
          </a:p>
        </p:txBody>
      </p:sp>
      <p:sp>
        <p:nvSpPr>
          <p:cNvPr id="34" name="Rectangle: Rounded Corners 2399">
            <a:extLst>
              <a:ext uri="{FF2B5EF4-FFF2-40B4-BE49-F238E27FC236}">
                <a16:creationId xmlns:a16="http://schemas.microsoft.com/office/drawing/2014/main" id="{EA4D3DEC-0444-0920-A9B1-3D22E6FB105D}"/>
              </a:ext>
            </a:extLst>
          </p:cNvPr>
          <p:cNvSpPr/>
          <p:nvPr/>
        </p:nvSpPr>
        <p:spPr>
          <a:xfrm>
            <a:off x="4582469" y="5241321"/>
            <a:ext cx="2496727" cy="195355"/>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1" i="0" u="none" strike="noStrike" kern="0" cap="none" spc="0" normalizeH="0" baseline="0" noProof="0" dirty="0">
                <a:ln>
                  <a:noFill/>
                </a:ln>
                <a:solidFill>
                  <a:srgbClr val="6C4B94"/>
                </a:solidFill>
                <a:effectLst/>
                <a:uLnTx/>
                <a:uFillTx/>
                <a:latin typeface="Arial" panose="020B0604020202020204"/>
                <a:ea typeface="+mn-ea"/>
                <a:cs typeface="Arial" panose="020B0604020202020204" pitchFamily="34" charset="0"/>
              </a:rPr>
              <a:t>vCenter Site A</a:t>
            </a:r>
          </a:p>
        </p:txBody>
      </p:sp>
      <p:pic>
        <p:nvPicPr>
          <p:cNvPr id="35" name="Graphic 34">
            <a:extLst>
              <a:ext uri="{FF2B5EF4-FFF2-40B4-BE49-F238E27FC236}">
                <a16:creationId xmlns:a16="http://schemas.microsoft.com/office/drawing/2014/main" id="{25EB3D55-BD81-690A-35D5-79280AAA60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5007" y="4537794"/>
            <a:ext cx="476808" cy="476810"/>
          </a:xfrm>
          <a:prstGeom prst="rect">
            <a:avLst/>
          </a:prstGeom>
        </p:spPr>
      </p:pic>
      <p:sp>
        <p:nvSpPr>
          <p:cNvPr id="36" name="Rectangle 35">
            <a:extLst>
              <a:ext uri="{FF2B5EF4-FFF2-40B4-BE49-F238E27FC236}">
                <a16:creationId xmlns:a16="http://schemas.microsoft.com/office/drawing/2014/main" id="{8C96E01D-26B2-AE71-404B-001A551A7E65}"/>
              </a:ext>
            </a:extLst>
          </p:cNvPr>
          <p:cNvSpPr/>
          <p:nvPr/>
        </p:nvSpPr>
        <p:spPr>
          <a:xfrm>
            <a:off x="4597975" y="5503178"/>
            <a:ext cx="2536372" cy="14567"/>
          </a:xfrm>
          <a:prstGeom prst="rect">
            <a:avLst/>
          </a:prstGeom>
          <a:gradFill>
            <a:gsLst>
              <a:gs pos="0">
                <a:schemeClr val="accent5">
                  <a:alpha val="0"/>
                </a:schemeClr>
              </a:gs>
              <a:gs pos="38000">
                <a:schemeClr val="accent5"/>
              </a:gs>
              <a:gs pos="59000">
                <a:schemeClr val="accent5"/>
              </a:gs>
              <a:gs pos="99000">
                <a:schemeClr val="accent5">
                  <a:alpha val="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8" name="Rectangle: Rounded Corners 2399">
            <a:extLst>
              <a:ext uri="{FF2B5EF4-FFF2-40B4-BE49-F238E27FC236}">
                <a16:creationId xmlns:a16="http://schemas.microsoft.com/office/drawing/2014/main" id="{E6480446-446D-FEAD-2CE4-76FE9E8F6456}"/>
              </a:ext>
            </a:extLst>
          </p:cNvPr>
          <p:cNvSpPr/>
          <p:nvPr/>
        </p:nvSpPr>
        <p:spPr>
          <a:xfrm>
            <a:off x="763654" y="5247163"/>
            <a:ext cx="3069010" cy="195355"/>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1" i="0" u="none" strike="noStrike" kern="0" cap="none" spc="0" normalizeH="0" baseline="0" noProof="0" dirty="0">
                <a:ln>
                  <a:noFill/>
                </a:ln>
                <a:solidFill>
                  <a:srgbClr val="005C8A"/>
                </a:solidFill>
                <a:effectLst/>
                <a:uLnTx/>
                <a:uFillTx/>
                <a:latin typeface="Arial" panose="020B0604020202020204"/>
                <a:ea typeface="+mn-ea"/>
                <a:cs typeface="Arial" panose="020B0604020202020204" pitchFamily="34" charset="0"/>
              </a:rPr>
              <a:t>VCF-Site B</a:t>
            </a:r>
          </a:p>
        </p:txBody>
      </p:sp>
      <p:sp>
        <p:nvSpPr>
          <p:cNvPr id="39" name="Google Shape;2848;p22">
            <a:extLst>
              <a:ext uri="{FF2B5EF4-FFF2-40B4-BE49-F238E27FC236}">
                <a16:creationId xmlns:a16="http://schemas.microsoft.com/office/drawing/2014/main" id="{BBACAA5E-A925-CFC4-84D8-E50200F29E94}"/>
              </a:ext>
            </a:extLst>
          </p:cNvPr>
          <p:cNvSpPr/>
          <p:nvPr/>
        </p:nvSpPr>
        <p:spPr>
          <a:xfrm>
            <a:off x="1157524" y="4048960"/>
            <a:ext cx="2030928" cy="630455"/>
          </a:xfrm>
          <a:prstGeom prst="roundRect">
            <a:avLst>
              <a:gd name="adj" fmla="val 1496"/>
            </a:avLst>
          </a:prstGeom>
          <a:solidFill>
            <a:schemeClr val="bg1"/>
          </a:solidFill>
          <a:ln w="1270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a:ea typeface="Arial"/>
              <a:cs typeface="Arial" panose="020B0604020202020204" pitchFamily="34" charset="0"/>
              <a:sym typeface="Arial"/>
            </a:endParaRPr>
          </a:p>
        </p:txBody>
      </p:sp>
      <p:sp>
        <p:nvSpPr>
          <p:cNvPr id="40" name="Rectangle 39">
            <a:extLst>
              <a:ext uri="{FF2B5EF4-FFF2-40B4-BE49-F238E27FC236}">
                <a16:creationId xmlns:a16="http://schemas.microsoft.com/office/drawing/2014/main" id="{1DA165D8-7BFF-5C38-A488-4BABCA3C631A}"/>
              </a:ext>
            </a:extLst>
          </p:cNvPr>
          <p:cNvSpPr/>
          <p:nvPr/>
        </p:nvSpPr>
        <p:spPr>
          <a:xfrm rot="10800000" flipV="1">
            <a:off x="1431540" y="4523932"/>
            <a:ext cx="506424" cy="529717"/>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pic>
        <p:nvPicPr>
          <p:cNvPr id="41" name="Graphic 40">
            <a:extLst>
              <a:ext uri="{FF2B5EF4-FFF2-40B4-BE49-F238E27FC236}">
                <a16:creationId xmlns:a16="http://schemas.microsoft.com/office/drawing/2014/main" id="{B4C211F7-7488-3C02-34D4-A05565056F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46347" y="4550386"/>
            <a:ext cx="476808" cy="476810"/>
          </a:xfrm>
          <a:prstGeom prst="rect">
            <a:avLst/>
          </a:prstGeom>
        </p:spPr>
      </p:pic>
      <p:sp>
        <p:nvSpPr>
          <p:cNvPr id="42" name="Rectangle 41">
            <a:extLst>
              <a:ext uri="{FF2B5EF4-FFF2-40B4-BE49-F238E27FC236}">
                <a16:creationId xmlns:a16="http://schemas.microsoft.com/office/drawing/2014/main" id="{BC0DF9DB-3BB3-9584-FE66-2DA9B176F049}"/>
              </a:ext>
            </a:extLst>
          </p:cNvPr>
          <p:cNvSpPr/>
          <p:nvPr/>
        </p:nvSpPr>
        <p:spPr>
          <a:xfrm rot="10800000" flipV="1">
            <a:off x="2409814" y="4523932"/>
            <a:ext cx="506424" cy="529717"/>
          </a:xfrm>
          <a:prstGeom prst="rect">
            <a:avLst/>
          </a:prstGeom>
          <a:solidFill>
            <a:schemeClr val="bg1"/>
          </a:solidFill>
          <a:ln w="19050" cap="flat" cmpd="sng" algn="ctr">
            <a:noFill/>
            <a:prstDash val="solid"/>
            <a:miter lim="800000"/>
            <a:tailEnd type="none"/>
          </a:ln>
          <a:effectLst/>
        </p:spPr>
        <p:txBody>
          <a:bodyPr lIns="80446" tIns="40223" rIns="80446" bIns="4022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pic>
        <p:nvPicPr>
          <p:cNvPr id="43" name="Graphic 42">
            <a:extLst>
              <a:ext uri="{FF2B5EF4-FFF2-40B4-BE49-F238E27FC236}">
                <a16:creationId xmlns:a16="http://schemas.microsoft.com/office/drawing/2014/main" id="{3E2D9226-CD99-EE04-2AAE-12FB62CBA7F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24621" y="4550386"/>
            <a:ext cx="476808" cy="476810"/>
          </a:xfrm>
          <a:prstGeom prst="rect">
            <a:avLst/>
          </a:prstGeom>
        </p:spPr>
      </p:pic>
      <p:sp>
        <p:nvSpPr>
          <p:cNvPr id="44" name="Rectangle: Rounded Corners 2399">
            <a:extLst>
              <a:ext uri="{FF2B5EF4-FFF2-40B4-BE49-F238E27FC236}">
                <a16:creationId xmlns:a16="http://schemas.microsoft.com/office/drawing/2014/main" id="{15B43AE8-5D61-7989-8324-E9A098EA0CCE}"/>
              </a:ext>
            </a:extLst>
          </p:cNvPr>
          <p:cNvSpPr/>
          <p:nvPr/>
        </p:nvSpPr>
        <p:spPr>
          <a:xfrm>
            <a:off x="1491047" y="4306617"/>
            <a:ext cx="1409337"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200" b="0" i="0" u="none" strike="noStrike" kern="0" cap="all" spc="0" normalizeH="0" baseline="0" noProof="0" dirty="0">
                <a:ln>
                  <a:noFill/>
                </a:ln>
                <a:solidFill>
                  <a:srgbClr val="000000"/>
                </a:solidFill>
                <a:effectLst/>
                <a:uLnTx/>
                <a:uFillTx/>
                <a:latin typeface="Arial" panose="020B0604020202020204"/>
                <a:ea typeface="+mn-ea"/>
                <a:cs typeface="Arial" panose="020B0604020202020204" pitchFamily="34" charset="0"/>
              </a:rPr>
              <a:t>VCF Cluster</a:t>
            </a:r>
          </a:p>
        </p:txBody>
      </p:sp>
      <p:sp>
        <p:nvSpPr>
          <p:cNvPr id="45" name="Rectangle 44">
            <a:extLst>
              <a:ext uri="{FF2B5EF4-FFF2-40B4-BE49-F238E27FC236}">
                <a16:creationId xmlns:a16="http://schemas.microsoft.com/office/drawing/2014/main" id="{D04D05A5-EE71-C1D9-55EA-AFB618351C13}"/>
              </a:ext>
            </a:extLst>
          </p:cNvPr>
          <p:cNvSpPr/>
          <p:nvPr/>
        </p:nvSpPr>
        <p:spPr>
          <a:xfrm>
            <a:off x="763654" y="5511491"/>
            <a:ext cx="3069010" cy="14567"/>
          </a:xfrm>
          <a:prstGeom prst="rect">
            <a:avLst/>
          </a:prstGeom>
          <a:gradFill>
            <a:gsLst>
              <a:gs pos="0">
                <a:schemeClr val="accent3">
                  <a:alpha val="0"/>
                </a:schemeClr>
              </a:gs>
              <a:gs pos="39000">
                <a:schemeClr val="accent3"/>
              </a:gs>
              <a:gs pos="60000">
                <a:schemeClr val="accent3"/>
              </a:gs>
              <a:gs pos="100000">
                <a:schemeClr val="accent3">
                  <a:alpha val="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6" name="Rectangle: Rounded Corners 2399">
            <a:extLst>
              <a:ext uri="{FF2B5EF4-FFF2-40B4-BE49-F238E27FC236}">
                <a16:creationId xmlns:a16="http://schemas.microsoft.com/office/drawing/2014/main" id="{F62FD810-4BDE-DF54-DC85-7CCC2F1BD8A9}"/>
              </a:ext>
            </a:extLst>
          </p:cNvPr>
          <p:cNvSpPr/>
          <p:nvPr/>
        </p:nvSpPr>
        <p:spPr>
          <a:xfrm>
            <a:off x="2395285" y="3748598"/>
            <a:ext cx="1252303"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NSX NETWORK</a:t>
            </a:r>
          </a:p>
        </p:txBody>
      </p:sp>
      <p:sp>
        <p:nvSpPr>
          <p:cNvPr id="47" name="Rectangle: Rounded Corners 2399">
            <a:extLst>
              <a:ext uri="{FF2B5EF4-FFF2-40B4-BE49-F238E27FC236}">
                <a16:creationId xmlns:a16="http://schemas.microsoft.com/office/drawing/2014/main" id="{EC110B9F-671B-35A1-1FC5-53850D8305F0}"/>
              </a:ext>
            </a:extLst>
          </p:cNvPr>
          <p:cNvSpPr/>
          <p:nvPr/>
        </p:nvSpPr>
        <p:spPr>
          <a:xfrm>
            <a:off x="1114623" y="3723659"/>
            <a:ext cx="862753" cy="177596"/>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NSX VLAN</a:t>
            </a:r>
          </a:p>
        </p:txBody>
      </p:sp>
      <p:grpSp>
        <p:nvGrpSpPr>
          <p:cNvPr id="48" name="Group 47">
            <a:extLst>
              <a:ext uri="{FF2B5EF4-FFF2-40B4-BE49-F238E27FC236}">
                <a16:creationId xmlns:a16="http://schemas.microsoft.com/office/drawing/2014/main" id="{B29D1F6D-1E04-CE00-261F-5D812231A4CB}"/>
              </a:ext>
            </a:extLst>
          </p:cNvPr>
          <p:cNvGrpSpPr/>
          <p:nvPr/>
        </p:nvGrpSpPr>
        <p:grpSpPr>
          <a:xfrm>
            <a:off x="5631882" y="3424319"/>
            <a:ext cx="542117" cy="573914"/>
            <a:chOff x="6036855" y="2199341"/>
            <a:chExt cx="542117" cy="573914"/>
          </a:xfrm>
        </p:grpSpPr>
        <p:grpSp>
          <p:nvGrpSpPr>
            <p:cNvPr id="49" name="Group 48">
              <a:extLst>
                <a:ext uri="{FF2B5EF4-FFF2-40B4-BE49-F238E27FC236}">
                  <a16:creationId xmlns:a16="http://schemas.microsoft.com/office/drawing/2014/main" id="{D170BCD9-2228-8349-F43D-2856556D1AEF}"/>
                </a:ext>
              </a:extLst>
            </p:cNvPr>
            <p:cNvGrpSpPr/>
            <p:nvPr/>
          </p:nvGrpSpPr>
          <p:grpSpPr>
            <a:xfrm>
              <a:off x="6125753" y="2406901"/>
              <a:ext cx="366096" cy="366354"/>
              <a:chOff x="6048000" y="2396768"/>
              <a:chExt cx="402706" cy="402989"/>
            </a:xfrm>
          </p:grpSpPr>
          <p:sp>
            <p:nvSpPr>
              <p:cNvPr id="51" name="Rectangle 50">
                <a:extLst>
                  <a:ext uri="{FF2B5EF4-FFF2-40B4-BE49-F238E27FC236}">
                    <a16:creationId xmlns:a16="http://schemas.microsoft.com/office/drawing/2014/main" id="{31EB2A49-3C78-4191-77CE-225AC97AC45F}"/>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52" name="Group 51">
                <a:extLst>
                  <a:ext uri="{FF2B5EF4-FFF2-40B4-BE49-F238E27FC236}">
                    <a16:creationId xmlns:a16="http://schemas.microsoft.com/office/drawing/2014/main" id="{7E2DA1B0-3DBB-0704-B701-B3FA865519DA}"/>
                  </a:ext>
                </a:extLst>
              </p:cNvPr>
              <p:cNvGrpSpPr/>
              <p:nvPr/>
            </p:nvGrpSpPr>
            <p:grpSpPr>
              <a:xfrm>
                <a:off x="6048000" y="2396768"/>
                <a:ext cx="402706" cy="402989"/>
                <a:chOff x="611268" y="5235083"/>
                <a:chExt cx="682595" cy="683075"/>
              </a:xfrm>
              <a:solidFill>
                <a:schemeClr val="accent3"/>
              </a:solidFill>
            </p:grpSpPr>
            <p:sp>
              <p:nvSpPr>
                <p:cNvPr id="53" name="Freeform 52">
                  <a:extLst>
                    <a:ext uri="{FF2B5EF4-FFF2-40B4-BE49-F238E27FC236}">
                      <a16:creationId xmlns:a16="http://schemas.microsoft.com/office/drawing/2014/main" id="{A1912040-FF32-017D-3208-7101D87E6267}"/>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54" name="Freeform 53">
                  <a:extLst>
                    <a:ext uri="{FF2B5EF4-FFF2-40B4-BE49-F238E27FC236}">
                      <a16:creationId xmlns:a16="http://schemas.microsoft.com/office/drawing/2014/main" id="{C728DBA9-4EAE-D87C-0A29-31633C401F9D}"/>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55" name="Freeform 54">
                  <a:extLst>
                    <a:ext uri="{FF2B5EF4-FFF2-40B4-BE49-F238E27FC236}">
                      <a16:creationId xmlns:a16="http://schemas.microsoft.com/office/drawing/2014/main" id="{5533213B-E215-EC35-0552-6DE13121D9C2}"/>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50" name="Rectangle 49">
              <a:extLst>
                <a:ext uri="{FF2B5EF4-FFF2-40B4-BE49-F238E27FC236}">
                  <a16:creationId xmlns:a16="http://schemas.microsoft.com/office/drawing/2014/main" id="{CB901AC8-F496-9F59-78B6-E7799769C95B}"/>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VM2</a:t>
              </a:r>
            </a:p>
          </p:txBody>
        </p:sp>
      </p:grpSp>
      <p:grpSp>
        <p:nvGrpSpPr>
          <p:cNvPr id="56" name="Group 55">
            <a:extLst>
              <a:ext uri="{FF2B5EF4-FFF2-40B4-BE49-F238E27FC236}">
                <a16:creationId xmlns:a16="http://schemas.microsoft.com/office/drawing/2014/main" id="{9697ED45-5AE2-22C2-066E-7575202B9ED4}"/>
              </a:ext>
            </a:extLst>
          </p:cNvPr>
          <p:cNvGrpSpPr/>
          <p:nvPr/>
        </p:nvGrpSpPr>
        <p:grpSpPr>
          <a:xfrm>
            <a:off x="4675124" y="3424319"/>
            <a:ext cx="542117" cy="573911"/>
            <a:chOff x="6036855" y="2199341"/>
            <a:chExt cx="542117" cy="573911"/>
          </a:xfrm>
        </p:grpSpPr>
        <p:grpSp>
          <p:nvGrpSpPr>
            <p:cNvPr id="57" name="Group 56">
              <a:extLst>
                <a:ext uri="{FF2B5EF4-FFF2-40B4-BE49-F238E27FC236}">
                  <a16:creationId xmlns:a16="http://schemas.microsoft.com/office/drawing/2014/main" id="{B1663E37-84DC-69CC-7A1B-6163048A56C5}"/>
                </a:ext>
              </a:extLst>
            </p:cNvPr>
            <p:cNvGrpSpPr/>
            <p:nvPr/>
          </p:nvGrpSpPr>
          <p:grpSpPr>
            <a:xfrm>
              <a:off x="6125753" y="2406901"/>
              <a:ext cx="366096" cy="366354"/>
              <a:chOff x="6048000" y="2396768"/>
              <a:chExt cx="402706" cy="402989"/>
            </a:xfrm>
          </p:grpSpPr>
          <p:sp>
            <p:nvSpPr>
              <p:cNvPr id="59" name="Rectangle 58">
                <a:extLst>
                  <a:ext uri="{FF2B5EF4-FFF2-40B4-BE49-F238E27FC236}">
                    <a16:creationId xmlns:a16="http://schemas.microsoft.com/office/drawing/2014/main" id="{05ED1F1A-9557-6600-AFEE-ADACC8C9E23F}"/>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60" name="Group 59">
                <a:extLst>
                  <a:ext uri="{FF2B5EF4-FFF2-40B4-BE49-F238E27FC236}">
                    <a16:creationId xmlns:a16="http://schemas.microsoft.com/office/drawing/2014/main" id="{C5D273FB-2A4F-2D17-9AF4-AEDD1E57580A}"/>
                  </a:ext>
                </a:extLst>
              </p:cNvPr>
              <p:cNvGrpSpPr/>
              <p:nvPr/>
            </p:nvGrpSpPr>
            <p:grpSpPr>
              <a:xfrm>
                <a:off x="6048000" y="2396768"/>
                <a:ext cx="402706" cy="402989"/>
                <a:chOff x="611268" y="5235083"/>
                <a:chExt cx="682595" cy="683075"/>
              </a:xfrm>
              <a:solidFill>
                <a:schemeClr val="accent3"/>
              </a:solidFill>
            </p:grpSpPr>
            <p:sp>
              <p:nvSpPr>
                <p:cNvPr id="61" name="Freeform 60">
                  <a:extLst>
                    <a:ext uri="{FF2B5EF4-FFF2-40B4-BE49-F238E27FC236}">
                      <a16:creationId xmlns:a16="http://schemas.microsoft.com/office/drawing/2014/main" id="{A3EA4D4A-5635-5D58-77B8-0DE81AA18385}"/>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62" name="Freeform 61">
                  <a:extLst>
                    <a:ext uri="{FF2B5EF4-FFF2-40B4-BE49-F238E27FC236}">
                      <a16:creationId xmlns:a16="http://schemas.microsoft.com/office/drawing/2014/main" id="{4DDCC3A7-CBBB-589B-6804-4EF547D8C9CB}"/>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63" name="Freeform 62">
                  <a:extLst>
                    <a:ext uri="{FF2B5EF4-FFF2-40B4-BE49-F238E27FC236}">
                      <a16:creationId xmlns:a16="http://schemas.microsoft.com/office/drawing/2014/main" id="{00FF9E6E-75BF-A051-4DB2-E5A6F543CEC9}"/>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grp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58" name="Rectangle 57">
              <a:extLst>
                <a:ext uri="{FF2B5EF4-FFF2-40B4-BE49-F238E27FC236}">
                  <a16:creationId xmlns:a16="http://schemas.microsoft.com/office/drawing/2014/main" id="{E5986314-3C29-0BE3-6F26-D55350D9B906}"/>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VM1</a:t>
              </a:r>
            </a:p>
          </p:txBody>
        </p:sp>
      </p:grpSp>
      <p:cxnSp>
        <p:nvCxnSpPr>
          <p:cNvPr id="64" name="Straight Connector 63">
            <a:extLst>
              <a:ext uri="{FF2B5EF4-FFF2-40B4-BE49-F238E27FC236}">
                <a16:creationId xmlns:a16="http://schemas.microsoft.com/office/drawing/2014/main" id="{9AAFF2B8-12A3-FD93-2A57-867764C610B5}"/>
              </a:ext>
            </a:extLst>
          </p:cNvPr>
          <p:cNvCxnSpPr>
            <a:cxnSpLocks/>
          </p:cNvCxnSpPr>
          <p:nvPr/>
        </p:nvCxnSpPr>
        <p:spPr bwMode="gray">
          <a:xfrm>
            <a:off x="4947706" y="3994654"/>
            <a:ext cx="0" cy="97309"/>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30EC66A-D31E-91AF-6DC8-FE5D0C1243F4}"/>
              </a:ext>
            </a:extLst>
          </p:cNvPr>
          <p:cNvCxnSpPr/>
          <p:nvPr/>
        </p:nvCxnSpPr>
        <p:spPr bwMode="gray">
          <a:xfrm>
            <a:off x="3459044" y="3597740"/>
            <a:ext cx="0" cy="80421"/>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CB51FA4-5C2D-A5B1-37D8-68786B36277A}"/>
              </a:ext>
            </a:extLst>
          </p:cNvPr>
          <p:cNvCxnSpPr>
            <a:cxnSpLocks/>
          </p:cNvCxnSpPr>
          <p:nvPr/>
        </p:nvCxnSpPr>
        <p:spPr bwMode="gray">
          <a:xfrm>
            <a:off x="5904636" y="3994654"/>
            <a:ext cx="0" cy="97309"/>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30D4E4D-300D-C271-7D71-02B5EE255B9E}"/>
              </a:ext>
            </a:extLst>
          </p:cNvPr>
          <p:cNvCxnSpPr/>
          <p:nvPr/>
        </p:nvCxnSpPr>
        <p:spPr bwMode="gray">
          <a:xfrm>
            <a:off x="3055920" y="3597740"/>
            <a:ext cx="0" cy="80421"/>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AA99C58-EAF0-73BC-6526-B5AE37BF1EEE}"/>
              </a:ext>
            </a:extLst>
          </p:cNvPr>
          <p:cNvCxnSpPr/>
          <p:nvPr/>
        </p:nvCxnSpPr>
        <p:spPr bwMode="gray">
          <a:xfrm>
            <a:off x="1870604" y="3593849"/>
            <a:ext cx="0" cy="80421"/>
          </a:xfrm>
          <a:prstGeom prst="line">
            <a:avLst/>
          </a:prstGeom>
          <a:ln w="15875">
            <a:solidFill>
              <a:srgbClr val="0098C8"/>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BA57C169-1890-32B1-8338-C38D19102592}"/>
              </a:ext>
            </a:extLst>
          </p:cNvPr>
          <p:cNvGrpSpPr/>
          <p:nvPr/>
        </p:nvGrpSpPr>
        <p:grpSpPr>
          <a:xfrm>
            <a:off x="6317098" y="4087151"/>
            <a:ext cx="1511184" cy="539981"/>
            <a:chOff x="7255604" y="3978592"/>
            <a:chExt cx="874383" cy="539981"/>
          </a:xfrm>
        </p:grpSpPr>
        <p:grpSp>
          <p:nvGrpSpPr>
            <p:cNvPr id="70" name="Group 69">
              <a:extLst>
                <a:ext uri="{FF2B5EF4-FFF2-40B4-BE49-F238E27FC236}">
                  <a16:creationId xmlns:a16="http://schemas.microsoft.com/office/drawing/2014/main" id="{685C314C-6042-920D-AC21-8073E7744A33}"/>
                </a:ext>
              </a:extLst>
            </p:cNvPr>
            <p:cNvGrpSpPr/>
            <p:nvPr/>
          </p:nvGrpSpPr>
          <p:grpSpPr>
            <a:xfrm flipH="1">
              <a:off x="7255604" y="3978592"/>
              <a:ext cx="800500" cy="539981"/>
              <a:chOff x="3289623" y="2354133"/>
              <a:chExt cx="1239833" cy="505822"/>
            </a:xfrm>
          </p:grpSpPr>
          <p:sp>
            <p:nvSpPr>
              <p:cNvPr id="72" name="Rectangle 71">
                <a:extLst>
                  <a:ext uri="{FF2B5EF4-FFF2-40B4-BE49-F238E27FC236}">
                    <a16:creationId xmlns:a16="http://schemas.microsoft.com/office/drawing/2014/main" id="{8C2CC744-6E59-A78E-4BE0-E78AB6FED018}"/>
                  </a:ext>
                </a:extLst>
              </p:cNvPr>
              <p:cNvSpPr/>
              <p:nvPr/>
            </p:nvSpPr>
            <p:spPr>
              <a:xfrm rot="10800000" flipV="1">
                <a:off x="3311848" y="2364232"/>
                <a:ext cx="1169849" cy="399478"/>
              </a:xfrm>
              <a:prstGeom prst="rect">
                <a:avLst/>
              </a:prstGeom>
              <a:solidFill>
                <a:schemeClr val="bg1"/>
              </a:solidFill>
              <a:ln w="19050" cap="flat" cmpd="sng" algn="ctr">
                <a:solidFill>
                  <a:schemeClr val="accent5"/>
                </a:solidFill>
                <a:prstDash val="solid"/>
                <a:miter lim="800000"/>
                <a:tailEnd type="none"/>
              </a:ln>
              <a:effectLst/>
            </p:spPr>
            <p:txBody>
              <a:bodyPr lIns="80446" tIns="40223" rIns="80446" bIns="40223"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73" name="Rectangle 72">
                <a:extLst>
                  <a:ext uri="{FF2B5EF4-FFF2-40B4-BE49-F238E27FC236}">
                    <a16:creationId xmlns:a16="http://schemas.microsoft.com/office/drawing/2014/main" id="{89BF6A0E-B445-CD59-CF8D-81D04AB0F6B3}"/>
                  </a:ext>
                </a:extLst>
              </p:cNvPr>
              <p:cNvSpPr/>
              <p:nvPr/>
            </p:nvSpPr>
            <p:spPr>
              <a:xfrm rot="16200000" flipV="1">
                <a:off x="3545862" y="2097894"/>
                <a:ext cx="505822" cy="1018299"/>
              </a:xfrm>
              <a:prstGeom prst="rect">
                <a:avLst/>
              </a:prstGeom>
              <a:gradFill>
                <a:gsLst>
                  <a:gs pos="0">
                    <a:schemeClr val="bg1">
                      <a:alpha val="0"/>
                    </a:schemeClr>
                  </a:gs>
                  <a:gs pos="82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sp>
            <p:nvSpPr>
              <p:cNvPr id="74" name="Rectangle 73">
                <a:extLst>
                  <a:ext uri="{FF2B5EF4-FFF2-40B4-BE49-F238E27FC236}">
                    <a16:creationId xmlns:a16="http://schemas.microsoft.com/office/drawing/2014/main" id="{AB562152-79D6-7338-7ADC-9D96FFCD4949}"/>
                  </a:ext>
                </a:extLst>
              </p:cNvPr>
              <p:cNvSpPr/>
              <p:nvPr/>
            </p:nvSpPr>
            <p:spPr>
              <a:xfrm rot="10800000" flipV="1">
                <a:off x="3511154" y="2405473"/>
                <a:ext cx="1018302" cy="399477"/>
              </a:xfrm>
              <a:prstGeom prst="rect">
                <a:avLst/>
              </a:prstGeom>
              <a:gradFill>
                <a:gsLst>
                  <a:gs pos="0">
                    <a:schemeClr val="bg1">
                      <a:alpha val="0"/>
                    </a:schemeClr>
                  </a:gs>
                  <a:gs pos="87000">
                    <a:schemeClr val="bg1"/>
                  </a:gs>
                </a:gsLst>
                <a:lin ang="5400000" scaled="0"/>
              </a:gradFill>
              <a:ln w="19050" cap="flat" cmpd="sng" algn="ctr">
                <a:noFill/>
                <a:prstDash val="solid"/>
                <a:miter lim="800000"/>
                <a:tailEnd type="none"/>
              </a:ln>
              <a:effectLst/>
            </p:spPr>
            <p:txBody>
              <a:bodyPr lIns="80446" tIns="40223" rIns="80446" bIns="40223"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2F2F2"/>
                  </a:solidFill>
                  <a:effectLst/>
                  <a:uLnTx/>
                  <a:uFillTx/>
                  <a:latin typeface="Arial" panose="020B0604020202020204"/>
                  <a:ea typeface="+mn-ea"/>
                  <a:cs typeface="Arial" panose="020B0604020202020204" pitchFamily="34" charset="0"/>
                </a:endParaRPr>
              </a:p>
            </p:txBody>
          </p:sp>
        </p:grpSp>
        <p:sp>
          <p:nvSpPr>
            <p:cNvPr id="71" name="Rectangle: Rounded Corners 2399">
              <a:extLst>
                <a:ext uri="{FF2B5EF4-FFF2-40B4-BE49-F238E27FC236}">
                  <a16:creationId xmlns:a16="http://schemas.microsoft.com/office/drawing/2014/main" id="{F5D765E1-AD32-9150-3079-06067A10B050}"/>
                </a:ext>
              </a:extLst>
            </p:cNvPr>
            <p:cNvSpPr/>
            <p:nvPr/>
          </p:nvSpPr>
          <p:spPr>
            <a:xfrm>
              <a:off x="7367012" y="4060025"/>
              <a:ext cx="762975" cy="134877"/>
            </a:xfrm>
            <a:prstGeom prst="rect">
              <a:avLst/>
            </a:prstGeom>
            <a:noFill/>
            <a:ln w="25400" cap="flat" cmpd="sng" algn="ctr">
              <a:no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592"/>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Arial" panose="020B0604020202020204" pitchFamily="34" charset="0"/>
                </a:rPr>
                <a:t>NSX VLAN</a:t>
              </a:r>
            </a:p>
          </p:txBody>
        </p:sp>
      </p:grpSp>
      <p:pic>
        <p:nvPicPr>
          <p:cNvPr id="75" name="Graphic 74">
            <a:extLst>
              <a:ext uri="{FF2B5EF4-FFF2-40B4-BE49-F238E27FC236}">
                <a16:creationId xmlns:a16="http://schemas.microsoft.com/office/drawing/2014/main" id="{A3D14033-9EFF-5584-83E0-34B9C3BE12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36893" y="4537794"/>
            <a:ext cx="476808" cy="476810"/>
          </a:xfrm>
          <a:prstGeom prst="rect">
            <a:avLst/>
          </a:prstGeom>
        </p:spPr>
      </p:pic>
      <p:sp>
        <p:nvSpPr>
          <p:cNvPr id="76" name="Rectangle 75">
            <a:extLst>
              <a:ext uri="{FF2B5EF4-FFF2-40B4-BE49-F238E27FC236}">
                <a16:creationId xmlns:a16="http://schemas.microsoft.com/office/drawing/2014/main" id="{C7C31E50-3ACA-77A6-8658-0D3A86C7D94B}"/>
              </a:ext>
            </a:extLst>
          </p:cNvPr>
          <p:cNvSpPr/>
          <p:nvPr/>
        </p:nvSpPr>
        <p:spPr bwMode="gray">
          <a:xfrm>
            <a:off x="4796185" y="4811200"/>
            <a:ext cx="1932698" cy="161452"/>
          </a:xfrm>
          <a:prstGeom prst="rect">
            <a:avLst/>
          </a:prstGeom>
          <a:solidFill>
            <a:schemeClr val="bg1">
              <a:alpha val="92363"/>
            </a:schemeClr>
          </a:solidFill>
          <a:ln w="1587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vCenter</a:t>
            </a:r>
          </a:p>
        </p:txBody>
      </p:sp>
      <p:sp>
        <p:nvSpPr>
          <p:cNvPr id="77" name="Rectangle 76">
            <a:extLst>
              <a:ext uri="{FF2B5EF4-FFF2-40B4-BE49-F238E27FC236}">
                <a16:creationId xmlns:a16="http://schemas.microsoft.com/office/drawing/2014/main" id="{F878DA3A-A5D7-FEC5-C42E-E76D19E70220}"/>
              </a:ext>
            </a:extLst>
          </p:cNvPr>
          <p:cNvSpPr/>
          <p:nvPr/>
        </p:nvSpPr>
        <p:spPr bwMode="gray">
          <a:xfrm>
            <a:off x="2989098" y="2615299"/>
            <a:ext cx="2903092" cy="268871"/>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HCX Service Mesh  (IPsec tunnels)</a:t>
            </a:r>
          </a:p>
        </p:txBody>
      </p:sp>
      <p:sp>
        <p:nvSpPr>
          <p:cNvPr id="78" name="Rectangle 77">
            <a:extLst>
              <a:ext uri="{FF2B5EF4-FFF2-40B4-BE49-F238E27FC236}">
                <a16:creationId xmlns:a16="http://schemas.microsoft.com/office/drawing/2014/main" id="{F5E40501-B486-4DB6-BC02-D9DB5D45D3D4}"/>
              </a:ext>
            </a:extLst>
          </p:cNvPr>
          <p:cNvSpPr/>
          <p:nvPr/>
        </p:nvSpPr>
        <p:spPr bwMode="gray">
          <a:xfrm>
            <a:off x="2620090" y="1866865"/>
            <a:ext cx="2903092" cy="5119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HCX Network Extension (L2)</a:t>
            </a:r>
          </a:p>
        </p:txBody>
      </p:sp>
      <p:grpSp>
        <p:nvGrpSpPr>
          <p:cNvPr id="79" name="Group 78">
            <a:extLst>
              <a:ext uri="{FF2B5EF4-FFF2-40B4-BE49-F238E27FC236}">
                <a16:creationId xmlns:a16="http://schemas.microsoft.com/office/drawing/2014/main" id="{97D90DD4-B8AF-8A9A-0FE2-E37D1097A9AF}"/>
              </a:ext>
            </a:extLst>
          </p:cNvPr>
          <p:cNvGrpSpPr/>
          <p:nvPr/>
        </p:nvGrpSpPr>
        <p:grpSpPr>
          <a:xfrm>
            <a:off x="6559670" y="3424319"/>
            <a:ext cx="542117" cy="573914"/>
            <a:chOff x="6036855" y="2199341"/>
            <a:chExt cx="542117" cy="573914"/>
          </a:xfrm>
        </p:grpSpPr>
        <p:grpSp>
          <p:nvGrpSpPr>
            <p:cNvPr id="80" name="Group 79">
              <a:extLst>
                <a:ext uri="{FF2B5EF4-FFF2-40B4-BE49-F238E27FC236}">
                  <a16:creationId xmlns:a16="http://schemas.microsoft.com/office/drawing/2014/main" id="{A950879F-A226-A368-8DC1-B9E49EBDF0D2}"/>
                </a:ext>
              </a:extLst>
            </p:cNvPr>
            <p:cNvGrpSpPr/>
            <p:nvPr/>
          </p:nvGrpSpPr>
          <p:grpSpPr>
            <a:xfrm>
              <a:off x="6125753" y="2406901"/>
              <a:ext cx="366096" cy="366354"/>
              <a:chOff x="6048000" y="2396768"/>
              <a:chExt cx="402706" cy="402989"/>
            </a:xfrm>
          </p:grpSpPr>
          <p:sp>
            <p:nvSpPr>
              <p:cNvPr id="82" name="Rectangle 81">
                <a:extLst>
                  <a:ext uri="{FF2B5EF4-FFF2-40B4-BE49-F238E27FC236}">
                    <a16:creationId xmlns:a16="http://schemas.microsoft.com/office/drawing/2014/main" id="{2D180314-6340-6630-92CA-6298006E15A1}"/>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83" name="Group 82">
                <a:extLst>
                  <a:ext uri="{FF2B5EF4-FFF2-40B4-BE49-F238E27FC236}">
                    <a16:creationId xmlns:a16="http://schemas.microsoft.com/office/drawing/2014/main" id="{C03FB066-1605-05A9-88AA-672FDCC4BD3B}"/>
                  </a:ext>
                </a:extLst>
              </p:cNvPr>
              <p:cNvGrpSpPr/>
              <p:nvPr/>
            </p:nvGrpSpPr>
            <p:grpSpPr>
              <a:xfrm>
                <a:off x="6048000" y="2396768"/>
                <a:ext cx="402706" cy="402989"/>
                <a:chOff x="611268" y="5235083"/>
                <a:chExt cx="682595" cy="683075"/>
              </a:xfrm>
              <a:solidFill>
                <a:schemeClr val="accent3"/>
              </a:solidFill>
            </p:grpSpPr>
            <p:sp>
              <p:nvSpPr>
                <p:cNvPr id="84" name="Freeform 83">
                  <a:extLst>
                    <a:ext uri="{FF2B5EF4-FFF2-40B4-BE49-F238E27FC236}">
                      <a16:creationId xmlns:a16="http://schemas.microsoft.com/office/drawing/2014/main" id="{90BC72B6-C6BF-BE71-8A96-BF5CE2E456E5}"/>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85" name="Freeform 84">
                  <a:extLst>
                    <a:ext uri="{FF2B5EF4-FFF2-40B4-BE49-F238E27FC236}">
                      <a16:creationId xmlns:a16="http://schemas.microsoft.com/office/drawing/2014/main" id="{0540BDD4-4404-68F5-496D-70D7C05AFA72}"/>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86" name="Freeform 85">
                  <a:extLst>
                    <a:ext uri="{FF2B5EF4-FFF2-40B4-BE49-F238E27FC236}">
                      <a16:creationId xmlns:a16="http://schemas.microsoft.com/office/drawing/2014/main" id="{7D2D59F1-2F02-9CA5-F6A5-895F3E009A39}"/>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81" name="Rectangle 80">
              <a:extLst>
                <a:ext uri="{FF2B5EF4-FFF2-40B4-BE49-F238E27FC236}">
                  <a16:creationId xmlns:a16="http://schemas.microsoft.com/office/drawing/2014/main" id="{9B38C10F-08A9-42B4-696C-3C6244161F26}"/>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VM4</a:t>
              </a:r>
            </a:p>
          </p:txBody>
        </p:sp>
      </p:grpSp>
      <p:cxnSp>
        <p:nvCxnSpPr>
          <p:cNvPr id="87" name="Straight Connector 86">
            <a:extLst>
              <a:ext uri="{FF2B5EF4-FFF2-40B4-BE49-F238E27FC236}">
                <a16:creationId xmlns:a16="http://schemas.microsoft.com/office/drawing/2014/main" id="{E5AD2848-9573-2659-2A1B-366C67CB5A2E}"/>
              </a:ext>
            </a:extLst>
          </p:cNvPr>
          <p:cNvCxnSpPr>
            <a:cxnSpLocks/>
          </p:cNvCxnSpPr>
          <p:nvPr/>
        </p:nvCxnSpPr>
        <p:spPr bwMode="gray">
          <a:xfrm>
            <a:off x="6821161" y="3994654"/>
            <a:ext cx="0" cy="97309"/>
          </a:xfrm>
          <a:prstGeom prst="line">
            <a:avLst/>
          </a:prstGeom>
          <a:ln w="15875">
            <a:solidFill>
              <a:srgbClr val="0098C8"/>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DCA0EBB8-32BF-9B3A-0F92-1A045FC69966}"/>
              </a:ext>
            </a:extLst>
          </p:cNvPr>
          <p:cNvGrpSpPr/>
          <p:nvPr/>
        </p:nvGrpSpPr>
        <p:grpSpPr>
          <a:xfrm>
            <a:off x="7026615" y="3426047"/>
            <a:ext cx="542117" cy="573914"/>
            <a:chOff x="6036855" y="2199341"/>
            <a:chExt cx="542117" cy="573914"/>
          </a:xfrm>
        </p:grpSpPr>
        <p:grpSp>
          <p:nvGrpSpPr>
            <p:cNvPr id="89" name="Group 88">
              <a:extLst>
                <a:ext uri="{FF2B5EF4-FFF2-40B4-BE49-F238E27FC236}">
                  <a16:creationId xmlns:a16="http://schemas.microsoft.com/office/drawing/2014/main" id="{353BA762-8B1B-B077-DC9C-5AC0B2D965F9}"/>
                </a:ext>
              </a:extLst>
            </p:cNvPr>
            <p:cNvGrpSpPr/>
            <p:nvPr/>
          </p:nvGrpSpPr>
          <p:grpSpPr>
            <a:xfrm>
              <a:off x="6125753" y="2406901"/>
              <a:ext cx="366095" cy="366354"/>
              <a:chOff x="6048017" y="2396768"/>
              <a:chExt cx="402706" cy="402989"/>
            </a:xfrm>
          </p:grpSpPr>
          <p:sp>
            <p:nvSpPr>
              <p:cNvPr id="91" name="Rectangle 90">
                <a:extLst>
                  <a:ext uri="{FF2B5EF4-FFF2-40B4-BE49-F238E27FC236}">
                    <a16:creationId xmlns:a16="http://schemas.microsoft.com/office/drawing/2014/main" id="{85EAFE27-C4A7-3736-B678-AFEAA1B220B8}"/>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92" name="Group 91">
                <a:extLst>
                  <a:ext uri="{FF2B5EF4-FFF2-40B4-BE49-F238E27FC236}">
                    <a16:creationId xmlns:a16="http://schemas.microsoft.com/office/drawing/2014/main" id="{D7DB3326-35A3-0276-53BE-D0667FA93F55}"/>
                  </a:ext>
                </a:extLst>
              </p:cNvPr>
              <p:cNvGrpSpPr/>
              <p:nvPr/>
            </p:nvGrpSpPr>
            <p:grpSpPr>
              <a:xfrm>
                <a:off x="6048017" y="2396768"/>
                <a:ext cx="402706" cy="402989"/>
                <a:chOff x="611299" y="5235083"/>
                <a:chExt cx="682595" cy="683075"/>
              </a:xfrm>
              <a:solidFill>
                <a:schemeClr val="accent3"/>
              </a:solidFill>
            </p:grpSpPr>
            <p:sp>
              <p:nvSpPr>
                <p:cNvPr id="93" name="Freeform 92">
                  <a:extLst>
                    <a:ext uri="{FF2B5EF4-FFF2-40B4-BE49-F238E27FC236}">
                      <a16:creationId xmlns:a16="http://schemas.microsoft.com/office/drawing/2014/main" id="{DD704B0C-681E-5F58-EB86-3ABC5B801308}"/>
                    </a:ext>
                  </a:extLst>
                </p:cNvPr>
                <p:cNvSpPr/>
                <p:nvPr/>
              </p:nvSpPr>
              <p:spPr>
                <a:xfrm>
                  <a:off x="611299"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94" name="Freeform 93">
                  <a:extLst>
                    <a:ext uri="{FF2B5EF4-FFF2-40B4-BE49-F238E27FC236}">
                      <a16:creationId xmlns:a16="http://schemas.microsoft.com/office/drawing/2014/main" id="{0DD9FE88-300A-8233-BE99-2CDF0696060C}"/>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95" name="Freeform 94">
                  <a:extLst>
                    <a:ext uri="{FF2B5EF4-FFF2-40B4-BE49-F238E27FC236}">
                      <a16:creationId xmlns:a16="http://schemas.microsoft.com/office/drawing/2014/main" id="{5C54AF37-7E2F-9E7E-B2BC-D9027F1F09BD}"/>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90" name="Rectangle 89">
              <a:extLst>
                <a:ext uri="{FF2B5EF4-FFF2-40B4-BE49-F238E27FC236}">
                  <a16:creationId xmlns:a16="http://schemas.microsoft.com/office/drawing/2014/main" id="{500B6B92-C9B7-BA84-CB54-31EE5C6574BF}"/>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VM5</a:t>
              </a:r>
            </a:p>
          </p:txBody>
        </p:sp>
      </p:grpSp>
      <p:cxnSp>
        <p:nvCxnSpPr>
          <p:cNvPr id="96" name="Straight Connector 95">
            <a:extLst>
              <a:ext uri="{FF2B5EF4-FFF2-40B4-BE49-F238E27FC236}">
                <a16:creationId xmlns:a16="http://schemas.microsoft.com/office/drawing/2014/main" id="{5ED3D5DE-CEDF-CC1B-B2EC-CF6609B47BF5}"/>
              </a:ext>
            </a:extLst>
          </p:cNvPr>
          <p:cNvCxnSpPr>
            <a:cxnSpLocks/>
          </p:cNvCxnSpPr>
          <p:nvPr/>
        </p:nvCxnSpPr>
        <p:spPr bwMode="gray">
          <a:xfrm>
            <a:off x="7288106" y="3996382"/>
            <a:ext cx="0" cy="97309"/>
          </a:xfrm>
          <a:prstGeom prst="line">
            <a:avLst/>
          </a:prstGeom>
          <a:ln w="15875">
            <a:solidFill>
              <a:srgbClr val="0098C8"/>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97" name="Group 96">
            <a:extLst>
              <a:ext uri="{FF2B5EF4-FFF2-40B4-BE49-F238E27FC236}">
                <a16:creationId xmlns:a16="http://schemas.microsoft.com/office/drawing/2014/main" id="{3C5FC053-1145-BE6E-ECA3-C6229EEC7FEA}"/>
              </a:ext>
            </a:extLst>
          </p:cNvPr>
          <p:cNvGrpSpPr/>
          <p:nvPr/>
        </p:nvGrpSpPr>
        <p:grpSpPr>
          <a:xfrm>
            <a:off x="6136157" y="3430353"/>
            <a:ext cx="542117" cy="573914"/>
            <a:chOff x="6036855" y="2199341"/>
            <a:chExt cx="542117" cy="573914"/>
          </a:xfrm>
        </p:grpSpPr>
        <p:grpSp>
          <p:nvGrpSpPr>
            <p:cNvPr id="187" name="Group 186">
              <a:extLst>
                <a:ext uri="{FF2B5EF4-FFF2-40B4-BE49-F238E27FC236}">
                  <a16:creationId xmlns:a16="http://schemas.microsoft.com/office/drawing/2014/main" id="{ED6132B2-4737-E1E4-D6A5-462690C642A6}"/>
                </a:ext>
              </a:extLst>
            </p:cNvPr>
            <p:cNvGrpSpPr/>
            <p:nvPr/>
          </p:nvGrpSpPr>
          <p:grpSpPr>
            <a:xfrm>
              <a:off x="6125753" y="2406901"/>
              <a:ext cx="366096" cy="366354"/>
              <a:chOff x="6048000" y="2396768"/>
              <a:chExt cx="402706" cy="402989"/>
            </a:xfrm>
          </p:grpSpPr>
          <p:sp>
            <p:nvSpPr>
              <p:cNvPr id="189" name="Rectangle 188">
                <a:extLst>
                  <a:ext uri="{FF2B5EF4-FFF2-40B4-BE49-F238E27FC236}">
                    <a16:creationId xmlns:a16="http://schemas.microsoft.com/office/drawing/2014/main" id="{C70C607F-481C-B23A-4923-BB4CC7CD10D7}"/>
                  </a:ext>
                </a:extLst>
              </p:cNvPr>
              <p:cNvSpPr/>
              <p:nvPr/>
            </p:nvSpPr>
            <p:spPr bwMode="gray">
              <a:xfrm>
                <a:off x="6069966" y="2410620"/>
                <a:ext cx="354788" cy="369357"/>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90" name="Group 189">
                <a:extLst>
                  <a:ext uri="{FF2B5EF4-FFF2-40B4-BE49-F238E27FC236}">
                    <a16:creationId xmlns:a16="http://schemas.microsoft.com/office/drawing/2014/main" id="{2C93750D-B4F4-B977-03C6-E980D5D56168}"/>
                  </a:ext>
                </a:extLst>
              </p:cNvPr>
              <p:cNvGrpSpPr/>
              <p:nvPr/>
            </p:nvGrpSpPr>
            <p:grpSpPr>
              <a:xfrm>
                <a:off x="6048000" y="2396768"/>
                <a:ext cx="402706" cy="402989"/>
                <a:chOff x="611268" y="5235083"/>
                <a:chExt cx="682595" cy="683075"/>
              </a:xfrm>
              <a:solidFill>
                <a:schemeClr val="accent3"/>
              </a:solidFill>
            </p:grpSpPr>
            <p:sp>
              <p:nvSpPr>
                <p:cNvPr id="191" name="Freeform 190">
                  <a:extLst>
                    <a:ext uri="{FF2B5EF4-FFF2-40B4-BE49-F238E27FC236}">
                      <a16:creationId xmlns:a16="http://schemas.microsoft.com/office/drawing/2014/main" id="{8DAF3B5D-5855-8B99-9254-6E092FC88620}"/>
                    </a:ext>
                  </a:extLst>
                </p:cNvPr>
                <p:cNvSpPr/>
                <p:nvPr/>
              </p:nvSpPr>
              <p:spPr>
                <a:xfrm>
                  <a:off x="611268" y="5235083"/>
                  <a:ext cx="682595" cy="683075"/>
                </a:xfrm>
                <a:custGeom>
                  <a:avLst/>
                  <a:gdLst>
                    <a:gd name="connsiteX0" fmla="*/ 574590 w 682595"/>
                    <a:gd name="connsiteY0" fmla="*/ 683075 h 683075"/>
                    <a:gd name="connsiteX1" fmla="*/ 0 w 682595"/>
                    <a:gd name="connsiteY1" fmla="*/ 683075 h 683075"/>
                    <a:gd name="connsiteX2" fmla="*/ 0 w 682595"/>
                    <a:gd name="connsiteY2" fmla="*/ 0 h 683075"/>
                    <a:gd name="connsiteX3" fmla="*/ 682595 w 682595"/>
                    <a:gd name="connsiteY3" fmla="*/ 0 h 683075"/>
                    <a:gd name="connsiteX4" fmla="*/ 682595 w 682595"/>
                    <a:gd name="connsiteY4" fmla="*/ 661954 h 683075"/>
                    <a:gd name="connsiteX5" fmla="*/ 634593 w 682595"/>
                    <a:gd name="connsiteY5" fmla="*/ 661954 h 683075"/>
                    <a:gd name="connsiteX6" fmla="*/ 634593 w 682595"/>
                    <a:gd name="connsiteY6" fmla="*/ 48002 h 683075"/>
                    <a:gd name="connsiteX7" fmla="*/ 48002 w 682595"/>
                    <a:gd name="connsiteY7" fmla="*/ 48002 h 683075"/>
                    <a:gd name="connsiteX8" fmla="*/ 48002 w 682595"/>
                    <a:gd name="connsiteY8" fmla="*/ 635073 h 683075"/>
                    <a:gd name="connsiteX9" fmla="*/ 574590 w 682595"/>
                    <a:gd name="connsiteY9" fmla="*/ 635073 h 683075"/>
                    <a:gd name="connsiteX10" fmla="*/ 574590 w 682595"/>
                    <a:gd name="connsiteY10" fmla="*/ 683075 h 6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595" h="683075">
                      <a:moveTo>
                        <a:pt x="574590" y="683075"/>
                      </a:moveTo>
                      <a:lnTo>
                        <a:pt x="0" y="683075"/>
                      </a:lnTo>
                      <a:lnTo>
                        <a:pt x="0" y="0"/>
                      </a:lnTo>
                      <a:lnTo>
                        <a:pt x="682595" y="0"/>
                      </a:lnTo>
                      <a:lnTo>
                        <a:pt x="682595" y="661954"/>
                      </a:lnTo>
                      <a:lnTo>
                        <a:pt x="634593" y="661954"/>
                      </a:lnTo>
                      <a:lnTo>
                        <a:pt x="634593" y="48002"/>
                      </a:lnTo>
                      <a:lnTo>
                        <a:pt x="48002" y="48002"/>
                      </a:lnTo>
                      <a:lnTo>
                        <a:pt x="48002" y="635073"/>
                      </a:lnTo>
                      <a:lnTo>
                        <a:pt x="574590" y="635073"/>
                      </a:lnTo>
                      <a:lnTo>
                        <a:pt x="574590" y="683075"/>
                      </a:ln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92" name="Freeform 191">
                  <a:extLst>
                    <a:ext uri="{FF2B5EF4-FFF2-40B4-BE49-F238E27FC236}">
                      <a16:creationId xmlns:a16="http://schemas.microsoft.com/office/drawing/2014/main" id="{E8945D5F-0C40-2100-3E4B-D4912CFA6E8C}"/>
                    </a:ext>
                  </a:extLst>
                </p:cNvPr>
                <p:cNvSpPr/>
                <p:nvPr/>
              </p:nvSpPr>
              <p:spPr>
                <a:xfrm>
                  <a:off x="939971" y="5521559"/>
                  <a:ext cx="149924" cy="100774"/>
                </a:xfrm>
                <a:custGeom>
                  <a:avLst/>
                  <a:gdLst/>
                  <a:ahLst/>
                  <a:cxnLst/>
                  <a:rect l="l" t="t" r="r" b="b"/>
                  <a:pathLst>
                    <a:path w="149924" h="100774">
                      <a:moveTo>
                        <a:pt x="50673" y="0"/>
                      </a:moveTo>
                      <a:cubicBezTo>
                        <a:pt x="66294" y="0"/>
                        <a:pt x="78867" y="9144"/>
                        <a:pt x="84011" y="23431"/>
                      </a:cubicBezTo>
                      <a:cubicBezTo>
                        <a:pt x="86678" y="9334"/>
                        <a:pt x="98489" y="0"/>
                        <a:pt x="113919" y="0"/>
                      </a:cubicBezTo>
                      <a:cubicBezTo>
                        <a:pt x="134493" y="0"/>
                        <a:pt x="149924" y="15811"/>
                        <a:pt x="149924" y="38100"/>
                      </a:cubicBezTo>
                      <a:lnTo>
                        <a:pt x="149924" y="100774"/>
                      </a:lnTo>
                      <a:lnTo>
                        <a:pt x="127254" y="100774"/>
                      </a:lnTo>
                      <a:lnTo>
                        <a:pt x="127254" y="41910"/>
                      </a:lnTo>
                      <a:cubicBezTo>
                        <a:pt x="127254" y="28956"/>
                        <a:pt x="119444" y="19812"/>
                        <a:pt x="108204" y="19812"/>
                      </a:cubicBezTo>
                      <a:cubicBezTo>
                        <a:pt x="95441" y="19812"/>
                        <a:pt x="86487" y="28384"/>
                        <a:pt x="86487" y="40386"/>
                      </a:cubicBezTo>
                      <a:lnTo>
                        <a:pt x="86487" y="100774"/>
                      </a:lnTo>
                      <a:lnTo>
                        <a:pt x="64008" y="100774"/>
                      </a:lnTo>
                      <a:lnTo>
                        <a:pt x="64008" y="41910"/>
                      </a:lnTo>
                      <a:cubicBezTo>
                        <a:pt x="64008" y="28956"/>
                        <a:pt x="56007" y="19812"/>
                        <a:pt x="44768" y="19812"/>
                      </a:cubicBezTo>
                      <a:cubicBezTo>
                        <a:pt x="32195" y="19812"/>
                        <a:pt x="23241" y="28384"/>
                        <a:pt x="23241" y="40386"/>
                      </a:cubicBezTo>
                      <a:lnTo>
                        <a:pt x="23241" y="100774"/>
                      </a:lnTo>
                      <a:lnTo>
                        <a:pt x="0" y="100774"/>
                      </a:lnTo>
                      <a:lnTo>
                        <a:pt x="0" y="2286"/>
                      </a:lnTo>
                      <a:lnTo>
                        <a:pt x="23241" y="2286"/>
                      </a:lnTo>
                      <a:lnTo>
                        <a:pt x="23241" y="15621"/>
                      </a:lnTo>
                      <a:cubicBezTo>
                        <a:pt x="28194" y="6096"/>
                        <a:pt x="38291" y="0"/>
                        <a:pt x="50673" y="0"/>
                      </a:cubicBez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sp>
              <p:nvSpPr>
                <p:cNvPr id="193" name="Freeform 192">
                  <a:extLst>
                    <a:ext uri="{FF2B5EF4-FFF2-40B4-BE49-F238E27FC236}">
                      <a16:creationId xmlns:a16="http://schemas.microsoft.com/office/drawing/2014/main" id="{2B78A59F-CB38-57BD-F2C1-3822531FBEDC}"/>
                    </a:ext>
                  </a:extLst>
                </p:cNvPr>
                <p:cNvSpPr/>
                <p:nvPr/>
              </p:nvSpPr>
              <p:spPr>
                <a:xfrm>
                  <a:off x="816464" y="5523845"/>
                  <a:ext cx="105918" cy="98488"/>
                </a:xfrm>
                <a:custGeom>
                  <a:avLst/>
                  <a:gdLst/>
                  <a:ahLst/>
                  <a:cxnLst/>
                  <a:rect l="l" t="t" r="r" b="b"/>
                  <a:pathLst>
                    <a:path w="105918" h="98488">
                      <a:moveTo>
                        <a:pt x="0" y="0"/>
                      </a:moveTo>
                      <a:lnTo>
                        <a:pt x="24765" y="0"/>
                      </a:lnTo>
                      <a:lnTo>
                        <a:pt x="53340" y="71628"/>
                      </a:lnTo>
                      <a:lnTo>
                        <a:pt x="81343" y="0"/>
                      </a:lnTo>
                      <a:lnTo>
                        <a:pt x="105918" y="0"/>
                      </a:lnTo>
                      <a:lnTo>
                        <a:pt x="64198" y="98488"/>
                      </a:lnTo>
                      <a:lnTo>
                        <a:pt x="42481" y="98488"/>
                      </a:lnTo>
                      <a:close/>
                    </a:path>
                  </a:pathLst>
                </a:custGeom>
                <a:solidFill>
                  <a:srgbClr val="0098C8"/>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717074"/>
                    </a:solidFill>
                    <a:effectLst/>
                    <a:uLnTx/>
                    <a:uFillTx/>
                    <a:latin typeface="Arial" panose="020B0604020202020204"/>
                    <a:ea typeface="+mn-ea"/>
                    <a:cs typeface="Arial"/>
                  </a:endParaRPr>
                </a:p>
              </p:txBody>
            </p:sp>
          </p:grpSp>
        </p:grpSp>
        <p:sp>
          <p:nvSpPr>
            <p:cNvPr id="188" name="Rectangle 187">
              <a:extLst>
                <a:ext uri="{FF2B5EF4-FFF2-40B4-BE49-F238E27FC236}">
                  <a16:creationId xmlns:a16="http://schemas.microsoft.com/office/drawing/2014/main" id="{54F51792-0E1B-9B87-61E3-C100BD79EA9C}"/>
                </a:ext>
              </a:extLst>
            </p:cNvPr>
            <p:cNvSpPr/>
            <p:nvPr/>
          </p:nvSpPr>
          <p:spPr bwMode="gray">
            <a:xfrm>
              <a:off x="6036855" y="2199341"/>
              <a:ext cx="542117" cy="234819"/>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98C7"/>
                  </a:solidFill>
                  <a:effectLst/>
                  <a:uLnTx/>
                  <a:uFillTx/>
                  <a:latin typeface="Arial" panose="020B0604020202020204"/>
                  <a:ea typeface="+mn-ea"/>
                  <a:cs typeface="Arial" panose="020B0604020202020204" pitchFamily="34" charset="0"/>
                </a:rPr>
                <a:t>VM3</a:t>
              </a:r>
            </a:p>
          </p:txBody>
        </p:sp>
      </p:grpSp>
      <p:cxnSp>
        <p:nvCxnSpPr>
          <p:cNvPr id="194" name="Straight Connector 193">
            <a:extLst>
              <a:ext uri="{FF2B5EF4-FFF2-40B4-BE49-F238E27FC236}">
                <a16:creationId xmlns:a16="http://schemas.microsoft.com/office/drawing/2014/main" id="{F859A1F6-94D2-0B91-3283-50CA3B4955EA}"/>
              </a:ext>
            </a:extLst>
          </p:cNvPr>
          <p:cNvCxnSpPr>
            <a:cxnSpLocks/>
          </p:cNvCxnSpPr>
          <p:nvPr/>
        </p:nvCxnSpPr>
        <p:spPr bwMode="gray">
          <a:xfrm>
            <a:off x="6397648" y="4000688"/>
            <a:ext cx="0" cy="97309"/>
          </a:xfrm>
          <a:prstGeom prst="line">
            <a:avLst/>
          </a:prstGeom>
          <a:ln w="15875">
            <a:solidFill>
              <a:srgbClr val="0098C8"/>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7551A64A-9253-1092-1339-5534E18BEFBD}"/>
              </a:ext>
            </a:extLst>
          </p:cNvPr>
          <p:cNvCxnSpPr/>
          <p:nvPr/>
        </p:nvCxnSpPr>
        <p:spPr bwMode="gray">
          <a:xfrm>
            <a:off x="2615893" y="3589157"/>
            <a:ext cx="0" cy="80421"/>
          </a:xfrm>
          <a:prstGeom prst="line">
            <a:avLst/>
          </a:prstGeom>
          <a:ln w="15875">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C758AD1D-7550-AB78-426F-6A60D96B5B45}"/>
              </a:ext>
            </a:extLst>
          </p:cNvPr>
          <p:cNvSpPr/>
          <p:nvPr/>
        </p:nvSpPr>
        <p:spPr bwMode="gray">
          <a:xfrm>
            <a:off x="4796185" y="4580192"/>
            <a:ext cx="1932697" cy="161452"/>
          </a:xfrm>
          <a:prstGeom prst="rect">
            <a:avLst/>
          </a:prstGeom>
          <a:solidFill>
            <a:schemeClr val="bg1">
              <a:alpha val="92363"/>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HCX Manager</a:t>
            </a:r>
          </a:p>
        </p:txBody>
      </p:sp>
    </p:spTree>
    <p:extLst>
      <p:ext uri="{BB962C8B-B14F-4D97-AF65-F5344CB8AC3E}">
        <p14:creationId xmlns:p14="http://schemas.microsoft.com/office/powerpoint/2010/main" val="528569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nodeType="clickEffect">
                                  <p:stCondLst>
                                    <p:cond delay="0"/>
                                  </p:stCondLst>
                                  <p:childTnLst>
                                    <p:animEffect transition="out" filter="wipe(up)">
                                      <p:cBhvr>
                                        <p:cTn id="6" dur="500"/>
                                        <p:tgtEl>
                                          <p:spTgt spid="64"/>
                                        </p:tgtEl>
                                      </p:cBhvr>
                                    </p:animEffect>
                                    <p:set>
                                      <p:cBhvr>
                                        <p:cTn id="7" dur="1" fill="hold">
                                          <p:stCondLst>
                                            <p:cond delay="499"/>
                                          </p:stCondLst>
                                        </p:cTn>
                                        <p:tgtEl>
                                          <p:spTgt spid="64"/>
                                        </p:tgtEl>
                                        <p:attrNameLst>
                                          <p:attrName>style.visibility</p:attrName>
                                        </p:attrNameLst>
                                      </p:cBhvr>
                                      <p:to>
                                        <p:strVal val="hidden"/>
                                      </p:to>
                                    </p:set>
                                  </p:childTnLst>
                                </p:cTn>
                              </p:par>
                              <p:par>
                                <p:cTn id="8" presetID="0" presetClass="path" presetSubtype="0" accel="50000" decel="50000" fill="hold" nodeType="withEffect">
                                  <p:stCondLst>
                                    <p:cond delay="0"/>
                                  </p:stCondLst>
                                  <p:childTnLst>
                                    <p:animMotion origin="layout" path="M -4.61058E-6 0.00047 L -4.61058E-6 -0.0743 C -0.00325 -0.0743 -0.00234 -0.0743 -0.00338 -0.0743 L -0.12229 -0.0743 L -0.12229 -0.05694 " pathEditMode="relative" rAng="0" ptsTypes="AAAAA">
                                      <p:cBhvr>
                                        <p:cTn id="9" dur="2000" fill="hold"/>
                                        <p:tgtEl>
                                          <p:spTgt spid="56"/>
                                        </p:tgtEl>
                                        <p:attrNameLst>
                                          <p:attrName>ppt_x</p:attrName>
                                          <p:attrName>ppt_y</p:attrName>
                                        </p:attrNameLst>
                                      </p:cBhvr>
                                      <p:rCtr x="-6121" y="-3750"/>
                                    </p:animMotion>
                                  </p:childTnLst>
                                </p:cTn>
                              </p:par>
                            </p:childTnLst>
                          </p:cTn>
                        </p:par>
                        <p:par>
                          <p:cTn id="10" fill="hold">
                            <p:stCondLst>
                              <p:cond delay="2000"/>
                            </p:stCondLst>
                            <p:childTnLst>
                              <p:par>
                                <p:cTn id="11" presetID="22" presetClass="entr" presetSubtype="1" fill="hold" nodeType="after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wipe(up)">
                                      <p:cBhvr>
                                        <p:cTn id="13" dur="500"/>
                                        <p:tgtEl>
                                          <p:spTgt spid="6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xit" presetSubtype="1" fill="hold" nodeType="clickEffect">
                                  <p:stCondLst>
                                    <p:cond delay="0"/>
                                  </p:stCondLst>
                                  <p:childTnLst>
                                    <p:animEffect transition="out" filter="wipe(up)">
                                      <p:cBhvr>
                                        <p:cTn id="17" dur="500"/>
                                        <p:tgtEl>
                                          <p:spTgt spid="66"/>
                                        </p:tgtEl>
                                      </p:cBhvr>
                                    </p:animEffect>
                                    <p:set>
                                      <p:cBhvr>
                                        <p:cTn id="18" dur="1" fill="hold">
                                          <p:stCondLst>
                                            <p:cond delay="499"/>
                                          </p:stCondLst>
                                        </p:cTn>
                                        <p:tgtEl>
                                          <p:spTgt spid="66"/>
                                        </p:tgtEl>
                                        <p:attrNameLst>
                                          <p:attrName>style.visibility</p:attrName>
                                        </p:attrNameLst>
                                      </p:cBhvr>
                                      <p:to>
                                        <p:strVal val="hidden"/>
                                      </p:to>
                                    </p:set>
                                  </p:childTnLst>
                                </p:cTn>
                              </p:par>
                              <p:par>
                                <p:cTn id="19" presetID="0" presetClass="path" presetSubtype="0" accel="50000" decel="50000" fill="hold" nodeType="withEffect">
                                  <p:stCondLst>
                                    <p:cond delay="0"/>
                                  </p:stCondLst>
                                  <p:childTnLst>
                                    <p:animMotion origin="layout" path="M -6.87679E-7 -3.7037E-6 L -6.87679E-7 -0.11898 L -0.00638 -0.11898 L -0.23417 -0.11898 C -0.23417 -0.10995 -0.23404 -0.06574 -0.23404 -0.05671 " pathEditMode="relative" rAng="0" ptsTypes="AAAAA">
                                      <p:cBhvr>
                                        <p:cTn id="20" dur="2000" fill="hold"/>
                                        <p:tgtEl>
                                          <p:spTgt spid="48"/>
                                        </p:tgtEl>
                                        <p:attrNameLst>
                                          <p:attrName>ppt_x</p:attrName>
                                          <p:attrName>ppt_y</p:attrName>
                                        </p:attrNameLst>
                                      </p:cBhvr>
                                      <p:rCtr x="-11709" y="-5949"/>
                                    </p:animMotion>
                                  </p:childTnLst>
                                </p:cTn>
                              </p:par>
                            </p:childTnLst>
                          </p:cTn>
                        </p:par>
                        <p:par>
                          <p:cTn id="21" fill="hold">
                            <p:stCondLst>
                              <p:cond delay="2000"/>
                            </p:stCondLst>
                            <p:childTnLst>
                              <p:par>
                                <p:cTn id="22" presetID="22" presetClass="entr" presetSubtype="1" fill="hold" nodeType="afterEffect">
                                  <p:stCondLst>
                                    <p:cond delay="0"/>
                                  </p:stCondLst>
                                  <p:childTnLst>
                                    <p:set>
                                      <p:cBhvr>
                                        <p:cTn id="23" dur="1" fill="hold">
                                          <p:stCondLst>
                                            <p:cond delay="0"/>
                                          </p:stCondLst>
                                        </p:cTn>
                                        <p:tgtEl>
                                          <p:spTgt spid="67"/>
                                        </p:tgtEl>
                                        <p:attrNameLst>
                                          <p:attrName>style.visibility</p:attrName>
                                        </p:attrNameLst>
                                      </p:cBhvr>
                                      <p:to>
                                        <p:strVal val="visible"/>
                                      </p:to>
                                    </p:set>
                                    <p:animEffect transition="in" filter="wipe(up)">
                                      <p:cBhvr>
                                        <p:cTn id="24" dur="500"/>
                                        <p:tgtEl>
                                          <p:spTgt spid="6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xit" presetSubtype="1" fill="hold" nodeType="clickEffect">
                                  <p:stCondLst>
                                    <p:cond delay="0"/>
                                  </p:stCondLst>
                                  <p:childTnLst>
                                    <p:animEffect transition="out" filter="wipe(up)">
                                      <p:cBhvr>
                                        <p:cTn id="28" dur="500"/>
                                        <p:tgtEl>
                                          <p:spTgt spid="194"/>
                                        </p:tgtEl>
                                      </p:cBhvr>
                                    </p:animEffect>
                                    <p:set>
                                      <p:cBhvr>
                                        <p:cTn id="29" dur="1" fill="hold">
                                          <p:stCondLst>
                                            <p:cond delay="499"/>
                                          </p:stCondLst>
                                        </p:cTn>
                                        <p:tgtEl>
                                          <p:spTgt spid="194"/>
                                        </p:tgtEl>
                                        <p:attrNameLst>
                                          <p:attrName>style.visibility</p:attrName>
                                        </p:attrNameLst>
                                      </p:cBhvr>
                                      <p:to>
                                        <p:strVal val="hidden"/>
                                      </p:to>
                                    </p:set>
                                  </p:childTnLst>
                                </p:cTn>
                              </p:par>
                              <p:par>
                                <p:cTn id="30" presetID="0" presetClass="path" presetSubtype="0" accel="50000" decel="50000" fill="hold" nodeType="withEffect">
                                  <p:stCondLst>
                                    <p:cond delay="0"/>
                                  </p:stCondLst>
                                  <p:childTnLst>
                                    <p:animMotion origin="layout" path="M -0.00052 -0.00046 L -0.00052 -0.21042 L -0.00912 -0.21042 L -0.31102 -0.21042 C -0.31102 -0.19491 -0.31115 -0.07361 -0.31115 -0.05671 " pathEditMode="relative" rAng="0" ptsTypes="AAAAA">
                                      <p:cBhvr>
                                        <p:cTn id="31" dur="2000" fill="hold"/>
                                        <p:tgtEl>
                                          <p:spTgt spid="97"/>
                                        </p:tgtEl>
                                        <p:attrNameLst>
                                          <p:attrName>ppt_x</p:attrName>
                                          <p:attrName>ppt_y</p:attrName>
                                        </p:attrNameLst>
                                      </p:cBhvr>
                                      <p:rCtr x="-15538" y="-10509"/>
                                    </p:animMotion>
                                  </p:childTnLst>
                                </p:cTn>
                              </p:par>
                            </p:childTnLst>
                          </p:cTn>
                        </p:par>
                        <p:par>
                          <p:cTn id="32" fill="hold">
                            <p:stCondLst>
                              <p:cond delay="2000"/>
                            </p:stCondLst>
                            <p:childTnLst>
                              <p:par>
                                <p:cTn id="33" presetID="22" presetClass="entr" presetSubtype="1" fill="hold" nodeType="afterEffect">
                                  <p:stCondLst>
                                    <p:cond delay="0"/>
                                  </p:stCondLst>
                                  <p:childTnLst>
                                    <p:set>
                                      <p:cBhvr>
                                        <p:cTn id="34" dur="1" fill="hold">
                                          <p:stCondLst>
                                            <p:cond delay="0"/>
                                          </p:stCondLst>
                                        </p:cTn>
                                        <p:tgtEl>
                                          <p:spTgt spid="195"/>
                                        </p:tgtEl>
                                        <p:attrNameLst>
                                          <p:attrName>style.visibility</p:attrName>
                                        </p:attrNameLst>
                                      </p:cBhvr>
                                      <p:to>
                                        <p:strVal val="visible"/>
                                      </p:to>
                                    </p:set>
                                    <p:animEffect transition="in" filter="wipe(up)">
                                      <p:cBhvr>
                                        <p:cTn id="35" dur="500"/>
                                        <p:tgtEl>
                                          <p:spTgt spid="19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xit" presetSubtype="1" fill="hold" nodeType="clickEffect">
                                  <p:stCondLst>
                                    <p:cond delay="0"/>
                                  </p:stCondLst>
                                  <p:childTnLst>
                                    <p:animEffect transition="out" filter="wipe(up)">
                                      <p:cBhvr>
                                        <p:cTn id="39" dur="500"/>
                                        <p:tgtEl>
                                          <p:spTgt spid="87"/>
                                        </p:tgtEl>
                                      </p:cBhvr>
                                    </p:animEffect>
                                    <p:set>
                                      <p:cBhvr>
                                        <p:cTn id="40" dur="1" fill="hold">
                                          <p:stCondLst>
                                            <p:cond delay="499"/>
                                          </p:stCondLst>
                                        </p:cTn>
                                        <p:tgtEl>
                                          <p:spTgt spid="87"/>
                                        </p:tgtEl>
                                        <p:attrNameLst>
                                          <p:attrName>style.visibility</p:attrName>
                                        </p:attrNameLst>
                                      </p:cBhvr>
                                      <p:to>
                                        <p:strVal val="hidden"/>
                                      </p:to>
                                    </p:set>
                                  </p:childTnLst>
                                </p:cTn>
                              </p:par>
                              <p:par>
                                <p:cTn id="41" presetID="0" presetClass="path" presetSubtype="0" accel="50000" decel="50000" fill="hold" nodeType="withEffect">
                                  <p:stCondLst>
                                    <p:cond delay="0"/>
                                  </p:stCondLst>
                                  <p:childTnLst>
                                    <p:animMotion origin="layout" path="M -2.40427E-6 -0.00046 L -2.40427E-6 -0.21041 L -0.0112 -0.21041 L -0.40661 -0.21041 C -0.40661 -0.1949 -0.40687 -0.07361 -0.40687 -0.05671 " pathEditMode="relative" rAng="0" ptsTypes="AAAAA">
                                      <p:cBhvr>
                                        <p:cTn id="42" dur="2000" fill="hold"/>
                                        <p:tgtEl>
                                          <p:spTgt spid="79"/>
                                        </p:tgtEl>
                                        <p:attrNameLst>
                                          <p:attrName>ppt_x</p:attrName>
                                          <p:attrName>ppt_y</p:attrName>
                                        </p:attrNameLst>
                                      </p:cBhvr>
                                      <p:rCtr x="-20344" y="-10509"/>
                                    </p:animMotion>
                                  </p:childTnLst>
                                </p:cTn>
                              </p:par>
                            </p:childTnLst>
                          </p:cTn>
                        </p:par>
                        <p:par>
                          <p:cTn id="43" fill="hold">
                            <p:stCondLst>
                              <p:cond delay="2000"/>
                            </p:stCondLst>
                            <p:childTnLst>
                              <p:par>
                                <p:cTn id="44" presetID="22" presetClass="entr" presetSubtype="1" fill="hold" nodeType="afterEffect">
                                  <p:stCondLst>
                                    <p:cond delay="0"/>
                                  </p:stCondLst>
                                  <p:childTnLst>
                                    <p:set>
                                      <p:cBhvr>
                                        <p:cTn id="45" dur="1" fill="hold">
                                          <p:stCondLst>
                                            <p:cond delay="0"/>
                                          </p:stCondLst>
                                        </p:cTn>
                                        <p:tgtEl>
                                          <p:spTgt spid="68"/>
                                        </p:tgtEl>
                                        <p:attrNameLst>
                                          <p:attrName>style.visibility</p:attrName>
                                        </p:attrNameLst>
                                      </p:cBhvr>
                                      <p:to>
                                        <p:strVal val="visible"/>
                                      </p:to>
                                    </p:set>
                                    <p:animEffect transition="in" filter="wipe(up)">
                                      <p:cBhvr>
                                        <p:cTn id="46"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2536;p83">
            <a:extLst>
              <a:ext uri="{FF2B5EF4-FFF2-40B4-BE49-F238E27FC236}">
                <a16:creationId xmlns:a16="http://schemas.microsoft.com/office/drawing/2014/main" id="{85345F18-F799-EB39-50CB-D7A581D53963}"/>
              </a:ext>
            </a:extLst>
          </p:cNvPr>
          <p:cNvSpPr/>
          <p:nvPr/>
        </p:nvSpPr>
        <p:spPr>
          <a:xfrm>
            <a:off x="-1" y="1360025"/>
            <a:ext cx="6004195" cy="4686145"/>
          </a:xfrm>
          <a:prstGeom prst="rect">
            <a:avLst/>
          </a:prstGeom>
          <a:gradFill flip="none" rotWithShape="1">
            <a:gsLst>
              <a:gs pos="100000">
                <a:schemeClr val="accent3">
                  <a:alpha val="0"/>
                </a:schemeClr>
              </a:gs>
              <a:gs pos="0">
                <a:schemeClr val="accent3">
                  <a:alpha val="20000"/>
                </a:schemeClr>
              </a:gs>
            </a:gsLst>
            <a:lin ang="8100000" scaled="1"/>
            <a:tileRect/>
          </a:gradFill>
          <a:ln w="9525" cap="flat">
            <a:noFill/>
            <a:prstDash val="solid"/>
            <a:miter/>
          </a:ln>
        </p:spPr>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sz="1797" b="0" i="0" u="none" strike="noStrike" kern="1200" cap="none" spc="0" normalizeH="0" baseline="0" noProof="0">
              <a:ln>
                <a:noFill/>
              </a:ln>
              <a:solidFill>
                <a:srgbClr val="000000"/>
              </a:solidFill>
              <a:effectLst/>
              <a:uLnTx/>
              <a:uFillTx/>
              <a:latin typeface="Metropolis"/>
              <a:ea typeface="+mn-ea"/>
              <a:cs typeface="+mn-cs"/>
              <a:sym typeface="Arial"/>
            </a:endParaRPr>
          </a:p>
        </p:txBody>
      </p:sp>
      <p:sp>
        <p:nvSpPr>
          <p:cNvPr id="14" name="Google Shape;1293;p6">
            <a:extLst>
              <a:ext uri="{FF2B5EF4-FFF2-40B4-BE49-F238E27FC236}">
                <a16:creationId xmlns:a16="http://schemas.microsoft.com/office/drawing/2014/main" id="{0CAA296C-E860-4A0C-CB78-2D21E9580CC7}"/>
              </a:ext>
            </a:extLst>
          </p:cNvPr>
          <p:cNvSpPr/>
          <p:nvPr/>
        </p:nvSpPr>
        <p:spPr>
          <a:xfrm>
            <a:off x="6512625" y="2017135"/>
            <a:ext cx="4937270" cy="3559840"/>
          </a:xfrm>
          <a:prstGeom prst="roundRect">
            <a:avLst>
              <a:gd name="adj" fmla="val 2790"/>
            </a:avLst>
          </a:prstGeom>
          <a:solidFill>
            <a:schemeClr val="bg1">
              <a:alpha val="54872"/>
            </a:schemeClr>
          </a:solidFill>
          <a:ln w="444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1"/>
              </a:buClr>
              <a:buSzPts val="12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mn-ea"/>
              <a:cs typeface="Arial"/>
              <a:sym typeface="Arial"/>
            </a:endParaRPr>
          </a:p>
        </p:txBody>
      </p:sp>
      <p:sp>
        <p:nvSpPr>
          <p:cNvPr id="2" name="Title 1">
            <a:extLst>
              <a:ext uri="{FF2B5EF4-FFF2-40B4-BE49-F238E27FC236}">
                <a16:creationId xmlns:a16="http://schemas.microsoft.com/office/drawing/2014/main" id="{B28CCE1B-6AAB-9898-ED79-2EE395D75300}"/>
              </a:ext>
            </a:extLst>
          </p:cNvPr>
          <p:cNvSpPr>
            <a:spLocks noGrp="1"/>
          </p:cNvSpPr>
          <p:nvPr>
            <p:ph type="title"/>
          </p:nvPr>
        </p:nvSpPr>
        <p:spPr/>
        <p:txBody>
          <a:bodyPr/>
          <a:lstStyle/>
          <a:p>
            <a:r>
              <a:rPr lang="en-US">
                <a:sym typeface="Arial"/>
              </a:rPr>
              <a:t>Simplified Deployment Experience with HCX Unified Manager</a:t>
            </a:r>
            <a:endParaRPr lang="en-US" dirty="0"/>
          </a:p>
        </p:txBody>
      </p:sp>
      <p:sp>
        <p:nvSpPr>
          <p:cNvPr id="3" name="Subtitle 2">
            <a:extLst>
              <a:ext uri="{FF2B5EF4-FFF2-40B4-BE49-F238E27FC236}">
                <a16:creationId xmlns:a16="http://schemas.microsoft.com/office/drawing/2014/main" id="{DC52D8F3-E339-B139-B23D-C4521086212B}"/>
              </a:ext>
            </a:extLst>
          </p:cNvPr>
          <p:cNvSpPr>
            <a:spLocks noGrp="1"/>
          </p:cNvSpPr>
          <p:nvPr>
            <p:ph type="subTitle" idx="1"/>
          </p:nvPr>
        </p:nvSpPr>
        <p:spPr/>
        <p:txBody>
          <a:bodyPr/>
          <a:lstStyle/>
          <a:p>
            <a:r>
              <a:rPr lang="en-US">
                <a:sym typeface="Arial"/>
              </a:rPr>
              <a:t>Single HCX Manager Appliance + Deprecated Features</a:t>
            </a:r>
            <a:endParaRPr lang="en-US" dirty="0"/>
          </a:p>
        </p:txBody>
      </p:sp>
      <p:sp>
        <p:nvSpPr>
          <p:cNvPr id="4" name="Text Placeholder 3">
            <a:extLst>
              <a:ext uri="{FF2B5EF4-FFF2-40B4-BE49-F238E27FC236}">
                <a16:creationId xmlns:a16="http://schemas.microsoft.com/office/drawing/2014/main" id="{249A0305-8B8D-55DE-179F-C9C8C64AE768}"/>
              </a:ext>
            </a:extLst>
          </p:cNvPr>
          <p:cNvSpPr>
            <a:spLocks noGrp="1"/>
          </p:cNvSpPr>
          <p:nvPr>
            <p:ph type="body" idx="2"/>
          </p:nvPr>
        </p:nvSpPr>
        <p:spPr>
          <a:xfrm>
            <a:off x="6192463" y="2106569"/>
            <a:ext cx="5257432" cy="3371923"/>
          </a:xfrm>
        </p:spPr>
        <p:txBody>
          <a:bodyPr/>
          <a:lstStyle/>
          <a:p>
            <a:pPr lvl="0"/>
            <a:r>
              <a:rPr lang="en-US" dirty="0"/>
              <a:t>Removal of WAN Optimization</a:t>
            </a:r>
          </a:p>
          <a:p>
            <a:pPr lvl="1"/>
            <a:r>
              <a:rPr lang="en-US" dirty="0"/>
              <a:t>Deprecation of appliance (WAN-</a:t>
            </a:r>
            <a:r>
              <a:rPr lang="en-US" dirty="0" err="1"/>
              <a:t>Opt</a:t>
            </a:r>
            <a:r>
              <a:rPr lang="en-US" dirty="0"/>
              <a:t>)</a:t>
            </a:r>
          </a:p>
          <a:p>
            <a:pPr lvl="0"/>
            <a:endParaRPr lang="en-US" dirty="0"/>
          </a:p>
          <a:p>
            <a:pPr lvl="0"/>
            <a:r>
              <a:rPr lang="en-US" dirty="0"/>
              <a:t>Removal of V2T Migrations</a:t>
            </a:r>
          </a:p>
          <a:p>
            <a:pPr lvl="0"/>
            <a:endParaRPr lang="en-US" dirty="0"/>
          </a:p>
          <a:p>
            <a:pPr lvl="0"/>
            <a:r>
              <a:rPr lang="en-US" dirty="0"/>
              <a:t>Removal of HCX Disaster Recovery</a:t>
            </a:r>
          </a:p>
          <a:p>
            <a:pPr lvl="0"/>
            <a:endParaRPr lang="en-US" dirty="0"/>
          </a:p>
          <a:p>
            <a:pPr lvl="0"/>
            <a:r>
              <a:rPr lang="en-US" dirty="0"/>
              <a:t>Removal of HCX Plugin from vCenter</a:t>
            </a:r>
          </a:p>
          <a:p>
            <a:endParaRPr lang="en-US" dirty="0"/>
          </a:p>
        </p:txBody>
      </p:sp>
      <p:sp>
        <p:nvSpPr>
          <p:cNvPr id="5" name="Text Placeholder 4">
            <a:extLst>
              <a:ext uri="{FF2B5EF4-FFF2-40B4-BE49-F238E27FC236}">
                <a16:creationId xmlns:a16="http://schemas.microsoft.com/office/drawing/2014/main" id="{3603EEA7-1FD0-30AB-7863-A782D3FA6469}"/>
              </a:ext>
            </a:extLst>
          </p:cNvPr>
          <p:cNvSpPr>
            <a:spLocks noGrp="1"/>
          </p:cNvSpPr>
          <p:nvPr>
            <p:ph type="body" idx="3"/>
          </p:nvPr>
        </p:nvSpPr>
        <p:spPr>
          <a:noFill/>
        </p:spPr>
        <p:txBody>
          <a:bodyPr/>
          <a:lstStyle/>
          <a:p>
            <a:r>
              <a:rPr lang="en-US" dirty="0"/>
              <a:t>HCX Manager Unification</a:t>
            </a:r>
          </a:p>
          <a:p>
            <a:pPr lvl="1"/>
            <a:r>
              <a:rPr lang="en-US" dirty="0">
                <a:solidFill>
                  <a:schemeClr val="accent2"/>
                </a:solidFill>
              </a:rPr>
              <a:t>HCX Unified Manager – Only one binary (OVA/OVF) for both Source and Destination sites</a:t>
            </a:r>
          </a:p>
          <a:p>
            <a:pPr lvl="1"/>
            <a:r>
              <a:rPr lang="en-US" dirty="0">
                <a:solidFill>
                  <a:schemeClr val="accent2"/>
                </a:solidFill>
              </a:rPr>
              <a:t>Unified </a:t>
            </a:r>
            <a:r>
              <a:rPr lang="en-US" dirty="0" err="1">
                <a:solidFill>
                  <a:schemeClr val="accent2"/>
                </a:solidFill>
              </a:rPr>
              <a:t>Mgr</a:t>
            </a:r>
            <a:r>
              <a:rPr lang="en-US" dirty="0">
                <a:solidFill>
                  <a:schemeClr val="accent2"/>
                </a:solidFill>
              </a:rPr>
              <a:t> assumes the role of Cloud or Connector based on the site-pair direction</a:t>
            </a:r>
          </a:p>
          <a:p>
            <a:pPr lvl="1"/>
            <a:r>
              <a:rPr lang="en-US" dirty="0">
                <a:solidFill>
                  <a:schemeClr val="accent2"/>
                </a:solidFill>
              </a:rPr>
              <a:t>Support upgrades from older version (4.11) HCX Cloud, HCX Connector to Unified </a:t>
            </a:r>
            <a:r>
              <a:rPr lang="en-US" dirty="0" err="1">
                <a:solidFill>
                  <a:schemeClr val="accent2"/>
                </a:solidFill>
              </a:rPr>
              <a:t>Mgr</a:t>
            </a:r>
            <a:endParaRPr lang="en-US" dirty="0">
              <a:solidFill>
                <a:schemeClr val="accent2"/>
              </a:solidFill>
            </a:endParaRPr>
          </a:p>
          <a:p>
            <a:pPr lvl="1"/>
            <a:r>
              <a:rPr lang="en-US" dirty="0">
                <a:solidFill>
                  <a:schemeClr val="accent2"/>
                </a:solidFill>
              </a:rPr>
              <a:t>Unidirectional site pairing and Bidirectional site pairing will be supported as previous version with HCX Unified Manager</a:t>
            </a:r>
          </a:p>
          <a:p>
            <a:endParaRPr lang="en-US" dirty="0"/>
          </a:p>
          <a:p>
            <a:endParaRPr lang="en-US" dirty="0"/>
          </a:p>
        </p:txBody>
      </p:sp>
      <p:pic>
        <p:nvPicPr>
          <p:cNvPr id="10" name="Picture 9">
            <a:extLst>
              <a:ext uri="{FF2B5EF4-FFF2-40B4-BE49-F238E27FC236}">
                <a16:creationId xmlns:a16="http://schemas.microsoft.com/office/drawing/2014/main" id="{819A7FCC-4EF0-28EC-2C4C-FCDB91C3EF09}"/>
              </a:ext>
            </a:extLst>
          </p:cNvPr>
          <p:cNvPicPr>
            <a:picLocks/>
          </p:cNvPicPr>
          <p:nvPr/>
        </p:nvPicPr>
        <p:blipFill rotWithShape="1">
          <a:blip r:embed="rId3">
            <a:alphaModFix amt="34000"/>
            <a:extLst>
              <a:ext uri="{BEBA8EAE-BF5A-486C-A8C5-ECC9F3942E4B}">
                <a14:imgProps xmlns:a14="http://schemas.microsoft.com/office/drawing/2010/main">
                  <a14:imgLayer r:embed="rId4">
                    <a14:imgEffect>
                      <a14:brightnessContrast bright="-100000"/>
                    </a14:imgEffect>
                  </a14:imgLayer>
                </a14:imgProps>
              </a:ext>
            </a:extLst>
          </a:blip>
          <a:srcRect l="1127" t="56997" r="2995" b="-35435"/>
          <a:stretch/>
        </p:blipFill>
        <p:spPr>
          <a:xfrm rot="16200000">
            <a:off x="3860036" y="3504182"/>
            <a:ext cx="4686146" cy="397830"/>
          </a:xfrm>
          <a:prstGeom prst="rect">
            <a:avLst/>
          </a:prstGeom>
        </p:spPr>
      </p:pic>
    </p:spTree>
    <p:extLst>
      <p:ext uri="{BB962C8B-B14F-4D97-AF65-F5344CB8AC3E}">
        <p14:creationId xmlns:p14="http://schemas.microsoft.com/office/powerpoint/2010/main" val="318182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033"/>
        <p:cNvGrpSpPr/>
        <p:nvPr/>
      </p:nvGrpSpPr>
      <p:grpSpPr>
        <a:xfrm>
          <a:off x="0" y="0"/>
          <a:ext cx="0" cy="0"/>
          <a:chOff x="0" y="0"/>
          <a:chExt cx="0" cy="0"/>
        </a:xfrm>
      </p:grpSpPr>
      <p:sp>
        <p:nvSpPr>
          <p:cNvPr id="8034" name="Google Shape;8034;p70"/>
          <p:cNvSpPr/>
          <p:nvPr/>
        </p:nvSpPr>
        <p:spPr>
          <a:xfrm>
            <a:off x="-4094420" y="2981313"/>
            <a:ext cx="19784686" cy="14200291"/>
          </a:xfrm>
          <a:prstGeom prst="arc">
            <a:avLst>
              <a:gd name="adj1" fmla="val 13713559"/>
              <a:gd name="adj2" fmla="val 18374095"/>
            </a:avLst>
          </a:prstGeom>
          <a:noFill/>
          <a:ln w="508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717074"/>
              </a:solidFill>
              <a:latin typeface="Arial"/>
              <a:ea typeface="Arial"/>
              <a:cs typeface="Arial"/>
              <a:sym typeface="Arial"/>
            </a:endParaRPr>
          </a:p>
        </p:txBody>
      </p:sp>
      <p:pic>
        <p:nvPicPr>
          <p:cNvPr id="8035" name="Google Shape;8035;p70"/>
          <p:cNvPicPr preferRelativeResize="0"/>
          <p:nvPr/>
        </p:nvPicPr>
        <p:blipFill rotWithShape="1">
          <a:blip r:embed="rId3">
            <a:alphaModFix/>
          </a:blip>
          <a:srcRect/>
          <a:stretch/>
        </p:blipFill>
        <p:spPr>
          <a:xfrm>
            <a:off x="4947404" y="3454702"/>
            <a:ext cx="758754" cy="758754"/>
          </a:xfrm>
          <a:prstGeom prst="rect">
            <a:avLst/>
          </a:prstGeom>
          <a:noFill/>
          <a:ln>
            <a:noFill/>
          </a:ln>
        </p:spPr>
      </p:pic>
      <p:pic>
        <p:nvPicPr>
          <p:cNvPr id="8036" name="Google Shape;8036;p70"/>
          <p:cNvPicPr preferRelativeResize="0"/>
          <p:nvPr/>
        </p:nvPicPr>
        <p:blipFill rotWithShape="1">
          <a:blip r:embed="rId3">
            <a:alphaModFix/>
          </a:blip>
          <a:srcRect/>
          <a:stretch/>
        </p:blipFill>
        <p:spPr>
          <a:xfrm>
            <a:off x="6062938" y="3842654"/>
            <a:ext cx="391969" cy="391969"/>
          </a:xfrm>
          <a:prstGeom prst="rect">
            <a:avLst/>
          </a:prstGeom>
          <a:noFill/>
          <a:ln>
            <a:noFill/>
          </a:ln>
        </p:spPr>
      </p:pic>
      <p:pic>
        <p:nvPicPr>
          <p:cNvPr id="8037" name="Google Shape;8037;p70"/>
          <p:cNvPicPr preferRelativeResize="0"/>
          <p:nvPr/>
        </p:nvPicPr>
        <p:blipFill rotWithShape="1">
          <a:blip r:embed="rId3">
            <a:alphaModFix/>
          </a:blip>
          <a:srcRect/>
          <a:stretch/>
        </p:blipFill>
        <p:spPr>
          <a:xfrm>
            <a:off x="7421523" y="3689189"/>
            <a:ext cx="573372" cy="573372"/>
          </a:xfrm>
          <a:prstGeom prst="rect">
            <a:avLst/>
          </a:prstGeom>
          <a:noFill/>
          <a:ln>
            <a:noFill/>
          </a:ln>
        </p:spPr>
      </p:pic>
      <p:pic>
        <p:nvPicPr>
          <p:cNvPr id="8038" name="Google Shape;8038;p70"/>
          <p:cNvPicPr preferRelativeResize="0"/>
          <p:nvPr/>
        </p:nvPicPr>
        <p:blipFill rotWithShape="1">
          <a:blip r:embed="rId4">
            <a:alphaModFix/>
          </a:blip>
          <a:srcRect/>
          <a:stretch/>
        </p:blipFill>
        <p:spPr>
          <a:xfrm>
            <a:off x="7316240" y="4258280"/>
            <a:ext cx="391969" cy="391969"/>
          </a:xfrm>
          <a:prstGeom prst="rect">
            <a:avLst/>
          </a:prstGeom>
          <a:noFill/>
          <a:ln>
            <a:noFill/>
          </a:ln>
        </p:spPr>
      </p:pic>
      <p:pic>
        <p:nvPicPr>
          <p:cNvPr id="8039" name="Google Shape;8039;p70"/>
          <p:cNvPicPr preferRelativeResize="0"/>
          <p:nvPr/>
        </p:nvPicPr>
        <p:blipFill rotWithShape="1">
          <a:blip r:embed="rId4">
            <a:alphaModFix/>
          </a:blip>
          <a:srcRect/>
          <a:stretch/>
        </p:blipFill>
        <p:spPr>
          <a:xfrm>
            <a:off x="6607681" y="3578724"/>
            <a:ext cx="573372" cy="573372"/>
          </a:xfrm>
          <a:prstGeom prst="rect">
            <a:avLst/>
          </a:prstGeom>
          <a:noFill/>
          <a:ln>
            <a:noFill/>
          </a:ln>
        </p:spPr>
      </p:pic>
      <p:pic>
        <p:nvPicPr>
          <p:cNvPr id="8040" name="Google Shape;8040;p70"/>
          <p:cNvPicPr preferRelativeResize="0"/>
          <p:nvPr/>
        </p:nvPicPr>
        <p:blipFill rotWithShape="1">
          <a:blip r:embed="rId4">
            <a:alphaModFix/>
          </a:blip>
          <a:srcRect/>
          <a:stretch/>
        </p:blipFill>
        <p:spPr>
          <a:xfrm>
            <a:off x="8002244" y="3893005"/>
            <a:ext cx="391969" cy="391969"/>
          </a:xfrm>
          <a:prstGeom prst="rect">
            <a:avLst/>
          </a:prstGeom>
          <a:noFill/>
          <a:ln>
            <a:noFill/>
          </a:ln>
        </p:spPr>
      </p:pic>
      <p:pic>
        <p:nvPicPr>
          <p:cNvPr id="8041" name="Google Shape;8041;p70"/>
          <p:cNvPicPr preferRelativeResize="0"/>
          <p:nvPr/>
        </p:nvPicPr>
        <p:blipFill rotWithShape="1">
          <a:blip r:embed="rId4">
            <a:alphaModFix/>
          </a:blip>
          <a:srcRect/>
          <a:stretch/>
        </p:blipFill>
        <p:spPr>
          <a:xfrm>
            <a:off x="4469663" y="3860858"/>
            <a:ext cx="562737" cy="562737"/>
          </a:xfrm>
          <a:prstGeom prst="rect">
            <a:avLst/>
          </a:prstGeom>
          <a:noFill/>
          <a:ln>
            <a:noFill/>
          </a:ln>
        </p:spPr>
      </p:pic>
      <p:pic>
        <p:nvPicPr>
          <p:cNvPr id="8042" name="Google Shape;8042;p70"/>
          <p:cNvPicPr preferRelativeResize="0"/>
          <p:nvPr/>
        </p:nvPicPr>
        <p:blipFill rotWithShape="1">
          <a:blip r:embed="rId4">
            <a:alphaModFix/>
          </a:blip>
          <a:srcRect/>
          <a:stretch/>
        </p:blipFill>
        <p:spPr>
          <a:xfrm>
            <a:off x="3507716" y="4258280"/>
            <a:ext cx="723107" cy="723107"/>
          </a:xfrm>
          <a:prstGeom prst="rect">
            <a:avLst/>
          </a:prstGeom>
          <a:noFill/>
          <a:ln>
            <a:noFill/>
          </a:ln>
        </p:spPr>
      </p:pic>
      <p:pic>
        <p:nvPicPr>
          <p:cNvPr id="8043" name="Google Shape;8043;p70"/>
          <p:cNvPicPr preferRelativeResize="0"/>
          <p:nvPr/>
        </p:nvPicPr>
        <p:blipFill rotWithShape="1">
          <a:blip r:embed="rId3">
            <a:alphaModFix/>
          </a:blip>
          <a:srcRect/>
          <a:stretch/>
        </p:blipFill>
        <p:spPr>
          <a:xfrm>
            <a:off x="10136826" y="4038235"/>
            <a:ext cx="391969" cy="391969"/>
          </a:xfrm>
          <a:prstGeom prst="rect">
            <a:avLst/>
          </a:prstGeom>
          <a:noFill/>
          <a:ln>
            <a:noFill/>
          </a:ln>
        </p:spPr>
      </p:pic>
      <p:sp>
        <p:nvSpPr>
          <p:cNvPr id="8044" name="Google Shape;8044;p70"/>
          <p:cNvSpPr/>
          <p:nvPr/>
        </p:nvSpPr>
        <p:spPr>
          <a:xfrm>
            <a:off x="317500" y="3491816"/>
            <a:ext cx="914400" cy="100200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pic>
        <p:nvPicPr>
          <p:cNvPr id="8045" name="Google Shape;8045;p70"/>
          <p:cNvPicPr preferRelativeResize="0"/>
          <p:nvPr/>
        </p:nvPicPr>
        <p:blipFill rotWithShape="1">
          <a:blip r:embed="rId3">
            <a:alphaModFix/>
          </a:blip>
          <a:srcRect/>
          <a:stretch/>
        </p:blipFill>
        <p:spPr>
          <a:xfrm>
            <a:off x="3929905" y="3929633"/>
            <a:ext cx="391969" cy="391969"/>
          </a:xfrm>
          <a:prstGeom prst="rect">
            <a:avLst/>
          </a:prstGeom>
          <a:noFill/>
          <a:ln>
            <a:noFill/>
          </a:ln>
        </p:spPr>
      </p:pic>
      <p:grpSp>
        <p:nvGrpSpPr>
          <p:cNvPr id="8046" name="Google Shape;8046;p70"/>
          <p:cNvGrpSpPr/>
          <p:nvPr/>
        </p:nvGrpSpPr>
        <p:grpSpPr>
          <a:xfrm>
            <a:off x="8437023" y="1680727"/>
            <a:ext cx="1862290" cy="2301029"/>
            <a:chOff x="9189059" y="1284487"/>
            <a:chExt cx="1862290" cy="2301029"/>
          </a:xfrm>
        </p:grpSpPr>
        <p:grpSp>
          <p:nvGrpSpPr>
            <p:cNvPr id="8047" name="Google Shape;8047;p70"/>
            <p:cNvGrpSpPr/>
            <p:nvPr/>
          </p:nvGrpSpPr>
          <p:grpSpPr>
            <a:xfrm>
              <a:off x="9189059" y="1284487"/>
              <a:ext cx="1862290" cy="2301029"/>
              <a:chOff x="9189059" y="1284487"/>
              <a:chExt cx="1862290" cy="2301029"/>
            </a:xfrm>
          </p:grpSpPr>
          <p:grpSp>
            <p:nvGrpSpPr>
              <p:cNvPr id="8048" name="Google Shape;8048;p70"/>
              <p:cNvGrpSpPr/>
              <p:nvPr/>
            </p:nvGrpSpPr>
            <p:grpSpPr>
              <a:xfrm>
                <a:off x="9199277" y="2334636"/>
                <a:ext cx="1852072" cy="706825"/>
                <a:chOff x="12517750" y="3071895"/>
                <a:chExt cx="624400" cy="238296"/>
              </a:xfrm>
            </p:grpSpPr>
            <p:sp>
              <p:nvSpPr>
                <p:cNvPr id="8049" name="Google Shape;8049;p70"/>
                <p:cNvSpPr/>
                <p:nvPr/>
              </p:nvSpPr>
              <p:spPr>
                <a:xfrm>
                  <a:off x="12517750" y="307189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8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050" name="Google Shape;8050;p70"/>
                <p:cNvSpPr/>
                <p:nvPr/>
              </p:nvSpPr>
              <p:spPr>
                <a:xfrm>
                  <a:off x="12778089" y="3112492"/>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051" name="Google Shape;8051;p70"/>
                <p:cNvSpPr/>
                <p:nvPr/>
              </p:nvSpPr>
              <p:spPr>
                <a:xfrm>
                  <a:off x="12588940" y="3180461"/>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8052" name="Google Shape;8052;p70"/>
              <p:cNvSpPr txBox="1"/>
              <p:nvPr/>
            </p:nvSpPr>
            <p:spPr>
              <a:xfrm>
                <a:off x="9189059" y="1284487"/>
                <a:ext cx="1731210"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B666FD"/>
                  </a:buClr>
                  <a:buSzPts val="2800"/>
                  <a:buFont typeface="Arial"/>
                  <a:buNone/>
                </a:pPr>
                <a:r>
                  <a:rPr lang="en-US" sz="2800">
                    <a:solidFill>
                      <a:schemeClr val="accent4"/>
                    </a:solidFill>
                    <a:latin typeface="Arial"/>
                    <a:ea typeface="Arial"/>
                    <a:cs typeface="Arial"/>
                    <a:sym typeface="Arial"/>
                  </a:rPr>
                  <a:t>Secure</a:t>
                </a:r>
                <a:r>
                  <a:rPr lang="en-US" sz="1600" b="0" i="0" u="none" strike="noStrike" cap="none">
                    <a:solidFill>
                      <a:srgbClr val="3F3F3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a:solidFill>
                      <a:srgbClr val="3F3F3F"/>
                    </a:solidFill>
                    <a:latin typeface="Arial"/>
                    <a:ea typeface="Arial"/>
                    <a:cs typeface="Arial"/>
                    <a:sym typeface="Arial"/>
                  </a:rPr>
                  <a:t>and Protect y</a:t>
                </a:r>
                <a:r>
                  <a:rPr lang="en-US" sz="1600" b="0" i="0" u="none" strike="noStrike" cap="none">
                    <a:solidFill>
                      <a:srgbClr val="3F3F3F"/>
                    </a:solidFill>
                    <a:latin typeface="Arial"/>
                    <a:ea typeface="Arial"/>
                    <a:cs typeface="Arial"/>
                    <a:sym typeface="Arial"/>
                  </a:rPr>
                  <a:t>our Private Cloud</a:t>
                </a:r>
                <a:endParaRPr sz="1400" b="0" i="0" u="none" strike="noStrike" cap="none">
                  <a:solidFill>
                    <a:srgbClr val="000000"/>
                  </a:solidFill>
                  <a:latin typeface="Arial"/>
                  <a:ea typeface="Arial"/>
                  <a:cs typeface="Arial"/>
                  <a:sym typeface="Arial"/>
                </a:endParaRPr>
              </a:p>
            </p:txBody>
          </p:sp>
          <p:sp>
            <p:nvSpPr>
              <p:cNvPr id="8053" name="Google Shape;8053;p70"/>
              <p:cNvSpPr/>
              <p:nvPr/>
            </p:nvSpPr>
            <p:spPr>
              <a:xfrm>
                <a:off x="9709737" y="2853996"/>
                <a:ext cx="731616" cy="731520"/>
              </a:xfrm>
              <a:prstGeom prst="ellipse">
                <a:avLst/>
              </a:prstGeom>
              <a:solidFill>
                <a:schemeClr val="accent4"/>
              </a:solidFill>
              <a:ln w="25400" cap="flat" cmpd="sng">
                <a:solidFill>
                  <a:schemeClr val="lt1"/>
                </a:solidFill>
                <a:prstDash val="solid"/>
                <a:round/>
                <a:headEnd type="none" w="sm" len="sm"/>
                <a:tailEnd type="none" w="sm" len="sm"/>
              </a:ln>
            </p:spPr>
            <p:txBody>
              <a:bodyPr spcFirstLastPara="1" wrap="square" lIns="60900" tIns="30450" rIns="60900" bIns="304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3F3F3F"/>
                  </a:solidFill>
                  <a:latin typeface="Arial"/>
                  <a:ea typeface="Arial"/>
                  <a:cs typeface="Arial"/>
                  <a:sym typeface="Arial"/>
                </a:endParaRPr>
              </a:p>
            </p:txBody>
          </p:sp>
        </p:grpSp>
        <p:sp>
          <p:nvSpPr>
            <p:cNvPr id="8054" name="Google Shape;8054;p70"/>
            <p:cNvSpPr/>
            <p:nvPr/>
          </p:nvSpPr>
          <p:spPr>
            <a:xfrm>
              <a:off x="9904196" y="3026289"/>
              <a:ext cx="366532" cy="373491"/>
            </a:xfrm>
            <a:custGeom>
              <a:avLst/>
              <a:gdLst/>
              <a:ahLst/>
              <a:cxnLst/>
              <a:rect l="l" t="t" r="r" b="b"/>
              <a:pathLst>
                <a:path w="579532" h="576685" extrusionOk="0">
                  <a:moveTo>
                    <a:pt x="130350" y="576685"/>
                  </a:moveTo>
                  <a:lnTo>
                    <a:pt x="0" y="576685"/>
                  </a:lnTo>
                  <a:lnTo>
                    <a:pt x="0" y="452407"/>
                  </a:lnTo>
                  <a:lnTo>
                    <a:pt x="2277" y="450130"/>
                  </a:lnTo>
                  <a:cubicBezTo>
                    <a:pt x="2277" y="450130"/>
                    <a:pt x="2277" y="450130"/>
                    <a:pt x="206119" y="250968"/>
                  </a:cubicBezTo>
                  <a:lnTo>
                    <a:pt x="143821" y="188671"/>
                  </a:lnTo>
                  <a:cubicBezTo>
                    <a:pt x="124078" y="168914"/>
                    <a:pt x="124078" y="136896"/>
                    <a:pt x="143821" y="117140"/>
                  </a:cubicBezTo>
                  <a:lnTo>
                    <a:pt x="246153" y="14808"/>
                  </a:lnTo>
                  <a:cubicBezTo>
                    <a:pt x="265910" y="-4936"/>
                    <a:pt x="297928" y="-4936"/>
                    <a:pt x="317685" y="14808"/>
                  </a:cubicBezTo>
                  <a:lnTo>
                    <a:pt x="564724" y="261847"/>
                  </a:lnTo>
                  <a:cubicBezTo>
                    <a:pt x="584469" y="281603"/>
                    <a:pt x="584469" y="313621"/>
                    <a:pt x="564724" y="333378"/>
                  </a:cubicBezTo>
                  <a:lnTo>
                    <a:pt x="462392" y="435773"/>
                  </a:lnTo>
                  <a:cubicBezTo>
                    <a:pt x="442657" y="455391"/>
                    <a:pt x="410785" y="455391"/>
                    <a:pt x="391050" y="435773"/>
                  </a:cubicBezTo>
                  <a:lnTo>
                    <a:pt x="329701" y="374424"/>
                  </a:lnTo>
                  <a:lnTo>
                    <a:pt x="285998" y="417685"/>
                  </a:lnTo>
                  <a:lnTo>
                    <a:pt x="231101" y="417685"/>
                  </a:lnTo>
                  <a:lnTo>
                    <a:pt x="231101" y="472266"/>
                  </a:lnTo>
                  <a:lnTo>
                    <a:pt x="189295" y="513755"/>
                  </a:lnTo>
                  <a:lnTo>
                    <a:pt x="130350" y="513755"/>
                  </a:lnTo>
                  <a:close/>
                  <a:moveTo>
                    <a:pt x="15812" y="560874"/>
                  </a:moveTo>
                  <a:lnTo>
                    <a:pt x="114539" y="560874"/>
                  </a:lnTo>
                  <a:lnTo>
                    <a:pt x="114539" y="497628"/>
                  </a:lnTo>
                  <a:lnTo>
                    <a:pt x="182781" y="497628"/>
                  </a:lnTo>
                  <a:lnTo>
                    <a:pt x="215289" y="465309"/>
                  </a:lnTo>
                  <a:lnTo>
                    <a:pt x="215289" y="401810"/>
                  </a:lnTo>
                  <a:lnTo>
                    <a:pt x="279294" y="401810"/>
                  </a:lnTo>
                  <a:lnTo>
                    <a:pt x="329891" y="352035"/>
                  </a:lnTo>
                  <a:lnTo>
                    <a:pt x="402055" y="424515"/>
                  </a:lnTo>
                  <a:cubicBezTo>
                    <a:pt x="415604" y="438085"/>
                    <a:pt x="437589" y="438102"/>
                    <a:pt x="451159" y="424553"/>
                  </a:cubicBezTo>
                  <a:cubicBezTo>
                    <a:pt x="451172" y="424541"/>
                    <a:pt x="451184" y="424528"/>
                    <a:pt x="451197" y="424515"/>
                  </a:cubicBezTo>
                  <a:lnTo>
                    <a:pt x="553529" y="321930"/>
                  </a:lnTo>
                  <a:cubicBezTo>
                    <a:pt x="567102" y="308381"/>
                    <a:pt x="567114" y="286396"/>
                    <a:pt x="553567" y="272826"/>
                  </a:cubicBezTo>
                  <a:cubicBezTo>
                    <a:pt x="553554" y="272813"/>
                    <a:pt x="553542" y="272801"/>
                    <a:pt x="553529" y="272788"/>
                  </a:cubicBezTo>
                  <a:lnTo>
                    <a:pt x="306870" y="25749"/>
                  </a:lnTo>
                  <a:cubicBezTo>
                    <a:pt x="293241" y="12261"/>
                    <a:pt x="271293" y="12261"/>
                    <a:pt x="257664" y="25749"/>
                  </a:cubicBezTo>
                  <a:lnTo>
                    <a:pt x="155016" y="128334"/>
                  </a:lnTo>
                  <a:cubicBezTo>
                    <a:pt x="141527" y="141963"/>
                    <a:pt x="141527" y="163911"/>
                    <a:pt x="155016" y="177540"/>
                  </a:cubicBezTo>
                  <a:lnTo>
                    <a:pt x="228571" y="251095"/>
                  </a:lnTo>
                  <a:lnTo>
                    <a:pt x="222879" y="256660"/>
                  </a:lnTo>
                  <a:lnTo>
                    <a:pt x="15812" y="45904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055" name="Google Shape;8055;p70"/>
            <p:cNvSpPr/>
            <p:nvPr/>
          </p:nvSpPr>
          <p:spPr>
            <a:xfrm rot="-2700000">
              <a:off x="9926012" y="3278047"/>
              <a:ext cx="166283" cy="10240"/>
            </a:xfrm>
            <a:custGeom>
              <a:avLst/>
              <a:gdLst/>
              <a:ahLst/>
              <a:cxnLst/>
              <a:rect l="l" t="t" r="r" b="b"/>
              <a:pathLst>
                <a:path w="262913" h="15811" extrusionOk="0">
                  <a:moveTo>
                    <a:pt x="0" y="0"/>
                  </a:moveTo>
                  <a:lnTo>
                    <a:pt x="262914" y="0"/>
                  </a:lnTo>
                  <a:lnTo>
                    <a:pt x="262914"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056" name="Google Shape;8056;p70"/>
            <p:cNvSpPr/>
            <p:nvPr/>
          </p:nvSpPr>
          <p:spPr>
            <a:xfrm>
              <a:off x="10102118" y="3141523"/>
              <a:ext cx="80001" cy="81923"/>
            </a:xfrm>
            <a:custGeom>
              <a:avLst/>
              <a:gdLst/>
              <a:ahLst/>
              <a:cxnLst/>
              <a:rect l="l" t="t" r="r" b="b"/>
              <a:pathLst>
                <a:path w="126492" h="126492" extrusionOk="0">
                  <a:moveTo>
                    <a:pt x="63246" y="126366"/>
                  </a:moveTo>
                  <a:cubicBezTo>
                    <a:pt x="58915" y="125814"/>
                    <a:pt x="55851" y="121856"/>
                    <a:pt x="56402" y="117525"/>
                  </a:cubicBezTo>
                  <a:cubicBezTo>
                    <a:pt x="56856" y="113950"/>
                    <a:pt x="59671" y="111135"/>
                    <a:pt x="63246" y="110681"/>
                  </a:cubicBezTo>
                  <a:cubicBezTo>
                    <a:pt x="89443" y="110681"/>
                    <a:pt x="110681" y="89443"/>
                    <a:pt x="110681" y="63246"/>
                  </a:cubicBezTo>
                  <a:cubicBezTo>
                    <a:pt x="110681" y="37049"/>
                    <a:pt x="89443" y="15812"/>
                    <a:pt x="63246" y="15812"/>
                  </a:cubicBezTo>
                  <a:cubicBezTo>
                    <a:pt x="37049" y="15812"/>
                    <a:pt x="15812" y="37049"/>
                    <a:pt x="15812" y="63246"/>
                  </a:cubicBezTo>
                  <a:cubicBezTo>
                    <a:pt x="15812" y="67613"/>
                    <a:pt x="12272" y="71152"/>
                    <a:pt x="7906" y="71152"/>
                  </a:cubicBezTo>
                  <a:cubicBezTo>
                    <a:pt x="3539" y="71152"/>
                    <a:pt x="0" y="67613"/>
                    <a:pt x="0" y="63246"/>
                  </a:cubicBezTo>
                  <a:cubicBezTo>
                    <a:pt x="0" y="28316"/>
                    <a:pt x="28316" y="0"/>
                    <a:pt x="63246" y="0"/>
                  </a:cubicBezTo>
                  <a:cubicBezTo>
                    <a:pt x="98176" y="0"/>
                    <a:pt x="126492" y="28316"/>
                    <a:pt x="126492" y="63246"/>
                  </a:cubicBezTo>
                  <a:cubicBezTo>
                    <a:pt x="126492" y="98176"/>
                    <a:pt x="98176" y="126492"/>
                    <a:pt x="63246" y="1264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8057" name="Google Shape;8057;p70"/>
          <p:cNvSpPr/>
          <p:nvPr/>
        </p:nvSpPr>
        <p:spPr>
          <a:xfrm>
            <a:off x="1905745" y="2765715"/>
            <a:ext cx="1287766" cy="1290645"/>
          </a:xfrm>
          <a:prstGeom prst="ellipse">
            <a:avLst/>
          </a:prstGeom>
          <a:solidFill>
            <a:srgbClr val="F2F2F2">
              <a:alpha val="48627"/>
            </a:srgb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8058" name="Google Shape;8058;p70"/>
          <p:cNvGrpSpPr/>
          <p:nvPr/>
        </p:nvGrpSpPr>
        <p:grpSpPr>
          <a:xfrm>
            <a:off x="8694466" y="2788743"/>
            <a:ext cx="1287817" cy="1290696"/>
            <a:chOff x="5942869" y="4312444"/>
            <a:chExt cx="1288152" cy="1291032"/>
          </a:xfrm>
        </p:grpSpPr>
        <p:sp>
          <p:nvSpPr>
            <p:cNvPr id="8059" name="Google Shape;8059;p70"/>
            <p:cNvSpPr/>
            <p:nvPr/>
          </p:nvSpPr>
          <p:spPr>
            <a:xfrm>
              <a:off x="5942869" y="4312444"/>
              <a:ext cx="1288152" cy="1291032"/>
            </a:xfrm>
            <a:prstGeom prst="ellipse">
              <a:avLst/>
            </a:prstGeom>
            <a:solidFill>
              <a:srgbClr val="F2F2F2">
                <a:alpha val="48627"/>
              </a:srgb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8060" name="Google Shape;8060;p70"/>
            <p:cNvGrpSpPr/>
            <p:nvPr/>
          </p:nvGrpSpPr>
          <p:grpSpPr>
            <a:xfrm>
              <a:off x="6013661" y="4383395"/>
              <a:ext cx="1146570" cy="1149135"/>
              <a:chOff x="6013661" y="4383395"/>
              <a:chExt cx="1146570" cy="1149135"/>
            </a:xfrm>
          </p:grpSpPr>
          <p:sp>
            <p:nvSpPr>
              <p:cNvPr id="8061" name="Google Shape;8061;p70"/>
              <p:cNvSpPr/>
              <p:nvPr/>
            </p:nvSpPr>
            <p:spPr>
              <a:xfrm>
                <a:off x="6013661" y="4383395"/>
                <a:ext cx="1146570" cy="1149135"/>
              </a:xfrm>
              <a:prstGeom prst="ellipse">
                <a:avLst/>
              </a:prstGeom>
              <a:gradFill>
                <a:gsLst>
                  <a:gs pos="0">
                    <a:schemeClr val="accent1"/>
                  </a:gs>
                  <a:gs pos="30000">
                    <a:schemeClr val="accent1"/>
                  </a:gs>
                  <a:gs pos="100000">
                    <a:schemeClr val="accent4"/>
                  </a:gs>
                </a:gsLst>
                <a:lin ang="189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8062" name="Google Shape;8062;p70"/>
              <p:cNvGrpSpPr/>
              <p:nvPr/>
            </p:nvGrpSpPr>
            <p:grpSpPr>
              <a:xfrm>
                <a:off x="6281660" y="4599336"/>
                <a:ext cx="610572" cy="717253"/>
                <a:chOff x="1893239" y="713314"/>
                <a:chExt cx="510395" cy="599572"/>
              </a:xfrm>
            </p:grpSpPr>
            <p:sp>
              <p:nvSpPr>
                <p:cNvPr id="8063" name="Google Shape;8063;p70"/>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86825" tIns="43400" rIns="86825" bIns="434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064" name="Google Shape;8064;p70"/>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86825" tIns="43400" rIns="86825" bIns="434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grpSp>
        </p:grpSp>
      </p:grpSp>
      <p:pic>
        <p:nvPicPr>
          <p:cNvPr id="8065" name="Google Shape;8065;p70"/>
          <p:cNvPicPr preferRelativeResize="0"/>
          <p:nvPr/>
        </p:nvPicPr>
        <p:blipFill rotWithShape="1">
          <a:blip r:embed="rId4">
            <a:alphaModFix/>
          </a:blip>
          <a:srcRect/>
          <a:stretch/>
        </p:blipFill>
        <p:spPr>
          <a:xfrm>
            <a:off x="1821468" y="3981787"/>
            <a:ext cx="293977" cy="293977"/>
          </a:xfrm>
          <a:prstGeom prst="rect">
            <a:avLst/>
          </a:prstGeom>
          <a:noFill/>
          <a:ln>
            <a:noFill/>
          </a:ln>
        </p:spPr>
      </p:pic>
      <p:pic>
        <p:nvPicPr>
          <p:cNvPr id="8066" name="Google Shape;8066;p70"/>
          <p:cNvPicPr preferRelativeResize="0"/>
          <p:nvPr/>
        </p:nvPicPr>
        <p:blipFill rotWithShape="1">
          <a:blip r:embed="rId3">
            <a:alphaModFix/>
          </a:blip>
          <a:srcRect/>
          <a:stretch/>
        </p:blipFill>
        <p:spPr>
          <a:xfrm>
            <a:off x="2191322" y="4023298"/>
            <a:ext cx="391969" cy="391969"/>
          </a:xfrm>
          <a:prstGeom prst="rect">
            <a:avLst/>
          </a:prstGeom>
          <a:noFill/>
          <a:ln>
            <a:noFill/>
          </a:ln>
        </p:spPr>
      </p:pic>
      <p:pic>
        <p:nvPicPr>
          <p:cNvPr id="8067" name="Google Shape;8067;p70"/>
          <p:cNvPicPr preferRelativeResize="0"/>
          <p:nvPr/>
        </p:nvPicPr>
        <p:blipFill rotWithShape="1">
          <a:blip r:embed="rId4">
            <a:alphaModFix/>
          </a:blip>
          <a:srcRect/>
          <a:stretch/>
        </p:blipFill>
        <p:spPr>
          <a:xfrm>
            <a:off x="3175113" y="4026920"/>
            <a:ext cx="391969" cy="391969"/>
          </a:xfrm>
          <a:prstGeom prst="rect">
            <a:avLst/>
          </a:prstGeom>
          <a:noFill/>
          <a:ln>
            <a:noFill/>
          </a:ln>
        </p:spPr>
      </p:pic>
      <p:pic>
        <p:nvPicPr>
          <p:cNvPr id="8068" name="Google Shape;8068;p70"/>
          <p:cNvPicPr preferRelativeResize="0"/>
          <p:nvPr/>
        </p:nvPicPr>
        <p:blipFill rotWithShape="1">
          <a:blip r:embed="rId4">
            <a:alphaModFix/>
          </a:blip>
          <a:srcRect/>
          <a:stretch/>
        </p:blipFill>
        <p:spPr>
          <a:xfrm>
            <a:off x="9542808" y="4647260"/>
            <a:ext cx="293977" cy="293977"/>
          </a:xfrm>
          <a:prstGeom prst="rect">
            <a:avLst/>
          </a:prstGeom>
          <a:noFill/>
          <a:ln>
            <a:noFill/>
          </a:ln>
        </p:spPr>
      </p:pic>
      <p:sp>
        <p:nvSpPr>
          <p:cNvPr id="8069" name="Google Shape;8069;p70"/>
          <p:cNvSpPr txBox="1"/>
          <p:nvPr/>
        </p:nvSpPr>
        <p:spPr>
          <a:xfrm>
            <a:off x="8277195" y="4347483"/>
            <a:ext cx="3166775"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a:solidFill>
                  <a:schemeClr val="dk1"/>
                </a:solidFill>
                <a:latin typeface="Arial"/>
                <a:ea typeface="Arial"/>
                <a:cs typeface="Arial"/>
                <a:sym typeface="Arial"/>
              </a:rPr>
              <a:t>Security Operations</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Extended VM-level Data Protection</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Protecting VMs Across Clusters</a:t>
            </a:r>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Resiliency &amp; Security</a:t>
            </a: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sp>
        <p:nvSpPr>
          <p:cNvPr id="8070" name="Google Shape;8070;p7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chemeClr val="accent2"/>
              </a:buClr>
              <a:buSzPts val="2800"/>
              <a:buFont typeface="Arial"/>
              <a:buNone/>
            </a:pPr>
            <a:r>
              <a:rPr lang="en-US"/>
              <a:t>What’s New in VMware Cloud Foundation 9</a:t>
            </a:r>
            <a:endParaRPr/>
          </a:p>
        </p:txBody>
      </p:sp>
      <p:grpSp>
        <p:nvGrpSpPr>
          <p:cNvPr id="8071" name="Google Shape;8071;p70"/>
          <p:cNvGrpSpPr/>
          <p:nvPr/>
        </p:nvGrpSpPr>
        <p:grpSpPr>
          <a:xfrm>
            <a:off x="1174313" y="1937477"/>
            <a:ext cx="3022880" cy="4005572"/>
            <a:chOff x="1174313" y="1937477"/>
            <a:chExt cx="3022880" cy="4005572"/>
          </a:xfrm>
        </p:grpSpPr>
        <p:grpSp>
          <p:nvGrpSpPr>
            <p:cNvPr id="8072" name="Google Shape;8072;p70"/>
            <p:cNvGrpSpPr/>
            <p:nvPr/>
          </p:nvGrpSpPr>
          <p:grpSpPr>
            <a:xfrm>
              <a:off x="1174313" y="1937477"/>
              <a:ext cx="3022880" cy="4005572"/>
              <a:chOff x="781204" y="1541237"/>
              <a:chExt cx="3022880" cy="4005572"/>
            </a:xfrm>
          </p:grpSpPr>
          <p:sp>
            <p:nvSpPr>
              <p:cNvPr id="8073" name="Google Shape;8073;p70"/>
              <p:cNvSpPr txBox="1"/>
              <p:nvPr/>
            </p:nvSpPr>
            <p:spPr>
              <a:xfrm>
                <a:off x="781204" y="3950407"/>
                <a:ext cx="3022880"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a:solidFill>
                      <a:schemeClr val="dk1"/>
                    </a:solidFill>
                    <a:latin typeface="Arial"/>
                    <a:ea typeface="Arial"/>
                    <a:cs typeface="Arial"/>
                    <a:sym typeface="Arial"/>
                  </a:rPr>
                  <a:t>VCF Deployment Pathways</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SDDC Infrastructure</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Fleet Management &amp; Operations</a:t>
                </a:r>
                <a:endParaRPr/>
              </a:p>
              <a:p>
                <a:pPr marL="342900" marR="0" lvl="0" indent="-342900" algn="l" rtl="0">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Deliver Self-service IaaS</a:t>
                </a:r>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Migrating to VCF</a:t>
                </a:r>
                <a:endParaRPr/>
              </a:p>
              <a:p>
                <a:pPr marL="342900" marR="0" lvl="0" indent="-268605" algn="l" rtl="0">
                  <a:lnSpc>
                    <a:spcPct val="100000"/>
                  </a:lnSpc>
                  <a:spcBef>
                    <a:spcPts val="600"/>
                  </a:spcBef>
                  <a:spcAft>
                    <a:spcPts val="0"/>
                  </a:spcAft>
                  <a:buClr>
                    <a:srgbClr val="666666"/>
                  </a:buClr>
                  <a:buSzPts val="1170"/>
                  <a:buFont typeface="Arial"/>
                  <a:buNone/>
                </a:pPr>
                <a:endParaRPr sz="1300">
                  <a:solidFill>
                    <a:schemeClr val="dk1"/>
                  </a:solidFill>
                  <a:latin typeface="Arial"/>
                  <a:ea typeface="Arial"/>
                  <a:cs typeface="Arial"/>
                  <a:sym typeface="Arial"/>
                </a:endParaRPr>
              </a:p>
              <a:p>
                <a:pPr marL="342900" marR="0" lvl="0" indent="-268605" algn="l" rtl="0">
                  <a:lnSpc>
                    <a:spcPct val="100000"/>
                  </a:lnSpc>
                  <a:spcBef>
                    <a:spcPts val="600"/>
                  </a:spcBef>
                  <a:spcAft>
                    <a:spcPts val="0"/>
                  </a:spcAft>
                  <a:buClr>
                    <a:srgbClr val="666666"/>
                  </a:buClr>
                  <a:buSzPts val="1170"/>
                  <a:buFont typeface="Arial"/>
                  <a:buNone/>
                </a:pPr>
                <a:endParaRPr sz="180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grpSp>
            <p:nvGrpSpPr>
              <p:cNvPr id="8074" name="Google Shape;8074;p70"/>
              <p:cNvGrpSpPr/>
              <p:nvPr/>
            </p:nvGrpSpPr>
            <p:grpSpPr>
              <a:xfrm>
                <a:off x="1121726" y="2294053"/>
                <a:ext cx="1975340" cy="846680"/>
                <a:chOff x="12476192" y="3025185"/>
                <a:chExt cx="665958" cy="285446"/>
              </a:xfrm>
            </p:grpSpPr>
            <p:sp>
              <p:nvSpPr>
                <p:cNvPr id="8075" name="Google Shape;8075;p70"/>
                <p:cNvSpPr/>
                <p:nvPr/>
              </p:nvSpPr>
              <p:spPr>
                <a:xfrm>
                  <a:off x="12476192" y="302518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6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076" name="Google Shape;8076;p70"/>
                <p:cNvSpPr/>
                <p:nvPr/>
              </p:nvSpPr>
              <p:spPr>
                <a:xfrm>
                  <a:off x="12778089" y="3134512"/>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077" name="Google Shape;8077;p70"/>
                <p:cNvSpPr/>
                <p:nvPr/>
              </p:nvSpPr>
              <p:spPr>
                <a:xfrm>
                  <a:off x="12554829" y="3185661"/>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8078" name="Google Shape;8078;p70"/>
              <p:cNvSpPr txBox="1"/>
              <p:nvPr/>
            </p:nvSpPr>
            <p:spPr>
              <a:xfrm>
                <a:off x="1102974" y="1541237"/>
                <a:ext cx="1992527"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B050"/>
                  </a:buClr>
                  <a:buSzPts val="2800"/>
                  <a:buFont typeface="Arial"/>
                  <a:buNone/>
                </a:pPr>
                <a:r>
                  <a:rPr lang="en-US" sz="2800">
                    <a:solidFill>
                      <a:schemeClr val="accent5"/>
                    </a:solidFill>
                    <a:latin typeface="Arial"/>
                    <a:ea typeface="Arial"/>
                    <a:cs typeface="Arial"/>
                    <a:sym typeface="Arial"/>
                  </a:rPr>
                  <a:t>Modernize</a:t>
                </a:r>
                <a:endParaRPr sz="1400" b="0" i="0" u="none" strike="noStrike" cap="none">
                  <a:solidFill>
                    <a:schemeClr val="accent5"/>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b="0" i="0" u="none" strike="noStrike" cap="none">
                    <a:solidFill>
                      <a:srgbClr val="3F3F3F"/>
                    </a:solidFill>
                    <a:latin typeface="Arial"/>
                    <a:ea typeface="Arial"/>
                    <a:cs typeface="Arial"/>
                    <a:sym typeface="Arial"/>
                  </a:rPr>
                  <a:t> </a:t>
                </a:r>
                <a:r>
                  <a:rPr lang="en-US" sz="1600">
                    <a:solidFill>
                      <a:srgbClr val="3F3F3F"/>
                    </a:solidFill>
                    <a:latin typeface="Arial"/>
                    <a:ea typeface="Arial"/>
                    <a:cs typeface="Arial"/>
                    <a:sym typeface="Arial"/>
                  </a:rPr>
                  <a:t>Infrastructure</a:t>
                </a:r>
                <a:endParaRPr sz="1400" b="0" i="0" u="none" strike="noStrike" cap="none">
                  <a:solidFill>
                    <a:srgbClr val="000000"/>
                  </a:solidFill>
                  <a:latin typeface="Arial"/>
                  <a:ea typeface="Arial"/>
                  <a:cs typeface="Arial"/>
                  <a:sym typeface="Arial"/>
                </a:endParaRPr>
              </a:p>
            </p:txBody>
          </p:sp>
          <p:sp>
            <p:nvSpPr>
              <p:cNvPr id="8079" name="Google Shape;8079;p70"/>
              <p:cNvSpPr/>
              <p:nvPr/>
            </p:nvSpPr>
            <p:spPr>
              <a:xfrm>
                <a:off x="1963596" y="3013435"/>
                <a:ext cx="392029" cy="392223"/>
              </a:xfrm>
              <a:custGeom>
                <a:avLst/>
                <a:gdLst/>
                <a:ahLst/>
                <a:cxnLst/>
                <a:rect l="l" t="t" r="r" b="b"/>
                <a:pathLst>
                  <a:path w="597674" h="597674" extrusionOk="0">
                    <a:moveTo>
                      <a:pt x="298521" y="597675"/>
                    </a:moveTo>
                    <a:cubicBezTo>
                      <a:pt x="133449" y="597675"/>
                      <a:pt x="0" y="463593"/>
                      <a:pt x="0" y="298521"/>
                    </a:cubicBezTo>
                    <a:cubicBezTo>
                      <a:pt x="0" y="133449"/>
                      <a:pt x="134082" y="0"/>
                      <a:pt x="298521" y="0"/>
                    </a:cubicBezTo>
                    <a:cubicBezTo>
                      <a:pt x="462961" y="0"/>
                      <a:pt x="597675" y="134082"/>
                      <a:pt x="597675" y="298521"/>
                    </a:cubicBezTo>
                    <a:cubicBezTo>
                      <a:pt x="597675" y="462961"/>
                      <a:pt x="462961" y="597675"/>
                      <a:pt x="298521" y="597675"/>
                    </a:cubicBezTo>
                    <a:close/>
                    <a:moveTo>
                      <a:pt x="298521" y="15811"/>
                    </a:moveTo>
                    <a:cubicBezTo>
                      <a:pt x="142304" y="15811"/>
                      <a:pt x="15179" y="142936"/>
                      <a:pt x="15179" y="299154"/>
                    </a:cubicBezTo>
                    <a:cubicBezTo>
                      <a:pt x="15179" y="455371"/>
                      <a:pt x="142304" y="582496"/>
                      <a:pt x="298521" y="582496"/>
                    </a:cubicBezTo>
                    <a:cubicBezTo>
                      <a:pt x="454739" y="582496"/>
                      <a:pt x="581863" y="455371"/>
                      <a:pt x="581863" y="299154"/>
                    </a:cubicBezTo>
                    <a:cubicBezTo>
                      <a:pt x="581863" y="142936"/>
                      <a:pt x="454106" y="15811"/>
                      <a:pt x="298521" y="1581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8080" name="Google Shape;8080;p70"/>
            <p:cNvGrpSpPr/>
            <p:nvPr/>
          </p:nvGrpSpPr>
          <p:grpSpPr>
            <a:xfrm>
              <a:off x="1976514" y="2836643"/>
              <a:ext cx="1146226" cy="1148790"/>
              <a:chOff x="4907426" y="1918730"/>
              <a:chExt cx="983346" cy="985545"/>
            </a:xfrm>
          </p:grpSpPr>
          <p:sp>
            <p:nvSpPr>
              <p:cNvPr id="8081" name="Google Shape;8081;p70"/>
              <p:cNvSpPr/>
              <p:nvPr/>
            </p:nvSpPr>
            <p:spPr>
              <a:xfrm>
                <a:off x="4907426" y="1918730"/>
                <a:ext cx="983346" cy="985545"/>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8082" name="Google Shape;8082;p70"/>
              <p:cNvGrpSpPr/>
              <p:nvPr/>
            </p:nvGrpSpPr>
            <p:grpSpPr>
              <a:xfrm>
                <a:off x="5101312" y="2167085"/>
                <a:ext cx="640019" cy="488811"/>
                <a:chOff x="1838171" y="5616069"/>
                <a:chExt cx="652849" cy="498611"/>
              </a:xfrm>
            </p:grpSpPr>
            <p:sp>
              <p:nvSpPr>
                <p:cNvPr id="8083" name="Google Shape;8083;p70"/>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084" name="Google Shape;8084;p70"/>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085" name="Google Shape;8085;p70"/>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086" name="Google Shape;8086;p70"/>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087" name="Google Shape;8087;p70"/>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088" name="Google Shape;8088;p70"/>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089" name="Google Shape;8089;p70"/>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090" name="Google Shape;8090;p70"/>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091" name="Google Shape;8091;p70"/>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092" name="Google Shape;8092;p70"/>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grpSp>
        </p:grpSp>
      </p:grpSp>
      <p:sp>
        <p:nvSpPr>
          <p:cNvPr id="8093" name="Google Shape;8093;p70"/>
          <p:cNvSpPr/>
          <p:nvPr/>
        </p:nvSpPr>
        <p:spPr>
          <a:xfrm>
            <a:off x="770933" y="1156766"/>
            <a:ext cx="10809880" cy="5061154"/>
          </a:xfrm>
          <a:prstGeom prst="rect">
            <a:avLst/>
          </a:prstGeom>
          <a:solidFill>
            <a:schemeClr val="lt1">
              <a:alpha val="71372"/>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grpSp>
        <p:nvGrpSpPr>
          <p:cNvPr id="8094" name="Google Shape;8094;p70"/>
          <p:cNvGrpSpPr/>
          <p:nvPr/>
        </p:nvGrpSpPr>
        <p:grpSpPr>
          <a:xfrm>
            <a:off x="4505095" y="1239090"/>
            <a:ext cx="3339494" cy="4699969"/>
            <a:chOff x="4505095" y="1239090"/>
            <a:chExt cx="3339494" cy="4699969"/>
          </a:xfrm>
        </p:grpSpPr>
        <p:grpSp>
          <p:nvGrpSpPr>
            <p:cNvPr id="8095" name="Google Shape;8095;p70"/>
            <p:cNvGrpSpPr/>
            <p:nvPr/>
          </p:nvGrpSpPr>
          <p:grpSpPr>
            <a:xfrm>
              <a:off x="4505095" y="1239090"/>
              <a:ext cx="3339494" cy="4699969"/>
              <a:chOff x="3086492" y="919759"/>
              <a:chExt cx="3339494" cy="4699969"/>
            </a:xfrm>
          </p:grpSpPr>
          <p:grpSp>
            <p:nvGrpSpPr>
              <p:cNvPr id="8096" name="Google Shape;8096;p70"/>
              <p:cNvGrpSpPr/>
              <p:nvPr/>
            </p:nvGrpSpPr>
            <p:grpSpPr>
              <a:xfrm>
                <a:off x="3086492" y="919759"/>
                <a:ext cx="2913554" cy="2117144"/>
                <a:chOff x="3086492" y="-58141"/>
                <a:chExt cx="2913554" cy="2117144"/>
              </a:xfrm>
            </p:grpSpPr>
            <p:grpSp>
              <p:nvGrpSpPr>
                <p:cNvPr id="8097" name="Google Shape;8097;p70"/>
                <p:cNvGrpSpPr/>
                <p:nvPr/>
              </p:nvGrpSpPr>
              <p:grpSpPr>
                <a:xfrm>
                  <a:off x="3548416" y="1081279"/>
                  <a:ext cx="2021076" cy="977724"/>
                  <a:chOff x="12464666" y="3025185"/>
                  <a:chExt cx="681377" cy="329628"/>
                </a:xfrm>
              </p:grpSpPr>
              <p:sp>
                <p:nvSpPr>
                  <p:cNvPr id="8098" name="Google Shape;8098;p70"/>
                  <p:cNvSpPr/>
                  <p:nvPr/>
                </p:nvSpPr>
                <p:spPr>
                  <a:xfrm>
                    <a:off x="12464666" y="3041125"/>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5000">
                        <a:schemeClr val="lt1"/>
                      </a:gs>
                      <a:gs pos="62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099" name="Google Shape;8099;p70"/>
                  <p:cNvSpPr/>
                  <p:nvPr/>
                </p:nvSpPr>
                <p:spPr>
                  <a:xfrm>
                    <a:off x="12517750" y="302518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6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100" name="Google Shape;8100;p70"/>
                  <p:cNvSpPr/>
                  <p:nvPr/>
                </p:nvSpPr>
                <p:spPr>
                  <a:xfrm>
                    <a:off x="12781982" y="3209913"/>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rgbClr val="FFFFFF"/>
                      </a:gs>
                      <a:gs pos="29000">
                        <a:srgbClr val="FFFFFF"/>
                      </a:gs>
                      <a:gs pos="48000">
                        <a:srgbClr val="F8FBFE"/>
                      </a:gs>
                      <a:gs pos="69000">
                        <a:srgbClr val="E7F3FB"/>
                      </a:gs>
                      <a:gs pos="100000">
                        <a:srgbClr val="CEE6F7"/>
                      </a:gs>
                    </a:gsLst>
                    <a:lin ang="2700000"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8101" name="Google Shape;8101;p70"/>
                <p:cNvSpPr txBox="1"/>
                <p:nvPr/>
              </p:nvSpPr>
              <p:spPr>
                <a:xfrm>
                  <a:off x="3086492" y="-58141"/>
                  <a:ext cx="2913554"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1600"/>
                    <a:buFont typeface="Arial"/>
                    <a:buNone/>
                  </a:pPr>
                  <a:r>
                    <a:rPr lang="en-US" sz="1600">
                      <a:solidFill>
                        <a:srgbClr val="3F3F3F"/>
                      </a:solidFill>
                      <a:latin typeface="Arial"/>
                      <a:ea typeface="Arial"/>
                      <a:cs typeface="Arial"/>
                      <a:sym typeface="Arial"/>
                    </a:rPr>
                    <a:t>Deliver a Unified</a:t>
                  </a:r>
                  <a:r>
                    <a:rPr lang="en-US" sz="1600" b="0" i="0" u="none" strike="noStrike" cap="none">
                      <a:solidFill>
                        <a:srgbClr val="3F3F3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B0F0"/>
                    </a:buClr>
                    <a:buSzPts val="2800"/>
                    <a:buFont typeface="Arial"/>
                    <a:buNone/>
                  </a:pPr>
                  <a:r>
                    <a:rPr lang="en-US" sz="2800">
                      <a:solidFill>
                        <a:schemeClr val="accent3"/>
                      </a:solidFill>
                      <a:latin typeface="Arial"/>
                      <a:ea typeface="Arial"/>
                      <a:cs typeface="Arial"/>
                      <a:sym typeface="Arial"/>
                    </a:rPr>
                    <a:t>Cloud</a:t>
                  </a:r>
                  <a:r>
                    <a:rPr lang="en-US" sz="2800" b="0" i="0" u="none" strike="noStrike" cap="none">
                      <a:solidFill>
                        <a:srgbClr val="3F3F3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a:solidFill>
                        <a:srgbClr val="3F3F3F"/>
                      </a:solidFill>
                      <a:latin typeface="Arial"/>
                      <a:ea typeface="Arial"/>
                      <a:cs typeface="Arial"/>
                      <a:sym typeface="Arial"/>
                    </a:rPr>
                    <a:t>Experience for Developers</a:t>
                  </a:r>
                  <a:endParaRPr sz="1600" b="0" i="0" u="none" strike="noStrike" cap="none">
                    <a:solidFill>
                      <a:srgbClr val="3F3F3F"/>
                    </a:solidFill>
                    <a:latin typeface="Arial"/>
                    <a:ea typeface="Arial"/>
                    <a:cs typeface="Arial"/>
                    <a:sym typeface="Arial"/>
                  </a:endParaRPr>
                </a:p>
              </p:txBody>
            </p:sp>
            <p:grpSp>
              <p:nvGrpSpPr>
                <p:cNvPr id="8102" name="Google Shape;8102;p70" descr="Solution Developer&#10;"/>
                <p:cNvGrpSpPr/>
                <p:nvPr/>
              </p:nvGrpSpPr>
              <p:grpSpPr>
                <a:xfrm>
                  <a:off x="4344065" y="1676675"/>
                  <a:ext cx="388710" cy="344209"/>
                  <a:chOff x="8450011" y="775576"/>
                  <a:chExt cx="592615" cy="524768"/>
                </a:xfrm>
              </p:grpSpPr>
              <p:sp>
                <p:nvSpPr>
                  <p:cNvPr id="8103" name="Google Shape;8103;p70"/>
                  <p:cNvSpPr/>
                  <p:nvPr/>
                </p:nvSpPr>
                <p:spPr>
                  <a:xfrm>
                    <a:off x="8704260" y="775576"/>
                    <a:ext cx="338366" cy="419561"/>
                  </a:xfrm>
                  <a:custGeom>
                    <a:avLst/>
                    <a:gdLst/>
                    <a:ahLst/>
                    <a:cxnLst/>
                    <a:rect l="l" t="t" r="r" b="b"/>
                    <a:pathLst>
                      <a:path w="338366" h="419561" extrusionOk="0">
                        <a:moveTo>
                          <a:pt x="0" y="0"/>
                        </a:moveTo>
                        <a:lnTo>
                          <a:pt x="0" y="39928"/>
                        </a:lnTo>
                        <a:lnTo>
                          <a:pt x="15812" y="39928"/>
                        </a:lnTo>
                        <a:lnTo>
                          <a:pt x="15812" y="15844"/>
                        </a:lnTo>
                        <a:lnTo>
                          <a:pt x="322555" y="15844"/>
                        </a:lnTo>
                        <a:lnTo>
                          <a:pt x="322555" y="403717"/>
                        </a:lnTo>
                        <a:lnTo>
                          <a:pt x="187208" y="403717"/>
                        </a:lnTo>
                        <a:lnTo>
                          <a:pt x="187208" y="419561"/>
                        </a:lnTo>
                        <a:lnTo>
                          <a:pt x="338366" y="419561"/>
                        </a:lnTo>
                        <a:lnTo>
                          <a:pt x="338366"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nvGrpSpPr>
                  <p:cNvPr id="8104" name="Google Shape;8104;p70"/>
                  <p:cNvGrpSpPr/>
                  <p:nvPr/>
                </p:nvGrpSpPr>
                <p:grpSpPr>
                  <a:xfrm>
                    <a:off x="8450011" y="834518"/>
                    <a:ext cx="418056" cy="465826"/>
                    <a:chOff x="8450011" y="834518"/>
                    <a:chExt cx="418056" cy="465826"/>
                  </a:xfrm>
                </p:grpSpPr>
                <p:sp>
                  <p:nvSpPr>
                    <p:cNvPr id="8105" name="Google Shape;8105;p70"/>
                    <p:cNvSpPr/>
                    <p:nvPr/>
                  </p:nvSpPr>
                  <p:spPr>
                    <a:xfrm>
                      <a:off x="8450011" y="1084860"/>
                      <a:ext cx="418056" cy="215484"/>
                    </a:xfrm>
                    <a:custGeom>
                      <a:avLst/>
                      <a:gdLst/>
                      <a:ahLst/>
                      <a:cxnLst/>
                      <a:rect l="l" t="t" r="r" b="b"/>
                      <a:pathLst>
                        <a:path w="418056" h="215484" extrusionOk="0">
                          <a:moveTo>
                            <a:pt x="209344" y="15844"/>
                          </a:moveTo>
                          <a:cubicBezTo>
                            <a:pt x="277650" y="15844"/>
                            <a:pt x="344058" y="48167"/>
                            <a:pt x="396552" y="106475"/>
                          </a:cubicBezTo>
                          <a:cubicBezTo>
                            <a:pt x="399715" y="110277"/>
                            <a:pt x="401612" y="115348"/>
                            <a:pt x="401612" y="120418"/>
                          </a:cubicBezTo>
                          <a:lnTo>
                            <a:pt x="401612" y="179993"/>
                          </a:lnTo>
                          <a:cubicBezTo>
                            <a:pt x="401612" y="190767"/>
                            <a:pt x="393390" y="199640"/>
                            <a:pt x="383271" y="199640"/>
                          </a:cubicBezTo>
                          <a:lnTo>
                            <a:pt x="34153" y="199640"/>
                          </a:lnTo>
                          <a:cubicBezTo>
                            <a:pt x="24033" y="199640"/>
                            <a:pt x="15812" y="190767"/>
                            <a:pt x="15812" y="179993"/>
                          </a:cubicBezTo>
                          <a:lnTo>
                            <a:pt x="15812" y="120418"/>
                          </a:lnTo>
                          <a:cubicBezTo>
                            <a:pt x="15812" y="115348"/>
                            <a:pt x="17709" y="110277"/>
                            <a:pt x="20871" y="106475"/>
                          </a:cubicBezTo>
                          <a:cubicBezTo>
                            <a:pt x="24033" y="102672"/>
                            <a:pt x="27828" y="98869"/>
                            <a:pt x="31623" y="95067"/>
                          </a:cubicBezTo>
                          <a:cubicBezTo>
                            <a:pt x="84117" y="43097"/>
                            <a:pt x="145466" y="15844"/>
                            <a:pt x="209344" y="15844"/>
                          </a:cubicBezTo>
                          <a:moveTo>
                            <a:pt x="209344" y="0"/>
                          </a:moveTo>
                          <a:cubicBezTo>
                            <a:pt x="142936" y="0"/>
                            <a:pt x="76528" y="27886"/>
                            <a:pt x="20239" y="83659"/>
                          </a:cubicBezTo>
                          <a:cubicBezTo>
                            <a:pt x="16444" y="87461"/>
                            <a:pt x="12649" y="91264"/>
                            <a:pt x="8854" y="95701"/>
                          </a:cubicBezTo>
                          <a:cubicBezTo>
                            <a:pt x="3162" y="102038"/>
                            <a:pt x="0" y="110911"/>
                            <a:pt x="0" y="120418"/>
                          </a:cubicBezTo>
                          <a:lnTo>
                            <a:pt x="0" y="179993"/>
                          </a:lnTo>
                          <a:cubicBezTo>
                            <a:pt x="0" y="199640"/>
                            <a:pt x="15179" y="215485"/>
                            <a:pt x="34153" y="215485"/>
                          </a:cubicBezTo>
                          <a:lnTo>
                            <a:pt x="383903" y="215485"/>
                          </a:lnTo>
                          <a:cubicBezTo>
                            <a:pt x="402877" y="215485"/>
                            <a:pt x="418056" y="199640"/>
                            <a:pt x="418056" y="179993"/>
                          </a:cubicBezTo>
                          <a:lnTo>
                            <a:pt x="418056" y="120418"/>
                          </a:lnTo>
                          <a:cubicBezTo>
                            <a:pt x="418056" y="111545"/>
                            <a:pt x="414894" y="102672"/>
                            <a:pt x="409202" y="95701"/>
                          </a:cubicBezTo>
                          <a:cubicBezTo>
                            <a:pt x="351648" y="32323"/>
                            <a:pt x="280812" y="0"/>
                            <a:pt x="209344" y="0"/>
                          </a:cubicBezTo>
                          <a:lnTo>
                            <a:pt x="209344"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106" name="Google Shape;8106;p70"/>
                    <p:cNvSpPr/>
                    <p:nvPr/>
                  </p:nvSpPr>
                  <p:spPr>
                    <a:xfrm>
                      <a:off x="8539820" y="834518"/>
                      <a:ext cx="237804" cy="238300"/>
                    </a:xfrm>
                    <a:custGeom>
                      <a:avLst/>
                      <a:gdLst/>
                      <a:ahLst/>
                      <a:cxnLst/>
                      <a:rect l="l" t="t" r="r" b="b"/>
                      <a:pathLst>
                        <a:path w="237804" h="238300" extrusionOk="0">
                          <a:moveTo>
                            <a:pt x="118902" y="15844"/>
                          </a:moveTo>
                          <a:cubicBezTo>
                            <a:pt x="175824" y="15844"/>
                            <a:pt x="221993" y="62110"/>
                            <a:pt x="221993" y="119150"/>
                          </a:cubicBezTo>
                          <a:cubicBezTo>
                            <a:pt x="221993" y="176190"/>
                            <a:pt x="175824" y="222456"/>
                            <a:pt x="118902" y="222456"/>
                          </a:cubicBezTo>
                          <a:cubicBezTo>
                            <a:pt x="61981" y="222456"/>
                            <a:pt x="15812" y="176190"/>
                            <a:pt x="15812" y="119150"/>
                          </a:cubicBezTo>
                          <a:cubicBezTo>
                            <a:pt x="15812" y="62110"/>
                            <a:pt x="62614" y="15844"/>
                            <a:pt x="118902" y="15844"/>
                          </a:cubicBezTo>
                          <a:moveTo>
                            <a:pt x="118902" y="0"/>
                          </a:moveTo>
                          <a:cubicBezTo>
                            <a:pt x="53127" y="0"/>
                            <a:pt x="0" y="53237"/>
                            <a:pt x="0" y="119150"/>
                          </a:cubicBezTo>
                          <a:cubicBezTo>
                            <a:pt x="0" y="185063"/>
                            <a:pt x="53127" y="238301"/>
                            <a:pt x="118902" y="238301"/>
                          </a:cubicBezTo>
                          <a:cubicBezTo>
                            <a:pt x="184678" y="238301"/>
                            <a:pt x="237805" y="185063"/>
                            <a:pt x="237805" y="119150"/>
                          </a:cubicBezTo>
                          <a:cubicBezTo>
                            <a:pt x="237805" y="53237"/>
                            <a:pt x="184678" y="0"/>
                            <a:pt x="118902" y="0"/>
                          </a:cubicBezTo>
                          <a:lnTo>
                            <a:pt x="118902"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8107" name="Google Shape;8107;p70"/>
                  <p:cNvGrpSpPr/>
                  <p:nvPr/>
                </p:nvGrpSpPr>
                <p:grpSpPr>
                  <a:xfrm>
                    <a:off x="8791540" y="899163"/>
                    <a:ext cx="209976" cy="139431"/>
                    <a:chOff x="8791540" y="899163"/>
                    <a:chExt cx="209976" cy="139431"/>
                  </a:xfrm>
                </p:grpSpPr>
                <p:sp>
                  <p:nvSpPr>
                    <p:cNvPr id="8108" name="Google Shape;8108;p70"/>
                    <p:cNvSpPr/>
                    <p:nvPr/>
                  </p:nvSpPr>
                  <p:spPr>
                    <a:xfrm>
                      <a:off x="8791540" y="923247"/>
                      <a:ext cx="63878" cy="88095"/>
                    </a:xfrm>
                    <a:custGeom>
                      <a:avLst/>
                      <a:gdLst/>
                      <a:ahLst/>
                      <a:cxnLst/>
                      <a:rect l="l" t="t" r="r" b="b"/>
                      <a:pathLst>
                        <a:path w="63878" h="88095" extrusionOk="0">
                          <a:moveTo>
                            <a:pt x="0" y="52604"/>
                          </a:moveTo>
                          <a:lnTo>
                            <a:pt x="0" y="36125"/>
                          </a:lnTo>
                          <a:lnTo>
                            <a:pt x="63878" y="0"/>
                          </a:lnTo>
                          <a:lnTo>
                            <a:pt x="63878" y="17112"/>
                          </a:lnTo>
                          <a:lnTo>
                            <a:pt x="13914" y="43731"/>
                          </a:lnTo>
                          <a:lnTo>
                            <a:pt x="63878" y="70349"/>
                          </a:lnTo>
                          <a:lnTo>
                            <a:pt x="63878" y="88095"/>
                          </a:lnTo>
                          <a:lnTo>
                            <a:pt x="0" y="5260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109" name="Google Shape;8109;p70"/>
                    <p:cNvSpPr/>
                    <p:nvPr/>
                  </p:nvSpPr>
                  <p:spPr>
                    <a:xfrm>
                      <a:off x="8866802" y="899163"/>
                      <a:ext cx="59451" cy="139431"/>
                    </a:xfrm>
                    <a:custGeom>
                      <a:avLst/>
                      <a:gdLst/>
                      <a:ahLst/>
                      <a:cxnLst/>
                      <a:rect l="l" t="t" r="r" b="b"/>
                      <a:pathLst>
                        <a:path w="59451" h="139431" extrusionOk="0">
                          <a:moveTo>
                            <a:pt x="43007" y="0"/>
                          </a:moveTo>
                          <a:lnTo>
                            <a:pt x="59451" y="0"/>
                          </a:lnTo>
                          <a:lnTo>
                            <a:pt x="16444" y="139431"/>
                          </a:lnTo>
                          <a:lnTo>
                            <a:pt x="0" y="139431"/>
                          </a:lnTo>
                          <a:lnTo>
                            <a:pt x="43007"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110" name="Google Shape;8110;p70"/>
                    <p:cNvSpPr/>
                    <p:nvPr/>
                  </p:nvSpPr>
                  <p:spPr>
                    <a:xfrm>
                      <a:off x="8937638" y="923880"/>
                      <a:ext cx="63878" cy="88728"/>
                    </a:xfrm>
                    <a:custGeom>
                      <a:avLst/>
                      <a:gdLst/>
                      <a:ahLst/>
                      <a:cxnLst/>
                      <a:rect l="l" t="t" r="r" b="b"/>
                      <a:pathLst>
                        <a:path w="63878" h="88728" extrusionOk="0">
                          <a:moveTo>
                            <a:pt x="0" y="70349"/>
                          </a:moveTo>
                          <a:lnTo>
                            <a:pt x="49964" y="43731"/>
                          </a:lnTo>
                          <a:lnTo>
                            <a:pt x="0" y="17112"/>
                          </a:lnTo>
                          <a:lnTo>
                            <a:pt x="0" y="0"/>
                          </a:lnTo>
                          <a:lnTo>
                            <a:pt x="63878" y="36125"/>
                          </a:lnTo>
                          <a:lnTo>
                            <a:pt x="63878" y="52604"/>
                          </a:lnTo>
                          <a:lnTo>
                            <a:pt x="0" y="88729"/>
                          </a:lnTo>
                          <a:lnTo>
                            <a:pt x="0" y="703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grpSp>
          <p:sp>
            <p:nvSpPr>
              <p:cNvPr id="8111" name="Google Shape;8111;p70"/>
              <p:cNvSpPr txBox="1"/>
              <p:nvPr/>
            </p:nvSpPr>
            <p:spPr>
              <a:xfrm>
                <a:off x="3139918" y="4023326"/>
                <a:ext cx="3286068"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a:solidFill>
                      <a:schemeClr val="dk1"/>
                    </a:solidFill>
                    <a:latin typeface="Arial"/>
                    <a:ea typeface="Arial"/>
                    <a:cs typeface="Arial"/>
                    <a:sym typeface="Arial"/>
                  </a:rPr>
                  <a:t>Infrastructure for Kubernetes</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Private AI</a:t>
                </a:r>
                <a:endParaRPr/>
              </a:p>
              <a:p>
                <a:pPr marL="342900" marR="0" lvl="0" indent="-268605" algn="l" rtl="0">
                  <a:lnSpc>
                    <a:spcPct val="100000"/>
                  </a:lnSpc>
                  <a:spcBef>
                    <a:spcPts val="600"/>
                  </a:spcBef>
                  <a:spcAft>
                    <a:spcPts val="0"/>
                  </a:spcAft>
                  <a:buClr>
                    <a:srgbClr val="666666"/>
                  </a:buClr>
                  <a:buSzPts val="1170"/>
                  <a:buFont typeface="Arial"/>
                  <a:buNone/>
                </a:pPr>
                <a:endParaRPr sz="1800">
                  <a:solidFill>
                    <a:schemeClr val="dk1"/>
                  </a:solidFill>
                  <a:latin typeface="Arial"/>
                  <a:ea typeface="Arial"/>
                  <a:cs typeface="Arial"/>
                  <a:sym typeface="Arial"/>
                </a:endParaRPr>
              </a:p>
              <a:p>
                <a:pPr marL="342900" marR="0" lvl="0" indent="-268605" algn="l" rtl="0">
                  <a:lnSpc>
                    <a:spcPct val="100000"/>
                  </a:lnSpc>
                  <a:spcBef>
                    <a:spcPts val="600"/>
                  </a:spcBef>
                  <a:spcAft>
                    <a:spcPts val="0"/>
                  </a:spcAft>
                  <a:buClr>
                    <a:srgbClr val="666666"/>
                  </a:buClr>
                  <a:buSzPts val="1170"/>
                  <a:buFont typeface="Arial"/>
                  <a:buNone/>
                </a:pPr>
                <a:endParaRPr sz="180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grpSp>
        <p:grpSp>
          <p:nvGrpSpPr>
            <p:cNvPr id="8112" name="Google Shape;8112;p70"/>
            <p:cNvGrpSpPr/>
            <p:nvPr/>
          </p:nvGrpSpPr>
          <p:grpSpPr>
            <a:xfrm>
              <a:off x="5336894" y="2294535"/>
              <a:ext cx="1287766" cy="1290645"/>
              <a:chOff x="8608478" y="1596058"/>
              <a:chExt cx="1288152" cy="1291032"/>
            </a:xfrm>
          </p:grpSpPr>
          <p:sp>
            <p:nvSpPr>
              <p:cNvPr id="8113" name="Google Shape;8113;p70"/>
              <p:cNvSpPr/>
              <p:nvPr/>
            </p:nvSpPr>
            <p:spPr>
              <a:xfrm>
                <a:off x="8608478" y="1596058"/>
                <a:ext cx="1288152" cy="1291032"/>
              </a:xfrm>
              <a:prstGeom prst="ellipse">
                <a:avLst/>
              </a:prstGeom>
              <a:solidFill>
                <a:srgbClr val="F2F2F2">
                  <a:alpha val="48627"/>
                </a:srgb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8114" name="Google Shape;8114;p70"/>
              <p:cNvGrpSpPr/>
              <p:nvPr/>
            </p:nvGrpSpPr>
            <p:grpSpPr>
              <a:xfrm>
                <a:off x="8679268" y="1667007"/>
                <a:ext cx="1146570" cy="1149134"/>
                <a:chOff x="8679268" y="1667007"/>
                <a:chExt cx="1146570" cy="1149134"/>
              </a:xfrm>
            </p:grpSpPr>
            <p:sp>
              <p:nvSpPr>
                <p:cNvPr id="8115" name="Google Shape;8115;p70"/>
                <p:cNvSpPr/>
                <p:nvPr/>
              </p:nvSpPr>
              <p:spPr>
                <a:xfrm>
                  <a:off x="8679268" y="1667007"/>
                  <a:ext cx="1146570" cy="1149134"/>
                </a:xfrm>
                <a:prstGeom prst="ellipse">
                  <a:avLst/>
                </a:prstGeom>
                <a:gradFill>
                  <a:gsLst>
                    <a:gs pos="0">
                      <a:schemeClr val="accent2"/>
                    </a:gs>
                    <a:gs pos="71000">
                      <a:schemeClr val="accent3"/>
                    </a:gs>
                    <a:gs pos="100000">
                      <a:schemeClr val="accent3"/>
                    </a:gs>
                  </a:gsLst>
                  <a:lin ang="189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8116" name="Google Shape;8116;p70"/>
                <p:cNvGrpSpPr/>
                <p:nvPr/>
              </p:nvGrpSpPr>
              <p:grpSpPr>
                <a:xfrm>
                  <a:off x="8942231" y="1952085"/>
                  <a:ext cx="620645" cy="578979"/>
                  <a:chOff x="1854219" y="4375174"/>
                  <a:chExt cx="543307" cy="506834"/>
                </a:xfrm>
              </p:grpSpPr>
              <p:sp>
                <p:nvSpPr>
                  <p:cNvPr id="8117" name="Google Shape;8117;p70"/>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118" name="Google Shape;8118;p70"/>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119" name="Google Shape;8119;p70"/>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120" name="Google Shape;8120;p70"/>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121" name="Google Shape;8121;p70"/>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122" name="Google Shape;8122;p70"/>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grpSp>
          </p:grpSp>
        </p:grpSp>
      </p:grpSp>
      <p:pic>
        <p:nvPicPr>
          <p:cNvPr id="8123" name="Google Shape;8123;p70"/>
          <p:cNvPicPr preferRelativeResize="0"/>
          <p:nvPr/>
        </p:nvPicPr>
        <p:blipFill rotWithShape="1">
          <a:blip r:embed="rId3">
            <a:alphaModFix/>
          </a:blip>
          <a:srcRect/>
          <a:stretch/>
        </p:blipFill>
        <p:spPr>
          <a:xfrm>
            <a:off x="9695493" y="3971083"/>
            <a:ext cx="391969" cy="39196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93"/>
                                        </p:tgtEl>
                                        <p:attrNameLst>
                                          <p:attrName>style.visibility</p:attrName>
                                        </p:attrNameLst>
                                      </p:cBhvr>
                                      <p:to>
                                        <p:strVal val="visible"/>
                                      </p:to>
                                    </p:set>
                                    <p:animEffect transition="in" filter="fade">
                                      <p:cBhvr>
                                        <p:cTn id="7" dur="500"/>
                                        <p:tgtEl>
                                          <p:spTgt spid="8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128"/>
        <p:cNvGrpSpPr/>
        <p:nvPr/>
      </p:nvGrpSpPr>
      <p:grpSpPr>
        <a:xfrm>
          <a:off x="0" y="0"/>
          <a:ext cx="0" cy="0"/>
          <a:chOff x="0" y="0"/>
          <a:chExt cx="0" cy="0"/>
        </a:xfrm>
      </p:grpSpPr>
      <p:sp>
        <p:nvSpPr>
          <p:cNvPr id="8129" name="Google Shape;8129;p71"/>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Infrastructure for Kubernetes</a:t>
            </a:r>
            <a:endParaRPr/>
          </a:p>
        </p:txBody>
      </p:sp>
      <p:sp>
        <p:nvSpPr>
          <p:cNvPr id="8130" name="Google Shape;8130;p71"/>
          <p:cNvSpPr txBox="1"/>
          <p:nvPr/>
        </p:nvSpPr>
        <p:spPr>
          <a:xfrm>
            <a:off x="490252" y="2308659"/>
            <a:ext cx="7315200" cy="432278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Supervisor, NSX Projects and VPC Integration</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Asynchronous Supervisor Releases</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Deploy Developer-ready Infrastructure at scale</a:t>
            </a:r>
            <a:endParaRPr sz="2000">
              <a:solidFill>
                <a:srgbClr val="E68C28"/>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135"/>
        <p:cNvGrpSpPr/>
        <p:nvPr/>
      </p:nvGrpSpPr>
      <p:grpSpPr>
        <a:xfrm>
          <a:off x="0" y="0"/>
          <a:ext cx="0" cy="0"/>
          <a:chOff x="0" y="0"/>
          <a:chExt cx="0" cy="0"/>
        </a:xfrm>
      </p:grpSpPr>
      <p:grpSp>
        <p:nvGrpSpPr>
          <p:cNvPr id="8136" name="Google Shape;8136;p72"/>
          <p:cNvGrpSpPr/>
          <p:nvPr/>
        </p:nvGrpSpPr>
        <p:grpSpPr>
          <a:xfrm rot="10800000">
            <a:off x="-161444" y="3138279"/>
            <a:ext cx="8753262" cy="658914"/>
            <a:chOff x="6457" y="3088548"/>
            <a:chExt cx="12175910" cy="421627"/>
          </a:xfrm>
        </p:grpSpPr>
        <p:pic>
          <p:nvPicPr>
            <p:cNvPr id="8137" name="Google Shape;8137;p72"/>
            <p:cNvPicPr preferRelativeResize="0"/>
            <p:nvPr/>
          </p:nvPicPr>
          <p:blipFill rotWithShape="1">
            <a:blip r:embed="rId3">
              <a:alphaModFix amt="34000"/>
            </a:blip>
            <a:srcRect t="50513"/>
            <a:stretch/>
          </p:blipFill>
          <p:spPr>
            <a:xfrm>
              <a:off x="6457" y="3101683"/>
              <a:ext cx="12175910" cy="408492"/>
            </a:xfrm>
            <a:prstGeom prst="rect">
              <a:avLst/>
            </a:prstGeom>
            <a:noFill/>
            <a:ln>
              <a:noFill/>
            </a:ln>
          </p:spPr>
        </p:pic>
        <p:sp>
          <p:nvSpPr>
            <p:cNvPr id="8138" name="Google Shape;8138;p72"/>
            <p:cNvSpPr/>
            <p:nvPr/>
          </p:nvSpPr>
          <p:spPr>
            <a:xfrm rot="-5400000" flipH="1">
              <a:off x="6246689" y="-2240202"/>
              <a:ext cx="18300" cy="10675800"/>
            </a:xfrm>
            <a:prstGeom prst="rect">
              <a:avLst/>
            </a:prstGeom>
            <a:gradFill>
              <a:gsLst>
                <a:gs pos="0">
                  <a:srgbClr val="6C4B8F">
                    <a:alpha val="0"/>
                  </a:srgbClr>
                </a:gs>
                <a:gs pos="10000">
                  <a:srgbClr val="6C4B8F"/>
                </a:gs>
                <a:gs pos="22000">
                  <a:srgbClr val="005B84"/>
                </a:gs>
                <a:gs pos="41000">
                  <a:srgbClr val="005B84"/>
                </a:gs>
                <a:gs pos="60000">
                  <a:srgbClr val="41D1FE"/>
                </a:gs>
                <a:gs pos="90000">
                  <a:srgbClr val="007A86"/>
                </a:gs>
                <a:gs pos="100000">
                  <a:srgbClr val="007A86">
                    <a:alpha val="0"/>
                  </a:srgbClr>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8139" name="Google Shape;8139;p72"/>
          <p:cNvSpPr/>
          <p:nvPr/>
        </p:nvSpPr>
        <p:spPr>
          <a:xfrm>
            <a:off x="2307644" y="1850365"/>
            <a:ext cx="1051500" cy="864300"/>
          </a:xfrm>
          <a:prstGeom prst="roundRect">
            <a:avLst>
              <a:gd name="adj" fmla="val 6270"/>
            </a:avLst>
          </a:prstGeom>
          <a:solidFill>
            <a:schemeClr val="lt1"/>
          </a:solidFill>
          <a:ln w="12700" cap="flat" cmpd="sng">
            <a:solidFill>
              <a:srgbClr val="005C8A">
                <a:alpha val="25098"/>
              </a:srgbClr>
            </a:solidFill>
            <a:prstDash val="dot"/>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nvGrpSpPr>
          <p:cNvPr id="8140" name="Google Shape;8140;p72"/>
          <p:cNvGrpSpPr/>
          <p:nvPr/>
        </p:nvGrpSpPr>
        <p:grpSpPr>
          <a:xfrm>
            <a:off x="4841368" y="1853018"/>
            <a:ext cx="1191489" cy="864294"/>
            <a:chOff x="5203628" y="3571756"/>
            <a:chExt cx="1191489" cy="864294"/>
          </a:xfrm>
        </p:grpSpPr>
        <p:grpSp>
          <p:nvGrpSpPr>
            <p:cNvPr id="8141" name="Google Shape;8141;p72"/>
            <p:cNvGrpSpPr/>
            <p:nvPr/>
          </p:nvGrpSpPr>
          <p:grpSpPr>
            <a:xfrm>
              <a:off x="5203628" y="3571756"/>
              <a:ext cx="1191489" cy="864294"/>
              <a:chOff x="5502902" y="3307853"/>
              <a:chExt cx="1489734" cy="1020900"/>
            </a:xfrm>
          </p:grpSpPr>
          <p:sp>
            <p:nvSpPr>
              <p:cNvPr id="8142" name="Google Shape;8142;p72"/>
              <p:cNvSpPr/>
              <p:nvPr/>
            </p:nvSpPr>
            <p:spPr>
              <a:xfrm>
                <a:off x="5680736" y="3307853"/>
                <a:ext cx="1311900" cy="1020900"/>
              </a:xfrm>
              <a:prstGeom prst="roundRect">
                <a:avLst>
                  <a:gd name="adj" fmla="val 6270"/>
                </a:avLst>
              </a:prstGeom>
              <a:solidFill>
                <a:schemeClr val="lt1"/>
              </a:solidFill>
              <a:ln w="12700" cap="flat" cmpd="sng">
                <a:solidFill>
                  <a:srgbClr val="005C8A">
                    <a:alpha val="25098"/>
                  </a:srgbClr>
                </a:solidFill>
                <a:prstDash val="dot"/>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8143" name="Google Shape;8143;p72"/>
              <p:cNvSpPr/>
              <p:nvPr/>
            </p:nvSpPr>
            <p:spPr>
              <a:xfrm>
                <a:off x="5502902" y="3430697"/>
                <a:ext cx="1311901" cy="40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Operators</a:t>
                </a:r>
                <a:endParaRPr sz="1400" b="0" i="0" u="none" strike="noStrike" cap="none">
                  <a:solidFill>
                    <a:srgbClr val="000000"/>
                  </a:solidFill>
                  <a:latin typeface="Arial"/>
                  <a:ea typeface="Arial"/>
                  <a:cs typeface="Arial"/>
                  <a:sym typeface="Arial"/>
                </a:endParaRPr>
              </a:p>
            </p:txBody>
          </p:sp>
        </p:grpSp>
        <p:grpSp>
          <p:nvGrpSpPr>
            <p:cNvPr id="8144" name="Google Shape;8144;p72"/>
            <p:cNvGrpSpPr/>
            <p:nvPr/>
          </p:nvGrpSpPr>
          <p:grpSpPr>
            <a:xfrm>
              <a:off x="5675839" y="4003193"/>
              <a:ext cx="340454" cy="340427"/>
              <a:chOff x="5622261" y="3790312"/>
              <a:chExt cx="340454" cy="340427"/>
            </a:xfrm>
          </p:grpSpPr>
          <p:sp>
            <p:nvSpPr>
              <p:cNvPr id="8145" name="Google Shape;8145;p72"/>
              <p:cNvSpPr/>
              <p:nvPr/>
            </p:nvSpPr>
            <p:spPr>
              <a:xfrm>
                <a:off x="5693714" y="3861767"/>
                <a:ext cx="197089" cy="197089"/>
              </a:xfrm>
              <a:custGeom>
                <a:avLst/>
                <a:gdLst/>
                <a:ahLst/>
                <a:cxnLst/>
                <a:rect l="l" t="t" r="r" b="b"/>
                <a:pathLst>
                  <a:path w="640940" h="640940" extrusionOk="0">
                    <a:moveTo>
                      <a:pt x="320471" y="640941"/>
                    </a:moveTo>
                    <a:cubicBezTo>
                      <a:pt x="312403" y="640941"/>
                      <a:pt x="305859" y="634397"/>
                      <a:pt x="305859" y="626329"/>
                    </a:cubicBezTo>
                    <a:cubicBezTo>
                      <a:pt x="305859" y="618262"/>
                      <a:pt x="312403" y="611718"/>
                      <a:pt x="320471" y="611718"/>
                    </a:cubicBezTo>
                    <a:cubicBezTo>
                      <a:pt x="481109" y="611718"/>
                      <a:pt x="611807" y="481020"/>
                      <a:pt x="611807" y="320381"/>
                    </a:cubicBezTo>
                    <a:cubicBezTo>
                      <a:pt x="611807" y="159742"/>
                      <a:pt x="481109" y="29044"/>
                      <a:pt x="320471" y="29044"/>
                    </a:cubicBezTo>
                    <a:cubicBezTo>
                      <a:pt x="159832" y="29044"/>
                      <a:pt x="29134" y="159742"/>
                      <a:pt x="29134" y="320381"/>
                    </a:cubicBezTo>
                    <a:cubicBezTo>
                      <a:pt x="29134" y="328449"/>
                      <a:pt x="22590" y="334993"/>
                      <a:pt x="14522" y="334993"/>
                    </a:cubicBezTo>
                    <a:cubicBezTo>
                      <a:pt x="6454" y="334993"/>
                      <a:pt x="0" y="328538"/>
                      <a:pt x="0" y="320471"/>
                    </a:cubicBezTo>
                    <a:cubicBezTo>
                      <a:pt x="0" y="143786"/>
                      <a:pt x="143786" y="0"/>
                      <a:pt x="320471" y="0"/>
                    </a:cubicBezTo>
                    <a:cubicBezTo>
                      <a:pt x="497155" y="0"/>
                      <a:pt x="640941" y="143786"/>
                      <a:pt x="640941" y="320471"/>
                    </a:cubicBezTo>
                    <a:cubicBezTo>
                      <a:pt x="640941" y="497155"/>
                      <a:pt x="497155" y="640941"/>
                      <a:pt x="320471" y="64094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sp>
            <p:nvSpPr>
              <p:cNvPr id="8146" name="Google Shape;8146;p72"/>
              <p:cNvSpPr/>
              <p:nvPr/>
            </p:nvSpPr>
            <p:spPr>
              <a:xfrm>
                <a:off x="5622261" y="3790312"/>
                <a:ext cx="340454" cy="340427"/>
              </a:xfrm>
              <a:custGeom>
                <a:avLst/>
                <a:gdLst/>
                <a:ahLst/>
                <a:cxnLst/>
                <a:rect l="l" t="t" r="r" b="b"/>
                <a:pathLst>
                  <a:path w="1107169" h="1107079" extrusionOk="0">
                    <a:moveTo>
                      <a:pt x="643003" y="1107080"/>
                    </a:moveTo>
                    <a:lnTo>
                      <a:pt x="458699" y="1107080"/>
                    </a:lnTo>
                    <a:lnTo>
                      <a:pt x="454754" y="1098833"/>
                    </a:lnTo>
                    <a:cubicBezTo>
                      <a:pt x="448659" y="1086193"/>
                      <a:pt x="442832" y="1067458"/>
                      <a:pt x="437005" y="1041552"/>
                    </a:cubicBezTo>
                    <a:cubicBezTo>
                      <a:pt x="432165" y="1020575"/>
                      <a:pt x="427951" y="1004709"/>
                      <a:pt x="424455" y="994221"/>
                    </a:cubicBezTo>
                    <a:cubicBezTo>
                      <a:pt x="363947" y="967507"/>
                      <a:pt x="340819" y="957019"/>
                      <a:pt x="331496" y="952537"/>
                    </a:cubicBezTo>
                    <a:cubicBezTo>
                      <a:pt x="319216" y="957019"/>
                      <a:pt x="304962" y="964190"/>
                      <a:pt x="288916" y="974051"/>
                    </a:cubicBezTo>
                    <a:cubicBezTo>
                      <a:pt x="265520" y="988483"/>
                      <a:pt x="249384" y="997717"/>
                      <a:pt x="239613" y="1002019"/>
                    </a:cubicBezTo>
                    <a:lnTo>
                      <a:pt x="232352" y="1005246"/>
                    </a:lnTo>
                    <a:lnTo>
                      <a:pt x="225719" y="1000944"/>
                    </a:lnTo>
                    <a:cubicBezTo>
                      <a:pt x="210031" y="990724"/>
                      <a:pt x="169961" y="952716"/>
                      <a:pt x="103178" y="884678"/>
                    </a:cubicBezTo>
                    <a:lnTo>
                      <a:pt x="97262" y="878672"/>
                    </a:lnTo>
                    <a:lnTo>
                      <a:pt x="99503" y="870604"/>
                    </a:lnTo>
                    <a:cubicBezTo>
                      <a:pt x="101564" y="862895"/>
                      <a:pt x="109184" y="844608"/>
                      <a:pt x="149613" y="774687"/>
                    </a:cubicBezTo>
                    <a:cubicBezTo>
                      <a:pt x="146654" y="767516"/>
                      <a:pt x="140738" y="753800"/>
                      <a:pt x="128995" y="727804"/>
                    </a:cubicBezTo>
                    <a:cubicBezTo>
                      <a:pt x="120748" y="708800"/>
                      <a:pt x="114921" y="691230"/>
                      <a:pt x="111604" y="675274"/>
                    </a:cubicBezTo>
                    <a:cubicBezTo>
                      <a:pt x="98068" y="672943"/>
                      <a:pt x="82291" y="669358"/>
                      <a:pt x="64453" y="664517"/>
                    </a:cubicBezTo>
                    <a:cubicBezTo>
                      <a:pt x="38994" y="657077"/>
                      <a:pt x="21335" y="652326"/>
                      <a:pt x="11833" y="650443"/>
                    </a:cubicBezTo>
                    <a:lnTo>
                      <a:pt x="0" y="648202"/>
                    </a:lnTo>
                    <a:lnTo>
                      <a:pt x="0" y="454037"/>
                    </a:lnTo>
                    <a:lnTo>
                      <a:pt x="11295" y="451438"/>
                    </a:lnTo>
                    <a:cubicBezTo>
                      <a:pt x="19452" y="449555"/>
                      <a:pt x="36484" y="444804"/>
                      <a:pt x="61853" y="437364"/>
                    </a:cubicBezTo>
                    <a:cubicBezTo>
                      <a:pt x="80050" y="432075"/>
                      <a:pt x="95738" y="428310"/>
                      <a:pt x="109363" y="426069"/>
                    </a:cubicBezTo>
                    <a:cubicBezTo>
                      <a:pt x="114204" y="416298"/>
                      <a:pt x="121286" y="400431"/>
                      <a:pt x="130340" y="378828"/>
                    </a:cubicBezTo>
                    <a:cubicBezTo>
                      <a:pt x="138856" y="358389"/>
                      <a:pt x="146654" y="342433"/>
                      <a:pt x="154005" y="330421"/>
                    </a:cubicBezTo>
                    <a:cubicBezTo>
                      <a:pt x="124961" y="276456"/>
                      <a:pt x="110080" y="255211"/>
                      <a:pt x="102640" y="246874"/>
                    </a:cubicBezTo>
                    <a:lnTo>
                      <a:pt x="95021" y="238269"/>
                    </a:lnTo>
                    <a:lnTo>
                      <a:pt x="101564" y="228856"/>
                    </a:lnTo>
                    <a:cubicBezTo>
                      <a:pt x="112232" y="213438"/>
                      <a:pt x="152123" y="172202"/>
                      <a:pt x="223478" y="102730"/>
                    </a:cubicBezTo>
                    <a:lnTo>
                      <a:pt x="230828" y="95558"/>
                    </a:lnTo>
                    <a:lnTo>
                      <a:pt x="240062" y="100041"/>
                    </a:lnTo>
                    <a:cubicBezTo>
                      <a:pt x="279773" y="119314"/>
                      <a:pt x="311506" y="137332"/>
                      <a:pt x="334544" y="153557"/>
                    </a:cubicBezTo>
                    <a:cubicBezTo>
                      <a:pt x="390750" y="129174"/>
                      <a:pt x="416656" y="119762"/>
                      <a:pt x="430013" y="116266"/>
                    </a:cubicBezTo>
                    <a:cubicBezTo>
                      <a:pt x="432344" y="107929"/>
                      <a:pt x="436378" y="93228"/>
                      <a:pt x="443280" y="67232"/>
                    </a:cubicBezTo>
                    <a:cubicBezTo>
                      <a:pt x="449286" y="44283"/>
                      <a:pt x="454754" y="25100"/>
                      <a:pt x="459326" y="10309"/>
                    </a:cubicBezTo>
                    <a:lnTo>
                      <a:pt x="462374" y="0"/>
                    </a:lnTo>
                    <a:lnTo>
                      <a:pt x="649098" y="0"/>
                    </a:lnTo>
                    <a:lnTo>
                      <a:pt x="652774" y="9143"/>
                    </a:lnTo>
                    <a:cubicBezTo>
                      <a:pt x="658869" y="24203"/>
                      <a:pt x="668820" y="58178"/>
                      <a:pt x="683252" y="113039"/>
                    </a:cubicBezTo>
                    <a:cubicBezTo>
                      <a:pt x="690603" y="116087"/>
                      <a:pt x="704318" y="121465"/>
                      <a:pt x="729776" y="131057"/>
                    </a:cubicBezTo>
                    <a:cubicBezTo>
                      <a:pt x="750125" y="138676"/>
                      <a:pt x="765902" y="146296"/>
                      <a:pt x="777824" y="154184"/>
                    </a:cubicBezTo>
                    <a:cubicBezTo>
                      <a:pt x="789568" y="150061"/>
                      <a:pt x="802924" y="143069"/>
                      <a:pt x="817895" y="133208"/>
                    </a:cubicBezTo>
                    <a:cubicBezTo>
                      <a:pt x="841829" y="118417"/>
                      <a:pt x="858323" y="109184"/>
                      <a:pt x="868632" y="104881"/>
                    </a:cubicBezTo>
                    <a:lnTo>
                      <a:pt x="875534" y="102013"/>
                    </a:lnTo>
                    <a:lnTo>
                      <a:pt x="881899" y="105867"/>
                    </a:lnTo>
                    <a:cubicBezTo>
                      <a:pt x="901351" y="117700"/>
                      <a:pt x="923045" y="136704"/>
                      <a:pt x="948413" y="164045"/>
                    </a:cubicBezTo>
                    <a:cubicBezTo>
                      <a:pt x="975844" y="192282"/>
                      <a:pt x="995924" y="211645"/>
                      <a:pt x="1008025" y="221147"/>
                    </a:cubicBezTo>
                    <a:lnTo>
                      <a:pt x="1017617" y="228767"/>
                    </a:lnTo>
                    <a:lnTo>
                      <a:pt x="1011790" y="239524"/>
                    </a:lnTo>
                    <a:cubicBezTo>
                      <a:pt x="988932" y="281745"/>
                      <a:pt x="971182" y="312492"/>
                      <a:pt x="957736" y="333110"/>
                    </a:cubicBezTo>
                    <a:cubicBezTo>
                      <a:pt x="978981" y="394067"/>
                      <a:pt x="988394" y="420153"/>
                      <a:pt x="992607" y="430999"/>
                    </a:cubicBezTo>
                    <a:cubicBezTo>
                      <a:pt x="1007308" y="433061"/>
                      <a:pt x="1024251" y="436916"/>
                      <a:pt x="1043165" y="442563"/>
                    </a:cubicBezTo>
                    <a:cubicBezTo>
                      <a:pt x="1068355" y="449914"/>
                      <a:pt x="1086014" y="454665"/>
                      <a:pt x="1095426" y="456547"/>
                    </a:cubicBezTo>
                    <a:lnTo>
                      <a:pt x="1107170" y="458878"/>
                    </a:lnTo>
                    <a:lnTo>
                      <a:pt x="1107170" y="653043"/>
                    </a:lnTo>
                    <a:lnTo>
                      <a:pt x="1095875" y="655642"/>
                    </a:lnTo>
                    <a:cubicBezTo>
                      <a:pt x="1090048" y="656987"/>
                      <a:pt x="1076512" y="660573"/>
                      <a:pt x="1045317" y="669716"/>
                    </a:cubicBezTo>
                    <a:cubicBezTo>
                      <a:pt x="1027298" y="674915"/>
                      <a:pt x="1011253" y="678770"/>
                      <a:pt x="997627" y="681101"/>
                    </a:cubicBezTo>
                    <a:cubicBezTo>
                      <a:pt x="993683" y="688900"/>
                      <a:pt x="987408" y="702973"/>
                      <a:pt x="977816" y="728521"/>
                    </a:cubicBezTo>
                    <a:cubicBezTo>
                      <a:pt x="970196" y="749587"/>
                      <a:pt x="962398" y="765723"/>
                      <a:pt x="953971" y="777287"/>
                    </a:cubicBezTo>
                    <a:cubicBezTo>
                      <a:pt x="958991" y="785803"/>
                      <a:pt x="966611" y="799070"/>
                      <a:pt x="976830" y="816908"/>
                    </a:cubicBezTo>
                    <a:cubicBezTo>
                      <a:pt x="987587" y="835823"/>
                      <a:pt x="997089" y="850614"/>
                      <a:pt x="1005157" y="861012"/>
                    </a:cubicBezTo>
                    <a:lnTo>
                      <a:pt x="1011701" y="869439"/>
                    </a:lnTo>
                    <a:lnTo>
                      <a:pt x="1005605" y="878224"/>
                    </a:lnTo>
                    <a:cubicBezTo>
                      <a:pt x="994938" y="893732"/>
                      <a:pt x="955316" y="934967"/>
                      <a:pt x="884499" y="1004350"/>
                    </a:cubicBezTo>
                    <a:lnTo>
                      <a:pt x="877238" y="1011432"/>
                    </a:lnTo>
                    <a:lnTo>
                      <a:pt x="868094" y="1007039"/>
                    </a:lnTo>
                    <a:cubicBezTo>
                      <a:pt x="836450" y="992069"/>
                      <a:pt x="805076" y="974141"/>
                      <a:pt x="774777" y="953882"/>
                    </a:cubicBezTo>
                    <a:cubicBezTo>
                      <a:pt x="742147" y="972169"/>
                      <a:pt x="710503" y="984629"/>
                      <a:pt x="680652" y="991083"/>
                    </a:cubicBezTo>
                    <a:cubicBezTo>
                      <a:pt x="676529" y="999420"/>
                      <a:pt x="671240" y="1013673"/>
                      <a:pt x="665682" y="1037787"/>
                    </a:cubicBezTo>
                    <a:cubicBezTo>
                      <a:pt x="658780" y="1067727"/>
                      <a:pt x="652774" y="1087717"/>
                      <a:pt x="647126" y="1098922"/>
                    </a:cubicBezTo>
                    <a:lnTo>
                      <a:pt x="643003" y="1107080"/>
                    </a:lnTo>
                    <a:close/>
                    <a:moveTo>
                      <a:pt x="477434" y="1077946"/>
                    </a:moveTo>
                    <a:lnTo>
                      <a:pt x="624357" y="1077946"/>
                    </a:lnTo>
                    <a:cubicBezTo>
                      <a:pt x="627495" y="1069430"/>
                      <a:pt x="631708" y="1055177"/>
                      <a:pt x="637176" y="1031332"/>
                    </a:cubicBezTo>
                    <a:cubicBezTo>
                      <a:pt x="643630" y="1003543"/>
                      <a:pt x="650622" y="983643"/>
                      <a:pt x="658601" y="970645"/>
                    </a:cubicBezTo>
                    <a:lnTo>
                      <a:pt x="662007" y="965087"/>
                    </a:lnTo>
                    <a:lnTo>
                      <a:pt x="668371" y="963921"/>
                    </a:lnTo>
                    <a:cubicBezTo>
                      <a:pt x="699298" y="958274"/>
                      <a:pt x="732824" y="944917"/>
                      <a:pt x="767874" y="924300"/>
                    </a:cubicBezTo>
                    <a:lnTo>
                      <a:pt x="775852" y="919638"/>
                    </a:lnTo>
                    <a:lnTo>
                      <a:pt x="783472" y="924838"/>
                    </a:lnTo>
                    <a:cubicBezTo>
                      <a:pt x="811978" y="944380"/>
                      <a:pt x="841470" y="961680"/>
                      <a:pt x="871321" y="976382"/>
                    </a:cubicBezTo>
                    <a:cubicBezTo>
                      <a:pt x="934877" y="913991"/>
                      <a:pt x="963204" y="883871"/>
                      <a:pt x="975306" y="869618"/>
                    </a:cubicBezTo>
                    <a:cubicBezTo>
                      <a:pt x="968045" y="859309"/>
                      <a:pt x="960067" y="846401"/>
                      <a:pt x="951461" y="831251"/>
                    </a:cubicBezTo>
                    <a:cubicBezTo>
                      <a:pt x="932995" y="798801"/>
                      <a:pt x="926272" y="787506"/>
                      <a:pt x="923851" y="783741"/>
                    </a:cubicBezTo>
                    <a:lnTo>
                      <a:pt x="917756" y="774149"/>
                    </a:lnTo>
                    <a:lnTo>
                      <a:pt x="925644" y="765902"/>
                    </a:lnTo>
                    <a:cubicBezTo>
                      <a:pt x="931202" y="760075"/>
                      <a:pt x="940077" y="747077"/>
                      <a:pt x="950386" y="718392"/>
                    </a:cubicBezTo>
                    <a:cubicBezTo>
                      <a:pt x="961501" y="688989"/>
                      <a:pt x="969748" y="669985"/>
                      <a:pt x="975844" y="660124"/>
                    </a:cubicBezTo>
                    <a:lnTo>
                      <a:pt x="979430" y="654298"/>
                    </a:lnTo>
                    <a:lnTo>
                      <a:pt x="986242" y="653401"/>
                    </a:lnTo>
                    <a:cubicBezTo>
                      <a:pt x="999958" y="651519"/>
                      <a:pt x="1017079" y="647664"/>
                      <a:pt x="1037069" y="641837"/>
                    </a:cubicBezTo>
                    <a:cubicBezTo>
                      <a:pt x="1054460" y="636728"/>
                      <a:pt x="1068086" y="632873"/>
                      <a:pt x="1077946" y="630184"/>
                    </a:cubicBezTo>
                    <a:lnTo>
                      <a:pt x="1077946" y="482454"/>
                    </a:lnTo>
                    <a:cubicBezTo>
                      <a:pt x="1067458" y="479854"/>
                      <a:pt x="1053205" y="475910"/>
                      <a:pt x="1034739" y="470531"/>
                    </a:cubicBezTo>
                    <a:cubicBezTo>
                      <a:pt x="1016093" y="464974"/>
                      <a:pt x="999868" y="461298"/>
                      <a:pt x="986153" y="459505"/>
                    </a:cubicBezTo>
                    <a:cubicBezTo>
                      <a:pt x="971720" y="463001"/>
                      <a:pt x="971541" y="462464"/>
                      <a:pt x="927616" y="335710"/>
                    </a:cubicBezTo>
                    <a:lnTo>
                      <a:pt x="925196" y="328807"/>
                    </a:lnTo>
                    <a:lnTo>
                      <a:pt x="929320" y="322712"/>
                    </a:lnTo>
                    <a:cubicBezTo>
                      <a:pt x="941421" y="304873"/>
                      <a:pt x="958543" y="275739"/>
                      <a:pt x="980326" y="235938"/>
                    </a:cubicBezTo>
                    <a:cubicBezTo>
                      <a:pt x="967418" y="224553"/>
                      <a:pt x="949937" y="207432"/>
                      <a:pt x="927168" y="183946"/>
                    </a:cubicBezTo>
                    <a:cubicBezTo>
                      <a:pt x="906640" y="161894"/>
                      <a:pt x="888533" y="145399"/>
                      <a:pt x="873024" y="134732"/>
                    </a:cubicBezTo>
                    <a:cubicBezTo>
                      <a:pt x="863881" y="139304"/>
                      <a:pt x="850614" y="147013"/>
                      <a:pt x="833492" y="157591"/>
                    </a:cubicBezTo>
                    <a:cubicBezTo>
                      <a:pt x="813592" y="170679"/>
                      <a:pt x="795125" y="179643"/>
                      <a:pt x="779080" y="184035"/>
                    </a:cubicBezTo>
                    <a:lnTo>
                      <a:pt x="772087" y="185918"/>
                    </a:lnTo>
                    <a:lnTo>
                      <a:pt x="766350" y="181525"/>
                    </a:lnTo>
                    <a:cubicBezTo>
                      <a:pt x="756400" y="173906"/>
                      <a:pt x="740623" y="166017"/>
                      <a:pt x="719468" y="158039"/>
                    </a:cubicBezTo>
                    <a:cubicBezTo>
                      <a:pt x="689706" y="146834"/>
                      <a:pt x="671778" y="139752"/>
                      <a:pt x="664875" y="136615"/>
                    </a:cubicBezTo>
                    <a:lnTo>
                      <a:pt x="658601" y="133746"/>
                    </a:lnTo>
                    <a:lnTo>
                      <a:pt x="656897" y="127112"/>
                    </a:lnTo>
                    <a:cubicBezTo>
                      <a:pt x="644527" y="79871"/>
                      <a:pt x="635204" y="46972"/>
                      <a:pt x="629108" y="28954"/>
                    </a:cubicBezTo>
                    <a:lnTo>
                      <a:pt x="483888" y="28954"/>
                    </a:lnTo>
                    <a:cubicBezTo>
                      <a:pt x="480123" y="41594"/>
                      <a:pt x="475910" y="56923"/>
                      <a:pt x="471338" y="74493"/>
                    </a:cubicBezTo>
                    <a:cubicBezTo>
                      <a:pt x="462822" y="106405"/>
                      <a:pt x="457444" y="126126"/>
                      <a:pt x="455292" y="133029"/>
                    </a:cubicBezTo>
                    <a:lnTo>
                      <a:pt x="452244" y="142800"/>
                    </a:lnTo>
                    <a:lnTo>
                      <a:pt x="442025" y="143427"/>
                    </a:lnTo>
                    <a:cubicBezTo>
                      <a:pt x="438888" y="143607"/>
                      <a:pt x="422125" y="147013"/>
                      <a:pt x="338399" y="183587"/>
                    </a:cubicBezTo>
                    <a:lnTo>
                      <a:pt x="330600" y="186993"/>
                    </a:lnTo>
                    <a:lnTo>
                      <a:pt x="323787" y="181884"/>
                    </a:lnTo>
                    <a:cubicBezTo>
                      <a:pt x="303528" y="166645"/>
                      <a:pt x="274126" y="149433"/>
                      <a:pt x="236386" y="130698"/>
                    </a:cubicBezTo>
                    <a:cubicBezTo>
                      <a:pt x="172920" y="192641"/>
                      <a:pt x="144324" y="222671"/>
                      <a:pt x="132043" y="237103"/>
                    </a:cubicBezTo>
                    <a:cubicBezTo>
                      <a:pt x="144593" y="254135"/>
                      <a:pt x="161625" y="282910"/>
                      <a:pt x="183677" y="324235"/>
                    </a:cubicBezTo>
                    <a:lnTo>
                      <a:pt x="187890" y="332124"/>
                    </a:lnTo>
                    <a:lnTo>
                      <a:pt x="182780" y="339475"/>
                    </a:lnTo>
                    <a:cubicBezTo>
                      <a:pt x="175250" y="350232"/>
                      <a:pt x="166645" y="367264"/>
                      <a:pt x="157053" y="390122"/>
                    </a:cubicBezTo>
                    <a:cubicBezTo>
                      <a:pt x="145041" y="418539"/>
                      <a:pt x="136704" y="437005"/>
                      <a:pt x="131415" y="446418"/>
                    </a:cubicBezTo>
                    <a:lnTo>
                      <a:pt x="127919" y="452782"/>
                    </a:lnTo>
                    <a:lnTo>
                      <a:pt x="120748" y="453768"/>
                    </a:lnTo>
                    <a:cubicBezTo>
                      <a:pt x="107033" y="455651"/>
                      <a:pt x="89911" y="459505"/>
                      <a:pt x="69921" y="465332"/>
                    </a:cubicBezTo>
                    <a:cubicBezTo>
                      <a:pt x="52261" y="470531"/>
                      <a:pt x="38725" y="474386"/>
                      <a:pt x="29044" y="476986"/>
                    </a:cubicBezTo>
                    <a:lnTo>
                      <a:pt x="29044" y="624716"/>
                    </a:lnTo>
                    <a:cubicBezTo>
                      <a:pt x="39622" y="627315"/>
                      <a:pt x="53875" y="631260"/>
                      <a:pt x="72252" y="636638"/>
                    </a:cubicBezTo>
                    <a:cubicBezTo>
                      <a:pt x="93497" y="642375"/>
                      <a:pt x="111604" y="646320"/>
                      <a:pt x="125947" y="648202"/>
                    </a:cubicBezTo>
                    <a:lnTo>
                      <a:pt x="136883" y="649636"/>
                    </a:lnTo>
                    <a:lnTo>
                      <a:pt x="138497" y="660573"/>
                    </a:lnTo>
                    <a:cubicBezTo>
                      <a:pt x="140828" y="676708"/>
                      <a:pt x="146565" y="695443"/>
                      <a:pt x="155529" y="716240"/>
                    </a:cubicBezTo>
                    <a:cubicBezTo>
                      <a:pt x="173995" y="757117"/>
                      <a:pt x="178029" y="767426"/>
                      <a:pt x="179374" y="771550"/>
                    </a:cubicBezTo>
                    <a:lnTo>
                      <a:pt x="181436" y="777824"/>
                    </a:lnTo>
                    <a:lnTo>
                      <a:pt x="178119" y="783562"/>
                    </a:lnTo>
                    <a:cubicBezTo>
                      <a:pt x="147730" y="835823"/>
                      <a:pt x="135270" y="860026"/>
                      <a:pt x="130340" y="871142"/>
                    </a:cubicBezTo>
                    <a:cubicBezTo>
                      <a:pt x="192641" y="934429"/>
                      <a:pt x="221685" y="961322"/>
                      <a:pt x="235042" y="971989"/>
                    </a:cubicBezTo>
                    <a:cubicBezTo>
                      <a:pt x="244006" y="967328"/>
                      <a:pt x="256825" y="959798"/>
                      <a:pt x="273408" y="949489"/>
                    </a:cubicBezTo>
                    <a:cubicBezTo>
                      <a:pt x="294295" y="936670"/>
                      <a:pt x="312223" y="928065"/>
                      <a:pt x="328180" y="923134"/>
                    </a:cubicBezTo>
                    <a:lnTo>
                      <a:pt x="334813" y="921073"/>
                    </a:lnTo>
                    <a:lnTo>
                      <a:pt x="340550" y="924927"/>
                    </a:lnTo>
                    <a:cubicBezTo>
                      <a:pt x="342612" y="926093"/>
                      <a:pt x="359286" y="933981"/>
                      <a:pt x="441756" y="970286"/>
                    </a:cubicBezTo>
                    <a:lnTo>
                      <a:pt x="447314" y="972706"/>
                    </a:lnTo>
                    <a:lnTo>
                      <a:pt x="449465" y="978354"/>
                    </a:lnTo>
                    <a:cubicBezTo>
                      <a:pt x="453768" y="989559"/>
                      <a:pt x="458878" y="1008115"/>
                      <a:pt x="465153" y="1035097"/>
                    </a:cubicBezTo>
                    <a:cubicBezTo>
                      <a:pt x="469456" y="1053205"/>
                      <a:pt x="473490" y="1067548"/>
                      <a:pt x="477434" y="1077946"/>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grpSp>
      </p:grpSp>
      <p:sp>
        <p:nvSpPr>
          <p:cNvPr id="8147" name="Google Shape;8147;p7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Unlock Cloud Experience with vSphere Supervisor</a:t>
            </a:r>
            <a:endParaRPr/>
          </a:p>
        </p:txBody>
      </p:sp>
      <p:sp>
        <p:nvSpPr>
          <p:cNvPr id="8148" name="Google Shape;8148;p72"/>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Deliver a consistent Service consumption experience with an embedded Declarative API</a:t>
            </a:r>
            <a:endParaRPr/>
          </a:p>
        </p:txBody>
      </p:sp>
      <p:sp>
        <p:nvSpPr>
          <p:cNvPr id="8149" name="Google Shape;8149;p72"/>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Deploy and manage </a:t>
            </a:r>
            <a:r>
              <a:rPr lang="en-US" b="1" dirty="0"/>
              <a:t>Virtual Machines</a:t>
            </a:r>
            <a:r>
              <a:rPr lang="en-US" dirty="0"/>
              <a:t>, </a:t>
            </a:r>
            <a:r>
              <a:rPr lang="en-US" b="1" dirty="0"/>
              <a:t>Kubernetes clusters</a:t>
            </a:r>
            <a:r>
              <a:rPr lang="en-US" dirty="0"/>
              <a:t>, and other resources using a </a:t>
            </a:r>
            <a:r>
              <a:rPr lang="en-US" b="1" dirty="0"/>
              <a:t>single API</a:t>
            </a:r>
            <a:endParaRPr dirty="0"/>
          </a:p>
          <a:p>
            <a:pPr marL="0" lvl="0" indent="0" algn="l" rtl="0">
              <a:lnSpc>
                <a:spcPct val="100000"/>
              </a:lnSpc>
              <a:spcBef>
                <a:spcPts val="1200"/>
              </a:spcBef>
              <a:spcAft>
                <a:spcPts val="0"/>
              </a:spcAft>
              <a:buSzPts val="1440"/>
              <a:buNone/>
            </a:pPr>
            <a:r>
              <a:rPr lang="en-US" dirty="0"/>
              <a:t>vSphere Supervisor provides an </a:t>
            </a:r>
            <a:r>
              <a:rPr lang="en-US" b="1" dirty="0"/>
              <a:t>extensible ecosystem </a:t>
            </a:r>
            <a:r>
              <a:rPr lang="en-US" dirty="0"/>
              <a:t>with Supervisor Services</a:t>
            </a:r>
            <a:endParaRPr dirty="0"/>
          </a:p>
          <a:p>
            <a:pPr marL="0" lvl="0" indent="0" algn="l" rtl="0">
              <a:lnSpc>
                <a:spcPct val="100000"/>
              </a:lnSpc>
              <a:spcBef>
                <a:spcPts val="1200"/>
              </a:spcBef>
              <a:spcAft>
                <a:spcPts val="0"/>
              </a:spcAft>
              <a:buSzPts val="1440"/>
              <a:buNone/>
            </a:pPr>
            <a:r>
              <a:rPr lang="en-US" dirty="0"/>
              <a:t>Add </a:t>
            </a:r>
            <a:r>
              <a:rPr lang="en-US" b="1" dirty="0"/>
              <a:t>new functionality </a:t>
            </a:r>
            <a:r>
              <a:rPr lang="en-US" dirty="0"/>
              <a:t>when needed while providing a </a:t>
            </a:r>
            <a:r>
              <a:rPr lang="en-US" b="1" dirty="0"/>
              <a:t>consistent consumption experience</a:t>
            </a:r>
            <a:endParaRPr dirty="0"/>
          </a:p>
          <a:p>
            <a:pPr marL="0" lvl="0" indent="0" algn="l" rtl="0">
              <a:lnSpc>
                <a:spcPct val="100000"/>
              </a:lnSpc>
              <a:spcBef>
                <a:spcPts val="1200"/>
              </a:spcBef>
              <a:spcAft>
                <a:spcPts val="0"/>
              </a:spcAft>
              <a:buSzPts val="1440"/>
              <a:buNone/>
            </a:pPr>
            <a:endParaRPr dirty="0"/>
          </a:p>
          <a:p>
            <a:pPr marL="0" lvl="0" indent="0" algn="l" rtl="0">
              <a:lnSpc>
                <a:spcPct val="100000"/>
              </a:lnSpc>
              <a:spcBef>
                <a:spcPts val="1200"/>
              </a:spcBef>
              <a:spcAft>
                <a:spcPts val="0"/>
              </a:spcAft>
              <a:buSzPts val="1440"/>
              <a:buNone/>
            </a:pPr>
            <a:endParaRPr dirty="0"/>
          </a:p>
        </p:txBody>
      </p:sp>
      <p:sp>
        <p:nvSpPr>
          <p:cNvPr id="8150" name="Google Shape;8150;p72"/>
          <p:cNvSpPr/>
          <p:nvPr/>
        </p:nvSpPr>
        <p:spPr>
          <a:xfrm>
            <a:off x="1962804" y="3597674"/>
            <a:ext cx="4319883" cy="1286958"/>
          </a:xfrm>
          <a:prstGeom prst="triangle">
            <a:avLst>
              <a:gd name="adj" fmla="val 50667"/>
            </a:avLst>
          </a:prstGeom>
          <a:gradFill>
            <a:gsLst>
              <a:gs pos="0">
                <a:srgbClr val="6C4B94">
                  <a:alpha val="59215"/>
                </a:srgbClr>
              </a:gs>
              <a:gs pos="50000">
                <a:srgbClr val="005C8A">
                  <a:alpha val="0"/>
                </a:srgbClr>
              </a:gs>
              <a:gs pos="100000">
                <a:srgbClr val="005C8A">
                  <a:alpha val="0"/>
                </a:srgbClr>
              </a:gs>
            </a:gsLst>
            <a:lin ang="16200000" scaled="0"/>
          </a:gra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u="none" strike="noStrike" cap="none">
              <a:solidFill>
                <a:srgbClr val="FFFFFF"/>
              </a:solidFill>
              <a:latin typeface="Arial"/>
              <a:ea typeface="Arial"/>
              <a:cs typeface="Arial"/>
              <a:sym typeface="Arial"/>
            </a:endParaRPr>
          </a:p>
        </p:txBody>
      </p:sp>
      <p:sp>
        <p:nvSpPr>
          <p:cNvPr id="8151" name="Google Shape;8151;p72"/>
          <p:cNvSpPr/>
          <p:nvPr/>
        </p:nvSpPr>
        <p:spPr>
          <a:xfrm>
            <a:off x="770384" y="5121313"/>
            <a:ext cx="6700058"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Arial"/>
              <a:buNone/>
            </a:pPr>
            <a:endParaRPr sz="1600">
              <a:solidFill>
                <a:srgbClr val="000000"/>
              </a:solidFill>
              <a:latin typeface="Arial"/>
              <a:ea typeface="Arial"/>
              <a:cs typeface="Arial"/>
              <a:sym typeface="Arial"/>
            </a:endParaRPr>
          </a:p>
        </p:txBody>
      </p:sp>
      <p:sp>
        <p:nvSpPr>
          <p:cNvPr id="8152" name="Google Shape;8152;p72"/>
          <p:cNvSpPr/>
          <p:nvPr/>
        </p:nvSpPr>
        <p:spPr>
          <a:xfrm>
            <a:off x="847855" y="4910067"/>
            <a:ext cx="6547773"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400"/>
              <a:buFont typeface="Arial"/>
              <a:buNone/>
            </a:pPr>
            <a:endParaRPr sz="1400">
              <a:solidFill>
                <a:srgbClr val="FFFFFF"/>
              </a:solidFill>
              <a:latin typeface="Arial"/>
              <a:ea typeface="Arial"/>
              <a:cs typeface="Arial"/>
              <a:sym typeface="Arial"/>
            </a:endParaRPr>
          </a:p>
        </p:txBody>
      </p:sp>
      <p:sp>
        <p:nvSpPr>
          <p:cNvPr id="8153" name="Google Shape;8153;p72"/>
          <p:cNvSpPr txBox="1"/>
          <p:nvPr/>
        </p:nvSpPr>
        <p:spPr>
          <a:xfrm>
            <a:off x="3687083" y="5021119"/>
            <a:ext cx="866659"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Supervisor</a:t>
            </a:r>
            <a:endParaRPr/>
          </a:p>
        </p:txBody>
      </p:sp>
      <p:sp>
        <p:nvSpPr>
          <p:cNvPr id="8154" name="Google Shape;8154;p72"/>
          <p:cNvSpPr/>
          <p:nvPr/>
        </p:nvSpPr>
        <p:spPr>
          <a:xfrm>
            <a:off x="899865" y="4972714"/>
            <a:ext cx="1814370" cy="304750"/>
          </a:xfrm>
          <a:prstGeom prst="roundRect">
            <a:avLst>
              <a:gd name="adj" fmla="val 50000"/>
            </a:avLst>
          </a:prstGeom>
          <a:solidFill>
            <a:schemeClr val="lt1"/>
          </a:solidFill>
          <a:ln w="12700" cap="flat" cmpd="sng">
            <a:solidFill>
              <a:schemeClr val="accent5"/>
            </a:solidFill>
            <a:prstDash val="dot"/>
            <a:round/>
            <a:headEnd type="none" w="sm" len="sm"/>
            <a:tailEnd type="none" w="sm" len="sm"/>
          </a:ln>
        </p:spPr>
        <p:txBody>
          <a:bodyPr spcFirstLastPara="1" wrap="square" lIns="91400" tIns="45700" rIns="91400" bIns="45700" anchor="ctr" anchorCtr="0">
            <a:noAutofit/>
          </a:bodyPr>
          <a:lstStyle/>
          <a:p>
            <a:pPr marL="0" marR="0" lvl="0" indent="0" algn="l" rtl="0">
              <a:spcBef>
                <a:spcPts val="0"/>
              </a:spcBef>
              <a:spcAft>
                <a:spcPts val="0"/>
              </a:spcAft>
              <a:buNone/>
            </a:pPr>
            <a:endParaRPr sz="900">
              <a:solidFill>
                <a:schemeClr val="accent4"/>
              </a:solidFill>
              <a:latin typeface="Arial"/>
              <a:ea typeface="Arial"/>
              <a:cs typeface="Arial"/>
              <a:sym typeface="Arial"/>
            </a:endParaRPr>
          </a:p>
        </p:txBody>
      </p:sp>
      <p:sp>
        <p:nvSpPr>
          <p:cNvPr id="8155" name="Google Shape;8155;p72"/>
          <p:cNvSpPr txBox="1"/>
          <p:nvPr/>
        </p:nvSpPr>
        <p:spPr>
          <a:xfrm>
            <a:off x="1224528" y="5031617"/>
            <a:ext cx="1438968" cy="179216"/>
          </a:xfrm>
          <a:prstGeom prst="rect">
            <a:avLst/>
          </a:prstGeom>
          <a:noFill/>
          <a:ln>
            <a:noFill/>
          </a:ln>
        </p:spPr>
        <p:txBody>
          <a:bodyPr spcFirstLastPara="1" wrap="square" lIns="0" tIns="0" rIns="0" bIns="0" anchor="ctr" anchorCtr="0">
            <a:spAutoFit/>
          </a:bodyPr>
          <a:lstStyle/>
          <a:p>
            <a:pPr marL="0" marR="0" lvl="0" indent="0" algn="ctr" rtl="0">
              <a:lnSpc>
                <a:spcPct val="130000"/>
              </a:lnSpc>
              <a:spcBef>
                <a:spcPts val="0"/>
              </a:spcBef>
              <a:spcAft>
                <a:spcPts val="0"/>
              </a:spcAft>
              <a:buNone/>
            </a:pPr>
            <a:r>
              <a:rPr lang="en-US" sz="1000">
                <a:solidFill>
                  <a:schemeClr val="dk1"/>
                </a:solidFill>
                <a:latin typeface="Arial"/>
                <a:ea typeface="Arial"/>
                <a:cs typeface="Arial"/>
                <a:sym typeface="Arial"/>
              </a:rPr>
              <a:t>Supervisor Control Plane</a:t>
            </a:r>
            <a:endParaRPr/>
          </a:p>
        </p:txBody>
      </p:sp>
      <p:grpSp>
        <p:nvGrpSpPr>
          <p:cNvPr id="8156" name="Google Shape;8156;p72"/>
          <p:cNvGrpSpPr/>
          <p:nvPr/>
        </p:nvGrpSpPr>
        <p:grpSpPr>
          <a:xfrm>
            <a:off x="914409" y="4983435"/>
            <a:ext cx="288000" cy="288000"/>
            <a:chOff x="456349" y="4375620"/>
            <a:chExt cx="288000" cy="288000"/>
          </a:xfrm>
        </p:grpSpPr>
        <p:sp>
          <p:nvSpPr>
            <p:cNvPr id="8157" name="Google Shape;8157;p72"/>
            <p:cNvSpPr/>
            <p:nvPr/>
          </p:nvSpPr>
          <p:spPr>
            <a:xfrm>
              <a:off x="456349" y="4375620"/>
              <a:ext cx="288000" cy="28800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58" name="Google Shape;8158;p72"/>
            <p:cNvSpPr/>
            <p:nvPr/>
          </p:nvSpPr>
          <p:spPr>
            <a:xfrm>
              <a:off x="501068" y="4430830"/>
              <a:ext cx="204951" cy="180919"/>
            </a:xfrm>
            <a:custGeom>
              <a:avLst/>
              <a:gdLst/>
              <a:ahLst/>
              <a:cxnLst/>
              <a:rect l="l" t="t" r="r" b="b"/>
              <a:pathLst>
                <a:path w="1373429" h="1372819" extrusionOk="0">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8159" name="Google Shape;8159;p72"/>
          <p:cNvGrpSpPr/>
          <p:nvPr/>
        </p:nvGrpSpPr>
        <p:grpSpPr>
          <a:xfrm>
            <a:off x="3462881" y="5528331"/>
            <a:ext cx="1344725" cy="216064"/>
            <a:chOff x="3604782" y="5211713"/>
            <a:chExt cx="1344725" cy="216064"/>
          </a:xfrm>
        </p:grpSpPr>
        <p:grpSp>
          <p:nvGrpSpPr>
            <p:cNvPr id="8160" name="Google Shape;8160;p72"/>
            <p:cNvGrpSpPr/>
            <p:nvPr/>
          </p:nvGrpSpPr>
          <p:grpSpPr>
            <a:xfrm>
              <a:off x="4468307" y="5211713"/>
              <a:ext cx="481200" cy="216000"/>
              <a:chOff x="9559097" y="5270063"/>
              <a:chExt cx="481200" cy="216000"/>
            </a:xfrm>
          </p:grpSpPr>
          <p:sp>
            <p:nvSpPr>
              <p:cNvPr id="8161" name="Google Shape;8161;p72"/>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sp>
            <p:nvSpPr>
              <p:cNvPr id="8162" name="Google Shape;8162;p72"/>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nvGrpSpPr>
            <p:cNvPr id="8163" name="Google Shape;8163;p72"/>
            <p:cNvGrpSpPr/>
            <p:nvPr/>
          </p:nvGrpSpPr>
          <p:grpSpPr>
            <a:xfrm>
              <a:off x="4059181" y="5211713"/>
              <a:ext cx="437400" cy="216000"/>
              <a:chOff x="9895949" y="1413332"/>
              <a:chExt cx="437400" cy="216000"/>
            </a:xfrm>
          </p:grpSpPr>
          <p:sp>
            <p:nvSpPr>
              <p:cNvPr id="8164" name="Google Shape;8164;p72"/>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sp>
            <p:nvSpPr>
              <p:cNvPr id="8165" name="Google Shape;8165;p72"/>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nvGrpSpPr>
            <p:cNvPr id="8166" name="Google Shape;8166;p72"/>
            <p:cNvGrpSpPr/>
            <p:nvPr/>
          </p:nvGrpSpPr>
          <p:grpSpPr>
            <a:xfrm>
              <a:off x="3604782" y="5211777"/>
              <a:ext cx="481200" cy="216000"/>
              <a:chOff x="8526343" y="2145622"/>
              <a:chExt cx="481200" cy="216000"/>
            </a:xfrm>
          </p:grpSpPr>
          <p:sp>
            <p:nvSpPr>
              <p:cNvPr id="8167" name="Google Shape;8167;p72"/>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grpSp>
            <p:nvGrpSpPr>
              <p:cNvPr id="8168" name="Google Shape;8168;p72"/>
              <p:cNvGrpSpPr/>
              <p:nvPr/>
            </p:nvGrpSpPr>
            <p:grpSpPr>
              <a:xfrm>
                <a:off x="8658941" y="2145622"/>
                <a:ext cx="216005" cy="216000"/>
                <a:chOff x="3822556" y="5087301"/>
                <a:chExt cx="611339" cy="557273"/>
              </a:xfrm>
            </p:grpSpPr>
            <p:sp>
              <p:nvSpPr>
                <p:cNvPr id="8169" name="Google Shape;8169;p72"/>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170" name="Google Shape;8170;p72"/>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171" name="Google Shape;8171;p72"/>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grpSp>
      <p:sp>
        <p:nvSpPr>
          <p:cNvPr id="8172" name="Google Shape;8172;p72"/>
          <p:cNvSpPr/>
          <p:nvPr/>
        </p:nvSpPr>
        <p:spPr>
          <a:xfrm rot="10800000">
            <a:off x="261721" y="1600200"/>
            <a:ext cx="7865918" cy="2773888"/>
          </a:xfrm>
          <a:prstGeom prst="roundRect">
            <a:avLst>
              <a:gd name="adj" fmla="val 4329"/>
            </a:avLst>
          </a:prstGeom>
          <a:noFill/>
          <a:ln w="19050" cap="rnd" cmpd="sng">
            <a:solidFill>
              <a:schemeClr val="accent1"/>
            </a:solidFill>
            <a:prstDash val="dot"/>
            <a:round/>
            <a:headEnd type="none" w="sm" len="sm"/>
            <a:tailEnd type="none" w="sm" len="sm"/>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798"/>
              <a:buFont typeface="Arial"/>
              <a:buNone/>
            </a:pPr>
            <a:r>
              <a:rPr lang="en-US" sz="1598" b="0" i="0" u="none" strike="noStrike" cap="none">
                <a:solidFill>
                  <a:schemeClr val="lt1"/>
                </a:solidFill>
                <a:latin typeface="Arial"/>
                <a:ea typeface="Arial"/>
                <a:cs typeface="Arial"/>
                <a:sym typeface="Arial"/>
              </a:rPr>
              <a:t>			</a:t>
            </a:r>
            <a:endParaRPr sz="1598" b="0" i="0" u="none" strike="noStrike" cap="none">
              <a:solidFill>
                <a:schemeClr val="lt1"/>
              </a:solidFill>
              <a:latin typeface="Arial"/>
              <a:ea typeface="Arial"/>
              <a:cs typeface="Arial"/>
              <a:sym typeface="Arial"/>
            </a:endParaRPr>
          </a:p>
        </p:txBody>
      </p:sp>
      <p:sp>
        <p:nvSpPr>
          <p:cNvPr id="8173" name="Google Shape;8173;p72"/>
          <p:cNvSpPr txBox="1"/>
          <p:nvPr/>
        </p:nvSpPr>
        <p:spPr>
          <a:xfrm>
            <a:off x="410491" y="3237365"/>
            <a:ext cx="1059600" cy="294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TKG</a:t>
            </a:r>
            <a:br>
              <a:rPr lang="en-US" sz="800" b="0" i="0" u="none" strike="noStrike" cap="none">
                <a:solidFill>
                  <a:schemeClr val="dk1"/>
                </a:solidFill>
                <a:latin typeface="Arial"/>
                <a:ea typeface="Arial"/>
                <a:cs typeface="Arial"/>
                <a:sym typeface="Arial"/>
              </a:rPr>
            </a:br>
            <a:r>
              <a:rPr lang="en-US" sz="800" b="0" i="0" u="none" strike="noStrike" cap="none">
                <a:solidFill>
                  <a:schemeClr val="dk1"/>
                </a:solidFill>
                <a:latin typeface="Arial"/>
                <a:ea typeface="Arial"/>
                <a:cs typeface="Arial"/>
                <a:sym typeface="Arial"/>
              </a:rPr>
              <a:t>Service</a:t>
            </a:r>
            <a:endParaRPr sz="1400" b="0" i="0" u="none" strike="noStrike" cap="none">
              <a:solidFill>
                <a:srgbClr val="000000"/>
              </a:solidFill>
              <a:latin typeface="Arial"/>
              <a:ea typeface="Arial"/>
              <a:cs typeface="Arial"/>
              <a:sym typeface="Arial"/>
            </a:endParaRPr>
          </a:p>
        </p:txBody>
      </p:sp>
      <p:sp>
        <p:nvSpPr>
          <p:cNvPr id="8174" name="Google Shape;8174;p72"/>
          <p:cNvSpPr/>
          <p:nvPr/>
        </p:nvSpPr>
        <p:spPr>
          <a:xfrm>
            <a:off x="768614" y="3225299"/>
            <a:ext cx="357600" cy="244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00" tIns="91400" rIns="91400" bIns="914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75" name="Google Shape;8175;p72"/>
          <p:cNvSpPr/>
          <p:nvPr/>
        </p:nvSpPr>
        <p:spPr>
          <a:xfrm>
            <a:off x="5416870" y="3815576"/>
            <a:ext cx="184500" cy="4500"/>
          </a:xfrm>
          <a:prstGeom prst="rightArrow">
            <a:avLst>
              <a:gd name="adj1" fmla="val 50000"/>
              <a:gd name="adj2" fmla="val 50000"/>
            </a:avLst>
          </a:prstGeom>
          <a:solidFill>
            <a:srgbClr val="F2F2F2"/>
          </a:solidFill>
          <a:ln w="19050" cap="flat" cmpd="sng">
            <a:solidFill>
              <a:srgbClr val="0193C2"/>
            </a:solidFill>
            <a:prstDash val="solid"/>
            <a:round/>
            <a:headEnd type="none" w="sm" len="sm"/>
            <a:tailEnd type="none" w="sm" len="sm"/>
          </a:ln>
        </p:spPr>
        <p:txBody>
          <a:bodyPr spcFirstLastPara="1" wrap="square" lIns="91375" tIns="91375" rIns="91375" bIns="9137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Arial"/>
              <a:ea typeface="Arial"/>
              <a:cs typeface="Arial"/>
              <a:sym typeface="Arial"/>
            </a:endParaRPr>
          </a:p>
        </p:txBody>
      </p:sp>
      <p:grpSp>
        <p:nvGrpSpPr>
          <p:cNvPr id="8176" name="Google Shape;8176;p72"/>
          <p:cNvGrpSpPr/>
          <p:nvPr/>
        </p:nvGrpSpPr>
        <p:grpSpPr>
          <a:xfrm>
            <a:off x="3011470" y="3372703"/>
            <a:ext cx="1051619" cy="864396"/>
            <a:chOff x="7037124" y="3307853"/>
            <a:chExt cx="1311900" cy="1020900"/>
          </a:xfrm>
        </p:grpSpPr>
        <p:sp>
          <p:nvSpPr>
            <p:cNvPr id="8177" name="Google Shape;8177;p72"/>
            <p:cNvSpPr/>
            <p:nvPr/>
          </p:nvSpPr>
          <p:spPr>
            <a:xfrm>
              <a:off x="7037124"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8178" name="Google Shape;8178;p72"/>
            <p:cNvSpPr/>
            <p:nvPr/>
          </p:nvSpPr>
          <p:spPr>
            <a:xfrm>
              <a:off x="7147815" y="3318810"/>
              <a:ext cx="1090500" cy="401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Network Service</a:t>
              </a:r>
              <a:endParaRPr sz="1400" b="0" i="0" u="none" strike="noStrike" cap="none">
                <a:solidFill>
                  <a:srgbClr val="000000"/>
                </a:solidFill>
                <a:latin typeface="Arial"/>
                <a:ea typeface="Arial"/>
                <a:cs typeface="Arial"/>
                <a:sym typeface="Arial"/>
              </a:endParaRPr>
            </a:p>
          </p:txBody>
        </p:sp>
        <p:sp>
          <p:nvSpPr>
            <p:cNvPr id="8179" name="Google Shape;8179;p72"/>
            <p:cNvSpPr/>
            <p:nvPr/>
          </p:nvSpPr>
          <p:spPr>
            <a:xfrm>
              <a:off x="7493406" y="3789189"/>
              <a:ext cx="422660" cy="418749"/>
            </a:xfrm>
            <a:custGeom>
              <a:avLst/>
              <a:gdLst/>
              <a:ahLst/>
              <a:cxnLst/>
              <a:rect l="l" t="t" r="r" b="b"/>
              <a:pathLst>
                <a:path w="1134658" h="1124158" extrusionOk="0">
                  <a:moveTo>
                    <a:pt x="7193" y="95826"/>
                  </a:moveTo>
                  <a:cubicBezTo>
                    <a:pt x="14347" y="65926"/>
                    <a:pt x="44430" y="47491"/>
                    <a:pt x="74330" y="54645"/>
                  </a:cubicBezTo>
                  <a:cubicBezTo>
                    <a:pt x="103771" y="61707"/>
                    <a:pt x="122023" y="90965"/>
                    <a:pt x="115694" y="120406"/>
                  </a:cubicBezTo>
                  <a:lnTo>
                    <a:pt x="290232" y="215976"/>
                  </a:lnTo>
                  <a:lnTo>
                    <a:pt x="290232" y="365016"/>
                  </a:lnTo>
                  <a:cubicBezTo>
                    <a:pt x="279776" y="371620"/>
                    <a:pt x="269779" y="379049"/>
                    <a:pt x="260424" y="387120"/>
                  </a:cubicBezTo>
                  <a:lnTo>
                    <a:pt x="260424" y="233585"/>
                  </a:lnTo>
                  <a:lnTo>
                    <a:pt x="101753" y="146729"/>
                  </a:lnTo>
                  <a:cubicBezTo>
                    <a:pt x="88546" y="160762"/>
                    <a:pt x="68552" y="167733"/>
                    <a:pt x="48374" y="162872"/>
                  </a:cubicBezTo>
                  <a:cubicBezTo>
                    <a:pt x="18566" y="155718"/>
                    <a:pt x="39" y="125726"/>
                    <a:pt x="7193" y="95826"/>
                  </a:cubicBezTo>
                  <a:close/>
                  <a:moveTo>
                    <a:pt x="491918" y="109767"/>
                  </a:moveTo>
                  <a:cubicBezTo>
                    <a:pt x="492377" y="109859"/>
                    <a:pt x="492927" y="109859"/>
                    <a:pt x="493386" y="109951"/>
                  </a:cubicBezTo>
                  <a:lnTo>
                    <a:pt x="502099" y="323835"/>
                  </a:lnTo>
                  <a:cubicBezTo>
                    <a:pt x="510445" y="309344"/>
                    <a:pt x="519984" y="295861"/>
                    <a:pt x="530256" y="283296"/>
                  </a:cubicBezTo>
                  <a:lnTo>
                    <a:pt x="523102" y="108116"/>
                  </a:lnTo>
                  <a:cubicBezTo>
                    <a:pt x="540345" y="102063"/>
                    <a:pt x="554378" y="87755"/>
                    <a:pt x="558963" y="68586"/>
                  </a:cubicBezTo>
                  <a:cubicBezTo>
                    <a:pt x="566117" y="38686"/>
                    <a:pt x="547682" y="8695"/>
                    <a:pt x="517782" y="1541"/>
                  </a:cubicBezTo>
                  <a:cubicBezTo>
                    <a:pt x="487883" y="-5613"/>
                    <a:pt x="457891" y="12822"/>
                    <a:pt x="450737" y="42722"/>
                  </a:cubicBezTo>
                  <a:cubicBezTo>
                    <a:pt x="443583" y="72622"/>
                    <a:pt x="462018" y="102613"/>
                    <a:pt x="491918" y="109767"/>
                  </a:cubicBezTo>
                  <a:close/>
                  <a:moveTo>
                    <a:pt x="1042955" y="1018959"/>
                  </a:moveTo>
                  <a:cubicBezTo>
                    <a:pt x="1035342" y="1015107"/>
                    <a:pt x="1027363" y="1013273"/>
                    <a:pt x="1019384" y="1012998"/>
                  </a:cubicBezTo>
                  <a:lnTo>
                    <a:pt x="979212" y="888262"/>
                  </a:lnTo>
                  <a:cubicBezTo>
                    <a:pt x="974442" y="888629"/>
                    <a:pt x="969765" y="889088"/>
                    <a:pt x="964904" y="889088"/>
                  </a:cubicBezTo>
                  <a:cubicBezTo>
                    <a:pt x="964904" y="889088"/>
                    <a:pt x="961785" y="889088"/>
                    <a:pt x="960226" y="888996"/>
                  </a:cubicBezTo>
                  <a:cubicBezTo>
                    <a:pt x="958759" y="888996"/>
                    <a:pt x="954540" y="888996"/>
                    <a:pt x="948119" y="888905"/>
                  </a:cubicBezTo>
                  <a:lnTo>
                    <a:pt x="990309" y="1019968"/>
                  </a:lnTo>
                  <a:cubicBezTo>
                    <a:pt x="981046" y="1025104"/>
                    <a:pt x="973250" y="1032992"/>
                    <a:pt x="968022" y="1043081"/>
                  </a:cubicBezTo>
                  <a:cubicBezTo>
                    <a:pt x="953989" y="1070413"/>
                    <a:pt x="964812" y="1103981"/>
                    <a:pt x="992144" y="1118014"/>
                  </a:cubicBezTo>
                  <a:cubicBezTo>
                    <a:pt x="1019475" y="1132047"/>
                    <a:pt x="1053044" y="1121224"/>
                    <a:pt x="1067077" y="1093892"/>
                  </a:cubicBezTo>
                  <a:cubicBezTo>
                    <a:pt x="1081109" y="1066561"/>
                    <a:pt x="1070287" y="1032992"/>
                    <a:pt x="1042955" y="1018959"/>
                  </a:cubicBezTo>
                  <a:close/>
                  <a:moveTo>
                    <a:pt x="603171" y="980347"/>
                  </a:moveTo>
                  <a:lnTo>
                    <a:pt x="603171" y="890005"/>
                  </a:lnTo>
                  <a:cubicBezTo>
                    <a:pt x="593541" y="890005"/>
                    <a:pt x="583910" y="890097"/>
                    <a:pt x="574188" y="890097"/>
                  </a:cubicBezTo>
                  <a:cubicBezTo>
                    <a:pt x="573913" y="890097"/>
                    <a:pt x="573638" y="890097"/>
                    <a:pt x="573363" y="890097"/>
                  </a:cubicBezTo>
                  <a:lnTo>
                    <a:pt x="573363" y="980347"/>
                  </a:lnTo>
                  <a:cubicBezTo>
                    <a:pt x="554469" y="985574"/>
                    <a:pt x="538877" y="1000433"/>
                    <a:pt x="533925" y="1020794"/>
                  </a:cubicBezTo>
                  <a:cubicBezTo>
                    <a:pt x="526771" y="1050694"/>
                    <a:pt x="545206" y="1080685"/>
                    <a:pt x="575106" y="1087839"/>
                  </a:cubicBezTo>
                  <a:cubicBezTo>
                    <a:pt x="605005" y="1094993"/>
                    <a:pt x="634997" y="1076558"/>
                    <a:pt x="642151" y="1046658"/>
                  </a:cubicBezTo>
                  <a:cubicBezTo>
                    <a:pt x="649213" y="1017492"/>
                    <a:pt x="631787" y="988418"/>
                    <a:pt x="603171" y="980347"/>
                  </a:cubicBezTo>
                  <a:close/>
                  <a:moveTo>
                    <a:pt x="196589" y="891197"/>
                  </a:moveTo>
                  <a:cubicBezTo>
                    <a:pt x="188976" y="891197"/>
                    <a:pt x="183382" y="891197"/>
                    <a:pt x="179896" y="891197"/>
                  </a:cubicBezTo>
                  <a:lnTo>
                    <a:pt x="86345" y="984749"/>
                  </a:lnTo>
                  <a:cubicBezTo>
                    <a:pt x="78824" y="980897"/>
                    <a:pt x="70386" y="978512"/>
                    <a:pt x="61306" y="978512"/>
                  </a:cubicBezTo>
                  <a:cubicBezTo>
                    <a:pt x="30581" y="978512"/>
                    <a:pt x="5634" y="1003459"/>
                    <a:pt x="5634" y="1034185"/>
                  </a:cubicBezTo>
                  <a:cubicBezTo>
                    <a:pt x="5634" y="1064910"/>
                    <a:pt x="30581" y="1089857"/>
                    <a:pt x="61306" y="1089857"/>
                  </a:cubicBezTo>
                  <a:cubicBezTo>
                    <a:pt x="92031" y="1089857"/>
                    <a:pt x="116978" y="1064910"/>
                    <a:pt x="116978" y="1034185"/>
                  </a:cubicBezTo>
                  <a:cubicBezTo>
                    <a:pt x="116978" y="1023362"/>
                    <a:pt x="113768" y="1013365"/>
                    <a:pt x="108449" y="1004835"/>
                  </a:cubicBezTo>
                  <a:lnTo>
                    <a:pt x="221994" y="891197"/>
                  </a:lnTo>
                  <a:cubicBezTo>
                    <a:pt x="212089" y="891197"/>
                    <a:pt x="203559" y="891197"/>
                    <a:pt x="196589" y="891197"/>
                  </a:cubicBezTo>
                  <a:close/>
                  <a:moveTo>
                    <a:pt x="797611" y="130037"/>
                  </a:moveTo>
                  <a:lnTo>
                    <a:pt x="990584" y="130037"/>
                  </a:lnTo>
                  <a:cubicBezTo>
                    <a:pt x="996546" y="147555"/>
                    <a:pt x="1010946" y="161771"/>
                    <a:pt x="1030206" y="166357"/>
                  </a:cubicBezTo>
                  <a:cubicBezTo>
                    <a:pt x="1060106" y="173511"/>
                    <a:pt x="1090098" y="155076"/>
                    <a:pt x="1097252" y="125176"/>
                  </a:cubicBezTo>
                  <a:cubicBezTo>
                    <a:pt x="1104406" y="95276"/>
                    <a:pt x="1085970" y="65284"/>
                    <a:pt x="1056071" y="58131"/>
                  </a:cubicBezTo>
                  <a:cubicBezTo>
                    <a:pt x="1026171" y="50977"/>
                    <a:pt x="996179" y="69412"/>
                    <a:pt x="989025" y="99312"/>
                  </a:cubicBezTo>
                  <a:cubicBezTo>
                    <a:pt x="988934" y="99587"/>
                    <a:pt x="988934" y="99954"/>
                    <a:pt x="988934" y="100229"/>
                  </a:cubicBezTo>
                  <a:lnTo>
                    <a:pt x="767803" y="100229"/>
                  </a:lnTo>
                  <a:lnTo>
                    <a:pt x="767803" y="184975"/>
                  </a:lnTo>
                  <a:cubicBezTo>
                    <a:pt x="777892" y="186259"/>
                    <a:pt x="787798" y="188277"/>
                    <a:pt x="797611" y="190662"/>
                  </a:cubicBezTo>
                  <a:lnTo>
                    <a:pt x="797611" y="130037"/>
                  </a:lnTo>
                  <a:close/>
                  <a:moveTo>
                    <a:pt x="957658" y="859188"/>
                  </a:moveTo>
                  <a:cubicBezTo>
                    <a:pt x="955457" y="859188"/>
                    <a:pt x="948853" y="859096"/>
                    <a:pt x="938489" y="859096"/>
                  </a:cubicBezTo>
                  <a:cubicBezTo>
                    <a:pt x="829162" y="859096"/>
                    <a:pt x="303806" y="861389"/>
                    <a:pt x="193287" y="861389"/>
                  </a:cubicBezTo>
                  <a:cubicBezTo>
                    <a:pt x="182831" y="861389"/>
                    <a:pt x="176044" y="861389"/>
                    <a:pt x="173751" y="861298"/>
                  </a:cubicBezTo>
                  <a:cubicBezTo>
                    <a:pt x="81942" y="858821"/>
                    <a:pt x="-2071" y="774442"/>
                    <a:pt x="39" y="682174"/>
                  </a:cubicBezTo>
                  <a:cubicBezTo>
                    <a:pt x="2240" y="591374"/>
                    <a:pt x="76348" y="519101"/>
                    <a:pt x="166322" y="519101"/>
                  </a:cubicBezTo>
                  <a:cubicBezTo>
                    <a:pt x="167698" y="519101"/>
                    <a:pt x="169074" y="519101"/>
                    <a:pt x="170358" y="519193"/>
                  </a:cubicBezTo>
                  <a:cubicBezTo>
                    <a:pt x="184482" y="519468"/>
                    <a:pt x="198331" y="521394"/>
                    <a:pt x="211355" y="525063"/>
                  </a:cubicBezTo>
                  <a:cubicBezTo>
                    <a:pt x="231900" y="429218"/>
                    <a:pt x="315729" y="358229"/>
                    <a:pt x="415609" y="358229"/>
                  </a:cubicBezTo>
                  <a:cubicBezTo>
                    <a:pt x="417352" y="358229"/>
                    <a:pt x="419095" y="358229"/>
                    <a:pt x="420746" y="358321"/>
                  </a:cubicBezTo>
                  <a:cubicBezTo>
                    <a:pt x="451196" y="359146"/>
                    <a:pt x="479720" y="366117"/>
                    <a:pt x="505492" y="378590"/>
                  </a:cubicBezTo>
                  <a:cubicBezTo>
                    <a:pt x="543280" y="281095"/>
                    <a:pt x="631053" y="212857"/>
                    <a:pt x="732492" y="212857"/>
                  </a:cubicBezTo>
                  <a:cubicBezTo>
                    <a:pt x="734510" y="212857"/>
                    <a:pt x="736528" y="212857"/>
                    <a:pt x="738546" y="212949"/>
                  </a:cubicBezTo>
                  <a:cubicBezTo>
                    <a:pt x="864015" y="215976"/>
                    <a:pt x="965087" y="321909"/>
                    <a:pt x="977285" y="456091"/>
                  </a:cubicBezTo>
                  <a:cubicBezTo>
                    <a:pt x="1067443" y="464713"/>
                    <a:pt x="1137332" y="553862"/>
                    <a:pt x="1134580" y="661721"/>
                  </a:cubicBezTo>
                  <a:cubicBezTo>
                    <a:pt x="1132196" y="771323"/>
                    <a:pt x="1054695" y="859372"/>
                    <a:pt x="961418" y="859372"/>
                  </a:cubicBezTo>
                  <a:cubicBezTo>
                    <a:pt x="960318" y="859280"/>
                    <a:pt x="958942" y="859280"/>
                    <a:pt x="957658" y="859188"/>
                  </a:cubicBezTo>
                  <a:close/>
                  <a:moveTo>
                    <a:pt x="938489" y="829380"/>
                  </a:moveTo>
                  <a:cubicBezTo>
                    <a:pt x="949220" y="829380"/>
                    <a:pt x="956007" y="829380"/>
                    <a:pt x="958300" y="829472"/>
                  </a:cubicBezTo>
                  <a:cubicBezTo>
                    <a:pt x="959492" y="829472"/>
                    <a:pt x="960593" y="829472"/>
                    <a:pt x="961602" y="829472"/>
                  </a:cubicBezTo>
                  <a:cubicBezTo>
                    <a:pt x="1038644" y="829472"/>
                    <a:pt x="1102938" y="753897"/>
                    <a:pt x="1105048" y="660987"/>
                  </a:cubicBezTo>
                  <a:cubicBezTo>
                    <a:pt x="1107340" y="569821"/>
                    <a:pt x="1050109" y="492870"/>
                    <a:pt x="974717" y="485716"/>
                  </a:cubicBezTo>
                  <a:lnTo>
                    <a:pt x="950137" y="483331"/>
                  </a:lnTo>
                  <a:lnTo>
                    <a:pt x="947936" y="458751"/>
                  </a:lnTo>
                  <a:cubicBezTo>
                    <a:pt x="936930" y="338235"/>
                    <a:pt x="846772" y="245325"/>
                    <a:pt x="738087" y="242757"/>
                  </a:cubicBezTo>
                  <a:cubicBezTo>
                    <a:pt x="736253" y="242665"/>
                    <a:pt x="734510" y="242665"/>
                    <a:pt x="732767" y="242665"/>
                  </a:cubicBezTo>
                  <a:cubicBezTo>
                    <a:pt x="646278" y="242665"/>
                    <a:pt x="568135" y="300264"/>
                    <a:pt x="533558" y="389321"/>
                  </a:cubicBezTo>
                  <a:lnTo>
                    <a:pt x="521910" y="419496"/>
                  </a:lnTo>
                  <a:lnTo>
                    <a:pt x="492835" y="405372"/>
                  </a:lnTo>
                  <a:cubicBezTo>
                    <a:pt x="470640" y="394641"/>
                    <a:pt x="446151" y="388771"/>
                    <a:pt x="420287" y="388037"/>
                  </a:cubicBezTo>
                  <a:cubicBezTo>
                    <a:pt x="418911" y="388037"/>
                    <a:pt x="417444" y="387945"/>
                    <a:pt x="415976" y="387945"/>
                  </a:cubicBezTo>
                  <a:cubicBezTo>
                    <a:pt x="332330" y="387945"/>
                    <a:pt x="258681" y="448204"/>
                    <a:pt x="240888" y="531208"/>
                  </a:cubicBezTo>
                  <a:lnTo>
                    <a:pt x="234285" y="562116"/>
                  </a:lnTo>
                  <a:lnTo>
                    <a:pt x="203834" y="553678"/>
                  </a:lnTo>
                  <a:cubicBezTo>
                    <a:pt x="193287" y="550743"/>
                    <a:pt x="182006" y="549184"/>
                    <a:pt x="170174" y="548909"/>
                  </a:cubicBezTo>
                  <a:cubicBezTo>
                    <a:pt x="168890" y="548909"/>
                    <a:pt x="167790" y="548909"/>
                    <a:pt x="166689" y="548909"/>
                  </a:cubicBezTo>
                  <a:cubicBezTo>
                    <a:pt x="93224" y="548909"/>
                    <a:pt x="31956" y="609076"/>
                    <a:pt x="30214" y="682908"/>
                  </a:cubicBezTo>
                  <a:cubicBezTo>
                    <a:pt x="28471" y="757199"/>
                    <a:pt x="98818" y="829472"/>
                    <a:pt x="174944" y="831581"/>
                  </a:cubicBezTo>
                  <a:cubicBezTo>
                    <a:pt x="176961" y="831581"/>
                    <a:pt x="183473" y="831673"/>
                    <a:pt x="193654" y="831673"/>
                  </a:cubicBezTo>
                  <a:cubicBezTo>
                    <a:pt x="248959" y="831673"/>
                    <a:pt x="411024" y="831123"/>
                    <a:pt x="567768" y="830572"/>
                  </a:cubicBezTo>
                  <a:cubicBezTo>
                    <a:pt x="723045" y="829930"/>
                    <a:pt x="883917" y="829380"/>
                    <a:pt x="938489" y="829380"/>
                  </a:cubicBezTo>
                  <a:close/>
                </a:path>
              </a:pathLst>
            </a:custGeom>
            <a:solidFill>
              <a:schemeClr val="accent2"/>
            </a:solidFill>
            <a:ln>
              <a:noFill/>
            </a:ln>
          </p:spPr>
          <p:txBody>
            <a:bodyPr spcFirstLastPara="1" wrap="square" lIns="91375" tIns="45650" rIns="91375" bIns="45650" anchor="ctr" anchorCtr="0">
              <a:noAutofit/>
            </a:bodyPr>
            <a:lstStyle/>
            <a:p>
              <a:pPr marL="0" marR="0" lvl="0" indent="0" algn="l" rtl="0">
                <a:lnSpc>
                  <a:spcPct val="100000"/>
                </a:lnSpc>
                <a:spcBef>
                  <a:spcPts val="0"/>
                </a:spcBef>
                <a:spcAft>
                  <a:spcPts val="0"/>
                </a:spcAft>
                <a:buClr>
                  <a:srgbClr val="000000"/>
                </a:buClr>
                <a:buSzPts val="1796"/>
                <a:buFont typeface="Arial"/>
                <a:buNone/>
              </a:pPr>
              <a:endParaRPr sz="1795" b="0" i="0" u="none" strike="noStrike" cap="none">
                <a:solidFill>
                  <a:srgbClr val="717074"/>
                </a:solidFill>
                <a:latin typeface="Arial"/>
                <a:ea typeface="Arial"/>
                <a:cs typeface="Arial"/>
                <a:sym typeface="Arial"/>
              </a:endParaRPr>
            </a:p>
          </p:txBody>
        </p:sp>
      </p:grpSp>
      <p:grpSp>
        <p:nvGrpSpPr>
          <p:cNvPr id="8180" name="Google Shape;8180;p72"/>
          <p:cNvGrpSpPr/>
          <p:nvPr/>
        </p:nvGrpSpPr>
        <p:grpSpPr>
          <a:xfrm>
            <a:off x="6644899" y="3372703"/>
            <a:ext cx="1051500" cy="868800"/>
            <a:chOff x="10063041" y="3571756"/>
            <a:chExt cx="1051500" cy="868800"/>
          </a:xfrm>
        </p:grpSpPr>
        <p:sp>
          <p:nvSpPr>
            <p:cNvPr id="8181" name="Google Shape;8181;p72"/>
            <p:cNvSpPr/>
            <p:nvPr/>
          </p:nvSpPr>
          <p:spPr>
            <a:xfrm>
              <a:off x="10063041" y="3571756"/>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pic>
          <p:nvPicPr>
            <p:cNvPr id="8182" name="Google Shape;8182;p72"/>
            <p:cNvPicPr preferRelativeResize="0"/>
            <p:nvPr/>
          </p:nvPicPr>
          <p:blipFill rotWithShape="1">
            <a:blip r:embed="rId4">
              <a:alphaModFix/>
            </a:blip>
            <a:srcRect/>
            <a:stretch/>
          </p:blipFill>
          <p:spPr>
            <a:xfrm>
              <a:off x="10402218" y="3906647"/>
              <a:ext cx="422600" cy="422600"/>
            </a:xfrm>
            <a:prstGeom prst="rect">
              <a:avLst/>
            </a:prstGeom>
            <a:noFill/>
            <a:ln>
              <a:noFill/>
            </a:ln>
          </p:spPr>
        </p:pic>
        <p:sp>
          <p:nvSpPr>
            <p:cNvPr id="8183" name="Google Shape;8183;p72"/>
            <p:cNvSpPr txBox="1"/>
            <p:nvPr/>
          </p:nvSpPr>
          <p:spPr>
            <a:xfrm>
              <a:off x="10146332" y="3619975"/>
              <a:ext cx="962400" cy="161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Image Registry</a:t>
              </a:r>
              <a:endParaRPr sz="800" b="0" i="0" u="none" strike="noStrike" cap="none">
                <a:solidFill>
                  <a:schemeClr val="dk1"/>
                </a:solidFill>
                <a:latin typeface="Arial"/>
                <a:ea typeface="Arial"/>
                <a:cs typeface="Arial"/>
                <a:sym typeface="Arial"/>
              </a:endParaRPr>
            </a:p>
          </p:txBody>
        </p:sp>
      </p:grpSp>
      <p:grpSp>
        <p:nvGrpSpPr>
          <p:cNvPr id="8184" name="Google Shape;8184;p72"/>
          <p:cNvGrpSpPr/>
          <p:nvPr/>
        </p:nvGrpSpPr>
        <p:grpSpPr>
          <a:xfrm>
            <a:off x="5396439" y="3372703"/>
            <a:ext cx="1051619" cy="864396"/>
            <a:chOff x="7682466" y="3571756"/>
            <a:chExt cx="1051619" cy="864396"/>
          </a:xfrm>
        </p:grpSpPr>
        <p:grpSp>
          <p:nvGrpSpPr>
            <p:cNvPr id="8185" name="Google Shape;8185;p72"/>
            <p:cNvGrpSpPr/>
            <p:nvPr/>
          </p:nvGrpSpPr>
          <p:grpSpPr>
            <a:xfrm>
              <a:off x="7682466" y="3571756"/>
              <a:ext cx="1051619" cy="864396"/>
              <a:chOff x="8393511" y="3307853"/>
              <a:chExt cx="1311900" cy="1020900"/>
            </a:xfrm>
          </p:grpSpPr>
          <p:sp>
            <p:nvSpPr>
              <p:cNvPr id="8186" name="Google Shape;8186;p72"/>
              <p:cNvSpPr/>
              <p:nvPr/>
            </p:nvSpPr>
            <p:spPr>
              <a:xfrm>
                <a:off x="8393511"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8187" name="Google Shape;8187;p72"/>
              <p:cNvSpPr/>
              <p:nvPr/>
            </p:nvSpPr>
            <p:spPr>
              <a:xfrm>
                <a:off x="8405214" y="3310894"/>
                <a:ext cx="1263000" cy="401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Backup Service</a:t>
                </a:r>
                <a:endParaRPr sz="1400" b="0" i="0" u="none" strike="noStrike" cap="none">
                  <a:solidFill>
                    <a:srgbClr val="000000"/>
                  </a:solidFill>
                  <a:latin typeface="Arial"/>
                  <a:ea typeface="Arial"/>
                  <a:cs typeface="Arial"/>
                  <a:sym typeface="Arial"/>
                </a:endParaRPr>
              </a:p>
            </p:txBody>
          </p:sp>
        </p:grpSp>
        <p:grpSp>
          <p:nvGrpSpPr>
            <p:cNvPr id="8188" name="Google Shape;8188;p72" descr="Application"/>
            <p:cNvGrpSpPr/>
            <p:nvPr/>
          </p:nvGrpSpPr>
          <p:grpSpPr>
            <a:xfrm>
              <a:off x="7817085" y="4000259"/>
              <a:ext cx="310692" cy="339773"/>
              <a:chOff x="530908" y="707686"/>
              <a:chExt cx="600836" cy="600837"/>
            </a:xfrm>
          </p:grpSpPr>
          <p:sp>
            <p:nvSpPr>
              <p:cNvPr id="8189" name="Google Shape;8189;p72"/>
              <p:cNvSpPr/>
              <p:nvPr/>
            </p:nvSpPr>
            <p:spPr>
              <a:xfrm>
                <a:off x="634568" y="934169"/>
                <a:ext cx="126808" cy="126049"/>
              </a:xfrm>
              <a:custGeom>
                <a:avLst/>
                <a:gdLst/>
                <a:ahLst/>
                <a:cxnLst/>
                <a:rect l="l" t="t" r="r" b="b"/>
                <a:pathLst>
                  <a:path w="126808" h="126049" extrusionOk="0">
                    <a:moveTo>
                      <a:pt x="98348" y="97462"/>
                    </a:moveTo>
                    <a:lnTo>
                      <a:pt x="28271" y="97462"/>
                    </a:lnTo>
                    <a:lnTo>
                      <a:pt x="15622" y="126049"/>
                    </a:lnTo>
                    <a:lnTo>
                      <a:pt x="0" y="126049"/>
                    </a:lnTo>
                    <a:lnTo>
                      <a:pt x="55593" y="0"/>
                    </a:lnTo>
                    <a:lnTo>
                      <a:pt x="71215" y="0"/>
                    </a:lnTo>
                    <a:lnTo>
                      <a:pt x="126808" y="126049"/>
                    </a:lnTo>
                    <a:lnTo>
                      <a:pt x="110997" y="126049"/>
                    </a:lnTo>
                    <a:close/>
                    <a:moveTo>
                      <a:pt x="92466" y="83864"/>
                    </a:moveTo>
                    <a:lnTo>
                      <a:pt x="63499" y="17646"/>
                    </a:lnTo>
                    <a:lnTo>
                      <a:pt x="34153" y="83864"/>
                    </a:lnTo>
                    <a:close/>
                  </a:path>
                </a:pathLst>
              </a:custGeom>
              <a:solidFill>
                <a:srgbClr val="0193C2"/>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rtl="0">
                  <a:lnSpc>
                    <a:spcPct val="100000"/>
                  </a:lnSpc>
                  <a:spcBef>
                    <a:spcPts val="0"/>
                  </a:spcBef>
                  <a:spcAft>
                    <a:spcPts val="0"/>
                  </a:spcAft>
                  <a:buClr>
                    <a:srgbClr val="000000"/>
                  </a:buClr>
                  <a:buSzPts val="1700"/>
                  <a:buFont typeface="Arial"/>
                  <a:buNone/>
                </a:pPr>
                <a:endParaRPr sz="1700" b="0" i="0" u="none" strike="noStrike" cap="none">
                  <a:solidFill>
                    <a:srgbClr val="005C8A"/>
                  </a:solidFill>
                  <a:latin typeface="Arial"/>
                  <a:ea typeface="Arial"/>
                  <a:cs typeface="Arial"/>
                  <a:sym typeface="Arial"/>
                </a:endParaRPr>
              </a:p>
            </p:txBody>
          </p:sp>
          <p:sp>
            <p:nvSpPr>
              <p:cNvPr id="8190" name="Google Shape;8190;p72"/>
              <p:cNvSpPr/>
              <p:nvPr/>
            </p:nvSpPr>
            <p:spPr>
              <a:xfrm>
                <a:off x="790976"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636" y="66914"/>
                    </a:moveTo>
                    <a:cubicBezTo>
                      <a:pt x="69128" y="66914"/>
                      <a:pt x="83105" y="56985"/>
                      <a:pt x="83105" y="40161"/>
                    </a:cubicBezTo>
                    <a:cubicBezTo>
                      <a:pt x="83105" y="23338"/>
                      <a:pt x="69128" y="13345"/>
                      <a:pt x="48636" y="13345"/>
                    </a:cubicBezTo>
                    <a:lnTo>
                      <a:pt x="14294" y="13345"/>
                    </a:lnTo>
                    <a:lnTo>
                      <a:pt x="14294" y="66914"/>
                    </a:lnTo>
                    <a:close/>
                  </a:path>
                </a:pathLst>
              </a:custGeom>
              <a:solidFill>
                <a:srgbClr val="0193C2"/>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rtl="0">
                  <a:lnSpc>
                    <a:spcPct val="100000"/>
                  </a:lnSpc>
                  <a:spcBef>
                    <a:spcPts val="0"/>
                  </a:spcBef>
                  <a:spcAft>
                    <a:spcPts val="0"/>
                  </a:spcAft>
                  <a:buClr>
                    <a:srgbClr val="000000"/>
                  </a:buClr>
                  <a:buSzPts val="1700"/>
                  <a:buFont typeface="Arial"/>
                  <a:buNone/>
                </a:pPr>
                <a:endParaRPr sz="1700" b="0" i="0" u="none" strike="noStrike" cap="none">
                  <a:solidFill>
                    <a:srgbClr val="717074"/>
                  </a:solidFill>
                  <a:latin typeface="Arial"/>
                  <a:ea typeface="Arial"/>
                  <a:cs typeface="Arial"/>
                  <a:sym typeface="Arial"/>
                </a:endParaRPr>
              </a:p>
            </p:txBody>
          </p:sp>
          <p:sp>
            <p:nvSpPr>
              <p:cNvPr id="8191" name="Google Shape;8191;p72"/>
              <p:cNvSpPr/>
              <p:nvPr/>
            </p:nvSpPr>
            <p:spPr>
              <a:xfrm>
                <a:off x="919302"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573" y="66914"/>
                    </a:moveTo>
                    <a:cubicBezTo>
                      <a:pt x="69128" y="66914"/>
                      <a:pt x="83105" y="56985"/>
                      <a:pt x="83105" y="40161"/>
                    </a:cubicBezTo>
                    <a:cubicBezTo>
                      <a:pt x="83105" y="23338"/>
                      <a:pt x="69128" y="13345"/>
                      <a:pt x="48573" y="13345"/>
                    </a:cubicBezTo>
                    <a:lnTo>
                      <a:pt x="14294" y="13345"/>
                    </a:lnTo>
                    <a:lnTo>
                      <a:pt x="14294" y="66914"/>
                    </a:lnTo>
                    <a:close/>
                  </a:path>
                </a:pathLst>
              </a:custGeom>
              <a:solidFill>
                <a:srgbClr val="0193C2"/>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rtl="0">
                  <a:lnSpc>
                    <a:spcPct val="100000"/>
                  </a:lnSpc>
                  <a:spcBef>
                    <a:spcPts val="0"/>
                  </a:spcBef>
                  <a:spcAft>
                    <a:spcPts val="0"/>
                  </a:spcAft>
                  <a:buClr>
                    <a:srgbClr val="000000"/>
                  </a:buClr>
                  <a:buSzPts val="1700"/>
                  <a:buFont typeface="Arial"/>
                  <a:buNone/>
                </a:pPr>
                <a:endParaRPr sz="1700" b="0" i="0" u="none" strike="noStrike" cap="none">
                  <a:solidFill>
                    <a:srgbClr val="717074"/>
                  </a:solidFill>
                  <a:latin typeface="Arial"/>
                  <a:ea typeface="Arial"/>
                  <a:cs typeface="Arial"/>
                  <a:sym typeface="Arial"/>
                </a:endParaRPr>
              </a:p>
            </p:txBody>
          </p:sp>
          <p:sp>
            <p:nvSpPr>
              <p:cNvPr id="8192" name="Google Shape;8192;p72"/>
              <p:cNvSpPr/>
              <p:nvPr/>
            </p:nvSpPr>
            <p:spPr>
              <a:xfrm>
                <a:off x="530908" y="707686"/>
                <a:ext cx="600836" cy="600837"/>
              </a:xfrm>
              <a:custGeom>
                <a:avLst/>
                <a:gdLst/>
                <a:ahLst/>
                <a:cxnLst/>
                <a:rect l="l" t="t" r="r" b="b"/>
                <a:pathLst>
                  <a:path w="600836" h="600837" extrusionOk="0">
                    <a:moveTo>
                      <a:pt x="554920" y="15812"/>
                    </a:moveTo>
                    <a:cubicBezTo>
                      <a:pt x="571523" y="15812"/>
                      <a:pt x="584988" y="29251"/>
                      <a:pt x="585026" y="45853"/>
                    </a:cubicBezTo>
                    <a:lnTo>
                      <a:pt x="585026" y="554920"/>
                    </a:lnTo>
                    <a:cubicBezTo>
                      <a:pt x="585026" y="571548"/>
                      <a:pt x="571548" y="585026"/>
                      <a:pt x="554920" y="585026"/>
                    </a:cubicBezTo>
                    <a:lnTo>
                      <a:pt x="45853" y="585026"/>
                    </a:lnTo>
                    <a:cubicBezTo>
                      <a:pt x="29251" y="584988"/>
                      <a:pt x="15812" y="571523"/>
                      <a:pt x="15812" y="554920"/>
                    </a:cubicBezTo>
                    <a:lnTo>
                      <a:pt x="15812" y="45853"/>
                    </a:lnTo>
                    <a:cubicBezTo>
                      <a:pt x="15812" y="29261"/>
                      <a:pt x="29261" y="15812"/>
                      <a:pt x="45853" y="15812"/>
                    </a:cubicBezTo>
                    <a:lnTo>
                      <a:pt x="554920" y="15812"/>
                    </a:lnTo>
                    <a:moveTo>
                      <a:pt x="554920" y="0"/>
                    </a:moveTo>
                    <a:lnTo>
                      <a:pt x="45853" y="0"/>
                    </a:lnTo>
                    <a:cubicBezTo>
                      <a:pt x="20544" y="35"/>
                      <a:pt x="35" y="20544"/>
                      <a:pt x="0" y="45853"/>
                    </a:cubicBezTo>
                    <a:lnTo>
                      <a:pt x="0" y="554920"/>
                    </a:lnTo>
                    <a:cubicBezTo>
                      <a:pt x="0" y="580257"/>
                      <a:pt x="20519" y="600799"/>
                      <a:pt x="45853" y="600837"/>
                    </a:cubicBezTo>
                    <a:lnTo>
                      <a:pt x="554920" y="600837"/>
                    </a:lnTo>
                    <a:cubicBezTo>
                      <a:pt x="580282" y="600837"/>
                      <a:pt x="600837" y="580282"/>
                      <a:pt x="600837" y="554920"/>
                    </a:cubicBezTo>
                    <a:lnTo>
                      <a:pt x="600837" y="45853"/>
                    </a:lnTo>
                    <a:cubicBezTo>
                      <a:pt x="600799" y="20519"/>
                      <a:pt x="580257" y="0"/>
                      <a:pt x="554920" y="0"/>
                    </a:cubicBezTo>
                    <a:close/>
                  </a:path>
                </a:pathLst>
              </a:custGeom>
              <a:solidFill>
                <a:srgbClr val="0193C2"/>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rtl="0">
                  <a:lnSpc>
                    <a:spcPct val="100000"/>
                  </a:lnSpc>
                  <a:spcBef>
                    <a:spcPts val="0"/>
                  </a:spcBef>
                  <a:spcAft>
                    <a:spcPts val="0"/>
                  </a:spcAft>
                  <a:buClr>
                    <a:srgbClr val="000000"/>
                  </a:buClr>
                  <a:buSzPts val="1700"/>
                  <a:buFont typeface="Arial"/>
                  <a:buNone/>
                </a:pPr>
                <a:endParaRPr sz="1700" b="0" i="0" u="none" strike="noStrike" cap="none">
                  <a:solidFill>
                    <a:srgbClr val="717074"/>
                  </a:solidFill>
                  <a:latin typeface="Arial"/>
                  <a:ea typeface="Arial"/>
                  <a:cs typeface="Arial"/>
                  <a:sym typeface="Arial"/>
                </a:endParaRPr>
              </a:p>
            </p:txBody>
          </p:sp>
        </p:grpSp>
        <p:pic>
          <p:nvPicPr>
            <p:cNvPr id="8193" name="Google Shape;8193;p72" descr="vSAN Database&#10;"/>
            <p:cNvPicPr preferRelativeResize="0"/>
            <p:nvPr/>
          </p:nvPicPr>
          <p:blipFill rotWithShape="1">
            <a:blip r:embed="rId5">
              <a:alphaModFix/>
            </a:blip>
            <a:srcRect/>
            <a:stretch/>
          </p:blipFill>
          <p:spPr>
            <a:xfrm>
              <a:off x="8329876" y="4022214"/>
              <a:ext cx="339877" cy="339792"/>
            </a:xfrm>
            <a:prstGeom prst="rect">
              <a:avLst/>
            </a:prstGeom>
            <a:solidFill>
              <a:srgbClr val="FFFFFF"/>
            </a:solidFill>
            <a:ln>
              <a:noFill/>
            </a:ln>
          </p:spPr>
        </p:pic>
        <p:cxnSp>
          <p:nvCxnSpPr>
            <p:cNvPr id="8194" name="Google Shape;8194;p72"/>
            <p:cNvCxnSpPr/>
            <p:nvPr/>
          </p:nvCxnSpPr>
          <p:spPr>
            <a:xfrm>
              <a:off x="8176652" y="4173396"/>
              <a:ext cx="200100" cy="0"/>
            </a:xfrm>
            <a:prstGeom prst="straightConnector1">
              <a:avLst/>
            </a:prstGeom>
            <a:noFill/>
            <a:ln w="9525" cap="flat" cmpd="sng">
              <a:solidFill>
                <a:srgbClr val="0193C2"/>
              </a:solidFill>
              <a:prstDash val="solid"/>
              <a:round/>
              <a:headEnd type="none" w="sm" len="sm"/>
              <a:tailEnd type="triangle" w="med" len="med"/>
            </a:ln>
          </p:spPr>
        </p:cxnSp>
      </p:grpSp>
      <p:grpSp>
        <p:nvGrpSpPr>
          <p:cNvPr id="8195" name="Google Shape;8195;p72"/>
          <p:cNvGrpSpPr/>
          <p:nvPr/>
        </p:nvGrpSpPr>
        <p:grpSpPr>
          <a:xfrm>
            <a:off x="1852887" y="3372703"/>
            <a:ext cx="1051517" cy="864294"/>
            <a:chOff x="5343601" y="3571756"/>
            <a:chExt cx="1051517" cy="864294"/>
          </a:xfrm>
        </p:grpSpPr>
        <p:grpSp>
          <p:nvGrpSpPr>
            <p:cNvPr id="8196" name="Google Shape;8196;p72"/>
            <p:cNvGrpSpPr/>
            <p:nvPr/>
          </p:nvGrpSpPr>
          <p:grpSpPr>
            <a:xfrm>
              <a:off x="5343601" y="3571756"/>
              <a:ext cx="1051517" cy="864294"/>
              <a:chOff x="5677911" y="3307853"/>
              <a:chExt cx="1314725" cy="1020900"/>
            </a:xfrm>
          </p:grpSpPr>
          <p:sp>
            <p:nvSpPr>
              <p:cNvPr id="8197" name="Google Shape;8197;p72"/>
              <p:cNvSpPr/>
              <p:nvPr/>
            </p:nvSpPr>
            <p:spPr>
              <a:xfrm>
                <a:off x="5680736"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8198" name="Google Shape;8198;p72"/>
              <p:cNvSpPr/>
              <p:nvPr/>
            </p:nvSpPr>
            <p:spPr>
              <a:xfrm>
                <a:off x="5677911" y="3313168"/>
                <a:ext cx="1311900" cy="40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VM Service</a:t>
                </a:r>
                <a:endParaRPr sz="1400" b="0" i="0" u="none" strike="noStrike" cap="none">
                  <a:solidFill>
                    <a:srgbClr val="000000"/>
                  </a:solidFill>
                  <a:latin typeface="Arial"/>
                  <a:ea typeface="Arial"/>
                  <a:cs typeface="Arial"/>
                  <a:sym typeface="Arial"/>
                </a:endParaRPr>
              </a:p>
            </p:txBody>
          </p:sp>
        </p:grpSp>
        <p:sp>
          <p:nvSpPr>
            <p:cNvPr id="8199" name="Google Shape;8199;p72"/>
            <p:cNvSpPr/>
            <p:nvPr/>
          </p:nvSpPr>
          <p:spPr>
            <a:xfrm>
              <a:off x="5724925" y="3998562"/>
              <a:ext cx="340450" cy="340450"/>
            </a:xfrm>
            <a:custGeom>
              <a:avLst/>
              <a:gdLst/>
              <a:ahLst/>
              <a:cxnLst/>
              <a:rect l="l" t="t" r="r" b="b"/>
              <a:pathLst>
                <a:path w="384" h="384" extrusionOk="0">
                  <a:moveTo>
                    <a:pt x="368" y="16"/>
                  </a:moveTo>
                  <a:cubicBezTo>
                    <a:pt x="368" y="368"/>
                    <a:pt x="368" y="368"/>
                    <a:pt x="368" y="368"/>
                  </a:cubicBezTo>
                  <a:cubicBezTo>
                    <a:pt x="16" y="368"/>
                    <a:pt x="16" y="368"/>
                    <a:pt x="16" y="368"/>
                  </a:cubicBezTo>
                  <a:cubicBezTo>
                    <a:pt x="16" y="16"/>
                    <a:pt x="16" y="16"/>
                    <a:pt x="16" y="16"/>
                  </a:cubicBezTo>
                  <a:cubicBezTo>
                    <a:pt x="368" y="16"/>
                    <a:pt x="368" y="16"/>
                    <a:pt x="368" y="16"/>
                  </a:cubicBezTo>
                  <a:moveTo>
                    <a:pt x="384" y="0"/>
                  </a:moveTo>
                  <a:cubicBezTo>
                    <a:pt x="0" y="0"/>
                    <a:pt x="0" y="0"/>
                    <a:pt x="0" y="0"/>
                  </a:cubicBezTo>
                  <a:cubicBezTo>
                    <a:pt x="0" y="384"/>
                    <a:pt x="0" y="384"/>
                    <a:pt x="0" y="384"/>
                  </a:cubicBezTo>
                  <a:cubicBezTo>
                    <a:pt x="384" y="384"/>
                    <a:pt x="384" y="384"/>
                    <a:pt x="384" y="384"/>
                  </a:cubicBezTo>
                  <a:cubicBezTo>
                    <a:pt x="384" y="0"/>
                    <a:pt x="384" y="0"/>
                    <a:pt x="384" y="0"/>
                  </a:cubicBezTo>
                  <a:close/>
                  <a:moveTo>
                    <a:pt x="115" y="241"/>
                  </a:moveTo>
                  <a:cubicBezTo>
                    <a:pt x="121" y="241"/>
                    <a:pt x="125" y="237"/>
                    <a:pt x="127" y="231"/>
                  </a:cubicBezTo>
                  <a:cubicBezTo>
                    <a:pt x="127" y="231"/>
                    <a:pt x="127" y="231"/>
                    <a:pt x="159" y="160"/>
                  </a:cubicBezTo>
                  <a:cubicBezTo>
                    <a:pt x="159" y="159"/>
                    <a:pt x="160" y="157"/>
                    <a:pt x="160" y="154"/>
                  </a:cubicBezTo>
                  <a:cubicBezTo>
                    <a:pt x="160" y="149"/>
                    <a:pt x="155" y="144"/>
                    <a:pt x="149" y="144"/>
                  </a:cubicBezTo>
                  <a:cubicBezTo>
                    <a:pt x="144" y="144"/>
                    <a:pt x="141" y="148"/>
                    <a:pt x="139" y="152"/>
                  </a:cubicBezTo>
                  <a:cubicBezTo>
                    <a:pt x="139" y="152"/>
                    <a:pt x="139" y="152"/>
                    <a:pt x="115" y="214"/>
                  </a:cubicBezTo>
                  <a:cubicBezTo>
                    <a:pt x="115" y="214"/>
                    <a:pt x="115" y="214"/>
                    <a:pt x="91" y="152"/>
                  </a:cubicBezTo>
                  <a:cubicBezTo>
                    <a:pt x="89" y="148"/>
                    <a:pt x="86" y="144"/>
                    <a:pt x="80" y="144"/>
                  </a:cubicBezTo>
                  <a:cubicBezTo>
                    <a:pt x="74" y="144"/>
                    <a:pt x="69" y="149"/>
                    <a:pt x="69" y="154"/>
                  </a:cubicBezTo>
                  <a:cubicBezTo>
                    <a:pt x="69" y="157"/>
                    <a:pt x="70" y="158"/>
                    <a:pt x="71" y="160"/>
                  </a:cubicBezTo>
                  <a:cubicBezTo>
                    <a:pt x="71" y="160"/>
                    <a:pt x="71" y="160"/>
                    <a:pt x="102" y="231"/>
                  </a:cubicBezTo>
                  <a:cubicBezTo>
                    <a:pt x="105" y="237"/>
                    <a:pt x="108" y="241"/>
                    <a:pt x="114" y="241"/>
                  </a:cubicBezTo>
                  <a:cubicBezTo>
                    <a:pt x="114" y="241"/>
                    <a:pt x="114" y="241"/>
                    <a:pt x="115" y="241"/>
                  </a:cubicBezTo>
                  <a:close/>
                  <a:moveTo>
                    <a:pt x="177" y="155"/>
                  </a:moveTo>
                  <a:cubicBezTo>
                    <a:pt x="177" y="155"/>
                    <a:pt x="177" y="155"/>
                    <a:pt x="177" y="155"/>
                  </a:cubicBezTo>
                  <a:cubicBezTo>
                    <a:pt x="177" y="230"/>
                    <a:pt x="177" y="230"/>
                    <a:pt x="177" y="230"/>
                  </a:cubicBezTo>
                  <a:cubicBezTo>
                    <a:pt x="177" y="236"/>
                    <a:pt x="182" y="240"/>
                    <a:pt x="188" y="240"/>
                  </a:cubicBezTo>
                  <a:cubicBezTo>
                    <a:pt x="194" y="240"/>
                    <a:pt x="198" y="236"/>
                    <a:pt x="198" y="230"/>
                  </a:cubicBezTo>
                  <a:cubicBezTo>
                    <a:pt x="198" y="230"/>
                    <a:pt x="198" y="230"/>
                    <a:pt x="198" y="186"/>
                  </a:cubicBezTo>
                  <a:cubicBezTo>
                    <a:pt x="198" y="172"/>
                    <a:pt x="206" y="163"/>
                    <a:pt x="218" y="163"/>
                  </a:cubicBezTo>
                  <a:cubicBezTo>
                    <a:pt x="230" y="163"/>
                    <a:pt x="237" y="172"/>
                    <a:pt x="237" y="186"/>
                  </a:cubicBezTo>
                  <a:cubicBezTo>
                    <a:pt x="237" y="186"/>
                    <a:pt x="237" y="186"/>
                    <a:pt x="237" y="230"/>
                  </a:cubicBezTo>
                  <a:cubicBezTo>
                    <a:pt x="237" y="236"/>
                    <a:pt x="242" y="240"/>
                    <a:pt x="248" y="240"/>
                  </a:cubicBezTo>
                  <a:cubicBezTo>
                    <a:pt x="254" y="240"/>
                    <a:pt x="259" y="236"/>
                    <a:pt x="259" y="230"/>
                  </a:cubicBezTo>
                  <a:cubicBezTo>
                    <a:pt x="259" y="230"/>
                    <a:pt x="259" y="230"/>
                    <a:pt x="259" y="186"/>
                  </a:cubicBezTo>
                  <a:cubicBezTo>
                    <a:pt x="259" y="172"/>
                    <a:pt x="267" y="163"/>
                    <a:pt x="278" y="163"/>
                  </a:cubicBezTo>
                  <a:cubicBezTo>
                    <a:pt x="290" y="163"/>
                    <a:pt x="297" y="171"/>
                    <a:pt x="297" y="186"/>
                  </a:cubicBezTo>
                  <a:cubicBezTo>
                    <a:pt x="297" y="186"/>
                    <a:pt x="297" y="186"/>
                    <a:pt x="297" y="230"/>
                  </a:cubicBezTo>
                  <a:cubicBezTo>
                    <a:pt x="297" y="236"/>
                    <a:pt x="302" y="240"/>
                    <a:pt x="308" y="240"/>
                  </a:cubicBezTo>
                  <a:cubicBezTo>
                    <a:pt x="314" y="240"/>
                    <a:pt x="318" y="236"/>
                    <a:pt x="318" y="230"/>
                  </a:cubicBezTo>
                  <a:cubicBezTo>
                    <a:pt x="318" y="230"/>
                    <a:pt x="318" y="230"/>
                    <a:pt x="318" y="180"/>
                  </a:cubicBezTo>
                  <a:cubicBezTo>
                    <a:pt x="318" y="157"/>
                    <a:pt x="306" y="144"/>
                    <a:pt x="286" y="144"/>
                  </a:cubicBezTo>
                  <a:cubicBezTo>
                    <a:pt x="272" y="144"/>
                    <a:pt x="262" y="150"/>
                    <a:pt x="254" y="160"/>
                  </a:cubicBezTo>
                  <a:cubicBezTo>
                    <a:pt x="250" y="150"/>
                    <a:pt x="240" y="144"/>
                    <a:pt x="227" y="144"/>
                  </a:cubicBezTo>
                  <a:cubicBezTo>
                    <a:pt x="212" y="144"/>
                    <a:pt x="204" y="152"/>
                    <a:pt x="198" y="160"/>
                  </a:cubicBezTo>
                  <a:cubicBezTo>
                    <a:pt x="198" y="160"/>
                    <a:pt x="198" y="160"/>
                    <a:pt x="198" y="155"/>
                  </a:cubicBezTo>
                  <a:cubicBezTo>
                    <a:pt x="198" y="149"/>
                    <a:pt x="194" y="145"/>
                    <a:pt x="188" y="145"/>
                  </a:cubicBezTo>
                  <a:cubicBezTo>
                    <a:pt x="182" y="145"/>
                    <a:pt x="177" y="149"/>
                    <a:pt x="177" y="15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717074"/>
                </a:solidFill>
                <a:latin typeface="Arial"/>
                <a:ea typeface="Arial"/>
                <a:cs typeface="Arial"/>
                <a:sym typeface="Arial"/>
              </a:endParaRPr>
            </a:p>
          </p:txBody>
        </p:sp>
      </p:grpSp>
      <p:grpSp>
        <p:nvGrpSpPr>
          <p:cNvPr id="8200" name="Google Shape;8200;p72"/>
          <p:cNvGrpSpPr/>
          <p:nvPr/>
        </p:nvGrpSpPr>
        <p:grpSpPr>
          <a:xfrm>
            <a:off x="683599" y="3376591"/>
            <a:ext cx="1051619" cy="864294"/>
            <a:chOff x="2995027" y="3575644"/>
            <a:chExt cx="1051619" cy="864294"/>
          </a:xfrm>
        </p:grpSpPr>
        <p:grpSp>
          <p:nvGrpSpPr>
            <p:cNvPr id="8201" name="Google Shape;8201;p72"/>
            <p:cNvGrpSpPr/>
            <p:nvPr/>
          </p:nvGrpSpPr>
          <p:grpSpPr>
            <a:xfrm>
              <a:off x="2995027" y="3575644"/>
              <a:ext cx="1051619" cy="864294"/>
              <a:chOff x="2967962" y="3307853"/>
              <a:chExt cx="1311900" cy="1020900"/>
            </a:xfrm>
          </p:grpSpPr>
          <p:sp>
            <p:nvSpPr>
              <p:cNvPr id="8202" name="Google Shape;8202;p72"/>
              <p:cNvSpPr/>
              <p:nvPr/>
            </p:nvSpPr>
            <p:spPr>
              <a:xfrm>
                <a:off x="2967962"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8203" name="Google Shape;8203;p72"/>
              <p:cNvSpPr txBox="1"/>
              <p:nvPr/>
            </p:nvSpPr>
            <p:spPr>
              <a:xfrm>
                <a:off x="2990321" y="3314416"/>
                <a:ext cx="1289400" cy="458100"/>
              </a:xfrm>
              <a:prstGeom prst="rect">
                <a:avLst/>
              </a:prstGeom>
              <a:noFill/>
              <a:ln>
                <a:noFill/>
              </a:ln>
            </p:spPr>
            <p:txBody>
              <a:bodyPr spcFirstLastPara="1" wrap="square" lIns="91400" tIns="91400" rIns="91400" bIns="914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800" b="0" i="0" u="none" strike="noStrike" cap="none">
                    <a:solidFill>
                      <a:schemeClr val="dk2"/>
                    </a:solidFill>
                    <a:latin typeface="Arial"/>
                    <a:ea typeface="Arial"/>
                    <a:cs typeface="Arial"/>
                    <a:sym typeface="Arial"/>
                  </a:rPr>
                  <a:t>vSphere Kubernetes Service (VKS)</a:t>
                </a:r>
                <a:endParaRPr sz="800" b="0" i="0" u="none" strike="noStrike" cap="none">
                  <a:solidFill>
                    <a:schemeClr val="dk2"/>
                  </a:solidFill>
                  <a:latin typeface="Arial"/>
                  <a:ea typeface="Arial"/>
                  <a:cs typeface="Arial"/>
                  <a:sym typeface="Arial"/>
                </a:endParaRPr>
              </a:p>
            </p:txBody>
          </p:sp>
        </p:grpSp>
        <p:pic>
          <p:nvPicPr>
            <p:cNvPr id="8204" name="Google Shape;8204;p72"/>
            <p:cNvPicPr preferRelativeResize="0"/>
            <p:nvPr/>
          </p:nvPicPr>
          <p:blipFill rotWithShape="1">
            <a:blip r:embed="rId6">
              <a:alphaModFix/>
            </a:blip>
            <a:srcRect/>
            <a:stretch/>
          </p:blipFill>
          <p:spPr>
            <a:xfrm>
              <a:off x="3398948" y="4022187"/>
              <a:ext cx="339875" cy="339875"/>
            </a:xfrm>
            <a:prstGeom prst="rect">
              <a:avLst/>
            </a:prstGeom>
            <a:noFill/>
            <a:ln>
              <a:noFill/>
            </a:ln>
          </p:spPr>
        </p:pic>
        <p:sp>
          <p:nvSpPr>
            <p:cNvPr id="8205" name="Google Shape;8205;p72"/>
            <p:cNvSpPr/>
            <p:nvPr/>
          </p:nvSpPr>
          <p:spPr>
            <a:xfrm>
              <a:off x="3354028" y="4030180"/>
              <a:ext cx="200096" cy="315780"/>
            </a:xfrm>
            <a:custGeom>
              <a:avLst/>
              <a:gdLst/>
              <a:ahLst/>
              <a:cxnLst/>
              <a:rect l="l" t="t" r="r" b="b"/>
              <a:pathLst>
                <a:path w="168857" h="254661" extrusionOk="0">
                  <a:moveTo>
                    <a:pt x="130750" y="0"/>
                  </a:moveTo>
                  <a:lnTo>
                    <a:pt x="168857" y="18455"/>
                  </a:lnTo>
                  <a:lnTo>
                    <a:pt x="160847" y="22166"/>
                  </a:lnTo>
                  <a:lnTo>
                    <a:pt x="130750" y="7659"/>
                  </a:lnTo>
                  <a:lnTo>
                    <a:pt x="32004" y="55254"/>
                  </a:lnTo>
                  <a:lnTo>
                    <a:pt x="7659" y="162207"/>
                  </a:lnTo>
                  <a:lnTo>
                    <a:pt x="76043" y="247823"/>
                  </a:lnTo>
                  <a:lnTo>
                    <a:pt x="109554" y="247823"/>
                  </a:lnTo>
                  <a:lnTo>
                    <a:pt x="115177" y="254661"/>
                  </a:lnTo>
                  <a:lnTo>
                    <a:pt x="72487" y="254661"/>
                  </a:lnTo>
                  <a:lnTo>
                    <a:pt x="0" y="163848"/>
                  </a:lnTo>
                  <a:lnTo>
                    <a:pt x="25986" y="5060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chemeClr val="dk1"/>
                </a:solidFill>
                <a:latin typeface="Arial"/>
                <a:ea typeface="Arial"/>
                <a:cs typeface="Arial"/>
                <a:sym typeface="Arial"/>
              </a:endParaRPr>
            </a:p>
          </p:txBody>
        </p:sp>
        <p:sp>
          <p:nvSpPr>
            <p:cNvPr id="8206" name="Google Shape;8206;p72"/>
            <p:cNvSpPr/>
            <p:nvPr/>
          </p:nvSpPr>
          <p:spPr>
            <a:xfrm>
              <a:off x="3297920" y="4023483"/>
              <a:ext cx="200096" cy="315780"/>
            </a:xfrm>
            <a:custGeom>
              <a:avLst/>
              <a:gdLst/>
              <a:ahLst/>
              <a:cxnLst/>
              <a:rect l="l" t="t" r="r" b="b"/>
              <a:pathLst>
                <a:path w="168857" h="254661" extrusionOk="0">
                  <a:moveTo>
                    <a:pt x="130750" y="0"/>
                  </a:moveTo>
                  <a:lnTo>
                    <a:pt x="168857" y="18455"/>
                  </a:lnTo>
                  <a:lnTo>
                    <a:pt x="160847" y="22166"/>
                  </a:lnTo>
                  <a:lnTo>
                    <a:pt x="130750" y="7659"/>
                  </a:lnTo>
                  <a:lnTo>
                    <a:pt x="32004" y="55254"/>
                  </a:lnTo>
                  <a:lnTo>
                    <a:pt x="7659" y="162207"/>
                  </a:lnTo>
                  <a:lnTo>
                    <a:pt x="76043" y="247823"/>
                  </a:lnTo>
                  <a:lnTo>
                    <a:pt x="109554" y="247823"/>
                  </a:lnTo>
                  <a:lnTo>
                    <a:pt x="115177" y="254661"/>
                  </a:lnTo>
                  <a:lnTo>
                    <a:pt x="72487" y="254661"/>
                  </a:lnTo>
                  <a:lnTo>
                    <a:pt x="0" y="163848"/>
                  </a:lnTo>
                  <a:lnTo>
                    <a:pt x="25986" y="5060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chemeClr val="dk1"/>
                </a:solidFill>
                <a:latin typeface="Arial"/>
                <a:ea typeface="Arial"/>
                <a:cs typeface="Arial"/>
                <a:sym typeface="Arial"/>
              </a:endParaRPr>
            </a:p>
          </p:txBody>
        </p:sp>
      </p:grpSp>
      <p:grpSp>
        <p:nvGrpSpPr>
          <p:cNvPr id="8207" name="Google Shape;8207;p72"/>
          <p:cNvGrpSpPr/>
          <p:nvPr/>
        </p:nvGrpSpPr>
        <p:grpSpPr>
          <a:xfrm>
            <a:off x="4847274" y="1945451"/>
            <a:ext cx="1051517" cy="864294"/>
            <a:chOff x="5343601" y="3571756"/>
            <a:chExt cx="1051517" cy="864294"/>
          </a:xfrm>
        </p:grpSpPr>
        <p:grpSp>
          <p:nvGrpSpPr>
            <p:cNvPr id="8208" name="Google Shape;8208;p72"/>
            <p:cNvGrpSpPr/>
            <p:nvPr/>
          </p:nvGrpSpPr>
          <p:grpSpPr>
            <a:xfrm>
              <a:off x="5343601" y="3571756"/>
              <a:ext cx="1051517" cy="864294"/>
              <a:chOff x="5677911" y="3307853"/>
              <a:chExt cx="1314725" cy="1020900"/>
            </a:xfrm>
          </p:grpSpPr>
          <p:sp>
            <p:nvSpPr>
              <p:cNvPr id="8209" name="Google Shape;8209;p72"/>
              <p:cNvSpPr/>
              <p:nvPr/>
            </p:nvSpPr>
            <p:spPr>
              <a:xfrm>
                <a:off x="5680736" y="3307853"/>
                <a:ext cx="1311900" cy="1020900"/>
              </a:xfrm>
              <a:prstGeom prst="roundRect">
                <a:avLst>
                  <a:gd name="adj" fmla="val 6270"/>
                </a:avLst>
              </a:prstGeom>
              <a:solidFill>
                <a:schemeClr val="lt1"/>
              </a:solidFill>
              <a:ln w="12700" cap="flat" cmpd="sng">
                <a:solidFill>
                  <a:srgbClr val="005C8A">
                    <a:alpha val="49803"/>
                  </a:srgbClr>
                </a:solidFill>
                <a:prstDash val="dot"/>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8210" name="Google Shape;8210;p72"/>
              <p:cNvSpPr/>
              <p:nvPr/>
            </p:nvSpPr>
            <p:spPr>
              <a:xfrm>
                <a:off x="5677911" y="3313168"/>
                <a:ext cx="1311900" cy="40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Operators</a:t>
                </a:r>
                <a:endParaRPr sz="1400" b="0" i="0" u="none" strike="noStrike" cap="none">
                  <a:solidFill>
                    <a:srgbClr val="000000"/>
                  </a:solidFill>
                  <a:latin typeface="Arial"/>
                  <a:ea typeface="Arial"/>
                  <a:cs typeface="Arial"/>
                  <a:sym typeface="Arial"/>
                </a:endParaRPr>
              </a:p>
            </p:txBody>
          </p:sp>
        </p:grpSp>
        <p:grpSp>
          <p:nvGrpSpPr>
            <p:cNvPr id="8211" name="Google Shape;8211;p72"/>
            <p:cNvGrpSpPr/>
            <p:nvPr/>
          </p:nvGrpSpPr>
          <p:grpSpPr>
            <a:xfrm>
              <a:off x="5675839" y="4003193"/>
              <a:ext cx="340454" cy="340427"/>
              <a:chOff x="5622261" y="3790312"/>
              <a:chExt cx="340454" cy="340427"/>
            </a:xfrm>
          </p:grpSpPr>
          <p:sp>
            <p:nvSpPr>
              <p:cNvPr id="8212" name="Google Shape;8212;p72"/>
              <p:cNvSpPr/>
              <p:nvPr/>
            </p:nvSpPr>
            <p:spPr>
              <a:xfrm>
                <a:off x="5693714" y="3861767"/>
                <a:ext cx="197089" cy="197089"/>
              </a:xfrm>
              <a:custGeom>
                <a:avLst/>
                <a:gdLst/>
                <a:ahLst/>
                <a:cxnLst/>
                <a:rect l="l" t="t" r="r" b="b"/>
                <a:pathLst>
                  <a:path w="640940" h="640940" extrusionOk="0">
                    <a:moveTo>
                      <a:pt x="320471" y="640941"/>
                    </a:moveTo>
                    <a:cubicBezTo>
                      <a:pt x="312403" y="640941"/>
                      <a:pt x="305859" y="634397"/>
                      <a:pt x="305859" y="626329"/>
                    </a:cubicBezTo>
                    <a:cubicBezTo>
                      <a:pt x="305859" y="618262"/>
                      <a:pt x="312403" y="611718"/>
                      <a:pt x="320471" y="611718"/>
                    </a:cubicBezTo>
                    <a:cubicBezTo>
                      <a:pt x="481109" y="611718"/>
                      <a:pt x="611807" y="481020"/>
                      <a:pt x="611807" y="320381"/>
                    </a:cubicBezTo>
                    <a:cubicBezTo>
                      <a:pt x="611807" y="159742"/>
                      <a:pt x="481109" y="29044"/>
                      <a:pt x="320471" y="29044"/>
                    </a:cubicBezTo>
                    <a:cubicBezTo>
                      <a:pt x="159832" y="29044"/>
                      <a:pt x="29134" y="159742"/>
                      <a:pt x="29134" y="320381"/>
                    </a:cubicBezTo>
                    <a:cubicBezTo>
                      <a:pt x="29134" y="328449"/>
                      <a:pt x="22590" y="334993"/>
                      <a:pt x="14522" y="334993"/>
                    </a:cubicBezTo>
                    <a:cubicBezTo>
                      <a:pt x="6454" y="334993"/>
                      <a:pt x="0" y="328538"/>
                      <a:pt x="0" y="320471"/>
                    </a:cubicBezTo>
                    <a:cubicBezTo>
                      <a:pt x="0" y="143786"/>
                      <a:pt x="143786" y="0"/>
                      <a:pt x="320471" y="0"/>
                    </a:cubicBezTo>
                    <a:cubicBezTo>
                      <a:pt x="497155" y="0"/>
                      <a:pt x="640941" y="143786"/>
                      <a:pt x="640941" y="320471"/>
                    </a:cubicBezTo>
                    <a:cubicBezTo>
                      <a:pt x="640941" y="497155"/>
                      <a:pt x="497155" y="640941"/>
                      <a:pt x="320471" y="64094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sp>
            <p:nvSpPr>
              <p:cNvPr id="8213" name="Google Shape;8213;p72"/>
              <p:cNvSpPr/>
              <p:nvPr/>
            </p:nvSpPr>
            <p:spPr>
              <a:xfrm>
                <a:off x="5622261" y="3790312"/>
                <a:ext cx="340454" cy="340427"/>
              </a:xfrm>
              <a:custGeom>
                <a:avLst/>
                <a:gdLst/>
                <a:ahLst/>
                <a:cxnLst/>
                <a:rect l="l" t="t" r="r" b="b"/>
                <a:pathLst>
                  <a:path w="1107169" h="1107079" extrusionOk="0">
                    <a:moveTo>
                      <a:pt x="643003" y="1107080"/>
                    </a:moveTo>
                    <a:lnTo>
                      <a:pt x="458699" y="1107080"/>
                    </a:lnTo>
                    <a:lnTo>
                      <a:pt x="454754" y="1098833"/>
                    </a:lnTo>
                    <a:cubicBezTo>
                      <a:pt x="448659" y="1086193"/>
                      <a:pt x="442832" y="1067458"/>
                      <a:pt x="437005" y="1041552"/>
                    </a:cubicBezTo>
                    <a:cubicBezTo>
                      <a:pt x="432165" y="1020575"/>
                      <a:pt x="427951" y="1004709"/>
                      <a:pt x="424455" y="994221"/>
                    </a:cubicBezTo>
                    <a:cubicBezTo>
                      <a:pt x="363947" y="967507"/>
                      <a:pt x="340819" y="957019"/>
                      <a:pt x="331496" y="952537"/>
                    </a:cubicBezTo>
                    <a:cubicBezTo>
                      <a:pt x="319216" y="957019"/>
                      <a:pt x="304962" y="964190"/>
                      <a:pt x="288916" y="974051"/>
                    </a:cubicBezTo>
                    <a:cubicBezTo>
                      <a:pt x="265520" y="988483"/>
                      <a:pt x="249384" y="997717"/>
                      <a:pt x="239613" y="1002019"/>
                    </a:cubicBezTo>
                    <a:lnTo>
                      <a:pt x="232352" y="1005246"/>
                    </a:lnTo>
                    <a:lnTo>
                      <a:pt x="225719" y="1000944"/>
                    </a:lnTo>
                    <a:cubicBezTo>
                      <a:pt x="210031" y="990724"/>
                      <a:pt x="169961" y="952716"/>
                      <a:pt x="103178" y="884678"/>
                    </a:cubicBezTo>
                    <a:lnTo>
                      <a:pt x="97262" y="878672"/>
                    </a:lnTo>
                    <a:lnTo>
                      <a:pt x="99503" y="870604"/>
                    </a:lnTo>
                    <a:cubicBezTo>
                      <a:pt x="101564" y="862895"/>
                      <a:pt x="109184" y="844608"/>
                      <a:pt x="149613" y="774687"/>
                    </a:cubicBezTo>
                    <a:cubicBezTo>
                      <a:pt x="146654" y="767516"/>
                      <a:pt x="140738" y="753800"/>
                      <a:pt x="128995" y="727804"/>
                    </a:cubicBezTo>
                    <a:cubicBezTo>
                      <a:pt x="120748" y="708800"/>
                      <a:pt x="114921" y="691230"/>
                      <a:pt x="111604" y="675274"/>
                    </a:cubicBezTo>
                    <a:cubicBezTo>
                      <a:pt x="98068" y="672943"/>
                      <a:pt x="82291" y="669358"/>
                      <a:pt x="64453" y="664517"/>
                    </a:cubicBezTo>
                    <a:cubicBezTo>
                      <a:pt x="38994" y="657077"/>
                      <a:pt x="21335" y="652326"/>
                      <a:pt x="11833" y="650443"/>
                    </a:cubicBezTo>
                    <a:lnTo>
                      <a:pt x="0" y="648202"/>
                    </a:lnTo>
                    <a:lnTo>
                      <a:pt x="0" y="454037"/>
                    </a:lnTo>
                    <a:lnTo>
                      <a:pt x="11295" y="451438"/>
                    </a:lnTo>
                    <a:cubicBezTo>
                      <a:pt x="19452" y="449555"/>
                      <a:pt x="36484" y="444804"/>
                      <a:pt x="61853" y="437364"/>
                    </a:cubicBezTo>
                    <a:cubicBezTo>
                      <a:pt x="80050" y="432075"/>
                      <a:pt x="95738" y="428310"/>
                      <a:pt x="109363" y="426069"/>
                    </a:cubicBezTo>
                    <a:cubicBezTo>
                      <a:pt x="114204" y="416298"/>
                      <a:pt x="121286" y="400431"/>
                      <a:pt x="130340" y="378828"/>
                    </a:cubicBezTo>
                    <a:cubicBezTo>
                      <a:pt x="138856" y="358389"/>
                      <a:pt x="146654" y="342433"/>
                      <a:pt x="154005" y="330421"/>
                    </a:cubicBezTo>
                    <a:cubicBezTo>
                      <a:pt x="124961" y="276456"/>
                      <a:pt x="110080" y="255211"/>
                      <a:pt x="102640" y="246874"/>
                    </a:cubicBezTo>
                    <a:lnTo>
                      <a:pt x="95021" y="238269"/>
                    </a:lnTo>
                    <a:lnTo>
                      <a:pt x="101564" y="228856"/>
                    </a:lnTo>
                    <a:cubicBezTo>
                      <a:pt x="112232" y="213438"/>
                      <a:pt x="152123" y="172202"/>
                      <a:pt x="223478" y="102730"/>
                    </a:cubicBezTo>
                    <a:lnTo>
                      <a:pt x="230828" y="95558"/>
                    </a:lnTo>
                    <a:lnTo>
                      <a:pt x="240062" y="100041"/>
                    </a:lnTo>
                    <a:cubicBezTo>
                      <a:pt x="279773" y="119314"/>
                      <a:pt x="311506" y="137332"/>
                      <a:pt x="334544" y="153557"/>
                    </a:cubicBezTo>
                    <a:cubicBezTo>
                      <a:pt x="390750" y="129174"/>
                      <a:pt x="416656" y="119762"/>
                      <a:pt x="430013" y="116266"/>
                    </a:cubicBezTo>
                    <a:cubicBezTo>
                      <a:pt x="432344" y="107929"/>
                      <a:pt x="436378" y="93228"/>
                      <a:pt x="443280" y="67232"/>
                    </a:cubicBezTo>
                    <a:cubicBezTo>
                      <a:pt x="449286" y="44283"/>
                      <a:pt x="454754" y="25100"/>
                      <a:pt x="459326" y="10309"/>
                    </a:cubicBezTo>
                    <a:lnTo>
                      <a:pt x="462374" y="0"/>
                    </a:lnTo>
                    <a:lnTo>
                      <a:pt x="649098" y="0"/>
                    </a:lnTo>
                    <a:lnTo>
                      <a:pt x="652774" y="9143"/>
                    </a:lnTo>
                    <a:cubicBezTo>
                      <a:pt x="658869" y="24203"/>
                      <a:pt x="668820" y="58178"/>
                      <a:pt x="683252" y="113039"/>
                    </a:cubicBezTo>
                    <a:cubicBezTo>
                      <a:pt x="690603" y="116087"/>
                      <a:pt x="704318" y="121465"/>
                      <a:pt x="729776" y="131057"/>
                    </a:cubicBezTo>
                    <a:cubicBezTo>
                      <a:pt x="750125" y="138676"/>
                      <a:pt x="765902" y="146296"/>
                      <a:pt x="777824" y="154184"/>
                    </a:cubicBezTo>
                    <a:cubicBezTo>
                      <a:pt x="789568" y="150061"/>
                      <a:pt x="802924" y="143069"/>
                      <a:pt x="817895" y="133208"/>
                    </a:cubicBezTo>
                    <a:cubicBezTo>
                      <a:pt x="841829" y="118417"/>
                      <a:pt x="858323" y="109184"/>
                      <a:pt x="868632" y="104881"/>
                    </a:cubicBezTo>
                    <a:lnTo>
                      <a:pt x="875534" y="102013"/>
                    </a:lnTo>
                    <a:lnTo>
                      <a:pt x="881899" y="105867"/>
                    </a:lnTo>
                    <a:cubicBezTo>
                      <a:pt x="901351" y="117700"/>
                      <a:pt x="923045" y="136704"/>
                      <a:pt x="948413" y="164045"/>
                    </a:cubicBezTo>
                    <a:cubicBezTo>
                      <a:pt x="975844" y="192282"/>
                      <a:pt x="995924" y="211645"/>
                      <a:pt x="1008025" y="221147"/>
                    </a:cubicBezTo>
                    <a:lnTo>
                      <a:pt x="1017617" y="228767"/>
                    </a:lnTo>
                    <a:lnTo>
                      <a:pt x="1011790" y="239524"/>
                    </a:lnTo>
                    <a:cubicBezTo>
                      <a:pt x="988932" y="281745"/>
                      <a:pt x="971182" y="312492"/>
                      <a:pt x="957736" y="333110"/>
                    </a:cubicBezTo>
                    <a:cubicBezTo>
                      <a:pt x="978981" y="394067"/>
                      <a:pt x="988394" y="420153"/>
                      <a:pt x="992607" y="430999"/>
                    </a:cubicBezTo>
                    <a:cubicBezTo>
                      <a:pt x="1007308" y="433061"/>
                      <a:pt x="1024251" y="436916"/>
                      <a:pt x="1043165" y="442563"/>
                    </a:cubicBezTo>
                    <a:cubicBezTo>
                      <a:pt x="1068355" y="449914"/>
                      <a:pt x="1086014" y="454665"/>
                      <a:pt x="1095426" y="456547"/>
                    </a:cubicBezTo>
                    <a:lnTo>
                      <a:pt x="1107170" y="458878"/>
                    </a:lnTo>
                    <a:lnTo>
                      <a:pt x="1107170" y="653043"/>
                    </a:lnTo>
                    <a:lnTo>
                      <a:pt x="1095875" y="655642"/>
                    </a:lnTo>
                    <a:cubicBezTo>
                      <a:pt x="1090048" y="656987"/>
                      <a:pt x="1076512" y="660573"/>
                      <a:pt x="1045317" y="669716"/>
                    </a:cubicBezTo>
                    <a:cubicBezTo>
                      <a:pt x="1027298" y="674915"/>
                      <a:pt x="1011253" y="678770"/>
                      <a:pt x="997627" y="681101"/>
                    </a:cubicBezTo>
                    <a:cubicBezTo>
                      <a:pt x="993683" y="688900"/>
                      <a:pt x="987408" y="702973"/>
                      <a:pt x="977816" y="728521"/>
                    </a:cubicBezTo>
                    <a:cubicBezTo>
                      <a:pt x="970196" y="749587"/>
                      <a:pt x="962398" y="765723"/>
                      <a:pt x="953971" y="777287"/>
                    </a:cubicBezTo>
                    <a:cubicBezTo>
                      <a:pt x="958991" y="785803"/>
                      <a:pt x="966611" y="799070"/>
                      <a:pt x="976830" y="816908"/>
                    </a:cubicBezTo>
                    <a:cubicBezTo>
                      <a:pt x="987587" y="835823"/>
                      <a:pt x="997089" y="850614"/>
                      <a:pt x="1005157" y="861012"/>
                    </a:cubicBezTo>
                    <a:lnTo>
                      <a:pt x="1011701" y="869439"/>
                    </a:lnTo>
                    <a:lnTo>
                      <a:pt x="1005605" y="878224"/>
                    </a:lnTo>
                    <a:cubicBezTo>
                      <a:pt x="994938" y="893732"/>
                      <a:pt x="955316" y="934967"/>
                      <a:pt x="884499" y="1004350"/>
                    </a:cubicBezTo>
                    <a:lnTo>
                      <a:pt x="877238" y="1011432"/>
                    </a:lnTo>
                    <a:lnTo>
                      <a:pt x="868094" y="1007039"/>
                    </a:lnTo>
                    <a:cubicBezTo>
                      <a:pt x="836450" y="992069"/>
                      <a:pt x="805076" y="974141"/>
                      <a:pt x="774777" y="953882"/>
                    </a:cubicBezTo>
                    <a:cubicBezTo>
                      <a:pt x="742147" y="972169"/>
                      <a:pt x="710503" y="984629"/>
                      <a:pt x="680652" y="991083"/>
                    </a:cubicBezTo>
                    <a:cubicBezTo>
                      <a:pt x="676529" y="999420"/>
                      <a:pt x="671240" y="1013673"/>
                      <a:pt x="665682" y="1037787"/>
                    </a:cubicBezTo>
                    <a:cubicBezTo>
                      <a:pt x="658780" y="1067727"/>
                      <a:pt x="652774" y="1087717"/>
                      <a:pt x="647126" y="1098922"/>
                    </a:cubicBezTo>
                    <a:lnTo>
                      <a:pt x="643003" y="1107080"/>
                    </a:lnTo>
                    <a:close/>
                    <a:moveTo>
                      <a:pt x="477434" y="1077946"/>
                    </a:moveTo>
                    <a:lnTo>
                      <a:pt x="624357" y="1077946"/>
                    </a:lnTo>
                    <a:cubicBezTo>
                      <a:pt x="627495" y="1069430"/>
                      <a:pt x="631708" y="1055177"/>
                      <a:pt x="637176" y="1031332"/>
                    </a:cubicBezTo>
                    <a:cubicBezTo>
                      <a:pt x="643630" y="1003543"/>
                      <a:pt x="650622" y="983643"/>
                      <a:pt x="658601" y="970645"/>
                    </a:cubicBezTo>
                    <a:lnTo>
                      <a:pt x="662007" y="965087"/>
                    </a:lnTo>
                    <a:lnTo>
                      <a:pt x="668371" y="963921"/>
                    </a:lnTo>
                    <a:cubicBezTo>
                      <a:pt x="699298" y="958274"/>
                      <a:pt x="732824" y="944917"/>
                      <a:pt x="767874" y="924300"/>
                    </a:cubicBezTo>
                    <a:lnTo>
                      <a:pt x="775852" y="919638"/>
                    </a:lnTo>
                    <a:lnTo>
                      <a:pt x="783472" y="924838"/>
                    </a:lnTo>
                    <a:cubicBezTo>
                      <a:pt x="811978" y="944380"/>
                      <a:pt x="841470" y="961680"/>
                      <a:pt x="871321" y="976382"/>
                    </a:cubicBezTo>
                    <a:cubicBezTo>
                      <a:pt x="934877" y="913991"/>
                      <a:pt x="963204" y="883871"/>
                      <a:pt x="975306" y="869618"/>
                    </a:cubicBezTo>
                    <a:cubicBezTo>
                      <a:pt x="968045" y="859309"/>
                      <a:pt x="960067" y="846401"/>
                      <a:pt x="951461" y="831251"/>
                    </a:cubicBezTo>
                    <a:cubicBezTo>
                      <a:pt x="932995" y="798801"/>
                      <a:pt x="926272" y="787506"/>
                      <a:pt x="923851" y="783741"/>
                    </a:cubicBezTo>
                    <a:lnTo>
                      <a:pt x="917756" y="774149"/>
                    </a:lnTo>
                    <a:lnTo>
                      <a:pt x="925644" y="765902"/>
                    </a:lnTo>
                    <a:cubicBezTo>
                      <a:pt x="931202" y="760075"/>
                      <a:pt x="940077" y="747077"/>
                      <a:pt x="950386" y="718392"/>
                    </a:cubicBezTo>
                    <a:cubicBezTo>
                      <a:pt x="961501" y="688989"/>
                      <a:pt x="969748" y="669985"/>
                      <a:pt x="975844" y="660124"/>
                    </a:cubicBezTo>
                    <a:lnTo>
                      <a:pt x="979430" y="654298"/>
                    </a:lnTo>
                    <a:lnTo>
                      <a:pt x="986242" y="653401"/>
                    </a:lnTo>
                    <a:cubicBezTo>
                      <a:pt x="999958" y="651519"/>
                      <a:pt x="1017079" y="647664"/>
                      <a:pt x="1037069" y="641837"/>
                    </a:cubicBezTo>
                    <a:cubicBezTo>
                      <a:pt x="1054460" y="636728"/>
                      <a:pt x="1068086" y="632873"/>
                      <a:pt x="1077946" y="630184"/>
                    </a:cubicBezTo>
                    <a:lnTo>
                      <a:pt x="1077946" y="482454"/>
                    </a:lnTo>
                    <a:cubicBezTo>
                      <a:pt x="1067458" y="479854"/>
                      <a:pt x="1053205" y="475910"/>
                      <a:pt x="1034739" y="470531"/>
                    </a:cubicBezTo>
                    <a:cubicBezTo>
                      <a:pt x="1016093" y="464974"/>
                      <a:pt x="999868" y="461298"/>
                      <a:pt x="986153" y="459505"/>
                    </a:cubicBezTo>
                    <a:cubicBezTo>
                      <a:pt x="971720" y="463001"/>
                      <a:pt x="971541" y="462464"/>
                      <a:pt x="927616" y="335710"/>
                    </a:cubicBezTo>
                    <a:lnTo>
                      <a:pt x="925196" y="328807"/>
                    </a:lnTo>
                    <a:lnTo>
                      <a:pt x="929320" y="322712"/>
                    </a:lnTo>
                    <a:cubicBezTo>
                      <a:pt x="941421" y="304873"/>
                      <a:pt x="958543" y="275739"/>
                      <a:pt x="980326" y="235938"/>
                    </a:cubicBezTo>
                    <a:cubicBezTo>
                      <a:pt x="967418" y="224553"/>
                      <a:pt x="949937" y="207432"/>
                      <a:pt x="927168" y="183946"/>
                    </a:cubicBezTo>
                    <a:cubicBezTo>
                      <a:pt x="906640" y="161894"/>
                      <a:pt x="888533" y="145399"/>
                      <a:pt x="873024" y="134732"/>
                    </a:cubicBezTo>
                    <a:cubicBezTo>
                      <a:pt x="863881" y="139304"/>
                      <a:pt x="850614" y="147013"/>
                      <a:pt x="833492" y="157591"/>
                    </a:cubicBezTo>
                    <a:cubicBezTo>
                      <a:pt x="813592" y="170679"/>
                      <a:pt x="795125" y="179643"/>
                      <a:pt x="779080" y="184035"/>
                    </a:cubicBezTo>
                    <a:lnTo>
                      <a:pt x="772087" y="185918"/>
                    </a:lnTo>
                    <a:lnTo>
                      <a:pt x="766350" y="181525"/>
                    </a:lnTo>
                    <a:cubicBezTo>
                      <a:pt x="756400" y="173906"/>
                      <a:pt x="740623" y="166017"/>
                      <a:pt x="719468" y="158039"/>
                    </a:cubicBezTo>
                    <a:cubicBezTo>
                      <a:pt x="689706" y="146834"/>
                      <a:pt x="671778" y="139752"/>
                      <a:pt x="664875" y="136615"/>
                    </a:cubicBezTo>
                    <a:lnTo>
                      <a:pt x="658601" y="133746"/>
                    </a:lnTo>
                    <a:lnTo>
                      <a:pt x="656897" y="127112"/>
                    </a:lnTo>
                    <a:cubicBezTo>
                      <a:pt x="644527" y="79871"/>
                      <a:pt x="635204" y="46972"/>
                      <a:pt x="629108" y="28954"/>
                    </a:cubicBezTo>
                    <a:lnTo>
                      <a:pt x="483888" y="28954"/>
                    </a:lnTo>
                    <a:cubicBezTo>
                      <a:pt x="480123" y="41594"/>
                      <a:pt x="475910" y="56923"/>
                      <a:pt x="471338" y="74493"/>
                    </a:cubicBezTo>
                    <a:cubicBezTo>
                      <a:pt x="462822" y="106405"/>
                      <a:pt x="457444" y="126126"/>
                      <a:pt x="455292" y="133029"/>
                    </a:cubicBezTo>
                    <a:lnTo>
                      <a:pt x="452244" y="142800"/>
                    </a:lnTo>
                    <a:lnTo>
                      <a:pt x="442025" y="143427"/>
                    </a:lnTo>
                    <a:cubicBezTo>
                      <a:pt x="438888" y="143607"/>
                      <a:pt x="422125" y="147013"/>
                      <a:pt x="338399" y="183587"/>
                    </a:cubicBezTo>
                    <a:lnTo>
                      <a:pt x="330600" y="186993"/>
                    </a:lnTo>
                    <a:lnTo>
                      <a:pt x="323787" y="181884"/>
                    </a:lnTo>
                    <a:cubicBezTo>
                      <a:pt x="303528" y="166645"/>
                      <a:pt x="274126" y="149433"/>
                      <a:pt x="236386" y="130698"/>
                    </a:cubicBezTo>
                    <a:cubicBezTo>
                      <a:pt x="172920" y="192641"/>
                      <a:pt x="144324" y="222671"/>
                      <a:pt x="132043" y="237103"/>
                    </a:cubicBezTo>
                    <a:cubicBezTo>
                      <a:pt x="144593" y="254135"/>
                      <a:pt x="161625" y="282910"/>
                      <a:pt x="183677" y="324235"/>
                    </a:cubicBezTo>
                    <a:lnTo>
                      <a:pt x="187890" y="332124"/>
                    </a:lnTo>
                    <a:lnTo>
                      <a:pt x="182780" y="339475"/>
                    </a:lnTo>
                    <a:cubicBezTo>
                      <a:pt x="175250" y="350232"/>
                      <a:pt x="166645" y="367264"/>
                      <a:pt x="157053" y="390122"/>
                    </a:cubicBezTo>
                    <a:cubicBezTo>
                      <a:pt x="145041" y="418539"/>
                      <a:pt x="136704" y="437005"/>
                      <a:pt x="131415" y="446418"/>
                    </a:cubicBezTo>
                    <a:lnTo>
                      <a:pt x="127919" y="452782"/>
                    </a:lnTo>
                    <a:lnTo>
                      <a:pt x="120748" y="453768"/>
                    </a:lnTo>
                    <a:cubicBezTo>
                      <a:pt x="107033" y="455651"/>
                      <a:pt x="89911" y="459505"/>
                      <a:pt x="69921" y="465332"/>
                    </a:cubicBezTo>
                    <a:cubicBezTo>
                      <a:pt x="52261" y="470531"/>
                      <a:pt x="38725" y="474386"/>
                      <a:pt x="29044" y="476986"/>
                    </a:cubicBezTo>
                    <a:lnTo>
                      <a:pt x="29044" y="624716"/>
                    </a:lnTo>
                    <a:cubicBezTo>
                      <a:pt x="39622" y="627315"/>
                      <a:pt x="53875" y="631260"/>
                      <a:pt x="72252" y="636638"/>
                    </a:cubicBezTo>
                    <a:cubicBezTo>
                      <a:pt x="93497" y="642375"/>
                      <a:pt x="111604" y="646320"/>
                      <a:pt x="125947" y="648202"/>
                    </a:cubicBezTo>
                    <a:lnTo>
                      <a:pt x="136883" y="649636"/>
                    </a:lnTo>
                    <a:lnTo>
                      <a:pt x="138497" y="660573"/>
                    </a:lnTo>
                    <a:cubicBezTo>
                      <a:pt x="140828" y="676708"/>
                      <a:pt x="146565" y="695443"/>
                      <a:pt x="155529" y="716240"/>
                    </a:cubicBezTo>
                    <a:cubicBezTo>
                      <a:pt x="173995" y="757117"/>
                      <a:pt x="178029" y="767426"/>
                      <a:pt x="179374" y="771550"/>
                    </a:cubicBezTo>
                    <a:lnTo>
                      <a:pt x="181436" y="777824"/>
                    </a:lnTo>
                    <a:lnTo>
                      <a:pt x="178119" y="783562"/>
                    </a:lnTo>
                    <a:cubicBezTo>
                      <a:pt x="147730" y="835823"/>
                      <a:pt x="135270" y="860026"/>
                      <a:pt x="130340" y="871142"/>
                    </a:cubicBezTo>
                    <a:cubicBezTo>
                      <a:pt x="192641" y="934429"/>
                      <a:pt x="221685" y="961322"/>
                      <a:pt x="235042" y="971989"/>
                    </a:cubicBezTo>
                    <a:cubicBezTo>
                      <a:pt x="244006" y="967328"/>
                      <a:pt x="256825" y="959798"/>
                      <a:pt x="273408" y="949489"/>
                    </a:cubicBezTo>
                    <a:cubicBezTo>
                      <a:pt x="294295" y="936670"/>
                      <a:pt x="312223" y="928065"/>
                      <a:pt x="328180" y="923134"/>
                    </a:cubicBezTo>
                    <a:lnTo>
                      <a:pt x="334813" y="921073"/>
                    </a:lnTo>
                    <a:lnTo>
                      <a:pt x="340550" y="924927"/>
                    </a:lnTo>
                    <a:cubicBezTo>
                      <a:pt x="342612" y="926093"/>
                      <a:pt x="359286" y="933981"/>
                      <a:pt x="441756" y="970286"/>
                    </a:cubicBezTo>
                    <a:lnTo>
                      <a:pt x="447314" y="972706"/>
                    </a:lnTo>
                    <a:lnTo>
                      <a:pt x="449465" y="978354"/>
                    </a:lnTo>
                    <a:cubicBezTo>
                      <a:pt x="453768" y="989559"/>
                      <a:pt x="458878" y="1008115"/>
                      <a:pt x="465153" y="1035097"/>
                    </a:cubicBezTo>
                    <a:cubicBezTo>
                      <a:pt x="469456" y="1053205"/>
                      <a:pt x="473490" y="1067548"/>
                      <a:pt x="477434" y="1077946"/>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grpSp>
      </p:grpSp>
      <p:grpSp>
        <p:nvGrpSpPr>
          <p:cNvPr id="8214" name="Google Shape;8214;p72"/>
          <p:cNvGrpSpPr/>
          <p:nvPr/>
        </p:nvGrpSpPr>
        <p:grpSpPr>
          <a:xfrm>
            <a:off x="2413985" y="1945448"/>
            <a:ext cx="1051500" cy="864300"/>
            <a:chOff x="8884225" y="3571523"/>
            <a:chExt cx="1051500" cy="864300"/>
          </a:xfrm>
        </p:grpSpPr>
        <p:sp>
          <p:nvSpPr>
            <p:cNvPr id="8215" name="Google Shape;8215;p72"/>
            <p:cNvSpPr/>
            <p:nvPr/>
          </p:nvSpPr>
          <p:spPr>
            <a:xfrm>
              <a:off x="8884225" y="3571523"/>
              <a:ext cx="1051500" cy="864300"/>
            </a:xfrm>
            <a:prstGeom prst="roundRect">
              <a:avLst>
                <a:gd name="adj" fmla="val 6270"/>
              </a:avLst>
            </a:prstGeom>
            <a:solidFill>
              <a:schemeClr val="lt1"/>
            </a:solidFill>
            <a:ln w="12700" cap="flat" cmpd="sng">
              <a:solidFill>
                <a:srgbClr val="005C8A">
                  <a:alpha val="49411"/>
                </a:srgbClr>
              </a:solidFill>
              <a:prstDash val="dot"/>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pic>
          <p:nvPicPr>
            <p:cNvPr id="8216" name="Google Shape;8216;p72"/>
            <p:cNvPicPr preferRelativeResize="0"/>
            <p:nvPr/>
          </p:nvPicPr>
          <p:blipFill rotWithShape="1">
            <a:blip r:embed="rId7">
              <a:alphaModFix/>
            </a:blip>
            <a:srcRect/>
            <a:stretch/>
          </p:blipFill>
          <p:spPr>
            <a:xfrm>
              <a:off x="9201511" y="3961740"/>
              <a:ext cx="411793" cy="411793"/>
            </a:xfrm>
            <a:prstGeom prst="rect">
              <a:avLst/>
            </a:prstGeom>
            <a:noFill/>
            <a:ln>
              <a:noFill/>
            </a:ln>
          </p:spPr>
        </p:pic>
        <p:sp>
          <p:nvSpPr>
            <p:cNvPr id="8217" name="Google Shape;8217;p72"/>
            <p:cNvSpPr txBox="1"/>
            <p:nvPr/>
          </p:nvSpPr>
          <p:spPr>
            <a:xfrm>
              <a:off x="8947803" y="3579303"/>
              <a:ext cx="962400" cy="339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Certificate Management</a:t>
              </a:r>
              <a:endParaRPr sz="800" b="0" i="0" u="none" strike="noStrike" cap="none">
                <a:solidFill>
                  <a:schemeClr val="dk1"/>
                </a:solidFill>
                <a:latin typeface="Arial"/>
                <a:ea typeface="Arial"/>
                <a:cs typeface="Arial"/>
                <a:sym typeface="Arial"/>
              </a:endParaRPr>
            </a:p>
          </p:txBody>
        </p:sp>
      </p:grpSp>
      <p:grpSp>
        <p:nvGrpSpPr>
          <p:cNvPr id="8218" name="Google Shape;8218;p72"/>
          <p:cNvGrpSpPr/>
          <p:nvPr/>
        </p:nvGrpSpPr>
        <p:grpSpPr>
          <a:xfrm>
            <a:off x="4177239" y="3372703"/>
            <a:ext cx="1051619" cy="864396"/>
            <a:chOff x="7682466" y="3571756"/>
            <a:chExt cx="1051619" cy="864396"/>
          </a:xfrm>
        </p:grpSpPr>
        <p:grpSp>
          <p:nvGrpSpPr>
            <p:cNvPr id="8219" name="Google Shape;8219;p72"/>
            <p:cNvGrpSpPr/>
            <p:nvPr/>
          </p:nvGrpSpPr>
          <p:grpSpPr>
            <a:xfrm>
              <a:off x="7682466" y="3571756"/>
              <a:ext cx="1051619" cy="864396"/>
              <a:chOff x="8393511" y="3307853"/>
              <a:chExt cx="1311900" cy="1020900"/>
            </a:xfrm>
          </p:grpSpPr>
          <p:sp>
            <p:nvSpPr>
              <p:cNvPr id="8220" name="Google Shape;8220;p72"/>
              <p:cNvSpPr/>
              <p:nvPr/>
            </p:nvSpPr>
            <p:spPr>
              <a:xfrm>
                <a:off x="8393511"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8221" name="Google Shape;8221;p72"/>
              <p:cNvSpPr/>
              <p:nvPr/>
            </p:nvSpPr>
            <p:spPr>
              <a:xfrm>
                <a:off x="8405214" y="3310894"/>
                <a:ext cx="1263000" cy="401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Storage and Data Services</a:t>
                </a:r>
                <a:endParaRPr sz="1400" b="0" i="0" u="none" strike="noStrike" cap="none">
                  <a:solidFill>
                    <a:srgbClr val="000000"/>
                  </a:solidFill>
                  <a:latin typeface="Arial"/>
                  <a:ea typeface="Arial"/>
                  <a:cs typeface="Arial"/>
                  <a:sym typeface="Arial"/>
                </a:endParaRPr>
              </a:p>
            </p:txBody>
          </p:sp>
        </p:grpSp>
        <p:pic>
          <p:nvPicPr>
            <p:cNvPr id="8222" name="Google Shape;8222;p72" descr="vSAN Database&#10;"/>
            <p:cNvPicPr preferRelativeResize="0"/>
            <p:nvPr/>
          </p:nvPicPr>
          <p:blipFill rotWithShape="1">
            <a:blip r:embed="rId5">
              <a:alphaModFix/>
            </a:blip>
            <a:srcRect/>
            <a:stretch/>
          </p:blipFill>
          <p:spPr>
            <a:xfrm>
              <a:off x="8025076" y="3946014"/>
              <a:ext cx="339877" cy="339792"/>
            </a:xfrm>
            <a:prstGeom prst="rect">
              <a:avLst/>
            </a:prstGeom>
            <a:solidFill>
              <a:srgbClr val="FFFFFF"/>
            </a:solidFill>
            <a:ln>
              <a:noFill/>
            </a:ln>
          </p:spPr>
        </p:pic>
      </p:grpSp>
      <p:grpSp>
        <p:nvGrpSpPr>
          <p:cNvPr id="8223" name="Google Shape;8223;p72"/>
          <p:cNvGrpSpPr/>
          <p:nvPr/>
        </p:nvGrpSpPr>
        <p:grpSpPr>
          <a:xfrm>
            <a:off x="3630474" y="1945448"/>
            <a:ext cx="1051500" cy="864300"/>
            <a:chOff x="8884225" y="3571523"/>
            <a:chExt cx="1051500" cy="864300"/>
          </a:xfrm>
        </p:grpSpPr>
        <p:sp>
          <p:nvSpPr>
            <p:cNvPr id="8224" name="Google Shape;8224;p72"/>
            <p:cNvSpPr/>
            <p:nvPr/>
          </p:nvSpPr>
          <p:spPr>
            <a:xfrm>
              <a:off x="8884225" y="3571523"/>
              <a:ext cx="1051500" cy="864300"/>
            </a:xfrm>
            <a:prstGeom prst="roundRect">
              <a:avLst>
                <a:gd name="adj" fmla="val 6270"/>
              </a:avLst>
            </a:prstGeom>
            <a:solidFill>
              <a:schemeClr val="lt1"/>
            </a:solidFill>
            <a:ln w="12700" cap="flat" cmpd="sng">
              <a:solidFill>
                <a:srgbClr val="005C8A">
                  <a:alpha val="49803"/>
                </a:srgbClr>
              </a:solidFill>
              <a:prstDash val="dot"/>
              <a:miter lim="400000"/>
              <a:headEnd type="none" w="sm" len="sm"/>
              <a:tailEnd type="none" w="sm" len="sm"/>
            </a:ln>
          </p:spPr>
          <p:txBody>
            <a:bodyPr spcFirstLastPara="1" wrap="square" lIns="41050" tIns="328875" rIns="41050" bIns="82225" anchor="ctr" anchorCtr="0">
              <a:noAutofit/>
            </a:bodyPr>
            <a:lstStyle/>
            <a:p>
              <a:pPr marL="0" marR="0" lvl="0" indent="0" algn="l" rtl="0">
                <a:lnSpc>
                  <a:spcPct val="8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8225" name="Google Shape;8225;p72"/>
            <p:cNvSpPr/>
            <p:nvPr/>
          </p:nvSpPr>
          <p:spPr>
            <a:xfrm>
              <a:off x="9333228" y="4074049"/>
              <a:ext cx="123273" cy="183220"/>
            </a:xfrm>
            <a:custGeom>
              <a:avLst/>
              <a:gdLst/>
              <a:ahLst/>
              <a:cxnLst/>
              <a:rect l="l" t="t" r="r" b="b"/>
              <a:pathLst>
                <a:path w="184678"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4678" y="151158"/>
                    <a:pt x="169499" y="123962"/>
                    <a:pt x="146731" y="107518"/>
                  </a:cubicBezTo>
                  <a:close/>
                  <a:moveTo>
                    <a:pt x="53759" y="55024"/>
                  </a:moveTo>
                  <a:cubicBezTo>
                    <a:pt x="53759" y="33520"/>
                    <a:pt x="68938" y="15812"/>
                    <a:pt x="87912" y="15812"/>
                  </a:cubicBezTo>
                  <a:lnTo>
                    <a:pt x="96134" y="15812"/>
                  </a:lnTo>
                  <a:cubicBezTo>
                    <a:pt x="115108" y="15812"/>
                    <a:pt x="130287" y="33520"/>
                    <a:pt x="130287" y="55024"/>
                  </a:cubicBezTo>
                  <a:lnTo>
                    <a:pt x="130287" y="98031"/>
                  </a:lnTo>
                  <a:cubicBezTo>
                    <a:pt x="118902" y="92972"/>
                    <a:pt x="105621" y="89809"/>
                    <a:pt x="91707" y="89809"/>
                  </a:cubicBezTo>
                  <a:cubicBezTo>
                    <a:pt x="77793" y="89809"/>
                    <a:pt x="65143" y="92972"/>
                    <a:pt x="53127" y="98031"/>
                  </a:cubicBezTo>
                  <a:lnTo>
                    <a:pt x="53127" y="55024"/>
                  </a:lnTo>
                  <a:close/>
                  <a:moveTo>
                    <a:pt x="92339" y="258676"/>
                  </a:moveTo>
                  <a:cubicBezTo>
                    <a:pt x="49964" y="258676"/>
                    <a:pt x="15812" y="224523"/>
                    <a:pt x="15812" y="182148"/>
                  </a:cubicBezTo>
                  <a:cubicBezTo>
                    <a:pt x="15812" y="139774"/>
                    <a:pt x="49964" y="105621"/>
                    <a:pt x="92339" y="105621"/>
                  </a:cubicBezTo>
                  <a:cubicBezTo>
                    <a:pt x="134714" y="105621"/>
                    <a:pt x="168867" y="139774"/>
                    <a:pt x="168867" y="182148"/>
                  </a:cubicBezTo>
                  <a:cubicBezTo>
                    <a:pt x="168867" y="224523"/>
                    <a:pt x="134714" y="258676"/>
                    <a:pt x="92339" y="258676"/>
                  </a:cubicBezTo>
                  <a:close/>
                </a:path>
              </a:pathLst>
            </a:custGeom>
            <a:gradFill>
              <a:gsLst>
                <a:gs pos="0">
                  <a:srgbClr val="6C4B94"/>
                </a:gs>
                <a:gs pos="25000">
                  <a:srgbClr val="005C8A"/>
                </a:gs>
                <a:gs pos="50000">
                  <a:srgbClr val="0098C7"/>
                </a:gs>
                <a:gs pos="75000">
                  <a:srgbClr val="007B8C"/>
                </a:gs>
                <a:gs pos="100000">
                  <a:srgbClr val="61A60E"/>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26" name="Google Shape;8226;p72"/>
            <p:cNvSpPr/>
            <p:nvPr/>
          </p:nvSpPr>
          <p:spPr>
            <a:xfrm>
              <a:off x="9224614" y="3965018"/>
              <a:ext cx="340266" cy="400636"/>
            </a:xfrm>
            <a:custGeom>
              <a:avLst/>
              <a:gdLst/>
              <a:ahLst/>
              <a:cxnLst/>
              <a:rect l="l" t="t" r="r" b="b"/>
              <a:pathLst>
                <a:path w="509762" h="600204" extrusionOk="0">
                  <a:moveTo>
                    <a:pt x="254881" y="600205"/>
                  </a:moveTo>
                  <a:lnTo>
                    <a:pt x="246027" y="597042"/>
                  </a:lnTo>
                  <a:cubicBezTo>
                    <a:pt x="235908" y="593248"/>
                    <a:pt x="0" y="500908"/>
                    <a:pt x="0" y="264368"/>
                  </a:cubicBezTo>
                  <a:lnTo>
                    <a:pt x="0" y="111313"/>
                  </a:lnTo>
                  <a:lnTo>
                    <a:pt x="18974" y="106253"/>
                  </a:lnTo>
                  <a:cubicBezTo>
                    <a:pt x="58186" y="95501"/>
                    <a:pt x="97399" y="82220"/>
                    <a:pt x="134714" y="65143"/>
                  </a:cubicBezTo>
                  <a:cubicBezTo>
                    <a:pt x="171397" y="49332"/>
                    <a:pt x="207447" y="30358"/>
                    <a:pt x="240967" y="8854"/>
                  </a:cubicBezTo>
                  <a:lnTo>
                    <a:pt x="254881" y="0"/>
                  </a:lnTo>
                  <a:lnTo>
                    <a:pt x="268796" y="8854"/>
                  </a:lnTo>
                  <a:cubicBezTo>
                    <a:pt x="302948" y="30358"/>
                    <a:pt x="338366" y="49332"/>
                    <a:pt x="375049" y="65143"/>
                  </a:cubicBezTo>
                  <a:cubicBezTo>
                    <a:pt x="412364" y="81587"/>
                    <a:pt x="450944" y="95501"/>
                    <a:pt x="490789" y="106253"/>
                  </a:cubicBezTo>
                  <a:lnTo>
                    <a:pt x="509763" y="111313"/>
                  </a:lnTo>
                  <a:lnTo>
                    <a:pt x="509763" y="264368"/>
                  </a:lnTo>
                  <a:cubicBezTo>
                    <a:pt x="509763" y="496481"/>
                    <a:pt x="289667" y="587555"/>
                    <a:pt x="263103" y="597042"/>
                  </a:cubicBezTo>
                  <a:lnTo>
                    <a:pt x="263103" y="597675"/>
                  </a:lnTo>
                  <a:lnTo>
                    <a:pt x="254881" y="600205"/>
                  </a:lnTo>
                  <a:close/>
                  <a:moveTo>
                    <a:pt x="15812" y="123330"/>
                  </a:moveTo>
                  <a:lnTo>
                    <a:pt x="15812" y="264368"/>
                  </a:lnTo>
                  <a:cubicBezTo>
                    <a:pt x="15812" y="490789"/>
                    <a:pt x="242232" y="578701"/>
                    <a:pt x="251719" y="582496"/>
                  </a:cubicBezTo>
                  <a:lnTo>
                    <a:pt x="254881" y="583761"/>
                  </a:lnTo>
                  <a:lnTo>
                    <a:pt x="259941" y="581863"/>
                  </a:lnTo>
                  <a:cubicBezTo>
                    <a:pt x="273855" y="576804"/>
                    <a:pt x="493951" y="488259"/>
                    <a:pt x="493951" y="264368"/>
                  </a:cubicBezTo>
                  <a:lnTo>
                    <a:pt x="493951" y="123330"/>
                  </a:lnTo>
                  <a:lnTo>
                    <a:pt x="486362" y="121432"/>
                  </a:lnTo>
                  <a:cubicBezTo>
                    <a:pt x="446517" y="110681"/>
                    <a:pt x="406672" y="96766"/>
                    <a:pt x="368724" y="79690"/>
                  </a:cubicBezTo>
                  <a:cubicBezTo>
                    <a:pt x="331409" y="63246"/>
                    <a:pt x="294726" y="44272"/>
                    <a:pt x="260574" y="22769"/>
                  </a:cubicBezTo>
                  <a:lnTo>
                    <a:pt x="254881" y="18974"/>
                  </a:lnTo>
                  <a:lnTo>
                    <a:pt x="249822" y="22136"/>
                  </a:lnTo>
                  <a:cubicBezTo>
                    <a:pt x="215036" y="43640"/>
                    <a:pt x="178986" y="63246"/>
                    <a:pt x="141671" y="79690"/>
                  </a:cubicBezTo>
                  <a:cubicBezTo>
                    <a:pt x="103723" y="96766"/>
                    <a:pt x="63878" y="110681"/>
                    <a:pt x="23401" y="121432"/>
                  </a:cubicBezTo>
                  <a:lnTo>
                    <a:pt x="15812" y="123330"/>
                  </a:lnTo>
                  <a:close/>
                </a:path>
              </a:pathLst>
            </a:custGeom>
            <a:gradFill>
              <a:gsLst>
                <a:gs pos="0">
                  <a:srgbClr val="6C4B94"/>
                </a:gs>
                <a:gs pos="25000">
                  <a:srgbClr val="005C8A"/>
                </a:gs>
                <a:gs pos="50000">
                  <a:srgbClr val="0098C7"/>
                </a:gs>
                <a:gs pos="75000">
                  <a:srgbClr val="007B8C"/>
                </a:gs>
                <a:gs pos="100000">
                  <a:srgbClr val="61A60E"/>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27" name="Google Shape;8227;p72"/>
            <p:cNvSpPr txBox="1"/>
            <p:nvPr/>
          </p:nvSpPr>
          <p:spPr>
            <a:xfrm>
              <a:off x="8947803" y="3579303"/>
              <a:ext cx="962400" cy="339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Arial"/>
                  <a:ea typeface="Arial"/>
                  <a:cs typeface="Arial"/>
                  <a:sym typeface="Arial"/>
                </a:rPr>
                <a:t>Secret Store</a:t>
              </a:r>
              <a:endParaRPr sz="800" b="0" i="0" u="none" strike="noStrike" cap="none">
                <a:solidFill>
                  <a:schemeClr val="dk1"/>
                </a:solidFill>
                <a:latin typeface="Arial"/>
                <a:ea typeface="Arial"/>
                <a:cs typeface="Arial"/>
                <a:sym typeface="Arial"/>
              </a:endParaRPr>
            </a:p>
          </p:txBody>
        </p:sp>
      </p:grpSp>
      <p:sp>
        <p:nvSpPr>
          <p:cNvPr id="8228" name="Google Shape;8228;p72"/>
          <p:cNvSpPr txBox="1"/>
          <p:nvPr/>
        </p:nvSpPr>
        <p:spPr>
          <a:xfrm>
            <a:off x="3323752" y="1416888"/>
            <a:ext cx="1624456" cy="369302"/>
          </a:xfrm>
          <a:prstGeom prst="rect">
            <a:avLst/>
          </a:prstGeom>
          <a:solidFill>
            <a:schemeClr val="lt1"/>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Supervisor Services</a:t>
            </a:r>
            <a:endParaRPr sz="1200" b="0" i="0" u="none" strike="noStrike" cap="none">
              <a:solidFill>
                <a:schemeClr val="dk1"/>
              </a:solidFill>
              <a:latin typeface="Arial"/>
              <a:ea typeface="Arial"/>
              <a:cs typeface="Arial"/>
              <a:sym typeface="Arial"/>
            </a:endParaRPr>
          </a:p>
        </p:txBody>
      </p:sp>
      <p:pic>
        <p:nvPicPr>
          <p:cNvPr id="8229" name="Google Shape;8229;p72" descr="Badge Follow outline"/>
          <p:cNvPicPr preferRelativeResize="0"/>
          <p:nvPr/>
        </p:nvPicPr>
        <p:blipFill rotWithShape="1">
          <a:blip r:embed="rId8">
            <a:alphaModFix/>
          </a:blip>
          <a:srcRect/>
          <a:stretch/>
        </p:blipFill>
        <p:spPr>
          <a:xfrm>
            <a:off x="3963302" y="2934105"/>
            <a:ext cx="324000" cy="324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234"/>
        <p:cNvGrpSpPr/>
        <p:nvPr/>
      </p:nvGrpSpPr>
      <p:grpSpPr>
        <a:xfrm>
          <a:off x="0" y="0"/>
          <a:ext cx="0" cy="0"/>
          <a:chOff x="0" y="0"/>
          <a:chExt cx="0" cy="0"/>
        </a:xfrm>
      </p:grpSpPr>
      <p:sp>
        <p:nvSpPr>
          <p:cNvPr id="8235" name="Google Shape;8235;p73"/>
          <p:cNvSpPr/>
          <p:nvPr/>
        </p:nvSpPr>
        <p:spPr>
          <a:xfrm rot="-5400000">
            <a:off x="1067799" y="3028589"/>
            <a:ext cx="4242816" cy="1286958"/>
          </a:xfrm>
          <a:prstGeom prst="triangle">
            <a:avLst>
              <a:gd name="adj" fmla="val 50667"/>
            </a:avLst>
          </a:prstGeom>
          <a:gradFill>
            <a:gsLst>
              <a:gs pos="0">
                <a:schemeClr val="accent5"/>
              </a:gs>
              <a:gs pos="100000">
                <a:schemeClr val="lt1"/>
              </a:gs>
            </a:gsLst>
            <a:lin ang="16200000" scaled="0"/>
          </a:gra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u="none" strike="noStrike" cap="none">
              <a:solidFill>
                <a:srgbClr val="FFFFFF"/>
              </a:solidFill>
              <a:latin typeface="Arial"/>
              <a:ea typeface="Arial"/>
              <a:cs typeface="Arial"/>
              <a:sym typeface="Arial"/>
            </a:endParaRPr>
          </a:p>
        </p:txBody>
      </p:sp>
      <p:sp>
        <p:nvSpPr>
          <p:cNvPr id="8236" name="Google Shape;8236;p7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Enable vSphere Supervisor during Workload Domain creation</a:t>
            </a:r>
            <a:endParaRPr/>
          </a:p>
        </p:txBody>
      </p:sp>
      <p:sp>
        <p:nvSpPr>
          <p:cNvPr id="8237" name="Google Shape;8237;p73"/>
          <p:cNvSpPr txBox="1">
            <a:spLocks noGrp="1"/>
          </p:cNvSpPr>
          <p:nvPr>
            <p:ph type="subTitle" idx="1"/>
          </p:nvPr>
        </p:nvSpPr>
        <p:spPr>
          <a:xfrm>
            <a:off x="592866" y="811830"/>
            <a:ext cx="1098794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Providing consumption ready environments at scale</a:t>
            </a:r>
            <a:endParaRPr/>
          </a:p>
        </p:txBody>
      </p:sp>
      <p:grpSp>
        <p:nvGrpSpPr>
          <p:cNvPr id="8238" name="Google Shape;8238;p73"/>
          <p:cNvGrpSpPr/>
          <p:nvPr/>
        </p:nvGrpSpPr>
        <p:grpSpPr>
          <a:xfrm flipH="1">
            <a:off x="1140717" y="2970067"/>
            <a:ext cx="1405009" cy="1404000"/>
            <a:chOff x="898194" y="2461390"/>
            <a:chExt cx="713079" cy="713079"/>
          </a:xfrm>
        </p:grpSpPr>
        <p:pic>
          <p:nvPicPr>
            <p:cNvPr id="8239" name="Google Shape;8239;p73"/>
            <p:cNvPicPr preferRelativeResize="0"/>
            <p:nvPr/>
          </p:nvPicPr>
          <p:blipFill rotWithShape="1">
            <a:blip r:embed="rId3">
              <a:alphaModFix/>
            </a:blip>
            <a:srcRect l="36748" t="-5054" r="3986" b="43604"/>
            <a:stretch/>
          </p:blipFill>
          <p:spPr>
            <a:xfrm>
              <a:off x="898194" y="2461390"/>
              <a:ext cx="713079" cy="713079"/>
            </a:xfrm>
            <a:prstGeom prst="ellipse">
              <a:avLst/>
            </a:prstGeom>
            <a:solidFill>
              <a:schemeClr val="lt1"/>
            </a:solidFill>
            <a:ln>
              <a:noFill/>
            </a:ln>
          </p:spPr>
        </p:pic>
        <p:sp>
          <p:nvSpPr>
            <p:cNvPr id="8240" name="Google Shape;8240;p73"/>
            <p:cNvSpPr/>
            <p:nvPr/>
          </p:nvSpPr>
          <p:spPr>
            <a:xfrm>
              <a:off x="898194" y="2461390"/>
              <a:ext cx="713079" cy="713079"/>
            </a:xfrm>
            <a:prstGeom prst="ellipse">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grpSp>
      <p:pic>
        <p:nvPicPr>
          <p:cNvPr id="8241" name="Google Shape;8241;p73"/>
          <p:cNvPicPr preferRelativeResize="0"/>
          <p:nvPr/>
        </p:nvPicPr>
        <p:blipFill rotWithShape="1">
          <a:blip r:embed="rId4">
            <a:alphaModFix/>
          </a:blip>
          <a:srcRect/>
          <a:stretch/>
        </p:blipFill>
        <p:spPr>
          <a:xfrm>
            <a:off x="3832686" y="1550661"/>
            <a:ext cx="7012432" cy="4242816"/>
          </a:xfrm>
          <a:prstGeom prst="rect">
            <a:avLst/>
          </a:prstGeom>
          <a:noFill/>
          <a:ln w="15875" cap="flat" cmpd="sng">
            <a:solidFill>
              <a:schemeClr val="accent5"/>
            </a:solidFill>
            <a:prstDash val="solid"/>
            <a:round/>
            <a:headEnd type="none" w="sm" len="sm"/>
            <a:tailEnd type="none" w="sm" len="sm"/>
          </a:ln>
          <a:effectLst>
            <a:outerShdw blurRad="50800" dist="38100" dir="27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246"/>
        <p:cNvGrpSpPr/>
        <p:nvPr/>
      </p:nvGrpSpPr>
      <p:grpSpPr>
        <a:xfrm>
          <a:off x="0" y="0"/>
          <a:ext cx="0" cy="0"/>
          <a:chOff x="0" y="0"/>
          <a:chExt cx="0" cy="0"/>
        </a:xfrm>
      </p:grpSpPr>
      <p:sp>
        <p:nvSpPr>
          <p:cNvPr id="8247" name="Google Shape;8247;p74"/>
          <p:cNvSpPr/>
          <p:nvPr/>
        </p:nvSpPr>
        <p:spPr>
          <a:xfrm>
            <a:off x="4055398" y="2403380"/>
            <a:ext cx="1765093" cy="250721"/>
          </a:xfrm>
          <a:prstGeom prst="roundRect">
            <a:avLst>
              <a:gd name="adj" fmla="val 16667"/>
            </a:avLst>
          </a:prstGeom>
          <a:solidFill>
            <a:schemeClr val="accent2">
              <a:alpha val="4941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248" name="Google Shape;8248;p74"/>
          <p:cNvSpPr/>
          <p:nvPr/>
        </p:nvSpPr>
        <p:spPr>
          <a:xfrm>
            <a:off x="3776296" y="2509390"/>
            <a:ext cx="2327955" cy="2189761"/>
          </a:xfrm>
          <a:prstGeom prst="roundRect">
            <a:avLst>
              <a:gd name="adj" fmla="val 3867"/>
            </a:avLst>
          </a:prstGeom>
          <a:noFill/>
          <a:ln w="12700" cap="flat" cmpd="sng">
            <a:solidFill>
              <a:schemeClr val="accent2">
                <a:alpha val="49803"/>
              </a:schemeClr>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Arial"/>
              <a:buNone/>
            </a:pPr>
            <a:endParaRPr sz="1600">
              <a:solidFill>
                <a:srgbClr val="000000"/>
              </a:solidFill>
              <a:latin typeface="Arial"/>
              <a:ea typeface="Arial"/>
              <a:cs typeface="Arial"/>
              <a:sym typeface="Arial"/>
            </a:endParaRPr>
          </a:p>
        </p:txBody>
      </p:sp>
      <p:sp>
        <p:nvSpPr>
          <p:cNvPr id="8249" name="Google Shape;8249;p7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Provide workload isolation with VPC based vSphere Namespace</a:t>
            </a:r>
            <a:endParaRPr/>
          </a:p>
        </p:txBody>
      </p:sp>
      <p:sp>
        <p:nvSpPr>
          <p:cNvPr id="8250" name="Google Shape;8250;p74"/>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Creating Network Tenancy</a:t>
            </a:r>
            <a:endParaRPr/>
          </a:p>
        </p:txBody>
      </p:sp>
      <p:sp>
        <p:nvSpPr>
          <p:cNvPr id="8251" name="Google Shape;8251;p74"/>
          <p:cNvSpPr txBox="1">
            <a:spLocks noGrp="1"/>
          </p:cNvSpPr>
          <p:nvPr>
            <p:ph type="body" idx="2"/>
          </p:nvPr>
        </p:nvSpPr>
        <p:spPr>
          <a:xfrm>
            <a:off x="0" y="1609531"/>
            <a:ext cx="2894013" cy="4572000"/>
          </a:xfrm>
          <a:prstGeom prst="rect">
            <a:avLst/>
          </a:prstGeom>
          <a:solidFill>
            <a:srgbClr val="F4F8FA"/>
          </a:solidFill>
          <a:ln>
            <a:noFill/>
          </a:ln>
        </p:spPr>
        <p:txBody>
          <a:bodyPr spcFirstLastPara="1" wrap="square" lIns="274300" tIns="457200" rIns="457200" bIns="457200" anchor="t" anchorCtr="0">
            <a:noAutofit/>
          </a:bodyPr>
          <a:lstStyle/>
          <a:p>
            <a:pPr marL="0" lvl="0" indent="0" algn="l" rtl="0">
              <a:lnSpc>
                <a:spcPct val="100000"/>
              </a:lnSpc>
              <a:spcBef>
                <a:spcPts val="0"/>
              </a:spcBef>
              <a:spcAft>
                <a:spcPts val="0"/>
              </a:spcAft>
              <a:buSzPts val="1440"/>
              <a:buNone/>
            </a:pPr>
            <a:r>
              <a:rPr lang="en-US" sz="1600" b="1" dirty="0"/>
              <a:t>Isolate workloads</a:t>
            </a:r>
            <a:r>
              <a:rPr lang="en-US" sz="1600" dirty="0"/>
              <a:t> for apps, teams, or stages of development with vSphere Namespaces</a:t>
            </a:r>
            <a:endParaRPr dirty="0"/>
          </a:p>
          <a:p>
            <a:pPr marL="0" lvl="0" indent="0" algn="l" rtl="0">
              <a:lnSpc>
                <a:spcPct val="100000"/>
              </a:lnSpc>
              <a:spcBef>
                <a:spcPts val="1200"/>
              </a:spcBef>
              <a:spcAft>
                <a:spcPts val="0"/>
              </a:spcAft>
              <a:buSzPts val="1440"/>
              <a:buNone/>
            </a:pPr>
            <a:r>
              <a:rPr lang="en-US" sz="1600" dirty="0"/>
              <a:t>Configure </a:t>
            </a:r>
            <a:r>
              <a:rPr lang="en-US" sz="1600" b="1" dirty="0"/>
              <a:t>VM Classes</a:t>
            </a:r>
            <a:r>
              <a:rPr lang="en-US" sz="1600" dirty="0"/>
              <a:t> and </a:t>
            </a:r>
            <a:r>
              <a:rPr lang="en-US" sz="1600" b="1" dirty="0"/>
              <a:t>Content Libraries</a:t>
            </a:r>
            <a:endParaRPr dirty="0"/>
          </a:p>
          <a:p>
            <a:pPr marL="0" lvl="0" indent="0" algn="l" rtl="0">
              <a:lnSpc>
                <a:spcPct val="100000"/>
              </a:lnSpc>
              <a:spcBef>
                <a:spcPts val="1200"/>
              </a:spcBef>
              <a:spcAft>
                <a:spcPts val="0"/>
              </a:spcAft>
              <a:buSzPts val="1440"/>
              <a:buNone/>
            </a:pPr>
            <a:r>
              <a:rPr lang="en-US" sz="1600" dirty="0"/>
              <a:t>VPC integration provides </a:t>
            </a:r>
            <a:r>
              <a:rPr lang="en-US" sz="1600" b="1" dirty="0"/>
              <a:t>Network Tenancy</a:t>
            </a:r>
            <a:r>
              <a:rPr lang="en-US" sz="1600" dirty="0"/>
              <a:t> at Namespace Level</a:t>
            </a:r>
            <a:endParaRPr dirty="0"/>
          </a:p>
          <a:p>
            <a:pPr marL="0" lvl="0" indent="0" algn="l" rtl="0">
              <a:lnSpc>
                <a:spcPct val="100000"/>
              </a:lnSpc>
              <a:spcBef>
                <a:spcPts val="1200"/>
              </a:spcBef>
              <a:spcAft>
                <a:spcPts val="0"/>
              </a:spcAft>
              <a:buSzPts val="1620"/>
              <a:buNone/>
            </a:pPr>
            <a:endParaRPr dirty="0"/>
          </a:p>
        </p:txBody>
      </p:sp>
      <p:sp>
        <p:nvSpPr>
          <p:cNvPr id="8252" name="Google Shape;8252;p74"/>
          <p:cNvSpPr/>
          <p:nvPr/>
        </p:nvSpPr>
        <p:spPr>
          <a:xfrm>
            <a:off x="6448508" y="5822167"/>
            <a:ext cx="5649336"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Arial"/>
              <a:buNone/>
            </a:pPr>
            <a:endParaRPr sz="1600">
              <a:solidFill>
                <a:srgbClr val="000000"/>
              </a:solidFill>
              <a:latin typeface="Arial"/>
              <a:ea typeface="Arial"/>
              <a:cs typeface="Arial"/>
              <a:sym typeface="Arial"/>
            </a:endParaRPr>
          </a:p>
        </p:txBody>
      </p:sp>
      <p:sp>
        <p:nvSpPr>
          <p:cNvPr id="8253" name="Google Shape;8253;p74"/>
          <p:cNvSpPr/>
          <p:nvPr/>
        </p:nvSpPr>
        <p:spPr>
          <a:xfrm>
            <a:off x="6599415" y="5129612"/>
            <a:ext cx="5410200" cy="317647"/>
          </a:xfrm>
          <a:prstGeom prst="roundRect">
            <a:avLst>
              <a:gd name="adj" fmla="val 16667"/>
            </a:avLst>
          </a:prstGeom>
          <a:solidFill>
            <a:schemeClr val="accent5"/>
          </a:solidFill>
          <a:ln>
            <a:noFill/>
          </a:ln>
        </p:spPr>
        <p:txBody>
          <a:bodyPr spcFirstLastPara="1" wrap="square" lIns="87700" tIns="43850" rIns="87700" bIns="43850" anchor="ctr" anchorCtr="0">
            <a:noAutofit/>
          </a:bodyPr>
          <a:lstStyle/>
          <a:p>
            <a:pPr marL="0" marR="0" lvl="0" indent="0" algn="ctr" rtl="0">
              <a:spcBef>
                <a:spcPts val="0"/>
              </a:spcBef>
              <a:spcAft>
                <a:spcPts val="0"/>
              </a:spcAft>
              <a:buClr>
                <a:schemeClr val="lt1"/>
              </a:buClr>
              <a:buSzPts val="800"/>
              <a:buFont typeface="Arial"/>
              <a:buNone/>
            </a:pPr>
            <a:r>
              <a:rPr lang="en-US" sz="800">
                <a:solidFill>
                  <a:schemeClr val="lt1"/>
                </a:solidFill>
                <a:latin typeface="Arial"/>
                <a:ea typeface="Arial"/>
                <a:cs typeface="Arial"/>
                <a:sym typeface="Arial"/>
              </a:rPr>
              <a:t>vSphere </a:t>
            </a:r>
            <a:br>
              <a:rPr lang="en-US" sz="800">
                <a:solidFill>
                  <a:schemeClr val="lt1"/>
                </a:solidFill>
                <a:latin typeface="Arial"/>
                <a:ea typeface="Arial"/>
                <a:cs typeface="Arial"/>
                <a:sym typeface="Arial"/>
              </a:rPr>
            </a:br>
            <a:r>
              <a:rPr lang="en-US" sz="800">
                <a:solidFill>
                  <a:schemeClr val="lt1"/>
                </a:solidFill>
                <a:latin typeface="Arial"/>
                <a:ea typeface="Arial"/>
                <a:cs typeface="Arial"/>
                <a:sym typeface="Arial"/>
              </a:rPr>
              <a:t>Namespace</a:t>
            </a:r>
            <a:endParaRPr sz="1800">
              <a:solidFill>
                <a:schemeClr val="dk1"/>
              </a:solidFill>
              <a:latin typeface="Arial"/>
              <a:ea typeface="Arial"/>
              <a:cs typeface="Arial"/>
              <a:sym typeface="Arial"/>
            </a:endParaRPr>
          </a:p>
        </p:txBody>
      </p:sp>
      <p:sp>
        <p:nvSpPr>
          <p:cNvPr id="8254" name="Google Shape;8254;p74"/>
          <p:cNvSpPr/>
          <p:nvPr/>
        </p:nvSpPr>
        <p:spPr>
          <a:xfrm>
            <a:off x="6599415" y="5610921"/>
            <a:ext cx="5423615"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400"/>
              <a:buFont typeface="Arial"/>
              <a:buNone/>
            </a:pPr>
            <a:endParaRPr sz="1400">
              <a:solidFill>
                <a:srgbClr val="FFFFFF"/>
              </a:solidFill>
              <a:latin typeface="Arial"/>
              <a:ea typeface="Arial"/>
              <a:cs typeface="Arial"/>
              <a:sym typeface="Arial"/>
            </a:endParaRPr>
          </a:p>
        </p:txBody>
      </p:sp>
      <p:sp>
        <p:nvSpPr>
          <p:cNvPr id="8255" name="Google Shape;8255;p74"/>
          <p:cNvSpPr txBox="1"/>
          <p:nvPr/>
        </p:nvSpPr>
        <p:spPr>
          <a:xfrm>
            <a:off x="8877892" y="5714445"/>
            <a:ext cx="866659"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Supervisor</a:t>
            </a:r>
            <a:endParaRPr sz="1800">
              <a:solidFill>
                <a:schemeClr val="dk1"/>
              </a:solidFill>
              <a:latin typeface="Arial"/>
              <a:ea typeface="Arial"/>
              <a:cs typeface="Arial"/>
              <a:sym typeface="Arial"/>
            </a:endParaRPr>
          </a:p>
        </p:txBody>
      </p:sp>
      <p:sp>
        <p:nvSpPr>
          <p:cNvPr id="8256" name="Google Shape;8256;p74"/>
          <p:cNvSpPr/>
          <p:nvPr/>
        </p:nvSpPr>
        <p:spPr>
          <a:xfrm>
            <a:off x="6640661" y="5661067"/>
            <a:ext cx="1814370" cy="304750"/>
          </a:xfrm>
          <a:prstGeom prst="roundRect">
            <a:avLst>
              <a:gd name="adj" fmla="val 50000"/>
            </a:avLst>
          </a:prstGeom>
          <a:solidFill>
            <a:schemeClr val="lt1"/>
          </a:solidFill>
          <a:ln w="12700" cap="flat" cmpd="sng">
            <a:solidFill>
              <a:schemeClr val="accent5"/>
            </a:solidFill>
            <a:prstDash val="dot"/>
            <a:round/>
            <a:headEnd type="none" w="sm" len="sm"/>
            <a:tailEnd type="none" w="sm" len="sm"/>
          </a:ln>
        </p:spPr>
        <p:txBody>
          <a:bodyPr spcFirstLastPara="1" wrap="square" lIns="91400" tIns="45700" rIns="91400" bIns="45700" anchor="ctr" anchorCtr="0">
            <a:noAutofit/>
          </a:bodyPr>
          <a:lstStyle/>
          <a:p>
            <a:pPr marL="0" marR="0" lvl="0" indent="0" algn="l" rtl="0">
              <a:spcBef>
                <a:spcPts val="0"/>
              </a:spcBef>
              <a:spcAft>
                <a:spcPts val="0"/>
              </a:spcAft>
              <a:buClr>
                <a:schemeClr val="dk1"/>
              </a:buClr>
              <a:buSzPts val="900"/>
              <a:buFont typeface="Arial"/>
              <a:buNone/>
            </a:pPr>
            <a:endParaRPr sz="900">
              <a:solidFill>
                <a:schemeClr val="accent4"/>
              </a:solidFill>
              <a:latin typeface="Arial"/>
              <a:ea typeface="Arial"/>
              <a:cs typeface="Arial"/>
              <a:sym typeface="Arial"/>
            </a:endParaRPr>
          </a:p>
        </p:txBody>
      </p:sp>
      <p:sp>
        <p:nvSpPr>
          <p:cNvPr id="8257" name="Google Shape;8257;p74"/>
          <p:cNvSpPr txBox="1"/>
          <p:nvPr/>
        </p:nvSpPr>
        <p:spPr>
          <a:xfrm>
            <a:off x="6965324" y="5719970"/>
            <a:ext cx="1438968" cy="179216"/>
          </a:xfrm>
          <a:prstGeom prst="rect">
            <a:avLst/>
          </a:prstGeom>
          <a:noFill/>
          <a:ln>
            <a:noFill/>
          </a:ln>
        </p:spPr>
        <p:txBody>
          <a:bodyPr spcFirstLastPara="1" wrap="square" lIns="0" tIns="0" rIns="0" bIns="0" anchor="ctr" anchorCtr="0">
            <a:spAutoFit/>
          </a:bodyPr>
          <a:lstStyle/>
          <a:p>
            <a:pPr marL="0" marR="0" lvl="0" indent="0" algn="ctr" rtl="0">
              <a:lnSpc>
                <a:spcPct val="130000"/>
              </a:lnSpc>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Supervisor Control Plane</a:t>
            </a:r>
            <a:endParaRPr sz="1800">
              <a:solidFill>
                <a:schemeClr val="dk1"/>
              </a:solidFill>
              <a:latin typeface="Arial"/>
              <a:ea typeface="Arial"/>
              <a:cs typeface="Arial"/>
              <a:sym typeface="Arial"/>
            </a:endParaRPr>
          </a:p>
        </p:txBody>
      </p:sp>
      <p:grpSp>
        <p:nvGrpSpPr>
          <p:cNvPr id="8258" name="Google Shape;8258;p74"/>
          <p:cNvGrpSpPr/>
          <p:nvPr/>
        </p:nvGrpSpPr>
        <p:grpSpPr>
          <a:xfrm>
            <a:off x="6655205" y="5671788"/>
            <a:ext cx="288000" cy="288000"/>
            <a:chOff x="456349" y="4375620"/>
            <a:chExt cx="288000" cy="288000"/>
          </a:xfrm>
        </p:grpSpPr>
        <p:sp>
          <p:nvSpPr>
            <p:cNvPr id="8259" name="Google Shape;8259;p74"/>
            <p:cNvSpPr/>
            <p:nvPr/>
          </p:nvSpPr>
          <p:spPr>
            <a:xfrm>
              <a:off x="456349" y="4375620"/>
              <a:ext cx="288000" cy="28800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260" name="Google Shape;8260;p74"/>
            <p:cNvSpPr/>
            <p:nvPr/>
          </p:nvSpPr>
          <p:spPr>
            <a:xfrm>
              <a:off x="501068" y="4430830"/>
              <a:ext cx="204951" cy="180919"/>
            </a:xfrm>
            <a:custGeom>
              <a:avLst/>
              <a:gdLst/>
              <a:ahLst/>
              <a:cxnLst/>
              <a:rect l="l" t="t" r="r" b="b"/>
              <a:pathLst>
                <a:path w="1373429" h="1372819" extrusionOk="0">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nvGrpSpPr>
          <p:cNvPr id="8261" name="Google Shape;8261;p74"/>
          <p:cNvGrpSpPr/>
          <p:nvPr/>
        </p:nvGrpSpPr>
        <p:grpSpPr>
          <a:xfrm>
            <a:off x="8634568" y="6229185"/>
            <a:ext cx="1344725" cy="216064"/>
            <a:chOff x="3604782" y="5211713"/>
            <a:chExt cx="1344725" cy="216064"/>
          </a:xfrm>
        </p:grpSpPr>
        <p:grpSp>
          <p:nvGrpSpPr>
            <p:cNvPr id="8262" name="Google Shape;8262;p74"/>
            <p:cNvGrpSpPr/>
            <p:nvPr/>
          </p:nvGrpSpPr>
          <p:grpSpPr>
            <a:xfrm>
              <a:off x="4468307" y="5211713"/>
              <a:ext cx="481200" cy="216000"/>
              <a:chOff x="9559097" y="5270063"/>
              <a:chExt cx="481200" cy="216000"/>
            </a:xfrm>
          </p:grpSpPr>
          <p:sp>
            <p:nvSpPr>
              <p:cNvPr id="8263" name="Google Shape;8263;p74"/>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sp>
            <p:nvSpPr>
              <p:cNvPr id="8264" name="Google Shape;8264;p74"/>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nvGrpSpPr>
            <p:cNvPr id="8265" name="Google Shape;8265;p74"/>
            <p:cNvGrpSpPr/>
            <p:nvPr/>
          </p:nvGrpSpPr>
          <p:grpSpPr>
            <a:xfrm>
              <a:off x="4059181" y="5211713"/>
              <a:ext cx="437400" cy="216000"/>
              <a:chOff x="9895949" y="1413332"/>
              <a:chExt cx="437400" cy="216000"/>
            </a:xfrm>
          </p:grpSpPr>
          <p:sp>
            <p:nvSpPr>
              <p:cNvPr id="8266" name="Google Shape;8266;p74"/>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sp>
            <p:nvSpPr>
              <p:cNvPr id="8267" name="Google Shape;8267;p74"/>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nvGrpSpPr>
            <p:cNvPr id="8268" name="Google Shape;8268;p74"/>
            <p:cNvGrpSpPr/>
            <p:nvPr/>
          </p:nvGrpSpPr>
          <p:grpSpPr>
            <a:xfrm>
              <a:off x="3604782" y="5211777"/>
              <a:ext cx="481200" cy="216000"/>
              <a:chOff x="8526343" y="2145622"/>
              <a:chExt cx="481200" cy="216000"/>
            </a:xfrm>
          </p:grpSpPr>
          <p:sp>
            <p:nvSpPr>
              <p:cNvPr id="8269" name="Google Shape;8269;p74"/>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grpSp>
            <p:nvGrpSpPr>
              <p:cNvPr id="8270" name="Google Shape;8270;p74"/>
              <p:cNvGrpSpPr/>
              <p:nvPr/>
            </p:nvGrpSpPr>
            <p:grpSpPr>
              <a:xfrm>
                <a:off x="8658941" y="2145622"/>
                <a:ext cx="216005" cy="216000"/>
                <a:chOff x="3822556" y="5087301"/>
                <a:chExt cx="611339" cy="557273"/>
              </a:xfrm>
            </p:grpSpPr>
            <p:sp>
              <p:nvSpPr>
                <p:cNvPr id="8271" name="Google Shape;8271;p74"/>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272" name="Google Shape;8272;p74"/>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273" name="Google Shape;8273;p74"/>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grpSp>
      <p:grpSp>
        <p:nvGrpSpPr>
          <p:cNvPr id="8274" name="Google Shape;8274;p74"/>
          <p:cNvGrpSpPr/>
          <p:nvPr/>
        </p:nvGrpSpPr>
        <p:grpSpPr>
          <a:xfrm>
            <a:off x="6640661" y="5166378"/>
            <a:ext cx="259961" cy="252000"/>
            <a:chOff x="6844091" y="3272403"/>
            <a:chExt cx="600837" cy="600837"/>
          </a:xfrm>
        </p:grpSpPr>
        <p:grpSp>
          <p:nvGrpSpPr>
            <p:cNvPr id="8275" name="Google Shape;8275;p74" descr="Router&#10;"/>
            <p:cNvGrpSpPr/>
            <p:nvPr/>
          </p:nvGrpSpPr>
          <p:grpSpPr>
            <a:xfrm>
              <a:off x="6844091" y="3272403"/>
              <a:ext cx="600837" cy="600837"/>
              <a:chOff x="529959" y="1943518"/>
              <a:chExt cx="600837" cy="600837"/>
            </a:xfrm>
          </p:grpSpPr>
          <p:sp>
            <p:nvSpPr>
              <p:cNvPr id="8276" name="Google Shape;8276;p74"/>
              <p:cNvSpPr/>
              <p:nvPr/>
            </p:nvSpPr>
            <p:spPr>
              <a:xfrm>
                <a:off x="529959" y="1943518"/>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77" name="Google Shape;8277;p74"/>
              <p:cNvSpPr/>
              <p:nvPr/>
            </p:nvSpPr>
            <p:spPr>
              <a:xfrm rot="10800000">
                <a:off x="787811" y="2110873"/>
                <a:ext cx="85129" cy="126942"/>
              </a:xfrm>
              <a:custGeom>
                <a:avLst/>
                <a:gdLst/>
                <a:ahLst/>
                <a:cxnLst/>
                <a:rect l="l" t="t" r="r" b="b"/>
                <a:pathLst>
                  <a:path w="85129" h="189738" extrusionOk="0">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78" name="Google Shape;8278;p74"/>
              <p:cNvSpPr/>
              <p:nvPr/>
            </p:nvSpPr>
            <p:spPr>
              <a:xfrm rot="10800000">
                <a:off x="787812" y="2267093"/>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8279" name="Google Shape;8279;p74"/>
            <p:cNvSpPr/>
            <p:nvPr/>
          </p:nvSpPr>
          <p:spPr>
            <a:xfrm rot="5400000">
              <a:off x="7023501" y="3521896"/>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80" name="Google Shape;8280;p74"/>
            <p:cNvSpPr/>
            <p:nvPr/>
          </p:nvSpPr>
          <p:spPr>
            <a:xfrm rot="-5400000">
              <a:off x="7180245" y="3525854"/>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8281" name="Google Shape;8281;p74"/>
          <p:cNvPicPr preferRelativeResize="0"/>
          <p:nvPr/>
        </p:nvPicPr>
        <p:blipFill rotWithShape="1">
          <a:blip r:embed="rId3">
            <a:alphaModFix/>
          </a:blip>
          <a:srcRect/>
          <a:stretch/>
        </p:blipFill>
        <p:spPr>
          <a:xfrm>
            <a:off x="6571306" y="1840166"/>
            <a:ext cx="5403739" cy="3029842"/>
          </a:xfrm>
          <a:prstGeom prst="rect">
            <a:avLst/>
          </a:prstGeom>
          <a:noFill/>
          <a:ln>
            <a:noFill/>
          </a:ln>
          <a:effectLst>
            <a:outerShdw blurRad="50800" dist="38100" dir="2700000" algn="tl" rotWithShape="0">
              <a:srgbClr val="000000">
                <a:alpha val="40000"/>
              </a:srgbClr>
            </a:outerShdw>
          </a:effectLst>
        </p:spPr>
      </p:pic>
      <p:sp>
        <p:nvSpPr>
          <p:cNvPr id="8282" name="Google Shape;8282;p74"/>
          <p:cNvSpPr/>
          <p:nvPr/>
        </p:nvSpPr>
        <p:spPr>
          <a:xfrm>
            <a:off x="3623896" y="2607363"/>
            <a:ext cx="2327955" cy="2189761"/>
          </a:xfrm>
          <a:prstGeom prst="roundRect">
            <a:avLst>
              <a:gd name="adj" fmla="val 2778"/>
            </a:avLst>
          </a:prstGeom>
          <a:solidFill>
            <a:schemeClr val="lt1"/>
          </a:solidFill>
          <a:ln w="12700" cap="flat" cmpd="sng">
            <a:solidFill>
              <a:schemeClr val="accent1"/>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Arial"/>
              <a:buNone/>
            </a:pPr>
            <a:endParaRPr sz="1600">
              <a:solidFill>
                <a:srgbClr val="000000"/>
              </a:solidFill>
              <a:latin typeface="Arial"/>
              <a:ea typeface="Arial"/>
              <a:cs typeface="Arial"/>
              <a:sym typeface="Arial"/>
            </a:endParaRPr>
          </a:p>
        </p:txBody>
      </p:sp>
      <p:sp>
        <p:nvSpPr>
          <p:cNvPr id="8283" name="Google Shape;8283;p74"/>
          <p:cNvSpPr/>
          <p:nvPr/>
        </p:nvSpPr>
        <p:spPr>
          <a:xfrm>
            <a:off x="3787970" y="4131616"/>
            <a:ext cx="1992620" cy="175965"/>
          </a:xfrm>
          <a:prstGeom prst="roundRect">
            <a:avLst>
              <a:gd name="adj" fmla="val 16667"/>
            </a:avLst>
          </a:prstGeom>
          <a:solidFill>
            <a:schemeClr val="accent1"/>
          </a:solidFill>
          <a:ln>
            <a:noFill/>
          </a:ln>
        </p:spPr>
        <p:txBody>
          <a:bodyPr spcFirstLastPara="1" wrap="square" lIns="87700" tIns="43850" rIns="87700" bIns="43850" anchor="ctr" anchorCtr="0">
            <a:noAutofit/>
          </a:bodyPr>
          <a:lstStyle/>
          <a:p>
            <a:pPr marL="0" marR="0" lvl="0" indent="0" algn="ctr" rtl="0">
              <a:spcBef>
                <a:spcPts val="0"/>
              </a:spcBef>
              <a:spcAft>
                <a:spcPts val="0"/>
              </a:spcAft>
              <a:buNone/>
            </a:pPr>
            <a:r>
              <a:rPr lang="en-US" sz="900">
                <a:solidFill>
                  <a:schemeClr val="lt1"/>
                </a:solidFill>
                <a:latin typeface="Arial"/>
                <a:ea typeface="Arial"/>
                <a:cs typeface="Arial"/>
                <a:sym typeface="Arial"/>
              </a:rPr>
              <a:t>PrivateTGW Subnet</a:t>
            </a:r>
            <a:endParaRPr/>
          </a:p>
        </p:txBody>
      </p:sp>
      <p:sp>
        <p:nvSpPr>
          <p:cNvPr id="8284" name="Google Shape;8284;p74"/>
          <p:cNvSpPr/>
          <p:nvPr/>
        </p:nvSpPr>
        <p:spPr>
          <a:xfrm>
            <a:off x="3787970" y="3533335"/>
            <a:ext cx="1992620" cy="175965"/>
          </a:xfrm>
          <a:prstGeom prst="roundRect">
            <a:avLst>
              <a:gd name="adj" fmla="val 16667"/>
            </a:avLst>
          </a:prstGeom>
          <a:solidFill>
            <a:schemeClr val="accent2"/>
          </a:solidFill>
          <a:ln>
            <a:noFill/>
          </a:ln>
        </p:spPr>
        <p:txBody>
          <a:bodyPr spcFirstLastPara="1" wrap="square" lIns="87700" tIns="43850" rIns="87700" bIns="43850" anchor="ctr" anchorCtr="0">
            <a:noAutofit/>
          </a:bodyPr>
          <a:lstStyle/>
          <a:p>
            <a:pPr marL="0" marR="0" lvl="0" indent="0" algn="ctr" rtl="0">
              <a:spcBef>
                <a:spcPts val="0"/>
              </a:spcBef>
              <a:spcAft>
                <a:spcPts val="0"/>
              </a:spcAft>
              <a:buNone/>
            </a:pPr>
            <a:r>
              <a:rPr lang="en-US" sz="900">
                <a:solidFill>
                  <a:schemeClr val="lt1"/>
                </a:solidFill>
                <a:latin typeface="Arial"/>
                <a:ea typeface="Arial"/>
                <a:cs typeface="Arial"/>
                <a:sym typeface="Arial"/>
              </a:rPr>
              <a:t>External Subnet</a:t>
            </a:r>
            <a:endParaRPr/>
          </a:p>
        </p:txBody>
      </p:sp>
      <p:sp>
        <p:nvSpPr>
          <p:cNvPr id="8285" name="Google Shape;8285;p74"/>
          <p:cNvSpPr/>
          <p:nvPr/>
        </p:nvSpPr>
        <p:spPr>
          <a:xfrm>
            <a:off x="3789246" y="2932981"/>
            <a:ext cx="1992620" cy="175965"/>
          </a:xfrm>
          <a:prstGeom prst="roundRect">
            <a:avLst>
              <a:gd name="adj" fmla="val 16667"/>
            </a:avLst>
          </a:prstGeom>
          <a:solidFill>
            <a:schemeClr val="accent5"/>
          </a:solidFill>
          <a:ln>
            <a:noFill/>
          </a:ln>
        </p:spPr>
        <p:txBody>
          <a:bodyPr spcFirstLastPara="1" wrap="square" lIns="87700" tIns="43850" rIns="87700" bIns="43850" anchor="ctr" anchorCtr="0">
            <a:noAutofit/>
          </a:bodyPr>
          <a:lstStyle/>
          <a:p>
            <a:pPr marL="0" marR="0" lvl="0" indent="0" algn="ctr" rtl="0">
              <a:spcBef>
                <a:spcPts val="0"/>
              </a:spcBef>
              <a:spcAft>
                <a:spcPts val="0"/>
              </a:spcAft>
              <a:buNone/>
            </a:pPr>
            <a:r>
              <a:rPr lang="en-US" sz="900">
                <a:solidFill>
                  <a:schemeClr val="lt1"/>
                </a:solidFill>
                <a:latin typeface="Arial"/>
                <a:ea typeface="Arial"/>
                <a:cs typeface="Arial"/>
                <a:sym typeface="Arial"/>
              </a:rPr>
              <a:t>Private Subnet</a:t>
            </a:r>
            <a:endParaRPr/>
          </a:p>
        </p:txBody>
      </p:sp>
      <p:sp>
        <p:nvSpPr>
          <p:cNvPr id="8286" name="Google Shape;8286;p74"/>
          <p:cNvSpPr/>
          <p:nvPr/>
        </p:nvSpPr>
        <p:spPr>
          <a:xfrm>
            <a:off x="3371063" y="2144481"/>
            <a:ext cx="2894013" cy="2730142"/>
          </a:xfrm>
          <a:prstGeom prst="roundRect">
            <a:avLst>
              <a:gd name="adj" fmla="val 3683"/>
            </a:avLst>
          </a:prstGeom>
          <a:noFill/>
          <a:ln w="12700" cap="flat" cmpd="sng">
            <a:solidFill>
              <a:schemeClr val="dk2"/>
            </a:solidFill>
            <a:prstDash val="solid"/>
            <a:round/>
            <a:headEnd type="none" w="sm" len="sm"/>
            <a:tailEnd type="none" w="sm" len="sm"/>
          </a:ln>
        </p:spPr>
        <p:txBody>
          <a:bodyPr spcFirstLastPara="1" wrap="square" lIns="91400" tIns="1371600" rIns="91400" bIns="274300" anchor="t" anchorCtr="0">
            <a:noAutofit/>
          </a:bodyPr>
          <a:lstStyle/>
          <a:p>
            <a:pPr marL="0" marR="0" lvl="0" indent="0" algn="ctr" rtl="0">
              <a:spcBef>
                <a:spcPts val="0"/>
              </a:spcBef>
              <a:spcAft>
                <a:spcPts val="0"/>
              </a:spcAft>
              <a:buNone/>
            </a:pPr>
            <a:r>
              <a:rPr lang="en-US" sz="1050">
                <a:solidFill>
                  <a:schemeClr val="accent2"/>
                </a:solidFill>
                <a:latin typeface="Arial"/>
                <a:ea typeface="Arial"/>
                <a:cs typeface="Arial"/>
                <a:sym typeface="Arial"/>
              </a:rPr>
              <a:t> </a:t>
            </a:r>
            <a:endParaRPr/>
          </a:p>
        </p:txBody>
      </p:sp>
      <p:sp>
        <p:nvSpPr>
          <p:cNvPr id="8287" name="Google Shape;8287;p74"/>
          <p:cNvSpPr/>
          <p:nvPr/>
        </p:nvSpPr>
        <p:spPr>
          <a:xfrm>
            <a:off x="4122900" y="2015490"/>
            <a:ext cx="1466510" cy="250721"/>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Arial"/>
                <a:ea typeface="Arial"/>
                <a:cs typeface="Arial"/>
                <a:sym typeface="Arial"/>
              </a:rPr>
              <a:t>NSX Project</a:t>
            </a:r>
            <a:endParaRPr/>
          </a:p>
        </p:txBody>
      </p:sp>
      <p:sp>
        <p:nvSpPr>
          <p:cNvPr id="8288" name="Google Shape;8288;p74"/>
          <p:cNvSpPr/>
          <p:nvPr/>
        </p:nvSpPr>
        <p:spPr>
          <a:xfrm>
            <a:off x="3902998" y="2501353"/>
            <a:ext cx="1765093" cy="250721"/>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Arial"/>
                <a:ea typeface="Arial"/>
                <a:cs typeface="Arial"/>
                <a:sym typeface="Arial"/>
              </a:rPr>
              <a:t>namespace-1 VPC</a:t>
            </a:r>
            <a:endParaRPr/>
          </a:p>
        </p:txBody>
      </p:sp>
      <p:cxnSp>
        <p:nvCxnSpPr>
          <p:cNvPr id="8289" name="Google Shape;8289;p74"/>
          <p:cNvCxnSpPr>
            <a:stCxn id="8282" idx="2"/>
            <a:endCxn id="8253" idx="1"/>
          </p:cNvCxnSpPr>
          <p:nvPr/>
        </p:nvCxnSpPr>
        <p:spPr>
          <a:xfrm rot="-5400000" flipH="1">
            <a:off x="5447874" y="4137124"/>
            <a:ext cx="491400" cy="1811400"/>
          </a:xfrm>
          <a:prstGeom prst="bentConnector2">
            <a:avLst/>
          </a:prstGeom>
          <a:noFill/>
          <a:ln w="12700" cap="flat" cmpd="sng">
            <a:solidFill>
              <a:schemeClr val="accent2"/>
            </a:solidFill>
            <a:prstDash val="solid"/>
            <a:miter lim="800000"/>
            <a:headEnd type="none" w="sm" len="sm"/>
            <a:tailEnd type="triangle" w="med" len="med"/>
          </a:ln>
        </p:spPr>
      </p:cxnSp>
      <p:grpSp>
        <p:nvGrpSpPr>
          <p:cNvPr id="8290" name="Google Shape;8290;p74" descr="Virtual Machine&#10;"/>
          <p:cNvGrpSpPr/>
          <p:nvPr/>
        </p:nvGrpSpPr>
        <p:grpSpPr>
          <a:xfrm>
            <a:off x="4122900" y="3233203"/>
            <a:ext cx="215999" cy="216000"/>
            <a:chOff x="5798589" y="1951740"/>
            <a:chExt cx="600836" cy="600837"/>
          </a:xfrm>
        </p:grpSpPr>
        <p:sp>
          <p:nvSpPr>
            <p:cNvPr id="8291" name="Google Shape;8291;p74"/>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8292" name="Google Shape;8292;p74"/>
            <p:cNvGrpSpPr/>
            <p:nvPr/>
          </p:nvGrpSpPr>
          <p:grpSpPr>
            <a:xfrm>
              <a:off x="5978207" y="2214844"/>
              <a:ext cx="220729" cy="84117"/>
              <a:chOff x="5978207" y="2214844"/>
              <a:chExt cx="220729" cy="84117"/>
            </a:xfrm>
          </p:grpSpPr>
          <p:sp>
            <p:nvSpPr>
              <p:cNvPr id="8293" name="Google Shape;8293;p74"/>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94" name="Google Shape;8294;p74"/>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8295" name="Google Shape;8295;p74" descr="Virtual Machine&#10;"/>
          <p:cNvGrpSpPr/>
          <p:nvPr/>
        </p:nvGrpSpPr>
        <p:grpSpPr>
          <a:xfrm>
            <a:off x="4419223" y="3233203"/>
            <a:ext cx="215999" cy="216000"/>
            <a:chOff x="5798589" y="1951740"/>
            <a:chExt cx="600836" cy="600837"/>
          </a:xfrm>
        </p:grpSpPr>
        <p:sp>
          <p:nvSpPr>
            <p:cNvPr id="8296" name="Google Shape;8296;p74"/>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8297" name="Google Shape;8297;p74"/>
            <p:cNvGrpSpPr/>
            <p:nvPr/>
          </p:nvGrpSpPr>
          <p:grpSpPr>
            <a:xfrm>
              <a:off x="5978207" y="2214844"/>
              <a:ext cx="220729" cy="84117"/>
              <a:chOff x="5978207" y="2214844"/>
              <a:chExt cx="220729" cy="84117"/>
            </a:xfrm>
          </p:grpSpPr>
          <p:sp>
            <p:nvSpPr>
              <p:cNvPr id="8298" name="Google Shape;8298;p74"/>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99" name="Google Shape;8299;p74"/>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8300" name="Google Shape;8300;p74" descr="Virtual Machine&#10;"/>
          <p:cNvGrpSpPr/>
          <p:nvPr/>
        </p:nvGrpSpPr>
        <p:grpSpPr>
          <a:xfrm>
            <a:off x="4635222" y="3832741"/>
            <a:ext cx="215999" cy="216000"/>
            <a:chOff x="5798589" y="1951740"/>
            <a:chExt cx="600836" cy="600837"/>
          </a:xfrm>
        </p:grpSpPr>
        <p:sp>
          <p:nvSpPr>
            <p:cNvPr id="8301" name="Google Shape;8301;p74"/>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8302" name="Google Shape;8302;p74"/>
            <p:cNvGrpSpPr/>
            <p:nvPr/>
          </p:nvGrpSpPr>
          <p:grpSpPr>
            <a:xfrm>
              <a:off x="5978207" y="2214844"/>
              <a:ext cx="220729" cy="84117"/>
              <a:chOff x="5978207" y="2214844"/>
              <a:chExt cx="220729" cy="84117"/>
            </a:xfrm>
          </p:grpSpPr>
          <p:sp>
            <p:nvSpPr>
              <p:cNvPr id="8303" name="Google Shape;8303;p74"/>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04" name="Google Shape;8304;p74"/>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8305" name="Google Shape;8305;p74" descr="Virtual Machine&#10;"/>
          <p:cNvGrpSpPr/>
          <p:nvPr/>
        </p:nvGrpSpPr>
        <p:grpSpPr>
          <a:xfrm>
            <a:off x="4969123" y="3832741"/>
            <a:ext cx="215999" cy="216000"/>
            <a:chOff x="5798589" y="1951740"/>
            <a:chExt cx="600836" cy="600837"/>
          </a:xfrm>
        </p:grpSpPr>
        <p:sp>
          <p:nvSpPr>
            <p:cNvPr id="8306" name="Google Shape;8306;p74"/>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8307" name="Google Shape;8307;p74"/>
            <p:cNvGrpSpPr/>
            <p:nvPr/>
          </p:nvGrpSpPr>
          <p:grpSpPr>
            <a:xfrm>
              <a:off x="5978207" y="2214844"/>
              <a:ext cx="220729" cy="84117"/>
              <a:chOff x="5978207" y="2214844"/>
              <a:chExt cx="220729" cy="84117"/>
            </a:xfrm>
          </p:grpSpPr>
          <p:sp>
            <p:nvSpPr>
              <p:cNvPr id="8308" name="Google Shape;8308;p74"/>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09" name="Google Shape;8309;p74"/>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8310" name="Google Shape;8310;p74" descr="Virtual Machine&#10;"/>
          <p:cNvGrpSpPr/>
          <p:nvPr/>
        </p:nvGrpSpPr>
        <p:grpSpPr>
          <a:xfrm>
            <a:off x="4122900" y="4442708"/>
            <a:ext cx="215999" cy="216000"/>
            <a:chOff x="5798589" y="1951740"/>
            <a:chExt cx="600836" cy="600837"/>
          </a:xfrm>
        </p:grpSpPr>
        <p:sp>
          <p:nvSpPr>
            <p:cNvPr id="8311" name="Google Shape;8311;p74"/>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8312" name="Google Shape;8312;p74"/>
            <p:cNvGrpSpPr/>
            <p:nvPr/>
          </p:nvGrpSpPr>
          <p:grpSpPr>
            <a:xfrm>
              <a:off x="5978207" y="2214844"/>
              <a:ext cx="220729" cy="84117"/>
              <a:chOff x="5978207" y="2214844"/>
              <a:chExt cx="220729" cy="84117"/>
            </a:xfrm>
          </p:grpSpPr>
          <p:sp>
            <p:nvSpPr>
              <p:cNvPr id="8313" name="Google Shape;8313;p74"/>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14" name="Google Shape;8314;p74"/>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8315" name="Google Shape;8315;p74" descr="Virtual Machine&#10;"/>
          <p:cNvGrpSpPr/>
          <p:nvPr/>
        </p:nvGrpSpPr>
        <p:grpSpPr>
          <a:xfrm>
            <a:off x="4665197" y="4442708"/>
            <a:ext cx="215999" cy="216000"/>
            <a:chOff x="5798589" y="1951740"/>
            <a:chExt cx="600836" cy="600837"/>
          </a:xfrm>
        </p:grpSpPr>
        <p:sp>
          <p:nvSpPr>
            <p:cNvPr id="8316" name="Google Shape;8316;p74"/>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8317" name="Google Shape;8317;p74"/>
            <p:cNvGrpSpPr/>
            <p:nvPr/>
          </p:nvGrpSpPr>
          <p:grpSpPr>
            <a:xfrm>
              <a:off x="5978207" y="2214844"/>
              <a:ext cx="220729" cy="84117"/>
              <a:chOff x="5978207" y="2214844"/>
              <a:chExt cx="220729" cy="84117"/>
            </a:xfrm>
          </p:grpSpPr>
          <p:sp>
            <p:nvSpPr>
              <p:cNvPr id="8318" name="Google Shape;8318;p74"/>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19" name="Google Shape;8319;p74"/>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cxnSp>
        <p:nvCxnSpPr>
          <p:cNvPr id="8320" name="Google Shape;8320;p74"/>
          <p:cNvCxnSpPr/>
          <p:nvPr/>
        </p:nvCxnSpPr>
        <p:spPr>
          <a:xfrm>
            <a:off x="4224760" y="3108946"/>
            <a:ext cx="0" cy="124257"/>
          </a:xfrm>
          <a:prstGeom prst="straightConnector1">
            <a:avLst/>
          </a:prstGeom>
          <a:noFill/>
          <a:ln w="9525" cap="flat" cmpd="sng">
            <a:solidFill>
              <a:srgbClr val="005A89"/>
            </a:solidFill>
            <a:prstDash val="solid"/>
            <a:round/>
            <a:headEnd type="none" w="sm" len="sm"/>
            <a:tailEnd type="none" w="sm" len="sm"/>
          </a:ln>
        </p:spPr>
      </p:cxnSp>
      <p:cxnSp>
        <p:nvCxnSpPr>
          <p:cNvPr id="8321" name="Google Shape;8321;p74"/>
          <p:cNvCxnSpPr/>
          <p:nvPr/>
        </p:nvCxnSpPr>
        <p:spPr>
          <a:xfrm>
            <a:off x="4521083" y="3108946"/>
            <a:ext cx="0" cy="124257"/>
          </a:xfrm>
          <a:prstGeom prst="straightConnector1">
            <a:avLst/>
          </a:prstGeom>
          <a:noFill/>
          <a:ln w="9525" cap="flat" cmpd="sng">
            <a:solidFill>
              <a:srgbClr val="005A89"/>
            </a:solidFill>
            <a:prstDash val="solid"/>
            <a:round/>
            <a:headEnd type="none" w="sm" len="sm"/>
            <a:tailEnd type="none" w="sm" len="sm"/>
          </a:ln>
        </p:spPr>
      </p:cxnSp>
      <p:cxnSp>
        <p:nvCxnSpPr>
          <p:cNvPr id="8322" name="Google Shape;8322;p74"/>
          <p:cNvCxnSpPr/>
          <p:nvPr/>
        </p:nvCxnSpPr>
        <p:spPr>
          <a:xfrm>
            <a:off x="4752196" y="3709300"/>
            <a:ext cx="1264" cy="123441"/>
          </a:xfrm>
          <a:prstGeom prst="straightConnector1">
            <a:avLst/>
          </a:prstGeom>
          <a:noFill/>
          <a:ln w="9525" cap="flat" cmpd="sng">
            <a:solidFill>
              <a:srgbClr val="005A89"/>
            </a:solidFill>
            <a:prstDash val="solid"/>
            <a:round/>
            <a:headEnd type="none" w="sm" len="sm"/>
            <a:tailEnd type="none" w="sm" len="sm"/>
          </a:ln>
        </p:spPr>
      </p:cxnSp>
      <p:cxnSp>
        <p:nvCxnSpPr>
          <p:cNvPr id="8323" name="Google Shape;8323;p74"/>
          <p:cNvCxnSpPr/>
          <p:nvPr/>
        </p:nvCxnSpPr>
        <p:spPr>
          <a:xfrm>
            <a:off x="5075972" y="3702243"/>
            <a:ext cx="0" cy="130498"/>
          </a:xfrm>
          <a:prstGeom prst="straightConnector1">
            <a:avLst/>
          </a:prstGeom>
          <a:noFill/>
          <a:ln w="9525" cap="flat" cmpd="sng">
            <a:solidFill>
              <a:srgbClr val="005A89"/>
            </a:solidFill>
            <a:prstDash val="solid"/>
            <a:round/>
            <a:headEnd type="none" w="sm" len="sm"/>
            <a:tailEnd type="none" w="sm" len="sm"/>
          </a:ln>
        </p:spPr>
      </p:cxnSp>
      <p:cxnSp>
        <p:nvCxnSpPr>
          <p:cNvPr id="8324" name="Google Shape;8324;p74"/>
          <p:cNvCxnSpPr/>
          <p:nvPr/>
        </p:nvCxnSpPr>
        <p:spPr>
          <a:xfrm>
            <a:off x="4224760" y="4307581"/>
            <a:ext cx="0" cy="135127"/>
          </a:xfrm>
          <a:prstGeom prst="straightConnector1">
            <a:avLst/>
          </a:prstGeom>
          <a:noFill/>
          <a:ln w="9525" cap="flat" cmpd="sng">
            <a:solidFill>
              <a:srgbClr val="005A89"/>
            </a:solidFill>
            <a:prstDash val="solid"/>
            <a:round/>
            <a:headEnd type="none" w="sm" len="sm"/>
            <a:tailEnd type="none" w="sm" len="sm"/>
          </a:ln>
        </p:spPr>
      </p:cxnSp>
      <p:cxnSp>
        <p:nvCxnSpPr>
          <p:cNvPr id="8325" name="Google Shape;8325;p74"/>
          <p:cNvCxnSpPr>
            <a:stCxn id="8283" idx="2"/>
          </p:cNvCxnSpPr>
          <p:nvPr/>
        </p:nvCxnSpPr>
        <p:spPr>
          <a:xfrm>
            <a:off x="4784280" y="4307581"/>
            <a:ext cx="1200" cy="135000"/>
          </a:xfrm>
          <a:prstGeom prst="straightConnector1">
            <a:avLst/>
          </a:prstGeom>
          <a:noFill/>
          <a:ln w="9525" cap="flat" cmpd="sng">
            <a:solidFill>
              <a:srgbClr val="005A89"/>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330"/>
        <p:cNvGrpSpPr/>
        <p:nvPr/>
      </p:nvGrpSpPr>
      <p:grpSpPr>
        <a:xfrm>
          <a:off x="0" y="0"/>
          <a:ext cx="0" cy="0"/>
          <a:chOff x="0" y="0"/>
          <a:chExt cx="0" cy="0"/>
        </a:xfrm>
      </p:grpSpPr>
      <p:sp>
        <p:nvSpPr>
          <p:cNvPr id="8331" name="Google Shape;8331;p7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Creating Isolation between Control Plane and Workloads</a:t>
            </a:r>
            <a:endParaRPr/>
          </a:p>
        </p:txBody>
      </p:sp>
      <p:sp>
        <p:nvSpPr>
          <p:cNvPr id="8332" name="Google Shape;8332;p75"/>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Introducing Management and Workload Zones</a:t>
            </a:r>
            <a:endParaRPr/>
          </a:p>
        </p:txBody>
      </p:sp>
      <p:sp>
        <p:nvSpPr>
          <p:cNvPr id="8333" name="Google Shape;8333;p75"/>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b="1" dirty="0"/>
              <a:t>Separate</a:t>
            </a:r>
            <a:r>
              <a:rPr lang="en-US" dirty="0"/>
              <a:t> management </a:t>
            </a:r>
            <a:r>
              <a:rPr lang="en-US" b="1" dirty="0"/>
              <a:t>Control plane VMs</a:t>
            </a:r>
            <a:r>
              <a:rPr lang="en-US" dirty="0"/>
              <a:t> from </a:t>
            </a:r>
            <a:r>
              <a:rPr lang="en-US" b="1" dirty="0"/>
              <a:t>workload VMs and Kubernetes clusters</a:t>
            </a:r>
            <a:endParaRPr dirty="0"/>
          </a:p>
          <a:p>
            <a:pPr marL="0" lvl="0" indent="0" algn="l" rtl="0">
              <a:lnSpc>
                <a:spcPct val="100000"/>
              </a:lnSpc>
              <a:spcBef>
                <a:spcPts val="1200"/>
              </a:spcBef>
              <a:spcAft>
                <a:spcPts val="0"/>
              </a:spcAft>
              <a:buSzPts val="1440"/>
              <a:buNone/>
            </a:pPr>
            <a:r>
              <a:rPr lang="en-US" dirty="0"/>
              <a:t>Easily </a:t>
            </a:r>
            <a:r>
              <a:rPr lang="en-US" b="1" dirty="0"/>
              <a:t>add capacity </a:t>
            </a:r>
            <a:r>
              <a:rPr lang="en-US" dirty="0"/>
              <a:t>to vSphere Supervisor with vSphere Zones</a:t>
            </a:r>
            <a:endParaRPr dirty="0"/>
          </a:p>
          <a:p>
            <a:pPr marL="0" lvl="0" indent="0" algn="l" rtl="0">
              <a:lnSpc>
                <a:spcPct val="100000"/>
              </a:lnSpc>
              <a:spcBef>
                <a:spcPts val="1200"/>
              </a:spcBef>
              <a:spcAft>
                <a:spcPts val="0"/>
              </a:spcAft>
              <a:buSzPts val="1440"/>
              <a:buNone/>
            </a:pPr>
            <a:r>
              <a:rPr lang="en-US" dirty="0"/>
              <a:t>vSphere namespaces can span one or more vSphere Zone</a:t>
            </a:r>
            <a:endParaRPr dirty="0"/>
          </a:p>
          <a:p>
            <a:pPr marL="0" lvl="0" indent="0" algn="l" rtl="0">
              <a:lnSpc>
                <a:spcPct val="100000"/>
              </a:lnSpc>
              <a:spcBef>
                <a:spcPts val="1200"/>
              </a:spcBef>
              <a:spcAft>
                <a:spcPts val="0"/>
              </a:spcAft>
              <a:buSzPts val="1440"/>
              <a:buNone/>
            </a:pPr>
            <a:r>
              <a:rPr lang="en-US" b="1" dirty="0"/>
              <a:t>Add additional Zones to vSphere Namespace</a:t>
            </a:r>
            <a:endParaRPr dirty="0"/>
          </a:p>
          <a:p>
            <a:pPr marL="0" lvl="0" indent="0" algn="l" rtl="0">
              <a:lnSpc>
                <a:spcPct val="100000"/>
              </a:lnSpc>
              <a:spcBef>
                <a:spcPts val="1200"/>
              </a:spcBef>
              <a:spcAft>
                <a:spcPts val="0"/>
              </a:spcAft>
              <a:buSzPts val="1440"/>
              <a:buNone/>
            </a:pPr>
            <a:endParaRPr dirty="0"/>
          </a:p>
        </p:txBody>
      </p:sp>
      <p:cxnSp>
        <p:nvCxnSpPr>
          <p:cNvPr id="8334" name="Google Shape;8334;p75"/>
          <p:cNvCxnSpPr/>
          <p:nvPr/>
        </p:nvCxnSpPr>
        <p:spPr>
          <a:xfrm>
            <a:off x="4585686" y="5791362"/>
            <a:ext cx="3063805" cy="0"/>
          </a:xfrm>
          <a:prstGeom prst="straightConnector1">
            <a:avLst/>
          </a:prstGeom>
          <a:noFill/>
          <a:ln w="12700" cap="flat" cmpd="sng">
            <a:solidFill>
              <a:schemeClr val="dk1"/>
            </a:solidFill>
            <a:prstDash val="solid"/>
            <a:miter lim="800000"/>
            <a:headEnd type="none" w="sm" len="sm"/>
            <a:tailEnd type="none" w="sm" len="sm"/>
          </a:ln>
        </p:spPr>
      </p:cxnSp>
      <p:cxnSp>
        <p:nvCxnSpPr>
          <p:cNvPr id="8335" name="Google Shape;8335;p75"/>
          <p:cNvCxnSpPr/>
          <p:nvPr/>
        </p:nvCxnSpPr>
        <p:spPr>
          <a:xfrm>
            <a:off x="656704" y="5791362"/>
            <a:ext cx="3819008" cy="0"/>
          </a:xfrm>
          <a:prstGeom prst="straightConnector1">
            <a:avLst/>
          </a:prstGeom>
          <a:noFill/>
          <a:ln w="12700" cap="flat" cmpd="sng">
            <a:solidFill>
              <a:schemeClr val="dk1"/>
            </a:solidFill>
            <a:prstDash val="solid"/>
            <a:miter lim="800000"/>
            <a:headEnd type="none" w="sm" len="sm"/>
            <a:tailEnd type="none" w="sm" len="sm"/>
          </a:ln>
        </p:spPr>
      </p:cxnSp>
      <p:sp>
        <p:nvSpPr>
          <p:cNvPr id="8336" name="Google Shape;8336;p75"/>
          <p:cNvSpPr/>
          <p:nvPr/>
        </p:nvSpPr>
        <p:spPr>
          <a:xfrm>
            <a:off x="4585686" y="4795721"/>
            <a:ext cx="3063805"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Arial"/>
              <a:buNone/>
            </a:pPr>
            <a:endParaRPr sz="1600">
              <a:solidFill>
                <a:srgbClr val="000000"/>
              </a:solidFill>
              <a:latin typeface="Arial"/>
              <a:ea typeface="Arial"/>
              <a:cs typeface="Arial"/>
              <a:sym typeface="Arial"/>
            </a:endParaRPr>
          </a:p>
        </p:txBody>
      </p:sp>
      <p:sp>
        <p:nvSpPr>
          <p:cNvPr id="8337" name="Google Shape;8337;p75"/>
          <p:cNvSpPr/>
          <p:nvPr/>
        </p:nvSpPr>
        <p:spPr>
          <a:xfrm>
            <a:off x="656704" y="4796817"/>
            <a:ext cx="3835059"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Arial"/>
              <a:buNone/>
            </a:pPr>
            <a:endParaRPr sz="1600">
              <a:solidFill>
                <a:srgbClr val="000000"/>
              </a:solidFill>
              <a:latin typeface="Arial"/>
              <a:ea typeface="Arial"/>
              <a:cs typeface="Arial"/>
              <a:sym typeface="Arial"/>
            </a:endParaRPr>
          </a:p>
        </p:txBody>
      </p:sp>
      <p:sp>
        <p:nvSpPr>
          <p:cNvPr id="8338" name="Google Shape;8338;p75"/>
          <p:cNvSpPr/>
          <p:nvPr/>
        </p:nvSpPr>
        <p:spPr>
          <a:xfrm>
            <a:off x="775740" y="4585571"/>
            <a:ext cx="6772215"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400"/>
              <a:buFont typeface="Arial"/>
              <a:buNone/>
            </a:pPr>
            <a:endParaRPr sz="1400">
              <a:solidFill>
                <a:srgbClr val="FFFFFF"/>
              </a:solidFill>
              <a:latin typeface="Arial"/>
              <a:ea typeface="Arial"/>
              <a:cs typeface="Arial"/>
              <a:sym typeface="Arial"/>
            </a:endParaRPr>
          </a:p>
        </p:txBody>
      </p:sp>
      <p:sp>
        <p:nvSpPr>
          <p:cNvPr id="8339" name="Google Shape;8339;p75"/>
          <p:cNvSpPr txBox="1"/>
          <p:nvPr/>
        </p:nvSpPr>
        <p:spPr>
          <a:xfrm>
            <a:off x="4154179" y="4714982"/>
            <a:ext cx="895117"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chemeClr val="lt1"/>
                </a:solidFill>
                <a:latin typeface="Arial"/>
                <a:ea typeface="Arial"/>
                <a:cs typeface="Arial"/>
                <a:sym typeface="Arial"/>
              </a:rPr>
              <a:t>Supervisor</a:t>
            </a:r>
            <a:endParaRPr/>
          </a:p>
        </p:txBody>
      </p:sp>
      <p:sp>
        <p:nvSpPr>
          <p:cNvPr id="8340" name="Google Shape;8340;p75"/>
          <p:cNvSpPr/>
          <p:nvPr/>
        </p:nvSpPr>
        <p:spPr>
          <a:xfrm>
            <a:off x="827748" y="4648218"/>
            <a:ext cx="2680223" cy="304750"/>
          </a:xfrm>
          <a:prstGeom prst="roundRect">
            <a:avLst>
              <a:gd name="adj" fmla="val 50000"/>
            </a:avLst>
          </a:prstGeom>
          <a:solidFill>
            <a:schemeClr val="lt1"/>
          </a:solidFill>
          <a:ln w="12700" cap="flat" cmpd="sng">
            <a:solidFill>
              <a:schemeClr val="accent5"/>
            </a:solidFill>
            <a:prstDash val="dot"/>
            <a:round/>
            <a:headEnd type="none" w="sm" len="sm"/>
            <a:tailEnd type="none" w="sm" len="sm"/>
          </a:ln>
        </p:spPr>
        <p:txBody>
          <a:bodyPr spcFirstLastPara="1" wrap="square" lIns="91400" tIns="45700" rIns="91400" bIns="45700" anchor="ctr" anchorCtr="0">
            <a:noAutofit/>
          </a:bodyPr>
          <a:lstStyle/>
          <a:p>
            <a:pPr marL="0" marR="0" lvl="0" indent="0" algn="l" rtl="0">
              <a:spcBef>
                <a:spcPts val="0"/>
              </a:spcBef>
              <a:spcAft>
                <a:spcPts val="0"/>
              </a:spcAft>
              <a:buNone/>
            </a:pPr>
            <a:endParaRPr sz="900">
              <a:solidFill>
                <a:schemeClr val="accent4"/>
              </a:solidFill>
              <a:latin typeface="Arial"/>
              <a:ea typeface="Arial"/>
              <a:cs typeface="Arial"/>
              <a:sym typeface="Arial"/>
            </a:endParaRPr>
          </a:p>
        </p:txBody>
      </p:sp>
      <p:sp>
        <p:nvSpPr>
          <p:cNvPr id="8341" name="Google Shape;8341;p75"/>
          <p:cNvSpPr txBox="1"/>
          <p:nvPr/>
        </p:nvSpPr>
        <p:spPr>
          <a:xfrm>
            <a:off x="1152413" y="4707121"/>
            <a:ext cx="1438968" cy="179216"/>
          </a:xfrm>
          <a:prstGeom prst="rect">
            <a:avLst/>
          </a:prstGeom>
          <a:noFill/>
          <a:ln>
            <a:noFill/>
          </a:ln>
        </p:spPr>
        <p:txBody>
          <a:bodyPr spcFirstLastPara="1" wrap="square" lIns="0" tIns="0" rIns="0" bIns="0" anchor="ctr" anchorCtr="0">
            <a:spAutoFit/>
          </a:bodyPr>
          <a:lstStyle/>
          <a:p>
            <a:pPr marL="0" marR="0" lvl="0" indent="0" algn="ctr" rtl="0">
              <a:lnSpc>
                <a:spcPct val="130000"/>
              </a:lnSpc>
              <a:spcBef>
                <a:spcPts val="0"/>
              </a:spcBef>
              <a:spcAft>
                <a:spcPts val="0"/>
              </a:spcAft>
              <a:buNone/>
            </a:pPr>
            <a:r>
              <a:rPr lang="en-US" sz="1000">
                <a:solidFill>
                  <a:schemeClr val="dk1"/>
                </a:solidFill>
                <a:latin typeface="Arial"/>
                <a:ea typeface="Arial"/>
                <a:cs typeface="Arial"/>
                <a:sym typeface="Arial"/>
              </a:rPr>
              <a:t>Supervisor Control Plane</a:t>
            </a:r>
            <a:endParaRPr/>
          </a:p>
        </p:txBody>
      </p:sp>
      <p:grpSp>
        <p:nvGrpSpPr>
          <p:cNvPr id="8342" name="Google Shape;8342;p75"/>
          <p:cNvGrpSpPr/>
          <p:nvPr/>
        </p:nvGrpSpPr>
        <p:grpSpPr>
          <a:xfrm>
            <a:off x="842294" y="4658939"/>
            <a:ext cx="288000" cy="288000"/>
            <a:chOff x="456349" y="4375620"/>
            <a:chExt cx="288000" cy="288000"/>
          </a:xfrm>
        </p:grpSpPr>
        <p:sp>
          <p:nvSpPr>
            <p:cNvPr id="8343" name="Google Shape;8343;p75"/>
            <p:cNvSpPr/>
            <p:nvPr/>
          </p:nvSpPr>
          <p:spPr>
            <a:xfrm>
              <a:off x="456349" y="4375620"/>
              <a:ext cx="288000" cy="28800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44" name="Google Shape;8344;p75"/>
            <p:cNvSpPr/>
            <p:nvPr/>
          </p:nvSpPr>
          <p:spPr>
            <a:xfrm>
              <a:off x="501068" y="4430830"/>
              <a:ext cx="204951" cy="180919"/>
            </a:xfrm>
            <a:custGeom>
              <a:avLst/>
              <a:gdLst/>
              <a:ahLst/>
              <a:cxnLst/>
              <a:rect l="l" t="t" r="r" b="b"/>
              <a:pathLst>
                <a:path w="1373429" h="1372819" extrusionOk="0">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8345" name="Google Shape;8345;p75"/>
          <p:cNvGrpSpPr/>
          <p:nvPr/>
        </p:nvGrpSpPr>
        <p:grpSpPr>
          <a:xfrm>
            <a:off x="1901870" y="5201957"/>
            <a:ext cx="1344725" cy="216064"/>
            <a:chOff x="3604782" y="5211713"/>
            <a:chExt cx="1344725" cy="216064"/>
          </a:xfrm>
        </p:grpSpPr>
        <p:grpSp>
          <p:nvGrpSpPr>
            <p:cNvPr id="8346" name="Google Shape;8346;p75"/>
            <p:cNvGrpSpPr/>
            <p:nvPr/>
          </p:nvGrpSpPr>
          <p:grpSpPr>
            <a:xfrm>
              <a:off x="4468307" y="5211713"/>
              <a:ext cx="481200" cy="216000"/>
              <a:chOff x="9559097" y="5270063"/>
              <a:chExt cx="481200" cy="216000"/>
            </a:xfrm>
          </p:grpSpPr>
          <p:sp>
            <p:nvSpPr>
              <p:cNvPr id="8347" name="Google Shape;8347;p75"/>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sp>
            <p:nvSpPr>
              <p:cNvPr id="8348" name="Google Shape;8348;p75"/>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nvGrpSpPr>
            <p:cNvPr id="8349" name="Google Shape;8349;p75"/>
            <p:cNvGrpSpPr/>
            <p:nvPr/>
          </p:nvGrpSpPr>
          <p:grpSpPr>
            <a:xfrm>
              <a:off x="4059181" y="5211713"/>
              <a:ext cx="437400" cy="216000"/>
              <a:chOff x="9895949" y="1413332"/>
              <a:chExt cx="437400" cy="216000"/>
            </a:xfrm>
          </p:grpSpPr>
          <p:sp>
            <p:nvSpPr>
              <p:cNvPr id="8350" name="Google Shape;8350;p75"/>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sp>
            <p:nvSpPr>
              <p:cNvPr id="8351" name="Google Shape;8351;p75"/>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nvGrpSpPr>
            <p:cNvPr id="8352" name="Google Shape;8352;p75"/>
            <p:cNvGrpSpPr/>
            <p:nvPr/>
          </p:nvGrpSpPr>
          <p:grpSpPr>
            <a:xfrm>
              <a:off x="3604782" y="5211777"/>
              <a:ext cx="481200" cy="216000"/>
              <a:chOff x="8526343" y="2145622"/>
              <a:chExt cx="481200" cy="216000"/>
            </a:xfrm>
          </p:grpSpPr>
          <p:sp>
            <p:nvSpPr>
              <p:cNvPr id="8353" name="Google Shape;8353;p75"/>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grpSp>
            <p:nvGrpSpPr>
              <p:cNvPr id="8354" name="Google Shape;8354;p75"/>
              <p:cNvGrpSpPr/>
              <p:nvPr/>
            </p:nvGrpSpPr>
            <p:grpSpPr>
              <a:xfrm>
                <a:off x="8658941" y="2145622"/>
                <a:ext cx="216005" cy="216000"/>
                <a:chOff x="3822556" y="5087301"/>
                <a:chExt cx="611339" cy="557273"/>
              </a:xfrm>
            </p:grpSpPr>
            <p:sp>
              <p:nvSpPr>
                <p:cNvPr id="8355" name="Google Shape;8355;p75"/>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356" name="Google Shape;8356;p75"/>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357" name="Google Shape;8357;p75"/>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grpSp>
      <p:grpSp>
        <p:nvGrpSpPr>
          <p:cNvPr id="8358" name="Google Shape;8358;p75"/>
          <p:cNvGrpSpPr/>
          <p:nvPr/>
        </p:nvGrpSpPr>
        <p:grpSpPr>
          <a:xfrm>
            <a:off x="2643753" y="4681164"/>
            <a:ext cx="242955" cy="246888"/>
            <a:chOff x="9555686" y="4734395"/>
            <a:chExt cx="242955" cy="246888"/>
          </a:xfrm>
        </p:grpSpPr>
        <p:sp>
          <p:nvSpPr>
            <p:cNvPr id="8359" name="Google Shape;8359;p75"/>
            <p:cNvSpPr/>
            <p:nvPr/>
          </p:nvSpPr>
          <p:spPr>
            <a:xfrm>
              <a:off x="9555686" y="4734395"/>
              <a:ext cx="242955" cy="246888"/>
            </a:xfrm>
            <a:prstGeom prst="ellipse">
              <a:avLst/>
            </a:prstGeom>
            <a:solidFill>
              <a:schemeClr val="lt1"/>
            </a:solidFill>
            <a:ln w="127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nvGrpSpPr>
            <p:cNvPr id="8360" name="Google Shape;8360;p75"/>
            <p:cNvGrpSpPr/>
            <p:nvPr/>
          </p:nvGrpSpPr>
          <p:grpSpPr>
            <a:xfrm>
              <a:off x="9608884" y="4788452"/>
              <a:ext cx="136010" cy="138212"/>
              <a:chOff x="979296" y="1541155"/>
              <a:chExt cx="1054510" cy="1054510"/>
            </a:xfrm>
          </p:grpSpPr>
          <p:sp>
            <p:nvSpPr>
              <p:cNvPr id="8361" name="Google Shape;8361;p75"/>
              <p:cNvSpPr/>
              <p:nvPr/>
            </p:nvSpPr>
            <p:spPr>
              <a:xfrm>
                <a:off x="979296" y="1541155"/>
                <a:ext cx="1054510" cy="1054510"/>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5"/>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nvGrpSpPr>
              <p:cNvPr id="8362" name="Google Shape;8362;p75"/>
              <p:cNvGrpSpPr/>
              <p:nvPr/>
            </p:nvGrpSpPr>
            <p:grpSpPr>
              <a:xfrm>
                <a:off x="1296246" y="2002748"/>
                <a:ext cx="390297" cy="146863"/>
                <a:chOff x="1296246" y="2002748"/>
                <a:chExt cx="390297" cy="146863"/>
              </a:xfrm>
            </p:grpSpPr>
            <p:sp>
              <p:nvSpPr>
                <p:cNvPr id="8363" name="Google Shape;8363;p75"/>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5"/>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sp>
              <p:nvSpPr>
                <p:cNvPr id="8364" name="Google Shape;8364;p75"/>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5"/>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grpSp>
      </p:grpSp>
      <p:grpSp>
        <p:nvGrpSpPr>
          <p:cNvPr id="8365" name="Google Shape;8365;p75"/>
          <p:cNvGrpSpPr/>
          <p:nvPr/>
        </p:nvGrpSpPr>
        <p:grpSpPr>
          <a:xfrm>
            <a:off x="2927588" y="4681164"/>
            <a:ext cx="526791" cy="246888"/>
            <a:chOff x="9839521" y="4734395"/>
            <a:chExt cx="526791" cy="246888"/>
          </a:xfrm>
        </p:grpSpPr>
        <p:sp>
          <p:nvSpPr>
            <p:cNvPr id="8366" name="Google Shape;8366;p75"/>
            <p:cNvSpPr/>
            <p:nvPr/>
          </p:nvSpPr>
          <p:spPr>
            <a:xfrm>
              <a:off x="9839521" y="4734395"/>
              <a:ext cx="242955" cy="246888"/>
            </a:xfrm>
            <a:prstGeom prst="ellipse">
              <a:avLst/>
            </a:prstGeom>
            <a:solidFill>
              <a:schemeClr val="lt1"/>
            </a:solidFill>
            <a:ln w="127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nvGrpSpPr>
            <p:cNvPr id="8367" name="Google Shape;8367;p75"/>
            <p:cNvGrpSpPr/>
            <p:nvPr/>
          </p:nvGrpSpPr>
          <p:grpSpPr>
            <a:xfrm>
              <a:off x="9892719" y="4788452"/>
              <a:ext cx="136010" cy="138212"/>
              <a:chOff x="979296" y="1541155"/>
              <a:chExt cx="1054510" cy="1054510"/>
            </a:xfrm>
          </p:grpSpPr>
          <p:sp>
            <p:nvSpPr>
              <p:cNvPr id="8368" name="Google Shape;8368;p75"/>
              <p:cNvSpPr/>
              <p:nvPr/>
            </p:nvSpPr>
            <p:spPr>
              <a:xfrm>
                <a:off x="979296" y="1541155"/>
                <a:ext cx="1054510" cy="1054510"/>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5"/>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nvGrpSpPr>
              <p:cNvPr id="8369" name="Google Shape;8369;p75"/>
              <p:cNvGrpSpPr/>
              <p:nvPr/>
            </p:nvGrpSpPr>
            <p:grpSpPr>
              <a:xfrm>
                <a:off x="1296246" y="2002748"/>
                <a:ext cx="390297" cy="146863"/>
                <a:chOff x="1296246" y="2002748"/>
                <a:chExt cx="390297" cy="146863"/>
              </a:xfrm>
            </p:grpSpPr>
            <p:sp>
              <p:nvSpPr>
                <p:cNvPr id="8370" name="Google Shape;8370;p75"/>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5"/>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sp>
              <p:nvSpPr>
                <p:cNvPr id="8371" name="Google Shape;8371;p75"/>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5"/>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grpSp>
        <p:sp>
          <p:nvSpPr>
            <p:cNvPr id="8372" name="Google Shape;8372;p75"/>
            <p:cNvSpPr/>
            <p:nvPr/>
          </p:nvSpPr>
          <p:spPr>
            <a:xfrm>
              <a:off x="10123357" y="4734395"/>
              <a:ext cx="242955" cy="246888"/>
            </a:xfrm>
            <a:prstGeom prst="ellipse">
              <a:avLst/>
            </a:prstGeom>
            <a:solidFill>
              <a:schemeClr val="lt1"/>
            </a:solidFill>
            <a:ln w="127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nvGrpSpPr>
            <p:cNvPr id="8373" name="Google Shape;8373;p75"/>
            <p:cNvGrpSpPr/>
            <p:nvPr/>
          </p:nvGrpSpPr>
          <p:grpSpPr>
            <a:xfrm>
              <a:off x="10176555" y="4788452"/>
              <a:ext cx="136010" cy="138212"/>
              <a:chOff x="979296" y="1541155"/>
              <a:chExt cx="1054510" cy="1054510"/>
            </a:xfrm>
          </p:grpSpPr>
          <p:sp>
            <p:nvSpPr>
              <p:cNvPr id="8374" name="Google Shape;8374;p75"/>
              <p:cNvSpPr/>
              <p:nvPr/>
            </p:nvSpPr>
            <p:spPr>
              <a:xfrm>
                <a:off x="979296" y="1541155"/>
                <a:ext cx="1054510" cy="1054510"/>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5"/>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nvGrpSpPr>
              <p:cNvPr id="8375" name="Google Shape;8375;p75"/>
              <p:cNvGrpSpPr/>
              <p:nvPr/>
            </p:nvGrpSpPr>
            <p:grpSpPr>
              <a:xfrm>
                <a:off x="1296246" y="2002748"/>
                <a:ext cx="390297" cy="146863"/>
                <a:chOff x="1296246" y="2002748"/>
                <a:chExt cx="390297" cy="146863"/>
              </a:xfrm>
            </p:grpSpPr>
            <p:sp>
              <p:nvSpPr>
                <p:cNvPr id="8376" name="Google Shape;8376;p75"/>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5"/>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sp>
              <p:nvSpPr>
                <p:cNvPr id="8377" name="Google Shape;8377;p75"/>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5"/>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grpSp>
      </p:grpSp>
      <p:grpSp>
        <p:nvGrpSpPr>
          <p:cNvPr id="8378" name="Google Shape;8378;p75"/>
          <p:cNvGrpSpPr/>
          <p:nvPr/>
        </p:nvGrpSpPr>
        <p:grpSpPr>
          <a:xfrm>
            <a:off x="5468102" y="5198547"/>
            <a:ext cx="1344725" cy="216064"/>
            <a:chOff x="3604782" y="5211713"/>
            <a:chExt cx="1344725" cy="216064"/>
          </a:xfrm>
        </p:grpSpPr>
        <p:grpSp>
          <p:nvGrpSpPr>
            <p:cNvPr id="8379" name="Google Shape;8379;p75"/>
            <p:cNvGrpSpPr/>
            <p:nvPr/>
          </p:nvGrpSpPr>
          <p:grpSpPr>
            <a:xfrm>
              <a:off x="4468307" y="5211713"/>
              <a:ext cx="481200" cy="216000"/>
              <a:chOff x="9559097" y="5270063"/>
              <a:chExt cx="481200" cy="216000"/>
            </a:xfrm>
          </p:grpSpPr>
          <p:sp>
            <p:nvSpPr>
              <p:cNvPr id="8380" name="Google Shape;8380;p75"/>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sp>
            <p:nvSpPr>
              <p:cNvPr id="8381" name="Google Shape;8381;p75"/>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nvGrpSpPr>
            <p:cNvPr id="8382" name="Google Shape;8382;p75"/>
            <p:cNvGrpSpPr/>
            <p:nvPr/>
          </p:nvGrpSpPr>
          <p:grpSpPr>
            <a:xfrm>
              <a:off x="4059181" y="5211713"/>
              <a:ext cx="437400" cy="216000"/>
              <a:chOff x="9895949" y="1413332"/>
              <a:chExt cx="437400" cy="216000"/>
            </a:xfrm>
          </p:grpSpPr>
          <p:sp>
            <p:nvSpPr>
              <p:cNvPr id="8383" name="Google Shape;8383;p75"/>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sp>
            <p:nvSpPr>
              <p:cNvPr id="8384" name="Google Shape;8384;p75"/>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nvGrpSpPr>
            <p:cNvPr id="8385" name="Google Shape;8385;p75"/>
            <p:cNvGrpSpPr/>
            <p:nvPr/>
          </p:nvGrpSpPr>
          <p:grpSpPr>
            <a:xfrm>
              <a:off x="3604782" y="5211777"/>
              <a:ext cx="481200" cy="216000"/>
              <a:chOff x="8526343" y="2145622"/>
              <a:chExt cx="481200" cy="216000"/>
            </a:xfrm>
          </p:grpSpPr>
          <p:sp>
            <p:nvSpPr>
              <p:cNvPr id="8386" name="Google Shape;8386;p75"/>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grpSp>
            <p:nvGrpSpPr>
              <p:cNvPr id="8387" name="Google Shape;8387;p75"/>
              <p:cNvGrpSpPr/>
              <p:nvPr/>
            </p:nvGrpSpPr>
            <p:grpSpPr>
              <a:xfrm>
                <a:off x="8658941" y="2145622"/>
                <a:ext cx="216005" cy="216000"/>
                <a:chOff x="3822556" y="5087301"/>
                <a:chExt cx="611339" cy="557273"/>
              </a:xfrm>
            </p:grpSpPr>
            <p:sp>
              <p:nvSpPr>
                <p:cNvPr id="8388" name="Google Shape;8388;p75"/>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389" name="Google Shape;8389;p75"/>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390" name="Google Shape;8390;p75"/>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grpSp>
      </p:grpSp>
      <p:sp>
        <p:nvSpPr>
          <p:cNvPr id="8391" name="Google Shape;8391;p75"/>
          <p:cNvSpPr/>
          <p:nvPr/>
        </p:nvSpPr>
        <p:spPr>
          <a:xfrm>
            <a:off x="775741" y="4290481"/>
            <a:ext cx="3605066" cy="209646"/>
          </a:xfrm>
          <a:prstGeom prst="roundRect">
            <a:avLst>
              <a:gd name="adj" fmla="val 16667"/>
            </a:avLst>
          </a:prstGeom>
          <a:solidFill>
            <a:schemeClr val="accent5"/>
          </a:solidFill>
          <a:ln>
            <a:noFill/>
          </a:ln>
        </p:spPr>
        <p:txBody>
          <a:bodyPr spcFirstLastPara="1" wrap="square" lIns="87700" tIns="43850" rIns="87700" bIns="43850" anchor="ctr" anchorCtr="0">
            <a:noAutofit/>
          </a:bodyPr>
          <a:lstStyle/>
          <a:p>
            <a:pPr marL="0" marR="0" lvl="0" indent="0" algn="ctr" rtl="0">
              <a:spcBef>
                <a:spcPts val="0"/>
              </a:spcBef>
              <a:spcAft>
                <a:spcPts val="0"/>
              </a:spcAft>
              <a:buNone/>
            </a:pPr>
            <a:r>
              <a:rPr lang="en-US" sz="800">
                <a:solidFill>
                  <a:schemeClr val="lt1"/>
                </a:solidFill>
                <a:latin typeface="Arial"/>
                <a:ea typeface="Arial"/>
                <a:cs typeface="Arial"/>
                <a:sym typeface="Arial"/>
              </a:rPr>
              <a:t>vSphere Namespace</a:t>
            </a:r>
            <a:endParaRPr/>
          </a:p>
        </p:txBody>
      </p:sp>
      <p:sp>
        <p:nvSpPr>
          <p:cNvPr id="8392" name="Google Shape;8392;p75"/>
          <p:cNvSpPr/>
          <p:nvPr/>
        </p:nvSpPr>
        <p:spPr>
          <a:xfrm>
            <a:off x="4338668" y="4290481"/>
            <a:ext cx="3209287" cy="209646"/>
          </a:xfrm>
          <a:prstGeom prst="roundRect">
            <a:avLst>
              <a:gd name="adj" fmla="val 16667"/>
            </a:avLst>
          </a:prstGeom>
          <a:noFill/>
          <a:ln w="12700" cap="flat" cmpd="sng">
            <a:solidFill>
              <a:schemeClr val="accent5">
                <a:alpha val="49803"/>
              </a:schemeClr>
            </a:solidFill>
            <a:prstDash val="dot"/>
            <a:round/>
            <a:headEnd type="none" w="sm" len="sm"/>
            <a:tailEnd type="none" w="sm" len="sm"/>
          </a:ln>
        </p:spPr>
        <p:txBody>
          <a:bodyPr spcFirstLastPara="1" wrap="square" lIns="87700" tIns="43850" rIns="87700" bIns="43850" anchor="ctr" anchorCtr="0">
            <a:noAutofit/>
          </a:bodyPr>
          <a:lstStyle/>
          <a:p>
            <a:pPr marL="0" marR="0" lvl="0" indent="0" algn="ctr" rtl="0">
              <a:spcBef>
                <a:spcPts val="0"/>
              </a:spcBef>
              <a:spcAft>
                <a:spcPts val="0"/>
              </a:spcAft>
              <a:buNone/>
            </a:pPr>
            <a:r>
              <a:rPr lang="en-US" sz="800">
                <a:solidFill>
                  <a:schemeClr val="dk1"/>
                </a:solidFill>
                <a:latin typeface="Arial"/>
                <a:ea typeface="Arial"/>
                <a:cs typeface="Arial"/>
                <a:sym typeface="Arial"/>
              </a:rPr>
              <a:t>+ zone</a:t>
            </a:r>
            <a:endParaRPr/>
          </a:p>
        </p:txBody>
      </p:sp>
      <p:grpSp>
        <p:nvGrpSpPr>
          <p:cNvPr id="8393" name="Google Shape;8393;p75"/>
          <p:cNvGrpSpPr/>
          <p:nvPr/>
        </p:nvGrpSpPr>
        <p:grpSpPr>
          <a:xfrm>
            <a:off x="4934114" y="3292162"/>
            <a:ext cx="1027166" cy="900000"/>
            <a:chOff x="805150" y="1625512"/>
            <a:chExt cx="1557833" cy="1364965"/>
          </a:xfrm>
        </p:grpSpPr>
        <p:sp>
          <p:nvSpPr>
            <p:cNvPr id="8394" name="Google Shape;8394;p75"/>
            <p:cNvSpPr/>
            <p:nvPr/>
          </p:nvSpPr>
          <p:spPr>
            <a:xfrm>
              <a:off x="805150" y="1625512"/>
              <a:ext cx="1557833" cy="1364965"/>
            </a:xfrm>
            <a:prstGeom prst="roundRect">
              <a:avLst>
                <a:gd name="adj" fmla="val 3683"/>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1371600" rIns="91400" bIns="274300" anchor="t" anchorCtr="0">
              <a:noAutofit/>
            </a:bodyPr>
            <a:lstStyle/>
            <a:p>
              <a:pPr marL="0" marR="0" lvl="0" indent="0" algn="ctr" rtl="0">
                <a:spcBef>
                  <a:spcPts val="0"/>
                </a:spcBef>
                <a:spcAft>
                  <a:spcPts val="0"/>
                </a:spcAft>
                <a:buNone/>
              </a:pPr>
              <a:endParaRPr sz="1050">
                <a:solidFill>
                  <a:schemeClr val="accent2"/>
                </a:solidFill>
                <a:latin typeface="Arial"/>
                <a:ea typeface="Arial"/>
                <a:cs typeface="Arial"/>
                <a:sym typeface="Arial"/>
              </a:endParaRPr>
            </a:p>
          </p:txBody>
        </p:sp>
        <p:grpSp>
          <p:nvGrpSpPr>
            <p:cNvPr id="8395" name="Google Shape;8395;p75"/>
            <p:cNvGrpSpPr/>
            <p:nvPr/>
          </p:nvGrpSpPr>
          <p:grpSpPr>
            <a:xfrm>
              <a:off x="987548" y="1738474"/>
              <a:ext cx="1174334" cy="972000"/>
              <a:chOff x="3325948" y="1424891"/>
              <a:chExt cx="1694347" cy="1402415"/>
            </a:xfrm>
          </p:grpSpPr>
          <p:sp>
            <p:nvSpPr>
              <p:cNvPr id="8396" name="Google Shape;8396;p75"/>
              <p:cNvSpPr/>
              <p:nvPr/>
            </p:nvSpPr>
            <p:spPr>
              <a:xfrm>
                <a:off x="4297641" y="1533016"/>
                <a:ext cx="528559"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397" name="Google Shape;8397;p75"/>
              <p:cNvSpPr/>
              <p:nvPr/>
            </p:nvSpPr>
            <p:spPr>
              <a:xfrm>
                <a:off x="4297642" y="2297981"/>
                <a:ext cx="474562"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8398" name="Google Shape;8398;p75"/>
              <p:cNvPicPr preferRelativeResize="0"/>
              <p:nvPr/>
            </p:nvPicPr>
            <p:blipFill rotWithShape="1">
              <a:blip r:embed="rId3">
                <a:alphaModFix/>
              </a:blip>
              <a:srcRect/>
              <a:stretch/>
            </p:blipFill>
            <p:spPr>
              <a:xfrm>
                <a:off x="3503144" y="1496410"/>
                <a:ext cx="392596" cy="392595"/>
              </a:xfrm>
              <a:prstGeom prst="rect">
                <a:avLst/>
              </a:prstGeom>
              <a:noFill/>
              <a:ln>
                <a:noFill/>
              </a:ln>
            </p:spPr>
          </p:pic>
          <p:sp>
            <p:nvSpPr>
              <p:cNvPr id="8399" name="Google Shape;8399;p75"/>
              <p:cNvSpPr txBox="1"/>
              <p:nvPr/>
            </p:nvSpPr>
            <p:spPr>
              <a:xfrm>
                <a:off x="4000893" y="1665153"/>
                <a:ext cx="886800" cy="79932"/>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400">
                    <a:solidFill>
                      <a:srgbClr val="336DE6"/>
                    </a:solidFill>
                    <a:latin typeface="Arial"/>
                    <a:ea typeface="Arial"/>
                    <a:cs typeface="Arial"/>
                    <a:sym typeface="Arial"/>
                  </a:rPr>
                  <a:t>Kubernetes Applications</a:t>
                </a:r>
                <a:endParaRPr/>
              </a:p>
            </p:txBody>
          </p:sp>
          <p:sp>
            <p:nvSpPr>
              <p:cNvPr id="8400" name="Google Shape;8400;p75"/>
              <p:cNvSpPr/>
              <p:nvPr/>
            </p:nvSpPr>
            <p:spPr>
              <a:xfrm>
                <a:off x="3331847" y="1424891"/>
                <a:ext cx="1680883" cy="535632"/>
              </a:xfrm>
              <a:prstGeom prst="rect">
                <a:avLst/>
              </a:prstGeom>
              <a:noFill/>
              <a:ln w="10775" cap="flat" cmpd="sng">
                <a:solidFill>
                  <a:schemeClr val="accent2"/>
                </a:solidFill>
                <a:prstDash val="dot"/>
                <a:miter lim="800000"/>
                <a:headEnd type="none" w="sm" len="sm"/>
                <a:tailEnd type="none" w="sm" len="sm"/>
              </a:ln>
            </p:spPr>
            <p:txBody>
              <a:bodyPr spcFirstLastPara="1" wrap="square" lIns="77700" tIns="38850" rIns="77700" bIns="3885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01" name="Google Shape;8401;p75"/>
              <p:cNvSpPr/>
              <p:nvPr/>
            </p:nvSpPr>
            <p:spPr>
              <a:xfrm>
                <a:off x="3325948"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02" name="Google Shape;8402;p75"/>
              <p:cNvSpPr/>
              <p:nvPr/>
            </p:nvSpPr>
            <p:spPr>
              <a:xfrm>
                <a:off x="3912452"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03" name="Google Shape;8403;p75"/>
              <p:cNvSpPr/>
              <p:nvPr/>
            </p:nvSpPr>
            <p:spPr>
              <a:xfrm>
                <a:off x="4498957" y="2547405"/>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04" name="Google Shape;8404;p75"/>
              <p:cNvSpPr/>
              <p:nvPr/>
            </p:nvSpPr>
            <p:spPr>
              <a:xfrm>
                <a:off x="3325949" y="2040092"/>
                <a:ext cx="1694346" cy="285650"/>
              </a:xfrm>
              <a:prstGeom prst="roundRect">
                <a:avLst>
                  <a:gd name="adj" fmla="val 50000"/>
                </a:avLst>
              </a:prstGeom>
              <a:solidFill>
                <a:srgbClr val="3E417C"/>
              </a:solidFill>
              <a:ln>
                <a:noFill/>
              </a:ln>
            </p:spPr>
            <p:txBody>
              <a:bodyPr spcFirstLastPara="1" wrap="square" lIns="0" tIns="18275" rIns="0" bIns="0" anchor="ctr" anchorCtr="0">
                <a:noAutofit/>
              </a:bodyPr>
              <a:lstStyle/>
              <a:p>
                <a:pPr marL="0" marR="0" lvl="0" indent="0" algn="ctr" rtl="0">
                  <a:lnSpc>
                    <a:spcPct val="80000"/>
                  </a:lnSpc>
                  <a:spcBef>
                    <a:spcPts val="0"/>
                  </a:spcBef>
                  <a:spcAft>
                    <a:spcPts val="0"/>
                  </a:spcAft>
                  <a:buNone/>
                </a:pPr>
                <a:r>
                  <a:rPr lang="en-US" sz="400">
                    <a:solidFill>
                      <a:schemeClr val="lt1"/>
                    </a:solidFill>
                    <a:latin typeface="Arial"/>
                    <a:ea typeface="Arial"/>
                    <a:cs typeface="Arial"/>
                    <a:sym typeface="Arial"/>
                  </a:rPr>
                  <a:t>Control Plane</a:t>
                </a:r>
                <a:endParaRPr/>
              </a:p>
            </p:txBody>
          </p:sp>
          <p:cxnSp>
            <p:nvCxnSpPr>
              <p:cNvPr id="8405" name="Google Shape;8405;p75"/>
              <p:cNvCxnSpPr/>
              <p:nvPr/>
            </p:nvCxnSpPr>
            <p:spPr>
              <a:xfrm>
                <a:off x="4186614" y="2313793"/>
                <a:ext cx="0" cy="240408"/>
              </a:xfrm>
              <a:prstGeom prst="straightConnector1">
                <a:avLst/>
              </a:prstGeom>
              <a:noFill/>
              <a:ln w="10775" cap="flat" cmpd="sng">
                <a:solidFill>
                  <a:schemeClr val="accent2"/>
                </a:solidFill>
                <a:prstDash val="solid"/>
                <a:miter lim="800000"/>
                <a:headEnd type="none" w="sm" len="sm"/>
                <a:tailEnd type="none" w="sm" len="sm"/>
              </a:ln>
            </p:spPr>
          </p:cxnSp>
          <p:cxnSp>
            <p:nvCxnSpPr>
              <p:cNvPr id="8406" name="Google Shape;8406;p75"/>
              <p:cNvCxnSpPr/>
              <p:nvPr/>
            </p:nvCxnSpPr>
            <p:spPr>
              <a:xfrm>
                <a:off x="3603836"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8407" name="Google Shape;8407;p75"/>
              <p:cNvCxnSpPr/>
              <p:nvPr/>
            </p:nvCxnSpPr>
            <p:spPr>
              <a:xfrm>
                <a:off x="4769392"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8408" name="Google Shape;8408;p75"/>
              <p:cNvCxnSpPr/>
              <p:nvPr/>
            </p:nvCxnSpPr>
            <p:spPr>
              <a:xfrm>
                <a:off x="3599903" y="2431944"/>
                <a:ext cx="1172301" cy="0"/>
              </a:xfrm>
              <a:prstGeom prst="straightConnector1">
                <a:avLst/>
              </a:prstGeom>
              <a:noFill/>
              <a:ln w="10775" cap="flat" cmpd="sng">
                <a:solidFill>
                  <a:schemeClr val="accent2"/>
                </a:solidFill>
                <a:prstDash val="solid"/>
                <a:miter lim="800000"/>
                <a:headEnd type="none" w="sm" len="sm"/>
                <a:tailEnd type="none" w="sm" len="sm"/>
              </a:ln>
            </p:spPr>
          </p:cxnSp>
        </p:grpSp>
        <p:sp>
          <p:nvSpPr>
            <p:cNvPr id="8409" name="Google Shape;8409;p75"/>
            <p:cNvSpPr txBox="1"/>
            <p:nvPr/>
          </p:nvSpPr>
          <p:spPr>
            <a:xfrm>
              <a:off x="805150" y="2760707"/>
              <a:ext cx="1557833" cy="9233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
                  <a:solidFill>
                    <a:schemeClr val="dk1"/>
                  </a:solidFill>
                  <a:latin typeface="Arial"/>
                  <a:ea typeface="Arial"/>
                  <a:cs typeface="Arial"/>
                  <a:sym typeface="Arial"/>
                </a:rPr>
                <a:t>Kubernetes Cluster</a:t>
              </a:r>
              <a:endParaRPr/>
            </a:p>
          </p:txBody>
        </p:sp>
      </p:grpSp>
      <p:grpSp>
        <p:nvGrpSpPr>
          <p:cNvPr id="8410" name="Google Shape;8410;p75"/>
          <p:cNvGrpSpPr/>
          <p:nvPr/>
        </p:nvGrpSpPr>
        <p:grpSpPr>
          <a:xfrm>
            <a:off x="6058795" y="3292162"/>
            <a:ext cx="1027166" cy="900000"/>
            <a:chOff x="805150" y="1625512"/>
            <a:chExt cx="1557833" cy="1364965"/>
          </a:xfrm>
        </p:grpSpPr>
        <p:sp>
          <p:nvSpPr>
            <p:cNvPr id="8411" name="Google Shape;8411;p75"/>
            <p:cNvSpPr/>
            <p:nvPr/>
          </p:nvSpPr>
          <p:spPr>
            <a:xfrm>
              <a:off x="805150" y="1625512"/>
              <a:ext cx="1557833" cy="1364965"/>
            </a:xfrm>
            <a:prstGeom prst="roundRect">
              <a:avLst>
                <a:gd name="adj" fmla="val 3683"/>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1371600" rIns="91400" bIns="274300" anchor="t" anchorCtr="0">
              <a:noAutofit/>
            </a:bodyPr>
            <a:lstStyle/>
            <a:p>
              <a:pPr marL="0" marR="0" lvl="0" indent="0" algn="ctr" rtl="0">
                <a:spcBef>
                  <a:spcPts val="0"/>
                </a:spcBef>
                <a:spcAft>
                  <a:spcPts val="0"/>
                </a:spcAft>
                <a:buNone/>
              </a:pPr>
              <a:endParaRPr sz="1050">
                <a:solidFill>
                  <a:schemeClr val="accent2"/>
                </a:solidFill>
                <a:latin typeface="Arial"/>
                <a:ea typeface="Arial"/>
                <a:cs typeface="Arial"/>
                <a:sym typeface="Arial"/>
              </a:endParaRPr>
            </a:p>
          </p:txBody>
        </p:sp>
        <p:grpSp>
          <p:nvGrpSpPr>
            <p:cNvPr id="8412" name="Google Shape;8412;p75"/>
            <p:cNvGrpSpPr/>
            <p:nvPr/>
          </p:nvGrpSpPr>
          <p:grpSpPr>
            <a:xfrm>
              <a:off x="987548" y="1738474"/>
              <a:ext cx="1174334" cy="972000"/>
              <a:chOff x="3325948" y="1424891"/>
              <a:chExt cx="1694347" cy="1402415"/>
            </a:xfrm>
          </p:grpSpPr>
          <p:sp>
            <p:nvSpPr>
              <p:cNvPr id="8413" name="Google Shape;8413;p75"/>
              <p:cNvSpPr/>
              <p:nvPr/>
            </p:nvSpPr>
            <p:spPr>
              <a:xfrm>
                <a:off x="4297641" y="1533016"/>
                <a:ext cx="528559"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14" name="Google Shape;8414;p75"/>
              <p:cNvSpPr/>
              <p:nvPr/>
            </p:nvSpPr>
            <p:spPr>
              <a:xfrm>
                <a:off x="4297642" y="2297981"/>
                <a:ext cx="474562"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8415" name="Google Shape;8415;p75"/>
              <p:cNvPicPr preferRelativeResize="0"/>
              <p:nvPr/>
            </p:nvPicPr>
            <p:blipFill rotWithShape="1">
              <a:blip r:embed="rId3">
                <a:alphaModFix/>
              </a:blip>
              <a:srcRect/>
              <a:stretch/>
            </p:blipFill>
            <p:spPr>
              <a:xfrm>
                <a:off x="3503144" y="1496410"/>
                <a:ext cx="392596" cy="392595"/>
              </a:xfrm>
              <a:prstGeom prst="rect">
                <a:avLst/>
              </a:prstGeom>
              <a:noFill/>
              <a:ln>
                <a:noFill/>
              </a:ln>
            </p:spPr>
          </p:pic>
          <p:sp>
            <p:nvSpPr>
              <p:cNvPr id="8416" name="Google Shape;8416;p75"/>
              <p:cNvSpPr txBox="1"/>
              <p:nvPr/>
            </p:nvSpPr>
            <p:spPr>
              <a:xfrm>
                <a:off x="4000893" y="1665153"/>
                <a:ext cx="886800" cy="79932"/>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400">
                    <a:solidFill>
                      <a:srgbClr val="336DE6"/>
                    </a:solidFill>
                    <a:latin typeface="Arial"/>
                    <a:ea typeface="Arial"/>
                    <a:cs typeface="Arial"/>
                    <a:sym typeface="Arial"/>
                  </a:rPr>
                  <a:t>Kubernetes Applications</a:t>
                </a:r>
                <a:endParaRPr/>
              </a:p>
            </p:txBody>
          </p:sp>
          <p:sp>
            <p:nvSpPr>
              <p:cNvPr id="8417" name="Google Shape;8417;p75"/>
              <p:cNvSpPr/>
              <p:nvPr/>
            </p:nvSpPr>
            <p:spPr>
              <a:xfrm>
                <a:off x="3331847" y="1424891"/>
                <a:ext cx="1680883" cy="535632"/>
              </a:xfrm>
              <a:prstGeom prst="rect">
                <a:avLst/>
              </a:prstGeom>
              <a:noFill/>
              <a:ln w="10775" cap="flat" cmpd="sng">
                <a:solidFill>
                  <a:schemeClr val="accent2"/>
                </a:solidFill>
                <a:prstDash val="dot"/>
                <a:miter lim="800000"/>
                <a:headEnd type="none" w="sm" len="sm"/>
                <a:tailEnd type="none" w="sm" len="sm"/>
              </a:ln>
            </p:spPr>
            <p:txBody>
              <a:bodyPr spcFirstLastPara="1" wrap="square" lIns="77700" tIns="38850" rIns="77700" bIns="3885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18" name="Google Shape;8418;p75"/>
              <p:cNvSpPr/>
              <p:nvPr/>
            </p:nvSpPr>
            <p:spPr>
              <a:xfrm>
                <a:off x="3325948"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19" name="Google Shape;8419;p75"/>
              <p:cNvSpPr/>
              <p:nvPr/>
            </p:nvSpPr>
            <p:spPr>
              <a:xfrm>
                <a:off x="3912452"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20" name="Google Shape;8420;p75"/>
              <p:cNvSpPr/>
              <p:nvPr/>
            </p:nvSpPr>
            <p:spPr>
              <a:xfrm>
                <a:off x="4498957" y="2547405"/>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21" name="Google Shape;8421;p75"/>
              <p:cNvSpPr/>
              <p:nvPr/>
            </p:nvSpPr>
            <p:spPr>
              <a:xfrm>
                <a:off x="3325949" y="2040092"/>
                <a:ext cx="1694346" cy="285650"/>
              </a:xfrm>
              <a:prstGeom prst="roundRect">
                <a:avLst>
                  <a:gd name="adj" fmla="val 50000"/>
                </a:avLst>
              </a:prstGeom>
              <a:solidFill>
                <a:srgbClr val="3E417C"/>
              </a:solidFill>
              <a:ln>
                <a:noFill/>
              </a:ln>
            </p:spPr>
            <p:txBody>
              <a:bodyPr spcFirstLastPara="1" wrap="square" lIns="0" tIns="18275" rIns="0" bIns="0" anchor="ctr" anchorCtr="0">
                <a:noAutofit/>
              </a:bodyPr>
              <a:lstStyle/>
              <a:p>
                <a:pPr marL="0" marR="0" lvl="0" indent="0" algn="ctr" rtl="0">
                  <a:lnSpc>
                    <a:spcPct val="80000"/>
                  </a:lnSpc>
                  <a:spcBef>
                    <a:spcPts val="0"/>
                  </a:spcBef>
                  <a:spcAft>
                    <a:spcPts val="0"/>
                  </a:spcAft>
                  <a:buNone/>
                </a:pPr>
                <a:r>
                  <a:rPr lang="en-US" sz="400">
                    <a:solidFill>
                      <a:schemeClr val="lt1"/>
                    </a:solidFill>
                    <a:latin typeface="Arial"/>
                    <a:ea typeface="Arial"/>
                    <a:cs typeface="Arial"/>
                    <a:sym typeface="Arial"/>
                  </a:rPr>
                  <a:t>Control Plane</a:t>
                </a:r>
                <a:endParaRPr/>
              </a:p>
            </p:txBody>
          </p:sp>
          <p:cxnSp>
            <p:nvCxnSpPr>
              <p:cNvPr id="8422" name="Google Shape;8422;p75"/>
              <p:cNvCxnSpPr/>
              <p:nvPr/>
            </p:nvCxnSpPr>
            <p:spPr>
              <a:xfrm>
                <a:off x="4186614" y="2313793"/>
                <a:ext cx="0" cy="240408"/>
              </a:xfrm>
              <a:prstGeom prst="straightConnector1">
                <a:avLst/>
              </a:prstGeom>
              <a:noFill/>
              <a:ln w="10775" cap="flat" cmpd="sng">
                <a:solidFill>
                  <a:schemeClr val="accent2"/>
                </a:solidFill>
                <a:prstDash val="solid"/>
                <a:miter lim="800000"/>
                <a:headEnd type="none" w="sm" len="sm"/>
                <a:tailEnd type="none" w="sm" len="sm"/>
              </a:ln>
            </p:spPr>
          </p:cxnSp>
          <p:cxnSp>
            <p:nvCxnSpPr>
              <p:cNvPr id="8423" name="Google Shape;8423;p75"/>
              <p:cNvCxnSpPr/>
              <p:nvPr/>
            </p:nvCxnSpPr>
            <p:spPr>
              <a:xfrm>
                <a:off x="3603836"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8424" name="Google Shape;8424;p75"/>
              <p:cNvCxnSpPr/>
              <p:nvPr/>
            </p:nvCxnSpPr>
            <p:spPr>
              <a:xfrm>
                <a:off x="4769392"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8425" name="Google Shape;8425;p75"/>
              <p:cNvCxnSpPr/>
              <p:nvPr/>
            </p:nvCxnSpPr>
            <p:spPr>
              <a:xfrm>
                <a:off x="3599903" y="2431944"/>
                <a:ext cx="1172301" cy="0"/>
              </a:xfrm>
              <a:prstGeom prst="straightConnector1">
                <a:avLst/>
              </a:prstGeom>
              <a:noFill/>
              <a:ln w="10775" cap="flat" cmpd="sng">
                <a:solidFill>
                  <a:schemeClr val="accent2"/>
                </a:solidFill>
                <a:prstDash val="solid"/>
                <a:miter lim="800000"/>
                <a:headEnd type="none" w="sm" len="sm"/>
                <a:tailEnd type="none" w="sm" len="sm"/>
              </a:ln>
            </p:spPr>
          </p:cxnSp>
        </p:grpSp>
        <p:sp>
          <p:nvSpPr>
            <p:cNvPr id="8426" name="Google Shape;8426;p75"/>
            <p:cNvSpPr txBox="1"/>
            <p:nvPr/>
          </p:nvSpPr>
          <p:spPr>
            <a:xfrm>
              <a:off x="805150" y="2760707"/>
              <a:ext cx="1557833" cy="9233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
                  <a:solidFill>
                    <a:schemeClr val="dk1"/>
                  </a:solidFill>
                  <a:latin typeface="Arial"/>
                  <a:ea typeface="Arial"/>
                  <a:cs typeface="Arial"/>
                  <a:sym typeface="Arial"/>
                </a:rPr>
                <a:t>Kubernetes Cluster</a:t>
              </a:r>
              <a:endParaRPr/>
            </a:p>
          </p:txBody>
        </p:sp>
      </p:grpSp>
      <p:sp>
        <p:nvSpPr>
          <p:cNvPr id="8427" name="Google Shape;8427;p75"/>
          <p:cNvSpPr/>
          <p:nvPr/>
        </p:nvSpPr>
        <p:spPr>
          <a:xfrm>
            <a:off x="4639685" y="2789600"/>
            <a:ext cx="2909453" cy="209646"/>
          </a:xfrm>
          <a:prstGeom prst="roundRect">
            <a:avLst>
              <a:gd name="adj" fmla="val 16667"/>
            </a:avLst>
          </a:prstGeom>
          <a:solidFill>
            <a:schemeClr val="accent5"/>
          </a:solidFill>
          <a:ln>
            <a:noFill/>
          </a:ln>
        </p:spPr>
        <p:txBody>
          <a:bodyPr spcFirstLastPara="1" wrap="square" lIns="87700" tIns="43850" rIns="87700" bIns="43850" anchor="ctr" anchorCtr="0">
            <a:noAutofit/>
          </a:bodyPr>
          <a:lstStyle/>
          <a:p>
            <a:pPr marL="0" marR="0" lvl="0" indent="0" algn="ctr" rtl="0">
              <a:spcBef>
                <a:spcPts val="0"/>
              </a:spcBef>
              <a:spcAft>
                <a:spcPts val="0"/>
              </a:spcAft>
              <a:buNone/>
            </a:pPr>
            <a:r>
              <a:rPr lang="en-US" sz="800">
                <a:solidFill>
                  <a:schemeClr val="lt1"/>
                </a:solidFill>
                <a:latin typeface="Arial"/>
                <a:ea typeface="Arial"/>
                <a:cs typeface="Arial"/>
                <a:sym typeface="Arial"/>
              </a:rPr>
              <a:t>vSphere Namespace</a:t>
            </a:r>
            <a:endParaRPr/>
          </a:p>
        </p:txBody>
      </p:sp>
      <p:grpSp>
        <p:nvGrpSpPr>
          <p:cNvPr id="8428" name="Google Shape;8428;p75"/>
          <p:cNvGrpSpPr/>
          <p:nvPr/>
        </p:nvGrpSpPr>
        <p:grpSpPr>
          <a:xfrm>
            <a:off x="6059979" y="2195722"/>
            <a:ext cx="569796" cy="504000"/>
            <a:chOff x="9811195" y="1901693"/>
            <a:chExt cx="838270" cy="741471"/>
          </a:xfrm>
        </p:grpSpPr>
        <p:sp>
          <p:nvSpPr>
            <p:cNvPr id="8429" name="Google Shape;8429;p75"/>
            <p:cNvSpPr/>
            <p:nvPr/>
          </p:nvSpPr>
          <p:spPr>
            <a:xfrm>
              <a:off x="9811195" y="1901693"/>
              <a:ext cx="838270" cy="741471"/>
            </a:xfrm>
            <a:prstGeom prst="roundRect">
              <a:avLst>
                <a:gd name="adj" fmla="val 7399"/>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548625" rIns="91400" bIns="274300" anchor="t" anchorCtr="0">
              <a:noAutofit/>
            </a:bodyPr>
            <a:lstStyle/>
            <a:p>
              <a:pPr marL="0" marR="0" lvl="0" indent="0" algn="ctr" rtl="0">
                <a:spcBef>
                  <a:spcPts val="0"/>
                </a:spcBef>
                <a:spcAft>
                  <a:spcPts val="0"/>
                </a:spcAft>
                <a:buNone/>
              </a:pPr>
              <a:r>
                <a:rPr lang="en-US" sz="600">
                  <a:solidFill>
                    <a:schemeClr val="dk1"/>
                  </a:solidFill>
                  <a:latin typeface="Arial"/>
                  <a:ea typeface="Arial"/>
                  <a:cs typeface="Arial"/>
                  <a:sym typeface="Arial"/>
                </a:rPr>
                <a:t>VM</a:t>
              </a:r>
              <a:endParaRPr/>
            </a:p>
          </p:txBody>
        </p:sp>
        <p:grpSp>
          <p:nvGrpSpPr>
            <p:cNvPr id="8430" name="Google Shape;8430;p75"/>
            <p:cNvGrpSpPr/>
            <p:nvPr/>
          </p:nvGrpSpPr>
          <p:grpSpPr>
            <a:xfrm>
              <a:off x="10081460" y="2055296"/>
              <a:ext cx="297739" cy="292247"/>
              <a:chOff x="1465490" y="3219301"/>
              <a:chExt cx="438300" cy="438301"/>
            </a:xfrm>
          </p:grpSpPr>
          <p:sp>
            <p:nvSpPr>
              <p:cNvPr id="8431" name="Google Shape;8431;p75"/>
              <p:cNvSpPr/>
              <p:nvPr/>
            </p:nvSpPr>
            <p:spPr>
              <a:xfrm>
                <a:off x="1465490" y="3219301"/>
                <a:ext cx="438300" cy="438301"/>
              </a:xfrm>
              <a:prstGeom prst="ellipse">
                <a:avLst/>
              </a:prstGeom>
              <a:noFill/>
              <a:ln w="9525" cap="flat" cmpd="sng">
                <a:solidFill>
                  <a:schemeClr val="accent2"/>
                </a:solidFill>
                <a:prstDash val="solid"/>
                <a:round/>
                <a:headEnd type="none" w="sm" len="sm"/>
                <a:tailEnd type="none" w="sm" len="sm"/>
              </a:ln>
            </p:spPr>
            <p:txBody>
              <a:bodyPr spcFirstLastPara="1" wrap="square" lIns="87700" tIns="43850" rIns="87700" bIns="4385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nvGrpSpPr>
              <p:cNvPr id="8432" name="Google Shape;8432;p75"/>
              <p:cNvGrpSpPr/>
              <p:nvPr/>
            </p:nvGrpSpPr>
            <p:grpSpPr>
              <a:xfrm>
                <a:off x="1561461" y="3315270"/>
                <a:ext cx="245369" cy="245370"/>
                <a:chOff x="979296" y="1541158"/>
                <a:chExt cx="1054511" cy="1054515"/>
              </a:xfrm>
            </p:grpSpPr>
            <p:sp>
              <p:nvSpPr>
                <p:cNvPr id="8433" name="Google Shape;8433;p75"/>
                <p:cNvSpPr/>
                <p:nvPr/>
              </p:nvSpPr>
              <p:spPr>
                <a:xfrm>
                  <a:off x="979296" y="1541158"/>
                  <a:ext cx="1054511" cy="1054515"/>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nvGrpSpPr>
                <p:cNvPr id="8434" name="Google Shape;8434;p75"/>
                <p:cNvGrpSpPr/>
                <p:nvPr/>
              </p:nvGrpSpPr>
              <p:grpSpPr>
                <a:xfrm>
                  <a:off x="1296246" y="2002748"/>
                  <a:ext cx="390297" cy="146863"/>
                  <a:chOff x="1296246" y="2002748"/>
                  <a:chExt cx="390297" cy="146863"/>
                </a:xfrm>
              </p:grpSpPr>
              <p:sp>
                <p:nvSpPr>
                  <p:cNvPr id="8435" name="Google Shape;8435;p75"/>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sp>
                <p:nvSpPr>
                  <p:cNvPr id="8436" name="Google Shape;8436;p75"/>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grpSp>
        </p:grpSp>
      </p:grpSp>
      <p:grpSp>
        <p:nvGrpSpPr>
          <p:cNvPr id="8437" name="Google Shape;8437;p75"/>
          <p:cNvGrpSpPr/>
          <p:nvPr/>
        </p:nvGrpSpPr>
        <p:grpSpPr>
          <a:xfrm>
            <a:off x="4930690" y="1800184"/>
            <a:ext cx="1027166" cy="900000"/>
            <a:chOff x="805150" y="1625512"/>
            <a:chExt cx="1557833" cy="1364965"/>
          </a:xfrm>
        </p:grpSpPr>
        <p:sp>
          <p:nvSpPr>
            <p:cNvPr id="8438" name="Google Shape;8438;p75"/>
            <p:cNvSpPr/>
            <p:nvPr/>
          </p:nvSpPr>
          <p:spPr>
            <a:xfrm>
              <a:off x="805150" y="1625512"/>
              <a:ext cx="1557833" cy="1364965"/>
            </a:xfrm>
            <a:prstGeom prst="roundRect">
              <a:avLst>
                <a:gd name="adj" fmla="val 3683"/>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1371600" rIns="91400" bIns="274300" anchor="t" anchorCtr="0">
              <a:noAutofit/>
            </a:bodyPr>
            <a:lstStyle/>
            <a:p>
              <a:pPr marL="0" marR="0" lvl="0" indent="0" algn="ctr" rtl="0">
                <a:spcBef>
                  <a:spcPts val="0"/>
                </a:spcBef>
                <a:spcAft>
                  <a:spcPts val="0"/>
                </a:spcAft>
                <a:buNone/>
              </a:pPr>
              <a:endParaRPr sz="1050">
                <a:solidFill>
                  <a:schemeClr val="accent2"/>
                </a:solidFill>
                <a:latin typeface="Arial"/>
                <a:ea typeface="Arial"/>
                <a:cs typeface="Arial"/>
                <a:sym typeface="Arial"/>
              </a:endParaRPr>
            </a:p>
          </p:txBody>
        </p:sp>
        <p:grpSp>
          <p:nvGrpSpPr>
            <p:cNvPr id="8439" name="Google Shape;8439;p75"/>
            <p:cNvGrpSpPr/>
            <p:nvPr/>
          </p:nvGrpSpPr>
          <p:grpSpPr>
            <a:xfrm>
              <a:off x="987548" y="1738474"/>
              <a:ext cx="1174334" cy="972000"/>
              <a:chOff x="3325948" y="1424891"/>
              <a:chExt cx="1694347" cy="1402415"/>
            </a:xfrm>
          </p:grpSpPr>
          <p:sp>
            <p:nvSpPr>
              <p:cNvPr id="8440" name="Google Shape;8440;p75"/>
              <p:cNvSpPr/>
              <p:nvPr/>
            </p:nvSpPr>
            <p:spPr>
              <a:xfrm>
                <a:off x="4297641" y="1533016"/>
                <a:ext cx="528559"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41" name="Google Shape;8441;p75"/>
              <p:cNvSpPr/>
              <p:nvPr/>
            </p:nvSpPr>
            <p:spPr>
              <a:xfrm>
                <a:off x="4297642" y="2297981"/>
                <a:ext cx="474562"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8442" name="Google Shape;8442;p75"/>
              <p:cNvPicPr preferRelativeResize="0"/>
              <p:nvPr/>
            </p:nvPicPr>
            <p:blipFill rotWithShape="1">
              <a:blip r:embed="rId3">
                <a:alphaModFix/>
              </a:blip>
              <a:srcRect/>
              <a:stretch/>
            </p:blipFill>
            <p:spPr>
              <a:xfrm>
                <a:off x="3503144" y="1496410"/>
                <a:ext cx="392596" cy="392595"/>
              </a:xfrm>
              <a:prstGeom prst="rect">
                <a:avLst/>
              </a:prstGeom>
              <a:noFill/>
              <a:ln>
                <a:noFill/>
              </a:ln>
            </p:spPr>
          </p:pic>
          <p:sp>
            <p:nvSpPr>
              <p:cNvPr id="8443" name="Google Shape;8443;p75"/>
              <p:cNvSpPr txBox="1"/>
              <p:nvPr/>
            </p:nvSpPr>
            <p:spPr>
              <a:xfrm>
                <a:off x="4000893" y="1665153"/>
                <a:ext cx="886800" cy="79932"/>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400">
                    <a:solidFill>
                      <a:srgbClr val="336DE6"/>
                    </a:solidFill>
                    <a:latin typeface="Arial"/>
                    <a:ea typeface="Arial"/>
                    <a:cs typeface="Arial"/>
                    <a:sym typeface="Arial"/>
                  </a:rPr>
                  <a:t>Kubernetes Applications</a:t>
                </a:r>
                <a:endParaRPr/>
              </a:p>
            </p:txBody>
          </p:sp>
          <p:sp>
            <p:nvSpPr>
              <p:cNvPr id="8444" name="Google Shape;8444;p75"/>
              <p:cNvSpPr/>
              <p:nvPr/>
            </p:nvSpPr>
            <p:spPr>
              <a:xfrm>
                <a:off x="3331847" y="1424891"/>
                <a:ext cx="1680883" cy="535632"/>
              </a:xfrm>
              <a:prstGeom prst="rect">
                <a:avLst/>
              </a:prstGeom>
              <a:noFill/>
              <a:ln w="10775" cap="flat" cmpd="sng">
                <a:solidFill>
                  <a:schemeClr val="accent2"/>
                </a:solidFill>
                <a:prstDash val="dot"/>
                <a:miter lim="800000"/>
                <a:headEnd type="none" w="sm" len="sm"/>
                <a:tailEnd type="none" w="sm" len="sm"/>
              </a:ln>
            </p:spPr>
            <p:txBody>
              <a:bodyPr spcFirstLastPara="1" wrap="square" lIns="77700" tIns="38850" rIns="77700" bIns="3885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45" name="Google Shape;8445;p75"/>
              <p:cNvSpPr/>
              <p:nvPr/>
            </p:nvSpPr>
            <p:spPr>
              <a:xfrm>
                <a:off x="3325948"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46" name="Google Shape;8446;p75"/>
              <p:cNvSpPr/>
              <p:nvPr/>
            </p:nvSpPr>
            <p:spPr>
              <a:xfrm>
                <a:off x="3912452"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47" name="Google Shape;8447;p75"/>
              <p:cNvSpPr/>
              <p:nvPr/>
            </p:nvSpPr>
            <p:spPr>
              <a:xfrm>
                <a:off x="4498957" y="2547405"/>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48" name="Google Shape;8448;p75"/>
              <p:cNvSpPr/>
              <p:nvPr/>
            </p:nvSpPr>
            <p:spPr>
              <a:xfrm>
                <a:off x="3325949" y="2040092"/>
                <a:ext cx="1694346" cy="285650"/>
              </a:xfrm>
              <a:prstGeom prst="roundRect">
                <a:avLst>
                  <a:gd name="adj" fmla="val 50000"/>
                </a:avLst>
              </a:prstGeom>
              <a:solidFill>
                <a:srgbClr val="3E417C"/>
              </a:solidFill>
              <a:ln>
                <a:noFill/>
              </a:ln>
            </p:spPr>
            <p:txBody>
              <a:bodyPr spcFirstLastPara="1" wrap="square" lIns="0" tIns="18275" rIns="0" bIns="0" anchor="ctr" anchorCtr="0">
                <a:noAutofit/>
              </a:bodyPr>
              <a:lstStyle/>
              <a:p>
                <a:pPr marL="0" marR="0" lvl="0" indent="0" algn="ctr" rtl="0">
                  <a:lnSpc>
                    <a:spcPct val="80000"/>
                  </a:lnSpc>
                  <a:spcBef>
                    <a:spcPts val="0"/>
                  </a:spcBef>
                  <a:spcAft>
                    <a:spcPts val="0"/>
                  </a:spcAft>
                  <a:buNone/>
                </a:pPr>
                <a:r>
                  <a:rPr lang="en-US" sz="400">
                    <a:solidFill>
                      <a:schemeClr val="lt1"/>
                    </a:solidFill>
                    <a:latin typeface="Arial"/>
                    <a:ea typeface="Arial"/>
                    <a:cs typeface="Arial"/>
                    <a:sym typeface="Arial"/>
                  </a:rPr>
                  <a:t>Control Plane</a:t>
                </a:r>
                <a:endParaRPr/>
              </a:p>
            </p:txBody>
          </p:sp>
          <p:cxnSp>
            <p:nvCxnSpPr>
              <p:cNvPr id="8449" name="Google Shape;8449;p75"/>
              <p:cNvCxnSpPr/>
              <p:nvPr/>
            </p:nvCxnSpPr>
            <p:spPr>
              <a:xfrm>
                <a:off x="4186614" y="2313793"/>
                <a:ext cx="0" cy="240408"/>
              </a:xfrm>
              <a:prstGeom prst="straightConnector1">
                <a:avLst/>
              </a:prstGeom>
              <a:noFill/>
              <a:ln w="10775" cap="flat" cmpd="sng">
                <a:solidFill>
                  <a:schemeClr val="accent2"/>
                </a:solidFill>
                <a:prstDash val="solid"/>
                <a:miter lim="800000"/>
                <a:headEnd type="none" w="sm" len="sm"/>
                <a:tailEnd type="none" w="sm" len="sm"/>
              </a:ln>
            </p:spPr>
          </p:cxnSp>
          <p:cxnSp>
            <p:nvCxnSpPr>
              <p:cNvPr id="8450" name="Google Shape;8450;p75"/>
              <p:cNvCxnSpPr/>
              <p:nvPr/>
            </p:nvCxnSpPr>
            <p:spPr>
              <a:xfrm>
                <a:off x="3603836"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8451" name="Google Shape;8451;p75"/>
              <p:cNvCxnSpPr/>
              <p:nvPr/>
            </p:nvCxnSpPr>
            <p:spPr>
              <a:xfrm>
                <a:off x="4769392"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8452" name="Google Shape;8452;p75"/>
              <p:cNvCxnSpPr/>
              <p:nvPr/>
            </p:nvCxnSpPr>
            <p:spPr>
              <a:xfrm>
                <a:off x="3599903" y="2431944"/>
                <a:ext cx="1172301" cy="0"/>
              </a:xfrm>
              <a:prstGeom prst="straightConnector1">
                <a:avLst/>
              </a:prstGeom>
              <a:noFill/>
              <a:ln w="10775" cap="flat" cmpd="sng">
                <a:solidFill>
                  <a:schemeClr val="accent2"/>
                </a:solidFill>
                <a:prstDash val="solid"/>
                <a:miter lim="800000"/>
                <a:headEnd type="none" w="sm" len="sm"/>
                <a:tailEnd type="none" w="sm" len="sm"/>
              </a:ln>
            </p:spPr>
          </p:cxnSp>
        </p:grpSp>
        <p:sp>
          <p:nvSpPr>
            <p:cNvPr id="8453" name="Google Shape;8453;p75"/>
            <p:cNvSpPr txBox="1"/>
            <p:nvPr/>
          </p:nvSpPr>
          <p:spPr>
            <a:xfrm>
              <a:off x="805150" y="2760707"/>
              <a:ext cx="1557833" cy="9233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
                  <a:solidFill>
                    <a:schemeClr val="dk1"/>
                  </a:solidFill>
                  <a:latin typeface="Arial"/>
                  <a:ea typeface="Arial"/>
                  <a:cs typeface="Arial"/>
                  <a:sym typeface="Arial"/>
                </a:rPr>
                <a:t>Kubernetes Cluster</a:t>
              </a:r>
              <a:endParaRPr/>
            </a:p>
          </p:txBody>
        </p:sp>
      </p:grpSp>
      <p:sp>
        <p:nvSpPr>
          <p:cNvPr id="8454" name="Google Shape;8454;p75"/>
          <p:cNvSpPr/>
          <p:nvPr/>
        </p:nvSpPr>
        <p:spPr>
          <a:xfrm>
            <a:off x="1715485" y="5680234"/>
            <a:ext cx="1690182" cy="167219"/>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management zone</a:t>
            </a:r>
            <a:endParaRPr/>
          </a:p>
        </p:txBody>
      </p:sp>
      <p:sp>
        <p:nvSpPr>
          <p:cNvPr id="8455" name="Google Shape;8455;p75"/>
          <p:cNvSpPr/>
          <p:nvPr/>
        </p:nvSpPr>
        <p:spPr>
          <a:xfrm>
            <a:off x="5473419" y="5680234"/>
            <a:ext cx="1350802" cy="153612"/>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workload zone</a:t>
            </a:r>
            <a:endParaRPr/>
          </a:p>
        </p:txBody>
      </p:sp>
      <p:cxnSp>
        <p:nvCxnSpPr>
          <p:cNvPr id="8456" name="Google Shape;8456;p75"/>
          <p:cNvCxnSpPr/>
          <p:nvPr/>
        </p:nvCxnSpPr>
        <p:spPr>
          <a:xfrm>
            <a:off x="656704" y="5689846"/>
            <a:ext cx="0" cy="167219"/>
          </a:xfrm>
          <a:prstGeom prst="straightConnector1">
            <a:avLst/>
          </a:prstGeom>
          <a:noFill/>
          <a:ln w="12700" cap="flat" cmpd="sng">
            <a:solidFill>
              <a:schemeClr val="dk1"/>
            </a:solidFill>
            <a:prstDash val="solid"/>
            <a:miter lim="800000"/>
            <a:headEnd type="none" w="sm" len="sm"/>
            <a:tailEnd type="none" w="sm" len="sm"/>
          </a:ln>
        </p:spPr>
      </p:cxnSp>
      <p:cxnSp>
        <p:nvCxnSpPr>
          <p:cNvPr id="8457" name="Google Shape;8457;p75"/>
          <p:cNvCxnSpPr/>
          <p:nvPr/>
        </p:nvCxnSpPr>
        <p:spPr>
          <a:xfrm>
            <a:off x="4475712" y="5703273"/>
            <a:ext cx="0" cy="167219"/>
          </a:xfrm>
          <a:prstGeom prst="straightConnector1">
            <a:avLst/>
          </a:prstGeom>
          <a:noFill/>
          <a:ln w="12700" cap="flat" cmpd="sng">
            <a:solidFill>
              <a:schemeClr val="dk1"/>
            </a:solidFill>
            <a:prstDash val="solid"/>
            <a:miter lim="800000"/>
            <a:headEnd type="none" w="sm" len="sm"/>
            <a:tailEnd type="none" w="sm" len="sm"/>
          </a:ln>
        </p:spPr>
      </p:cxnSp>
      <p:cxnSp>
        <p:nvCxnSpPr>
          <p:cNvPr id="8458" name="Google Shape;8458;p75"/>
          <p:cNvCxnSpPr/>
          <p:nvPr/>
        </p:nvCxnSpPr>
        <p:spPr>
          <a:xfrm>
            <a:off x="4585686" y="5702866"/>
            <a:ext cx="0" cy="167219"/>
          </a:xfrm>
          <a:prstGeom prst="straightConnector1">
            <a:avLst/>
          </a:prstGeom>
          <a:noFill/>
          <a:ln w="12700" cap="flat" cmpd="sng">
            <a:solidFill>
              <a:schemeClr val="dk1"/>
            </a:solidFill>
            <a:prstDash val="solid"/>
            <a:miter lim="800000"/>
            <a:headEnd type="none" w="sm" len="sm"/>
            <a:tailEnd type="none" w="sm" len="sm"/>
          </a:ln>
        </p:spPr>
      </p:cxnSp>
      <p:cxnSp>
        <p:nvCxnSpPr>
          <p:cNvPr id="8459" name="Google Shape;8459;p75"/>
          <p:cNvCxnSpPr/>
          <p:nvPr/>
        </p:nvCxnSpPr>
        <p:spPr>
          <a:xfrm>
            <a:off x="7651226" y="5689846"/>
            <a:ext cx="0" cy="167219"/>
          </a:xfrm>
          <a:prstGeom prst="straightConnector1">
            <a:avLst/>
          </a:prstGeom>
          <a:noFill/>
          <a:ln w="12700" cap="flat" cmpd="sng">
            <a:solidFill>
              <a:schemeClr val="dk1"/>
            </a:solidFill>
            <a:prstDash val="solid"/>
            <a:miter lim="800000"/>
            <a:headEnd type="none" w="sm" len="sm"/>
            <a:tailEnd type="none" w="sm" len="sm"/>
          </a:ln>
        </p:spPr>
      </p:cxnSp>
      <p:grpSp>
        <p:nvGrpSpPr>
          <p:cNvPr id="8460" name="Google Shape;8460;p75"/>
          <p:cNvGrpSpPr/>
          <p:nvPr/>
        </p:nvGrpSpPr>
        <p:grpSpPr>
          <a:xfrm>
            <a:off x="2184258" y="3314178"/>
            <a:ext cx="1027166" cy="900000"/>
            <a:chOff x="805150" y="1625512"/>
            <a:chExt cx="1557833" cy="1364965"/>
          </a:xfrm>
        </p:grpSpPr>
        <p:sp>
          <p:nvSpPr>
            <p:cNvPr id="8461" name="Google Shape;8461;p75"/>
            <p:cNvSpPr/>
            <p:nvPr/>
          </p:nvSpPr>
          <p:spPr>
            <a:xfrm>
              <a:off x="805150" y="1625512"/>
              <a:ext cx="1557833" cy="1364965"/>
            </a:xfrm>
            <a:prstGeom prst="roundRect">
              <a:avLst>
                <a:gd name="adj" fmla="val 3683"/>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1371600" rIns="91400" bIns="274300" anchor="t" anchorCtr="0">
              <a:noAutofit/>
            </a:bodyPr>
            <a:lstStyle/>
            <a:p>
              <a:pPr marL="0" marR="0" lvl="0" indent="0" algn="ctr" rtl="0">
                <a:spcBef>
                  <a:spcPts val="0"/>
                </a:spcBef>
                <a:spcAft>
                  <a:spcPts val="0"/>
                </a:spcAft>
                <a:buNone/>
              </a:pPr>
              <a:endParaRPr sz="1050">
                <a:solidFill>
                  <a:schemeClr val="accent2"/>
                </a:solidFill>
                <a:latin typeface="Arial"/>
                <a:ea typeface="Arial"/>
                <a:cs typeface="Arial"/>
                <a:sym typeface="Arial"/>
              </a:endParaRPr>
            </a:p>
          </p:txBody>
        </p:sp>
        <p:grpSp>
          <p:nvGrpSpPr>
            <p:cNvPr id="8462" name="Google Shape;8462;p75"/>
            <p:cNvGrpSpPr/>
            <p:nvPr/>
          </p:nvGrpSpPr>
          <p:grpSpPr>
            <a:xfrm>
              <a:off x="987548" y="1738474"/>
              <a:ext cx="1174334" cy="972000"/>
              <a:chOff x="3325948" y="1424891"/>
              <a:chExt cx="1694347" cy="1402415"/>
            </a:xfrm>
          </p:grpSpPr>
          <p:sp>
            <p:nvSpPr>
              <p:cNvPr id="8463" name="Google Shape;8463;p75"/>
              <p:cNvSpPr/>
              <p:nvPr/>
            </p:nvSpPr>
            <p:spPr>
              <a:xfrm>
                <a:off x="4297641" y="1533016"/>
                <a:ext cx="528559"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64" name="Google Shape;8464;p75"/>
              <p:cNvSpPr/>
              <p:nvPr/>
            </p:nvSpPr>
            <p:spPr>
              <a:xfrm>
                <a:off x="4297642" y="2297981"/>
                <a:ext cx="474562"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8465" name="Google Shape;8465;p75"/>
              <p:cNvPicPr preferRelativeResize="0"/>
              <p:nvPr/>
            </p:nvPicPr>
            <p:blipFill rotWithShape="1">
              <a:blip r:embed="rId3">
                <a:alphaModFix/>
              </a:blip>
              <a:srcRect/>
              <a:stretch/>
            </p:blipFill>
            <p:spPr>
              <a:xfrm>
                <a:off x="3503144" y="1496410"/>
                <a:ext cx="392596" cy="392595"/>
              </a:xfrm>
              <a:prstGeom prst="rect">
                <a:avLst/>
              </a:prstGeom>
              <a:noFill/>
              <a:ln>
                <a:noFill/>
              </a:ln>
            </p:spPr>
          </p:pic>
          <p:sp>
            <p:nvSpPr>
              <p:cNvPr id="8466" name="Google Shape;8466;p75"/>
              <p:cNvSpPr txBox="1"/>
              <p:nvPr/>
            </p:nvSpPr>
            <p:spPr>
              <a:xfrm>
                <a:off x="4000893" y="1665153"/>
                <a:ext cx="886800" cy="79932"/>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400">
                    <a:solidFill>
                      <a:srgbClr val="336DE6"/>
                    </a:solidFill>
                    <a:latin typeface="Arial"/>
                    <a:ea typeface="Arial"/>
                    <a:cs typeface="Arial"/>
                    <a:sym typeface="Arial"/>
                  </a:rPr>
                  <a:t>Kubernetes Applications</a:t>
                </a:r>
                <a:endParaRPr/>
              </a:p>
            </p:txBody>
          </p:sp>
          <p:sp>
            <p:nvSpPr>
              <p:cNvPr id="8467" name="Google Shape;8467;p75"/>
              <p:cNvSpPr/>
              <p:nvPr/>
            </p:nvSpPr>
            <p:spPr>
              <a:xfrm>
                <a:off x="3331847" y="1424891"/>
                <a:ext cx="1680883" cy="535632"/>
              </a:xfrm>
              <a:prstGeom prst="rect">
                <a:avLst/>
              </a:prstGeom>
              <a:noFill/>
              <a:ln w="10775" cap="flat" cmpd="sng">
                <a:solidFill>
                  <a:schemeClr val="accent2"/>
                </a:solidFill>
                <a:prstDash val="dot"/>
                <a:miter lim="800000"/>
                <a:headEnd type="none" w="sm" len="sm"/>
                <a:tailEnd type="none" w="sm" len="sm"/>
              </a:ln>
            </p:spPr>
            <p:txBody>
              <a:bodyPr spcFirstLastPara="1" wrap="square" lIns="77700" tIns="38850" rIns="77700" bIns="3885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68" name="Google Shape;8468;p75"/>
              <p:cNvSpPr/>
              <p:nvPr/>
            </p:nvSpPr>
            <p:spPr>
              <a:xfrm>
                <a:off x="3325948"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69" name="Google Shape;8469;p75"/>
              <p:cNvSpPr/>
              <p:nvPr/>
            </p:nvSpPr>
            <p:spPr>
              <a:xfrm>
                <a:off x="3912452"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70" name="Google Shape;8470;p75"/>
              <p:cNvSpPr/>
              <p:nvPr/>
            </p:nvSpPr>
            <p:spPr>
              <a:xfrm>
                <a:off x="4498957" y="2547405"/>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71" name="Google Shape;8471;p75"/>
              <p:cNvSpPr/>
              <p:nvPr/>
            </p:nvSpPr>
            <p:spPr>
              <a:xfrm>
                <a:off x="3325949" y="2040092"/>
                <a:ext cx="1694346" cy="285650"/>
              </a:xfrm>
              <a:prstGeom prst="roundRect">
                <a:avLst>
                  <a:gd name="adj" fmla="val 50000"/>
                </a:avLst>
              </a:prstGeom>
              <a:solidFill>
                <a:srgbClr val="3E417C"/>
              </a:solidFill>
              <a:ln>
                <a:noFill/>
              </a:ln>
            </p:spPr>
            <p:txBody>
              <a:bodyPr spcFirstLastPara="1" wrap="square" lIns="0" tIns="18275" rIns="0" bIns="0" anchor="ctr" anchorCtr="0">
                <a:noAutofit/>
              </a:bodyPr>
              <a:lstStyle/>
              <a:p>
                <a:pPr marL="0" marR="0" lvl="0" indent="0" algn="ctr" rtl="0">
                  <a:lnSpc>
                    <a:spcPct val="80000"/>
                  </a:lnSpc>
                  <a:spcBef>
                    <a:spcPts val="0"/>
                  </a:spcBef>
                  <a:spcAft>
                    <a:spcPts val="0"/>
                  </a:spcAft>
                  <a:buNone/>
                </a:pPr>
                <a:r>
                  <a:rPr lang="en-US" sz="400">
                    <a:solidFill>
                      <a:schemeClr val="lt1"/>
                    </a:solidFill>
                    <a:latin typeface="Arial"/>
                    <a:ea typeface="Arial"/>
                    <a:cs typeface="Arial"/>
                    <a:sym typeface="Arial"/>
                  </a:rPr>
                  <a:t>Control Plane</a:t>
                </a:r>
                <a:endParaRPr/>
              </a:p>
            </p:txBody>
          </p:sp>
          <p:cxnSp>
            <p:nvCxnSpPr>
              <p:cNvPr id="8472" name="Google Shape;8472;p75"/>
              <p:cNvCxnSpPr/>
              <p:nvPr/>
            </p:nvCxnSpPr>
            <p:spPr>
              <a:xfrm>
                <a:off x="4186614" y="2313793"/>
                <a:ext cx="0" cy="240408"/>
              </a:xfrm>
              <a:prstGeom prst="straightConnector1">
                <a:avLst/>
              </a:prstGeom>
              <a:noFill/>
              <a:ln w="10775" cap="flat" cmpd="sng">
                <a:solidFill>
                  <a:schemeClr val="accent2"/>
                </a:solidFill>
                <a:prstDash val="solid"/>
                <a:miter lim="800000"/>
                <a:headEnd type="none" w="sm" len="sm"/>
                <a:tailEnd type="none" w="sm" len="sm"/>
              </a:ln>
            </p:spPr>
          </p:cxnSp>
          <p:cxnSp>
            <p:nvCxnSpPr>
              <p:cNvPr id="8473" name="Google Shape;8473;p75"/>
              <p:cNvCxnSpPr/>
              <p:nvPr/>
            </p:nvCxnSpPr>
            <p:spPr>
              <a:xfrm>
                <a:off x="3603836"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8474" name="Google Shape;8474;p75"/>
              <p:cNvCxnSpPr/>
              <p:nvPr/>
            </p:nvCxnSpPr>
            <p:spPr>
              <a:xfrm>
                <a:off x="4769392"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8475" name="Google Shape;8475;p75"/>
              <p:cNvCxnSpPr/>
              <p:nvPr/>
            </p:nvCxnSpPr>
            <p:spPr>
              <a:xfrm>
                <a:off x="3599903" y="2431944"/>
                <a:ext cx="1172301" cy="0"/>
              </a:xfrm>
              <a:prstGeom prst="straightConnector1">
                <a:avLst/>
              </a:prstGeom>
              <a:noFill/>
              <a:ln w="10775" cap="flat" cmpd="sng">
                <a:solidFill>
                  <a:schemeClr val="accent2"/>
                </a:solidFill>
                <a:prstDash val="solid"/>
                <a:miter lim="800000"/>
                <a:headEnd type="none" w="sm" len="sm"/>
                <a:tailEnd type="none" w="sm" len="sm"/>
              </a:ln>
            </p:spPr>
          </p:cxnSp>
        </p:grpSp>
        <p:sp>
          <p:nvSpPr>
            <p:cNvPr id="8476" name="Google Shape;8476;p75"/>
            <p:cNvSpPr txBox="1"/>
            <p:nvPr/>
          </p:nvSpPr>
          <p:spPr>
            <a:xfrm>
              <a:off x="805150" y="2760707"/>
              <a:ext cx="1557833" cy="9233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
                  <a:solidFill>
                    <a:schemeClr val="dk1"/>
                  </a:solidFill>
                  <a:latin typeface="Arial"/>
                  <a:ea typeface="Arial"/>
                  <a:cs typeface="Arial"/>
                  <a:sym typeface="Arial"/>
                </a:rPr>
                <a:t>Kubernetes Cluster</a:t>
              </a:r>
              <a:endParaRPr/>
            </a:p>
          </p:txBody>
        </p:sp>
      </p:grpSp>
      <p:grpSp>
        <p:nvGrpSpPr>
          <p:cNvPr id="8477" name="Google Shape;8477;p75"/>
          <p:cNvGrpSpPr/>
          <p:nvPr/>
        </p:nvGrpSpPr>
        <p:grpSpPr>
          <a:xfrm>
            <a:off x="857113" y="3710095"/>
            <a:ext cx="569796" cy="504000"/>
            <a:chOff x="9811195" y="1901693"/>
            <a:chExt cx="838270" cy="741471"/>
          </a:xfrm>
        </p:grpSpPr>
        <p:sp>
          <p:nvSpPr>
            <p:cNvPr id="8478" name="Google Shape;8478;p75"/>
            <p:cNvSpPr/>
            <p:nvPr/>
          </p:nvSpPr>
          <p:spPr>
            <a:xfrm>
              <a:off x="9811195" y="1901693"/>
              <a:ext cx="838270" cy="741471"/>
            </a:xfrm>
            <a:prstGeom prst="roundRect">
              <a:avLst>
                <a:gd name="adj" fmla="val 7399"/>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548625" rIns="91400" bIns="274300" anchor="t" anchorCtr="0">
              <a:noAutofit/>
            </a:bodyPr>
            <a:lstStyle/>
            <a:p>
              <a:pPr marL="0" marR="0" lvl="0" indent="0" algn="ctr" rtl="0">
                <a:spcBef>
                  <a:spcPts val="0"/>
                </a:spcBef>
                <a:spcAft>
                  <a:spcPts val="0"/>
                </a:spcAft>
                <a:buNone/>
              </a:pPr>
              <a:r>
                <a:rPr lang="en-US" sz="600">
                  <a:solidFill>
                    <a:schemeClr val="dk1"/>
                  </a:solidFill>
                  <a:latin typeface="Arial"/>
                  <a:ea typeface="Arial"/>
                  <a:cs typeface="Arial"/>
                  <a:sym typeface="Arial"/>
                </a:rPr>
                <a:t>VM</a:t>
              </a:r>
              <a:endParaRPr/>
            </a:p>
          </p:txBody>
        </p:sp>
        <p:grpSp>
          <p:nvGrpSpPr>
            <p:cNvPr id="8479" name="Google Shape;8479;p75"/>
            <p:cNvGrpSpPr/>
            <p:nvPr/>
          </p:nvGrpSpPr>
          <p:grpSpPr>
            <a:xfrm>
              <a:off x="10081460" y="2055296"/>
              <a:ext cx="297739" cy="292247"/>
              <a:chOff x="1465490" y="3219301"/>
              <a:chExt cx="438300" cy="438301"/>
            </a:xfrm>
          </p:grpSpPr>
          <p:sp>
            <p:nvSpPr>
              <p:cNvPr id="8480" name="Google Shape;8480;p75"/>
              <p:cNvSpPr/>
              <p:nvPr/>
            </p:nvSpPr>
            <p:spPr>
              <a:xfrm>
                <a:off x="1465490" y="3219301"/>
                <a:ext cx="438300" cy="438301"/>
              </a:xfrm>
              <a:prstGeom prst="ellipse">
                <a:avLst/>
              </a:prstGeom>
              <a:noFill/>
              <a:ln w="9525" cap="flat" cmpd="sng">
                <a:solidFill>
                  <a:schemeClr val="accent2"/>
                </a:solidFill>
                <a:prstDash val="solid"/>
                <a:round/>
                <a:headEnd type="none" w="sm" len="sm"/>
                <a:tailEnd type="none" w="sm" len="sm"/>
              </a:ln>
            </p:spPr>
            <p:txBody>
              <a:bodyPr spcFirstLastPara="1" wrap="square" lIns="87700" tIns="43850" rIns="87700" bIns="4385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nvGrpSpPr>
              <p:cNvPr id="8481" name="Google Shape;8481;p75"/>
              <p:cNvGrpSpPr/>
              <p:nvPr/>
            </p:nvGrpSpPr>
            <p:grpSpPr>
              <a:xfrm>
                <a:off x="1561461" y="3315270"/>
                <a:ext cx="245369" cy="245370"/>
                <a:chOff x="979296" y="1541158"/>
                <a:chExt cx="1054511" cy="1054515"/>
              </a:xfrm>
            </p:grpSpPr>
            <p:sp>
              <p:nvSpPr>
                <p:cNvPr id="8482" name="Google Shape;8482;p75"/>
                <p:cNvSpPr/>
                <p:nvPr/>
              </p:nvSpPr>
              <p:spPr>
                <a:xfrm>
                  <a:off x="979296" y="1541158"/>
                  <a:ext cx="1054511" cy="1054515"/>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nvGrpSpPr>
                <p:cNvPr id="8483" name="Google Shape;8483;p75"/>
                <p:cNvGrpSpPr/>
                <p:nvPr/>
              </p:nvGrpSpPr>
              <p:grpSpPr>
                <a:xfrm>
                  <a:off x="1296246" y="2002748"/>
                  <a:ext cx="390297" cy="146863"/>
                  <a:chOff x="1296246" y="2002748"/>
                  <a:chExt cx="390297" cy="146863"/>
                </a:xfrm>
              </p:grpSpPr>
              <p:sp>
                <p:nvSpPr>
                  <p:cNvPr id="8484" name="Google Shape;8484;p75"/>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sp>
                <p:nvSpPr>
                  <p:cNvPr id="8485" name="Google Shape;8485;p75"/>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grpSp>
        </p:grpSp>
      </p:grpSp>
      <p:sp>
        <p:nvSpPr>
          <p:cNvPr id="8486" name="Google Shape;8486;p75"/>
          <p:cNvSpPr/>
          <p:nvPr/>
        </p:nvSpPr>
        <p:spPr>
          <a:xfrm>
            <a:off x="3308939" y="3314178"/>
            <a:ext cx="1027166" cy="900000"/>
          </a:xfrm>
          <a:prstGeom prst="roundRect">
            <a:avLst>
              <a:gd name="adj" fmla="val 3683"/>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1371600" rIns="91400" bIns="274300" anchor="t" anchorCtr="0">
            <a:noAutofit/>
          </a:bodyPr>
          <a:lstStyle/>
          <a:p>
            <a:pPr marL="0" marR="0" lvl="0" indent="0" algn="ctr" rtl="0">
              <a:spcBef>
                <a:spcPts val="0"/>
              </a:spcBef>
              <a:spcAft>
                <a:spcPts val="0"/>
              </a:spcAft>
              <a:buNone/>
            </a:pPr>
            <a:endParaRPr sz="1050">
              <a:solidFill>
                <a:schemeClr val="accent2"/>
              </a:solidFill>
              <a:latin typeface="Arial"/>
              <a:ea typeface="Arial"/>
              <a:cs typeface="Arial"/>
              <a:sym typeface="Arial"/>
            </a:endParaRPr>
          </a:p>
        </p:txBody>
      </p:sp>
      <p:grpSp>
        <p:nvGrpSpPr>
          <p:cNvPr id="8487" name="Google Shape;8487;p75"/>
          <p:cNvGrpSpPr/>
          <p:nvPr/>
        </p:nvGrpSpPr>
        <p:grpSpPr>
          <a:xfrm>
            <a:off x="3429204" y="3388660"/>
            <a:ext cx="774304" cy="1780778"/>
            <a:chOff x="3325948" y="651167"/>
            <a:chExt cx="1694347" cy="1780778"/>
          </a:xfrm>
        </p:grpSpPr>
        <p:sp>
          <p:nvSpPr>
            <p:cNvPr id="8488" name="Google Shape;8488;p75"/>
            <p:cNvSpPr/>
            <p:nvPr/>
          </p:nvSpPr>
          <p:spPr>
            <a:xfrm>
              <a:off x="4297640" y="700580"/>
              <a:ext cx="528560" cy="208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89" name="Google Shape;8489;p75"/>
            <p:cNvSpPr/>
            <p:nvPr/>
          </p:nvSpPr>
          <p:spPr>
            <a:xfrm>
              <a:off x="4297642" y="1050164"/>
              <a:ext cx="474561" cy="208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8490" name="Google Shape;8490;p75"/>
            <p:cNvPicPr preferRelativeResize="0"/>
            <p:nvPr/>
          </p:nvPicPr>
          <p:blipFill rotWithShape="1">
            <a:blip r:embed="rId3">
              <a:alphaModFix/>
            </a:blip>
            <a:srcRect/>
            <a:stretch/>
          </p:blipFill>
          <p:spPr>
            <a:xfrm>
              <a:off x="3503143" y="683851"/>
              <a:ext cx="392595" cy="179414"/>
            </a:xfrm>
            <a:prstGeom prst="rect">
              <a:avLst/>
            </a:prstGeom>
            <a:noFill/>
            <a:ln>
              <a:noFill/>
            </a:ln>
          </p:spPr>
        </p:pic>
        <p:sp>
          <p:nvSpPr>
            <p:cNvPr id="8491" name="Google Shape;8491;p75"/>
            <p:cNvSpPr txBox="1"/>
            <p:nvPr/>
          </p:nvSpPr>
          <p:spPr>
            <a:xfrm>
              <a:off x="4000893" y="760965"/>
              <a:ext cx="886800" cy="3652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400">
                  <a:solidFill>
                    <a:srgbClr val="336DE6"/>
                  </a:solidFill>
                  <a:latin typeface="Arial"/>
                  <a:ea typeface="Arial"/>
                  <a:cs typeface="Arial"/>
                  <a:sym typeface="Arial"/>
                </a:rPr>
                <a:t>Kubernetes Applications</a:t>
              </a:r>
              <a:endParaRPr/>
            </a:p>
          </p:txBody>
        </p:sp>
        <p:sp>
          <p:nvSpPr>
            <p:cNvPr id="8492" name="Google Shape;8492;p75"/>
            <p:cNvSpPr/>
            <p:nvPr/>
          </p:nvSpPr>
          <p:spPr>
            <a:xfrm>
              <a:off x="3331847" y="651167"/>
              <a:ext cx="1680883" cy="244781"/>
            </a:xfrm>
            <a:prstGeom prst="rect">
              <a:avLst/>
            </a:prstGeom>
            <a:noFill/>
            <a:ln w="10775" cap="flat" cmpd="sng">
              <a:solidFill>
                <a:schemeClr val="accent2"/>
              </a:solidFill>
              <a:prstDash val="dot"/>
              <a:miter lim="800000"/>
              <a:headEnd type="none" w="sm" len="sm"/>
              <a:tailEnd type="none" w="sm" len="sm"/>
            </a:ln>
          </p:spPr>
          <p:txBody>
            <a:bodyPr spcFirstLastPara="1" wrap="square" lIns="77700" tIns="38850" rIns="77700" bIns="3885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93" name="Google Shape;8493;p75"/>
            <p:cNvSpPr/>
            <p:nvPr/>
          </p:nvSpPr>
          <p:spPr>
            <a:xfrm>
              <a:off x="3325948" y="1164150"/>
              <a:ext cx="521337" cy="127913"/>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94" name="Google Shape;8494;p75"/>
            <p:cNvSpPr/>
            <p:nvPr/>
          </p:nvSpPr>
          <p:spPr>
            <a:xfrm>
              <a:off x="3912452" y="1164150"/>
              <a:ext cx="521337" cy="127913"/>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95" name="Google Shape;8495;p75"/>
            <p:cNvSpPr/>
            <p:nvPr/>
          </p:nvSpPr>
          <p:spPr>
            <a:xfrm>
              <a:off x="4498956" y="1164150"/>
              <a:ext cx="521337" cy="127913"/>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rtl="0">
                <a:spcBef>
                  <a:spcPts val="0"/>
                </a:spcBef>
                <a:spcAft>
                  <a:spcPts val="0"/>
                </a:spcAft>
                <a:buNone/>
              </a:pPr>
              <a:r>
                <a:rPr lang="en-US" sz="400">
                  <a:solidFill>
                    <a:schemeClr val="lt1"/>
                  </a:solidFill>
                  <a:latin typeface="Arial"/>
                  <a:ea typeface="Arial"/>
                  <a:cs typeface="Arial"/>
                  <a:sym typeface="Arial"/>
                </a:rPr>
                <a:t>Node</a:t>
              </a:r>
              <a:endParaRPr/>
            </a:p>
          </p:txBody>
        </p:sp>
        <p:sp>
          <p:nvSpPr>
            <p:cNvPr id="8496" name="Google Shape;8496;p75"/>
            <p:cNvSpPr/>
            <p:nvPr/>
          </p:nvSpPr>
          <p:spPr>
            <a:xfrm>
              <a:off x="3325948" y="932310"/>
              <a:ext cx="1694347" cy="130540"/>
            </a:xfrm>
            <a:prstGeom prst="roundRect">
              <a:avLst>
                <a:gd name="adj" fmla="val 50000"/>
              </a:avLst>
            </a:prstGeom>
            <a:solidFill>
              <a:srgbClr val="3E417C"/>
            </a:solidFill>
            <a:ln>
              <a:noFill/>
            </a:ln>
          </p:spPr>
          <p:txBody>
            <a:bodyPr spcFirstLastPara="1" wrap="square" lIns="0" tIns="18275" rIns="0" bIns="0" anchor="ctr" anchorCtr="0">
              <a:noAutofit/>
            </a:bodyPr>
            <a:lstStyle/>
            <a:p>
              <a:pPr marL="0" marR="0" lvl="0" indent="0" algn="ctr" rtl="0">
                <a:lnSpc>
                  <a:spcPct val="80000"/>
                </a:lnSpc>
                <a:spcBef>
                  <a:spcPts val="0"/>
                </a:spcBef>
                <a:spcAft>
                  <a:spcPts val="0"/>
                </a:spcAft>
                <a:buNone/>
              </a:pPr>
              <a:r>
                <a:rPr lang="en-US" sz="400">
                  <a:solidFill>
                    <a:schemeClr val="lt1"/>
                  </a:solidFill>
                  <a:latin typeface="Arial"/>
                  <a:ea typeface="Arial"/>
                  <a:cs typeface="Arial"/>
                  <a:sym typeface="Arial"/>
                </a:rPr>
                <a:t>Control Plane</a:t>
              </a:r>
              <a:endParaRPr/>
            </a:p>
          </p:txBody>
        </p:sp>
        <p:cxnSp>
          <p:nvCxnSpPr>
            <p:cNvPr id="8497" name="Google Shape;8497;p75"/>
            <p:cNvCxnSpPr/>
            <p:nvPr/>
          </p:nvCxnSpPr>
          <p:spPr>
            <a:xfrm>
              <a:off x="4186614" y="1057390"/>
              <a:ext cx="0" cy="109865"/>
            </a:xfrm>
            <a:prstGeom prst="straightConnector1">
              <a:avLst/>
            </a:prstGeom>
            <a:noFill/>
            <a:ln w="10775" cap="flat" cmpd="sng">
              <a:solidFill>
                <a:schemeClr val="accent2"/>
              </a:solidFill>
              <a:prstDash val="solid"/>
              <a:miter lim="800000"/>
              <a:headEnd type="none" w="sm" len="sm"/>
              <a:tailEnd type="none" w="sm" len="sm"/>
            </a:ln>
          </p:spPr>
        </p:cxnSp>
        <p:cxnSp>
          <p:nvCxnSpPr>
            <p:cNvPr id="8498" name="Google Shape;8498;p75"/>
            <p:cNvCxnSpPr/>
            <p:nvPr/>
          </p:nvCxnSpPr>
          <p:spPr>
            <a:xfrm>
              <a:off x="3603836" y="1111771"/>
              <a:ext cx="0" cy="55485"/>
            </a:xfrm>
            <a:prstGeom prst="straightConnector1">
              <a:avLst/>
            </a:prstGeom>
            <a:noFill/>
            <a:ln w="10775" cap="flat" cmpd="sng">
              <a:solidFill>
                <a:schemeClr val="accent2"/>
              </a:solidFill>
              <a:prstDash val="solid"/>
              <a:miter lim="800000"/>
              <a:headEnd type="none" w="sm" len="sm"/>
              <a:tailEnd type="none" w="sm" len="sm"/>
            </a:ln>
          </p:spPr>
        </p:cxnSp>
        <p:cxnSp>
          <p:nvCxnSpPr>
            <p:cNvPr id="8499" name="Google Shape;8499;p75"/>
            <p:cNvCxnSpPr/>
            <p:nvPr/>
          </p:nvCxnSpPr>
          <p:spPr>
            <a:xfrm>
              <a:off x="4769391" y="1111771"/>
              <a:ext cx="0" cy="55485"/>
            </a:xfrm>
            <a:prstGeom prst="straightConnector1">
              <a:avLst/>
            </a:prstGeom>
            <a:noFill/>
            <a:ln w="10775" cap="flat" cmpd="sng">
              <a:solidFill>
                <a:schemeClr val="accent2"/>
              </a:solidFill>
              <a:prstDash val="solid"/>
              <a:miter lim="800000"/>
              <a:headEnd type="none" w="sm" len="sm"/>
              <a:tailEnd type="none" w="sm" len="sm"/>
            </a:ln>
          </p:spPr>
        </p:cxnSp>
        <p:cxnSp>
          <p:nvCxnSpPr>
            <p:cNvPr id="8500" name="Google Shape;8500;p75"/>
            <p:cNvCxnSpPr/>
            <p:nvPr/>
          </p:nvCxnSpPr>
          <p:spPr>
            <a:xfrm>
              <a:off x="3599902" y="2431945"/>
              <a:ext cx="1172301" cy="0"/>
            </a:xfrm>
            <a:prstGeom prst="straightConnector1">
              <a:avLst/>
            </a:prstGeom>
            <a:noFill/>
            <a:ln w="10775" cap="flat" cmpd="sng">
              <a:solidFill>
                <a:schemeClr val="accent2"/>
              </a:solidFill>
              <a:prstDash val="solid"/>
              <a:miter lim="800000"/>
              <a:headEnd type="none" w="sm" len="sm"/>
              <a:tailEnd type="none" w="sm" len="sm"/>
            </a:ln>
          </p:spPr>
        </p:cxnSp>
      </p:grpSp>
      <p:sp>
        <p:nvSpPr>
          <p:cNvPr id="8501" name="Google Shape;8501;p75"/>
          <p:cNvSpPr txBox="1"/>
          <p:nvPr/>
        </p:nvSpPr>
        <p:spPr>
          <a:xfrm>
            <a:off x="3308939" y="4062677"/>
            <a:ext cx="1027166" cy="608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
                <a:solidFill>
                  <a:schemeClr val="dk1"/>
                </a:solidFill>
                <a:latin typeface="Arial"/>
                <a:ea typeface="Arial"/>
                <a:cs typeface="Arial"/>
                <a:sym typeface="Arial"/>
              </a:rPr>
              <a:t>Kubernetes Cluster</a:t>
            </a:r>
            <a:endParaRPr/>
          </a:p>
        </p:txBody>
      </p:sp>
      <p:grpSp>
        <p:nvGrpSpPr>
          <p:cNvPr id="8502" name="Google Shape;8502;p75"/>
          <p:cNvGrpSpPr/>
          <p:nvPr/>
        </p:nvGrpSpPr>
        <p:grpSpPr>
          <a:xfrm>
            <a:off x="1531317" y="3710095"/>
            <a:ext cx="569796" cy="504000"/>
            <a:chOff x="9811195" y="1901693"/>
            <a:chExt cx="838270" cy="741471"/>
          </a:xfrm>
        </p:grpSpPr>
        <p:sp>
          <p:nvSpPr>
            <p:cNvPr id="8503" name="Google Shape;8503;p75"/>
            <p:cNvSpPr/>
            <p:nvPr/>
          </p:nvSpPr>
          <p:spPr>
            <a:xfrm>
              <a:off x="9811195" y="1901693"/>
              <a:ext cx="838270" cy="741471"/>
            </a:xfrm>
            <a:prstGeom prst="roundRect">
              <a:avLst>
                <a:gd name="adj" fmla="val 7399"/>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548625" rIns="91400" bIns="274300" anchor="t" anchorCtr="0">
              <a:noAutofit/>
            </a:bodyPr>
            <a:lstStyle/>
            <a:p>
              <a:pPr marL="0" marR="0" lvl="0" indent="0" algn="ctr" rtl="0">
                <a:spcBef>
                  <a:spcPts val="0"/>
                </a:spcBef>
                <a:spcAft>
                  <a:spcPts val="0"/>
                </a:spcAft>
                <a:buNone/>
              </a:pPr>
              <a:r>
                <a:rPr lang="en-US" sz="600">
                  <a:solidFill>
                    <a:schemeClr val="dk1"/>
                  </a:solidFill>
                  <a:latin typeface="Arial"/>
                  <a:ea typeface="Arial"/>
                  <a:cs typeface="Arial"/>
                  <a:sym typeface="Arial"/>
                </a:rPr>
                <a:t>VM</a:t>
              </a:r>
              <a:endParaRPr/>
            </a:p>
          </p:txBody>
        </p:sp>
        <p:grpSp>
          <p:nvGrpSpPr>
            <p:cNvPr id="8504" name="Google Shape;8504;p75"/>
            <p:cNvGrpSpPr/>
            <p:nvPr/>
          </p:nvGrpSpPr>
          <p:grpSpPr>
            <a:xfrm>
              <a:off x="10081460" y="2055296"/>
              <a:ext cx="297739" cy="292247"/>
              <a:chOff x="1465490" y="3219301"/>
              <a:chExt cx="438300" cy="438301"/>
            </a:xfrm>
          </p:grpSpPr>
          <p:sp>
            <p:nvSpPr>
              <p:cNvPr id="8505" name="Google Shape;8505;p75"/>
              <p:cNvSpPr/>
              <p:nvPr/>
            </p:nvSpPr>
            <p:spPr>
              <a:xfrm>
                <a:off x="1465490" y="3219301"/>
                <a:ext cx="438300" cy="438301"/>
              </a:xfrm>
              <a:prstGeom prst="ellipse">
                <a:avLst/>
              </a:prstGeom>
              <a:noFill/>
              <a:ln w="9525" cap="flat" cmpd="sng">
                <a:solidFill>
                  <a:schemeClr val="accent2"/>
                </a:solidFill>
                <a:prstDash val="solid"/>
                <a:round/>
                <a:headEnd type="none" w="sm" len="sm"/>
                <a:tailEnd type="none" w="sm" len="sm"/>
              </a:ln>
            </p:spPr>
            <p:txBody>
              <a:bodyPr spcFirstLastPara="1" wrap="square" lIns="87700" tIns="43850" rIns="87700" bIns="4385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nvGrpSpPr>
              <p:cNvPr id="8506" name="Google Shape;8506;p75"/>
              <p:cNvGrpSpPr/>
              <p:nvPr/>
            </p:nvGrpSpPr>
            <p:grpSpPr>
              <a:xfrm>
                <a:off x="1561461" y="3315270"/>
                <a:ext cx="245369" cy="245370"/>
                <a:chOff x="979296" y="1541158"/>
                <a:chExt cx="1054511" cy="1054515"/>
              </a:xfrm>
            </p:grpSpPr>
            <p:sp>
              <p:nvSpPr>
                <p:cNvPr id="8507" name="Google Shape;8507;p75"/>
                <p:cNvSpPr/>
                <p:nvPr/>
              </p:nvSpPr>
              <p:spPr>
                <a:xfrm>
                  <a:off x="979296" y="1541158"/>
                  <a:ext cx="1054511" cy="1054515"/>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nvGrpSpPr>
                <p:cNvPr id="8508" name="Google Shape;8508;p75"/>
                <p:cNvGrpSpPr/>
                <p:nvPr/>
              </p:nvGrpSpPr>
              <p:grpSpPr>
                <a:xfrm>
                  <a:off x="1296246" y="2002748"/>
                  <a:ext cx="390297" cy="146863"/>
                  <a:chOff x="1296246" y="2002748"/>
                  <a:chExt cx="390297" cy="146863"/>
                </a:xfrm>
              </p:grpSpPr>
              <p:sp>
                <p:nvSpPr>
                  <p:cNvPr id="8509" name="Google Shape;8509;p75"/>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sp>
                <p:nvSpPr>
                  <p:cNvPr id="8510" name="Google Shape;8510;p75"/>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grpSp>
        </p:grpSp>
      </p:grpSp>
      <p:grpSp>
        <p:nvGrpSpPr>
          <p:cNvPr id="8511" name="Google Shape;8511;p75"/>
          <p:cNvGrpSpPr/>
          <p:nvPr/>
        </p:nvGrpSpPr>
        <p:grpSpPr>
          <a:xfrm>
            <a:off x="804022" y="4303374"/>
            <a:ext cx="185687" cy="180000"/>
            <a:chOff x="6844091" y="3272403"/>
            <a:chExt cx="600837" cy="600837"/>
          </a:xfrm>
        </p:grpSpPr>
        <p:grpSp>
          <p:nvGrpSpPr>
            <p:cNvPr id="8512" name="Google Shape;8512;p75" descr="Router&#10;"/>
            <p:cNvGrpSpPr/>
            <p:nvPr/>
          </p:nvGrpSpPr>
          <p:grpSpPr>
            <a:xfrm>
              <a:off x="6844091" y="3272403"/>
              <a:ext cx="600837" cy="600837"/>
              <a:chOff x="529959" y="1943518"/>
              <a:chExt cx="600837" cy="600837"/>
            </a:xfrm>
          </p:grpSpPr>
          <p:sp>
            <p:nvSpPr>
              <p:cNvPr id="8513" name="Google Shape;8513;p75"/>
              <p:cNvSpPr/>
              <p:nvPr/>
            </p:nvSpPr>
            <p:spPr>
              <a:xfrm>
                <a:off x="529959" y="1943518"/>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514" name="Google Shape;8514;p75"/>
              <p:cNvSpPr/>
              <p:nvPr/>
            </p:nvSpPr>
            <p:spPr>
              <a:xfrm rot="10800000">
                <a:off x="787811" y="2110873"/>
                <a:ext cx="85129" cy="126942"/>
              </a:xfrm>
              <a:custGeom>
                <a:avLst/>
                <a:gdLst/>
                <a:ahLst/>
                <a:cxnLst/>
                <a:rect l="l" t="t" r="r" b="b"/>
                <a:pathLst>
                  <a:path w="85129" h="189738" extrusionOk="0">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515" name="Google Shape;8515;p75"/>
              <p:cNvSpPr/>
              <p:nvPr/>
            </p:nvSpPr>
            <p:spPr>
              <a:xfrm rot="10800000">
                <a:off x="787812" y="2267093"/>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8516" name="Google Shape;8516;p75"/>
            <p:cNvSpPr/>
            <p:nvPr/>
          </p:nvSpPr>
          <p:spPr>
            <a:xfrm rot="5400000">
              <a:off x="7023501" y="3521896"/>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517" name="Google Shape;8517;p75"/>
            <p:cNvSpPr/>
            <p:nvPr/>
          </p:nvSpPr>
          <p:spPr>
            <a:xfrm rot="-5400000">
              <a:off x="7180245" y="3525854"/>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8518" name="Google Shape;8518;p75"/>
          <p:cNvGrpSpPr/>
          <p:nvPr/>
        </p:nvGrpSpPr>
        <p:grpSpPr>
          <a:xfrm>
            <a:off x="4653963" y="2811372"/>
            <a:ext cx="185687" cy="180000"/>
            <a:chOff x="6844091" y="3272403"/>
            <a:chExt cx="600837" cy="600837"/>
          </a:xfrm>
        </p:grpSpPr>
        <p:grpSp>
          <p:nvGrpSpPr>
            <p:cNvPr id="8519" name="Google Shape;8519;p75" descr="Router&#10;"/>
            <p:cNvGrpSpPr/>
            <p:nvPr/>
          </p:nvGrpSpPr>
          <p:grpSpPr>
            <a:xfrm>
              <a:off x="6844091" y="3272403"/>
              <a:ext cx="600837" cy="600837"/>
              <a:chOff x="529959" y="1943518"/>
              <a:chExt cx="600837" cy="600837"/>
            </a:xfrm>
          </p:grpSpPr>
          <p:sp>
            <p:nvSpPr>
              <p:cNvPr id="8520" name="Google Shape;8520;p75"/>
              <p:cNvSpPr/>
              <p:nvPr/>
            </p:nvSpPr>
            <p:spPr>
              <a:xfrm>
                <a:off x="529959" y="1943518"/>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521" name="Google Shape;8521;p75"/>
              <p:cNvSpPr/>
              <p:nvPr/>
            </p:nvSpPr>
            <p:spPr>
              <a:xfrm rot="10800000">
                <a:off x="787811" y="2110873"/>
                <a:ext cx="85129" cy="126942"/>
              </a:xfrm>
              <a:custGeom>
                <a:avLst/>
                <a:gdLst/>
                <a:ahLst/>
                <a:cxnLst/>
                <a:rect l="l" t="t" r="r" b="b"/>
                <a:pathLst>
                  <a:path w="85129" h="189738" extrusionOk="0">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522" name="Google Shape;8522;p75"/>
              <p:cNvSpPr/>
              <p:nvPr/>
            </p:nvSpPr>
            <p:spPr>
              <a:xfrm rot="10800000">
                <a:off x="787812" y="2267093"/>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8523" name="Google Shape;8523;p75"/>
            <p:cNvSpPr/>
            <p:nvPr/>
          </p:nvSpPr>
          <p:spPr>
            <a:xfrm rot="5400000">
              <a:off x="7023501" y="3521896"/>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524" name="Google Shape;8524;p75"/>
            <p:cNvSpPr/>
            <p:nvPr/>
          </p:nvSpPr>
          <p:spPr>
            <a:xfrm rot="-5400000">
              <a:off x="7180245" y="3525854"/>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529"/>
        <p:cNvGrpSpPr/>
        <p:nvPr/>
      </p:nvGrpSpPr>
      <p:grpSpPr>
        <a:xfrm>
          <a:off x="0" y="0"/>
          <a:ext cx="0" cy="0"/>
          <a:chOff x="0" y="0"/>
          <a:chExt cx="0" cy="0"/>
        </a:xfrm>
      </p:grpSpPr>
      <p:sp>
        <p:nvSpPr>
          <p:cNvPr id="8530" name="Google Shape;8530;p76"/>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Empower Platform Operators </a:t>
            </a:r>
            <a:endParaRPr/>
          </a:p>
        </p:txBody>
      </p:sp>
      <p:sp>
        <p:nvSpPr>
          <p:cNvPr id="8531" name="Google Shape;8531;p76"/>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Introducing Supervisor Administrator Role in vCenter</a:t>
            </a:r>
            <a:endParaRPr/>
          </a:p>
        </p:txBody>
      </p:sp>
      <p:sp>
        <p:nvSpPr>
          <p:cNvPr id="8532" name="Google Shape;8532;p76"/>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Allows VI Admins to </a:t>
            </a:r>
            <a:r>
              <a:rPr lang="en-US" b="1" dirty="0"/>
              <a:t>delegate</a:t>
            </a:r>
            <a:r>
              <a:rPr lang="en-US" dirty="0"/>
              <a:t> Supervisor management tasks to </a:t>
            </a:r>
            <a:r>
              <a:rPr lang="en-US" b="1" dirty="0"/>
              <a:t>Platform Operators</a:t>
            </a:r>
            <a:endParaRPr dirty="0"/>
          </a:p>
          <a:p>
            <a:pPr marL="0" lvl="0" indent="0" algn="l" rtl="0">
              <a:lnSpc>
                <a:spcPct val="100000"/>
              </a:lnSpc>
              <a:spcBef>
                <a:spcPts val="1200"/>
              </a:spcBef>
              <a:spcAft>
                <a:spcPts val="0"/>
              </a:spcAft>
              <a:buSzPts val="1440"/>
              <a:buNone/>
            </a:pPr>
            <a:r>
              <a:rPr lang="en-US" dirty="0"/>
              <a:t>Empower Platform Operators to manage and </a:t>
            </a:r>
            <a:r>
              <a:rPr lang="en-US" b="1" dirty="0"/>
              <a:t>update Supervisor </a:t>
            </a:r>
            <a:r>
              <a:rPr lang="en-US" dirty="0"/>
              <a:t>and</a:t>
            </a:r>
            <a:r>
              <a:rPr lang="en-US" b="1" dirty="0"/>
              <a:t> Supervisor Services</a:t>
            </a:r>
            <a:endParaRPr dirty="0"/>
          </a:p>
          <a:p>
            <a:pPr marL="0" lvl="0" indent="0" algn="l" rtl="0">
              <a:lnSpc>
                <a:spcPct val="100000"/>
              </a:lnSpc>
              <a:spcBef>
                <a:spcPts val="1200"/>
              </a:spcBef>
              <a:spcAft>
                <a:spcPts val="0"/>
              </a:spcAft>
              <a:buSzPts val="1440"/>
              <a:buNone/>
            </a:pPr>
            <a:r>
              <a:rPr lang="en-US" dirty="0"/>
              <a:t>vCenter Permissions are unified to Supervisor through Kubernetes RBAC</a:t>
            </a:r>
            <a:endParaRPr dirty="0"/>
          </a:p>
          <a:p>
            <a:pPr marL="0" lvl="0" indent="0" algn="l" rtl="0">
              <a:lnSpc>
                <a:spcPct val="100000"/>
              </a:lnSpc>
              <a:spcBef>
                <a:spcPts val="1200"/>
              </a:spcBef>
              <a:spcAft>
                <a:spcPts val="0"/>
              </a:spcAft>
              <a:buSzPts val="1440"/>
              <a:buNone/>
            </a:pPr>
            <a:r>
              <a:rPr lang="en-US" dirty="0"/>
              <a:t>Bridging the gap between vCenter and Supervisor permissions</a:t>
            </a:r>
            <a:endParaRPr dirty="0"/>
          </a:p>
          <a:p>
            <a:pPr marL="0" lvl="0" indent="0" algn="l" rtl="0">
              <a:lnSpc>
                <a:spcPct val="100000"/>
              </a:lnSpc>
              <a:spcBef>
                <a:spcPts val="1200"/>
              </a:spcBef>
              <a:spcAft>
                <a:spcPts val="0"/>
              </a:spcAft>
              <a:buSzPts val="1440"/>
              <a:buNone/>
            </a:pPr>
            <a:endParaRPr dirty="0"/>
          </a:p>
        </p:txBody>
      </p:sp>
      <p:sp>
        <p:nvSpPr>
          <p:cNvPr id="8533" name="Google Shape;8533;p76"/>
          <p:cNvSpPr/>
          <p:nvPr/>
        </p:nvSpPr>
        <p:spPr>
          <a:xfrm>
            <a:off x="253789" y="1592028"/>
            <a:ext cx="7778860" cy="4514652"/>
          </a:xfrm>
          <a:prstGeom prst="roundRect">
            <a:avLst>
              <a:gd name="adj" fmla="val 16667"/>
            </a:avLst>
          </a:prstGeom>
          <a:gradFill>
            <a:gsLst>
              <a:gs pos="0">
                <a:srgbClr val="D6D6D6">
                  <a:alpha val="34901"/>
                </a:srgbClr>
              </a:gs>
              <a:gs pos="3000">
                <a:srgbClr val="D6D6D6">
                  <a:alpha val="34901"/>
                </a:srgbClr>
              </a:gs>
              <a:gs pos="100000">
                <a:srgbClr val="F2F2F2">
                  <a:alpha val="0"/>
                </a:srgbClr>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534" name="Google Shape;8534;p76"/>
          <p:cNvSpPr/>
          <p:nvPr/>
        </p:nvSpPr>
        <p:spPr>
          <a:xfrm>
            <a:off x="1384455" y="5149048"/>
            <a:ext cx="5669595" cy="589613"/>
          </a:xfrm>
          <a:prstGeom prst="roundRect">
            <a:avLst>
              <a:gd name="adj" fmla="val 8857"/>
            </a:avLst>
          </a:prstGeom>
          <a:gradFill>
            <a:gsLst>
              <a:gs pos="0">
                <a:srgbClr val="6C4B8F"/>
              </a:gs>
              <a:gs pos="49000">
                <a:srgbClr val="37538A"/>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Arial"/>
              <a:buNone/>
            </a:pPr>
            <a:r>
              <a:rPr lang="en-US" sz="1600">
                <a:solidFill>
                  <a:srgbClr val="FFFFFF"/>
                </a:solidFill>
                <a:latin typeface="Arial"/>
                <a:ea typeface="Arial"/>
                <a:cs typeface="Arial"/>
                <a:sym typeface="Arial"/>
              </a:rPr>
              <a:t>Supervisor</a:t>
            </a:r>
            <a:endParaRPr sz="1600">
              <a:solidFill>
                <a:srgbClr val="FFFFFF"/>
              </a:solidFill>
              <a:latin typeface="Arial"/>
              <a:ea typeface="Arial"/>
              <a:cs typeface="Arial"/>
              <a:sym typeface="Arial"/>
            </a:endParaRPr>
          </a:p>
        </p:txBody>
      </p:sp>
      <p:grpSp>
        <p:nvGrpSpPr>
          <p:cNvPr id="8535" name="Google Shape;8535;p76"/>
          <p:cNvGrpSpPr/>
          <p:nvPr/>
        </p:nvGrpSpPr>
        <p:grpSpPr>
          <a:xfrm>
            <a:off x="2618614" y="2030317"/>
            <a:ext cx="3712701" cy="845212"/>
            <a:chOff x="1374738" y="5211511"/>
            <a:chExt cx="3712701" cy="845212"/>
          </a:xfrm>
        </p:grpSpPr>
        <p:sp>
          <p:nvSpPr>
            <p:cNvPr id="8536" name="Google Shape;8536;p76"/>
            <p:cNvSpPr/>
            <p:nvPr/>
          </p:nvSpPr>
          <p:spPr>
            <a:xfrm>
              <a:off x="1374738" y="5211511"/>
              <a:ext cx="1456451" cy="845212"/>
            </a:xfrm>
            <a:prstGeom prst="roundRect">
              <a:avLst>
                <a:gd name="adj" fmla="val 10000"/>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vCenter</a:t>
              </a:r>
              <a:endParaRPr/>
            </a:p>
          </p:txBody>
        </p:sp>
        <p:sp>
          <p:nvSpPr>
            <p:cNvPr id="8537" name="Google Shape;8537;p76"/>
            <p:cNvSpPr/>
            <p:nvPr/>
          </p:nvSpPr>
          <p:spPr>
            <a:xfrm>
              <a:off x="4412957" y="5791219"/>
              <a:ext cx="11161" cy="8234"/>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sp>
          <p:nvSpPr>
            <p:cNvPr id="8538" name="Google Shape;8538;p76"/>
            <p:cNvSpPr/>
            <p:nvPr/>
          </p:nvSpPr>
          <p:spPr>
            <a:xfrm>
              <a:off x="5071136" y="5791023"/>
              <a:ext cx="16303" cy="8430"/>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a:noFill/>
            </a:ln>
          </p:spPr>
          <p:txBody>
            <a:bodyPr spcFirstLastPara="1" wrap="square" lIns="87700" tIns="43850" rIns="87700" bIns="43850" anchor="ctr" anchorCtr="0">
              <a:noAutofit/>
            </a:bodyPr>
            <a:lstStyle/>
            <a:p>
              <a:pPr marL="0" marR="0" lvl="0" indent="0" algn="l" rtl="0">
                <a:spcBef>
                  <a:spcPts val="0"/>
                </a:spcBef>
                <a:spcAft>
                  <a:spcPts val="0"/>
                </a:spcAft>
                <a:buNone/>
              </a:pPr>
              <a:endParaRPr sz="1050">
                <a:solidFill>
                  <a:schemeClr val="dk1"/>
                </a:solidFill>
                <a:latin typeface="Arial"/>
                <a:ea typeface="Arial"/>
                <a:cs typeface="Arial"/>
                <a:sym typeface="Arial"/>
              </a:endParaRPr>
            </a:p>
          </p:txBody>
        </p:sp>
      </p:grpSp>
      <p:grpSp>
        <p:nvGrpSpPr>
          <p:cNvPr id="8539" name="Google Shape;8539;p76"/>
          <p:cNvGrpSpPr/>
          <p:nvPr/>
        </p:nvGrpSpPr>
        <p:grpSpPr>
          <a:xfrm>
            <a:off x="579809" y="1818387"/>
            <a:ext cx="1050963" cy="1050430"/>
            <a:chOff x="1712228" y="3415926"/>
            <a:chExt cx="1050963" cy="1050430"/>
          </a:xfrm>
        </p:grpSpPr>
        <p:sp>
          <p:nvSpPr>
            <p:cNvPr id="8540" name="Google Shape;8540;p76"/>
            <p:cNvSpPr/>
            <p:nvPr/>
          </p:nvSpPr>
          <p:spPr>
            <a:xfrm>
              <a:off x="1712228" y="3415926"/>
              <a:ext cx="1050963" cy="1050430"/>
            </a:xfrm>
            <a:prstGeom prst="ellipse">
              <a:avLst/>
            </a:prstGeom>
            <a:solidFill>
              <a:schemeClr val="lt1"/>
            </a:solidFill>
            <a:ln w="23500" cap="flat" cmpd="sng">
              <a:solidFill>
                <a:schemeClr val="accent2"/>
              </a:solidFill>
              <a:prstDash val="solid"/>
              <a:round/>
              <a:headEnd type="none" w="sm" len="sm"/>
              <a:tailEnd type="none" w="sm" len="sm"/>
            </a:ln>
          </p:spPr>
          <p:txBody>
            <a:bodyPr spcFirstLastPara="1" wrap="square" lIns="84600" tIns="42275" rIns="84600" bIns="42275"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pic>
          <p:nvPicPr>
            <p:cNvPr id="8541" name="Google Shape;8541;p76"/>
            <p:cNvPicPr preferRelativeResize="0"/>
            <p:nvPr/>
          </p:nvPicPr>
          <p:blipFill rotWithShape="1">
            <a:blip r:embed="rId3">
              <a:alphaModFix/>
            </a:blip>
            <a:srcRect l="19945" t="-8777" r="-775" b="44246"/>
            <a:stretch/>
          </p:blipFill>
          <p:spPr>
            <a:xfrm>
              <a:off x="1719672" y="3417640"/>
              <a:ext cx="1036074" cy="1047000"/>
            </a:xfrm>
            <a:prstGeom prst="ellipse">
              <a:avLst/>
            </a:prstGeom>
            <a:noFill/>
            <a:ln>
              <a:noFill/>
            </a:ln>
          </p:spPr>
        </p:pic>
      </p:grpSp>
      <p:sp>
        <p:nvSpPr>
          <p:cNvPr id="8542" name="Google Shape;8542;p76"/>
          <p:cNvSpPr/>
          <p:nvPr/>
        </p:nvSpPr>
        <p:spPr>
          <a:xfrm rot="10800000">
            <a:off x="2618614" y="3388983"/>
            <a:ext cx="1460284" cy="728089"/>
          </a:xfrm>
          <a:prstGeom prst="triangle">
            <a:avLst>
              <a:gd name="adj" fmla="val 50000"/>
            </a:avLst>
          </a:prstGeom>
          <a:solidFill>
            <a:schemeClr val="lt1">
              <a:alpha val="62745"/>
            </a:schemeClr>
          </a:solidFill>
          <a:ln w="19050" cap="flat" cmpd="sng">
            <a:solidFill>
              <a:schemeClr val="accent3"/>
            </a:solidFill>
            <a:prstDash val="dash"/>
            <a:round/>
            <a:headEnd type="none" w="sm" len="sm"/>
            <a:tailEnd type="none" w="sm" len="sm"/>
          </a:ln>
          <a:effectLst>
            <a:outerShdw blurRad="50800" dist="50800" dir="5400000" algn="ctr" rotWithShape="0">
              <a:schemeClr val="accent1">
                <a:alpha val="38431"/>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543" name="Google Shape;8543;p76"/>
          <p:cNvSpPr txBox="1"/>
          <p:nvPr/>
        </p:nvSpPr>
        <p:spPr>
          <a:xfrm>
            <a:off x="4873912" y="1991040"/>
            <a:ext cx="2882199" cy="586314"/>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800">
                <a:solidFill>
                  <a:schemeClr val="dk2"/>
                </a:solidFill>
                <a:latin typeface="Arial"/>
                <a:ea typeface="Arial"/>
                <a:cs typeface="Arial"/>
                <a:sym typeface="Arial"/>
              </a:rPr>
              <a:t>VC Role</a:t>
            </a:r>
            <a:endParaRPr/>
          </a:p>
          <a:p>
            <a:pPr marL="0" marR="0" lvl="0" indent="0" algn="l" rtl="0">
              <a:lnSpc>
                <a:spcPct val="130000"/>
              </a:lnSpc>
              <a:spcBef>
                <a:spcPts val="0"/>
              </a:spcBef>
              <a:spcAft>
                <a:spcPts val="0"/>
              </a:spcAft>
              <a:buNone/>
            </a:pPr>
            <a:r>
              <a:rPr lang="en-US" sz="1200" b="0" i="0">
                <a:solidFill>
                  <a:srgbClr val="172B4D"/>
                </a:solidFill>
                <a:latin typeface="Courier New"/>
                <a:ea typeface="Courier New"/>
                <a:cs typeface="Courier New"/>
                <a:sym typeface="Courier New"/>
              </a:rPr>
              <a:t>vmware-system:Namespaces.Manage</a:t>
            </a:r>
            <a:endParaRPr sz="1200">
              <a:solidFill>
                <a:schemeClr val="dk2"/>
              </a:solidFill>
              <a:latin typeface="Courier New"/>
              <a:ea typeface="Courier New"/>
              <a:cs typeface="Courier New"/>
              <a:sym typeface="Courier New"/>
            </a:endParaRPr>
          </a:p>
        </p:txBody>
      </p:sp>
      <p:cxnSp>
        <p:nvCxnSpPr>
          <p:cNvPr id="8544" name="Google Shape;8544;p76"/>
          <p:cNvCxnSpPr/>
          <p:nvPr/>
        </p:nvCxnSpPr>
        <p:spPr>
          <a:xfrm>
            <a:off x="6247382" y="2788716"/>
            <a:ext cx="0" cy="874946"/>
          </a:xfrm>
          <a:prstGeom prst="straightConnector1">
            <a:avLst/>
          </a:prstGeom>
          <a:noFill/>
          <a:ln w="25400" cap="flat" cmpd="sng">
            <a:solidFill>
              <a:schemeClr val="accent5"/>
            </a:solidFill>
            <a:prstDash val="solid"/>
            <a:miter lim="800000"/>
            <a:headEnd type="none" w="sm" len="sm"/>
            <a:tailEnd type="triangle" w="med" len="med"/>
          </a:ln>
        </p:spPr>
      </p:cxnSp>
      <p:sp>
        <p:nvSpPr>
          <p:cNvPr id="8545" name="Google Shape;8545;p76"/>
          <p:cNvSpPr txBox="1"/>
          <p:nvPr/>
        </p:nvSpPr>
        <p:spPr>
          <a:xfrm>
            <a:off x="4873912" y="3802923"/>
            <a:ext cx="2882199" cy="586314"/>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800">
                <a:solidFill>
                  <a:schemeClr val="dk2"/>
                </a:solidFill>
                <a:latin typeface="Arial"/>
                <a:ea typeface="Arial"/>
                <a:cs typeface="Arial"/>
                <a:sym typeface="Arial"/>
              </a:rPr>
              <a:t>Kubernetes Role</a:t>
            </a:r>
            <a:endParaRPr/>
          </a:p>
          <a:p>
            <a:pPr marL="0" marR="0" lvl="0" indent="0" algn="l" rtl="0">
              <a:lnSpc>
                <a:spcPct val="130000"/>
              </a:lnSpc>
              <a:spcBef>
                <a:spcPts val="0"/>
              </a:spcBef>
              <a:spcAft>
                <a:spcPts val="0"/>
              </a:spcAft>
              <a:buNone/>
            </a:pPr>
            <a:r>
              <a:rPr lang="en-US" sz="1200" b="0" i="0">
                <a:solidFill>
                  <a:srgbClr val="172B4D"/>
                </a:solidFill>
                <a:latin typeface="Courier New"/>
                <a:ea typeface="Courier New"/>
                <a:cs typeface="Courier New"/>
                <a:sym typeface="Courier New"/>
              </a:rPr>
              <a:t>vmware-system:Namespaces.Manage</a:t>
            </a:r>
            <a:endParaRPr sz="1200">
              <a:solidFill>
                <a:schemeClr val="dk2"/>
              </a:solidFill>
              <a:latin typeface="Courier New"/>
              <a:ea typeface="Courier New"/>
              <a:cs typeface="Courier New"/>
              <a:sym typeface="Courier New"/>
            </a:endParaRPr>
          </a:p>
        </p:txBody>
      </p:sp>
      <p:sp>
        <p:nvSpPr>
          <p:cNvPr id="8546" name="Google Shape;8546;p76"/>
          <p:cNvSpPr txBox="1"/>
          <p:nvPr/>
        </p:nvSpPr>
        <p:spPr>
          <a:xfrm>
            <a:off x="467298" y="3009659"/>
            <a:ext cx="1240619" cy="534313"/>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400">
                <a:solidFill>
                  <a:schemeClr val="dk2"/>
                </a:solidFill>
                <a:latin typeface="Arial"/>
                <a:ea typeface="Arial"/>
                <a:cs typeface="Arial"/>
                <a:sym typeface="Arial"/>
              </a:rPr>
              <a:t>Supervisor</a:t>
            </a:r>
            <a:endParaRPr/>
          </a:p>
          <a:p>
            <a:pPr marL="0" marR="0" lvl="0" indent="0" algn="ctr" rtl="0">
              <a:lnSpc>
                <a:spcPct val="130000"/>
              </a:lnSpc>
              <a:spcBef>
                <a:spcPts val="0"/>
              </a:spcBef>
              <a:spcAft>
                <a:spcPts val="0"/>
              </a:spcAft>
              <a:buNone/>
            </a:pPr>
            <a:r>
              <a:rPr lang="en-US" sz="1400">
                <a:solidFill>
                  <a:schemeClr val="dk2"/>
                </a:solidFill>
                <a:latin typeface="Arial"/>
                <a:ea typeface="Arial"/>
                <a:cs typeface="Arial"/>
                <a:sym typeface="Arial"/>
              </a:rPr>
              <a:t>Administrator</a:t>
            </a:r>
            <a:endParaRPr sz="1400">
              <a:solidFill>
                <a:schemeClr val="dk2"/>
              </a:solidFill>
              <a:latin typeface="Arial"/>
              <a:ea typeface="Arial"/>
              <a:cs typeface="Arial"/>
              <a:sym typeface="Arial"/>
            </a:endParaRPr>
          </a:p>
        </p:txBody>
      </p:sp>
      <p:cxnSp>
        <p:nvCxnSpPr>
          <p:cNvPr id="8547" name="Google Shape;8547;p76"/>
          <p:cNvCxnSpPr/>
          <p:nvPr/>
        </p:nvCxnSpPr>
        <p:spPr>
          <a:xfrm>
            <a:off x="1783538" y="2507309"/>
            <a:ext cx="679443" cy="0"/>
          </a:xfrm>
          <a:prstGeom prst="straightConnector1">
            <a:avLst/>
          </a:prstGeom>
          <a:noFill/>
          <a:ln w="25400" cap="flat" cmpd="sng">
            <a:solidFill>
              <a:schemeClr val="accent5"/>
            </a:solidFill>
            <a:prstDash val="solid"/>
            <a:miter lim="800000"/>
            <a:headEnd type="none" w="sm" len="sm"/>
            <a:tailEnd type="triangle" w="med" len="med"/>
          </a:ln>
        </p:spPr>
      </p:cxnSp>
      <p:sp>
        <p:nvSpPr>
          <p:cNvPr id="8548" name="Google Shape;8548;p76"/>
          <p:cNvSpPr/>
          <p:nvPr/>
        </p:nvSpPr>
        <p:spPr>
          <a:xfrm>
            <a:off x="2618614" y="4549623"/>
            <a:ext cx="1456451" cy="462411"/>
          </a:xfrm>
          <a:prstGeom prst="roundRect">
            <a:avLst>
              <a:gd name="adj" fmla="val 16667"/>
            </a:avLst>
          </a:prstGeom>
          <a:solidFill>
            <a:schemeClr val="accent5"/>
          </a:solidFill>
          <a:ln>
            <a:noFill/>
          </a:ln>
        </p:spPr>
        <p:txBody>
          <a:bodyPr spcFirstLastPara="1" wrap="square" lIns="87700" tIns="43850" rIns="87700" bIns="43850" anchor="ctr" anchorCtr="0">
            <a:noAutofit/>
          </a:bodyPr>
          <a:lstStyle/>
          <a:p>
            <a:pPr marL="0" marR="0" lvl="0" indent="0" algn="ctr" rtl="0">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vSphere </a:t>
            </a:r>
            <a:br>
              <a:rPr lang="en-US" sz="1200">
                <a:solidFill>
                  <a:schemeClr val="lt1"/>
                </a:solidFill>
                <a:latin typeface="Arial"/>
                <a:ea typeface="Arial"/>
                <a:cs typeface="Arial"/>
                <a:sym typeface="Arial"/>
              </a:rPr>
            </a:br>
            <a:r>
              <a:rPr lang="en-US" sz="1200">
                <a:solidFill>
                  <a:schemeClr val="lt1"/>
                </a:solidFill>
                <a:latin typeface="Arial"/>
                <a:ea typeface="Arial"/>
                <a:cs typeface="Arial"/>
                <a:sym typeface="Arial"/>
              </a:rPr>
              <a:t>Namespace</a:t>
            </a:r>
            <a:endParaRPr sz="36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553"/>
        <p:cNvGrpSpPr/>
        <p:nvPr/>
      </p:nvGrpSpPr>
      <p:grpSpPr>
        <a:xfrm>
          <a:off x="0" y="0"/>
          <a:ext cx="0" cy="0"/>
          <a:chOff x="0" y="0"/>
          <a:chExt cx="0" cy="0"/>
        </a:xfrm>
      </p:grpSpPr>
      <p:sp>
        <p:nvSpPr>
          <p:cNvPr id="8554" name="Google Shape;8554;p7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Update vSphere Supervisor independently</a:t>
            </a:r>
            <a:endParaRPr/>
          </a:p>
        </p:txBody>
      </p:sp>
      <p:sp>
        <p:nvSpPr>
          <p:cNvPr id="8555" name="Google Shape;8555;p7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Delivering Asynchronous Supervisor Releases</a:t>
            </a:r>
            <a:endParaRPr/>
          </a:p>
        </p:txBody>
      </p:sp>
      <p:sp>
        <p:nvSpPr>
          <p:cNvPr id="8556" name="Google Shape;8556;p77"/>
          <p:cNvSpPr txBox="1">
            <a:spLocks noGrp="1"/>
          </p:cNvSpPr>
          <p:nvPr>
            <p:ph type="body" idx="2"/>
          </p:nvPr>
        </p:nvSpPr>
        <p:spPr>
          <a:xfrm>
            <a:off x="9294812" y="1609531"/>
            <a:ext cx="2894013" cy="4572000"/>
          </a:xfrm>
          <a:prstGeom prst="rect">
            <a:avLst/>
          </a:prstGeom>
          <a:solidFill>
            <a:srgbClr val="F4F8FA"/>
          </a:solidFill>
          <a:ln>
            <a:noFill/>
          </a:ln>
        </p:spPr>
        <p:txBody>
          <a:bodyPr spcFirstLastPara="1" wrap="square" lIns="274300" tIns="457200" rIns="457200" bIns="457200" anchor="t" anchorCtr="0">
            <a:noAutofit/>
          </a:bodyPr>
          <a:lstStyle/>
          <a:p>
            <a:pPr marL="0" lvl="0" indent="0" algn="l" rtl="0">
              <a:lnSpc>
                <a:spcPct val="100000"/>
              </a:lnSpc>
              <a:spcBef>
                <a:spcPts val="0"/>
              </a:spcBef>
              <a:spcAft>
                <a:spcPts val="0"/>
              </a:spcAft>
              <a:buSzPts val="1620"/>
              <a:buNone/>
            </a:pPr>
            <a:r>
              <a:rPr lang="en-US" sz="1600"/>
              <a:t>Update Supervisor control plane independently of vCenter</a:t>
            </a:r>
            <a:endParaRPr sz="1600"/>
          </a:p>
          <a:p>
            <a:pPr marL="0" lvl="0" indent="0" algn="l" rtl="0">
              <a:lnSpc>
                <a:spcPct val="100000"/>
              </a:lnSpc>
              <a:spcBef>
                <a:spcPts val="1200"/>
              </a:spcBef>
              <a:spcAft>
                <a:spcPts val="0"/>
              </a:spcAft>
              <a:buSzPts val="1620"/>
              <a:buNone/>
            </a:pPr>
            <a:r>
              <a:rPr lang="en-US" sz="1600"/>
              <a:t>Subscribe to Broadcom depot or manage an offline Content Library to deliver updates</a:t>
            </a:r>
            <a:endParaRPr sz="1600"/>
          </a:p>
          <a:p>
            <a:pPr marL="0" lvl="0" indent="0" algn="l" rtl="0">
              <a:lnSpc>
                <a:spcPct val="100000"/>
              </a:lnSpc>
              <a:spcBef>
                <a:spcPts val="1200"/>
              </a:spcBef>
              <a:spcAft>
                <a:spcPts val="0"/>
              </a:spcAft>
              <a:buSzPts val="1620"/>
              <a:buNone/>
            </a:pPr>
            <a:r>
              <a:rPr lang="en-US" sz="1600" b="1">
                <a:solidFill>
                  <a:schemeClr val="accent2"/>
                </a:solidFill>
              </a:rPr>
              <a:t>Faster delivery of Supervisor releases and new functionality</a:t>
            </a:r>
            <a:endParaRPr sz="1600"/>
          </a:p>
        </p:txBody>
      </p:sp>
      <p:grpSp>
        <p:nvGrpSpPr>
          <p:cNvPr id="8557" name="Google Shape;8557;p77"/>
          <p:cNvGrpSpPr/>
          <p:nvPr/>
        </p:nvGrpSpPr>
        <p:grpSpPr>
          <a:xfrm>
            <a:off x="775740" y="3774475"/>
            <a:ext cx="7215428" cy="728099"/>
            <a:chOff x="775740" y="3774475"/>
            <a:chExt cx="7029296" cy="728099"/>
          </a:xfrm>
        </p:grpSpPr>
        <p:grpSp>
          <p:nvGrpSpPr>
            <p:cNvPr id="8558" name="Google Shape;8558;p77"/>
            <p:cNvGrpSpPr/>
            <p:nvPr/>
          </p:nvGrpSpPr>
          <p:grpSpPr>
            <a:xfrm>
              <a:off x="775740" y="3774475"/>
              <a:ext cx="7029296" cy="728099"/>
              <a:chOff x="775740" y="3774475"/>
              <a:chExt cx="7029296" cy="728099"/>
            </a:xfrm>
          </p:grpSpPr>
          <p:sp>
            <p:nvSpPr>
              <p:cNvPr id="8559" name="Google Shape;8559;p77"/>
              <p:cNvSpPr/>
              <p:nvPr/>
            </p:nvSpPr>
            <p:spPr>
              <a:xfrm>
                <a:off x="775740" y="3774475"/>
                <a:ext cx="7029296" cy="728099"/>
              </a:xfrm>
              <a:prstGeom prst="roundRect">
                <a:avLst>
                  <a:gd name="adj" fmla="val 50000"/>
                </a:avLst>
              </a:prstGeom>
              <a:solidFill>
                <a:schemeClr val="lt1"/>
              </a:solidFill>
              <a:ln w="12700" cap="flat" cmpd="sng">
                <a:solidFill>
                  <a:schemeClr val="accent5"/>
                </a:solidFill>
                <a:prstDash val="dot"/>
                <a:round/>
                <a:headEnd type="none" w="sm" len="sm"/>
                <a:tailEnd type="none" w="sm" len="sm"/>
              </a:ln>
            </p:spPr>
            <p:txBody>
              <a:bodyPr spcFirstLastPara="1" wrap="square" lIns="91400" tIns="45700" rIns="91400" bIns="45700" anchor="ctr" anchorCtr="0">
                <a:noAutofit/>
              </a:bodyPr>
              <a:lstStyle/>
              <a:p>
                <a:pPr marL="0" marR="0" lvl="0" indent="0" algn="l" rtl="0">
                  <a:spcBef>
                    <a:spcPts val="0"/>
                  </a:spcBef>
                  <a:spcAft>
                    <a:spcPts val="0"/>
                  </a:spcAft>
                  <a:buClr>
                    <a:schemeClr val="dk1"/>
                  </a:buClr>
                  <a:buSzPts val="900"/>
                  <a:buFont typeface="Arial"/>
                  <a:buNone/>
                </a:pPr>
                <a:endParaRPr sz="900">
                  <a:solidFill>
                    <a:schemeClr val="accent4"/>
                  </a:solidFill>
                  <a:latin typeface="Arial"/>
                  <a:ea typeface="Arial"/>
                  <a:cs typeface="Arial"/>
                  <a:sym typeface="Arial"/>
                </a:endParaRPr>
              </a:p>
            </p:txBody>
          </p:sp>
          <p:sp>
            <p:nvSpPr>
              <p:cNvPr id="8560" name="Google Shape;8560;p77"/>
              <p:cNvSpPr txBox="1"/>
              <p:nvPr/>
            </p:nvSpPr>
            <p:spPr>
              <a:xfrm>
                <a:off x="3016701" y="4051170"/>
                <a:ext cx="2567164" cy="290530"/>
              </a:xfrm>
              <a:prstGeom prst="rect">
                <a:avLst/>
              </a:prstGeom>
              <a:noFill/>
              <a:ln>
                <a:noFill/>
              </a:ln>
            </p:spPr>
            <p:txBody>
              <a:bodyPr spcFirstLastPara="1" wrap="square" lIns="0" tIns="0" rIns="0" bIns="0" anchor="ctr" anchorCtr="0">
                <a:spAutoFit/>
              </a:bodyPr>
              <a:lstStyle/>
              <a:p>
                <a:pPr marL="0" marR="0" lvl="0" indent="0" algn="l" rtl="0">
                  <a:lnSpc>
                    <a:spcPct val="13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Supervisor Control Plane</a:t>
                </a:r>
                <a:endParaRPr sz="1800">
                  <a:solidFill>
                    <a:schemeClr val="dk1"/>
                  </a:solidFill>
                  <a:latin typeface="Arial"/>
                  <a:ea typeface="Arial"/>
                  <a:cs typeface="Arial"/>
                  <a:sym typeface="Arial"/>
                </a:endParaRPr>
              </a:p>
            </p:txBody>
          </p:sp>
        </p:grpSp>
        <p:grpSp>
          <p:nvGrpSpPr>
            <p:cNvPr id="8561" name="Google Shape;8561;p77"/>
            <p:cNvGrpSpPr/>
            <p:nvPr/>
          </p:nvGrpSpPr>
          <p:grpSpPr>
            <a:xfrm>
              <a:off x="793996" y="3795660"/>
              <a:ext cx="688080" cy="688080"/>
              <a:chOff x="3979139" y="1600203"/>
              <a:chExt cx="1237269" cy="1237269"/>
            </a:xfrm>
          </p:grpSpPr>
          <p:sp>
            <p:nvSpPr>
              <p:cNvPr id="8562" name="Google Shape;8562;p77"/>
              <p:cNvSpPr/>
              <p:nvPr/>
            </p:nvSpPr>
            <p:spPr>
              <a:xfrm>
                <a:off x="3979139" y="1600203"/>
                <a:ext cx="1237269" cy="1237269"/>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563" name="Google Shape;8563;p77"/>
              <p:cNvSpPr/>
              <p:nvPr/>
            </p:nvSpPr>
            <p:spPr>
              <a:xfrm>
                <a:off x="4208113" y="1830217"/>
                <a:ext cx="777585" cy="777240"/>
              </a:xfrm>
              <a:custGeom>
                <a:avLst/>
                <a:gdLst/>
                <a:ahLst/>
                <a:cxnLst/>
                <a:rect l="l" t="t" r="r" b="b"/>
                <a:pathLst>
                  <a:path w="1373429" h="1372819" extrusionOk="0">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sp>
        <p:nvSpPr>
          <p:cNvPr id="8564" name="Google Shape;8564;p77"/>
          <p:cNvSpPr/>
          <p:nvPr/>
        </p:nvSpPr>
        <p:spPr>
          <a:xfrm>
            <a:off x="608012" y="4796817"/>
            <a:ext cx="7383156" cy="728100"/>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Arial"/>
              <a:buNone/>
            </a:pPr>
            <a:endParaRPr sz="1600">
              <a:solidFill>
                <a:srgbClr val="000000"/>
              </a:solidFill>
              <a:latin typeface="Arial"/>
              <a:ea typeface="Arial"/>
              <a:cs typeface="Arial"/>
              <a:sym typeface="Arial"/>
            </a:endParaRPr>
          </a:p>
        </p:txBody>
      </p:sp>
      <p:sp>
        <p:nvSpPr>
          <p:cNvPr id="8565" name="Google Shape;8565;p77"/>
          <p:cNvSpPr/>
          <p:nvPr/>
        </p:nvSpPr>
        <p:spPr>
          <a:xfrm>
            <a:off x="775740" y="4585571"/>
            <a:ext cx="7087048"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Arial"/>
              <a:buNone/>
            </a:pPr>
            <a:r>
              <a:rPr lang="en-US" sz="1600">
                <a:solidFill>
                  <a:srgbClr val="FFFFFF"/>
                </a:solidFill>
                <a:latin typeface="Arial"/>
                <a:ea typeface="Arial"/>
                <a:cs typeface="Arial"/>
                <a:sym typeface="Arial"/>
              </a:rPr>
              <a:t>Supervisor</a:t>
            </a:r>
            <a:endParaRPr sz="1600">
              <a:solidFill>
                <a:srgbClr val="FFFFFF"/>
              </a:solidFill>
              <a:latin typeface="Arial"/>
              <a:ea typeface="Arial"/>
              <a:cs typeface="Arial"/>
              <a:sym typeface="Arial"/>
            </a:endParaRPr>
          </a:p>
        </p:txBody>
      </p:sp>
      <p:grpSp>
        <p:nvGrpSpPr>
          <p:cNvPr id="8566" name="Google Shape;8566;p77"/>
          <p:cNvGrpSpPr/>
          <p:nvPr/>
        </p:nvGrpSpPr>
        <p:grpSpPr>
          <a:xfrm>
            <a:off x="2165538" y="5248258"/>
            <a:ext cx="4112147" cy="689441"/>
            <a:chOff x="2405766" y="5259142"/>
            <a:chExt cx="4112147" cy="689441"/>
          </a:xfrm>
        </p:grpSpPr>
        <p:sp>
          <p:nvSpPr>
            <p:cNvPr id="8567" name="Google Shape;8567;p77"/>
            <p:cNvSpPr/>
            <p:nvPr/>
          </p:nvSpPr>
          <p:spPr>
            <a:xfrm>
              <a:off x="2938065" y="545585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sp>
          <p:nvSpPr>
            <p:cNvPr id="8568" name="Google Shape;8568;p77"/>
            <p:cNvSpPr/>
            <p:nvPr/>
          </p:nvSpPr>
          <p:spPr>
            <a:xfrm>
              <a:off x="4258229" y="5455853"/>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005B84"/>
                </a:solidFill>
                <a:latin typeface="Arial"/>
                <a:ea typeface="Arial"/>
                <a:cs typeface="Arial"/>
                <a:sym typeface="Arial"/>
              </a:endParaRPr>
            </a:p>
          </p:txBody>
        </p:sp>
        <p:sp>
          <p:nvSpPr>
            <p:cNvPr id="8569" name="Google Shape;8569;p77"/>
            <p:cNvSpPr/>
            <p:nvPr/>
          </p:nvSpPr>
          <p:spPr>
            <a:xfrm>
              <a:off x="5489535" y="5259142"/>
              <a:ext cx="484800" cy="4848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FFFFFF"/>
                </a:solidFill>
                <a:latin typeface="Arial"/>
                <a:ea typeface="Arial"/>
                <a:cs typeface="Arial"/>
                <a:sym typeface="Arial"/>
              </a:endParaRPr>
            </a:p>
          </p:txBody>
        </p:sp>
        <p:grpSp>
          <p:nvGrpSpPr>
            <p:cNvPr id="8570" name="Google Shape;8570;p77"/>
            <p:cNvGrpSpPr/>
            <p:nvPr/>
          </p:nvGrpSpPr>
          <p:grpSpPr>
            <a:xfrm>
              <a:off x="3008711" y="5320076"/>
              <a:ext cx="343511" cy="343503"/>
              <a:chOff x="3822556" y="5087301"/>
              <a:chExt cx="611339" cy="557273"/>
            </a:xfrm>
          </p:grpSpPr>
          <p:sp>
            <p:nvSpPr>
              <p:cNvPr id="8571" name="Google Shape;8571;p77"/>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572" name="Google Shape;8572;p77"/>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573" name="Google Shape;8573;p77"/>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grpSp>
        <p:sp>
          <p:nvSpPr>
            <p:cNvPr id="8574" name="Google Shape;8574;p77"/>
            <p:cNvSpPr/>
            <p:nvPr/>
          </p:nvSpPr>
          <p:spPr>
            <a:xfrm>
              <a:off x="5545710" y="5296016"/>
              <a:ext cx="377671" cy="377671"/>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575" name="Google Shape;8575;p77"/>
            <p:cNvSpPr/>
            <p:nvPr/>
          </p:nvSpPr>
          <p:spPr>
            <a:xfrm>
              <a:off x="4326165" y="5320056"/>
              <a:ext cx="307674" cy="34387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rgbClr val="000000"/>
                </a:solidFill>
                <a:latin typeface="Arial"/>
                <a:ea typeface="Arial"/>
                <a:cs typeface="Arial"/>
                <a:sym typeface="Arial"/>
              </a:endParaRPr>
            </a:p>
          </p:txBody>
        </p:sp>
        <p:sp>
          <p:nvSpPr>
            <p:cNvPr id="8576" name="Google Shape;8576;p77"/>
            <p:cNvSpPr txBox="1"/>
            <p:nvPr/>
          </p:nvSpPr>
          <p:spPr>
            <a:xfrm>
              <a:off x="2405766" y="5779306"/>
              <a:ext cx="1562400" cy="1692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5B84"/>
                </a:buClr>
                <a:buSzPts val="1100"/>
                <a:buFont typeface="Arial"/>
                <a:buNone/>
              </a:pPr>
              <a:r>
                <a:rPr lang="en-US" sz="1100" u="none" strike="noStrike" cap="none">
                  <a:solidFill>
                    <a:srgbClr val="005B84"/>
                  </a:solidFill>
                  <a:latin typeface="Arial"/>
                  <a:ea typeface="Arial"/>
                  <a:cs typeface="Arial"/>
                  <a:sym typeface="Arial"/>
                </a:rPr>
                <a:t>Compute </a:t>
              </a:r>
              <a:endParaRPr sz="1400" u="none" strike="noStrike" cap="none">
                <a:solidFill>
                  <a:srgbClr val="000000"/>
                </a:solidFill>
                <a:latin typeface="Arial"/>
                <a:ea typeface="Arial"/>
                <a:cs typeface="Arial"/>
                <a:sym typeface="Arial"/>
              </a:endParaRPr>
            </a:p>
          </p:txBody>
        </p:sp>
        <p:sp>
          <p:nvSpPr>
            <p:cNvPr id="8577" name="Google Shape;8577;p77"/>
            <p:cNvSpPr txBox="1"/>
            <p:nvPr/>
          </p:nvSpPr>
          <p:spPr>
            <a:xfrm>
              <a:off x="4955513" y="5779306"/>
              <a:ext cx="1562400" cy="1692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5B84"/>
                </a:buClr>
                <a:buSzPts val="1100"/>
                <a:buFont typeface="Arial"/>
                <a:buNone/>
              </a:pPr>
              <a:r>
                <a:rPr lang="en-US" sz="1100" u="none" strike="noStrike" cap="none">
                  <a:solidFill>
                    <a:srgbClr val="005B84"/>
                  </a:solidFill>
                  <a:latin typeface="Arial"/>
                  <a:ea typeface="Arial"/>
                  <a:cs typeface="Arial"/>
                  <a:sym typeface="Arial"/>
                </a:rPr>
                <a:t>Networking </a:t>
              </a:r>
              <a:endParaRPr sz="1400" u="none" strike="noStrike" cap="none">
                <a:solidFill>
                  <a:srgbClr val="000000"/>
                </a:solidFill>
                <a:latin typeface="Arial"/>
                <a:ea typeface="Arial"/>
                <a:cs typeface="Arial"/>
                <a:sym typeface="Arial"/>
              </a:endParaRPr>
            </a:p>
          </p:txBody>
        </p:sp>
        <p:sp>
          <p:nvSpPr>
            <p:cNvPr id="8578" name="Google Shape;8578;p77"/>
            <p:cNvSpPr txBox="1"/>
            <p:nvPr/>
          </p:nvSpPr>
          <p:spPr>
            <a:xfrm>
              <a:off x="3698622" y="5779306"/>
              <a:ext cx="1562400" cy="1692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5B84"/>
                </a:buClr>
                <a:buSzPts val="1100"/>
                <a:buFont typeface="Arial"/>
                <a:buNone/>
              </a:pPr>
              <a:r>
                <a:rPr lang="en-US" sz="1100" u="none" strike="noStrike" cap="none">
                  <a:solidFill>
                    <a:srgbClr val="005B84"/>
                  </a:solidFill>
                  <a:latin typeface="Arial"/>
                  <a:ea typeface="Arial"/>
                  <a:cs typeface="Arial"/>
                  <a:sym typeface="Arial"/>
                </a:rPr>
                <a:t>Storage </a:t>
              </a:r>
              <a:endParaRPr sz="1400" u="none" strike="noStrike" cap="none">
                <a:solidFill>
                  <a:srgbClr val="000000"/>
                </a:solidFill>
                <a:latin typeface="Arial"/>
                <a:ea typeface="Arial"/>
                <a:cs typeface="Arial"/>
                <a:sym typeface="Arial"/>
              </a:endParaRPr>
            </a:p>
          </p:txBody>
        </p:sp>
      </p:grpSp>
      <p:grpSp>
        <p:nvGrpSpPr>
          <p:cNvPr id="8579" name="Google Shape;8579;p77"/>
          <p:cNvGrpSpPr/>
          <p:nvPr/>
        </p:nvGrpSpPr>
        <p:grpSpPr>
          <a:xfrm flipH="1">
            <a:off x="4837471" y="2191284"/>
            <a:ext cx="2172931" cy="283453"/>
            <a:chOff x="4297968" y="5156181"/>
            <a:chExt cx="7127462" cy="203200"/>
          </a:xfrm>
        </p:grpSpPr>
        <p:sp>
          <p:nvSpPr>
            <p:cNvPr id="8580" name="Google Shape;8580;p77"/>
            <p:cNvSpPr/>
            <p:nvPr/>
          </p:nvSpPr>
          <p:spPr>
            <a:xfrm rot="5400000">
              <a:off x="7760099" y="1694050"/>
              <a:ext cx="203200" cy="7127462"/>
            </a:xfrm>
            <a:prstGeom prst="rect">
              <a:avLst/>
            </a:prstGeom>
            <a:solidFill>
              <a:schemeClr val="accent2">
                <a:alpha val="4941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cxnSp>
          <p:nvCxnSpPr>
            <p:cNvPr id="8581" name="Google Shape;8581;p77"/>
            <p:cNvCxnSpPr/>
            <p:nvPr/>
          </p:nvCxnSpPr>
          <p:spPr>
            <a:xfrm>
              <a:off x="5104640" y="5257779"/>
              <a:ext cx="5719470" cy="0"/>
            </a:xfrm>
            <a:prstGeom prst="straightConnector1">
              <a:avLst/>
            </a:prstGeom>
            <a:noFill/>
            <a:ln w="25400" cap="rnd" cmpd="sng">
              <a:solidFill>
                <a:schemeClr val="lt2"/>
              </a:solidFill>
              <a:prstDash val="dot"/>
              <a:miter lim="800000"/>
              <a:headEnd type="none" w="sm" len="sm"/>
              <a:tailEnd type="triangle" w="med" len="med"/>
            </a:ln>
          </p:spPr>
        </p:cxnSp>
      </p:grpSp>
      <p:grpSp>
        <p:nvGrpSpPr>
          <p:cNvPr id="8582" name="Google Shape;8582;p77"/>
          <p:cNvGrpSpPr/>
          <p:nvPr/>
        </p:nvGrpSpPr>
        <p:grpSpPr>
          <a:xfrm>
            <a:off x="6751094" y="1812320"/>
            <a:ext cx="1240074" cy="1357963"/>
            <a:chOff x="6558660" y="1830324"/>
            <a:chExt cx="1240074" cy="1357963"/>
          </a:xfrm>
        </p:grpSpPr>
        <p:sp>
          <p:nvSpPr>
            <p:cNvPr id="8583" name="Google Shape;8583;p77"/>
            <p:cNvSpPr txBox="1"/>
            <p:nvPr/>
          </p:nvSpPr>
          <p:spPr>
            <a:xfrm>
              <a:off x="6558660" y="2588123"/>
              <a:ext cx="1240074" cy="6001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666666"/>
                </a:buClr>
                <a:buSzPts val="990"/>
                <a:buFont typeface="Arial"/>
                <a:buNone/>
              </a:pPr>
              <a:br>
                <a:rPr lang="en-US" sz="1100" b="1" cap="none">
                  <a:solidFill>
                    <a:schemeClr val="accent2"/>
                  </a:solidFill>
                  <a:latin typeface="Arial"/>
                  <a:ea typeface="Arial"/>
                  <a:cs typeface="Arial"/>
                  <a:sym typeface="Arial"/>
                </a:rPr>
              </a:br>
              <a:r>
                <a:rPr lang="en-US" sz="1100" b="1" cap="none">
                  <a:solidFill>
                    <a:schemeClr val="accent2"/>
                  </a:solidFill>
                  <a:latin typeface="Arial"/>
                  <a:ea typeface="Arial"/>
                  <a:cs typeface="Arial"/>
                  <a:sym typeface="Arial"/>
                </a:rPr>
                <a:t>PLATFORM ADMIN</a:t>
              </a:r>
              <a:endParaRPr sz="1800">
                <a:solidFill>
                  <a:schemeClr val="dk1"/>
                </a:solidFill>
                <a:latin typeface="Arial"/>
                <a:ea typeface="Arial"/>
                <a:cs typeface="Arial"/>
                <a:sym typeface="Arial"/>
              </a:endParaRPr>
            </a:p>
          </p:txBody>
        </p:sp>
        <p:grpSp>
          <p:nvGrpSpPr>
            <p:cNvPr id="8584" name="Google Shape;8584;p77"/>
            <p:cNvGrpSpPr/>
            <p:nvPr/>
          </p:nvGrpSpPr>
          <p:grpSpPr>
            <a:xfrm>
              <a:off x="6709352" y="1830324"/>
              <a:ext cx="938690" cy="938690"/>
              <a:chOff x="6916620" y="4795817"/>
              <a:chExt cx="1213482" cy="1212870"/>
            </a:xfrm>
          </p:grpSpPr>
          <p:sp>
            <p:nvSpPr>
              <p:cNvPr id="8585" name="Google Shape;8585;p77"/>
              <p:cNvSpPr/>
              <p:nvPr/>
            </p:nvSpPr>
            <p:spPr>
              <a:xfrm>
                <a:off x="6916620" y="4795817"/>
                <a:ext cx="1213482" cy="1212870"/>
              </a:xfrm>
              <a:prstGeom prst="ellipse">
                <a:avLst/>
              </a:prstGeom>
              <a:solidFill>
                <a:schemeClr val="lt1"/>
              </a:solidFill>
              <a:ln>
                <a:noFill/>
              </a:ln>
            </p:spPr>
            <p:txBody>
              <a:bodyPr spcFirstLastPara="1" wrap="square" lIns="103400" tIns="51700" rIns="103400" bIns="51700"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FFFFFF"/>
                  </a:solidFill>
                  <a:latin typeface="Arial"/>
                  <a:ea typeface="Arial"/>
                  <a:cs typeface="Arial"/>
                  <a:sym typeface="Arial"/>
                </a:endParaRPr>
              </a:p>
            </p:txBody>
          </p:sp>
          <p:pic>
            <p:nvPicPr>
              <p:cNvPr id="8586" name="Google Shape;8586;p77"/>
              <p:cNvPicPr preferRelativeResize="0"/>
              <p:nvPr/>
            </p:nvPicPr>
            <p:blipFill rotWithShape="1">
              <a:blip r:embed="rId3">
                <a:alphaModFix/>
              </a:blip>
              <a:srcRect l="7671" t="-4751" r="11487" b="30786"/>
              <a:stretch/>
            </p:blipFill>
            <p:spPr>
              <a:xfrm>
                <a:off x="6916926" y="4795817"/>
                <a:ext cx="1212870" cy="1212870"/>
              </a:xfrm>
              <a:prstGeom prst="ellipse">
                <a:avLst/>
              </a:prstGeom>
              <a:noFill/>
              <a:ln>
                <a:noFill/>
              </a:ln>
            </p:spPr>
          </p:pic>
          <p:sp>
            <p:nvSpPr>
              <p:cNvPr id="8587" name="Google Shape;8587;p77"/>
              <p:cNvSpPr/>
              <p:nvPr/>
            </p:nvSpPr>
            <p:spPr>
              <a:xfrm>
                <a:off x="6916620" y="4795817"/>
                <a:ext cx="1213482" cy="1212870"/>
              </a:xfrm>
              <a:prstGeom prst="ellipse">
                <a:avLst/>
              </a:prstGeom>
              <a:noFill/>
              <a:ln w="25400" cap="flat" cmpd="sng">
                <a:solidFill>
                  <a:schemeClr val="accent2"/>
                </a:solidFill>
                <a:prstDash val="solid"/>
                <a:round/>
                <a:headEnd type="none" w="sm" len="sm"/>
                <a:tailEnd type="none" w="sm" len="sm"/>
              </a:ln>
            </p:spPr>
            <p:txBody>
              <a:bodyPr spcFirstLastPara="1" wrap="square" lIns="103400" tIns="51700" rIns="103400" bIns="51700"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FFFFFF"/>
                  </a:solidFill>
                  <a:latin typeface="Arial"/>
                  <a:ea typeface="Arial"/>
                  <a:cs typeface="Arial"/>
                  <a:sym typeface="Arial"/>
                </a:endParaRPr>
              </a:p>
            </p:txBody>
          </p:sp>
        </p:grpSp>
      </p:grpSp>
      <p:grpSp>
        <p:nvGrpSpPr>
          <p:cNvPr id="8588" name="Google Shape;8588;p77"/>
          <p:cNvGrpSpPr/>
          <p:nvPr/>
        </p:nvGrpSpPr>
        <p:grpSpPr>
          <a:xfrm>
            <a:off x="1508142" y="2207848"/>
            <a:ext cx="2454368" cy="283453"/>
            <a:chOff x="5104640" y="5156182"/>
            <a:chExt cx="4249953" cy="203200"/>
          </a:xfrm>
        </p:grpSpPr>
        <p:sp>
          <p:nvSpPr>
            <p:cNvPr id="8589" name="Google Shape;8589;p77"/>
            <p:cNvSpPr/>
            <p:nvPr/>
          </p:nvSpPr>
          <p:spPr>
            <a:xfrm rot="5400000">
              <a:off x="7128017" y="3132806"/>
              <a:ext cx="203200" cy="4249951"/>
            </a:xfrm>
            <a:prstGeom prst="rect">
              <a:avLst/>
            </a:prstGeom>
            <a:solidFill>
              <a:schemeClr val="accent5">
                <a:alpha val="4941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cxnSp>
          <p:nvCxnSpPr>
            <p:cNvPr id="8590" name="Google Shape;8590;p77"/>
            <p:cNvCxnSpPr/>
            <p:nvPr/>
          </p:nvCxnSpPr>
          <p:spPr>
            <a:xfrm>
              <a:off x="5104640" y="5257779"/>
              <a:ext cx="3843770" cy="0"/>
            </a:xfrm>
            <a:prstGeom prst="straightConnector1">
              <a:avLst/>
            </a:prstGeom>
            <a:noFill/>
            <a:ln w="25400" cap="rnd" cmpd="sng">
              <a:solidFill>
                <a:schemeClr val="lt2"/>
              </a:solidFill>
              <a:prstDash val="dot"/>
              <a:miter lim="800000"/>
              <a:headEnd type="none" w="sm" len="sm"/>
              <a:tailEnd type="triangle" w="med" len="med"/>
            </a:ln>
          </p:spPr>
        </p:cxnSp>
      </p:grpSp>
      <p:sp>
        <p:nvSpPr>
          <p:cNvPr id="8591" name="Google Shape;8591;p77"/>
          <p:cNvSpPr txBox="1"/>
          <p:nvPr/>
        </p:nvSpPr>
        <p:spPr>
          <a:xfrm>
            <a:off x="768234" y="2849569"/>
            <a:ext cx="943877" cy="458587"/>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Clr>
                <a:schemeClr val="accent5"/>
              </a:buClr>
              <a:buSzPts val="1200"/>
              <a:buFont typeface="Arial"/>
              <a:buNone/>
            </a:pPr>
            <a:r>
              <a:rPr lang="en-US" sz="1200" b="1">
                <a:solidFill>
                  <a:schemeClr val="accent5"/>
                </a:solidFill>
                <a:latin typeface="Arial"/>
                <a:ea typeface="Arial"/>
                <a:cs typeface="Arial"/>
                <a:sym typeface="Arial"/>
              </a:rPr>
              <a:t>BROADCOM CDN</a:t>
            </a:r>
            <a:endParaRPr sz="1800">
              <a:solidFill>
                <a:schemeClr val="dk1"/>
              </a:solidFill>
              <a:latin typeface="Arial"/>
              <a:ea typeface="Arial"/>
              <a:cs typeface="Arial"/>
              <a:sym typeface="Arial"/>
            </a:endParaRPr>
          </a:p>
        </p:txBody>
      </p:sp>
      <p:sp>
        <p:nvSpPr>
          <p:cNvPr id="8592" name="Google Shape;8592;p77"/>
          <p:cNvSpPr/>
          <p:nvPr/>
        </p:nvSpPr>
        <p:spPr>
          <a:xfrm flipH="1">
            <a:off x="793996" y="1876842"/>
            <a:ext cx="945467" cy="940433"/>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pic>
        <p:nvPicPr>
          <p:cNvPr id="8593" name="Google Shape;8593;p77"/>
          <p:cNvPicPr preferRelativeResize="0"/>
          <p:nvPr/>
        </p:nvPicPr>
        <p:blipFill rotWithShape="1">
          <a:blip r:embed="rId4">
            <a:alphaModFix/>
          </a:blip>
          <a:srcRect/>
          <a:stretch/>
        </p:blipFill>
        <p:spPr>
          <a:xfrm>
            <a:off x="873029" y="1943506"/>
            <a:ext cx="787400" cy="787400"/>
          </a:xfrm>
          <a:prstGeom prst="rect">
            <a:avLst/>
          </a:prstGeom>
          <a:noFill/>
          <a:ln>
            <a:noFill/>
          </a:ln>
        </p:spPr>
      </p:pic>
      <p:grpSp>
        <p:nvGrpSpPr>
          <p:cNvPr id="8594" name="Google Shape;8594;p77"/>
          <p:cNvGrpSpPr/>
          <p:nvPr/>
        </p:nvGrpSpPr>
        <p:grpSpPr>
          <a:xfrm>
            <a:off x="4007671" y="3127285"/>
            <a:ext cx="763012" cy="763012"/>
            <a:chOff x="7745781" y="4678985"/>
            <a:chExt cx="1096994" cy="1096994"/>
          </a:xfrm>
        </p:grpSpPr>
        <p:sp>
          <p:nvSpPr>
            <p:cNvPr id="8595" name="Google Shape;8595;p77"/>
            <p:cNvSpPr/>
            <p:nvPr/>
          </p:nvSpPr>
          <p:spPr>
            <a:xfrm>
              <a:off x="7745781" y="4678985"/>
              <a:ext cx="1096994" cy="1096994"/>
            </a:xfrm>
            <a:prstGeom prst="ellipse">
              <a:avLst/>
            </a:prstGeom>
            <a:solidFill>
              <a:srgbClr val="E68C28"/>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1999"/>
                <a:buFont typeface="Arial"/>
                <a:buNone/>
              </a:pPr>
              <a:endParaRPr sz="1999" b="1">
                <a:solidFill>
                  <a:srgbClr val="FFFFFF"/>
                </a:solidFill>
                <a:latin typeface="Arial"/>
                <a:ea typeface="Arial"/>
                <a:cs typeface="Arial"/>
                <a:sym typeface="Arial"/>
              </a:endParaRPr>
            </a:p>
          </p:txBody>
        </p:sp>
        <p:pic>
          <p:nvPicPr>
            <p:cNvPr id="8596" name="Google Shape;8596;p77"/>
            <p:cNvPicPr preferRelativeResize="0"/>
            <p:nvPr/>
          </p:nvPicPr>
          <p:blipFill rotWithShape="1">
            <a:blip r:embed="rId5">
              <a:alphaModFix/>
            </a:blip>
            <a:srcRect/>
            <a:stretch/>
          </p:blipFill>
          <p:spPr>
            <a:xfrm>
              <a:off x="7895967" y="4855299"/>
              <a:ext cx="793778" cy="793778"/>
            </a:xfrm>
            <a:prstGeom prst="rect">
              <a:avLst/>
            </a:prstGeom>
            <a:noFill/>
            <a:ln>
              <a:noFill/>
            </a:ln>
          </p:spPr>
        </p:pic>
      </p:grpSp>
      <p:pic>
        <p:nvPicPr>
          <p:cNvPr id="8597" name="Google Shape;8597;p77"/>
          <p:cNvPicPr preferRelativeResize="0"/>
          <p:nvPr/>
        </p:nvPicPr>
        <p:blipFill rotWithShape="1">
          <a:blip r:embed="rId6">
            <a:alphaModFix/>
          </a:blip>
          <a:srcRect/>
          <a:stretch/>
        </p:blipFill>
        <p:spPr>
          <a:xfrm>
            <a:off x="5718101" y="1662926"/>
            <a:ext cx="707693" cy="707693"/>
          </a:xfrm>
          <a:prstGeom prst="rect">
            <a:avLst/>
          </a:prstGeom>
          <a:noFill/>
          <a:ln>
            <a:noFill/>
          </a:ln>
        </p:spPr>
      </p:pic>
      <p:pic>
        <p:nvPicPr>
          <p:cNvPr id="8598" name="Google Shape;8598;p77"/>
          <p:cNvPicPr preferRelativeResize="0"/>
          <p:nvPr/>
        </p:nvPicPr>
        <p:blipFill rotWithShape="1">
          <a:blip r:embed="rId7">
            <a:alphaModFix/>
          </a:blip>
          <a:srcRect/>
          <a:stretch/>
        </p:blipFill>
        <p:spPr>
          <a:xfrm>
            <a:off x="2357074" y="1662926"/>
            <a:ext cx="707693" cy="707693"/>
          </a:xfrm>
          <a:prstGeom prst="rect">
            <a:avLst/>
          </a:prstGeom>
          <a:noFill/>
          <a:ln>
            <a:noFill/>
          </a:ln>
        </p:spPr>
      </p:pic>
      <p:pic>
        <p:nvPicPr>
          <p:cNvPr id="8599" name="Google Shape;8599;p77"/>
          <p:cNvPicPr preferRelativeResize="0"/>
          <p:nvPr/>
        </p:nvPicPr>
        <p:blipFill rotWithShape="1">
          <a:blip r:embed="rId8">
            <a:alphaModFix/>
          </a:blip>
          <a:srcRect/>
          <a:stretch/>
        </p:blipFill>
        <p:spPr>
          <a:xfrm>
            <a:off x="3514035" y="1451132"/>
            <a:ext cx="1763751" cy="176375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588"/>
                                        </p:tgtEl>
                                        <p:attrNameLst>
                                          <p:attrName>style.visibility</p:attrName>
                                        </p:attrNameLst>
                                      </p:cBhvr>
                                      <p:to>
                                        <p:strVal val="visible"/>
                                      </p:to>
                                    </p:set>
                                    <p:animEffect transition="in" filter="fade">
                                      <p:cBhvr>
                                        <p:cTn id="7" dur="500"/>
                                        <p:tgtEl>
                                          <p:spTgt spid="858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598"/>
                                        </p:tgtEl>
                                        <p:attrNameLst>
                                          <p:attrName>style.visibility</p:attrName>
                                        </p:attrNameLst>
                                      </p:cBhvr>
                                      <p:to>
                                        <p:strVal val="visible"/>
                                      </p:to>
                                    </p:set>
                                    <p:animEffect transition="in" filter="fade">
                                      <p:cBhvr>
                                        <p:cTn id="11" dur="500"/>
                                        <p:tgtEl>
                                          <p:spTgt spid="859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579"/>
                                        </p:tgtEl>
                                        <p:attrNameLst>
                                          <p:attrName>style.visibility</p:attrName>
                                        </p:attrNameLst>
                                      </p:cBhvr>
                                      <p:to>
                                        <p:strVal val="visible"/>
                                      </p:to>
                                    </p:set>
                                    <p:animEffect transition="in" filter="fade">
                                      <p:cBhvr>
                                        <p:cTn id="15" dur="500"/>
                                        <p:tgtEl>
                                          <p:spTgt spid="857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8597"/>
                                        </p:tgtEl>
                                        <p:attrNameLst>
                                          <p:attrName>style.visibility</p:attrName>
                                        </p:attrNameLst>
                                      </p:cBhvr>
                                      <p:to>
                                        <p:strVal val="visible"/>
                                      </p:to>
                                    </p:set>
                                    <p:animEffect transition="in" filter="fade">
                                      <p:cBhvr>
                                        <p:cTn id="19" dur="500"/>
                                        <p:tgtEl>
                                          <p:spTgt spid="859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8594"/>
                                        </p:tgtEl>
                                        <p:attrNameLst>
                                          <p:attrName>style.visibility</p:attrName>
                                        </p:attrNameLst>
                                      </p:cBhvr>
                                      <p:to>
                                        <p:strVal val="visible"/>
                                      </p:to>
                                    </p:set>
                                    <p:animEffect transition="in" filter="fade">
                                      <p:cBhvr>
                                        <p:cTn id="23" dur="500"/>
                                        <p:tgtEl>
                                          <p:spTgt spid="8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604"/>
        <p:cNvGrpSpPr/>
        <p:nvPr/>
      </p:nvGrpSpPr>
      <p:grpSpPr>
        <a:xfrm>
          <a:off x="0" y="0"/>
          <a:ext cx="0" cy="0"/>
          <a:chOff x="0" y="0"/>
          <a:chExt cx="0" cy="0"/>
        </a:xfrm>
      </p:grpSpPr>
      <p:sp>
        <p:nvSpPr>
          <p:cNvPr id="8605" name="Google Shape;8605;p78"/>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Private AI</a:t>
            </a:r>
            <a:endParaRPr/>
          </a:p>
        </p:txBody>
      </p:sp>
      <p:sp>
        <p:nvSpPr>
          <p:cNvPr id="8606" name="Google Shape;8606;p78"/>
          <p:cNvSpPr txBox="1"/>
          <p:nvPr/>
        </p:nvSpPr>
        <p:spPr>
          <a:xfrm>
            <a:off x="490252" y="2308659"/>
            <a:ext cx="7315200" cy="432278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Private AI Services</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b="0" i="0" u="none" strike="noStrike" cap="none">
              <a:solidFill>
                <a:srgbClr val="E68C28"/>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611"/>
        <p:cNvGrpSpPr/>
        <p:nvPr/>
      </p:nvGrpSpPr>
      <p:grpSpPr>
        <a:xfrm>
          <a:off x="0" y="0"/>
          <a:ext cx="0" cy="0"/>
          <a:chOff x="0" y="0"/>
          <a:chExt cx="0" cy="0"/>
        </a:xfrm>
      </p:grpSpPr>
      <p:sp>
        <p:nvSpPr>
          <p:cNvPr id="8612" name="Google Shape;8612;p79"/>
          <p:cNvSpPr txBox="1"/>
          <p:nvPr/>
        </p:nvSpPr>
        <p:spPr>
          <a:xfrm>
            <a:off x="581245" y="413536"/>
            <a:ext cx="10998139" cy="380901"/>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5B84"/>
              </a:buClr>
              <a:buSzPts val="2799"/>
              <a:buFont typeface="Arial"/>
              <a:buNone/>
            </a:pPr>
            <a:r>
              <a:rPr lang="en-US" sz="2799" b="0" i="0" u="none" strike="noStrike" cap="none">
                <a:solidFill>
                  <a:srgbClr val="005B84"/>
                </a:solidFill>
                <a:latin typeface="Arial"/>
                <a:ea typeface="Arial"/>
                <a:cs typeface="Arial"/>
                <a:sym typeface="Arial"/>
              </a:rPr>
              <a:t>Simplify the Deployment of Private AI</a:t>
            </a:r>
            <a:endParaRPr/>
          </a:p>
        </p:txBody>
      </p:sp>
      <p:sp>
        <p:nvSpPr>
          <p:cNvPr id="8613" name="Google Shape;8613;p79"/>
          <p:cNvSpPr txBox="1"/>
          <p:nvPr/>
        </p:nvSpPr>
        <p:spPr>
          <a:xfrm>
            <a:off x="594301" y="812515"/>
            <a:ext cx="10959832" cy="30769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1798"/>
              <a:buFont typeface="Arial"/>
              <a:buNone/>
            </a:pPr>
            <a:r>
              <a:rPr lang="en-US" sz="1998" b="0" i="0" u="none" strike="noStrike" cap="none">
                <a:solidFill>
                  <a:srgbClr val="000000"/>
                </a:solidFill>
                <a:latin typeface="Arial"/>
                <a:ea typeface="Arial"/>
                <a:cs typeface="Arial"/>
                <a:sym typeface="Arial"/>
              </a:rPr>
              <a:t>VMware Private AI Foundation with NVIDIA</a:t>
            </a:r>
            <a:endParaRPr/>
          </a:p>
        </p:txBody>
      </p:sp>
      <p:cxnSp>
        <p:nvCxnSpPr>
          <p:cNvPr id="8614" name="Google Shape;8614;p79"/>
          <p:cNvCxnSpPr/>
          <p:nvPr/>
        </p:nvCxnSpPr>
        <p:spPr>
          <a:xfrm rot="10800000">
            <a:off x="13251" y="1620384"/>
            <a:ext cx="3847549" cy="0"/>
          </a:xfrm>
          <a:prstGeom prst="straightConnector1">
            <a:avLst/>
          </a:prstGeom>
          <a:noFill/>
          <a:ln w="57150" cap="flat" cmpd="sng">
            <a:solidFill>
              <a:schemeClr val="accent2"/>
            </a:solidFill>
            <a:prstDash val="solid"/>
            <a:miter lim="800000"/>
            <a:headEnd type="none" w="sm" len="sm"/>
            <a:tailEnd type="none" w="sm" len="sm"/>
          </a:ln>
        </p:spPr>
      </p:cxnSp>
      <p:sp>
        <p:nvSpPr>
          <p:cNvPr id="8615" name="Google Shape;8615;p79"/>
          <p:cNvSpPr txBox="1"/>
          <p:nvPr/>
        </p:nvSpPr>
        <p:spPr>
          <a:xfrm>
            <a:off x="413663" y="1914584"/>
            <a:ext cx="3447137" cy="452505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666666"/>
              </a:buClr>
              <a:buSzPts val="1620"/>
              <a:buFont typeface="Arial"/>
              <a:buNone/>
            </a:pPr>
            <a:r>
              <a:rPr lang="en-US" sz="1800" b="0" i="0" u="none" strike="noStrike" cap="none" dirty="0">
                <a:solidFill>
                  <a:srgbClr val="000000"/>
                </a:solidFill>
                <a:latin typeface="Arial"/>
                <a:ea typeface="Arial"/>
                <a:cs typeface="Arial"/>
                <a:sym typeface="Arial"/>
              </a:rPr>
              <a:t>Overview</a:t>
            </a:r>
            <a:endParaRPr dirty="0"/>
          </a:p>
          <a:p>
            <a:pPr marR="0" lvl="0" algn="l" rtl="0">
              <a:lnSpc>
                <a:spcPct val="100000"/>
              </a:lnSpc>
              <a:spcBef>
                <a:spcPts val="900"/>
              </a:spcBef>
              <a:spcAft>
                <a:spcPts val="0"/>
              </a:spcAft>
              <a:buClr>
                <a:srgbClr val="1B1E35"/>
              </a:buClr>
              <a:buSzPts val="1440"/>
            </a:pPr>
            <a:r>
              <a:rPr lang="en-US" sz="1600" b="0" i="0" u="none" strike="noStrike" cap="none" dirty="0">
                <a:solidFill>
                  <a:srgbClr val="005B84"/>
                </a:solidFill>
                <a:latin typeface="Arial"/>
                <a:ea typeface="Arial"/>
                <a:cs typeface="Arial"/>
                <a:sym typeface="Arial"/>
              </a:rPr>
              <a:t>Configure Cloud Foundation for Private AI workloads using NVIDIA GPU technology and the NVIDIA AI Enterprise Suite</a:t>
            </a:r>
            <a:endParaRPr dirty="0"/>
          </a:p>
          <a:p>
            <a:pPr marR="0" lvl="0" algn="l" rtl="0">
              <a:lnSpc>
                <a:spcPct val="100000"/>
              </a:lnSpc>
              <a:spcBef>
                <a:spcPts val="900"/>
              </a:spcBef>
              <a:spcAft>
                <a:spcPts val="0"/>
              </a:spcAft>
              <a:buClr>
                <a:srgbClr val="1B1E35"/>
              </a:buClr>
              <a:buSzPts val="1440"/>
            </a:pPr>
            <a:r>
              <a:rPr lang="en-US" sz="1600" b="0" i="0" u="none" strike="noStrike" cap="none" dirty="0">
                <a:solidFill>
                  <a:srgbClr val="005B84"/>
                </a:solidFill>
                <a:latin typeface="Arial"/>
                <a:ea typeface="Arial"/>
                <a:cs typeface="Arial"/>
                <a:sym typeface="Arial"/>
              </a:rPr>
              <a:t>Utilize private cloud infrastructure to run customized AI workloads</a:t>
            </a:r>
            <a:endParaRPr dirty="0"/>
          </a:p>
          <a:p>
            <a:pPr marR="0" lvl="0" algn="l" rtl="0">
              <a:lnSpc>
                <a:spcPct val="100000"/>
              </a:lnSpc>
              <a:spcBef>
                <a:spcPts val="900"/>
              </a:spcBef>
              <a:spcAft>
                <a:spcPts val="0"/>
              </a:spcAft>
              <a:buClr>
                <a:srgbClr val="1B1E35"/>
              </a:buClr>
              <a:buSzPts val="1440"/>
            </a:pPr>
            <a:r>
              <a:rPr lang="en-US" sz="1600" b="0" i="0" u="none" strike="noStrike" cap="none" dirty="0">
                <a:solidFill>
                  <a:srgbClr val="005C8A"/>
                </a:solidFill>
                <a:latin typeface="Arial"/>
                <a:ea typeface="Arial"/>
                <a:cs typeface="Arial"/>
                <a:sym typeface="Arial"/>
              </a:rPr>
              <a:t>Consumers can utilize different AI application types</a:t>
            </a:r>
            <a:endParaRPr dirty="0"/>
          </a:p>
          <a:p>
            <a:pPr marR="0" lvl="0" algn="l" rtl="0">
              <a:lnSpc>
                <a:spcPct val="100000"/>
              </a:lnSpc>
              <a:spcBef>
                <a:spcPts val="900"/>
              </a:spcBef>
              <a:spcAft>
                <a:spcPts val="0"/>
              </a:spcAft>
              <a:buClr>
                <a:srgbClr val="1B1E35"/>
              </a:buClr>
              <a:buSzPts val="1440"/>
            </a:pPr>
            <a:r>
              <a:rPr lang="en-US" sz="1600" b="0" i="0" u="none" strike="noStrike" cap="none" dirty="0">
                <a:solidFill>
                  <a:srgbClr val="005C8A"/>
                </a:solidFill>
                <a:latin typeface="Arial"/>
                <a:ea typeface="Arial"/>
                <a:cs typeface="Arial"/>
                <a:sym typeface="Arial"/>
              </a:rPr>
              <a:t>Infrastructure is deployed, scaled, lifecycle managed by VCF admin</a:t>
            </a:r>
            <a:endParaRPr dirty="0"/>
          </a:p>
          <a:p>
            <a:pPr marL="0" marR="0" lvl="0" indent="0" algn="l" rtl="0">
              <a:lnSpc>
                <a:spcPct val="100000"/>
              </a:lnSpc>
              <a:spcBef>
                <a:spcPts val="900"/>
              </a:spcBef>
              <a:spcAft>
                <a:spcPts val="0"/>
              </a:spcAft>
              <a:buClr>
                <a:srgbClr val="1B1E35"/>
              </a:buClr>
              <a:buSzPts val="1440"/>
              <a:buFont typeface="Arial"/>
              <a:buNone/>
            </a:pPr>
            <a:endParaRPr sz="1600" b="0" i="0" u="none" strike="noStrike" cap="none" dirty="0">
              <a:solidFill>
                <a:srgbClr val="005B84"/>
              </a:solidFill>
              <a:latin typeface="Arial"/>
              <a:ea typeface="Arial"/>
              <a:cs typeface="Arial"/>
              <a:sym typeface="Arial"/>
            </a:endParaRPr>
          </a:p>
          <a:p>
            <a:pPr marL="0" marR="0" lvl="0" indent="0" algn="l" rtl="0">
              <a:lnSpc>
                <a:spcPct val="100000"/>
              </a:lnSpc>
              <a:spcBef>
                <a:spcPts val="900"/>
              </a:spcBef>
              <a:spcAft>
                <a:spcPts val="0"/>
              </a:spcAft>
              <a:buClr>
                <a:srgbClr val="1B1E35"/>
              </a:buClr>
              <a:buSzPts val="1440"/>
              <a:buFont typeface="Arial"/>
              <a:buNone/>
            </a:pPr>
            <a:endParaRPr sz="1600" b="0" i="0" u="none" strike="noStrike" cap="none" dirty="0">
              <a:solidFill>
                <a:srgbClr val="005B84"/>
              </a:solidFill>
              <a:latin typeface="Arial"/>
              <a:ea typeface="Arial"/>
              <a:cs typeface="Arial"/>
              <a:sym typeface="Arial"/>
            </a:endParaRPr>
          </a:p>
        </p:txBody>
      </p:sp>
      <p:pic>
        <p:nvPicPr>
          <p:cNvPr id="8616" name="Google Shape;8616;p79"/>
          <p:cNvPicPr preferRelativeResize="0"/>
          <p:nvPr/>
        </p:nvPicPr>
        <p:blipFill rotWithShape="1">
          <a:blip r:embed="rId3">
            <a:alphaModFix/>
          </a:blip>
          <a:srcRect/>
          <a:stretch/>
        </p:blipFill>
        <p:spPr>
          <a:xfrm>
            <a:off x="4221420" y="1620385"/>
            <a:ext cx="7420757" cy="4819252"/>
          </a:xfrm>
          <a:prstGeom prst="rect">
            <a:avLst/>
          </a:prstGeom>
          <a:noFill/>
          <a:ln>
            <a:noFill/>
          </a:ln>
        </p:spPr>
      </p:pic>
      <p:sp>
        <p:nvSpPr>
          <p:cNvPr id="8617" name="Google Shape;8617;p79"/>
          <p:cNvSpPr/>
          <p:nvPr/>
        </p:nvSpPr>
        <p:spPr>
          <a:xfrm>
            <a:off x="3860800" y="6092687"/>
            <a:ext cx="8105913" cy="37768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8618" name="Google Shape;8618;p79"/>
          <p:cNvSpPr txBox="1"/>
          <p:nvPr/>
        </p:nvSpPr>
        <p:spPr>
          <a:xfrm>
            <a:off x="6872981" y="6214614"/>
            <a:ext cx="4780155" cy="12311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77777"/>
              </a:buClr>
              <a:buSzPts val="800"/>
              <a:buFont typeface="Arial"/>
              <a:buNone/>
            </a:pPr>
            <a:r>
              <a:rPr lang="en-US" sz="800" b="0" i="0" u="none" strike="noStrike" cap="none">
                <a:solidFill>
                  <a:srgbClr val="777777"/>
                </a:solidFill>
                <a:latin typeface="Arial"/>
                <a:ea typeface="Arial"/>
                <a:cs typeface="Arial"/>
                <a:sym typeface="Arial"/>
              </a:rPr>
              <a:t>VMware Private AI Foundation is enabled for installation within the vSphere client with an Add-on license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320E5-7FDD-42F1-3CC7-E721D6B1E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6565A-8BC1-71C0-249F-1B2EB18312CB}"/>
              </a:ext>
            </a:extLst>
          </p:cNvPr>
          <p:cNvSpPr>
            <a:spLocks noGrp="1"/>
          </p:cNvSpPr>
          <p:nvPr>
            <p:ph type="title"/>
          </p:nvPr>
        </p:nvSpPr>
        <p:spPr/>
        <p:txBody>
          <a:bodyPr/>
          <a:lstStyle/>
          <a:p>
            <a:r>
              <a:rPr lang="en-US" dirty="0"/>
              <a:t>Private AI Services (PAIS)</a:t>
            </a:r>
          </a:p>
        </p:txBody>
      </p:sp>
      <p:sp>
        <p:nvSpPr>
          <p:cNvPr id="3" name="Subtitle 2">
            <a:extLst>
              <a:ext uri="{FF2B5EF4-FFF2-40B4-BE49-F238E27FC236}">
                <a16:creationId xmlns:a16="http://schemas.microsoft.com/office/drawing/2014/main" id="{A67403D9-D286-5704-5D80-C0DC5D86EBEF}"/>
              </a:ext>
            </a:extLst>
          </p:cNvPr>
          <p:cNvSpPr>
            <a:spLocks noGrp="1"/>
          </p:cNvSpPr>
          <p:nvPr>
            <p:ph type="subTitle" idx="10"/>
          </p:nvPr>
        </p:nvSpPr>
        <p:spPr/>
        <p:txBody>
          <a:bodyPr/>
          <a:lstStyle/>
          <a:p>
            <a:r>
              <a:rPr lang="en-US" dirty="0"/>
              <a:t>Model Store  |  Model Endpoints  |  Data Indexing &amp; Retrieval  |  Agent Builder </a:t>
            </a:r>
          </a:p>
        </p:txBody>
      </p:sp>
      <p:sp>
        <p:nvSpPr>
          <p:cNvPr id="4" name="Google Shape;1591;p89">
            <a:extLst>
              <a:ext uri="{FF2B5EF4-FFF2-40B4-BE49-F238E27FC236}">
                <a16:creationId xmlns:a16="http://schemas.microsoft.com/office/drawing/2014/main" id="{1FF5D28C-5EC3-1FC9-4FEC-FE4F6CDD73C9}"/>
              </a:ext>
            </a:extLst>
          </p:cNvPr>
          <p:cNvSpPr/>
          <p:nvPr/>
        </p:nvSpPr>
        <p:spPr>
          <a:xfrm>
            <a:off x="2082490" y="2576617"/>
            <a:ext cx="1594557" cy="1087576"/>
          </a:xfrm>
          <a:prstGeom prst="roundRect">
            <a:avLst>
              <a:gd name="adj" fmla="val 4299"/>
            </a:avLst>
          </a:prstGeom>
          <a:noFill/>
          <a:ln w="254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200" b="0" i="0" u="none" strike="noStrike" kern="1200" cap="none" spc="0" normalizeH="0" baseline="0" noProof="0" dirty="0">
                <a:ln>
                  <a:noFill/>
                </a:ln>
                <a:solidFill>
                  <a:srgbClr val="000000"/>
                </a:solidFill>
                <a:effectLst/>
                <a:uLnTx/>
                <a:uFillTx/>
                <a:latin typeface="Arial" panose="020B0604020202020204"/>
                <a:ea typeface="+mn-ea"/>
                <a:cs typeface="+mn-cs"/>
              </a:rPr>
              <a:t>Deep Learning VM (DMZ) </a:t>
            </a:r>
            <a:endParaRPr kumimoji="0"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 sz="1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dirty="0">
                <a:ln>
                  <a:noFill/>
                </a:ln>
                <a:solidFill>
                  <a:srgbClr val="000000"/>
                </a:solidFill>
                <a:effectLst/>
                <a:uLnTx/>
                <a:uFillTx/>
                <a:latin typeface="Arial" panose="020B0604020202020204"/>
                <a:ea typeface="+mn-ea"/>
                <a:cs typeface="+mn-cs"/>
              </a:rPr>
              <a:t>Validate your model</a:t>
            </a:r>
            <a:endParaRPr kumimoji="0" sz="1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200" b="0" i="0" u="none" strike="noStrike" kern="1200" cap="none" spc="0" normalizeH="0" baseline="0" noProof="0" dirty="0">
                <a:ln>
                  <a:noFill/>
                </a:ln>
                <a:solidFill>
                  <a:srgbClr val="000000"/>
                </a:solidFill>
                <a:effectLst/>
                <a:uLnTx/>
                <a:uFillTx/>
                <a:latin typeface="Arial" panose="020B0604020202020204"/>
                <a:ea typeface="+mn-ea"/>
                <a:cs typeface="+mn-cs"/>
              </a:rPr>
              <a:t> </a:t>
            </a:r>
            <a:endParaRPr kumimoji="0"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5" name="Google Shape;1592;p89">
            <a:extLst>
              <a:ext uri="{FF2B5EF4-FFF2-40B4-BE49-F238E27FC236}">
                <a16:creationId xmlns:a16="http://schemas.microsoft.com/office/drawing/2014/main" id="{E1F30D8A-F5FF-EE86-1EF9-C6AD29B6D8A6}"/>
              </a:ext>
            </a:extLst>
          </p:cNvPr>
          <p:cNvPicPr preferRelativeResize="0">
            <a:picLocks noChangeAspect="1"/>
          </p:cNvPicPr>
          <p:nvPr/>
        </p:nvPicPr>
        <p:blipFill>
          <a:blip r:embed="rId3">
            <a:alphaModFix/>
          </a:blip>
          <a:stretch>
            <a:fillRect/>
          </a:stretch>
        </p:blipFill>
        <p:spPr>
          <a:xfrm>
            <a:off x="917040" y="2099115"/>
            <a:ext cx="418633" cy="418633"/>
          </a:xfrm>
          <a:prstGeom prst="rect">
            <a:avLst/>
          </a:prstGeom>
          <a:noFill/>
          <a:ln>
            <a:noFill/>
          </a:ln>
        </p:spPr>
      </p:pic>
      <p:cxnSp>
        <p:nvCxnSpPr>
          <p:cNvPr id="6" name="Google Shape;1593;p89">
            <a:extLst>
              <a:ext uri="{FF2B5EF4-FFF2-40B4-BE49-F238E27FC236}">
                <a16:creationId xmlns:a16="http://schemas.microsoft.com/office/drawing/2014/main" id="{22A9A3FA-5149-4BC6-FA53-131CFBE99AA8}"/>
              </a:ext>
            </a:extLst>
          </p:cNvPr>
          <p:cNvCxnSpPr>
            <a:cxnSpLocks/>
            <a:endCxn id="4" idx="0"/>
          </p:cNvCxnSpPr>
          <p:nvPr/>
        </p:nvCxnSpPr>
        <p:spPr>
          <a:xfrm>
            <a:off x="1409742" y="2278333"/>
            <a:ext cx="1470027" cy="298284"/>
          </a:xfrm>
          <a:prstGeom prst="bentConnector2">
            <a:avLst/>
          </a:prstGeom>
          <a:noFill/>
          <a:ln w="19050" cap="flat" cmpd="sng">
            <a:solidFill>
              <a:schemeClr val="accent2"/>
            </a:solidFill>
            <a:prstDash val="solid"/>
            <a:round/>
            <a:headEnd type="none" w="med" len="med"/>
            <a:tailEnd type="triangle" w="med" len="med"/>
          </a:ln>
        </p:spPr>
      </p:cxnSp>
      <p:sp>
        <p:nvSpPr>
          <p:cNvPr id="7" name="Google Shape;1594;p89">
            <a:extLst>
              <a:ext uri="{FF2B5EF4-FFF2-40B4-BE49-F238E27FC236}">
                <a16:creationId xmlns:a16="http://schemas.microsoft.com/office/drawing/2014/main" id="{7039AF3C-5D04-2FDF-6C5E-0B7D46DD60F4}"/>
              </a:ext>
            </a:extLst>
          </p:cNvPr>
          <p:cNvSpPr txBox="1"/>
          <p:nvPr/>
        </p:nvSpPr>
        <p:spPr>
          <a:xfrm>
            <a:off x="523302" y="2498003"/>
            <a:ext cx="1256380" cy="830966"/>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dirty="0">
                <a:ln>
                  <a:noFill/>
                </a:ln>
                <a:solidFill>
                  <a:srgbClr val="000000"/>
                </a:solidFill>
                <a:effectLst/>
                <a:uLnTx/>
                <a:uFillTx/>
                <a:latin typeface="Arial" panose="020B0604020202020204"/>
                <a:ea typeface="+mn-ea"/>
                <a:cs typeface="+mn-cs"/>
              </a:rPr>
              <a:t>Pull model from online source: Hugging Face, NVIDIA NGC…</a:t>
            </a:r>
            <a:endParaRPr kumimoji="0"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8" name="Google Shape;1595;p89">
            <a:extLst>
              <a:ext uri="{FF2B5EF4-FFF2-40B4-BE49-F238E27FC236}">
                <a16:creationId xmlns:a16="http://schemas.microsoft.com/office/drawing/2014/main" id="{691CFA72-FF97-94E0-60F3-EC27CCF684F3}"/>
              </a:ext>
            </a:extLst>
          </p:cNvPr>
          <p:cNvPicPr preferRelativeResize="0"/>
          <p:nvPr/>
        </p:nvPicPr>
        <p:blipFill rotWithShape="1">
          <a:blip r:embed="rId4">
            <a:alphaModFix/>
          </a:blip>
          <a:srcRect/>
          <a:stretch/>
        </p:blipFill>
        <p:spPr>
          <a:xfrm>
            <a:off x="1869113" y="3453173"/>
            <a:ext cx="429768" cy="429768"/>
          </a:xfrm>
          <a:prstGeom prst="rect">
            <a:avLst/>
          </a:prstGeom>
          <a:noFill/>
          <a:ln>
            <a:noFill/>
          </a:ln>
        </p:spPr>
      </p:pic>
      <p:sp>
        <p:nvSpPr>
          <p:cNvPr id="9" name="Google Shape;1596;p89">
            <a:extLst>
              <a:ext uri="{FF2B5EF4-FFF2-40B4-BE49-F238E27FC236}">
                <a16:creationId xmlns:a16="http://schemas.microsoft.com/office/drawing/2014/main" id="{EE898EDF-15C2-C02E-AB2F-699ACFB76A99}"/>
              </a:ext>
            </a:extLst>
          </p:cNvPr>
          <p:cNvSpPr/>
          <p:nvPr/>
        </p:nvSpPr>
        <p:spPr>
          <a:xfrm>
            <a:off x="4042430" y="2282630"/>
            <a:ext cx="1728600" cy="1380647"/>
          </a:xfrm>
          <a:prstGeom prst="roundRect">
            <a:avLst>
              <a:gd name="adj" fmla="val 4299"/>
            </a:avLst>
          </a:prstGeom>
          <a:noFill/>
          <a:ln w="508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200" b="1" i="0" u="none" strike="noStrike" kern="1200" cap="none" spc="0" normalizeH="0" baseline="0" noProof="0" dirty="0">
                <a:ln>
                  <a:noFill/>
                </a:ln>
                <a:solidFill>
                  <a:srgbClr val="000000"/>
                </a:solidFill>
                <a:effectLst/>
                <a:uLnTx/>
                <a:uFillTx/>
                <a:latin typeface="Arial" panose="020B0604020202020204"/>
                <a:ea typeface="+mn-ea"/>
                <a:cs typeface="+mn-cs"/>
              </a:rPr>
              <a:t>Harbor as Model Store </a:t>
            </a:r>
            <a:endParaRPr kumimoji="0" sz="12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 sz="1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dirty="0">
                <a:ln>
                  <a:noFill/>
                </a:ln>
                <a:solidFill>
                  <a:srgbClr val="000000"/>
                </a:solidFill>
                <a:effectLst/>
                <a:uLnTx/>
                <a:uFillTx/>
                <a:latin typeface="Arial" panose="020B0604020202020204"/>
                <a:ea typeface="+mn-ea"/>
                <a:cs typeface="+mn-cs"/>
              </a:rPr>
              <a:t>Storage for all validated and secure models shared with appropriate teams.  </a:t>
            </a:r>
            <a:endParaRPr kumimoji="0"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0" name="Google Shape;1597;p89">
            <a:extLst>
              <a:ext uri="{FF2B5EF4-FFF2-40B4-BE49-F238E27FC236}">
                <a16:creationId xmlns:a16="http://schemas.microsoft.com/office/drawing/2014/main" id="{E2ABD80E-126F-8731-AEF3-09A3829E7A25}"/>
              </a:ext>
            </a:extLst>
          </p:cNvPr>
          <p:cNvCxnSpPr>
            <a:cxnSpLocks/>
          </p:cNvCxnSpPr>
          <p:nvPr/>
        </p:nvCxnSpPr>
        <p:spPr>
          <a:xfrm>
            <a:off x="3689254" y="2974388"/>
            <a:ext cx="345065" cy="3456"/>
          </a:xfrm>
          <a:prstGeom prst="straightConnector1">
            <a:avLst/>
          </a:prstGeom>
          <a:noFill/>
          <a:ln w="19050" cap="flat" cmpd="sng">
            <a:solidFill>
              <a:schemeClr val="accent2"/>
            </a:solidFill>
            <a:prstDash val="solid"/>
            <a:round/>
            <a:headEnd type="none" w="med" len="med"/>
            <a:tailEnd type="triangle" w="med" len="med"/>
          </a:ln>
        </p:spPr>
      </p:cxnSp>
      <p:pic>
        <p:nvPicPr>
          <p:cNvPr id="11" name="Google Shape;1598;p89">
            <a:extLst>
              <a:ext uri="{FF2B5EF4-FFF2-40B4-BE49-F238E27FC236}">
                <a16:creationId xmlns:a16="http://schemas.microsoft.com/office/drawing/2014/main" id="{1FEDD694-D97E-DAB1-36F3-4F81318040A2}"/>
              </a:ext>
            </a:extLst>
          </p:cNvPr>
          <p:cNvPicPr preferRelativeResize="0"/>
          <p:nvPr/>
        </p:nvPicPr>
        <p:blipFill rotWithShape="1">
          <a:blip r:embed="rId5">
            <a:alphaModFix/>
          </a:blip>
          <a:srcRect/>
          <a:stretch/>
        </p:blipFill>
        <p:spPr>
          <a:xfrm>
            <a:off x="3828581" y="3448008"/>
            <a:ext cx="429768" cy="429768"/>
          </a:xfrm>
          <a:prstGeom prst="rect">
            <a:avLst/>
          </a:prstGeom>
          <a:noFill/>
          <a:ln>
            <a:noFill/>
          </a:ln>
        </p:spPr>
      </p:pic>
      <p:cxnSp>
        <p:nvCxnSpPr>
          <p:cNvPr id="13" name="Google Shape;1600;p89">
            <a:extLst>
              <a:ext uri="{FF2B5EF4-FFF2-40B4-BE49-F238E27FC236}">
                <a16:creationId xmlns:a16="http://schemas.microsoft.com/office/drawing/2014/main" id="{BA90009E-1BDC-9311-CB3E-EDD18C3C2282}"/>
              </a:ext>
            </a:extLst>
          </p:cNvPr>
          <p:cNvCxnSpPr>
            <a:cxnSpLocks/>
            <a:stCxn id="9" idx="3"/>
            <a:endCxn id="14" idx="1"/>
          </p:cNvCxnSpPr>
          <p:nvPr/>
        </p:nvCxnSpPr>
        <p:spPr>
          <a:xfrm flipV="1">
            <a:off x="5771030" y="2969498"/>
            <a:ext cx="331285" cy="3456"/>
          </a:xfrm>
          <a:prstGeom prst="straightConnector1">
            <a:avLst/>
          </a:prstGeom>
          <a:noFill/>
          <a:ln w="19050" cap="flat" cmpd="sng">
            <a:solidFill>
              <a:schemeClr val="accent3"/>
            </a:solidFill>
            <a:prstDash val="solid"/>
            <a:round/>
            <a:headEnd type="none" w="med" len="med"/>
            <a:tailEnd type="triangle" w="med" len="med"/>
          </a:ln>
        </p:spPr>
      </p:cxnSp>
      <p:sp>
        <p:nvSpPr>
          <p:cNvPr id="14" name="Google Shape;1601;p89">
            <a:extLst>
              <a:ext uri="{FF2B5EF4-FFF2-40B4-BE49-F238E27FC236}">
                <a16:creationId xmlns:a16="http://schemas.microsoft.com/office/drawing/2014/main" id="{8F04202D-B4E2-F4D4-C71B-25BEA1516EBC}"/>
              </a:ext>
            </a:extLst>
          </p:cNvPr>
          <p:cNvSpPr/>
          <p:nvPr/>
        </p:nvSpPr>
        <p:spPr>
          <a:xfrm>
            <a:off x="6102315" y="2279174"/>
            <a:ext cx="1728600" cy="1380647"/>
          </a:xfrm>
          <a:prstGeom prst="roundRect">
            <a:avLst>
              <a:gd name="adj" fmla="val 4299"/>
            </a:avLst>
          </a:prstGeom>
          <a:noFill/>
          <a:ln w="508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200" b="1" i="0" u="none" strike="noStrike" kern="1200" cap="none" spc="0" normalizeH="0" baseline="0" noProof="0" dirty="0">
                <a:ln>
                  <a:noFill/>
                </a:ln>
                <a:solidFill>
                  <a:srgbClr val="000000"/>
                </a:solidFill>
                <a:effectLst/>
                <a:uLnTx/>
                <a:uFillTx/>
                <a:latin typeface="Arial" panose="020B0604020202020204"/>
                <a:ea typeface="+mn-ea"/>
                <a:cs typeface="+mn-cs"/>
              </a:rPr>
              <a:t>Model Runtime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 sz="12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dirty="0">
                <a:ln>
                  <a:noFill/>
                </a:ln>
                <a:solidFill>
                  <a:srgbClr val="000000"/>
                </a:solidFill>
                <a:effectLst/>
                <a:uLnTx/>
                <a:uFillTx/>
                <a:latin typeface="Arial" panose="020B0604020202020204"/>
                <a:ea typeface="+mn-ea"/>
                <a:cs typeface="+mn-cs"/>
              </a:rPr>
              <a:t>Service consumes available model in Harbor to support Model Endpoint creation </a:t>
            </a:r>
            <a:endParaRPr kumimoji="0"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15" name="Google Shape;1602;p89">
            <a:extLst>
              <a:ext uri="{FF2B5EF4-FFF2-40B4-BE49-F238E27FC236}">
                <a16:creationId xmlns:a16="http://schemas.microsoft.com/office/drawing/2014/main" id="{2E30AA1C-24B7-DDB9-95DD-02260C04A651}"/>
              </a:ext>
            </a:extLst>
          </p:cNvPr>
          <p:cNvPicPr preferRelativeResize="0"/>
          <p:nvPr/>
        </p:nvPicPr>
        <p:blipFill rotWithShape="1">
          <a:blip r:embed="rId5">
            <a:alphaModFix/>
          </a:blip>
          <a:srcRect/>
          <a:stretch/>
        </p:blipFill>
        <p:spPr>
          <a:xfrm>
            <a:off x="5889475" y="3447531"/>
            <a:ext cx="429768" cy="429768"/>
          </a:xfrm>
          <a:prstGeom prst="rect">
            <a:avLst/>
          </a:prstGeom>
          <a:noFill/>
          <a:ln>
            <a:noFill/>
          </a:ln>
        </p:spPr>
      </p:pic>
      <p:sp>
        <p:nvSpPr>
          <p:cNvPr id="16" name="Google Shape;1603;p89">
            <a:extLst>
              <a:ext uri="{FF2B5EF4-FFF2-40B4-BE49-F238E27FC236}">
                <a16:creationId xmlns:a16="http://schemas.microsoft.com/office/drawing/2014/main" id="{1BD9A18E-6F56-5737-92E3-4A8F46072863}"/>
              </a:ext>
            </a:extLst>
          </p:cNvPr>
          <p:cNvSpPr/>
          <p:nvPr/>
        </p:nvSpPr>
        <p:spPr>
          <a:xfrm>
            <a:off x="6102315" y="3968455"/>
            <a:ext cx="1742840" cy="1228636"/>
          </a:xfrm>
          <a:prstGeom prst="roundRect">
            <a:avLst>
              <a:gd name="adj" fmla="val 4299"/>
            </a:avLst>
          </a:prstGeom>
          <a:noFill/>
          <a:ln w="508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 sz="1200" b="1" i="0" u="none" strike="noStrike" kern="1200" cap="none" spc="0" normalizeH="0" baseline="0" noProof="0" dirty="0">
                <a:ln>
                  <a:noFill/>
                </a:ln>
                <a:solidFill>
                  <a:srgbClr val="000000"/>
                </a:solidFill>
                <a:effectLst/>
                <a:uLnTx/>
                <a:uFillTx/>
                <a:latin typeface="Arial" panose="020B0604020202020204"/>
                <a:ea typeface="+mn-ea"/>
                <a:cs typeface="+mn-cs"/>
              </a:rPr>
              <a:t>Data Indexing and Retrieval Service</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lang="en-AU" sz="1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AU" sz="1000" b="0" i="0" u="none" strike="noStrike" kern="1200" cap="none" spc="0" normalizeH="0" baseline="0" noProof="0" dirty="0">
                <a:ln>
                  <a:noFill/>
                </a:ln>
                <a:solidFill>
                  <a:srgbClr val="000000"/>
                </a:solidFill>
                <a:effectLst/>
                <a:uLnTx/>
                <a:uFillTx/>
                <a:latin typeface="Arial" panose="020B0604020202020204"/>
                <a:ea typeface="+mn-ea"/>
                <a:cs typeface="+mn-cs"/>
              </a:rPr>
              <a:t>C</a:t>
            </a:r>
            <a:r>
              <a:rPr kumimoji="0" lang="en" sz="1000" b="0" i="0" u="none" strike="noStrike" kern="1200" cap="none" spc="0" normalizeH="0" baseline="0" noProof="0" dirty="0" err="1">
                <a:ln>
                  <a:noFill/>
                </a:ln>
                <a:solidFill>
                  <a:srgbClr val="000000"/>
                </a:solidFill>
                <a:effectLst/>
                <a:uLnTx/>
                <a:uFillTx/>
                <a:latin typeface="Arial" panose="020B0604020202020204"/>
                <a:ea typeface="+mn-ea"/>
                <a:cs typeface="+mn-cs"/>
              </a:rPr>
              <a:t>onnects</a:t>
            </a:r>
            <a:r>
              <a:rPr kumimoji="0" lang="en" sz="1000" b="0" i="0" u="none" strike="noStrike" kern="1200" cap="none" spc="0" normalizeH="0" baseline="0" noProof="0" dirty="0">
                <a:ln>
                  <a:noFill/>
                </a:ln>
                <a:solidFill>
                  <a:srgbClr val="000000"/>
                </a:solidFill>
                <a:effectLst/>
                <a:uLnTx/>
                <a:uFillTx/>
                <a:latin typeface="Arial" panose="020B0604020202020204"/>
                <a:ea typeface="+mn-ea"/>
                <a:cs typeface="+mn-cs"/>
              </a:rPr>
              <a:t> to different data sources.  Loads relevant data into vector databases  </a:t>
            </a:r>
            <a:endParaRPr kumimoji="0" sz="1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0" name="Google Shape;1607;p89">
            <a:extLst>
              <a:ext uri="{FF2B5EF4-FFF2-40B4-BE49-F238E27FC236}">
                <a16:creationId xmlns:a16="http://schemas.microsoft.com/office/drawing/2014/main" id="{14A2BCE7-F159-DFA1-6A1D-9DA605C5C010}"/>
              </a:ext>
            </a:extLst>
          </p:cNvPr>
          <p:cNvPicPr preferRelativeResize="0"/>
          <p:nvPr/>
        </p:nvPicPr>
        <p:blipFill rotWithShape="1">
          <a:blip r:embed="rId5">
            <a:alphaModFix/>
          </a:blip>
          <a:srcRect/>
          <a:stretch/>
        </p:blipFill>
        <p:spPr>
          <a:xfrm>
            <a:off x="5890383" y="4983885"/>
            <a:ext cx="429768" cy="429768"/>
          </a:xfrm>
          <a:prstGeom prst="rect">
            <a:avLst/>
          </a:prstGeom>
          <a:noFill/>
          <a:ln>
            <a:noFill/>
          </a:ln>
        </p:spPr>
      </p:pic>
      <p:sp>
        <p:nvSpPr>
          <p:cNvPr id="28" name="Google Shape;1616;p89">
            <a:extLst>
              <a:ext uri="{FF2B5EF4-FFF2-40B4-BE49-F238E27FC236}">
                <a16:creationId xmlns:a16="http://schemas.microsoft.com/office/drawing/2014/main" id="{B8B873BF-18B4-097F-972A-8C6D66F33BC8}"/>
              </a:ext>
            </a:extLst>
          </p:cNvPr>
          <p:cNvSpPr/>
          <p:nvPr/>
        </p:nvSpPr>
        <p:spPr>
          <a:xfrm>
            <a:off x="6445701" y="5501310"/>
            <a:ext cx="1059000" cy="502800"/>
          </a:xfrm>
          <a:prstGeom prst="roundRect">
            <a:avLst>
              <a:gd name="adj" fmla="val 4299"/>
            </a:avLst>
          </a:prstGeom>
          <a:noFill/>
          <a:ln w="254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 sz="1200" b="0" i="0" u="none" strike="noStrike" kern="1200" cap="none" spc="0" normalizeH="0" baseline="0" noProof="0" dirty="0">
                <a:ln>
                  <a:noFill/>
                </a:ln>
                <a:solidFill>
                  <a:srgbClr val="1B1D36"/>
                </a:solidFill>
                <a:effectLst/>
                <a:uLnTx/>
                <a:uFillTx/>
                <a:latin typeface="Arial" panose="020B0604020202020204"/>
                <a:ea typeface="+mn-ea"/>
                <a:cs typeface="+mn-cs"/>
              </a:rPr>
              <a:t>Vector DB (DSM)</a:t>
            </a:r>
            <a:endParaRPr kumimoji="0" sz="1200" b="0" i="0" u="none" strike="noStrike" kern="1200" cap="none" spc="0" normalizeH="0" baseline="0" noProof="0" dirty="0">
              <a:ln>
                <a:noFill/>
              </a:ln>
              <a:solidFill>
                <a:srgbClr val="1B1D36"/>
              </a:solidFill>
              <a:effectLst/>
              <a:uLnTx/>
              <a:uFillTx/>
              <a:latin typeface="Arial" panose="020B0604020202020204"/>
              <a:ea typeface="+mn-ea"/>
              <a:cs typeface="+mn-cs"/>
            </a:endParaRPr>
          </a:p>
        </p:txBody>
      </p:sp>
      <p:cxnSp>
        <p:nvCxnSpPr>
          <p:cNvPr id="29" name="Google Shape;1617;p89">
            <a:extLst>
              <a:ext uri="{FF2B5EF4-FFF2-40B4-BE49-F238E27FC236}">
                <a16:creationId xmlns:a16="http://schemas.microsoft.com/office/drawing/2014/main" id="{AAE86EDF-4B0D-B0A2-08FD-98594497D4FA}"/>
              </a:ext>
            </a:extLst>
          </p:cNvPr>
          <p:cNvCxnSpPr>
            <a:cxnSpLocks/>
          </p:cNvCxnSpPr>
          <p:nvPr/>
        </p:nvCxnSpPr>
        <p:spPr>
          <a:xfrm>
            <a:off x="6976214" y="5209518"/>
            <a:ext cx="0" cy="291792"/>
          </a:xfrm>
          <a:prstGeom prst="straightConnector1">
            <a:avLst/>
          </a:prstGeom>
          <a:noFill/>
          <a:ln w="19050" cap="flat" cmpd="sng">
            <a:solidFill>
              <a:schemeClr val="accent2"/>
            </a:solidFill>
            <a:prstDash val="solid"/>
            <a:round/>
            <a:headEnd type="triangle" w="med" len="med"/>
            <a:tailEnd type="triangle" w="med" len="med"/>
          </a:ln>
        </p:spPr>
      </p:cxnSp>
      <p:sp>
        <p:nvSpPr>
          <p:cNvPr id="48" name="Google Shape;1616;p89">
            <a:extLst>
              <a:ext uri="{FF2B5EF4-FFF2-40B4-BE49-F238E27FC236}">
                <a16:creationId xmlns:a16="http://schemas.microsoft.com/office/drawing/2014/main" id="{CE464F85-E175-4D0D-517B-3DCDCC67ADC1}"/>
              </a:ext>
            </a:extLst>
          </p:cNvPr>
          <p:cNvSpPr/>
          <p:nvPr/>
        </p:nvSpPr>
        <p:spPr>
          <a:xfrm>
            <a:off x="4700021" y="4331938"/>
            <a:ext cx="1059000" cy="502800"/>
          </a:xfrm>
          <a:prstGeom prst="roundRect">
            <a:avLst>
              <a:gd name="adj" fmla="val 4299"/>
            </a:avLst>
          </a:prstGeom>
          <a:noFill/>
          <a:ln w="25400" cap="flat" cmpd="sng">
            <a:solidFill>
              <a:schemeClr val="bg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 sz="1200" b="0" i="0" u="none" strike="noStrike" kern="1200" cap="none" spc="0" normalizeH="0" baseline="0" noProof="0" dirty="0">
                <a:ln>
                  <a:noFill/>
                </a:ln>
                <a:solidFill>
                  <a:srgbClr val="1B1D36"/>
                </a:solidFill>
                <a:effectLst/>
                <a:uLnTx/>
                <a:uFillTx/>
                <a:latin typeface="Arial" panose="020B0604020202020204"/>
                <a:ea typeface="+mn-ea"/>
                <a:cs typeface="+mn-cs"/>
              </a:rPr>
              <a:t>Data Sources</a:t>
            </a:r>
            <a:endParaRPr kumimoji="0" sz="1200" b="0" i="0" u="none" strike="noStrike" kern="1200" cap="none" spc="0" normalizeH="0" baseline="0" noProof="0" dirty="0">
              <a:ln>
                <a:noFill/>
              </a:ln>
              <a:solidFill>
                <a:srgbClr val="1B1D36"/>
              </a:solidFill>
              <a:effectLst/>
              <a:uLnTx/>
              <a:uFillTx/>
              <a:latin typeface="Arial" panose="020B0604020202020204"/>
              <a:ea typeface="+mn-ea"/>
              <a:cs typeface="+mn-cs"/>
            </a:endParaRPr>
          </a:p>
        </p:txBody>
      </p:sp>
      <p:cxnSp>
        <p:nvCxnSpPr>
          <p:cNvPr id="49" name="Google Shape;1600;p89">
            <a:extLst>
              <a:ext uri="{FF2B5EF4-FFF2-40B4-BE49-F238E27FC236}">
                <a16:creationId xmlns:a16="http://schemas.microsoft.com/office/drawing/2014/main" id="{9F7DC726-221B-792C-37EE-CE1DC41DDC03}"/>
              </a:ext>
            </a:extLst>
          </p:cNvPr>
          <p:cNvCxnSpPr>
            <a:cxnSpLocks/>
            <a:stCxn id="48" idx="3"/>
            <a:endCxn id="16" idx="1"/>
          </p:cNvCxnSpPr>
          <p:nvPr/>
        </p:nvCxnSpPr>
        <p:spPr>
          <a:xfrm flipV="1">
            <a:off x="5759021" y="4582773"/>
            <a:ext cx="343294" cy="565"/>
          </a:xfrm>
          <a:prstGeom prst="straightConnector1">
            <a:avLst/>
          </a:prstGeom>
          <a:noFill/>
          <a:ln w="19050" cap="flat" cmpd="sng">
            <a:solidFill>
              <a:schemeClr val="accent2"/>
            </a:solidFill>
            <a:prstDash val="solid"/>
            <a:round/>
            <a:headEnd type="none" w="med" len="med"/>
            <a:tailEnd type="triangle" w="med" len="med"/>
          </a:ln>
        </p:spPr>
      </p:cxnSp>
      <p:cxnSp>
        <p:nvCxnSpPr>
          <p:cNvPr id="61" name="Google Shape;1617;p89">
            <a:extLst>
              <a:ext uri="{FF2B5EF4-FFF2-40B4-BE49-F238E27FC236}">
                <a16:creationId xmlns:a16="http://schemas.microsoft.com/office/drawing/2014/main" id="{337B95D0-DF4D-6201-4FD8-6EF85CCD5350}"/>
              </a:ext>
            </a:extLst>
          </p:cNvPr>
          <p:cNvCxnSpPr>
            <a:cxnSpLocks/>
            <a:stCxn id="14" idx="2"/>
            <a:endCxn id="16" idx="0"/>
          </p:cNvCxnSpPr>
          <p:nvPr/>
        </p:nvCxnSpPr>
        <p:spPr>
          <a:xfrm>
            <a:off x="6966615" y="3659821"/>
            <a:ext cx="7120" cy="308634"/>
          </a:xfrm>
          <a:prstGeom prst="straightConnector1">
            <a:avLst/>
          </a:prstGeom>
          <a:noFill/>
          <a:ln w="19050" cap="flat" cmpd="sng">
            <a:solidFill>
              <a:schemeClr val="accent3"/>
            </a:solidFill>
            <a:prstDash val="solid"/>
            <a:round/>
            <a:headEnd type="triangle" w="med" len="med"/>
            <a:tailEnd type="triangle" w="med" len="med"/>
          </a:ln>
        </p:spPr>
      </p:cxnSp>
      <p:cxnSp>
        <p:nvCxnSpPr>
          <p:cNvPr id="63" name="Google Shape;1617;p89">
            <a:extLst>
              <a:ext uri="{FF2B5EF4-FFF2-40B4-BE49-F238E27FC236}">
                <a16:creationId xmlns:a16="http://schemas.microsoft.com/office/drawing/2014/main" id="{44E65B1C-08C2-58A3-1339-654B25AC4DE2}"/>
              </a:ext>
            </a:extLst>
          </p:cNvPr>
          <p:cNvCxnSpPr>
            <a:cxnSpLocks/>
            <a:endCxn id="16" idx="3"/>
          </p:cNvCxnSpPr>
          <p:nvPr/>
        </p:nvCxnSpPr>
        <p:spPr>
          <a:xfrm flipH="1">
            <a:off x="7845155" y="4582773"/>
            <a:ext cx="334281" cy="0"/>
          </a:xfrm>
          <a:prstGeom prst="straightConnector1">
            <a:avLst/>
          </a:prstGeom>
          <a:noFill/>
          <a:ln w="19050" cap="flat" cmpd="sng">
            <a:solidFill>
              <a:schemeClr val="accent3"/>
            </a:solidFill>
            <a:prstDash val="solid"/>
            <a:round/>
            <a:headEnd type="triangle" w="med" len="med"/>
            <a:tailEnd type="triangle" w="med" len="med"/>
          </a:ln>
        </p:spPr>
      </p:cxnSp>
      <p:cxnSp>
        <p:nvCxnSpPr>
          <p:cNvPr id="67" name="Google Shape;1617;p89">
            <a:extLst>
              <a:ext uri="{FF2B5EF4-FFF2-40B4-BE49-F238E27FC236}">
                <a16:creationId xmlns:a16="http://schemas.microsoft.com/office/drawing/2014/main" id="{5AC3652E-91B6-FD07-31CA-036D3A84D072}"/>
              </a:ext>
            </a:extLst>
          </p:cNvPr>
          <p:cNvCxnSpPr>
            <a:cxnSpLocks/>
            <a:endCxn id="14" idx="3"/>
          </p:cNvCxnSpPr>
          <p:nvPr/>
        </p:nvCxnSpPr>
        <p:spPr>
          <a:xfrm flipH="1">
            <a:off x="7830915" y="2969498"/>
            <a:ext cx="334281" cy="0"/>
          </a:xfrm>
          <a:prstGeom prst="straightConnector1">
            <a:avLst/>
          </a:prstGeom>
          <a:noFill/>
          <a:ln w="19050" cap="flat" cmpd="sng">
            <a:solidFill>
              <a:schemeClr val="accent3"/>
            </a:solidFill>
            <a:prstDash val="solid"/>
            <a:round/>
            <a:headEnd type="triangle" w="med" len="med"/>
            <a:tailEnd type="triangle" w="med" len="med"/>
          </a:ln>
        </p:spPr>
      </p:cxnSp>
      <p:sp>
        <p:nvSpPr>
          <p:cNvPr id="77" name="Google Shape;1604;p89">
            <a:extLst>
              <a:ext uri="{FF2B5EF4-FFF2-40B4-BE49-F238E27FC236}">
                <a16:creationId xmlns:a16="http://schemas.microsoft.com/office/drawing/2014/main" id="{A45BBC63-DB49-5FDA-33C4-43AAA405C0CB}"/>
              </a:ext>
            </a:extLst>
          </p:cNvPr>
          <p:cNvSpPr/>
          <p:nvPr/>
        </p:nvSpPr>
        <p:spPr>
          <a:xfrm>
            <a:off x="1766710" y="1729470"/>
            <a:ext cx="8496999" cy="4391912"/>
          </a:xfrm>
          <a:prstGeom prst="roundRect">
            <a:avLst>
              <a:gd name="adj" fmla="val 2746"/>
            </a:avLst>
          </a:prstGeom>
          <a:noFill/>
          <a:ln w="12700" cap="flat" cmpd="sng">
            <a:solidFill>
              <a:schemeClr val="bg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 sz="1200" b="1" i="0" u="none" strike="noStrike" kern="1200" cap="none" spc="0" normalizeH="0" baseline="0" noProof="0" dirty="0">
                <a:ln>
                  <a:noFill/>
                </a:ln>
                <a:solidFill>
                  <a:srgbClr val="000000"/>
                </a:solidFill>
                <a:effectLst/>
                <a:uLnTx/>
                <a:uFillTx/>
                <a:latin typeface="Arial" panose="020B0604020202020204"/>
                <a:ea typeface="+mn-ea"/>
                <a:cs typeface="+mn-cs"/>
              </a:rPr>
            </a:br>
            <a:endParaRPr kumimoji="0" lang="en" sz="10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6" name="Google Shape;1613;p89">
            <a:extLst>
              <a:ext uri="{FF2B5EF4-FFF2-40B4-BE49-F238E27FC236}">
                <a16:creationId xmlns:a16="http://schemas.microsoft.com/office/drawing/2014/main" id="{FF497249-0F95-43CA-97F0-81DB2176F74B}"/>
              </a:ext>
            </a:extLst>
          </p:cNvPr>
          <p:cNvSpPr txBox="1"/>
          <p:nvPr/>
        </p:nvSpPr>
        <p:spPr>
          <a:xfrm>
            <a:off x="9715899" y="3366347"/>
            <a:ext cx="1059000" cy="677078"/>
          </a:xfrm>
          <a:prstGeom prst="rect">
            <a:avLst/>
          </a:prstGeom>
          <a:solidFill>
            <a:schemeClr val="bg1"/>
          </a:solid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srgbClr val="1B1D36"/>
                </a:solidFill>
                <a:effectLst/>
                <a:uLnTx/>
                <a:uFillTx/>
                <a:latin typeface="Arial" panose="020B0604020202020204"/>
                <a:ea typeface="+mn-ea"/>
                <a:cs typeface="+mn-cs"/>
              </a:rPr>
              <a:t>Agent API Endpoint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 sz="800" b="0" i="0" u="none" strike="noStrike" kern="1200" cap="none" spc="0" normalizeH="0" baseline="0" noProof="0" dirty="0">
              <a:ln>
                <a:noFill/>
              </a:ln>
              <a:solidFill>
                <a:srgbClr val="1B1D36"/>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800" b="0" i="0" u="none" strike="noStrike" kern="1200" cap="none" spc="0" normalizeH="0" baseline="0" noProof="0" dirty="0">
              <a:ln>
                <a:noFill/>
              </a:ln>
              <a:solidFill>
                <a:srgbClr val="1B1D36"/>
              </a:solidFill>
              <a:effectLst/>
              <a:uLnTx/>
              <a:uFillTx/>
              <a:latin typeface="Arial" panose="020B0604020202020204"/>
              <a:ea typeface="+mn-ea"/>
              <a:cs typeface="+mn-cs"/>
            </a:endParaRPr>
          </a:p>
        </p:txBody>
      </p:sp>
      <p:cxnSp>
        <p:nvCxnSpPr>
          <p:cNvPr id="97" name="Google Shape;1617;p89">
            <a:extLst>
              <a:ext uri="{FF2B5EF4-FFF2-40B4-BE49-F238E27FC236}">
                <a16:creationId xmlns:a16="http://schemas.microsoft.com/office/drawing/2014/main" id="{D4A5C6DA-B27B-F7CF-8248-24E3448E71C5}"/>
              </a:ext>
            </a:extLst>
          </p:cNvPr>
          <p:cNvCxnSpPr>
            <a:cxnSpLocks/>
          </p:cNvCxnSpPr>
          <p:nvPr/>
        </p:nvCxnSpPr>
        <p:spPr>
          <a:xfrm flipH="1" flipV="1">
            <a:off x="9914114" y="3797205"/>
            <a:ext cx="706563" cy="2804"/>
          </a:xfrm>
          <a:prstGeom prst="straightConnector1">
            <a:avLst/>
          </a:prstGeom>
          <a:noFill/>
          <a:ln w="19050" cap="flat" cmpd="sng">
            <a:solidFill>
              <a:schemeClr val="accent2"/>
            </a:solidFill>
            <a:prstDash val="solid"/>
            <a:round/>
            <a:headEnd type="triangle" w="med" len="med"/>
            <a:tailEnd type="triangle" w="med" len="med"/>
          </a:ln>
        </p:spPr>
      </p:cxnSp>
      <p:sp>
        <p:nvSpPr>
          <p:cNvPr id="17" name="Google Shape;1604;p89">
            <a:extLst>
              <a:ext uri="{FF2B5EF4-FFF2-40B4-BE49-F238E27FC236}">
                <a16:creationId xmlns:a16="http://schemas.microsoft.com/office/drawing/2014/main" id="{BBEE4930-FAF5-61AA-CB3F-4DF1005844EF}"/>
              </a:ext>
            </a:extLst>
          </p:cNvPr>
          <p:cNvSpPr/>
          <p:nvPr/>
        </p:nvSpPr>
        <p:spPr>
          <a:xfrm>
            <a:off x="8185514" y="2278333"/>
            <a:ext cx="1728600" cy="2918758"/>
          </a:xfrm>
          <a:prstGeom prst="roundRect">
            <a:avLst>
              <a:gd name="adj" fmla="val 4299"/>
            </a:avLst>
          </a:prstGeom>
          <a:noFill/>
          <a:ln w="508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200" b="1" i="0" u="none" strike="noStrike" kern="1200" cap="none" spc="0" normalizeH="0" baseline="0" noProof="0" dirty="0">
                <a:ln>
                  <a:noFill/>
                </a:ln>
                <a:solidFill>
                  <a:srgbClr val="000000"/>
                </a:solidFill>
                <a:effectLst/>
                <a:uLnTx/>
                <a:uFillTx/>
                <a:latin typeface="Arial" panose="020B0604020202020204"/>
                <a:ea typeface="+mn-ea"/>
                <a:cs typeface="+mn-cs"/>
              </a:rPr>
              <a:t>Agent Builder Service </a:t>
            </a:r>
            <a:br>
              <a:rPr kumimoji="0" lang="en" sz="1200" b="1" i="0" u="none" strike="noStrike" kern="1200" cap="none" spc="0" normalizeH="0" baseline="0" noProof="0" dirty="0">
                <a:ln>
                  <a:noFill/>
                </a:ln>
                <a:solidFill>
                  <a:srgbClr val="000000"/>
                </a:solidFill>
                <a:effectLst/>
                <a:uLnTx/>
                <a:uFillTx/>
                <a:latin typeface="Arial" panose="020B0604020202020204"/>
                <a:ea typeface="+mn-ea"/>
                <a:cs typeface="+mn-cs"/>
              </a:rPr>
            </a:br>
            <a:endParaRPr kumimoji="0" lang="en" sz="10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dirty="0">
                <a:ln>
                  <a:noFill/>
                </a:ln>
                <a:solidFill>
                  <a:srgbClr val="000000"/>
                </a:solidFill>
                <a:effectLst/>
                <a:uLnTx/>
                <a:uFillTx/>
                <a:latin typeface="Arial" panose="020B0604020202020204"/>
                <a:ea typeface="+mn-ea"/>
                <a:cs typeface="+mn-cs"/>
              </a:rPr>
              <a:t>Used to build, iterate and serve AI agents (builds RAG pipelines)</a:t>
            </a:r>
            <a:endParaRPr kumimoji="0"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4" name="Google Shape;1616;p89">
            <a:extLst>
              <a:ext uri="{FF2B5EF4-FFF2-40B4-BE49-F238E27FC236}">
                <a16:creationId xmlns:a16="http://schemas.microsoft.com/office/drawing/2014/main" id="{4DE9FA41-C951-12FB-87C6-D45767D5D9A6}"/>
              </a:ext>
            </a:extLst>
          </p:cNvPr>
          <p:cNvSpPr/>
          <p:nvPr/>
        </p:nvSpPr>
        <p:spPr>
          <a:xfrm>
            <a:off x="10620677" y="3457637"/>
            <a:ext cx="960136" cy="684744"/>
          </a:xfrm>
          <a:prstGeom prst="roundRect">
            <a:avLst>
              <a:gd name="adj" fmla="val 4299"/>
            </a:avLst>
          </a:prstGeom>
          <a:noFill/>
          <a:ln w="25400" cap="flat" cmpd="sng">
            <a:solidFill>
              <a:schemeClr val="bg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 sz="1200" b="0" i="0" u="none" strike="noStrike" kern="1200" cap="none" spc="0" normalizeH="0" baseline="0" noProof="0" dirty="0">
                <a:ln>
                  <a:noFill/>
                </a:ln>
                <a:solidFill>
                  <a:srgbClr val="1B1D36"/>
                </a:solidFill>
                <a:effectLst/>
                <a:uLnTx/>
                <a:uFillTx/>
                <a:latin typeface="Arial" panose="020B0604020202020204"/>
                <a:ea typeface="+mn-ea"/>
                <a:cs typeface="+mn-cs"/>
              </a:rPr>
              <a:t>Customer Application</a:t>
            </a:r>
            <a:endParaRPr kumimoji="0" sz="1200" b="0" i="0" u="none" strike="noStrike" kern="1200" cap="none" spc="0" normalizeH="0" baseline="0" noProof="0" dirty="0">
              <a:ln>
                <a:noFill/>
              </a:ln>
              <a:solidFill>
                <a:srgbClr val="1B1D36"/>
              </a:solidFill>
              <a:effectLst/>
              <a:uLnTx/>
              <a:uFillTx/>
              <a:latin typeface="Arial" panose="020B0604020202020204"/>
              <a:ea typeface="+mn-ea"/>
              <a:cs typeface="+mn-cs"/>
            </a:endParaRPr>
          </a:p>
        </p:txBody>
      </p:sp>
      <p:pic>
        <p:nvPicPr>
          <p:cNvPr id="21" name="Google Shape;1608;p89">
            <a:extLst>
              <a:ext uri="{FF2B5EF4-FFF2-40B4-BE49-F238E27FC236}">
                <a16:creationId xmlns:a16="http://schemas.microsoft.com/office/drawing/2014/main" id="{CCF7299B-CC73-C06D-5543-41E855A6F22A}"/>
              </a:ext>
            </a:extLst>
          </p:cNvPr>
          <p:cNvPicPr preferRelativeResize="0"/>
          <p:nvPr/>
        </p:nvPicPr>
        <p:blipFill rotWithShape="1">
          <a:blip r:embed="rId6">
            <a:alphaModFix/>
          </a:blip>
          <a:srcRect/>
          <a:stretch/>
        </p:blipFill>
        <p:spPr>
          <a:xfrm>
            <a:off x="7970982" y="4986662"/>
            <a:ext cx="431099" cy="431099"/>
          </a:xfrm>
          <a:prstGeom prst="rect">
            <a:avLst/>
          </a:prstGeom>
          <a:noFill/>
          <a:ln>
            <a:noFill/>
          </a:ln>
        </p:spPr>
      </p:pic>
      <p:sp>
        <p:nvSpPr>
          <p:cNvPr id="98" name="Google Shape;1613;p89">
            <a:extLst>
              <a:ext uri="{FF2B5EF4-FFF2-40B4-BE49-F238E27FC236}">
                <a16:creationId xmlns:a16="http://schemas.microsoft.com/office/drawing/2014/main" id="{2CD6179C-D354-925D-F5BA-26763DDDEB91}"/>
              </a:ext>
            </a:extLst>
          </p:cNvPr>
          <p:cNvSpPr txBox="1"/>
          <p:nvPr/>
        </p:nvSpPr>
        <p:spPr>
          <a:xfrm>
            <a:off x="1872643" y="1753794"/>
            <a:ext cx="2247872" cy="338524"/>
          </a:xfrm>
          <a:prstGeom prst="rect">
            <a:avLst/>
          </a:prstGeom>
          <a:solidFill>
            <a:schemeClr val="bg1"/>
          </a:solid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dirty="0">
                <a:ln>
                  <a:noFill/>
                </a:ln>
                <a:solidFill>
                  <a:srgbClr val="1B1D36"/>
                </a:solidFill>
                <a:effectLst/>
                <a:uLnTx/>
                <a:uFillTx/>
                <a:latin typeface="Arial" panose="020B0604020202020204"/>
                <a:ea typeface="+mn-ea"/>
                <a:cs typeface="+mn-cs"/>
              </a:rPr>
              <a:t>vSphere Supervisor Namespace</a:t>
            </a:r>
          </a:p>
        </p:txBody>
      </p:sp>
      <p:grpSp>
        <p:nvGrpSpPr>
          <p:cNvPr id="102" name="Group 101">
            <a:extLst>
              <a:ext uri="{FF2B5EF4-FFF2-40B4-BE49-F238E27FC236}">
                <a16:creationId xmlns:a16="http://schemas.microsoft.com/office/drawing/2014/main" id="{A68A615C-581F-E3C3-0459-723F432F44F7}"/>
              </a:ext>
            </a:extLst>
          </p:cNvPr>
          <p:cNvGrpSpPr/>
          <p:nvPr/>
        </p:nvGrpSpPr>
        <p:grpSpPr>
          <a:xfrm>
            <a:off x="1807211" y="5311704"/>
            <a:ext cx="2877260" cy="787450"/>
            <a:chOff x="2173513" y="4896740"/>
            <a:chExt cx="2877260" cy="787450"/>
          </a:xfrm>
        </p:grpSpPr>
        <p:sp>
          <p:nvSpPr>
            <p:cNvPr id="26" name="Google Shape;1613;p89">
              <a:extLst>
                <a:ext uri="{FF2B5EF4-FFF2-40B4-BE49-F238E27FC236}">
                  <a16:creationId xmlns:a16="http://schemas.microsoft.com/office/drawing/2014/main" id="{ED85A051-3DA1-073B-8A58-9BE313C1340F}"/>
                </a:ext>
              </a:extLst>
            </p:cNvPr>
            <p:cNvSpPr txBox="1"/>
            <p:nvPr/>
          </p:nvSpPr>
          <p:spPr>
            <a:xfrm>
              <a:off x="3991773" y="5364430"/>
              <a:ext cx="1059000" cy="3078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800" b="1" i="0" u="none" strike="noStrike" kern="1200" cap="none" spc="0" normalizeH="0" baseline="0" noProof="0" dirty="0">
                  <a:ln>
                    <a:noFill/>
                  </a:ln>
                  <a:solidFill>
                    <a:srgbClr val="1B1D36"/>
                  </a:solidFill>
                  <a:effectLst/>
                  <a:uLnTx/>
                  <a:uFillTx/>
                  <a:latin typeface="Arial" panose="020B0604020202020204"/>
                  <a:ea typeface="+mn-ea"/>
                  <a:cs typeface="+mn-cs"/>
                </a:rPr>
                <a:t>Data Scientist </a:t>
              </a:r>
              <a:endParaRPr kumimoji="0" sz="800" b="1" i="0" u="none" strike="noStrike" kern="1200" cap="none" spc="0" normalizeH="0" baseline="0" noProof="0" dirty="0">
                <a:ln>
                  <a:noFill/>
                </a:ln>
                <a:solidFill>
                  <a:srgbClr val="1B1D36"/>
                </a:solidFill>
                <a:effectLst/>
                <a:uLnTx/>
                <a:uFillTx/>
                <a:latin typeface="Arial" panose="020B0604020202020204"/>
                <a:ea typeface="+mn-ea"/>
                <a:cs typeface="+mn-cs"/>
              </a:endParaRPr>
            </a:p>
          </p:txBody>
        </p:sp>
        <p:grpSp>
          <p:nvGrpSpPr>
            <p:cNvPr id="100" name="Group 99">
              <a:extLst>
                <a:ext uri="{FF2B5EF4-FFF2-40B4-BE49-F238E27FC236}">
                  <a16:creationId xmlns:a16="http://schemas.microsoft.com/office/drawing/2014/main" id="{E33AC594-9934-490D-2D54-942260B63B2E}"/>
                </a:ext>
              </a:extLst>
            </p:cNvPr>
            <p:cNvGrpSpPr/>
            <p:nvPr/>
          </p:nvGrpSpPr>
          <p:grpSpPr>
            <a:xfrm>
              <a:off x="2173513" y="4896740"/>
              <a:ext cx="2499477" cy="787450"/>
              <a:chOff x="11103939" y="4898238"/>
              <a:chExt cx="2499477" cy="787450"/>
            </a:xfrm>
          </p:grpSpPr>
          <p:sp>
            <p:nvSpPr>
              <p:cNvPr id="12" name="Google Shape;1599;p89">
                <a:extLst>
                  <a:ext uri="{FF2B5EF4-FFF2-40B4-BE49-F238E27FC236}">
                    <a16:creationId xmlns:a16="http://schemas.microsoft.com/office/drawing/2014/main" id="{D30E854B-FBF6-1E17-A374-1AAC7B3D1BF8}"/>
                  </a:ext>
                </a:extLst>
              </p:cNvPr>
              <p:cNvSpPr txBox="1"/>
              <p:nvPr/>
            </p:nvSpPr>
            <p:spPr>
              <a:xfrm>
                <a:off x="11767943" y="5368407"/>
                <a:ext cx="660000" cy="3078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800" b="1" i="0" u="none" strike="noStrike" kern="1200" cap="none" spc="0" normalizeH="0" baseline="0" noProof="0" dirty="0">
                    <a:ln>
                      <a:noFill/>
                    </a:ln>
                    <a:solidFill>
                      <a:srgbClr val="1B1D36"/>
                    </a:solidFill>
                    <a:effectLst/>
                    <a:uLnTx/>
                    <a:uFillTx/>
                    <a:latin typeface="Arial" panose="020B0604020202020204"/>
                    <a:ea typeface="+mn-ea"/>
                    <a:cs typeface="+mn-cs"/>
                  </a:rPr>
                  <a:t> </a:t>
                </a:r>
                <a:r>
                  <a:rPr kumimoji="0" lang="en" sz="800" b="1" i="0" u="none" strike="noStrike" kern="1200" cap="none" spc="0" normalizeH="0" baseline="0" noProof="0" dirty="0" err="1">
                    <a:ln>
                      <a:noFill/>
                    </a:ln>
                    <a:solidFill>
                      <a:srgbClr val="1B1D36"/>
                    </a:solidFill>
                    <a:effectLst/>
                    <a:uLnTx/>
                    <a:uFillTx/>
                    <a:latin typeface="Arial" panose="020B0604020202020204"/>
                    <a:ea typeface="+mn-ea"/>
                    <a:cs typeface="+mn-cs"/>
                  </a:rPr>
                  <a:t>MLOps</a:t>
                </a:r>
                <a:endParaRPr kumimoji="0" sz="800" b="1" i="0" u="none" strike="noStrike" kern="1200" cap="none" spc="0" normalizeH="0" baseline="0" noProof="0" dirty="0">
                  <a:ln>
                    <a:noFill/>
                  </a:ln>
                  <a:solidFill>
                    <a:srgbClr val="1B1D36"/>
                  </a:solidFill>
                  <a:effectLst/>
                  <a:uLnTx/>
                  <a:uFillTx/>
                  <a:latin typeface="Arial" panose="020B0604020202020204"/>
                  <a:ea typeface="+mn-ea"/>
                  <a:cs typeface="+mn-cs"/>
                </a:endParaRPr>
              </a:p>
            </p:txBody>
          </p:sp>
          <p:pic>
            <p:nvPicPr>
              <p:cNvPr id="22" name="Google Shape;1609;p89">
                <a:extLst>
                  <a:ext uri="{FF2B5EF4-FFF2-40B4-BE49-F238E27FC236}">
                    <a16:creationId xmlns:a16="http://schemas.microsoft.com/office/drawing/2014/main" id="{64F70C97-0B1D-EC9A-33A0-80FC9F4A6C12}"/>
                  </a:ext>
                </a:extLst>
              </p:cNvPr>
              <p:cNvPicPr preferRelativeResize="0"/>
              <p:nvPr/>
            </p:nvPicPr>
            <p:blipFill rotWithShape="1">
              <a:blip r:embed="rId5">
                <a:alphaModFix/>
              </a:blip>
              <a:srcRect/>
              <a:stretch/>
            </p:blipFill>
            <p:spPr>
              <a:xfrm>
                <a:off x="11911109" y="4904010"/>
                <a:ext cx="429768" cy="429768"/>
              </a:xfrm>
              <a:prstGeom prst="rect">
                <a:avLst/>
              </a:prstGeom>
              <a:noFill/>
              <a:ln>
                <a:noFill/>
              </a:ln>
            </p:spPr>
          </p:pic>
          <p:pic>
            <p:nvPicPr>
              <p:cNvPr id="23" name="Google Shape;1610;p89">
                <a:extLst>
                  <a:ext uri="{FF2B5EF4-FFF2-40B4-BE49-F238E27FC236}">
                    <a16:creationId xmlns:a16="http://schemas.microsoft.com/office/drawing/2014/main" id="{0BEA2FCD-4F66-0072-3DAB-CE81D409169C}"/>
                  </a:ext>
                </a:extLst>
              </p:cNvPr>
              <p:cNvPicPr preferRelativeResize="0"/>
              <p:nvPr/>
            </p:nvPicPr>
            <p:blipFill rotWithShape="1">
              <a:blip r:embed="rId4">
                <a:alphaModFix/>
              </a:blip>
              <a:srcRect/>
              <a:stretch/>
            </p:blipFill>
            <p:spPr>
              <a:xfrm>
                <a:off x="13173648" y="4904010"/>
                <a:ext cx="429768" cy="429768"/>
              </a:xfrm>
              <a:prstGeom prst="rect">
                <a:avLst/>
              </a:prstGeom>
              <a:noFill/>
              <a:ln>
                <a:noFill/>
              </a:ln>
            </p:spPr>
          </p:pic>
          <p:pic>
            <p:nvPicPr>
              <p:cNvPr id="24" name="Google Shape;1611;p89">
                <a:extLst>
                  <a:ext uri="{FF2B5EF4-FFF2-40B4-BE49-F238E27FC236}">
                    <a16:creationId xmlns:a16="http://schemas.microsoft.com/office/drawing/2014/main" id="{B9D55823-999A-4DF1-AD44-C862537EB2FB}"/>
                  </a:ext>
                </a:extLst>
              </p:cNvPr>
              <p:cNvPicPr preferRelativeResize="0"/>
              <p:nvPr/>
            </p:nvPicPr>
            <p:blipFill rotWithShape="1">
              <a:blip r:embed="rId6">
                <a:alphaModFix/>
              </a:blip>
              <a:srcRect/>
              <a:stretch/>
            </p:blipFill>
            <p:spPr>
              <a:xfrm>
                <a:off x="12541713" y="4903344"/>
                <a:ext cx="431099" cy="431099"/>
              </a:xfrm>
              <a:prstGeom prst="rect">
                <a:avLst/>
              </a:prstGeom>
              <a:noFill/>
              <a:ln>
                <a:noFill/>
              </a:ln>
            </p:spPr>
          </p:pic>
          <p:sp>
            <p:nvSpPr>
              <p:cNvPr id="25" name="Google Shape;1612;p89">
                <a:extLst>
                  <a:ext uri="{FF2B5EF4-FFF2-40B4-BE49-F238E27FC236}">
                    <a16:creationId xmlns:a16="http://schemas.microsoft.com/office/drawing/2014/main" id="{01454072-2968-C0DB-9A8D-80E59FFC59B5}"/>
                  </a:ext>
                </a:extLst>
              </p:cNvPr>
              <p:cNvSpPr txBox="1"/>
              <p:nvPr/>
            </p:nvSpPr>
            <p:spPr>
              <a:xfrm>
                <a:off x="12362148" y="5368407"/>
                <a:ext cx="725400" cy="3078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800" b="1" i="0" u="none" strike="noStrike" kern="1200" cap="none" spc="0" normalizeH="0" baseline="0" noProof="0" dirty="0">
                    <a:ln>
                      <a:noFill/>
                    </a:ln>
                    <a:solidFill>
                      <a:srgbClr val="1B1D36"/>
                    </a:solidFill>
                    <a:effectLst/>
                    <a:uLnTx/>
                    <a:uFillTx/>
                    <a:latin typeface="Arial" panose="020B0604020202020204"/>
                    <a:ea typeface="+mn-ea"/>
                    <a:cs typeface="+mn-cs"/>
                  </a:rPr>
                  <a:t>Developer</a:t>
                </a:r>
                <a:endParaRPr kumimoji="0" sz="800" b="1" i="0" u="none" strike="noStrike" kern="1200" cap="none" spc="0" normalizeH="0" baseline="0" noProof="0" dirty="0">
                  <a:ln>
                    <a:noFill/>
                  </a:ln>
                  <a:solidFill>
                    <a:srgbClr val="1B1D36"/>
                  </a:solidFill>
                  <a:effectLst/>
                  <a:uLnTx/>
                  <a:uFillTx/>
                  <a:latin typeface="Arial" panose="020B0604020202020204"/>
                  <a:ea typeface="+mn-ea"/>
                  <a:cs typeface="+mn-cs"/>
                </a:endParaRPr>
              </a:p>
            </p:txBody>
          </p:sp>
          <p:sp>
            <p:nvSpPr>
              <p:cNvPr id="69" name="Google Shape;1599;p89">
                <a:extLst>
                  <a:ext uri="{FF2B5EF4-FFF2-40B4-BE49-F238E27FC236}">
                    <a16:creationId xmlns:a16="http://schemas.microsoft.com/office/drawing/2014/main" id="{6197AD4E-D8EC-4A5E-FA75-57C17E2189DD}"/>
                  </a:ext>
                </a:extLst>
              </p:cNvPr>
              <p:cNvSpPr txBox="1"/>
              <p:nvPr/>
            </p:nvSpPr>
            <p:spPr>
              <a:xfrm>
                <a:off x="11123168" y="5377888"/>
                <a:ext cx="660000" cy="3078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800" b="1" i="0" u="none" strike="noStrike" kern="1200" cap="none" spc="0" normalizeH="0" baseline="0" noProof="0" dirty="0">
                    <a:ln>
                      <a:noFill/>
                    </a:ln>
                    <a:solidFill>
                      <a:srgbClr val="1B1D36"/>
                    </a:solidFill>
                    <a:effectLst/>
                    <a:uLnTx/>
                    <a:uFillTx/>
                    <a:latin typeface="Arial" panose="020B0604020202020204"/>
                    <a:ea typeface="+mn-ea"/>
                    <a:cs typeface="+mn-cs"/>
                  </a:rPr>
                  <a:t> VI Admin</a:t>
                </a:r>
                <a:endParaRPr kumimoji="0" sz="800" b="1" i="0" u="none" strike="noStrike" kern="1200" cap="none" spc="0" normalizeH="0" baseline="0" noProof="0" dirty="0">
                  <a:ln>
                    <a:noFill/>
                  </a:ln>
                  <a:solidFill>
                    <a:srgbClr val="1B1D36"/>
                  </a:solidFill>
                  <a:effectLst/>
                  <a:uLnTx/>
                  <a:uFillTx/>
                  <a:latin typeface="Arial" panose="020B0604020202020204"/>
                  <a:ea typeface="+mn-ea"/>
                  <a:cs typeface="+mn-cs"/>
                </a:endParaRPr>
              </a:p>
            </p:txBody>
          </p:sp>
          <p:pic>
            <p:nvPicPr>
              <p:cNvPr id="99" name="Google Shape;1563;p86">
                <a:extLst>
                  <a:ext uri="{FF2B5EF4-FFF2-40B4-BE49-F238E27FC236}">
                    <a16:creationId xmlns:a16="http://schemas.microsoft.com/office/drawing/2014/main" id="{897568E7-DC23-5A2A-895E-5D478C9F34D0}"/>
                  </a:ext>
                </a:extLst>
              </p:cNvPr>
              <p:cNvPicPr preferRelativeResize="0">
                <a:picLocks noChangeAspect="1"/>
              </p:cNvPicPr>
              <p:nvPr/>
            </p:nvPicPr>
            <p:blipFill rotWithShape="1">
              <a:blip r:embed="rId7">
                <a:alphaModFix/>
              </a:blip>
              <a:srcRect b="39217"/>
              <a:stretch/>
            </p:blipFill>
            <p:spPr>
              <a:xfrm>
                <a:off x="11103939" y="4898238"/>
                <a:ext cx="767494" cy="474915"/>
              </a:xfrm>
              <a:prstGeom prst="rect">
                <a:avLst/>
              </a:prstGeom>
              <a:noFill/>
              <a:ln>
                <a:noFill/>
              </a:ln>
            </p:spPr>
          </p:pic>
        </p:grpSp>
      </p:grpSp>
      <p:pic>
        <p:nvPicPr>
          <p:cNvPr id="68" name="Google Shape;1563;p86">
            <a:extLst>
              <a:ext uri="{FF2B5EF4-FFF2-40B4-BE49-F238E27FC236}">
                <a16:creationId xmlns:a16="http://schemas.microsoft.com/office/drawing/2014/main" id="{37E0ACD5-414B-4CF8-A3CC-F02B7C905B28}"/>
              </a:ext>
            </a:extLst>
          </p:cNvPr>
          <p:cNvPicPr preferRelativeResize="0">
            <a:picLocks noChangeAspect="1"/>
          </p:cNvPicPr>
          <p:nvPr/>
        </p:nvPicPr>
        <p:blipFill rotWithShape="1">
          <a:blip r:embed="rId7">
            <a:alphaModFix/>
          </a:blip>
          <a:srcRect b="39217"/>
          <a:stretch/>
        </p:blipFill>
        <p:spPr>
          <a:xfrm>
            <a:off x="1375505" y="1500662"/>
            <a:ext cx="767494" cy="474915"/>
          </a:xfrm>
          <a:prstGeom prst="rect">
            <a:avLst/>
          </a:prstGeom>
          <a:noFill/>
          <a:ln>
            <a:noFill/>
          </a:ln>
        </p:spPr>
      </p:pic>
    </p:spTree>
    <p:extLst>
      <p:ext uri="{BB962C8B-B14F-4D97-AF65-F5344CB8AC3E}">
        <p14:creationId xmlns:p14="http://schemas.microsoft.com/office/powerpoint/2010/main" val="2910072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668"/>
        <p:cNvGrpSpPr/>
        <p:nvPr/>
      </p:nvGrpSpPr>
      <p:grpSpPr>
        <a:xfrm>
          <a:off x="0" y="0"/>
          <a:ext cx="0" cy="0"/>
          <a:chOff x="0" y="0"/>
          <a:chExt cx="0" cy="0"/>
        </a:xfrm>
      </p:grpSpPr>
      <p:sp>
        <p:nvSpPr>
          <p:cNvPr id="8669" name="Google Shape;8669;p81"/>
          <p:cNvSpPr/>
          <p:nvPr/>
        </p:nvSpPr>
        <p:spPr>
          <a:xfrm>
            <a:off x="-4094420" y="2981313"/>
            <a:ext cx="19784686" cy="14200291"/>
          </a:xfrm>
          <a:prstGeom prst="arc">
            <a:avLst>
              <a:gd name="adj1" fmla="val 13713559"/>
              <a:gd name="adj2" fmla="val 18374095"/>
            </a:avLst>
          </a:prstGeom>
          <a:noFill/>
          <a:ln w="508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717074"/>
              </a:solidFill>
              <a:latin typeface="Arial"/>
              <a:ea typeface="Arial"/>
              <a:cs typeface="Arial"/>
              <a:sym typeface="Arial"/>
            </a:endParaRPr>
          </a:p>
        </p:txBody>
      </p:sp>
      <p:pic>
        <p:nvPicPr>
          <p:cNvPr id="8670" name="Google Shape;8670;p81"/>
          <p:cNvPicPr preferRelativeResize="0"/>
          <p:nvPr/>
        </p:nvPicPr>
        <p:blipFill rotWithShape="1">
          <a:blip r:embed="rId3">
            <a:alphaModFix/>
          </a:blip>
          <a:srcRect/>
          <a:stretch/>
        </p:blipFill>
        <p:spPr>
          <a:xfrm>
            <a:off x="4947404" y="3454702"/>
            <a:ext cx="758754" cy="758754"/>
          </a:xfrm>
          <a:prstGeom prst="rect">
            <a:avLst/>
          </a:prstGeom>
          <a:noFill/>
          <a:ln>
            <a:noFill/>
          </a:ln>
        </p:spPr>
      </p:pic>
      <p:pic>
        <p:nvPicPr>
          <p:cNvPr id="8671" name="Google Shape;8671;p81"/>
          <p:cNvPicPr preferRelativeResize="0"/>
          <p:nvPr/>
        </p:nvPicPr>
        <p:blipFill rotWithShape="1">
          <a:blip r:embed="rId3">
            <a:alphaModFix/>
          </a:blip>
          <a:srcRect/>
          <a:stretch/>
        </p:blipFill>
        <p:spPr>
          <a:xfrm>
            <a:off x="6062938" y="3842654"/>
            <a:ext cx="391969" cy="391969"/>
          </a:xfrm>
          <a:prstGeom prst="rect">
            <a:avLst/>
          </a:prstGeom>
          <a:noFill/>
          <a:ln>
            <a:noFill/>
          </a:ln>
        </p:spPr>
      </p:pic>
      <p:pic>
        <p:nvPicPr>
          <p:cNvPr id="8672" name="Google Shape;8672;p81"/>
          <p:cNvPicPr preferRelativeResize="0"/>
          <p:nvPr/>
        </p:nvPicPr>
        <p:blipFill rotWithShape="1">
          <a:blip r:embed="rId3">
            <a:alphaModFix/>
          </a:blip>
          <a:srcRect/>
          <a:stretch/>
        </p:blipFill>
        <p:spPr>
          <a:xfrm>
            <a:off x="7421523" y="3689189"/>
            <a:ext cx="573372" cy="573372"/>
          </a:xfrm>
          <a:prstGeom prst="rect">
            <a:avLst/>
          </a:prstGeom>
          <a:noFill/>
          <a:ln>
            <a:noFill/>
          </a:ln>
        </p:spPr>
      </p:pic>
      <p:pic>
        <p:nvPicPr>
          <p:cNvPr id="8673" name="Google Shape;8673;p81"/>
          <p:cNvPicPr preferRelativeResize="0"/>
          <p:nvPr/>
        </p:nvPicPr>
        <p:blipFill rotWithShape="1">
          <a:blip r:embed="rId4">
            <a:alphaModFix/>
          </a:blip>
          <a:srcRect/>
          <a:stretch/>
        </p:blipFill>
        <p:spPr>
          <a:xfrm>
            <a:off x="7316240" y="4258280"/>
            <a:ext cx="391969" cy="391969"/>
          </a:xfrm>
          <a:prstGeom prst="rect">
            <a:avLst/>
          </a:prstGeom>
          <a:noFill/>
          <a:ln>
            <a:noFill/>
          </a:ln>
        </p:spPr>
      </p:pic>
      <p:pic>
        <p:nvPicPr>
          <p:cNvPr id="8674" name="Google Shape;8674;p81"/>
          <p:cNvPicPr preferRelativeResize="0"/>
          <p:nvPr/>
        </p:nvPicPr>
        <p:blipFill rotWithShape="1">
          <a:blip r:embed="rId4">
            <a:alphaModFix/>
          </a:blip>
          <a:srcRect/>
          <a:stretch/>
        </p:blipFill>
        <p:spPr>
          <a:xfrm>
            <a:off x="6607681" y="3578724"/>
            <a:ext cx="573372" cy="573372"/>
          </a:xfrm>
          <a:prstGeom prst="rect">
            <a:avLst/>
          </a:prstGeom>
          <a:noFill/>
          <a:ln>
            <a:noFill/>
          </a:ln>
        </p:spPr>
      </p:pic>
      <p:pic>
        <p:nvPicPr>
          <p:cNvPr id="8675" name="Google Shape;8675;p81"/>
          <p:cNvPicPr preferRelativeResize="0"/>
          <p:nvPr/>
        </p:nvPicPr>
        <p:blipFill rotWithShape="1">
          <a:blip r:embed="rId4">
            <a:alphaModFix/>
          </a:blip>
          <a:srcRect/>
          <a:stretch/>
        </p:blipFill>
        <p:spPr>
          <a:xfrm>
            <a:off x="8002244" y="3893005"/>
            <a:ext cx="391969" cy="391969"/>
          </a:xfrm>
          <a:prstGeom prst="rect">
            <a:avLst/>
          </a:prstGeom>
          <a:noFill/>
          <a:ln>
            <a:noFill/>
          </a:ln>
        </p:spPr>
      </p:pic>
      <p:pic>
        <p:nvPicPr>
          <p:cNvPr id="8676" name="Google Shape;8676;p81"/>
          <p:cNvPicPr preferRelativeResize="0"/>
          <p:nvPr/>
        </p:nvPicPr>
        <p:blipFill rotWithShape="1">
          <a:blip r:embed="rId4">
            <a:alphaModFix/>
          </a:blip>
          <a:srcRect/>
          <a:stretch/>
        </p:blipFill>
        <p:spPr>
          <a:xfrm>
            <a:off x="4469663" y="3860858"/>
            <a:ext cx="562737" cy="562737"/>
          </a:xfrm>
          <a:prstGeom prst="rect">
            <a:avLst/>
          </a:prstGeom>
          <a:noFill/>
          <a:ln>
            <a:noFill/>
          </a:ln>
        </p:spPr>
      </p:pic>
      <p:pic>
        <p:nvPicPr>
          <p:cNvPr id="8677" name="Google Shape;8677;p81"/>
          <p:cNvPicPr preferRelativeResize="0"/>
          <p:nvPr/>
        </p:nvPicPr>
        <p:blipFill rotWithShape="1">
          <a:blip r:embed="rId4">
            <a:alphaModFix/>
          </a:blip>
          <a:srcRect/>
          <a:stretch/>
        </p:blipFill>
        <p:spPr>
          <a:xfrm>
            <a:off x="3507716" y="4258280"/>
            <a:ext cx="723107" cy="723107"/>
          </a:xfrm>
          <a:prstGeom prst="rect">
            <a:avLst/>
          </a:prstGeom>
          <a:noFill/>
          <a:ln>
            <a:noFill/>
          </a:ln>
        </p:spPr>
      </p:pic>
      <p:pic>
        <p:nvPicPr>
          <p:cNvPr id="8678" name="Google Shape;8678;p81"/>
          <p:cNvPicPr preferRelativeResize="0"/>
          <p:nvPr/>
        </p:nvPicPr>
        <p:blipFill rotWithShape="1">
          <a:blip r:embed="rId3">
            <a:alphaModFix/>
          </a:blip>
          <a:srcRect/>
          <a:stretch/>
        </p:blipFill>
        <p:spPr>
          <a:xfrm>
            <a:off x="10136826" y="4038235"/>
            <a:ext cx="391969" cy="391969"/>
          </a:xfrm>
          <a:prstGeom prst="rect">
            <a:avLst/>
          </a:prstGeom>
          <a:noFill/>
          <a:ln>
            <a:noFill/>
          </a:ln>
        </p:spPr>
      </p:pic>
      <p:sp>
        <p:nvSpPr>
          <p:cNvPr id="8679" name="Google Shape;8679;p81"/>
          <p:cNvSpPr/>
          <p:nvPr/>
        </p:nvSpPr>
        <p:spPr>
          <a:xfrm>
            <a:off x="317500" y="3491816"/>
            <a:ext cx="914400" cy="100200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pic>
        <p:nvPicPr>
          <p:cNvPr id="8680" name="Google Shape;8680;p81"/>
          <p:cNvPicPr preferRelativeResize="0"/>
          <p:nvPr/>
        </p:nvPicPr>
        <p:blipFill rotWithShape="1">
          <a:blip r:embed="rId3">
            <a:alphaModFix/>
          </a:blip>
          <a:srcRect/>
          <a:stretch/>
        </p:blipFill>
        <p:spPr>
          <a:xfrm>
            <a:off x="3929905" y="3929633"/>
            <a:ext cx="391969" cy="391969"/>
          </a:xfrm>
          <a:prstGeom prst="rect">
            <a:avLst/>
          </a:prstGeom>
          <a:noFill/>
          <a:ln>
            <a:noFill/>
          </a:ln>
        </p:spPr>
      </p:pic>
      <p:sp>
        <p:nvSpPr>
          <p:cNvPr id="8681" name="Google Shape;8681;p81"/>
          <p:cNvSpPr/>
          <p:nvPr/>
        </p:nvSpPr>
        <p:spPr>
          <a:xfrm>
            <a:off x="1905745" y="2765715"/>
            <a:ext cx="1287766" cy="1290645"/>
          </a:xfrm>
          <a:prstGeom prst="ellipse">
            <a:avLst/>
          </a:prstGeom>
          <a:solidFill>
            <a:srgbClr val="F2F2F2">
              <a:alpha val="48627"/>
            </a:srgb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pic>
        <p:nvPicPr>
          <p:cNvPr id="8682" name="Google Shape;8682;p81"/>
          <p:cNvPicPr preferRelativeResize="0"/>
          <p:nvPr/>
        </p:nvPicPr>
        <p:blipFill rotWithShape="1">
          <a:blip r:embed="rId4">
            <a:alphaModFix/>
          </a:blip>
          <a:srcRect/>
          <a:stretch/>
        </p:blipFill>
        <p:spPr>
          <a:xfrm>
            <a:off x="1821468" y="3981787"/>
            <a:ext cx="293977" cy="293977"/>
          </a:xfrm>
          <a:prstGeom prst="rect">
            <a:avLst/>
          </a:prstGeom>
          <a:noFill/>
          <a:ln>
            <a:noFill/>
          </a:ln>
        </p:spPr>
      </p:pic>
      <p:pic>
        <p:nvPicPr>
          <p:cNvPr id="8683" name="Google Shape;8683;p81"/>
          <p:cNvPicPr preferRelativeResize="0"/>
          <p:nvPr/>
        </p:nvPicPr>
        <p:blipFill rotWithShape="1">
          <a:blip r:embed="rId3">
            <a:alphaModFix/>
          </a:blip>
          <a:srcRect/>
          <a:stretch/>
        </p:blipFill>
        <p:spPr>
          <a:xfrm>
            <a:off x="2191322" y="4023298"/>
            <a:ext cx="391969" cy="391969"/>
          </a:xfrm>
          <a:prstGeom prst="rect">
            <a:avLst/>
          </a:prstGeom>
          <a:noFill/>
          <a:ln>
            <a:noFill/>
          </a:ln>
        </p:spPr>
      </p:pic>
      <p:pic>
        <p:nvPicPr>
          <p:cNvPr id="8684" name="Google Shape;8684;p81"/>
          <p:cNvPicPr preferRelativeResize="0"/>
          <p:nvPr/>
        </p:nvPicPr>
        <p:blipFill rotWithShape="1">
          <a:blip r:embed="rId4">
            <a:alphaModFix/>
          </a:blip>
          <a:srcRect/>
          <a:stretch/>
        </p:blipFill>
        <p:spPr>
          <a:xfrm>
            <a:off x="3175113" y="4026920"/>
            <a:ext cx="391969" cy="391969"/>
          </a:xfrm>
          <a:prstGeom prst="rect">
            <a:avLst/>
          </a:prstGeom>
          <a:noFill/>
          <a:ln>
            <a:noFill/>
          </a:ln>
        </p:spPr>
      </p:pic>
      <p:pic>
        <p:nvPicPr>
          <p:cNvPr id="8685" name="Google Shape;8685;p81"/>
          <p:cNvPicPr preferRelativeResize="0"/>
          <p:nvPr/>
        </p:nvPicPr>
        <p:blipFill rotWithShape="1">
          <a:blip r:embed="rId4">
            <a:alphaModFix/>
          </a:blip>
          <a:srcRect/>
          <a:stretch/>
        </p:blipFill>
        <p:spPr>
          <a:xfrm>
            <a:off x="9542808" y="4647260"/>
            <a:ext cx="293977" cy="293977"/>
          </a:xfrm>
          <a:prstGeom prst="rect">
            <a:avLst/>
          </a:prstGeom>
          <a:noFill/>
          <a:ln>
            <a:noFill/>
          </a:ln>
        </p:spPr>
      </p:pic>
      <p:sp>
        <p:nvSpPr>
          <p:cNvPr id="8686" name="Google Shape;8686;p8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chemeClr val="accent2"/>
              </a:buClr>
              <a:buSzPts val="2800"/>
              <a:buFont typeface="Arial"/>
              <a:buNone/>
            </a:pPr>
            <a:r>
              <a:rPr lang="en-US"/>
              <a:t>What’s New in VMware Cloud Foundation 9</a:t>
            </a:r>
            <a:endParaRPr/>
          </a:p>
        </p:txBody>
      </p:sp>
      <p:grpSp>
        <p:nvGrpSpPr>
          <p:cNvPr id="8687" name="Google Shape;8687;p81"/>
          <p:cNvGrpSpPr/>
          <p:nvPr/>
        </p:nvGrpSpPr>
        <p:grpSpPr>
          <a:xfrm>
            <a:off x="1174313" y="1937477"/>
            <a:ext cx="3022880" cy="4005572"/>
            <a:chOff x="1174313" y="1937477"/>
            <a:chExt cx="3022880" cy="4005572"/>
          </a:xfrm>
        </p:grpSpPr>
        <p:grpSp>
          <p:nvGrpSpPr>
            <p:cNvPr id="8688" name="Google Shape;8688;p81"/>
            <p:cNvGrpSpPr/>
            <p:nvPr/>
          </p:nvGrpSpPr>
          <p:grpSpPr>
            <a:xfrm>
              <a:off x="1174313" y="1937477"/>
              <a:ext cx="3022880" cy="4005572"/>
              <a:chOff x="781204" y="1541237"/>
              <a:chExt cx="3022880" cy="4005572"/>
            </a:xfrm>
          </p:grpSpPr>
          <p:sp>
            <p:nvSpPr>
              <p:cNvPr id="8689" name="Google Shape;8689;p81"/>
              <p:cNvSpPr txBox="1"/>
              <p:nvPr/>
            </p:nvSpPr>
            <p:spPr>
              <a:xfrm>
                <a:off x="781204" y="3950407"/>
                <a:ext cx="3022880"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a:solidFill>
                      <a:schemeClr val="dk1"/>
                    </a:solidFill>
                    <a:latin typeface="Arial"/>
                    <a:ea typeface="Arial"/>
                    <a:cs typeface="Arial"/>
                    <a:sym typeface="Arial"/>
                  </a:rPr>
                  <a:t>VCF Deployment Pathways</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SDDC Infrastructure</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Fleet Management &amp; Operations</a:t>
                </a:r>
                <a:endParaRPr/>
              </a:p>
              <a:p>
                <a:pPr marL="342900" marR="0" lvl="0" indent="-342900" algn="l" rtl="0">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Deliver Self-service IaaS</a:t>
                </a:r>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Migrating to VCF</a:t>
                </a:r>
                <a:endParaRPr/>
              </a:p>
              <a:p>
                <a:pPr marL="342900" marR="0" lvl="0" indent="-268605" algn="l" rtl="0">
                  <a:lnSpc>
                    <a:spcPct val="100000"/>
                  </a:lnSpc>
                  <a:spcBef>
                    <a:spcPts val="600"/>
                  </a:spcBef>
                  <a:spcAft>
                    <a:spcPts val="0"/>
                  </a:spcAft>
                  <a:buClr>
                    <a:srgbClr val="666666"/>
                  </a:buClr>
                  <a:buSzPts val="1170"/>
                  <a:buFont typeface="Arial"/>
                  <a:buNone/>
                </a:pPr>
                <a:endParaRPr sz="1300">
                  <a:solidFill>
                    <a:schemeClr val="dk1"/>
                  </a:solidFill>
                  <a:latin typeface="Arial"/>
                  <a:ea typeface="Arial"/>
                  <a:cs typeface="Arial"/>
                  <a:sym typeface="Arial"/>
                </a:endParaRPr>
              </a:p>
              <a:p>
                <a:pPr marL="342900" marR="0" lvl="0" indent="-268605" algn="l" rtl="0">
                  <a:lnSpc>
                    <a:spcPct val="100000"/>
                  </a:lnSpc>
                  <a:spcBef>
                    <a:spcPts val="600"/>
                  </a:spcBef>
                  <a:spcAft>
                    <a:spcPts val="0"/>
                  </a:spcAft>
                  <a:buClr>
                    <a:srgbClr val="666666"/>
                  </a:buClr>
                  <a:buSzPts val="1170"/>
                  <a:buFont typeface="Arial"/>
                  <a:buNone/>
                </a:pPr>
                <a:endParaRPr sz="180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grpSp>
            <p:nvGrpSpPr>
              <p:cNvPr id="8690" name="Google Shape;8690;p81"/>
              <p:cNvGrpSpPr/>
              <p:nvPr/>
            </p:nvGrpSpPr>
            <p:grpSpPr>
              <a:xfrm>
                <a:off x="1121726" y="2294053"/>
                <a:ext cx="1975340" cy="846680"/>
                <a:chOff x="12476192" y="3025185"/>
                <a:chExt cx="665958" cy="285446"/>
              </a:xfrm>
            </p:grpSpPr>
            <p:sp>
              <p:nvSpPr>
                <p:cNvPr id="8691" name="Google Shape;8691;p81"/>
                <p:cNvSpPr/>
                <p:nvPr/>
              </p:nvSpPr>
              <p:spPr>
                <a:xfrm>
                  <a:off x="12476192" y="302518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6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692" name="Google Shape;8692;p81"/>
                <p:cNvSpPr/>
                <p:nvPr/>
              </p:nvSpPr>
              <p:spPr>
                <a:xfrm>
                  <a:off x="12778089" y="3134512"/>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693" name="Google Shape;8693;p81"/>
                <p:cNvSpPr/>
                <p:nvPr/>
              </p:nvSpPr>
              <p:spPr>
                <a:xfrm>
                  <a:off x="12554829" y="3185661"/>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8694" name="Google Shape;8694;p81"/>
              <p:cNvSpPr txBox="1"/>
              <p:nvPr/>
            </p:nvSpPr>
            <p:spPr>
              <a:xfrm>
                <a:off x="1102974" y="1541237"/>
                <a:ext cx="1992527"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B050"/>
                  </a:buClr>
                  <a:buSzPts val="2800"/>
                  <a:buFont typeface="Arial"/>
                  <a:buNone/>
                </a:pPr>
                <a:r>
                  <a:rPr lang="en-US" sz="2800">
                    <a:solidFill>
                      <a:schemeClr val="accent5"/>
                    </a:solidFill>
                    <a:latin typeface="Arial"/>
                    <a:ea typeface="Arial"/>
                    <a:cs typeface="Arial"/>
                    <a:sym typeface="Arial"/>
                  </a:rPr>
                  <a:t>Modernize</a:t>
                </a:r>
                <a:endParaRPr sz="1400" b="0" i="0" u="none" strike="noStrike" cap="none">
                  <a:solidFill>
                    <a:schemeClr val="accent5"/>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b="0" i="0" u="none" strike="noStrike" cap="none">
                    <a:solidFill>
                      <a:srgbClr val="3F3F3F"/>
                    </a:solidFill>
                    <a:latin typeface="Arial"/>
                    <a:ea typeface="Arial"/>
                    <a:cs typeface="Arial"/>
                    <a:sym typeface="Arial"/>
                  </a:rPr>
                  <a:t> </a:t>
                </a:r>
                <a:r>
                  <a:rPr lang="en-US" sz="1600">
                    <a:solidFill>
                      <a:srgbClr val="3F3F3F"/>
                    </a:solidFill>
                    <a:latin typeface="Arial"/>
                    <a:ea typeface="Arial"/>
                    <a:cs typeface="Arial"/>
                    <a:sym typeface="Arial"/>
                  </a:rPr>
                  <a:t>Infrastructure</a:t>
                </a:r>
                <a:endParaRPr sz="1400" b="0" i="0" u="none" strike="noStrike" cap="none">
                  <a:solidFill>
                    <a:srgbClr val="000000"/>
                  </a:solidFill>
                  <a:latin typeface="Arial"/>
                  <a:ea typeface="Arial"/>
                  <a:cs typeface="Arial"/>
                  <a:sym typeface="Arial"/>
                </a:endParaRPr>
              </a:p>
            </p:txBody>
          </p:sp>
          <p:sp>
            <p:nvSpPr>
              <p:cNvPr id="8695" name="Google Shape;8695;p81"/>
              <p:cNvSpPr/>
              <p:nvPr/>
            </p:nvSpPr>
            <p:spPr>
              <a:xfrm>
                <a:off x="1963596" y="3013435"/>
                <a:ext cx="392029" cy="392223"/>
              </a:xfrm>
              <a:custGeom>
                <a:avLst/>
                <a:gdLst/>
                <a:ahLst/>
                <a:cxnLst/>
                <a:rect l="l" t="t" r="r" b="b"/>
                <a:pathLst>
                  <a:path w="597674" h="597674" extrusionOk="0">
                    <a:moveTo>
                      <a:pt x="298521" y="597675"/>
                    </a:moveTo>
                    <a:cubicBezTo>
                      <a:pt x="133449" y="597675"/>
                      <a:pt x="0" y="463593"/>
                      <a:pt x="0" y="298521"/>
                    </a:cubicBezTo>
                    <a:cubicBezTo>
                      <a:pt x="0" y="133449"/>
                      <a:pt x="134082" y="0"/>
                      <a:pt x="298521" y="0"/>
                    </a:cubicBezTo>
                    <a:cubicBezTo>
                      <a:pt x="462961" y="0"/>
                      <a:pt x="597675" y="134082"/>
                      <a:pt x="597675" y="298521"/>
                    </a:cubicBezTo>
                    <a:cubicBezTo>
                      <a:pt x="597675" y="462961"/>
                      <a:pt x="462961" y="597675"/>
                      <a:pt x="298521" y="597675"/>
                    </a:cubicBezTo>
                    <a:close/>
                    <a:moveTo>
                      <a:pt x="298521" y="15811"/>
                    </a:moveTo>
                    <a:cubicBezTo>
                      <a:pt x="142304" y="15811"/>
                      <a:pt x="15179" y="142936"/>
                      <a:pt x="15179" y="299154"/>
                    </a:cubicBezTo>
                    <a:cubicBezTo>
                      <a:pt x="15179" y="455371"/>
                      <a:pt x="142304" y="582496"/>
                      <a:pt x="298521" y="582496"/>
                    </a:cubicBezTo>
                    <a:cubicBezTo>
                      <a:pt x="454739" y="582496"/>
                      <a:pt x="581863" y="455371"/>
                      <a:pt x="581863" y="299154"/>
                    </a:cubicBezTo>
                    <a:cubicBezTo>
                      <a:pt x="581863" y="142936"/>
                      <a:pt x="454106" y="15811"/>
                      <a:pt x="298521" y="1581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8696" name="Google Shape;8696;p81"/>
            <p:cNvGrpSpPr/>
            <p:nvPr/>
          </p:nvGrpSpPr>
          <p:grpSpPr>
            <a:xfrm>
              <a:off x="1976514" y="2836643"/>
              <a:ext cx="1146226" cy="1148790"/>
              <a:chOff x="4907426" y="1918730"/>
              <a:chExt cx="983346" cy="985545"/>
            </a:xfrm>
          </p:grpSpPr>
          <p:sp>
            <p:nvSpPr>
              <p:cNvPr id="8697" name="Google Shape;8697;p81"/>
              <p:cNvSpPr/>
              <p:nvPr/>
            </p:nvSpPr>
            <p:spPr>
              <a:xfrm>
                <a:off x="4907426" y="1918730"/>
                <a:ext cx="983346" cy="985545"/>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8698" name="Google Shape;8698;p81"/>
              <p:cNvGrpSpPr/>
              <p:nvPr/>
            </p:nvGrpSpPr>
            <p:grpSpPr>
              <a:xfrm>
                <a:off x="5101312" y="2167085"/>
                <a:ext cx="640019" cy="488811"/>
                <a:chOff x="1838171" y="5616069"/>
                <a:chExt cx="652849" cy="498611"/>
              </a:xfrm>
            </p:grpSpPr>
            <p:sp>
              <p:nvSpPr>
                <p:cNvPr id="8699" name="Google Shape;8699;p81"/>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700" name="Google Shape;8700;p81"/>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701" name="Google Shape;8701;p81"/>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702" name="Google Shape;8702;p81"/>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703" name="Google Shape;8703;p81"/>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704" name="Google Shape;8704;p81"/>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705" name="Google Shape;8705;p81"/>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706" name="Google Shape;8706;p81"/>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707" name="Google Shape;8707;p81"/>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8708" name="Google Shape;8708;p81"/>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grpSp>
        </p:grpSp>
      </p:grpSp>
      <p:grpSp>
        <p:nvGrpSpPr>
          <p:cNvPr id="8709" name="Google Shape;8709;p81"/>
          <p:cNvGrpSpPr/>
          <p:nvPr/>
        </p:nvGrpSpPr>
        <p:grpSpPr>
          <a:xfrm>
            <a:off x="4505095" y="1239090"/>
            <a:ext cx="3339494" cy="4699969"/>
            <a:chOff x="4505095" y="1239090"/>
            <a:chExt cx="3339494" cy="4699969"/>
          </a:xfrm>
        </p:grpSpPr>
        <p:grpSp>
          <p:nvGrpSpPr>
            <p:cNvPr id="8710" name="Google Shape;8710;p81"/>
            <p:cNvGrpSpPr/>
            <p:nvPr/>
          </p:nvGrpSpPr>
          <p:grpSpPr>
            <a:xfrm>
              <a:off x="4505095" y="1239090"/>
              <a:ext cx="3339494" cy="4699969"/>
              <a:chOff x="3086492" y="919759"/>
              <a:chExt cx="3339494" cy="4699969"/>
            </a:xfrm>
          </p:grpSpPr>
          <p:grpSp>
            <p:nvGrpSpPr>
              <p:cNvPr id="8711" name="Google Shape;8711;p81"/>
              <p:cNvGrpSpPr/>
              <p:nvPr/>
            </p:nvGrpSpPr>
            <p:grpSpPr>
              <a:xfrm>
                <a:off x="3086492" y="919759"/>
                <a:ext cx="2913554" cy="2117144"/>
                <a:chOff x="3086492" y="-58141"/>
                <a:chExt cx="2913554" cy="2117144"/>
              </a:xfrm>
            </p:grpSpPr>
            <p:grpSp>
              <p:nvGrpSpPr>
                <p:cNvPr id="8712" name="Google Shape;8712;p81"/>
                <p:cNvGrpSpPr/>
                <p:nvPr/>
              </p:nvGrpSpPr>
              <p:grpSpPr>
                <a:xfrm>
                  <a:off x="3548416" y="1081279"/>
                  <a:ext cx="2021076" cy="977724"/>
                  <a:chOff x="12464666" y="3025185"/>
                  <a:chExt cx="681377" cy="329628"/>
                </a:xfrm>
              </p:grpSpPr>
              <p:sp>
                <p:nvSpPr>
                  <p:cNvPr id="8713" name="Google Shape;8713;p81"/>
                  <p:cNvSpPr/>
                  <p:nvPr/>
                </p:nvSpPr>
                <p:spPr>
                  <a:xfrm>
                    <a:off x="12464666" y="3041125"/>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5000">
                        <a:schemeClr val="lt1"/>
                      </a:gs>
                      <a:gs pos="62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714" name="Google Shape;8714;p81"/>
                  <p:cNvSpPr/>
                  <p:nvPr/>
                </p:nvSpPr>
                <p:spPr>
                  <a:xfrm>
                    <a:off x="12517750" y="302518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6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715" name="Google Shape;8715;p81"/>
                  <p:cNvSpPr/>
                  <p:nvPr/>
                </p:nvSpPr>
                <p:spPr>
                  <a:xfrm>
                    <a:off x="12781982" y="3209913"/>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rgbClr val="FFFFFF"/>
                      </a:gs>
                      <a:gs pos="29000">
                        <a:srgbClr val="FFFFFF"/>
                      </a:gs>
                      <a:gs pos="48000">
                        <a:srgbClr val="F8FBFE"/>
                      </a:gs>
                      <a:gs pos="69000">
                        <a:srgbClr val="E7F3FB"/>
                      </a:gs>
                      <a:gs pos="100000">
                        <a:srgbClr val="CEE6F7"/>
                      </a:gs>
                    </a:gsLst>
                    <a:lin ang="2700000"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8716" name="Google Shape;8716;p81"/>
                <p:cNvSpPr txBox="1"/>
                <p:nvPr/>
              </p:nvSpPr>
              <p:spPr>
                <a:xfrm>
                  <a:off x="3086492" y="-58141"/>
                  <a:ext cx="2913554"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1600"/>
                    <a:buFont typeface="Arial"/>
                    <a:buNone/>
                  </a:pPr>
                  <a:r>
                    <a:rPr lang="en-US" sz="1600">
                      <a:solidFill>
                        <a:srgbClr val="3F3F3F"/>
                      </a:solidFill>
                      <a:latin typeface="Arial"/>
                      <a:ea typeface="Arial"/>
                      <a:cs typeface="Arial"/>
                      <a:sym typeface="Arial"/>
                    </a:rPr>
                    <a:t>Deliver a Unified</a:t>
                  </a:r>
                  <a:r>
                    <a:rPr lang="en-US" sz="1600" b="0" i="0" u="none" strike="noStrike" cap="none">
                      <a:solidFill>
                        <a:srgbClr val="3F3F3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B0F0"/>
                    </a:buClr>
                    <a:buSzPts val="2800"/>
                    <a:buFont typeface="Arial"/>
                    <a:buNone/>
                  </a:pPr>
                  <a:r>
                    <a:rPr lang="en-US" sz="2800">
                      <a:solidFill>
                        <a:schemeClr val="accent3"/>
                      </a:solidFill>
                      <a:latin typeface="Arial"/>
                      <a:ea typeface="Arial"/>
                      <a:cs typeface="Arial"/>
                      <a:sym typeface="Arial"/>
                    </a:rPr>
                    <a:t>Cloud</a:t>
                  </a:r>
                  <a:r>
                    <a:rPr lang="en-US" sz="2800" b="0" i="0" u="none" strike="noStrike" cap="none">
                      <a:solidFill>
                        <a:srgbClr val="3F3F3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a:solidFill>
                        <a:srgbClr val="3F3F3F"/>
                      </a:solidFill>
                      <a:latin typeface="Arial"/>
                      <a:ea typeface="Arial"/>
                      <a:cs typeface="Arial"/>
                      <a:sym typeface="Arial"/>
                    </a:rPr>
                    <a:t>Experience for Developers</a:t>
                  </a:r>
                  <a:endParaRPr sz="1600" b="0" i="0" u="none" strike="noStrike" cap="none">
                    <a:solidFill>
                      <a:srgbClr val="3F3F3F"/>
                    </a:solidFill>
                    <a:latin typeface="Arial"/>
                    <a:ea typeface="Arial"/>
                    <a:cs typeface="Arial"/>
                    <a:sym typeface="Arial"/>
                  </a:endParaRPr>
                </a:p>
              </p:txBody>
            </p:sp>
            <p:grpSp>
              <p:nvGrpSpPr>
                <p:cNvPr id="8717" name="Google Shape;8717;p81" descr="Solution Developer&#10;"/>
                <p:cNvGrpSpPr/>
                <p:nvPr/>
              </p:nvGrpSpPr>
              <p:grpSpPr>
                <a:xfrm>
                  <a:off x="4344065" y="1676675"/>
                  <a:ext cx="388710" cy="344209"/>
                  <a:chOff x="8450011" y="775576"/>
                  <a:chExt cx="592615" cy="524768"/>
                </a:xfrm>
              </p:grpSpPr>
              <p:sp>
                <p:nvSpPr>
                  <p:cNvPr id="8718" name="Google Shape;8718;p81"/>
                  <p:cNvSpPr/>
                  <p:nvPr/>
                </p:nvSpPr>
                <p:spPr>
                  <a:xfrm>
                    <a:off x="8704260" y="775576"/>
                    <a:ext cx="338366" cy="419561"/>
                  </a:xfrm>
                  <a:custGeom>
                    <a:avLst/>
                    <a:gdLst/>
                    <a:ahLst/>
                    <a:cxnLst/>
                    <a:rect l="l" t="t" r="r" b="b"/>
                    <a:pathLst>
                      <a:path w="338366" h="419561" extrusionOk="0">
                        <a:moveTo>
                          <a:pt x="0" y="0"/>
                        </a:moveTo>
                        <a:lnTo>
                          <a:pt x="0" y="39928"/>
                        </a:lnTo>
                        <a:lnTo>
                          <a:pt x="15812" y="39928"/>
                        </a:lnTo>
                        <a:lnTo>
                          <a:pt x="15812" y="15844"/>
                        </a:lnTo>
                        <a:lnTo>
                          <a:pt x="322555" y="15844"/>
                        </a:lnTo>
                        <a:lnTo>
                          <a:pt x="322555" y="403717"/>
                        </a:lnTo>
                        <a:lnTo>
                          <a:pt x="187208" y="403717"/>
                        </a:lnTo>
                        <a:lnTo>
                          <a:pt x="187208" y="419561"/>
                        </a:lnTo>
                        <a:lnTo>
                          <a:pt x="338366" y="419561"/>
                        </a:lnTo>
                        <a:lnTo>
                          <a:pt x="338366"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nvGrpSpPr>
                  <p:cNvPr id="8719" name="Google Shape;8719;p81"/>
                  <p:cNvGrpSpPr/>
                  <p:nvPr/>
                </p:nvGrpSpPr>
                <p:grpSpPr>
                  <a:xfrm>
                    <a:off x="8450011" y="834518"/>
                    <a:ext cx="418056" cy="465826"/>
                    <a:chOff x="8450011" y="834518"/>
                    <a:chExt cx="418056" cy="465826"/>
                  </a:xfrm>
                </p:grpSpPr>
                <p:sp>
                  <p:nvSpPr>
                    <p:cNvPr id="8720" name="Google Shape;8720;p81"/>
                    <p:cNvSpPr/>
                    <p:nvPr/>
                  </p:nvSpPr>
                  <p:spPr>
                    <a:xfrm>
                      <a:off x="8450011" y="1084860"/>
                      <a:ext cx="418056" cy="215484"/>
                    </a:xfrm>
                    <a:custGeom>
                      <a:avLst/>
                      <a:gdLst/>
                      <a:ahLst/>
                      <a:cxnLst/>
                      <a:rect l="l" t="t" r="r" b="b"/>
                      <a:pathLst>
                        <a:path w="418056" h="215484" extrusionOk="0">
                          <a:moveTo>
                            <a:pt x="209344" y="15844"/>
                          </a:moveTo>
                          <a:cubicBezTo>
                            <a:pt x="277650" y="15844"/>
                            <a:pt x="344058" y="48167"/>
                            <a:pt x="396552" y="106475"/>
                          </a:cubicBezTo>
                          <a:cubicBezTo>
                            <a:pt x="399715" y="110277"/>
                            <a:pt x="401612" y="115348"/>
                            <a:pt x="401612" y="120418"/>
                          </a:cubicBezTo>
                          <a:lnTo>
                            <a:pt x="401612" y="179993"/>
                          </a:lnTo>
                          <a:cubicBezTo>
                            <a:pt x="401612" y="190767"/>
                            <a:pt x="393390" y="199640"/>
                            <a:pt x="383271" y="199640"/>
                          </a:cubicBezTo>
                          <a:lnTo>
                            <a:pt x="34153" y="199640"/>
                          </a:lnTo>
                          <a:cubicBezTo>
                            <a:pt x="24033" y="199640"/>
                            <a:pt x="15812" y="190767"/>
                            <a:pt x="15812" y="179993"/>
                          </a:cubicBezTo>
                          <a:lnTo>
                            <a:pt x="15812" y="120418"/>
                          </a:lnTo>
                          <a:cubicBezTo>
                            <a:pt x="15812" y="115348"/>
                            <a:pt x="17709" y="110277"/>
                            <a:pt x="20871" y="106475"/>
                          </a:cubicBezTo>
                          <a:cubicBezTo>
                            <a:pt x="24033" y="102672"/>
                            <a:pt x="27828" y="98869"/>
                            <a:pt x="31623" y="95067"/>
                          </a:cubicBezTo>
                          <a:cubicBezTo>
                            <a:pt x="84117" y="43097"/>
                            <a:pt x="145466" y="15844"/>
                            <a:pt x="209344" y="15844"/>
                          </a:cubicBezTo>
                          <a:moveTo>
                            <a:pt x="209344" y="0"/>
                          </a:moveTo>
                          <a:cubicBezTo>
                            <a:pt x="142936" y="0"/>
                            <a:pt x="76528" y="27886"/>
                            <a:pt x="20239" y="83659"/>
                          </a:cubicBezTo>
                          <a:cubicBezTo>
                            <a:pt x="16444" y="87461"/>
                            <a:pt x="12649" y="91264"/>
                            <a:pt x="8854" y="95701"/>
                          </a:cubicBezTo>
                          <a:cubicBezTo>
                            <a:pt x="3162" y="102038"/>
                            <a:pt x="0" y="110911"/>
                            <a:pt x="0" y="120418"/>
                          </a:cubicBezTo>
                          <a:lnTo>
                            <a:pt x="0" y="179993"/>
                          </a:lnTo>
                          <a:cubicBezTo>
                            <a:pt x="0" y="199640"/>
                            <a:pt x="15179" y="215485"/>
                            <a:pt x="34153" y="215485"/>
                          </a:cubicBezTo>
                          <a:lnTo>
                            <a:pt x="383903" y="215485"/>
                          </a:lnTo>
                          <a:cubicBezTo>
                            <a:pt x="402877" y="215485"/>
                            <a:pt x="418056" y="199640"/>
                            <a:pt x="418056" y="179993"/>
                          </a:cubicBezTo>
                          <a:lnTo>
                            <a:pt x="418056" y="120418"/>
                          </a:lnTo>
                          <a:cubicBezTo>
                            <a:pt x="418056" y="111545"/>
                            <a:pt x="414894" y="102672"/>
                            <a:pt x="409202" y="95701"/>
                          </a:cubicBezTo>
                          <a:cubicBezTo>
                            <a:pt x="351648" y="32323"/>
                            <a:pt x="280812" y="0"/>
                            <a:pt x="209344" y="0"/>
                          </a:cubicBezTo>
                          <a:lnTo>
                            <a:pt x="209344"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721" name="Google Shape;8721;p81"/>
                    <p:cNvSpPr/>
                    <p:nvPr/>
                  </p:nvSpPr>
                  <p:spPr>
                    <a:xfrm>
                      <a:off x="8539820" y="834518"/>
                      <a:ext cx="237804" cy="238300"/>
                    </a:xfrm>
                    <a:custGeom>
                      <a:avLst/>
                      <a:gdLst/>
                      <a:ahLst/>
                      <a:cxnLst/>
                      <a:rect l="l" t="t" r="r" b="b"/>
                      <a:pathLst>
                        <a:path w="237804" h="238300" extrusionOk="0">
                          <a:moveTo>
                            <a:pt x="118902" y="15844"/>
                          </a:moveTo>
                          <a:cubicBezTo>
                            <a:pt x="175824" y="15844"/>
                            <a:pt x="221993" y="62110"/>
                            <a:pt x="221993" y="119150"/>
                          </a:cubicBezTo>
                          <a:cubicBezTo>
                            <a:pt x="221993" y="176190"/>
                            <a:pt x="175824" y="222456"/>
                            <a:pt x="118902" y="222456"/>
                          </a:cubicBezTo>
                          <a:cubicBezTo>
                            <a:pt x="61981" y="222456"/>
                            <a:pt x="15812" y="176190"/>
                            <a:pt x="15812" y="119150"/>
                          </a:cubicBezTo>
                          <a:cubicBezTo>
                            <a:pt x="15812" y="62110"/>
                            <a:pt x="62614" y="15844"/>
                            <a:pt x="118902" y="15844"/>
                          </a:cubicBezTo>
                          <a:moveTo>
                            <a:pt x="118902" y="0"/>
                          </a:moveTo>
                          <a:cubicBezTo>
                            <a:pt x="53127" y="0"/>
                            <a:pt x="0" y="53237"/>
                            <a:pt x="0" y="119150"/>
                          </a:cubicBezTo>
                          <a:cubicBezTo>
                            <a:pt x="0" y="185063"/>
                            <a:pt x="53127" y="238301"/>
                            <a:pt x="118902" y="238301"/>
                          </a:cubicBezTo>
                          <a:cubicBezTo>
                            <a:pt x="184678" y="238301"/>
                            <a:pt x="237805" y="185063"/>
                            <a:pt x="237805" y="119150"/>
                          </a:cubicBezTo>
                          <a:cubicBezTo>
                            <a:pt x="237805" y="53237"/>
                            <a:pt x="184678" y="0"/>
                            <a:pt x="118902" y="0"/>
                          </a:cubicBezTo>
                          <a:lnTo>
                            <a:pt x="118902"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8722" name="Google Shape;8722;p81"/>
                  <p:cNvGrpSpPr/>
                  <p:nvPr/>
                </p:nvGrpSpPr>
                <p:grpSpPr>
                  <a:xfrm>
                    <a:off x="8791540" y="899163"/>
                    <a:ext cx="209976" cy="139431"/>
                    <a:chOff x="8791540" y="899163"/>
                    <a:chExt cx="209976" cy="139431"/>
                  </a:xfrm>
                </p:grpSpPr>
                <p:sp>
                  <p:nvSpPr>
                    <p:cNvPr id="8723" name="Google Shape;8723;p81"/>
                    <p:cNvSpPr/>
                    <p:nvPr/>
                  </p:nvSpPr>
                  <p:spPr>
                    <a:xfrm>
                      <a:off x="8791540" y="923247"/>
                      <a:ext cx="63878" cy="88095"/>
                    </a:xfrm>
                    <a:custGeom>
                      <a:avLst/>
                      <a:gdLst/>
                      <a:ahLst/>
                      <a:cxnLst/>
                      <a:rect l="l" t="t" r="r" b="b"/>
                      <a:pathLst>
                        <a:path w="63878" h="88095" extrusionOk="0">
                          <a:moveTo>
                            <a:pt x="0" y="52604"/>
                          </a:moveTo>
                          <a:lnTo>
                            <a:pt x="0" y="36125"/>
                          </a:lnTo>
                          <a:lnTo>
                            <a:pt x="63878" y="0"/>
                          </a:lnTo>
                          <a:lnTo>
                            <a:pt x="63878" y="17112"/>
                          </a:lnTo>
                          <a:lnTo>
                            <a:pt x="13914" y="43731"/>
                          </a:lnTo>
                          <a:lnTo>
                            <a:pt x="63878" y="70349"/>
                          </a:lnTo>
                          <a:lnTo>
                            <a:pt x="63878" y="88095"/>
                          </a:lnTo>
                          <a:lnTo>
                            <a:pt x="0" y="5260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724" name="Google Shape;8724;p81"/>
                    <p:cNvSpPr/>
                    <p:nvPr/>
                  </p:nvSpPr>
                  <p:spPr>
                    <a:xfrm>
                      <a:off x="8866802" y="899163"/>
                      <a:ext cx="59451" cy="139431"/>
                    </a:xfrm>
                    <a:custGeom>
                      <a:avLst/>
                      <a:gdLst/>
                      <a:ahLst/>
                      <a:cxnLst/>
                      <a:rect l="l" t="t" r="r" b="b"/>
                      <a:pathLst>
                        <a:path w="59451" h="139431" extrusionOk="0">
                          <a:moveTo>
                            <a:pt x="43007" y="0"/>
                          </a:moveTo>
                          <a:lnTo>
                            <a:pt x="59451" y="0"/>
                          </a:lnTo>
                          <a:lnTo>
                            <a:pt x="16444" y="139431"/>
                          </a:lnTo>
                          <a:lnTo>
                            <a:pt x="0" y="139431"/>
                          </a:lnTo>
                          <a:lnTo>
                            <a:pt x="43007"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725" name="Google Shape;8725;p81"/>
                    <p:cNvSpPr/>
                    <p:nvPr/>
                  </p:nvSpPr>
                  <p:spPr>
                    <a:xfrm>
                      <a:off x="8937638" y="923880"/>
                      <a:ext cx="63878" cy="88728"/>
                    </a:xfrm>
                    <a:custGeom>
                      <a:avLst/>
                      <a:gdLst/>
                      <a:ahLst/>
                      <a:cxnLst/>
                      <a:rect l="l" t="t" r="r" b="b"/>
                      <a:pathLst>
                        <a:path w="63878" h="88728" extrusionOk="0">
                          <a:moveTo>
                            <a:pt x="0" y="70349"/>
                          </a:moveTo>
                          <a:lnTo>
                            <a:pt x="49964" y="43731"/>
                          </a:lnTo>
                          <a:lnTo>
                            <a:pt x="0" y="17112"/>
                          </a:lnTo>
                          <a:lnTo>
                            <a:pt x="0" y="0"/>
                          </a:lnTo>
                          <a:lnTo>
                            <a:pt x="63878" y="36125"/>
                          </a:lnTo>
                          <a:lnTo>
                            <a:pt x="63878" y="52604"/>
                          </a:lnTo>
                          <a:lnTo>
                            <a:pt x="0" y="88729"/>
                          </a:lnTo>
                          <a:lnTo>
                            <a:pt x="0" y="703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grpSp>
          <p:sp>
            <p:nvSpPr>
              <p:cNvPr id="8726" name="Google Shape;8726;p81"/>
              <p:cNvSpPr txBox="1"/>
              <p:nvPr/>
            </p:nvSpPr>
            <p:spPr>
              <a:xfrm>
                <a:off x="3139918" y="4023326"/>
                <a:ext cx="3286068"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a:solidFill>
                      <a:schemeClr val="dk1"/>
                    </a:solidFill>
                    <a:latin typeface="Arial"/>
                    <a:ea typeface="Arial"/>
                    <a:cs typeface="Arial"/>
                    <a:sym typeface="Arial"/>
                  </a:rPr>
                  <a:t>Infrastructure for Kubernetes</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Private AI</a:t>
                </a:r>
                <a:endParaRPr/>
              </a:p>
              <a:p>
                <a:pPr marL="342900" marR="0" lvl="0" indent="-268605" algn="l" rtl="0">
                  <a:lnSpc>
                    <a:spcPct val="100000"/>
                  </a:lnSpc>
                  <a:spcBef>
                    <a:spcPts val="600"/>
                  </a:spcBef>
                  <a:spcAft>
                    <a:spcPts val="0"/>
                  </a:spcAft>
                  <a:buClr>
                    <a:srgbClr val="666666"/>
                  </a:buClr>
                  <a:buSzPts val="1170"/>
                  <a:buFont typeface="Arial"/>
                  <a:buNone/>
                </a:pPr>
                <a:endParaRPr sz="1800">
                  <a:solidFill>
                    <a:schemeClr val="dk1"/>
                  </a:solidFill>
                  <a:latin typeface="Arial"/>
                  <a:ea typeface="Arial"/>
                  <a:cs typeface="Arial"/>
                  <a:sym typeface="Arial"/>
                </a:endParaRPr>
              </a:p>
              <a:p>
                <a:pPr marL="342900" marR="0" lvl="0" indent="-268605" algn="l" rtl="0">
                  <a:lnSpc>
                    <a:spcPct val="100000"/>
                  </a:lnSpc>
                  <a:spcBef>
                    <a:spcPts val="600"/>
                  </a:spcBef>
                  <a:spcAft>
                    <a:spcPts val="0"/>
                  </a:spcAft>
                  <a:buClr>
                    <a:srgbClr val="666666"/>
                  </a:buClr>
                  <a:buSzPts val="1170"/>
                  <a:buFont typeface="Arial"/>
                  <a:buNone/>
                </a:pPr>
                <a:endParaRPr sz="180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grpSp>
        <p:grpSp>
          <p:nvGrpSpPr>
            <p:cNvPr id="8727" name="Google Shape;8727;p81"/>
            <p:cNvGrpSpPr/>
            <p:nvPr/>
          </p:nvGrpSpPr>
          <p:grpSpPr>
            <a:xfrm>
              <a:off x="5336894" y="2294535"/>
              <a:ext cx="1287766" cy="1290645"/>
              <a:chOff x="8608478" y="1596058"/>
              <a:chExt cx="1288152" cy="1291032"/>
            </a:xfrm>
          </p:grpSpPr>
          <p:sp>
            <p:nvSpPr>
              <p:cNvPr id="8728" name="Google Shape;8728;p81"/>
              <p:cNvSpPr/>
              <p:nvPr/>
            </p:nvSpPr>
            <p:spPr>
              <a:xfrm>
                <a:off x="8608478" y="1596058"/>
                <a:ext cx="1288152" cy="1291032"/>
              </a:xfrm>
              <a:prstGeom prst="ellipse">
                <a:avLst/>
              </a:prstGeom>
              <a:solidFill>
                <a:srgbClr val="F2F2F2">
                  <a:alpha val="48627"/>
                </a:srgb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8729" name="Google Shape;8729;p81"/>
              <p:cNvGrpSpPr/>
              <p:nvPr/>
            </p:nvGrpSpPr>
            <p:grpSpPr>
              <a:xfrm>
                <a:off x="8679268" y="1667007"/>
                <a:ext cx="1146570" cy="1149134"/>
                <a:chOff x="8679268" y="1667007"/>
                <a:chExt cx="1146570" cy="1149134"/>
              </a:xfrm>
            </p:grpSpPr>
            <p:sp>
              <p:nvSpPr>
                <p:cNvPr id="8730" name="Google Shape;8730;p81"/>
                <p:cNvSpPr/>
                <p:nvPr/>
              </p:nvSpPr>
              <p:spPr>
                <a:xfrm>
                  <a:off x="8679268" y="1667007"/>
                  <a:ext cx="1146570" cy="1149134"/>
                </a:xfrm>
                <a:prstGeom prst="ellipse">
                  <a:avLst/>
                </a:prstGeom>
                <a:gradFill>
                  <a:gsLst>
                    <a:gs pos="0">
                      <a:schemeClr val="accent2"/>
                    </a:gs>
                    <a:gs pos="71000">
                      <a:schemeClr val="accent3"/>
                    </a:gs>
                    <a:gs pos="100000">
                      <a:schemeClr val="accent3"/>
                    </a:gs>
                  </a:gsLst>
                  <a:lin ang="189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8731" name="Google Shape;8731;p81"/>
                <p:cNvGrpSpPr/>
                <p:nvPr/>
              </p:nvGrpSpPr>
              <p:grpSpPr>
                <a:xfrm>
                  <a:off x="8942231" y="1952085"/>
                  <a:ext cx="620645" cy="578979"/>
                  <a:chOff x="1854219" y="4375174"/>
                  <a:chExt cx="543307" cy="506834"/>
                </a:xfrm>
              </p:grpSpPr>
              <p:sp>
                <p:nvSpPr>
                  <p:cNvPr id="8732" name="Google Shape;8732;p81"/>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733" name="Google Shape;8733;p81"/>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734" name="Google Shape;8734;p81"/>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735" name="Google Shape;8735;p81"/>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736" name="Google Shape;8736;p81"/>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737" name="Google Shape;8737;p81"/>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grpSp>
          </p:grpSp>
        </p:grpSp>
      </p:grpSp>
      <p:sp>
        <p:nvSpPr>
          <p:cNvPr id="8738" name="Google Shape;8738;p81"/>
          <p:cNvSpPr/>
          <p:nvPr/>
        </p:nvSpPr>
        <p:spPr>
          <a:xfrm>
            <a:off x="770932" y="1156766"/>
            <a:ext cx="10732066" cy="5061154"/>
          </a:xfrm>
          <a:prstGeom prst="rect">
            <a:avLst/>
          </a:prstGeom>
          <a:solidFill>
            <a:schemeClr val="lt1">
              <a:alpha val="71372"/>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grpSp>
        <p:nvGrpSpPr>
          <p:cNvPr id="8739" name="Google Shape;8739;p81"/>
          <p:cNvGrpSpPr/>
          <p:nvPr/>
        </p:nvGrpSpPr>
        <p:grpSpPr>
          <a:xfrm>
            <a:off x="8277195" y="1680727"/>
            <a:ext cx="3166775" cy="4263158"/>
            <a:chOff x="8277195" y="1680727"/>
            <a:chExt cx="3166775" cy="4263158"/>
          </a:xfrm>
        </p:grpSpPr>
        <p:grpSp>
          <p:nvGrpSpPr>
            <p:cNvPr id="8740" name="Google Shape;8740;p81"/>
            <p:cNvGrpSpPr/>
            <p:nvPr/>
          </p:nvGrpSpPr>
          <p:grpSpPr>
            <a:xfrm>
              <a:off x="8437023" y="1680727"/>
              <a:ext cx="1862290" cy="2301029"/>
              <a:chOff x="9189059" y="1284487"/>
              <a:chExt cx="1862290" cy="2301029"/>
            </a:xfrm>
          </p:grpSpPr>
          <p:grpSp>
            <p:nvGrpSpPr>
              <p:cNvPr id="8741" name="Google Shape;8741;p81"/>
              <p:cNvGrpSpPr/>
              <p:nvPr/>
            </p:nvGrpSpPr>
            <p:grpSpPr>
              <a:xfrm>
                <a:off x="9189059" y="1284487"/>
                <a:ext cx="1862290" cy="2301029"/>
                <a:chOff x="9189059" y="1284487"/>
                <a:chExt cx="1862290" cy="2301029"/>
              </a:xfrm>
            </p:grpSpPr>
            <p:grpSp>
              <p:nvGrpSpPr>
                <p:cNvPr id="8742" name="Google Shape;8742;p81"/>
                <p:cNvGrpSpPr/>
                <p:nvPr/>
              </p:nvGrpSpPr>
              <p:grpSpPr>
                <a:xfrm>
                  <a:off x="9199277" y="2334636"/>
                  <a:ext cx="1852072" cy="706825"/>
                  <a:chOff x="12517750" y="3071895"/>
                  <a:chExt cx="624400" cy="238296"/>
                </a:xfrm>
              </p:grpSpPr>
              <p:sp>
                <p:nvSpPr>
                  <p:cNvPr id="8743" name="Google Shape;8743;p81"/>
                  <p:cNvSpPr/>
                  <p:nvPr/>
                </p:nvSpPr>
                <p:spPr>
                  <a:xfrm>
                    <a:off x="12517750" y="307189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8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744" name="Google Shape;8744;p81"/>
                  <p:cNvSpPr/>
                  <p:nvPr/>
                </p:nvSpPr>
                <p:spPr>
                  <a:xfrm>
                    <a:off x="12778089" y="3112492"/>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745" name="Google Shape;8745;p81"/>
                  <p:cNvSpPr/>
                  <p:nvPr/>
                </p:nvSpPr>
                <p:spPr>
                  <a:xfrm>
                    <a:off x="12588940" y="3180461"/>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8746" name="Google Shape;8746;p81"/>
                <p:cNvSpPr txBox="1"/>
                <p:nvPr/>
              </p:nvSpPr>
              <p:spPr>
                <a:xfrm>
                  <a:off x="9189059" y="1284487"/>
                  <a:ext cx="1731210"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B666FD"/>
                    </a:buClr>
                    <a:buSzPts val="2800"/>
                    <a:buFont typeface="Arial"/>
                    <a:buNone/>
                  </a:pPr>
                  <a:r>
                    <a:rPr lang="en-US" sz="2800">
                      <a:solidFill>
                        <a:schemeClr val="accent4"/>
                      </a:solidFill>
                      <a:latin typeface="Arial"/>
                      <a:ea typeface="Arial"/>
                      <a:cs typeface="Arial"/>
                      <a:sym typeface="Arial"/>
                    </a:rPr>
                    <a:t>Secure</a:t>
                  </a:r>
                  <a:r>
                    <a:rPr lang="en-US" sz="1600" b="0" i="0" u="none" strike="noStrike" cap="none">
                      <a:solidFill>
                        <a:srgbClr val="3F3F3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a:solidFill>
                        <a:srgbClr val="3F3F3F"/>
                      </a:solidFill>
                      <a:latin typeface="Arial"/>
                      <a:ea typeface="Arial"/>
                      <a:cs typeface="Arial"/>
                      <a:sym typeface="Arial"/>
                    </a:rPr>
                    <a:t>and Protect y</a:t>
                  </a:r>
                  <a:r>
                    <a:rPr lang="en-US" sz="1600" b="0" i="0" u="none" strike="noStrike" cap="none">
                      <a:solidFill>
                        <a:srgbClr val="3F3F3F"/>
                      </a:solidFill>
                      <a:latin typeface="Arial"/>
                      <a:ea typeface="Arial"/>
                      <a:cs typeface="Arial"/>
                      <a:sym typeface="Arial"/>
                    </a:rPr>
                    <a:t>our Private Cloud</a:t>
                  </a:r>
                  <a:endParaRPr sz="1400" b="0" i="0" u="none" strike="noStrike" cap="none">
                    <a:solidFill>
                      <a:srgbClr val="000000"/>
                    </a:solidFill>
                    <a:latin typeface="Arial"/>
                    <a:ea typeface="Arial"/>
                    <a:cs typeface="Arial"/>
                    <a:sym typeface="Arial"/>
                  </a:endParaRPr>
                </a:p>
              </p:txBody>
            </p:sp>
            <p:sp>
              <p:nvSpPr>
                <p:cNvPr id="8747" name="Google Shape;8747;p81"/>
                <p:cNvSpPr/>
                <p:nvPr/>
              </p:nvSpPr>
              <p:spPr>
                <a:xfrm>
                  <a:off x="9709737" y="2853996"/>
                  <a:ext cx="731616" cy="731520"/>
                </a:xfrm>
                <a:prstGeom prst="ellipse">
                  <a:avLst/>
                </a:prstGeom>
                <a:solidFill>
                  <a:schemeClr val="accent4"/>
                </a:solidFill>
                <a:ln w="25400" cap="flat" cmpd="sng">
                  <a:solidFill>
                    <a:schemeClr val="lt1"/>
                  </a:solidFill>
                  <a:prstDash val="solid"/>
                  <a:round/>
                  <a:headEnd type="none" w="sm" len="sm"/>
                  <a:tailEnd type="none" w="sm" len="sm"/>
                </a:ln>
              </p:spPr>
              <p:txBody>
                <a:bodyPr spcFirstLastPara="1" wrap="square" lIns="60900" tIns="30450" rIns="60900" bIns="304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3F3F3F"/>
                    </a:solidFill>
                    <a:latin typeface="Arial"/>
                    <a:ea typeface="Arial"/>
                    <a:cs typeface="Arial"/>
                    <a:sym typeface="Arial"/>
                  </a:endParaRPr>
                </a:p>
              </p:txBody>
            </p:sp>
          </p:grpSp>
          <p:sp>
            <p:nvSpPr>
              <p:cNvPr id="8748" name="Google Shape;8748;p81"/>
              <p:cNvSpPr/>
              <p:nvPr/>
            </p:nvSpPr>
            <p:spPr>
              <a:xfrm>
                <a:off x="9904196" y="3026289"/>
                <a:ext cx="366532" cy="373491"/>
              </a:xfrm>
              <a:custGeom>
                <a:avLst/>
                <a:gdLst/>
                <a:ahLst/>
                <a:cxnLst/>
                <a:rect l="l" t="t" r="r" b="b"/>
                <a:pathLst>
                  <a:path w="579532" h="576685" extrusionOk="0">
                    <a:moveTo>
                      <a:pt x="130350" y="576685"/>
                    </a:moveTo>
                    <a:lnTo>
                      <a:pt x="0" y="576685"/>
                    </a:lnTo>
                    <a:lnTo>
                      <a:pt x="0" y="452407"/>
                    </a:lnTo>
                    <a:lnTo>
                      <a:pt x="2277" y="450130"/>
                    </a:lnTo>
                    <a:cubicBezTo>
                      <a:pt x="2277" y="450130"/>
                      <a:pt x="2277" y="450130"/>
                      <a:pt x="206119" y="250968"/>
                    </a:cubicBezTo>
                    <a:lnTo>
                      <a:pt x="143821" y="188671"/>
                    </a:lnTo>
                    <a:cubicBezTo>
                      <a:pt x="124078" y="168914"/>
                      <a:pt x="124078" y="136896"/>
                      <a:pt x="143821" y="117140"/>
                    </a:cubicBezTo>
                    <a:lnTo>
                      <a:pt x="246153" y="14808"/>
                    </a:lnTo>
                    <a:cubicBezTo>
                      <a:pt x="265910" y="-4936"/>
                      <a:pt x="297928" y="-4936"/>
                      <a:pt x="317685" y="14808"/>
                    </a:cubicBezTo>
                    <a:lnTo>
                      <a:pt x="564724" y="261847"/>
                    </a:lnTo>
                    <a:cubicBezTo>
                      <a:pt x="584469" y="281603"/>
                      <a:pt x="584469" y="313621"/>
                      <a:pt x="564724" y="333378"/>
                    </a:cubicBezTo>
                    <a:lnTo>
                      <a:pt x="462392" y="435773"/>
                    </a:lnTo>
                    <a:cubicBezTo>
                      <a:pt x="442657" y="455391"/>
                      <a:pt x="410785" y="455391"/>
                      <a:pt x="391050" y="435773"/>
                    </a:cubicBezTo>
                    <a:lnTo>
                      <a:pt x="329701" y="374424"/>
                    </a:lnTo>
                    <a:lnTo>
                      <a:pt x="285998" y="417685"/>
                    </a:lnTo>
                    <a:lnTo>
                      <a:pt x="231101" y="417685"/>
                    </a:lnTo>
                    <a:lnTo>
                      <a:pt x="231101" y="472266"/>
                    </a:lnTo>
                    <a:lnTo>
                      <a:pt x="189295" y="513755"/>
                    </a:lnTo>
                    <a:lnTo>
                      <a:pt x="130350" y="513755"/>
                    </a:lnTo>
                    <a:close/>
                    <a:moveTo>
                      <a:pt x="15812" y="560874"/>
                    </a:moveTo>
                    <a:lnTo>
                      <a:pt x="114539" y="560874"/>
                    </a:lnTo>
                    <a:lnTo>
                      <a:pt x="114539" y="497628"/>
                    </a:lnTo>
                    <a:lnTo>
                      <a:pt x="182781" y="497628"/>
                    </a:lnTo>
                    <a:lnTo>
                      <a:pt x="215289" y="465309"/>
                    </a:lnTo>
                    <a:lnTo>
                      <a:pt x="215289" y="401810"/>
                    </a:lnTo>
                    <a:lnTo>
                      <a:pt x="279294" y="401810"/>
                    </a:lnTo>
                    <a:lnTo>
                      <a:pt x="329891" y="352035"/>
                    </a:lnTo>
                    <a:lnTo>
                      <a:pt x="402055" y="424515"/>
                    </a:lnTo>
                    <a:cubicBezTo>
                      <a:pt x="415604" y="438085"/>
                      <a:pt x="437589" y="438102"/>
                      <a:pt x="451159" y="424553"/>
                    </a:cubicBezTo>
                    <a:cubicBezTo>
                      <a:pt x="451172" y="424541"/>
                      <a:pt x="451184" y="424528"/>
                      <a:pt x="451197" y="424515"/>
                    </a:cubicBezTo>
                    <a:lnTo>
                      <a:pt x="553529" y="321930"/>
                    </a:lnTo>
                    <a:cubicBezTo>
                      <a:pt x="567102" y="308381"/>
                      <a:pt x="567114" y="286396"/>
                      <a:pt x="553567" y="272826"/>
                    </a:cubicBezTo>
                    <a:cubicBezTo>
                      <a:pt x="553554" y="272813"/>
                      <a:pt x="553542" y="272801"/>
                      <a:pt x="553529" y="272788"/>
                    </a:cubicBezTo>
                    <a:lnTo>
                      <a:pt x="306870" y="25749"/>
                    </a:lnTo>
                    <a:cubicBezTo>
                      <a:pt x="293241" y="12261"/>
                      <a:pt x="271293" y="12261"/>
                      <a:pt x="257664" y="25749"/>
                    </a:cubicBezTo>
                    <a:lnTo>
                      <a:pt x="155016" y="128334"/>
                    </a:lnTo>
                    <a:cubicBezTo>
                      <a:pt x="141527" y="141963"/>
                      <a:pt x="141527" y="163911"/>
                      <a:pt x="155016" y="177540"/>
                    </a:cubicBezTo>
                    <a:lnTo>
                      <a:pt x="228571" y="251095"/>
                    </a:lnTo>
                    <a:lnTo>
                      <a:pt x="222879" y="256660"/>
                    </a:lnTo>
                    <a:lnTo>
                      <a:pt x="15812" y="45904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749" name="Google Shape;8749;p81"/>
              <p:cNvSpPr/>
              <p:nvPr/>
            </p:nvSpPr>
            <p:spPr>
              <a:xfrm rot="-2700000">
                <a:off x="9926012" y="3278047"/>
                <a:ext cx="166283" cy="10240"/>
              </a:xfrm>
              <a:custGeom>
                <a:avLst/>
                <a:gdLst/>
                <a:ahLst/>
                <a:cxnLst/>
                <a:rect l="l" t="t" r="r" b="b"/>
                <a:pathLst>
                  <a:path w="262913" h="15811" extrusionOk="0">
                    <a:moveTo>
                      <a:pt x="0" y="0"/>
                    </a:moveTo>
                    <a:lnTo>
                      <a:pt x="262914" y="0"/>
                    </a:lnTo>
                    <a:lnTo>
                      <a:pt x="262914"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8750" name="Google Shape;8750;p81"/>
              <p:cNvSpPr/>
              <p:nvPr/>
            </p:nvSpPr>
            <p:spPr>
              <a:xfrm>
                <a:off x="10102118" y="3141523"/>
                <a:ext cx="80001" cy="81923"/>
              </a:xfrm>
              <a:custGeom>
                <a:avLst/>
                <a:gdLst/>
                <a:ahLst/>
                <a:cxnLst/>
                <a:rect l="l" t="t" r="r" b="b"/>
                <a:pathLst>
                  <a:path w="126492" h="126492" extrusionOk="0">
                    <a:moveTo>
                      <a:pt x="63246" y="126366"/>
                    </a:moveTo>
                    <a:cubicBezTo>
                      <a:pt x="58915" y="125814"/>
                      <a:pt x="55851" y="121856"/>
                      <a:pt x="56402" y="117525"/>
                    </a:cubicBezTo>
                    <a:cubicBezTo>
                      <a:pt x="56856" y="113950"/>
                      <a:pt x="59671" y="111135"/>
                      <a:pt x="63246" y="110681"/>
                    </a:cubicBezTo>
                    <a:cubicBezTo>
                      <a:pt x="89443" y="110681"/>
                      <a:pt x="110681" y="89443"/>
                      <a:pt x="110681" y="63246"/>
                    </a:cubicBezTo>
                    <a:cubicBezTo>
                      <a:pt x="110681" y="37049"/>
                      <a:pt x="89443" y="15812"/>
                      <a:pt x="63246" y="15812"/>
                    </a:cubicBezTo>
                    <a:cubicBezTo>
                      <a:pt x="37049" y="15812"/>
                      <a:pt x="15812" y="37049"/>
                      <a:pt x="15812" y="63246"/>
                    </a:cubicBezTo>
                    <a:cubicBezTo>
                      <a:pt x="15812" y="67613"/>
                      <a:pt x="12272" y="71152"/>
                      <a:pt x="7906" y="71152"/>
                    </a:cubicBezTo>
                    <a:cubicBezTo>
                      <a:pt x="3539" y="71152"/>
                      <a:pt x="0" y="67613"/>
                      <a:pt x="0" y="63246"/>
                    </a:cubicBezTo>
                    <a:cubicBezTo>
                      <a:pt x="0" y="28316"/>
                      <a:pt x="28316" y="0"/>
                      <a:pt x="63246" y="0"/>
                    </a:cubicBezTo>
                    <a:cubicBezTo>
                      <a:pt x="98176" y="0"/>
                      <a:pt x="126492" y="28316"/>
                      <a:pt x="126492" y="63246"/>
                    </a:cubicBezTo>
                    <a:cubicBezTo>
                      <a:pt x="126492" y="98176"/>
                      <a:pt x="98176" y="126492"/>
                      <a:pt x="63246" y="1264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8751" name="Google Shape;8751;p81"/>
            <p:cNvGrpSpPr/>
            <p:nvPr/>
          </p:nvGrpSpPr>
          <p:grpSpPr>
            <a:xfrm>
              <a:off x="8694466" y="2788743"/>
              <a:ext cx="1287817" cy="1290696"/>
              <a:chOff x="5942869" y="4312444"/>
              <a:chExt cx="1288152" cy="1291032"/>
            </a:xfrm>
          </p:grpSpPr>
          <p:sp>
            <p:nvSpPr>
              <p:cNvPr id="8752" name="Google Shape;8752;p81"/>
              <p:cNvSpPr/>
              <p:nvPr/>
            </p:nvSpPr>
            <p:spPr>
              <a:xfrm>
                <a:off x="5942869" y="4312444"/>
                <a:ext cx="1288152" cy="1291032"/>
              </a:xfrm>
              <a:prstGeom prst="ellipse">
                <a:avLst/>
              </a:prstGeom>
              <a:solidFill>
                <a:srgbClr val="F2F2F2">
                  <a:alpha val="48627"/>
                </a:srgb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8753" name="Google Shape;8753;p81"/>
              <p:cNvGrpSpPr/>
              <p:nvPr/>
            </p:nvGrpSpPr>
            <p:grpSpPr>
              <a:xfrm>
                <a:off x="6013661" y="4383395"/>
                <a:ext cx="1146570" cy="1149135"/>
                <a:chOff x="6013661" y="4383395"/>
                <a:chExt cx="1146570" cy="1149135"/>
              </a:xfrm>
            </p:grpSpPr>
            <p:sp>
              <p:nvSpPr>
                <p:cNvPr id="8754" name="Google Shape;8754;p81"/>
                <p:cNvSpPr/>
                <p:nvPr/>
              </p:nvSpPr>
              <p:spPr>
                <a:xfrm>
                  <a:off x="6013661" y="4383395"/>
                  <a:ext cx="1146570" cy="1149135"/>
                </a:xfrm>
                <a:prstGeom prst="ellipse">
                  <a:avLst/>
                </a:prstGeom>
                <a:gradFill>
                  <a:gsLst>
                    <a:gs pos="0">
                      <a:schemeClr val="accent1"/>
                    </a:gs>
                    <a:gs pos="30000">
                      <a:schemeClr val="accent1"/>
                    </a:gs>
                    <a:gs pos="100000">
                      <a:schemeClr val="accent4"/>
                    </a:gs>
                  </a:gsLst>
                  <a:lin ang="189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8755" name="Google Shape;8755;p81"/>
                <p:cNvGrpSpPr/>
                <p:nvPr/>
              </p:nvGrpSpPr>
              <p:grpSpPr>
                <a:xfrm>
                  <a:off x="6281660" y="4599336"/>
                  <a:ext cx="610572" cy="717253"/>
                  <a:chOff x="1893239" y="713314"/>
                  <a:chExt cx="510395" cy="599572"/>
                </a:xfrm>
              </p:grpSpPr>
              <p:sp>
                <p:nvSpPr>
                  <p:cNvPr id="8756" name="Google Shape;8756;p81"/>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86825" tIns="43400" rIns="86825" bIns="434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8757" name="Google Shape;8757;p81"/>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86825" tIns="43400" rIns="86825" bIns="434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grpSp>
          </p:grpSp>
        </p:grpSp>
        <p:sp>
          <p:nvSpPr>
            <p:cNvPr id="8758" name="Google Shape;8758;p81"/>
            <p:cNvSpPr txBox="1"/>
            <p:nvPr/>
          </p:nvSpPr>
          <p:spPr>
            <a:xfrm>
              <a:off x="8277195" y="4347483"/>
              <a:ext cx="3166775"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a:solidFill>
                    <a:schemeClr val="dk1"/>
                  </a:solidFill>
                  <a:latin typeface="Arial"/>
                  <a:ea typeface="Arial"/>
                  <a:cs typeface="Arial"/>
                  <a:sym typeface="Arial"/>
                </a:rPr>
                <a:t>Security Operations</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Extended VM-level Data Protection</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Protecting VMs Across Clusters</a:t>
              </a:r>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Resiliency &amp; Security</a:t>
              </a: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grpSp>
      <p:pic>
        <p:nvPicPr>
          <p:cNvPr id="8759" name="Google Shape;8759;p81"/>
          <p:cNvPicPr preferRelativeResize="0"/>
          <p:nvPr/>
        </p:nvPicPr>
        <p:blipFill rotWithShape="1">
          <a:blip r:embed="rId3">
            <a:alphaModFix/>
          </a:blip>
          <a:srcRect/>
          <a:stretch/>
        </p:blipFill>
        <p:spPr>
          <a:xfrm>
            <a:off x="9695493" y="3971083"/>
            <a:ext cx="391969" cy="39196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38"/>
                                        </p:tgtEl>
                                        <p:attrNameLst>
                                          <p:attrName>style.visibility</p:attrName>
                                        </p:attrNameLst>
                                      </p:cBhvr>
                                      <p:to>
                                        <p:strVal val="visible"/>
                                      </p:to>
                                    </p:set>
                                    <p:animEffect transition="in" filter="fade">
                                      <p:cBhvr>
                                        <p:cTn id="7" dur="500"/>
                                        <p:tgtEl>
                                          <p:spTgt spid="8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764"/>
        <p:cNvGrpSpPr/>
        <p:nvPr/>
      </p:nvGrpSpPr>
      <p:grpSpPr>
        <a:xfrm>
          <a:off x="0" y="0"/>
          <a:ext cx="0" cy="0"/>
          <a:chOff x="0" y="0"/>
          <a:chExt cx="0" cy="0"/>
        </a:xfrm>
      </p:grpSpPr>
      <p:sp>
        <p:nvSpPr>
          <p:cNvPr id="8765" name="Google Shape;8765;p82"/>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One-Stop Dashboard for Baseline Security Operations</a:t>
            </a:r>
            <a:endParaRPr/>
          </a:p>
        </p:txBody>
      </p:sp>
      <p:sp>
        <p:nvSpPr>
          <p:cNvPr id="8766" name="Google Shape;8766;p82"/>
          <p:cNvSpPr txBox="1">
            <a:spLocks noGrp="1"/>
          </p:cNvSpPr>
          <p:nvPr>
            <p:ph type="subTitle" idx="1"/>
          </p:nvPr>
        </p:nvSpPr>
        <p:spPr>
          <a:xfrm>
            <a:off x="483138" y="811830"/>
            <a:ext cx="10962687" cy="247743"/>
          </a:xfrm>
          <a:prstGeom prst="rect">
            <a:avLst/>
          </a:prstGeom>
          <a:noFill/>
          <a:ln>
            <a:noFill/>
          </a:ln>
        </p:spPr>
        <p:txBody>
          <a:bodyPr spcFirstLastPara="1" wrap="square" lIns="0" tIns="0" rIns="0" bIns="0" anchor="t" anchorCtr="0">
            <a:noAutofit/>
          </a:bodyPr>
          <a:lstStyle/>
          <a:p>
            <a:pPr marL="457200" lvl="0" indent="-342900" algn="l" rtl="0">
              <a:lnSpc>
                <a:spcPct val="100000"/>
              </a:lnSpc>
              <a:spcBef>
                <a:spcPts val="0"/>
              </a:spcBef>
              <a:spcAft>
                <a:spcPts val="0"/>
              </a:spcAft>
              <a:buSzPts val="1800"/>
              <a:buNone/>
            </a:pPr>
            <a:r>
              <a:rPr lang="en-US"/>
              <a:t>User and Infrastructure Security </a:t>
            </a:r>
            <a:endParaRPr/>
          </a:p>
          <a:p>
            <a:pPr marL="457200" lvl="0" indent="-342900" algn="l" rtl="0">
              <a:lnSpc>
                <a:spcPct val="100000"/>
              </a:lnSpc>
              <a:spcBef>
                <a:spcPts val="0"/>
              </a:spcBef>
              <a:spcAft>
                <a:spcPts val="0"/>
              </a:spcAft>
              <a:buSzPts val="1800"/>
              <a:buNone/>
            </a:pPr>
            <a:endParaRPr/>
          </a:p>
        </p:txBody>
      </p:sp>
      <p:sp>
        <p:nvSpPr>
          <p:cNvPr id="8767" name="Google Shape;8767;p82"/>
          <p:cNvSpPr txBox="1">
            <a:spLocks noGrp="1"/>
          </p:cNvSpPr>
          <p:nvPr>
            <p:ph type="body" idx="2"/>
          </p:nvPr>
        </p:nvSpPr>
        <p:spPr>
          <a:prstGeom prst="rect">
            <a:avLst/>
          </a:prstGeom>
          <a:solidFill>
            <a:srgbClr val="F4F8FA"/>
          </a:solidFill>
          <a:ln>
            <a:noFill/>
          </a:ln>
        </p:spPr>
        <p:txBody>
          <a:bodyPr spcFirstLastPara="1" wrap="square" lIns="274300" tIns="457200" rIns="457200" bIns="457200" anchor="t" anchorCtr="0">
            <a:noAutofit/>
          </a:bodyPr>
          <a:lstStyle/>
          <a:p>
            <a:pPr marL="125729" lvl="0" indent="0" algn="l" rtl="0">
              <a:lnSpc>
                <a:spcPct val="100000"/>
              </a:lnSpc>
              <a:spcBef>
                <a:spcPts val="0"/>
              </a:spcBef>
              <a:spcAft>
                <a:spcPts val="0"/>
              </a:spcAft>
              <a:buSzPts val="1620"/>
              <a:buNone/>
            </a:pPr>
            <a:r>
              <a:rPr lang="en-US"/>
              <a:t>An overview page providing a holistic view of the organization’s security stance across VCF deployments.</a:t>
            </a:r>
            <a:endParaRPr/>
          </a:p>
          <a:p>
            <a:pPr marL="457200" lvl="0" indent="-228600" algn="l" rtl="0">
              <a:lnSpc>
                <a:spcPct val="100000"/>
              </a:lnSpc>
              <a:spcBef>
                <a:spcPts val="0"/>
              </a:spcBef>
              <a:spcAft>
                <a:spcPts val="0"/>
              </a:spcAft>
              <a:buSzPts val="1620"/>
              <a:buNone/>
            </a:pPr>
            <a:endParaRPr/>
          </a:p>
          <a:p>
            <a:pPr marL="125729" lvl="0" indent="0" algn="l" rtl="0">
              <a:lnSpc>
                <a:spcPct val="100000"/>
              </a:lnSpc>
              <a:spcBef>
                <a:spcPts val="0"/>
              </a:spcBef>
              <a:spcAft>
                <a:spcPts val="0"/>
              </a:spcAft>
              <a:buSzPts val="1620"/>
              <a:buNone/>
            </a:pPr>
            <a:r>
              <a:rPr lang="en-US"/>
              <a:t>Benefits:</a:t>
            </a:r>
            <a:endParaRPr/>
          </a:p>
          <a:p>
            <a:pPr marL="125729" lvl="0" indent="0" algn="l" rtl="0">
              <a:lnSpc>
                <a:spcPct val="100000"/>
              </a:lnSpc>
              <a:spcBef>
                <a:spcPts val="0"/>
              </a:spcBef>
              <a:spcAft>
                <a:spcPts val="0"/>
              </a:spcAft>
              <a:buSzPts val="1620"/>
              <a:buNone/>
            </a:pPr>
            <a:r>
              <a:rPr lang="en-US"/>
              <a:t>- Enhanced visibility</a:t>
            </a:r>
            <a:endParaRPr/>
          </a:p>
          <a:p>
            <a:pPr marL="125729" lvl="0" indent="0" algn="l" rtl="0">
              <a:lnSpc>
                <a:spcPct val="100000"/>
              </a:lnSpc>
              <a:spcBef>
                <a:spcPts val="0"/>
              </a:spcBef>
              <a:spcAft>
                <a:spcPts val="0"/>
              </a:spcAft>
              <a:buSzPts val="1620"/>
              <a:buNone/>
            </a:pPr>
            <a:r>
              <a:rPr lang="en-US"/>
              <a:t>- Improved security and resilience</a:t>
            </a:r>
            <a:endParaRPr/>
          </a:p>
          <a:p>
            <a:pPr marL="125729" lvl="0" indent="0" algn="l" rtl="0">
              <a:lnSpc>
                <a:spcPct val="100000"/>
              </a:lnSpc>
              <a:spcBef>
                <a:spcPts val="0"/>
              </a:spcBef>
              <a:spcAft>
                <a:spcPts val="0"/>
              </a:spcAft>
              <a:buSzPts val="1620"/>
              <a:buNone/>
            </a:pPr>
            <a:r>
              <a:rPr lang="en-US"/>
              <a:t>- Proactive defense</a:t>
            </a:r>
            <a:endParaRPr/>
          </a:p>
          <a:p>
            <a:pPr marL="457200" lvl="0" indent="-228600" algn="l" rtl="0">
              <a:lnSpc>
                <a:spcPct val="100000"/>
              </a:lnSpc>
              <a:spcBef>
                <a:spcPts val="0"/>
              </a:spcBef>
              <a:spcAft>
                <a:spcPts val="0"/>
              </a:spcAft>
              <a:buSzPts val="1620"/>
              <a:buNone/>
            </a:pPr>
            <a:endParaRPr/>
          </a:p>
        </p:txBody>
      </p:sp>
      <p:sp>
        <p:nvSpPr>
          <p:cNvPr id="8768" name="Google Shape;8768;p82"/>
          <p:cNvSpPr/>
          <p:nvPr/>
        </p:nvSpPr>
        <p:spPr>
          <a:xfrm>
            <a:off x="638586" y="1609531"/>
            <a:ext cx="7920198" cy="45720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8769" name="Google Shape;8769;p82"/>
          <p:cNvPicPr preferRelativeResize="0"/>
          <p:nvPr/>
        </p:nvPicPr>
        <p:blipFill rotWithShape="1">
          <a:blip r:embed="rId3">
            <a:alphaModFix/>
          </a:blip>
          <a:srcRect/>
          <a:stretch/>
        </p:blipFill>
        <p:spPr>
          <a:xfrm>
            <a:off x="720113" y="1694127"/>
            <a:ext cx="7772400" cy="440280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774"/>
        <p:cNvGrpSpPr/>
        <p:nvPr/>
      </p:nvGrpSpPr>
      <p:grpSpPr>
        <a:xfrm>
          <a:off x="0" y="0"/>
          <a:ext cx="0" cy="0"/>
          <a:chOff x="0" y="0"/>
          <a:chExt cx="0" cy="0"/>
        </a:xfrm>
      </p:grpSpPr>
      <p:sp>
        <p:nvSpPr>
          <p:cNvPr id="8775" name="Google Shape;8775;p8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Extend VM-Level Data Protection to Remote vSAN Clusters</a:t>
            </a:r>
            <a:endParaRPr/>
          </a:p>
        </p:txBody>
      </p:sp>
      <p:sp>
        <p:nvSpPr>
          <p:cNvPr id="8776" name="Google Shape;8776;p8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vSAN-to-vSAN replication as a part of VMware Live Recovery* (VLR)</a:t>
            </a:r>
            <a:endParaRPr/>
          </a:p>
        </p:txBody>
      </p:sp>
      <p:sp>
        <p:nvSpPr>
          <p:cNvPr id="8777" name="Google Shape;8777;p83"/>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Protect VMs </a:t>
            </a:r>
            <a:r>
              <a:rPr lang="en-US" b="1" dirty="0"/>
              <a:t>locally and remotely </a:t>
            </a:r>
            <a:r>
              <a:rPr lang="en-US" dirty="0"/>
              <a:t>using </a:t>
            </a:r>
            <a:r>
              <a:rPr lang="en-US" dirty="0" err="1"/>
              <a:t>vSAN</a:t>
            </a:r>
            <a:r>
              <a:rPr lang="en-US" dirty="0"/>
              <a:t> ESA snapshots</a:t>
            </a:r>
            <a:endParaRPr dirty="0"/>
          </a:p>
          <a:p>
            <a:pPr marL="0" lvl="0" indent="0" algn="l" rtl="0">
              <a:lnSpc>
                <a:spcPct val="100000"/>
              </a:lnSpc>
              <a:spcBef>
                <a:spcPts val="1200"/>
              </a:spcBef>
              <a:spcAft>
                <a:spcPts val="0"/>
              </a:spcAft>
              <a:buSzPts val="1440"/>
              <a:buNone/>
            </a:pPr>
            <a:r>
              <a:rPr lang="en-US" dirty="0"/>
              <a:t>Replicate and recover courtesy of the </a:t>
            </a:r>
            <a:r>
              <a:rPr lang="en-US" b="1" dirty="0"/>
              <a:t>VMware Live Recovery (VLR) </a:t>
            </a:r>
            <a:endParaRPr dirty="0"/>
          </a:p>
          <a:p>
            <a:pPr marL="0" lvl="0" indent="0" algn="l" rtl="0">
              <a:lnSpc>
                <a:spcPct val="100000"/>
              </a:lnSpc>
              <a:spcBef>
                <a:spcPts val="1200"/>
              </a:spcBef>
              <a:spcAft>
                <a:spcPts val="0"/>
              </a:spcAft>
              <a:buSzPts val="1440"/>
              <a:buNone/>
            </a:pPr>
            <a:r>
              <a:rPr lang="en-US" dirty="0"/>
              <a:t>Use policy-based </a:t>
            </a:r>
            <a:r>
              <a:rPr lang="en-US" b="1" dirty="0"/>
              <a:t>protection groups</a:t>
            </a:r>
            <a:r>
              <a:rPr lang="en-US" dirty="0"/>
              <a:t> to define local and remote protection outcomes</a:t>
            </a:r>
            <a:endParaRPr dirty="0"/>
          </a:p>
          <a:p>
            <a:pPr marL="0" lvl="0" indent="0" algn="l" rtl="0">
              <a:lnSpc>
                <a:spcPct val="100000"/>
              </a:lnSpc>
              <a:spcBef>
                <a:spcPts val="1200"/>
              </a:spcBef>
              <a:spcAft>
                <a:spcPts val="0"/>
              </a:spcAft>
              <a:buSzPts val="1440"/>
              <a:buNone/>
            </a:pPr>
            <a:r>
              <a:rPr lang="en-US" dirty="0"/>
              <a:t>Create relationships between multiple sites using site pairs</a:t>
            </a:r>
            <a:endParaRPr dirty="0"/>
          </a:p>
          <a:p>
            <a:pPr marL="0" lvl="0" indent="0" algn="l" rtl="0">
              <a:lnSpc>
                <a:spcPct val="100000"/>
              </a:lnSpc>
              <a:spcBef>
                <a:spcPts val="1200"/>
              </a:spcBef>
              <a:spcAft>
                <a:spcPts val="0"/>
              </a:spcAft>
              <a:buSzPts val="1440"/>
              <a:buNone/>
            </a:pPr>
            <a:r>
              <a:rPr lang="en-US" dirty="0"/>
              <a:t>Ideal for </a:t>
            </a:r>
            <a:r>
              <a:rPr lang="en-US" b="1" dirty="0"/>
              <a:t>disaster recovery, isolated recovery or long-term archiving</a:t>
            </a:r>
            <a:endParaRPr dirty="0"/>
          </a:p>
          <a:p>
            <a:pPr marL="0" lvl="0" indent="0" algn="l" rtl="0">
              <a:lnSpc>
                <a:spcPct val="100000"/>
              </a:lnSpc>
              <a:spcBef>
                <a:spcPts val="1200"/>
              </a:spcBef>
              <a:spcAft>
                <a:spcPts val="0"/>
              </a:spcAft>
              <a:buSzPts val="1440"/>
              <a:buNone/>
            </a:pPr>
            <a:r>
              <a:rPr lang="en-US" dirty="0"/>
              <a:t>Supports </a:t>
            </a:r>
            <a:r>
              <a:rPr lang="en-US" b="1" dirty="0" err="1"/>
              <a:t>vSAN</a:t>
            </a:r>
            <a:r>
              <a:rPr lang="en-US" b="1" dirty="0"/>
              <a:t> HCI </a:t>
            </a:r>
            <a:r>
              <a:rPr lang="en-US" dirty="0"/>
              <a:t>and </a:t>
            </a:r>
            <a:r>
              <a:rPr lang="en-US" b="1" dirty="0" err="1"/>
              <a:t>vSAN</a:t>
            </a:r>
            <a:r>
              <a:rPr lang="en-US" b="1" dirty="0"/>
              <a:t> storage clusters</a:t>
            </a:r>
            <a:endParaRPr dirty="0"/>
          </a:p>
        </p:txBody>
      </p:sp>
      <p:sp>
        <p:nvSpPr>
          <p:cNvPr id="8778" name="Google Shape;8778;p83"/>
          <p:cNvSpPr/>
          <p:nvPr/>
        </p:nvSpPr>
        <p:spPr>
          <a:xfrm>
            <a:off x="654145" y="2381003"/>
            <a:ext cx="2753268" cy="931293"/>
          </a:xfrm>
          <a:prstGeom prst="rect">
            <a:avLst/>
          </a:prstGeom>
          <a:gradFill>
            <a:gsLst>
              <a:gs pos="0">
                <a:srgbClr val="005C8A">
                  <a:alpha val="0"/>
                </a:srgbClr>
              </a:gs>
              <a:gs pos="4000">
                <a:srgbClr val="005C8A">
                  <a:alpha val="0"/>
                </a:srgbClr>
              </a:gs>
              <a:gs pos="100000">
                <a:srgbClr val="005C8A">
                  <a:alpha val="20000"/>
                </a:srgbClr>
              </a:gs>
            </a:gsLst>
            <a:lin ang="16200000" scaled="0"/>
          </a:gradFill>
          <a:ln w="12700" cap="flat" cmpd="sng">
            <a:solidFill>
              <a:schemeClr val="accent2"/>
            </a:solidFill>
            <a:prstDash val="solid"/>
            <a:miter lim="800000"/>
            <a:headEnd type="none" w="sm" len="sm"/>
            <a:tailEnd type="none" w="sm" len="sm"/>
          </a:ln>
        </p:spPr>
        <p:txBody>
          <a:bodyPr spcFirstLastPara="1" wrap="square" lIns="73125" tIns="36550" rIns="73125" bIns="36550" anchor="ctr" anchorCtr="0">
            <a:noAutofit/>
          </a:bodyPr>
          <a:lstStyle/>
          <a:p>
            <a:pPr marL="0" marR="0" lvl="0" indent="0" algn="ctr" rtl="0">
              <a:lnSpc>
                <a:spcPct val="100000"/>
              </a:lnSpc>
              <a:spcBef>
                <a:spcPts val="0"/>
              </a:spcBef>
              <a:spcAft>
                <a:spcPts val="0"/>
              </a:spcAft>
              <a:buClr>
                <a:schemeClr val="dk1"/>
              </a:buClr>
              <a:buSzPts val="1799"/>
              <a:buFont typeface="Arial"/>
              <a:buNone/>
            </a:pPr>
            <a:endParaRPr sz="1799" b="0" i="0" u="none" strike="noStrike" cap="none">
              <a:solidFill>
                <a:srgbClr val="1B1E35"/>
              </a:solidFill>
              <a:latin typeface="Arial"/>
              <a:ea typeface="Arial"/>
              <a:cs typeface="Arial"/>
              <a:sym typeface="Arial"/>
            </a:endParaRPr>
          </a:p>
        </p:txBody>
      </p:sp>
      <p:pic>
        <p:nvPicPr>
          <p:cNvPr id="8779" name="Google Shape;8779;p83"/>
          <p:cNvPicPr preferRelativeResize="0"/>
          <p:nvPr/>
        </p:nvPicPr>
        <p:blipFill rotWithShape="1">
          <a:blip r:embed="rId3">
            <a:alphaModFix/>
          </a:blip>
          <a:srcRect/>
          <a:stretch/>
        </p:blipFill>
        <p:spPr>
          <a:xfrm>
            <a:off x="1935576" y="5165714"/>
            <a:ext cx="190410" cy="223781"/>
          </a:xfrm>
          <a:prstGeom prst="rect">
            <a:avLst/>
          </a:prstGeom>
          <a:noFill/>
          <a:ln>
            <a:noFill/>
          </a:ln>
        </p:spPr>
      </p:pic>
      <p:cxnSp>
        <p:nvCxnSpPr>
          <p:cNvPr id="8780" name="Google Shape;8780;p83"/>
          <p:cNvCxnSpPr/>
          <p:nvPr/>
        </p:nvCxnSpPr>
        <p:spPr>
          <a:xfrm>
            <a:off x="658736" y="4981282"/>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8781" name="Google Shape;8781;p83"/>
          <p:cNvCxnSpPr/>
          <p:nvPr/>
        </p:nvCxnSpPr>
        <p:spPr>
          <a:xfrm>
            <a:off x="2563717" y="5069292"/>
            <a:ext cx="843700"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8782" name="Google Shape;8782;p83"/>
          <p:cNvCxnSpPr/>
          <p:nvPr/>
        </p:nvCxnSpPr>
        <p:spPr>
          <a:xfrm>
            <a:off x="3411322" y="4981282"/>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8783" name="Google Shape;8783;p83"/>
          <p:cNvCxnSpPr/>
          <p:nvPr/>
        </p:nvCxnSpPr>
        <p:spPr>
          <a:xfrm>
            <a:off x="654146" y="5069292"/>
            <a:ext cx="900448"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sp>
        <p:nvSpPr>
          <p:cNvPr id="8784" name="Google Shape;8784;p83"/>
          <p:cNvSpPr txBox="1"/>
          <p:nvPr/>
        </p:nvSpPr>
        <p:spPr>
          <a:xfrm>
            <a:off x="1608933" y="4973120"/>
            <a:ext cx="843697"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7B8C"/>
              </a:buClr>
              <a:buSzPts val="1200"/>
              <a:buFont typeface="Arial"/>
              <a:buNone/>
            </a:pPr>
            <a:r>
              <a:rPr lang="en-US" sz="1200" b="0" i="0" u="none" strike="noStrike" cap="none">
                <a:solidFill>
                  <a:srgbClr val="007B8C"/>
                </a:solidFill>
                <a:latin typeface="Arial"/>
                <a:ea typeface="Arial"/>
                <a:cs typeface="Arial"/>
                <a:sym typeface="Arial"/>
              </a:rPr>
              <a:t>vSAN ESA</a:t>
            </a:r>
            <a:endParaRPr/>
          </a:p>
        </p:txBody>
      </p:sp>
      <p:sp>
        <p:nvSpPr>
          <p:cNvPr id="8785" name="Google Shape;8785;p83"/>
          <p:cNvSpPr/>
          <p:nvPr/>
        </p:nvSpPr>
        <p:spPr>
          <a:xfrm>
            <a:off x="654145" y="3906162"/>
            <a:ext cx="2753272" cy="707867"/>
          </a:xfrm>
          <a:prstGeom prst="rect">
            <a:avLst/>
          </a:prstGeom>
          <a:solidFill>
            <a:schemeClr val="lt2"/>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8786" name="Google Shape;8786;p83"/>
          <p:cNvPicPr preferRelativeResize="0"/>
          <p:nvPr/>
        </p:nvPicPr>
        <p:blipFill rotWithShape="1">
          <a:blip r:embed="rId4">
            <a:alphaModFix/>
          </a:blip>
          <a:srcRect/>
          <a:stretch/>
        </p:blipFill>
        <p:spPr>
          <a:xfrm>
            <a:off x="1112228" y="4004225"/>
            <a:ext cx="228600" cy="228600"/>
          </a:xfrm>
          <a:prstGeom prst="rect">
            <a:avLst/>
          </a:prstGeom>
          <a:noFill/>
          <a:ln>
            <a:noFill/>
          </a:ln>
        </p:spPr>
      </p:pic>
      <p:grpSp>
        <p:nvGrpSpPr>
          <p:cNvPr id="8787" name="Google Shape;8787;p83"/>
          <p:cNvGrpSpPr/>
          <p:nvPr/>
        </p:nvGrpSpPr>
        <p:grpSpPr>
          <a:xfrm>
            <a:off x="734734" y="4288041"/>
            <a:ext cx="2588336" cy="254952"/>
            <a:chOff x="1410326" y="3573078"/>
            <a:chExt cx="2588336" cy="254952"/>
          </a:xfrm>
        </p:grpSpPr>
        <p:sp>
          <p:nvSpPr>
            <p:cNvPr id="8788" name="Google Shape;8788;p83"/>
            <p:cNvSpPr/>
            <p:nvPr/>
          </p:nvSpPr>
          <p:spPr>
            <a:xfrm>
              <a:off x="1410326" y="3573078"/>
              <a:ext cx="2588336" cy="254952"/>
            </a:xfrm>
            <a:prstGeom prst="rect">
              <a:avLst/>
            </a:prstGeom>
            <a:noFill/>
            <a:ln w="9525" cap="flat" cmpd="sng">
              <a:solidFill>
                <a:srgbClr val="316E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789" name="Google Shape;8789;p83"/>
            <p:cNvSpPr/>
            <p:nvPr/>
          </p:nvSpPr>
          <p:spPr>
            <a:xfrm>
              <a:off x="1420623" y="3636670"/>
              <a:ext cx="543931" cy="12311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1B1D36"/>
                </a:buClr>
                <a:buSzPts val="800"/>
                <a:buFont typeface="Arial"/>
                <a:buNone/>
              </a:pPr>
              <a:r>
                <a:rPr lang="en-US" sz="800" b="0" i="0" u="none" strike="noStrike" cap="none">
                  <a:solidFill>
                    <a:srgbClr val="1B1D36"/>
                  </a:solidFill>
                  <a:latin typeface="Arial"/>
                  <a:ea typeface="Arial"/>
                  <a:cs typeface="Arial"/>
                  <a:sym typeface="Arial"/>
                </a:rPr>
                <a:t>vSphere</a:t>
              </a:r>
              <a:endParaRPr/>
            </a:p>
          </p:txBody>
        </p:sp>
        <p:sp>
          <p:nvSpPr>
            <p:cNvPr id="8790" name="Google Shape;8790;p83"/>
            <p:cNvSpPr/>
            <p:nvPr/>
          </p:nvSpPr>
          <p:spPr>
            <a:xfrm>
              <a:off x="3356846" y="3636670"/>
              <a:ext cx="608625" cy="12311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1B1D36"/>
                </a:buClr>
                <a:buSzPts val="800"/>
                <a:buFont typeface="Arial"/>
                <a:buNone/>
              </a:pPr>
              <a:r>
                <a:rPr lang="en-US" sz="800" b="0" i="0" u="none" strike="noStrike" cap="none">
                  <a:solidFill>
                    <a:srgbClr val="1B1D36"/>
                  </a:solidFill>
                  <a:latin typeface="Arial"/>
                  <a:ea typeface="Arial"/>
                  <a:cs typeface="Arial"/>
                  <a:sym typeface="Arial"/>
                </a:rPr>
                <a:t>vSAN ESA</a:t>
              </a:r>
              <a:endParaRPr/>
            </a:p>
          </p:txBody>
        </p:sp>
        <p:cxnSp>
          <p:nvCxnSpPr>
            <p:cNvPr id="8791" name="Google Shape;8791;p83"/>
            <p:cNvCxnSpPr/>
            <p:nvPr/>
          </p:nvCxnSpPr>
          <p:spPr>
            <a:xfrm rot="10800000">
              <a:off x="2003038" y="3698226"/>
              <a:ext cx="297114" cy="0"/>
            </a:xfrm>
            <a:prstGeom prst="straightConnector1">
              <a:avLst/>
            </a:prstGeom>
            <a:noFill/>
            <a:ln w="9525" cap="flat" cmpd="sng">
              <a:solidFill>
                <a:schemeClr val="accent2"/>
              </a:solidFill>
              <a:prstDash val="solid"/>
              <a:miter lim="800000"/>
              <a:headEnd type="none" w="sm" len="sm"/>
              <a:tailEnd type="triangle" w="med" len="med"/>
            </a:ln>
          </p:spPr>
        </p:cxnSp>
        <p:cxnSp>
          <p:nvCxnSpPr>
            <p:cNvPr id="8792" name="Google Shape;8792;p83"/>
            <p:cNvCxnSpPr/>
            <p:nvPr/>
          </p:nvCxnSpPr>
          <p:spPr>
            <a:xfrm>
              <a:off x="2300152" y="3698226"/>
              <a:ext cx="1024615" cy="0"/>
            </a:xfrm>
            <a:prstGeom prst="straightConnector1">
              <a:avLst/>
            </a:prstGeom>
            <a:noFill/>
            <a:ln w="9525" cap="flat" cmpd="sng">
              <a:solidFill>
                <a:schemeClr val="accent2"/>
              </a:solidFill>
              <a:prstDash val="solid"/>
              <a:miter lim="800000"/>
              <a:headEnd type="none" w="sm" len="sm"/>
              <a:tailEnd type="triangle" w="med" len="med"/>
            </a:ln>
          </p:spPr>
        </p:cxnSp>
      </p:grpSp>
      <p:sp>
        <p:nvSpPr>
          <p:cNvPr id="8793" name="Google Shape;8793;p83"/>
          <p:cNvSpPr/>
          <p:nvPr/>
        </p:nvSpPr>
        <p:spPr>
          <a:xfrm>
            <a:off x="1343860" y="4026192"/>
            <a:ext cx="1389059" cy="184666"/>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5C8A"/>
              </a:buClr>
              <a:buSzPts val="1200"/>
              <a:buFont typeface="Arial"/>
              <a:buNone/>
            </a:pPr>
            <a:r>
              <a:rPr lang="en-US" sz="1200" b="0" i="0" u="none" strike="noStrike" cap="none">
                <a:solidFill>
                  <a:srgbClr val="005C8A"/>
                </a:solidFill>
                <a:latin typeface="Arial"/>
                <a:ea typeface="Arial"/>
                <a:cs typeface="Arial"/>
                <a:sym typeface="Arial"/>
              </a:rPr>
              <a:t>Cloud Foundation</a:t>
            </a:r>
            <a:endParaRPr/>
          </a:p>
        </p:txBody>
      </p:sp>
      <p:pic>
        <p:nvPicPr>
          <p:cNvPr id="8794" name="Google Shape;8794;p83"/>
          <p:cNvPicPr preferRelativeResize="0"/>
          <p:nvPr/>
        </p:nvPicPr>
        <p:blipFill rotWithShape="1">
          <a:blip r:embed="rId4">
            <a:alphaModFix/>
          </a:blip>
          <a:srcRect/>
          <a:stretch/>
        </p:blipFill>
        <p:spPr>
          <a:xfrm>
            <a:off x="2787174" y="4004225"/>
            <a:ext cx="228600" cy="228600"/>
          </a:xfrm>
          <a:prstGeom prst="rect">
            <a:avLst/>
          </a:prstGeom>
          <a:noFill/>
          <a:ln>
            <a:noFill/>
          </a:ln>
        </p:spPr>
      </p:pic>
      <p:grpSp>
        <p:nvGrpSpPr>
          <p:cNvPr id="8795" name="Google Shape;8795;p83"/>
          <p:cNvGrpSpPr/>
          <p:nvPr/>
        </p:nvGrpSpPr>
        <p:grpSpPr>
          <a:xfrm>
            <a:off x="1634347" y="2635288"/>
            <a:ext cx="285074" cy="285193"/>
            <a:chOff x="839967" y="3567415"/>
            <a:chExt cx="386791" cy="386953"/>
          </a:xfrm>
        </p:grpSpPr>
        <p:sp>
          <p:nvSpPr>
            <p:cNvPr id="8796" name="Google Shape;8796;p83"/>
            <p:cNvSpPr/>
            <p:nvPr/>
          </p:nvSpPr>
          <p:spPr>
            <a:xfrm>
              <a:off x="961869" y="3689439"/>
              <a:ext cx="264889" cy="264929"/>
            </a:xfrm>
            <a:custGeom>
              <a:avLst/>
              <a:gdLst/>
              <a:ahLst/>
              <a:cxnLst/>
              <a:rect l="l" t="t" r="r" b="b"/>
              <a:pathLst>
                <a:path w="415589" h="415652" extrusionOk="0">
                  <a:moveTo>
                    <a:pt x="415589" y="415653"/>
                  </a:moveTo>
                  <a:lnTo>
                    <a:pt x="0" y="415653"/>
                  </a:lnTo>
                  <a:lnTo>
                    <a:pt x="0" y="366447"/>
                  </a:lnTo>
                  <a:lnTo>
                    <a:pt x="15812" y="366447"/>
                  </a:lnTo>
                  <a:lnTo>
                    <a:pt x="15812" y="399841"/>
                  </a:lnTo>
                  <a:lnTo>
                    <a:pt x="399778" y="399841"/>
                  </a:lnTo>
                  <a:lnTo>
                    <a:pt x="399778" y="15812"/>
                  </a:lnTo>
                  <a:lnTo>
                    <a:pt x="364550" y="15812"/>
                  </a:lnTo>
                  <a:lnTo>
                    <a:pt x="364550" y="0"/>
                  </a:lnTo>
                  <a:lnTo>
                    <a:pt x="415589" y="0"/>
                  </a:lnTo>
                  <a:lnTo>
                    <a:pt x="415589" y="415653"/>
                  </a:lnTo>
                  <a:close/>
                </a:path>
              </a:pathLst>
            </a:custGeom>
            <a:solidFill>
              <a:srgbClr val="D58B3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97" name="Google Shape;8797;p83"/>
            <p:cNvSpPr/>
            <p:nvPr/>
          </p:nvSpPr>
          <p:spPr>
            <a:xfrm>
              <a:off x="919341" y="3646749"/>
              <a:ext cx="264889" cy="264889"/>
            </a:xfrm>
            <a:custGeom>
              <a:avLst/>
              <a:gdLst/>
              <a:ahLst/>
              <a:cxnLst/>
              <a:rect l="l" t="t" r="r" b="b"/>
              <a:pathLst>
                <a:path w="415589" h="415589" extrusionOk="0">
                  <a:moveTo>
                    <a:pt x="415589" y="415589"/>
                  </a:moveTo>
                  <a:lnTo>
                    <a:pt x="0" y="415589"/>
                  </a:lnTo>
                  <a:lnTo>
                    <a:pt x="0" y="365246"/>
                  </a:lnTo>
                  <a:lnTo>
                    <a:pt x="15812" y="365246"/>
                  </a:lnTo>
                  <a:lnTo>
                    <a:pt x="15812" y="399778"/>
                  </a:lnTo>
                  <a:lnTo>
                    <a:pt x="399778" y="399778"/>
                  </a:lnTo>
                  <a:lnTo>
                    <a:pt x="399778" y="15812"/>
                  </a:lnTo>
                  <a:lnTo>
                    <a:pt x="364740" y="15812"/>
                  </a:lnTo>
                  <a:lnTo>
                    <a:pt x="364740" y="0"/>
                  </a:lnTo>
                  <a:lnTo>
                    <a:pt x="415589" y="0"/>
                  </a:lnTo>
                  <a:lnTo>
                    <a:pt x="415589" y="415589"/>
                  </a:lnTo>
                  <a:close/>
                </a:path>
              </a:pathLst>
            </a:custGeom>
            <a:solidFill>
              <a:srgbClr val="D58B3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98" name="Google Shape;8798;p83"/>
            <p:cNvSpPr/>
            <p:nvPr/>
          </p:nvSpPr>
          <p:spPr>
            <a:xfrm>
              <a:off x="876973" y="3604260"/>
              <a:ext cx="264889" cy="264889"/>
            </a:xfrm>
            <a:custGeom>
              <a:avLst/>
              <a:gdLst/>
              <a:ahLst/>
              <a:cxnLst/>
              <a:rect l="l" t="t" r="r" b="b"/>
              <a:pathLst>
                <a:path w="415589" h="415589" extrusionOk="0">
                  <a:moveTo>
                    <a:pt x="415589" y="415589"/>
                  </a:moveTo>
                  <a:lnTo>
                    <a:pt x="0" y="415589"/>
                  </a:lnTo>
                  <a:lnTo>
                    <a:pt x="0" y="358352"/>
                  </a:lnTo>
                  <a:lnTo>
                    <a:pt x="15812" y="358352"/>
                  </a:lnTo>
                  <a:lnTo>
                    <a:pt x="15812" y="399778"/>
                  </a:lnTo>
                  <a:lnTo>
                    <a:pt x="399778" y="399778"/>
                  </a:lnTo>
                  <a:lnTo>
                    <a:pt x="399778" y="15812"/>
                  </a:lnTo>
                  <a:lnTo>
                    <a:pt x="358036" y="15812"/>
                  </a:lnTo>
                  <a:lnTo>
                    <a:pt x="358036" y="0"/>
                  </a:lnTo>
                  <a:lnTo>
                    <a:pt x="415589" y="0"/>
                  </a:lnTo>
                  <a:lnTo>
                    <a:pt x="415589" y="415589"/>
                  </a:lnTo>
                  <a:close/>
                </a:path>
              </a:pathLst>
            </a:custGeom>
            <a:solidFill>
              <a:srgbClr val="D58B3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8799" name="Google Shape;8799;p83"/>
            <p:cNvGrpSpPr/>
            <p:nvPr/>
          </p:nvGrpSpPr>
          <p:grpSpPr>
            <a:xfrm>
              <a:off x="839967" y="3567415"/>
              <a:ext cx="254851" cy="254810"/>
              <a:chOff x="3997454" y="2716554"/>
              <a:chExt cx="254851" cy="254810"/>
            </a:xfrm>
          </p:grpSpPr>
          <p:sp>
            <p:nvSpPr>
              <p:cNvPr id="8800" name="Google Shape;8800;p83"/>
              <p:cNvSpPr/>
              <p:nvPr/>
            </p:nvSpPr>
            <p:spPr>
              <a:xfrm>
                <a:off x="4043273" y="2761774"/>
                <a:ext cx="175573" cy="164349"/>
              </a:xfrm>
              <a:custGeom>
                <a:avLst/>
                <a:gdLst/>
                <a:ahLst/>
                <a:cxnLst/>
                <a:rect l="l" t="t" r="r" b="b"/>
                <a:pathLst>
                  <a:path w="275460" h="257851" extrusionOk="0">
                    <a:moveTo>
                      <a:pt x="253894" y="97350"/>
                    </a:moveTo>
                    <a:cubicBezTo>
                      <a:pt x="236455" y="28333"/>
                      <a:pt x="166369" y="-13481"/>
                      <a:pt x="97351" y="3958"/>
                    </a:cubicBezTo>
                    <a:cubicBezTo>
                      <a:pt x="28333" y="21396"/>
                      <a:pt x="-13480" y="91484"/>
                      <a:pt x="3958" y="160501"/>
                    </a:cubicBezTo>
                    <a:cubicBezTo>
                      <a:pt x="21397" y="229519"/>
                      <a:pt x="91483" y="271333"/>
                      <a:pt x="160502" y="253894"/>
                    </a:cubicBezTo>
                    <a:cubicBezTo>
                      <a:pt x="171782" y="251043"/>
                      <a:pt x="182625" y="246679"/>
                      <a:pt x="192735" y="240919"/>
                    </a:cubicBezTo>
                    <a:lnTo>
                      <a:pt x="184893" y="227194"/>
                    </a:lnTo>
                    <a:cubicBezTo>
                      <a:pt x="130647" y="258076"/>
                      <a:pt x="61639" y="239136"/>
                      <a:pt x="30757" y="184890"/>
                    </a:cubicBezTo>
                    <a:cubicBezTo>
                      <a:pt x="-124" y="130645"/>
                      <a:pt x="18816" y="61637"/>
                      <a:pt x="73061" y="30755"/>
                    </a:cubicBezTo>
                    <a:cubicBezTo>
                      <a:pt x="127307" y="-126"/>
                      <a:pt x="196316" y="18814"/>
                      <a:pt x="227197" y="73059"/>
                    </a:cubicBezTo>
                    <a:cubicBezTo>
                      <a:pt x="232051" y="81586"/>
                      <a:pt x="235774" y="90708"/>
                      <a:pt x="238272" y="100196"/>
                    </a:cubicBezTo>
                    <a:lnTo>
                      <a:pt x="217275" y="104054"/>
                    </a:lnTo>
                    <a:lnTo>
                      <a:pt x="255665" y="149086"/>
                    </a:lnTo>
                    <a:lnTo>
                      <a:pt x="275461" y="93113"/>
                    </a:lnTo>
                    <a:close/>
                  </a:path>
                </a:pathLst>
              </a:custGeom>
              <a:solidFill>
                <a:srgbClr val="D58B3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01" name="Google Shape;8801;p83"/>
              <p:cNvSpPr/>
              <p:nvPr/>
            </p:nvSpPr>
            <p:spPr>
              <a:xfrm>
                <a:off x="3997454" y="2716554"/>
                <a:ext cx="254851" cy="254810"/>
              </a:xfrm>
              <a:custGeom>
                <a:avLst/>
                <a:gdLst/>
                <a:ahLst/>
                <a:cxnLst/>
                <a:rect l="l" t="t" r="r" b="b"/>
                <a:pathLst>
                  <a:path w="399841" h="399777" extrusionOk="0">
                    <a:moveTo>
                      <a:pt x="384030" y="15812"/>
                    </a:moveTo>
                    <a:lnTo>
                      <a:pt x="384030" y="383966"/>
                    </a:lnTo>
                    <a:lnTo>
                      <a:pt x="15812" y="383966"/>
                    </a:lnTo>
                    <a:lnTo>
                      <a:pt x="15812" y="15812"/>
                    </a:lnTo>
                    <a:lnTo>
                      <a:pt x="384030" y="15812"/>
                    </a:lnTo>
                    <a:moveTo>
                      <a:pt x="399841" y="0"/>
                    </a:moveTo>
                    <a:lnTo>
                      <a:pt x="0" y="0"/>
                    </a:lnTo>
                    <a:lnTo>
                      <a:pt x="0" y="399778"/>
                    </a:lnTo>
                    <a:lnTo>
                      <a:pt x="399778" y="399778"/>
                    </a:lnTo>
                    <a:lnTo>
                      <a:pt x="399778" y="0"/>
                    </a:lnTo>
                    <a:close/>
                  </a:path>
                </a:pathLst>
              </a:custGeom>
              <a:solidFill>
                <a:srgbClr val="D58B3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cxnSp>
        <p:nvCxnSpPr>
          <p:cNvPr id="8802" name="Google Shape;8802;p83"/>
          <p:cNvCxnSpPr/>
          <p:nvPr/>
        </p:nvCxnSpPr>
        <p:spPr>
          <a:xfrm>
            <a:off x="2490788" y="2777884"/>
            <a:ext cx="3198812" cy="0"/>
          </a:xfrm>
          <a:prstGeom prst="straightConnector1">
            <a:avLst/>
          </a:prstGeom>
          <a:noFill/>
          <a:ln w="25400" cap="flat" cmpd="sng">
            <a:solidFill>
              <a:schemeClr val="accent3"/>
            </a:solidFill>
            <a:prstDash val="solid"/>
            <a:miter lim="800000"/>
            <a:headEnd type="none" w="sm" len="sm"/>
            <a:tailEnd type="triangle" w="med" len="med"/>
          </a:ln>
        </p:spPr>
      </p:cxnSp>
      <p:cxnSp>
        <p:nvCxnSpPr>
          <p:cNvPr id="8803" name="Google Shape;8803;p83"/>
          <p:cNvCxnSpPr/>
          <p:nvPr/>
        </p:nvCxnSpPr>
        <p:spPr>
          <a:xfrm rot="10800000">
            <a:off x="2030781" y="3092907"/>
            <a:ext cx="0" cy="188044"/>
          </a:xfrm>
          <a:prstGeom prst="straightConnector1">
            <a:avLst/>
          </a:prstGeom>
          <a:noFill/>
          <a:ln w="25400" cap="flat" cmpd="sng">
            <a:solidFill>
              <a:srgbClr val="E68C28"/>
            </a:solidFill>
            <a:prstDash val="solid"/>
            <a:miter lim="800000"/>
            <a:headEnd type="none" w="sm" len="sm"/>
            <a:tailEnd type="none" w="sm" len="sm"/>
          </a:ln>
        </p:spPr>
      </p:cxnSp>
      <p:sp>
        <p:nvSpPr>
          <p:cNvPr id="8804" name="Google Shape;8804;p83"/>
          <p:cNvSpPr txBox="1"/>
          <p:nvPr/>
        </p:nvSpPr>
        <p:spPr>
          <a:xfrm>
            <a:off x="888380" y="2822367"/>
            <a:ext cx="890142"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E68C28"/>
              </a:buClr>
              <a:buSzPts val="1200"/>
              <a:buFont typeface="Arial"/>
              <a:buNone/>
            </a:pPr>
            <a:r>
              <a:rPr lang="en-US" sz="1200" b="0" i="0" u="none" strike="noStrike" cap="none">
                <a:solidFill>
                  <a:srgbClr val="E68C28"/>
                </a:solidFill>
                <a:latin typeface="Arial"/>
                <a:ea typeface="Arial"/>
                <a:cs typeface="Arial"/>
                <a:sym typeface="Arial"/>
              </a:rPr>
              <a:t>Local ESA snapshots</a:t>
            </a:r>
            <a:endParaRPr/>
          </a:p>
        </p:txBody>
      </p:sp>
      <p:grpSp>
        <p:nvGrpSpPr>
          <p:cNvPr id="8805" name="Google Shape;8805;p83"/>
          <p:cNvGrpSpPr/>
          <p:nvPr/>
        </p:nvGrpSpPr>
        <p:grpSpPr>
          <a:xfrm>
            <a:off x="654146" y="4658031"/>
            <a:ext cx="2753271" cy="283867"/>
            <a:chOff x="712452" y="5388690"/>
            <a:chExt cx="2753271" cy="283867"/>
          </a:xfrm>
        </p:grpSpPr>
        <p:sp>
          <p:nvSpPr>
            <p:cNvPr id="8806" name="Google Shape;8806;p83"/>
            <p:cNvSpPr/>
            <p:nvPr/>
          </p:nvSpPr>
          <p:spPr>
            <a:xfrm>
              <a:off x="712452" y="5388690"/>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807" name="Google Shape;8807;p83"/>
            <p:cNvSpPr/>
            <p:nvPr/>
          </p:nvSpPr>
          <p:spPr>
            <a:xfrm>
              <a:off x="1276289" y="5388690"/>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808" name="Google Shape;8808;p83"/>
            <p:cNvSpPr/>
            <p:nvPr/>
          </p:nvSpPr>
          <p:spPr>
            <a:xfrm>
              <a:off x="1840126" y="5388690"/>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809" name="Google Shape;8809;p83"/>
            <p:cNvSpPr/>
            <p:nvPr/>
          </p:nvSpPr>
          <p:spPr>
            <a:xfrm>
              <a:off x="2403963" y="5388690"/>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810" name="Google Shape;8810;p83"/>
            <p:cNvSpPr/>
            <p:nvPr/>
          </p:nvSpPr>
          <p:spPr>
            <a:xfrm>
              <a:off x="712452" y="5559490"/>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811" name="Google Shape;8811;p83"/>
            <p:cNvSpPr/>
            <p:nvPr/>
          </p:nvSpPr>
          <p:spPr>
            <a:xfrm>
              <a:off x="1276289" y="5559490"/>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812" name="Google Shape;8812;p83"/>
            <p:cNvSpPr/>
            <p:nvPr/>
          </p:nvSpPr>
          <p:spPr>
            <a:xfrm>
              <a:off x="1840126" y="5559490"/>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813" name="Google Shape;8813;p83"/>
            <p:cNvSpPr/>
            <p:nvPr/>
          </p:nvSpPr>
          <p:spPr>
            <a:xfrm>
              <a:off x="2403963" y="5559490"/>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814" name="Google Shape;8814;p83"/>
            <p:cNvSpPr/>
            <p:nvPr/>
          </p:nvSpPr>
          <p:spPr>
            <a:xfrm>
              <a:off x="2967800" y="5388690"/>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815" name="Google Shape;8815;p83"/>
            <p:cNvSpPr/>
            <p:nvPr/>
          </p:nvSpPr>
          <p:spPr>
            <a:xfrm>
              <a:off x="2967800" y="5559490"/>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8816" name="Google Shape;8816;p83"/>
          <p:cNvGrpSpPr/>
          <p:nvPr/>
        </p:nvGrpSpPr>
        <p:grpSpPr>
          <a:xfrm>
            <a:off x="654145" y="3344329"/>
            <a:ext cx="2753272" cy="509818"/>
            <a:chOff x="712451" y="4074988"/>
            <a:chExt cx="2753272" cy="509818"/>
          </a:xfrm>
        </p:grpSpPr>
        <p:grpSp>
          <p:nvGrpSpPr>
            <p:cNvPr id="8817" name="Google Shape;8817;p83"/>
            <p:cNvGrpSpPr/>
            <p:nvPr/>
          </p:nvGrpSpPr>
          <p:grpSpPr>
            <a:xfrm>
              <a:off x="1276289" y="4074988"/>
              <a:ext cx="2189434" cy="509818"/>
              <a:chOff x="712452" y="4074988"/>
              <a:chExt cx="2189434" cy="509818"/>
            </a:xfrm>
          </p:grpSpPr>
          <p:grpSp>
            <p:nvGrpSpPr>
              <p:cNvPr id="8818" name="Google Shape;8818;p83"/>
              <p:cNvGrpSpPr/>
              <p:nvPr/>
            </p:nvGrpSpPr>
            <p:grpSpPr>
              <a:xfrm>
                <a:off x="712452" y="4354413"/>
                <a:ext cx="2189434" cy="230393"/>
                <a:chOff x="1904239" y="2069958"/>
                <a:chExt cx="2189434" cy="230393"/>
              </a:xfrm>
            </p:grpSpPr>
            <p:pic>
              <p:nvPicPr>
                <p:cNvPr id="8819" name="Google Shape;8819;p83"/>
                <p:cNvPicPr preferRelativeResize="0"/>
                <p:nvPr/>
              </p:nvPicPr>
              <p:blipFill rotWithShape="1">
                <a:blip r:embed="rId5">
                  <a:alphaModFix/>
                </a:blip>
                <a:srcRect/>
                <a:stretch/>
              </p:blipFill>
              <p:spPr>
                <a:xfrm>
                  <a:off x="2743828" y="2069958"/>
                  <a:ext cx="230393" cy="230393"/>
                </a:xfrm>
                <a:prstGeom prst="rect">
                  <a:avLst/>
                </a:prstGeom>
                <a:noFill/>
                <a:ln>
                  <a:noFill/>
                </a:ln>
              </p:spPr>
            </p:pic>
            <p:pic>
              <p:nvPicPr>
                <p:cNvPr id="8820" name="Google Shape;8820;p83"/>
                <p:cNvPicPr preferRelativeResize="0"/>
                <p:nvPr/>
              </p:nvPicPr>
              <p:blipFill rotWithShape="1">
                <a:blip r:embed="rId6">
                  <a:alphaModFix/>
                </a:blip>
                <a:srcRect/>
                <a:stretch/>
              </p:blipFill>
              <p:spPr>
                <a:xfrm>
                  <a:off x="2463965" y="2069958"/>
                  <a:ext cx="230393" cy="230393"/>
                </a:xfrm>
                <a:prstGeom prst="rect">
                  <a:avLst/>
                </a:prstGeom>
                <a:noFill/>
                <a:ln>
                  <a:noFill/>
                </a:ln>
              </p:spPr>
            </p:pic>
            <p:pic>
              <p:nvPicPr>
                <p:cNvPr id="8821" name="Google Shape;8821;p83"/>
                <p:cNvPicPr preferRelativeResize="0"/>
                <p:nvPr/>
              </p:nvPicPr>
              <p:blipFill rotWithShape="1">
                <a:blip r:embed="rId7">
                  <a:alphaModFix/>
                </a:blip>
                <a:srcRect/>
                <a:stretch/>
              </p:blipFill>
              <p:spPr>
                <a:xfrm>
                  <a:off x="2184102" y="2069958"/>
                  <a:ext cx="230393" cy="230393"/>
                </a:xfrm>
                <a:prstGeom prst="rect">
                  <a:avLst/>
                </a:prstGeom>
                <a:noFill/>
                <a:ln>
                  <a:noFill/>
                </a:ln>
              </p:spPr>
            </p:pic>
            <p:pic>
              <p:nvPicPr>
                <p:cNvPr id="8822" name="Google Shape;8822;p83"/>
                <p:cNvPicPr preferRelativeResize="0"/>
                <p:nvPr/>
              </p:nvPicPr>
              <p:blipFill rotWithShape="1">
                <a:blip r:embed="rId8">
                  <a:alphaModFix/>
                </a:blip>
                <a:srcRect/>
                <a:stretch/>
              </p:blipFill>
              <p:spPr>
                <a:xfrm>
                  <a:off x="1904239" y="2069958"/>
                  <a:ext cx="230393" cy="230393"/>
                </a:xfrm>
                <a:prstGeom prst="rect">
                  <a:avLst/>
                </a:prstGeom>
                <a:noFill/>
                <a:ln>
                  <a:noFill/>
                </a:ln>
              </p:spPr>
            </p:pic>
            <p:pic>
              <p:nvPicPr>
                <p:cNvPr id="8823" name="Google Shape;8823;p83"/>
                <p:cNvPicPr preferRelativeResize="0"/>
                <p:nvPr/>
              </p:nvPicPr>
              <p:blipFill rotWithShape="1">
                <a:blip r:embed="rId5">
                  <a:alphaModFix/>
                </a:blip>
                <a:srcRect/>
                <a:stretch/>
              </p:blipFill>
              <p:spPr>
                <a:xfrm>
                  <a:off x="3023691" y="2069958"/>
                  <a:ext cx="230393" cy="230393"/>
                </a:xfrm>
                <a:prstGeom prst="rect">
                  <a:avLst/>
                </a:prstGeom>
                <a:noFill/>
                <a:ln>
                  <a:noFill/>
                </a:ln>
              </p:spPr>
            </p:pic>
            <p:pic>
              <p:nvPicPr>
                <p:cNvPr id="8824" name="Google Shape;8824;p83"/>
                <p:cNvPicPr preferRelativeResize="0"/>
                <p:nvPr/>
              </p:nvPicPr>
              <p:blipFill rotWithShape="1">
                <a:blip r:embed="rId5">
                  <a:alphaModFix/>
                </a:blip>
                <a:srcRect/>
                <a:stretch/>
              </p:blipFill>
              <p:spPr>
                <a:xfrm>
                  <a:off x="3303554" y="2069958"/>
                  <a:ext cx="230393" cy="230393"/>
                </a:xfrm>
                <a:prstGeom prst="rect">
                  <a:avLst/>
                </a:prstGeom>
                <a:noFill/>
                <a:ln>
                  <a:noFill/>
                </a:ln>
              </p:spPr>
            </p:pic>
            <p:pic>
              <p:nvPicPr>
                <p:cNvPr id="8825" name="Google Shape;8825;p83"/>
                <p:cNvPicPr preferRelativeResize="0"/>
                <p:nvPr/>
              </p:nvPicPr>
              <p:blipFill rotWithShape="1">
                <a:blip r:embed="rId6">
                  <a:alphaModFix/>
                </a:blip>
                <a:srcRect/>
                <a:stretch/>
              </p:blipFill>
              <p:spPr>
                <a:xfrm>
                  <a:off x="3863280" y="2069958"/>
                  <a:ext cx="230393" cy="230393"/>
                </a:xfrm>
                <a:prstGeom prst="rect">
                  <a:avLst/>
                </a:prstGeom>
                <a:noFill/>
                <a:ln>
                  <a:noFill/>
                </a:ln>
              </p:spPr>
            </p:pic>
            <p:pic>
              <p:nvPicPr>
                <p:cNvPr id="8826" name="Google Shape;8826;p83"/>
                <p:cNvPicPr preferRelativeResize="0"/>
                <p:nvPr/>
              </p:nvPicPr>
              <p:blipFill rotWithShape="1">
                <a:blip r:embed="rId7">
                  <a:alphaModFix/>
                </a:blip>
                <a:srcRect/>
                <a:stretch/>
              </p:blipFill>
              <p:spPr>
                <a:xfrm>
                  <a:off x="3583417" y="2069958"/>
                  <a:ext cx="230393" cy="230393"/>
                </a:xfrm>
                <a:prstGeom prst="rect">
                  <a:avLst/>
                </a:prstGeom>
                <a:noFill/>
                <a:ln>
                  <a:noFill/>
                </a:ln>
              </p:spPr>
            </p:pic>
          </p:grpSp>
          <p:grpSp>
            <p:nvGrpSpPr>
              <p:cNvPr id="8827" name="Google Shape;8827;p83"/>
              <p:cNvGrpSpPr/>
              <p:nvPr/>
            </p:nvGrpSpPr>
            <p:grpSpPr>
              <a:xfrm>
                <a:off x="712452" y="4074988"/>
                <a:ext cx="2189434" cy="230393"/>
                <a:chOff x="1904239" y="2069958"/>
                <a:chExt cx="2189434" cy="230393"/>
              </a:xfrm>
            </p:grpSpPr>
            <p:pic>
              <p:nvPicPr>
                <p:cNvPr id="8828" name="Google Shape;8828;p83"/>
                <p:cNvPicPr preferRelativeResize="0"/>
                <p:nvPr/>
              </p:nvPicPr>
              <p:blipFill rotWithShape="1">
                <a:blip r:embed="rId5">
                  <a:alphaModFix/>
                </a:blip>
                <a:srcRect/>
                <a:stretch/>
              </p:blipFill>
              <p:spPr>
                <a:xfrm>
                  <a:off x="2743828" y="2069958"/>
                  <a:ext cx="230393" cy="230393"/>
                </a:xfrm>
                <a:prstGeom prst="rect">
                  <a:avLst/>
                </a:prstGeom>
                <a:noFill/>
                <a:ln>
                  <a:noFill/>
                </a:ln>
              </p:spPr>
            </p:pic>
            <p:pic>
              <p:nvPicPr>
                <p:cNvPr id="8829" name="Google Shape;8829;p83"/>
                <p:cNvPicPr preferRelativeResize="0"/>
                <p:nvPr/>
              </p:nvPicPr>
              <p:blipFill rotWithShape="1">
                <a:blip r:embed="rId6">
                  <a:alphaModFix/>
                </a:blip>
                <a:srcRect/>
                <a:stretch/>
              </p:blipFill>
              <p:spPr>
                <a:xfrm>
                  <a:off x="2463965" y="2069958"/>
                  <a:ext cx="230393" cy="230393"/>
                </a:xfrm>
                <a:prstGeom prst="rect">
                  <a:avLst/>
                </a:prstGeom>
                <a:noFill/>
                <a:ln>
                  <a:noFill/>
                </a:ln>
              </p:spPr>
            </p:pic>
            <p:pic>
              <p:nvPicPr>
                <p:cNvPr id="8830" name="Google Shape;8830;p83"/>
                <p:cNvPicPr preferRelativeResize="0"/>
                <p:nvPr/>
              </p:nvPicPr>
              <p:blipFill rotWithShape="1">
                <a:blip r:embed="rId7">
                  <a:alphaModFix/>
                </a:blip>
                <a:srcRect/>
                <a:stretch/>
              </p:blipFill>
              <p:spPr>
                <a:xfrm>
                  <a:off x="2184102" y="2069958"/>
                  <a:ext cx="230393" cy="230393"/>
                </a:xfrm>
                <a:prstGeom prst="rect">
                  <a:avLst/>
                </a:prstGeom>
                <a:noFill/>
                <a:ln>
                  <a:noFill/>
                </a:ln>
              </p:spPr>
            </p:pic>
            <p:pic>
              <p:nvPicPr>
                <p:cNvPr id="8831" name="Google Shape;8831;p83"/>
                <p:cNvPicPr preferRelativeResize="0"/>
                <p:nvPr/>
              </p:nvPicPr>
              <p:blipFill rotWithShape="1">
                <a:blip r:embed="rId8">
                  <a:alphaModFix/>
                </a:blip>
                <a:srcRect/>
                <a:stretch/>
              </p:blipFill>
              <p:spPr>
                <a:xfrm>
                  <a:off x="1904239" y="2069958"/>
                  <a:ext cx="230393" cy="230393"/>
                </a:xfrm>
                <a:prstGeom prst="rect">
                  <a:avLst/>
                </a:prstGeom>
                <a:noFill/>
                <a:ln>
                  <a:noFill/>
                </a:ln>
              </p:spPr>
            </p:pic>
            <p:pic>
              <p:nvPicPr>
                <p:cNvPr id="8832" name="Google Shape;8832;p83"/>
                <p:cNvPicPr preferRelativeResize="0"/>
                <p:nvPr/>
              </p:nvPicPr>
              <p:blipFill rotWithShape="1">
                <a:blip r:embed="rId5">
                  <a:alphaModFix/>
                </a:blip>
                <a:srcRect/>
                <a:stretch/>
              </p:blipFill>
              <p:spPr>
                <a:xfrm>
                  <a:off x="3023691" y="2069958"/>
                  <a:ext cx="230393" cy="230393"/>
                </a:xfrm>
                <a:prstGeom prst="rect">
                  <a:avLst/>
                </a:prstGeom>
                <a:noFill/>
                <a:ln>
                  <a:noFill/>
                </a:ln>
              </p:spPr>
            </p:pic>
            <p:pic>
              <p:nvPicPr>
                <p:cNvPr id="8833" name="Google Shape;8833;p83"/>
                <p:cNvPicPr preferRelativeResize="0"/>
                <p:nvPr/>
              </p:nvPicPr>
              <p:blipFill rotWithShape="1">
                <a:blip r:embed="rId5">
                  <a:alphaModFix/>
                </a:blip>
                <a:srcRect/>
                <a:stretch/>
              </p:blipFill>
              <p:spPr>
                <a:xfrm>
                  <a:off x="3303554" y="2069958"/>
                  <a:ext cx="230393" cy="230393"/>
                </a:xfrm>
                <a:prstGeom prst="rect">
                  <a:avLst/>
                </a:prstGeom>
                <a:noFill/>
                <a:ln>
                  <a:noFill/>
                </a:ln>
              </p:spPr>
            </p:pic>
            <p:pic>
              <p:nvPicPr>
                <p:cNvPr id="8834" name="Google Shape;8834;p83"/>
                <p:cNvPicPr preferRelativeResize="0"/>
                <p:nvPr/>
              </p:nvPicPr>
              <p:blipFill rotWithShape="1">
                <a:blip r:embed="rId6">
                  <a:alphaModFix/>
                </a:blip>
                <a:srcRect/>
                <a:stretch/>
              </p:blipFill>
              <p:spPr>
                <a:xfrm>
                  <a:off x="3863280" y="2069958"/>
                  <a:ext cx="230393" cy="230393"/>
                </a:xfrm>
                <a:prstGeom prst="rect">
                  <a:avLst/>
                </a:prstGeom>
                <a:noFill/>
                <a:ln>
                  <a:noFill/>
                </a:ln>
              </p:spPr>
            </p:pic>
            <p:pic>
              <p:nvPicPr>
                <p:cNvPr id="8835" name="Google Shape;8835;p83"/>
                <p:cNvPicPr preferRelativeResize="0"/>
                <p:nvPr/>
              </p:nvPicPr>
              <p:blipFill rotWithShape="1">
                <a:blip r:embed="rId7">
                  <a:alphaModFix/>
                </a:blip>
                <a:srcRect/>
                <a:stretch/>
              </p:blipFill>
              <p:spPr>
                <a:xfrm>
                  <a:off x="3583417" y="2069958"/>
                  <a:ext cx="230393" cy="230393"/>
                </a:xfrm>
                <a:prstGeom prst="rect">
                  <a:avLst/>
                </a:prstGeom>
                <a:noFill/>
                <a:ln>
                  <a:noFill/>
                </a:ln>
              </p:spPr>
            </p:pic>
          </p:grpSp>
        </p:grpSp>
        <p:grpSp>
          <p:nvGrpSpPr>
            <p:cNvPr id="8836" name="Google Shape;8836;p83"/>
            <p:cNvGrpSpPr/>
            <p:nvPr/>
          </p:nvGrpSpPr>
          <p:grpSpPr>
            <a:xfrm>
              <a:off x="712451" y="4074988"/>
              <a:ext cx="510256" cy="509818"/>
              <a:chOff x="730422" y="4225984"/>
              <a:chExt cx="510256" cy="509818"/>
            </a:xfrm>
          </p:grpSpPr>
          <p:pic>
            <p:nvPicPr>
              <p:cNvPr id="8837" name="Google Shape;8837;p83"/>
              <p:cNvPicPr preferRelativeResize="0"/>
              <p:nvPr/>
            </p:nvPicPr>
            <p:blipFill rotWithShape="1">
              <a:blip r:embed="rId7">
                <a:alphaModFix/>
              </a:blip>
              <a:srcRect/>
              <a:stretch/>
            </p:blipFill>
            <p:spPr>
              <a:xfrm>
                <a:off x="1010285" y="4505409"/>
                <a:ext cx="230393" cy="230393"/>
              </a:xfrm>
              <a:prstGeom prst="rect">
                <a:avLst/>
              </a:prstGeom>
              <a:noFill/>
              <a:ln>
                <a:noFill/>
              </a:ln>
            </p:spPr>
          </p:pic>
          <p:pic>
            <p:nvPicPr>
              <p:cNvPr id="8838" name="Google Shape;8838;p83"/>
              <p:cNvPicPr preferRelativeResize="0"/>
              <p:nvPr/>
            </p:nvPicPr>
            <p:blipFill rotWithShape="1">
              <a:blip r:embed="rId8">
                <a:alphaModFix/>
              </a:blip>
              <a:srcRect/>
              <a:stretch/>
            </p:blipFill>
            <p:spPr>
              <a:xfrm>
                <a:off x="730422" y="4505409"/>
                <a:ext cx="230393" cy="230393"/>
              </a:xfrm>
              <a:prstGeom prst="rect">
                <a:avLst/>
              </a:prstGeom>
              <a:noFill/>
              <a:ln>
                <a:noFill/>
              </a:ln>
            </p:spPr>
          </p:pic>
          <p:pic>
            <p:nvPicPr>
              <p:cNvPr id="8839" name="Google Shape;8839;p83"/>
              <p:cNvPicPr preferRelativeResize="0"/>
              <p:nvPr/>
            </p:nvPicPr>
            <p:blipFill rotWithShape="1">
              <a:blip r:embed="rId7">
                <a:alphaModFix/>
              </a:blip>
              <a:srcRect/>
              <a:stretch/>
            </p:blipFill>
            <p:spPr>
              <a:xfrm>
                <a:off x="1010285" y="4225984"/>
                <a:ext cx="230393" cy="230393"/>
              </a:xfrm>
              <a:prstGeom prst="rect">
                <a:avLst/>
              </a:prstGeom>
              <a:noFill/>
              <a:ln>
                <a:noFill/>
              </a:ln>
            </p:spPr>
          </p:pic>
          <p:pic>
            <p:nvPicPr>
              <p:cNvPr id="8840" name="Google Shape;8840;p83"/>
              <p:cNvPicPr preferRelativeResize="0"/>
              <p:nvPr/>
            </p:nvPicPr>
            <p:blipFill rotWithShape="1">
              <a:blip r:embed="rId8">
                <a:alphaModFix/>
              </a:blip>
              <a:srcRect/>
              <a:stretch/>
            </p:blipFill>
            <p:spPr>
              <a:xfrm>
                <a:off x="730422" y="4225984"/>
                <a:ext cx="230393" cy="230393"/>
              </a:xfrm>
              <a:prstGeom prst="rect">
                <a:avLst/>
              </a:prstGeom>
              <a:noFill/>
              <a:ln>
                <a:noFill/>
              </a:ln>
            </p:spPr>
          </p:pic>
        </p:grpSp>
      </p:grpSp>
      <p:sp>
        <p:nvSpPr>
          <p:cNvPr id="8841" name="Google Shape;8841;p83"/>
          <p:cNvSpPr txBox="1"/>
          <p:nvPr/>
        </p:nvSpPr>
        <p:spPr>
          <a:xfrm>
            <a:off x="1153793" y="2385344"/>
            <a:ext cx="1753972"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5C8A"/>
              </a:buClr>
              <a:buSzPts val="1200"/>
              <a:buFont typeface="Arial"/>
              <a:buNone/>
            </a:pPr>
            <a:r>
              <a:rPr lang="en-US" sz="1200" b="0" i="0" u="none" strike="noStrike" cap="none">
                <a:solidFill>
                  <a:srgbClr val="005C8A"/>
                </a:solidFill>
                <a:latin typeface="Arial"/>
                <a:ea typeface="Arial"/>
                <a:cs typeface="Arial"/>
                <a:sym typeface="Arial"/>
              </a:rPr>
              <a:t>vSAN Data Protection</a:t>
            </a:r>
            <a:endParaRPr/>
          </a:p>
        </p:txBody>
      </p:sp>
      <p:grpSp>
        <p:nvGrpSpPr>
          <p:cNvPr id="8842" name="Google Shape;8842;p83"/>
          <p:cNvGrpSpPr/>
          <p:nvPr/>
        </p:nvGrpSpPr>
        <p:grpSpPr>
          <a:xfrm>
            <a:off x="5789843" y="2374361"/>
            <a:ext cx="2183554" cy="1497742"/>
            <a:chOff x="5598861" y="2593413"/>
            <a:chExt cx="2183554" cy="1497742"/>
          </a:xfrm>
        </p:grpSpPr>
        <p:sp>
          <p:nvSpPr>
            <p:cNvPr id="8843" name="Google Shape;8843;p83"/>
            <p:cNvSpPr/>
            <p:nvPr/>
          </p:nvSpPr>
          <p:spPr>
            <a:xfrm>
              <a:off x="5598861" y="2593413"/>
              <a:ext cx="2183554" cy="1497742"/>
            </a:xfrm>
            <a:prstGeom prst="rect">
              <a:avLst/>
            </a:prstGeom>
            <a:solidFill>
              <a:schemeClr val="accent3">
                <a:alpha val="980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844" name="Google Shape;8844;p83"/>
            <p:cNvSpPr/>
            <p:nvPr/>
          </p:nvSpPr>
          <p:spPr>
            <a:xfrm>
              <a:off x="5724798" y="3149041"/>
              <a:ext cx="1879336" cy="80060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8845" name="Google Shape;8845;p83"/>
          <p:cNvGrpSpPr/>
          <p:nvPr/>
        </p:nvGrpSpPr>
        <p:grpSpPr>
          <a:xfrm>
            <a:off x="5789842" y="1935625"/>
            <a:ext cx="2183553" cy="438736"/>
            <a:chOff x="5789842" y="1928463"/>
            <a:chExt cx="2183553" cy="438736"/>
          </a:xfrm>
        </p:grpSpPr>
        <p:pic>
          <p:nvPicPr>
            <p:cNvPr id="8846" name="Google Shape;8846;p83"/>
            <p:cNvPicPr preferRelativeResize="0"/>
            <p:nvPr/>
          </p:nvPicPr>
          <p:blipFill rotWithShape="1">
            <a:blip r:embed="rId9">
              <a:alphaModFix/>
            </a:blip>
            <a:srcRect/>
            <a:stretch/>
          </p:blipFill>
          <p:spPr>
            <a:xfrm>
              <a:off x="5893312" y="1983739"/>
              <a:ext cx="328184" cy="328184"/>
            </a:xfrm>
            <a:prstGeom prst="rect">
              <a:avLst/>
            </a:prstGeom>
            <a:noFill/>
            <a:ln>
              <a:noFill/>
            </a:ln>
          </p:spPr>
        </p:pic>
        <p:sp>
          <p:nvSpPr>
            <p:cNvPr id="8847" name="Google Shape;8847;p83"/>
            <p:cNvSpPr txBox="1"/>
            <p:nvPr/>
          </p:nvSpPr>
          <p:spPr>
            <a:xfrm>
              <a:off x="6165882" y="2055498"/>
              <a:ext cx="1807512"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VMware Live Recovery</a:t>
              </a:r>
              <a:endParaRPr/>
            </a:p>
          </p:txBody>
        </p:sp>
        <p:sp>
          <p:nvSpPr>
            <p:cNvPr id="8848" name="Google Shape;8848;p83"/>
            <p:cNvSpPr/>
            <p:nvPr/>
          </p:nvSpPr>
          <p:spPr>
            <a:xfrm>
              <a:off x="5789842" y="1928463"/>
              <a:ext cx="2183553" cy="438736"/>
            </a:xfrm>
            <a:prstGeom prst="rect">
              <a:avLst/>
            </a:prstGeom>
            <a:solidFill>
              <a:schemeClr val="accent5">
                <a:alpha val="980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8849" name="Google Shape;8849;p83"/>
          <p:cNvSpPr txBox="1"/>
          <p:nvPr/>
        </p:nvSpPr>
        <p:spPr>
          <a:xfrm>
            <a:off x="6110668" y="2488876"/>
            <a:ext cx="1651238"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VMware Live Site Recovery (VLSR)</a:t>
            </a:r>
            <a:endParaRPr/>
          </a:p>
        </p:txBody>
      </p:sp>
      <p:cxnSp>
        <p:nvCxnSpPr>
          <p:cNvPr id="8850" name="Google Shape;8850;p83"/>
          <p:cNvCxnSpPr/>
          <p:nvPr/>
        </p:nvCxnSpPr>
        <p:spPr>
          <a:xfrm>
            <a:off x="5926640" y="2853038"/>
            <a:ext cx="2019295" cy="0"/>
          </a:xfrm>
          <a:prstGeom prst="straightConnector1">
            <a:avLst/>
          </a:prstGeom>
          <a:noFill/>
          <a:ln w="12700" cap="flat" cmpd="sng">
            <a:solidFill>
              <a:schemeClr val="dk1"/>
            </a:solidFill>
            <a:prstDash val="dash"/>
            <a:miter lim="800000"/>
            <a:headEnd type="none" w="sm" len="sm"/>
            <a:tailEnd type="none" w="sm" len="sm"/>
          </a:ln>
        </p:spPr>
      </p:cxnSp>
      <p:grpSp>
        <p:nvGrpSpPr>
          <p:cNvPr id="8851" name="Google Shape;8851;p83"/>
          <p:cNvGrpSpPr/>
          <p:nvPr/>
        </p:nvGrpSpPr>
        <p:grpSpPr>
          <a:xfrm>
            <a:off x="6019606" y="3146895"/>
            <a:ext cx="285074" cy="285193"/>
            <a:chOff x="839967" y="3567415"/>
            <a:chExt cx="386791" cy="386953"/>
          </a:xfrm>
        </p:grpSpPr>
        <p:sp>
          <p:nvSpPr>
            <p:cNvPr id="8852" name="Google Shape;8852;p83"/>
            <p:cNvSpPr/>
            <p:nvPr/>
          </p:nvSpPr>
          <p:spPr>
            <a:xfrm>
              <a:off x="961869" y="3689439"/>
              <a:ext cx="264889" cy="264929"/>
            </a:xfrm>
            <a:custGeom>
              <a:avLst/>
              <a:gdLst/>
              <a:ahLst/>
              <a:cxnLst/>
              <a:rect l="l" t="t" r="r" b="b"/>
              <a:pathLst>
                <a:path w="415589" h="415652" extrusionOk="0">
                  <a:moveTo>
                    <a:pt x="415589" y="415653"/>
                  </a:moveTo>
                  <a:lnTo>
                    <a:pt x="0" y="415653"/>
                  </a:lnTo>
                  <a:lnTo>
                    <a:pt x="0" y="366447"/>
                  </a:lnTo>
                  <a:lnTo>
                    <a:pt x="15812" y="366447"/>
                  </a:lnTo>
                  <a:lnTo>
                    <a:pt x="15812" y="399841"/>
                  </a:lnTo>
                  <a:lnTo>
                    <a:pt x="399778" y="399841"/>
                  </a:lnTo>
                  <a:lnTo>
                    <a:pt x="399778" y="15812"/>
                  </a:lnTo>
                  <a:lnTo>
                    <a:pt x="364550" y="15812"/>
                  </a:lnTo>
                  <a:lnTo>
                    <a:pt x="364550" y="0"/>
                  </a:lnTo>
                  <a:lnTo>
                    <a:pt x="415589" y="0"/>
                  </a:lnTo>
                  <a:lnTo>
                    <a:pt x="415589" y="415653"/>
                  </a:lnTo>
                  <a:close/>
                </a:path>
              </a:pathLst>
            </a:custGeom>
            <a:solidFill>
              <a:srgbClr val="D58B3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53" name="Google Shape;8853;p83"/>
            <p:cNvSpPr/>
            <p:nvPr/>
          </p:nvSpPr>
          <p:spPr>
            <a:xfrm>
              <a:off x="919341" y="3646749"/>
              <a:ext cx="264889" cy="264889"/>
            </a:xfrm>
            <a:custGeom>
              <a:avLst/>
              <a:gdLst/>
              <a:ahLst/>
              <a:cxnLst/>
              <a:rect l="l" t="t" r="r" b="b"/>
              <a:pathLst>
                <a:path w="415589" h="415589" extrusionOk="0">
                  <a:moveTo>
                    <a:pt x="415589" y="415589"/>
                  </a:moveTo>
                  <a:lnTo>
                    <a:pt x="0" y="415589"/>
                  </a:lnTo>
                  <a:lnTo>
                    <a:pt x="0" y="365246"/>
                  </a:lnTo>
                  <a:lnTo>
                    <a:pt x="15812" y="365246"/>
                  </a:lnTo>
                  <a:lnTo>
                    <a:pt x="15812" y="399778"/>
                  </a:lnTo>
                  <a:lnTo>
                    <a:pt x="399778" y="399778"/>
                  </a:lnTo>
                  <a:lnTo>
                    <a:pt x="399778" y="15812"/>
                  </a:lnTo>
                  <a:lnTo>
                    <a:pt x="364740" y="15812"/>
                  </a:lnTo>
                  <a:lnTo>
                    <a:pt x="364740" y="0"/>
                  </a:lnTo>
                  <a:lnTo>
                    <a:pt x="415589" y="0"/>
                  </a:lnTo>
                  <a:lnTo>
                    <a:pt x="415589" y="415589"/>
                  </a:lnTo>
                  <a:close/>
                </a:path>
              </a:pathLst>
            </a:custGeom>
            <a:solidFill>
              <a:srgbClr val="D58B3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54" name="Google Shape;8854;p83"/>
            <p:cNvSpPr/>
            <p:nvPr/>
          </p:nvSpPr>
          <p:spPr>
            <a:xfrm>
              <a:off x="876973" y="3604260"/>
              <a:ext cx="264889" cy="264889"/>
            </a:xfrm>
            <a:custGeom>
              <a:avLst/>
              <a:gdLst/>
              <a:ahLst/>
              <a:cxnLst/>
              <a:rect l="l" t="t" r="r" b="b"/>
              <a:pathLst>
                <a:path w="415589" h="415589" extrusionOk="0">
                  <a:moveTo>
                    <a:pt x="415589" y="415589"/>
                  </a:moveTo>
                  <a:lnTo>
                    <a:pt x="0" y="415589"/>
                  </a:lnTo>
                  <a:lnTo>
                    <a:pt x="0" y="358352"/>
                  </a:lnTo>
                  <a:lnTo>
                    <a:pt x="15812" y="358352"/>
                  </a:lnTo>
                  <a:lnTo>
                    <a:pt x="15812" y="399778"/>
                  </a:lnTo>
                  <a:lnTo>
                    <a:pt x="399778" y="399778"/>
                  </a:lnTo>
                  <a:lnTo>
                    <a:pt x="399778" y="15812"/>
                  </a:lnTo>
                  <a:lnTo>
                    <a:pt x="358036" y="15812"/>
                  </a:lnTo>
                  <a:lnTo>
                    <a:pt x="358036" y="0"/>
                  </a:lnTo>
                  <a:lnTo>
                    <a:pt x="415589" y="0"/>
                  </a:lnTo>
                  <a:lnTo>
                    <a:pt x="415589" y="415589"/>
                  </a:lnTo>
                  <a:close/>
                </a:path>
              </a:pathLst>
            </a:custGeom>
            <a:solidFill>
              <a:srgbClr val="D58B3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8855" name="Google Shape;8855;p83"/>
            <p:cNvGrpSpPr/>
            <p:nvPr/>
          </p:nvGrpSpPr>
          <p:grpSpPr>
            <a:xfrm>
              <a:off x="839967" y="3567415"/>
              <a:ext cx="254851" cy="254810"/>
              <a:chOff x="3997454" y="2716554"/>
              <a:chExt cx="254851" cy="254810"/>
            </a:xfrm>
          </p:grpSpPr>
          <p:sp>
            <p:nvSpPr>
              <p:cNvPr id="8856" name="Google Shape;8856;p83"/>
              <p:cNvSpPr/>
              <p:nvPr/>
            </p:nvSpPr>
            <p:spPr>
              <a:xfrm>
                <a:off x="4043273" y="2761774"/>
                <a:ext cx="175573" cy="164349"/>
              </a:xfrm>
              <a:custGeom>
                <a:avLst/>
                <a:gdLst/>
                <a:ahLst/>
                <a:cxnLst/>
                <a:rect l="l" t="t" r="r" b="b"/>
                <a:pathLst>
                  <a:path w="275460" h="257851" extrusionOk="0">
                    <a:moveTo>
                      <a:pt x="253894" y="97350"/>
                    </a:moveTo>
                    <a:cubicBezTo>
                      <a:pt x="236455" y="28333"/>
                      <a:pt x="166369" y="-13481"/>
                      <a:pt x="97351" y="3958"/>
                    </a:cubicBezTo>
                    <a:cubicBezTo>
                      <a:pt x="28333" y="21396"/>
                      <a:pt x="-13480" y="91484"/>
                      <a:pt x="3958" y="160501"/>
                    </a:cubicBezTo>
                    <a:cubicBezTo>
                      <a:pt x="21397" y="229519"/>
                      <a:pt x="91483" y="271333"/>
                      <a:pt x="160502" y="253894"/>
                    </a:cubicBezTo>
                    <a:cubicBezTo>
                      <a:pt x="171782" y="251043"/>
                      <a:pt x="182625" y="246679"/>
                      <a:pt x="192735" y="240919"/>
                    </a:cubicBezTo>
                    <a:lnTo>
                      <a:pt x="184893" y="227194"/>
                    </a:lnTo>
                    <a:cubicBezTo>
                      <a:pt x="130647" y="258076"/>
                      <a:pt x="61639" y="239136"/>
                      <a:pt x="30757" y="184890"/>
                    </a:cubicBezTo>
                    <a:cubicBezTo>
                      <a:pt x="-124" y="130645"/>
                      <a:pt x="18816" y="61637"/>
                      <a:pt x="73061" y="30755"/>
                    </a:cubicBezTo>
                    <a:cubicBezTo>
                      <a:pt x="127307" y="-126"/>
                      <a:pt x="196316" y="18814"/>
                      <a:pt x="227197" y="73059"/>
                    </a:cubicBezTo>
                    <a:cubicBezTo>
                      <a:pt x="232051" y="81586"/>
                      <a:pt x="235774" y="90708"/>
                      <a:pt x="238272" y="100196"/>
                    </a:cubicBezTo>
                    <a:lnTo>
                      <a:pt x="217275" y="104054"/>
                    </a:lnTo>
                    <a:lnTo>
                      <a:pt x="255665" y="149086"/>
                    </a:lnTo>
                    <a:lnTo>
                      <a:pt x="275461" y="93113"/>
                    </a:lnTo>
                    <a:close/>
                  </a:path>
                </a:pathLst>
              </a:custGeom>
              <a:solidFill>
                <a:srgbClr val="D58B3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57" name="Google Shape;8857;p83"/>
              <p:cNvSpPr/>
              <p:nvPr/>
            </p:nvSpPr>
            <p:spPr>
              <a:xfrm>
                <a:off x="3997454" y="2716554"/>
                <a:ext cx="254851" cy="254810"/>
              </a:xfrm>
              <a:custGeom>
                <a:avLst/>
                <a:gdLst/>
                <a:ahLst/>
                <a:cxnLst/>
                <a:rect l="l" t="t" r="r" b="b"/>
                <a:pathLst>
                  <a:path w="399841" h="399777" extrusionOk="0">
                    <a:moveTo>
                      <a:pt x="384030" y="15812"/>
                    </a:moveTo>
                    <a:lnTo>
                      <a:pt x="384030" y="383966"/>
                    </a:lnTo>
                    <a:lnTo>
                      <a:pt x="15812" y="383966"/>
                    </a:lnTo>
                    <a:lnTo>
                      <a:pt x="15812" y="15812"/>
                    </a:lnTo>
                    <a:lnTo>
                      <a:pt x="384030" y="15812"/>
                    </a:lnTo>
                    <a:moveTo>
                      <a:pt x="399841" y="0"/>
                    </a:moveTo>
                    <a:lnTo>
                      <a:pt x="0" y="0"/>
                    </a:lnTo>
                    <a:lnTo>
                      <a:pt x="0" y="399778"/>
                    </a:lnTo>
                    <a:lnTo>
                      <a:pt x="399778" y="399778"/>
                    </a:lnTo>
                    <a:lnTo>
                      <a:pt x="399778" y="0"/>
                    </a:lnTo>
                    <a:close/>
                  </a:path>
                </a:pathLst>
              </a:custGeom>
              <a:solidFill>
                <a:srgbClr val="D58B3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cxnSp>
        <p:nvCxnSpPr>
          <p:cNvPr id="8858" name="Google Shape;8858;p83"/>
          <p:cNvCxnSpPr/>
          <p:nvPr/>
        </p:nvCxnSpPr>
        <p:spPr>
          <a:xfrm>
            <a:off x="6354354" y="3289491"/>
            <a:ext cx="356981" cy="0"/>
          </a:xfrm>
          <a:prstGeom prst="straightConnector1">
            <a:avLst/>
          </a:prstGeom>
          <a:noFill/>
          <a:ln w="12700" cap="flat" cmpd="sng">
            <a:solidFill>
              <a:srgbClr val="D58B3F"/>
            </a:solidFill>
            <a:prstDash val="dash"/>
            <a:miter lim="800000"/>
            <a:headEnd type="none" w="sm" len="sm"/>
            <a:tailEnd type="none" w="sm" len="sm"/>
          </a:ln>
        </p:spPr>
      </p:cxnSp>
      <p:sp>
        <p:nvSpPr>
          <p:cNvPr id="8859" name="Google Shape;8859;p83"/>
          <p:cNvSpPr txBox="1"/>
          <p:nvPr/>
        </p:nvSpPr>
        <p:spPr>
          <a:xfrm>
            <a:off x="5915779" y="2941015"/>
            <a:ext cx="1879335" cy="15388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5C8A"/>
              </a:buClr>
              <a:buSzPts val="1000"/>
              <a:buFont typeface="Arial"/>
              <a:buNone/>
            </a:pPr>
            <a:r>
              <a:rPr lang="en-US" sz="1000" b="0" i="0" u="none" strike="noStrike" cap="none">
                <a:solidFill>
                  <a:srgbClr val="005C8A"/>
                </a:solidFill>
                <a:latin typeface="Arial"/>
                <a:ea typeface="Arial"/>
                <a:cs typeface="Arial"/>
                <a:sym typeface="Arial"/>
              </a:rPr>
              <a:t>Disaster Recovery/Failover</a:t>
            </a:r>
            <a:endParaRPr/>
          </a:p>
        </p:txBody>
      </p:sp>
      <p:grpSp>
        <p:nvGrpSpPr>
          <p:cNvPr id="8860" name="Google Shape;8860;p83"/>
          <p:cNvGrpSpPr/>
          <p:nvPr/>
        </p:nvGrpSpPr>
        <p:grpSpPr>
          <a:xfrm>
            <a:off x="6805705" y="3171099"/>
            <a:ext cx="790119" cy="509818"/>
            <a:chOff x="6800780" y="3390151"/>
            <a:chExt cx="790119" cy="509818"/>
          </a:xfrm>
        </p:grpSpPr>
        <p:grpSp>
          <p:nvGrpSpPr>
            <p:cNvPr id="8861" name="Google Shape;8861;p83"/>
            <p:cNvGrpSpPr/>
            <p:nvPr/>
          </p:nvGrpSpPr>
          <p:grpSpPr>
            <a:xfrm>
              <a:off x="6800780" y="3669576"/>
              <a:ext cx="790119" cy="230393"/>
              <a:chOff x="3023691" y="2069958"/>
              <a:chExt cx="790119" cy="230393"/>
            </a:xfrm>
          </p:grpSpPr>
          <p:pic>
            <p:nvPicPr>
              <p:cNvPr id="8862" name="Google Shape;8862;p83"/>
              <p:cNvPicPr preferRelativeResize="0"/>
              <p:nvPr/>
            </p:nvPicPr>
            <p:blipFill rotWithShape="1">
              <a:blip r:embed="rId5">
                <a:alphaModFix/>
              </a:blip>
              <a:srcRect/>
              <a:stretch/>
            </p:blipFill>
            <p:spPr>
              <a:xfrm>
                <a:off x="3023691" y="2069958"/>
                <a:ext cx="230393" cy="230393"/>
              </a:xfrm>
              <a:prstGeom prst="rect">
                <a:avLst/>
              </a:prstGeom>
              <a:noFill/>
              <a:ln>
                <a:noFill/>
              </a:ln>
            </p:spPr>
          </p:pic>
          <p:pic>
            <p:nvPicPr>
              <p:cNvPr id="8863" name="Google Shape;8863;p83"/>
              <p:cNvPicPr preferRelativeResize="0"/>
              <p:nvPr/>
            </p:nvPicPr>
            <p:blipFill rotWithShape="1">
              <a:blip r:embed="rId5">
                <a:alphaModFix/>
              </a:blip>
              <a:srcRect/>
              <a:stretch/>
            </p:blipFill>
            <p:spPr>
              <a:xfrm>
                <a:off x="3303554" y="2069958"/>
                <a:ext cx="230393" cy="230393"/>
              </a:xfrm>
              <a:prstGeom prst="rect">
                <a:avLst/>
              </a:prstGeom>
              <a:noFill/>
              <a:ln>
                <a:noFill/>
              </a:ln>
            </p:spPr>
          </p:pic>
          <p:pic>
            <p:nvPicPr>
              <p:cNvPr id="8864" name="Google Shape;8864;p83"/>
              <p:cNvPicPr preferRelativeResize="0"/>
              <p:nvPr/>
            </p:nvPicPr>
            <p:blipFill rotWithShape="1">
              <a:blip r:embed="rId7">
                <a:alphaModFix/>
              </a:blip>
              <a:srcRect/>
              <a:stretch/>
            </p:blipFill>
            <p:spPr>
              <a:xfrm>
                <a:off x="3583417" y="2069958"/>
                <a:ext cx="230393" cy="230393"/>
              </a:xfrm>
              <a:prstGeom prst="rect">
                <a:avLst/>
              </a:prstGeom>
              <a:noFill/>
              <a:ln>
                <a:noFill/>
              </a:ln>
            </p:spPr>
          </p:pic>
        </p:grpSp>
        <p:grpSp>
          <p:nvGrpSpPr>
            <p:cNvPr id="8865" name="Google Shape;8865;p83"/>
            <p:cNvGrpSpPr/>
            <p:nvPr/>
          </p:nvGrpSpPr>
          <p:grpSpPr>
            <a:xfrm>
              <a:off x="6800780" y="3390151"/>
              <a:ext cx="790119" cy="230393"/>
              <a:chOff x="3023691" y="2069958"/>
              <a:chExt cx="790119" cy="230393"/>
            </a:xfrm>
          </p:grpSpPr>
          <p:pic>
            <p:nvPicPr>
              <p:cNvPr id="8866" name="Google Shape;8866;p83"/>
              <p:cNvPicPr preferRelativeResize="0"/>
              <p:nvPr/>
            </p:nvPicPr>
            <p:blipFill rotWithShape="1">
              <a:blip r:embed="rId5">
                <a:alphaModFix/>
              </a:blip>
              <a:srcRect/>
              <a:stretch/>
            </p:blipFill>
            <p:spPr>
              <a:xfrm>
                <a:off x="3023691" y="2069958"/>
                <a:ext cx="230393" cy="230393"/>
              </a:xfrm>
              <a:prstGeom prst="rect">
                <a:avLst/>
              </a:prstGeom>
              <a:noFill/>
              <a:ln>
                <a:noFill/>
              </a:ln>
            </p:spPr>
          </p:pic>
          <p:pic>
            <p:nvPicPr>
              <p:cNvPr id="8867" name="Google Shape;8867;p83"/>
              <p:cNvPicPr preferRelativeResize="0"/>
              <p:nvPr/>
            </p:nvPicPr>
            <p:blipFill rotWithShape="1">
              <a:blip r:embed="rId5">
                <a:alphaModFix/>
              </a:blip>
              <a:srcRect/>
              <a:stretch/>
            </p:blipFill>
            <p:spPr>
              <a:xfrm>
                <a:off x="3303554" y="2069958"/>
                <a:ext cx="230393" cy="230393"/>
              </a:xfrm>
              <a:prstGeom prst="rect">
                <a:avLst/>
              </a:prstGeom>
              <a:noFill/>
              <a:ln>
                <a:noFill/>
              </a:ln>
            </p:spPr>
          </p:pic>
          <p:pic>
            <p:nvPicPr>
              <p:cNvPr id="8868" name="Google Shape;8868;p83"/>
              <p:cNvPicPr preferRelativeResize="0"/>
              <p:nvPr/>
            </p:nvPicPr>
            <p:blipFill rotWithShape="1">
              <a:blip r:embed="rId7">
                <a:alphaModFix/>
              </a:blip>
              <a:srcRect/>
              <a:stretch/>
            </p:blipFill>
            <p:spPr>
              <a:xfrm>
                <a:off x="3583417" y="2069958"/>
                <a:ext cx="230393" cy="230393"/>
              </a:xfrm>
              <a:prstGeom prst="rect">
                <a:avLst/>
              </a:prstGeom>
              <a:noFill/>
              <a:ln>
                <a:noFill/>
              </a:ln>
            </p:spPr>
          </p:pic>
        </p:grpSp>
      </p:grpSp>
      <p:grpSp>
        <p:nvGrpSpPr>
          <p:cNvPr id="8869" name="Google Shape;8869;p83"/>
          <p:cNvGrpSpPr/>
          <p:nvPr/>
        </p:nvGrpSpPr>
        <p:grpSpPr>
          <a:xfrm>
            <a:off x="6904449" y="3089646"/>
            <a:ext cx="734041" cy="457868"/>
            <a:chOff x="6899524" y="3308698"/>
            <a:chExt cx="734041" cy="457868"/>
          </a:xfrm>
        </p:grpSpPr>
        <p:grpSp>
          <p:nvGrpSpPr>
            <p:cNvPr id="8870" name="Google Shape;8870;p83"/>
            <p:cNvGrpSpPr/>
            <p:nvPr/>
          </p:nvGrpSpPr>
          <p:grpSpPr>
            <a:xfrm>
              <a:off x="6899524" y="3308698"/>
              <a:ext cx="174754" cy="174754"/>
              <a:chOff x="6967067" y="4190904"/>
              <a:chExt cx="174754" cy="174754"/>
            </a:xfrm>
          </p:grpSpPr>
          <p:sp>
            <p:nvSpPr>
              <p:cNvPr id="8871" name="Google Shape;8871;p83"/>
              <p:cNvSpPr/>
              <p:nvPr/>
            </p:nvSpPr>
            <p:spPr>
              <a:xfrm>
                <a:off x="6967067" y="4190904"/>
                <a:ext cx="174754" cy="174754"/>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8872" name="Google Shape;8872;p83"/>
              <p:cNvGrpSpPr/>
              <p:nvPr/>
            </p:nvGrpSpPr>
            <p:grpSpPr>
              <a:xfrm>
                <a:off x="6980770" y="4201766"/>
                <a:ext cx="149833" cy="150145"/>
                <a:chOff x="291074" y="2935069"/>
                <a:chExt cx="221361" cy="221822"/>
              </a:xfrm>
            </p:grpSpPr>
            <p:sp>
              <p:nvSpPr>
                <p:cNvPr id="8873" name="Google Shape;8873;p83"/>
                <p:cNvSpPr/>
                <p:nvPr/>
              </p:nvSpPr>
              <p:spPr>
                <a:xfrm>
                  <a:off x="291074" y="2935069"/>
                  <a:ext cx="221361" cy="221822"/>
                </a:xfrm>
                <a:custGeom>
                  <a:avLst/>
                  <a:gdLst/>
                  <a:ahLst/>
                  <a:cxnLst/>
                  <a:rect l="l" t="t" r="r" b="b"/>
                  <a:pathLst>
                    <a:path w="221361" h="221822" extrusionOk="0">
                      <a:moveTo>
                        <a:pt x="110681" y="221822"/>
                      </a:moveTo>
                      <a:cubicBezTo>
                        <a:pt x="49553" y="221822"/>
                        <a:pt x="0" y="172166"/>
                        <a:pt x="0" y="110911"/>
                      </a:cubicBezTo>
                      <a:cubicBezTo>
                        <a:pt x="0" y="49657"/>
                        <a:pt x="49553" y="0"/>
                        <a:pt x="110681" y="0"/>
                      </a:cubicBezTo>
                      <a:cubicBezTo>
                        <a:pt x="171808" y="0"/>
                        <a:pt x="221361" y="49657"/>
                        <a:pt x="221361" y="110911"/>
                      </a:cubicBezTo>
                      <a:cubicBezTo>
                        <a:pt x="221291" y="172137"/>
                        <a:pt x="171779" y="221753"/>
                        <a:pt x="110681" y="221822"/>
                      </a:cubicBezTo>
                      <a:close/>
                      <a:moveTo>
                        <a:pt x="110681" y="15844"/>
                      </a:moveTo>
                      <a:cubicBezTo>
                        <a:pt x="58286" y="15844"/>
                        <a:pt x="15812" y="58407"/>
                        <a:pt x="15812" y="110911"/>
                      </a:cubicBezTo>
                      <a:cubicBezTo>
                        <a:pt x="15812" y="163415"/>
                        <a:pt x="58286" y="205978"/>
                        <a:pt x="110681" y="205978"/>
                      </a:cubicBezTo>
                      <a:cubicBezTo>
                        <a:pt x="163075" y="205978"/>
                        <a:pt x="205550" y="163415"/>
                        <a:pt x="205550" y="110911"/>
                      </a:cubicBezTo>
                      <a:cubicBezTo>
                        <a:pt x="205619" y="58407"/>
                        <a:pt x="163202" y="15788"/>
                        <a:pt x="110807" y="15718"/>
                      </a:cubicBezTo>
                      <a:cubicBezTo>
                        <a:pt x="110765" y="15718"/>
                        <a:pt x="110723" y="15718"/>
                        <a:pt x="110681" y="1571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74" name="Google Shape;8874;p83"/>
                <p:cNvSpPr/>
                <p:nvPr/>
              </p:nvSpPr>
              <p:spPr>
                <a:xfrm>
                  <a:off x="343505" y="3003327"/>
                  <a:ext cx="112830" cy="79729"/>
                </a:xfrm>
                <a:custGeom>
                  <a:avLst/>
                  <a:gdLst/>
                  <a:ahLst/>
                  <a:cxnLst/>
                  <a:rect l="l" t="t" r="r" b="b"/>
                  <a:pathLst>
                    <a:path w="112830" h="79729" extrusionOk="0">
                      <a:moveTo>
                        <a:pt x="44462" y="79729"/>
                      </a:moveTo>
                      <a:lnTo>
                        <a:pt x="0" y="35238"/>
                      </a:lnTo>
                      <a:lnTo>
                        <a:pt x="11195" y="24020"/>
                      </a:lnTo>
                      <a:lnTo>
                        <a:pt x="44462" y="57357"/>
                      </a:lnTo>
                      <a:lnTo>
                        <a:pt x="101700" y="0"/>
                      </a:lnTo>
                      <a:lnTo>
                        <a:pt x="112831" y="11218"/>
                      </a:lnTo>
                      <a:lnTo>
                        <a:pt x="44462" y="7972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nvGrpSpPr>
            <p:cNvPr id="8875" name="Google Shape;8875;p83"/>
            <p:cNvGrpSpPr/>
            <p:nvPr/>
          </p:nvGrpSpPr>
          <p:grpSpPr>
            <a:xfrm>
              <a:off x="7182263" y="3308698"/>
              <a:ext cx="174754" cy="174754"/>
              <a:chOff x="7249806" y="4194899"/>
              <a:chExt cx="174754" cy="174754"/>
            </a:xfrm>
          </p:grpSpPr>
          <p:sp>
            <p:nvSpPr>
              <p:cNvPr id="8876" name="Google Shape;8876;p83"/>
              <p:cNvSpPr/>
              <p:nvPr/>
            </p:nvSpPr>
            <p:spPr>
              <a:xfrm>
                <a:off x="7249806" y="4194899"/>
                <a:ext cx="174754" cy="174754"/>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8877" name="Google Shape;8877;p83"/>
              <p:cNvGrpSpPr/>
              <p:nvPr/>
            </p:nvGrpSpPr>
            <p:grpSpPr>
              <a:xfrm>
                <a:off x="7263509" y="4205761"/>
                <a:ext cx="149833" cy="150145"/>
                <a:chOff x="291074" y="2935069"/>
                <a:chExt cx="221361" cy="221822"/>
              </a:xfrm>
            </p:grpSpPr>
            <p:sp>
              <p:nvSpPr>
                <p:cNvPr id="8878" name="Google Shape;8878;p83"/>
                <p:cNvSpPr/>
                <p:nvPr/>
              </p:nvSpPr>
              <p:spPr>
                <a:xfrm>
                  <a:off x="291074" y="2935069"/>
                  <a:ext cx="221361" cy="221822"/>
                </a:xfrm>
                <a:custGeom>
                  <a:avLst/>
                  <a:gdLst/>
                  <a:ahLst/>
                  <a:cxnLst/>
                  <a:rect l="l" t="t" r="r" b="b"/>
                  <a:pathLst>
                    <a:path w="221361" h="221822" extrusionOk="0">
                      <a:moveTo>
                        <a:pt x="110681" y="221822"/>
                      </a:moveTo>
                      <a:cubicBezTo>
                        <a:pt x="49553" y="221822"/>
                        <a:pt x="0" y="172166"/>
                        <a:pt x="0" y="110911"/>
                      </a:cubicBezTo>
                      <a:cubicBezTo>
                        <a:pt x="0" y="49657"/>
                        <a:pt x="49553" y="0"/>
                        <a:pt x="110681" y="0"/>
                      </a:cubicBezTo>
                      <a:cubicBezTo>
                        <a:pt x="171808" y="0"/>
                        <a:pt x="221361" y="49657"/>
                        <a:pt x="221361" y="110911"/>
                      </a:cubicBezTo>
                      <a:cubicBezTo>
                        <a:pt x="221291" y="172137"/>
                        <a:pt x="171779" y="221753"/>
                        <a:pt x="110681" y="221822"/>
                      </a:cubicBezTo>
                      <a:close/>
                      <a:moveTo>
                        <a:pt x="110681" y="15844"/>
                      </a:moveTo>
                      <a:cubicBezTo>
                        <a:pt x="58286" y="15844"/>
                        <a:pt x="15812" y="58407"/>
                        <a:pt x="15812" y="110911"/>
                      </a:cubicBezTo>
                      <a:cubicBezTo>
                        <a:pt x="15812" y="163415"/>
                        <a:pt x="58286" y="205978"/>
                        <a:pt x="110681" y="205978"/>
                      </a:cubicBezTo>
                      <a:cubicBezTo>
                        <a:pt x="163075" y="205978"/>
                        <a:pt x="205550" y="163415"/>
                        <a:pt x="205550" y="110911"/>
                      </a:cubicBezTo>
                      <a:cubicBezTo>
                        <a:pt x="205619" y="58407"/>
                        <a:pt x="163202" y="15788"/>
                        <a:pt x="110807" y="15718"/>
                      </a:cubicBezTo>
                      <a:cubicBezTo>
                        <a:pt x="110765" y="15718"/>
                        <a:pt x="110723" y="15718"/>
                        <a:pt x="110681" y="1571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79" name="Google Shape;8879;p83"/>
                <p:cNvSpPr/>
                <p:nvPr/>
              </p:nvSpPr>
              <p:spPr>
                <a:xfrm>
                  <a:off x="343505" y="3003327"/>
                  <a:ext cx="112830" cy="79729"/>
                </a:xfrm>
                <a:custGeom>
                  <a:avLst/>
                  <a:gdLst/>
                  <a:ahLst/>
                  <a:cxnLst/>
                  <a:rect l="l" t="t" r="r" b="b"/>
                  <a:pathLst>
                    <a:path w="112830" h="79729" extrusionOk="0">
                      <a:moveTo>
                        <a:pt x="44462" y="79729"/>
                      </a:moveTo>
                      <a:lnTo>
                        <a:pt x="0" y="35238"/>
                      </a:lnTo>
                      <a:lnTo>
                        <a:pt x="11195" y="24020"/>
                      </a:lnTo>
                      <a:lnTo>
                        <a:pt x="44462" y="57357"/>
                      </a:lnTo>
                      <a:lnTo>
                        <a:pt x="101700" y="0"/>
                      </a:lnTo>
                      <a:lnTo>
                        <a:pt x="112831" y="11218"/>
                      </a:lnTo>
                      <a:lnTo>
                        <a:pt x="44462" y="7972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nvGrpSpPr>
            <p:cNvPr id="8880" name="Google Shape;8880;p83"/>
            <p:cNvGrpSpPr/>
            <p:nvPr/>
          </p:nvGrpSpPr>
          <p:grpSpPr>
            <a:xfrm>
              <a:off x="7458811" y="3308698"/>
              <a:ext cx="174754" cy="174754"/>
              <a:chOff x="7249806" y="4194899"/>
              <a:chExt cx="174754" cy="174754"/>
            </a:xfrm>
          </p:grpSpPr>
          <p:sp>
            <p:nvSpPr>
              <p:cNvPr id="8881" name="Google Shape;8881;p83"/>
              <p:cNvSpPr/>
              <p:nvPr/>
            </p:nvSpPr>
            <p:spPr>
              <a:xfrm>
                <a:off x="7249806" y="4194899"/>
                <a:ext cx="174754" cy="174754"/>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8882" name="Google Shape;8882;p83"/>
              <p:cNvGrpSpPr/>
              <p:nvPr/>
            </p:nvGrpSpPr>
            <p:grpSpPr>
              <a:xfrm>
                <a:off x="7263509" y="4205761"/>
                <a:ext cx="149833" cy="150145"/>
                <a:chOff x="291074" y="2935069"/>
                <a:chExt cx="221361" cy="221822"/>
              </a:xfrm>
            </p:grpSpPr>
            <p:sp>
              <p:nvSpPr>
                <p:cNvPr id="8883" name="Google Shape;8883;p83"/>
                <p:cNvSpPr/>
                <p:nvPr/>
              </p:nvSpPr>
              <p:spPr>
                <a:xfrm>
                  <a:off x="291074" y="2935069"/>
                  <a:ext cx="221361" cy="221822"/>
                </a:xfrm>
                <a:custGeom>
                  <a:avLst/>
                  <a:gdLst/>
                  <a:ahLst/>
                  <a:cxnLst/>
                  <a:rect l="l" t="t" r="r" b="b"/>
                  <a:pathLst>
                    <a:path w="221361" h="221822" extrusionOk="0">
                      <a:moveTo>
                        <a:pt x="110681" y="221822"/>
                      </a:moveTo>
                      <a:cubicBezTo>
                        <a:pt x="49553" y="221822"/>
                        <a:pt x="0" y="172166"/>
                        <a:pt x="0" y="110911"/>
                      </a:cubicBezTo>
                      <a:cubicBezTo>
                        <a:pt x="0" y="49657"/>
                        <a:pt x="49553" y="0"/>
                        <a:pt x="110681" y="0"/>
                      </a:cubicBezTo>
                      <a:cubicBezTo>
                        <a:pt x="171808" y="0"/>
                        <a:pt x="221361" y="49657"/>
                        <a:pt x="221361" y="110911"/>
                      </a:cubicBezTo>
                      <a:cubicBezTo>
                        <a:pt x="221291" y="172137"/>
                        <a:pt x="171779" y="221753"/>
                        <a:pt x="110681" y="221822"/>
                      </a:cubicBezTo>
                      <a:close/>
                      <a:moveTo>
                        <a:pt x="110681" y="15844"/>
                      </a:moveTo>
                      <a:cubicBezTo>
                        <a:pt x="58286" y="15844"/>
                        <a:pt x="15812" y="58407"/>
                        <a:pt x="15812" y="110911"/>
                      </a:cubicBezTo>
                      <a:cubicBezTo>
                        <a:pt x="15812" y="163415"/>
                        <a:pt x="58286" y="205978"/>
                        <a:pt x="110681" y="205978"/>
                      </a:cubicBezTo>
                      <a:cubicBezTo>
                        <a:pt x="163075" y="205978"/>
                        <a:pt x="205550" y="163415"/>
                        <a:pt x="205550" y="110911"/>
                      </a:cubicBezTo>
                      <a:cubicBezTo>
                        <a:pt x="205619" y="58407"/>
                        <a:pt x="163202" y="15788"/>
                        <a:pt x="110807" y="15718"/>
                      </a:cubicBezTo>
                      <a:cubicBezTo>
                        <a:pt x="110765" y="15718"/>
                        <a:pt x="110723" y="15718"/>
                        <a:pt x="110681" y="1571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84" name="Google Shape;8884;p83"/>
                <p:cNvSpPr/>
                <p:nvPr/>
              </p:nvSpPr>
              <p:spPr>
                <a:xfrm>
                  <a:off x="343505" y="3003327"/>
                  <a:ext cx="112830" cy="79729"/>
                </a:xfrm>
                <a:custGeom>
                  <a:avLst/>
                  <a:gdLst/>
                  <a:ahLst/>
                  <a:cxnLst/>
                  <a:rect l="l" t="t" r="r" b="b"/>
                  <a:pathLst>
                    <a:path w="112830" h="79729" extrusionOk="0">
                      <a:moveTo>
                        <a:pt x="44462" y="79729"/>
                      </a:moveTo>
                      <a:lnTo>
                        <a:pt x="0" y="35238"/>
                      </a:lnTo>
                      <a:lnTo>
                        <a:pt x="11195" y="24020"/>
                      </a:lnTo>
                      <a:lnTo>
                        <a:pt x="44462" y="57357"/>
                      </a:lnTo>
                      <a:lnTo>
                        <a:pt x="101700" y="0"/>
                      </a:lnTo>
                      <a:lnTo>
                        <a:pt x="112831" y="11218"/>
                      </a:lnTo>
                      <a:lnTo>
                        <a:pt x="44462" y="7972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nvGrpSpPr>
            <p:cNvPr id="8885" name="Google Shape;8885;p83"/>
            <p:cNvGrpSpPr/>
            <p:nvPr/>
          </p:nvGrpSpPr>
          <p:grpSpPr>
            <a:xfrm>
              <a:off x="6899524" y="3591812"/>
              <a:ext cx="174754" cy="174754"/>
              <a:chOff x="6967067" y="4190904"/>
              <a:chExt cx="174754" cy="174754"/>
            </a:xfrm>
          </p:grpSpPr>
          <p:sp>
            <p:nvSpPr>
              <p:cNvPr id="8886" name="Google Shape;8886;p83"/>
              <p:cNvSpPr/>
              <p:nvPr/>
            </p:nvSpPr>
            <p:spPr>
              <a:xfrm>
                <a:off x="6967067" y="4190904"/>
                <a:ext cx="174754" cy="174754"/>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8887" name="Google Shape;8887;p83"/>
              <p:cNvGrpSpPr/>
              <p:nvPr/>
            </p:nvGrpSpPr>
            <p:grpSpPr>
              <a:xfrm>
                <a:off x="6980770" y="4201766"/>
                <a:ext cx="149833" cy="150145"/>
                <a:chOff x="291074" y="2935069"/>
                <a:chExt cx="221361" cy="221822"/>
              </a:xfrm>
            </p:grpSpPr>
            <p:sp>
              <p:nvSpPr>
                <p:cNvPr id="8888" name="Google Shape;8888;p83"/>
                <p:cNvSpPr/>
                <p:nvPr/>
              </p:nvSpPr>
              <p:spPr>
                <a:xfrm>
                  <a:off x="291074" y="2935069"/>
                  <a:ext cx="221361" cy="221822"/>
                </a:xfrm>
                <a:custGeom>
                  <a:avLst/>
                  <a:gdLst/>
                  <a:ahLst/>
                  <a:cxnLst/>
                  <a:rect l="l" t="t" r="r" b="b"/>
                  <a:pathLst>
                    <a:path w="221361" h="221822" extrusionOk="0">
                      <a:moveTo>
                        <a:pt x="110681" y="221822"/>
                      </a:moveTo>
                      <a:cubicBezTo>
                        <a:pt x="49553" y="221822"/>
                        <a:pt x="0" y="172166"/>
                        <a:pt x="0" y="110911"/>
                      </a:cubicBezTo>
                      <a:cubicBezTo>
                        <a:pt x="0" y="49657"/>
                        <a:pt x="49553" y="0"/>
                        <a:pt x="110681" y="0"/>
                      </a:cubicBezTo>
                      <a:cubicBezTo>
                        <a:pt x="171808" y="0"/>
                        <a:pt x="221361" y="49657"/>
                        <a:pt x="221361" y="110911"/>
                      </a:cubicBezTo>
                      <a:cubicBezTo>
                        <a:pt x="221291" y="172137"/>
                        <a:pt x="171779" y="221753"/>
                        <a:pt x="110681" y="221822"/>
                      </a:cubicBezTo>
                      <a:close/>
                      <a:moveTo>
                        <a:pt x="110681" y="15844"/>
                      </a:moveTo>
                      <a:cubicBezTo>
                        <a:pt x="58286" y="15844"/>
                        <a:pt x="15812" y="58407"/>
                        <a:pt x="15812" y="110911"/>
                      </a:cubicBezTo>
                      <a:cubicBezTo>
                        <a:pt x="15812" y="163415"/>
                        <a:pt x="58286" y="205978"/>
                        <a:pt x="110681" y="205978"/>
                      </a:cubicBezTo>
                      <a:cubicBezTo>
                        <a:pt x="163075" y="205978"/>
                        <a:pt x="205550" y="163415"/>
                        <a:pt x="205550" y="110911"/>
                      </a:cubicBezTo>
                      <a:cubicBezTo>
                        <a:pt x="205619" y="58407"/>
                        <a:pt x="163202" y="15788"/>
                        <a:pt x="110807" y="15718"/>
                      </a:cubicBezTo>
                      <a:cubicBezTo>
                        <a:pt x="110765" y="15718"/>
                        <a:pt x="110723" y="15718"/>
                        <a:pt x="110681" y="1571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89" name="Google Shape;8889;p83"/>
                <p:cNvSpPr/>
                <p:nvPr/>
              </p:nvSpPr>
              <p:spPr>
                <a:xfrm>
                  <a:off x="343505" y="3003327"/>
                  <a:ext cx="112830" cy="79729"/>
                </a:xfrm>
                <a:custGeom>
                  <a:avLst/>
                  <a:gdLst/>
                  <a:ahLst/>
                  <a:cxnLst/>
                  <a:rect l="l" t="t" r="r" b="b"/>
                  <a:pathLst>
                    <a:path w="112830" h="79729" extrusionOk="0">
                      <a:moveTo>
                        <a:pt x="44462" y="79729"/>
                      </a:moveTo>
                      <a:lnTo>
                        <a:pt x="0" y="35238"/>
                      </a:lnTo>
                      <a:lnTo>
                        <a:pt x="11195" y="24020"/>
                      </a:lnTo>
                      <a:lnTo>
                        <a:pt x="44462" y="57357"/>
                      </a:lnTo>
                      <a:lnTo>
                        <a:pt x="101700" y="0"/>
                      </a:lnTo>
                      <a:lnTo>
                        <a:pt x="112831" y="11218"/>
                      </a:lnTo>
                      <a:lnTo>
                        <a:pt x="44462" y="7972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nvGrpSpPr>
            <p:cNvPr id="8890" name="Google Shape;8890;p83"/>
            <p:cNvGrpSpPr/>
            <p:nvPr/>
          </p:nvGrpSpPr>
          <p:grpSpPr>
            <a:xfrm>
              <a:off x="7182263" y="3591812"/>
              <a:ext cx="174754" cy="174754"/>
              <a:chOff x="7249806" y="4194899"/>
              <a:chExt cx="174754" cy="174754"/>
            </a:xfrm>
          </p:grpSpPr>
          <p:sp>
            <p:nvSpPr>
              <p:cNvPr id="8891" name="Google Shape;8891;p83"/>
              <p:cNvSpPr/>
              <p:nvPr/>
            </p:nvSpPr>
            <p:spPr>
              <a:xfrm>
                <a:off x="7249806" y="4194899"/>
                <a:ext cx="174754" cy="174754"/>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8892" name="Google Shape;8892;p83"/>
              <p:cNvGrpSpPr/>
              <p:nvPr/>
            </p:nvGrpSpPr>
            <p:grpSpPr>
              <a:xfrm>
                <a:off x="7263509" y="4205761"/>
                <a:ext cx="149833" cy="150145"/>
                <a:chOff x="291074" y="2935069"/>
                <a:chExt cx="221361" cy="221822"/>
              </a:xfrm>
            </p:grpSpPr>
            <p:sp>
              <p:nvSpPr>
                <p:cNvPr id="8893" name="Google Shape;8893;p83"/>
                <p:cNvSpPr/>
                <p:nvPr/>
              </p:nvSpPr>
              <p:spPr>
                <a:xfrm>
                  <a:off x="291074" y="2935069"/>
                  <a:ext cx="221361" cy="221822"/>
                </a:xfrm>
                <a:custGeom>
                  <a:avLst/>
                  <a:gdLst/>
                  <a:ahLst/>
                  <a:cxnLst/>
                  <a:rect l="l" t="t" r="r" b="b"/>
                  <a:pathLst>
                    <a:path w="221361" h="221822" extrusionOk="0">
                      <a:moveTo>
                        <a:pt x="110681" y="221822"/>
                      </a:moveTo>
                      <a:cubicBezTo>
                        <a:pt x="49553" y="221822"/>
                        <a:pt x="0" y="172166"/>
                        <a:pt x="0" y="110911"/>
                      </a:cubicBezTo>
                      <a:cubicBezTo>
                        <a:pt x="0" y="49657"/>
                        <a:pt x="49553" y="0"/>
                        <a:pt x="110681" y="0"/>
                      </a:cubicBezTo>
                      <a:cubicBezTo>
                        <a:pt x="171808" y="0"/>
                        <a:pt x="221361" y="49657"/>
                        <a:pt x="221361" y="110911"/>
                      </a:cubicBezTo>
                      <a:cubicBezTo>
                        <a:pt x="221291" y="172137"/>
                        <a:pt x="171779" y="221753"/>
                        <a:pt x="110681" y="221822"/>
                      </a:cubicBezTo>
                      <a:close/>
                      <a:moveTo>
                        <a:pt x="110681" y="15844"/>
                      </a:moveTo>
                      <a:cubicBezTo>
                        <a:pt x="58286" y="15844"/>
                        <a:pt x="15812" y="58407"/>
                        <a:pt x="15812" y="110911"/>
                      </a:cubicBezTo>
                      <a:cubicBezTo>
                        <a:pt x="15812" y="163415"/>
                        <a:pt x="58286" y="205978"/>
                        <a:pt x="110681" y="205978"/>
                      </a:cubicBezTo>
                      <a:cubicBezTo>
                        <a:pt x="163075" y="205978"/>
                        <a:pt x="205550" y="163415"/>
                        <a:pt x="205550" y="110911"/>
                      </a:cubicBezTo>
                      <a:cubicBezTo>
                        <a:pt x="205619" y="58407"/>
                        <a:pt x="163202" y="15788"/>
                        <a:pt x="110807" y="15718"/>
                      </a:cubicBezTo>
                      <a:cubicBezTo>
                        <a:pt x="110765" y="15718"/>
                        <a:pt x="110723" y="15718"/>
                        <a:pt x="110681" y="1571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94" name="Google Shape;8894;p83"/>
                <p:cNvSpPr/>
                <p:nvPr/>
              </p:nvSpPr>
              <p:spPr>
                <a:xfrm>
                  <a:off x="343505" y="3003327"/>
                  <a:ext cx="112830" cy="79729"/>
                </a:xfrm>
                <a:custGeom>
                  <a:avLst/>
                  <a:gdLst/>
                  <a:ahLst/>
                  <a:cxnLst/>
                  <a:rect l="l" t="t" r="r" b="b"/>
                  <a:pathLst>
                    <a:path w="112830" h="79729" extrusionOk="0">
                      <a:moveTo>
                        <a:pt x="44462" y="79729"/>
                      </a:moveTo>
                      <a:lnTo>
                        <a:pt x="0" y="35238"/>
                      </a:lnTo>
                      <a:lnTo>
                        <a:pt x="11195" y="24020"/>
                      </a:lnTo>
                      <a:lnTo>
                        <a:pt x="44462" y="57357"/>
                      </a:lnTo>
                      <a:lnTo>
                        <a:pt x="101700" y="0"/>
                      </a:lnTo>
                      <a:lnTo>
                        <a:pt x="112831" y="11218"/>
                      </a:lnTo>
                      <a:lnTo>
                        <a:pt x="44462" y="7972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nvGrpSpPr>
            <p:cNvPr id="8895" name="Google Shape;8895;p83"/>
            <p:cNvGrpSpPr/>
            <p:nvPr/>
          </p:nvGrpSpPr>
          <p:grpSpPr>
            <a:xfrm>
              <a:off x="7458811" y="3591812"/>
              <a:ext cx="174754" cy="174754"/>
              <a:chOff x="7249806" y="4194899"/>
              <a:chExt cx="174754" cy="174754"/>
            </a:xfrm>
          </p:grpSpPr>
          <p:sp>
            <p:nvSpPr>
              <p:cNvPr id="8896" name="Google Shape;8896;p83"/>
              <p:cNvSpPr/>
              <p:nvPr/>
            </p:nvSpPr>
            <p:spPr>
              <a:xfrm>
                <a:off x="7249806" y="4194899"/>
                <a:ext cx="174754" cy="174754"/>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8897" name="Google Shape;8897;p83"/>
              <p:cNvGrpSpPr/>
              <p:nvPr/>
            </p:nvGrpSpPr>
            <p:grpSpPr>
              <a:xfrm>
                <a:off x="7263509" y="4205761"/>
                <a:ext cx="149833" cy="150145"/>
                <a:chOff x="291074" y="2935069"/>
                <a:chExt cx="221361" cy="221822"/>
              </a:xfrm>
            </p:grpSpPr>
            <p:sp>
              <p:nvSpPr>
                <p:cNvPr id="8898" name="Google Shape;8898;p83"/>
                <p:cNvSpPr/>
                <p:nvPr/>
              </p:nvSpPr>
              <p:spPr>
                <a:xfrm>
                  <a:off x="291074" y="2935069"/>
                  <a:ext cx="221361" cy="221822"/>
                </a:xfrm>
                <a:custGeom>
                  <a:avLst/>
                  <a:gdLst/>
                  <a:ahLst/>
                  <a:cxnLst/>
                  <a:rect l="l" t="t" r="r" b="b"/>
                  <a:pathLst>
                    <a:path w="221361" h="221822" extrusionOk="0">
                      <a:moveTo>
                        <a:pt x="110681" y="221822"/>
                      </a:moveTo>
                      <a:cubicBezTo>
                        <a:pt x="49553" y="221822"/>
                        <a:pt x="0" y="172166"/>
                        <a:pt x="0" y="110911"/>
                      </a:cubicBezTo>
                      <a:cubicBezTo>
                        <a:pt x="0" y="49657"/>
                        <a:pt x="49553" y="0"/>
                        <a:pt x="110681" y="0"/>
                      </a:cubicBezTo>
                      <a:cubicBezTo>
                        <a:pt x="171808" y="0"/>
                        <a:pt x="221361" y="49657"/>
                        <a:pt x="221361" y="110911"/>
                      </a:cubicBezTo>
                      <a:cubicBezTo>
                        <a:pt x="221291" y="172137"/>
                        <a:pt x="171779" y="221753"/>
                        <a:pt x="110681" y="221822"/>
                      </a:cubicBezTo>
                      <a:close/>
                      <a:moveTo>
                        <a:pt x="110681" y="15844"/>
                      </a:moveTo>
                      <a:cubicBezTo>
                        <a:pt x="58286" y="15844"/>
                        <a:pt x="15812" y="58407"/>
                        <a:pt x="15812" y="110911"/>
                      </a:cubicBezTo>
                      <a:cubicBezTo>
                        <a:pt x="15812" y="163415"/>
                        <a:pt x="58286" y="205978"/>
                        <a:pt x="110681" y="205978"/>
                      </a:cubicBezTo>
                      <a:cubicBezTo>
                        <a:pt x="163075" y="205978"/>
                        <a:pt x="205550" y="163415"/>
                        <a:pt x="205550" y="110911"/>
                      </a:cubicBezTo>
                      <a:cubicBezTo>
                        <a:pt x="205619" y="58407"/>
                        <a:pt x="163202" y="15788"/>
                        <a:pt x="110807" y="15718"/>
                      </a:cubicBezTo>
                      <a:cubicBezTo>
                        <a:pt x="110765" y="15718"/>
                        <a:pt x="110723" y="15718"/>
                        <a:pt x="110681" y="1571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99" name="Google Shape;8899;p83"/>
                <p:cNvSpPr/>
                <p:nvPr/>
              </p:nvSpPr>
              <p:spPr>
                <a:xfrm>
                  <a:off x="343505" y="3003327"/>
                  <a:ext cx="112830" cy="79729"/>
                </a:xfrm>
                <a:custGeom>
                  <a:avLst/>
                  <a:gdLst/>
                  <a:ahLst/>
                  <a:cxnLst/>
                  <a:rect l="l" t="t" r="r" b="b"/>
                  <a:pathLst>
                    <a:path w="112830" h="79729" extrusionOk="0">
                      <a:moveTo>
                        <a:pt x="44462" y="79729"/>
                      </a:moveTo>
                      <a:lnTo>
                        <a:pt x="0" y="35238"/>
                      </a:lnTo>
                      <a:lnTo>
                        <a:pt x="11195" y="24020"/>
                      </a:lnTo>
                      <a:lnTo>
                        <a:pt x="44462" y="57357"/>
                      </a:lnTo>
                      <a:lnTo>
                        <a:pt x="101700" y="0"/>
                      </a:lnTo>
                      <a:lnTo>
                        <a:pt x="112831" y="11218"/>
                      </a:lnTo>
                      <a:lnTo>
                        <a:pt x="44462" y="7972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sp>
        <p:nvSpPr>
          <p:cNvPr id="8900" name="Google Shape;8900;p83"/>
          <p:cNvSpPr txBox="1"/>
          <p:nvPr/>
        </p:nvSpPr>
        <p:spPr>
          <a:xfrm>
            <a:off x="3813224" y="2385215"/>
            <a:ext cx="1485647" cy="36933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98C7"/>
              </a:buClr>
              <a:buSzPts val="1200"/>
              <a:buFont typeface="Arial"/>
              <a:buNone/>
            </a:pPr>
            <a:r>
              <a:rPr lang="en-US" sz="1200" b="0" i="0" u="none" strike="noStrike" cap="none">
                <a:solidFill>
                  <a:srgbClr val="0098C7"/>
                </a:solidFill>
                <a:latin typeface="Arial"/>
                <a:ea typeface="Arial"/>
                <a:cs typeface="Arial"/>
                <a:sym typeface="Arial"/>
              </a:rPr>
              <a:t>Replicate as frequent as 1 minute</a:t>
            </a:r>
            <a:endParaRPr/>
          </a:p>
        </p:txBody>
      </p:sp>
      <p:pic>
        <p:nvPicPr>
          <p:cNvPr id="8901" name="Google Shape;8901;p83"/>
          <p:cNvPicPr preferRelativeResize="0"/>
          <p:nvPr/>
        </p:nvPicPr>
        <p:blipFill rotWithShape="1">
          <a:blip r:embed="rId3">
            <a:alphaModFix/>
          </a:blip>
          <a:srcRect/>
          <a:stretch/>
        </p:blipFill>
        <p:spPr>
          <a:xfrm>
            <a:off x="6787016" y="5168249"/>
            <a:ext cx="190410" cy="223781"/>
          </a:xfrm>
          <a:prstGeom prst="rect">
            <a:avLst/>
          </a:prstGeom>
          <a:noFill/>
          <a:ln>
            <a:noFill/>
          </a:ln>
        </p:spPr>
      </p:pic>
      <p:cxnSp>
        <p:nvCxnSpPr>
          <p:cNvPr id="8902" name="Google Shape;8902;p83"/>
          <p:cNvCxnSpPr/>
          <p:nvPr/>
        </p:nvCxnSpPr>
        <p:spPr>
          <a:xfrm>
            <a:off x="5794432" y="4983817"/>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8903" name="Google Shape;8903;p83"/>
          <p:cNvCxnSpPr/>
          <p:nvPr/>
        </p:nvCxnSpPr>
        <p:spPr>
          <a:xfrm>
            <a:off x="7415439" y="5071827"/>
            <a:ext cx="559162"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8904" name="Google Shape;8904;p83"/>
          <p:cNvCxnSpPr/>
          <p:nvPr/>
        </p:nvCxnSpPr>
        <p:spPr>
          <a:xfrm>
            <a:off x="7974601" y="4983817"/>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8905" name="Google Shape;8905;p83"/>
          <p:cNvCxnSpPr/>
          <p:nvPr/>
        </p:nvCxnSpPr>
        <p:spPr>
          <a:xfrm>
            <a:off x="5789842" y="5071827"/>
            <a:ext cx="559725"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sp>
        <p:nvSpPr>
          <p:cNvPr id="8906" name="Google Shape;8906;p83"/>
          <p:cNvSpPr txBox="1"/>
          <p:nvPr/>
        </p:nvSpPr>
        <p:spPr>
          <a:xfrm>
            <a:off x="6463142" y="4975655"/>
            <a:ext cx="843697"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7B8C"/>
              </a:buClr>
              <a:buSzPts val="1200"/>
              <a:buFont typeface="Arial"/>
              <a:buNone/>
            </a:pPr>
            <a:r>
              <a:rPr lang="en-US" sz="1200" b="0" i="0" u="none" strike="noStrike" cap="none">
                <a:solidFill>
                  <a:srgbClr val="007B8C"/>
                </a:solidFill>
                <a:latin typeface="Arial"/>
                <a:ea typeface="Arial"/>
                <a:cs typeface="Arial"/>
                <a:sym typeface="Arial"/>
              </a:rPr>
              <a:t>vSAN ESA</a:t>
            </a:r>
            <a:endParaRPr/>
          </a:p>
        </p:txBody>
      </p:sp>
      <p:sp>
        <p:nvSpPr>
          <p:cNvPr id="8907" name="Google Shape;8907;p83"/>
          <p:cNvSpPr/>
          <p:nvPr/>
        </p:nvSpPr>
        <p:spPr>
          <a:xfrm>
            <a:off x="5789841" y="3908697"/>
            <a:ext cx="2184760" cy="707867"/>
          </a:xfrm>
          <a:prstGeom prst="rect">
            <a:avLst/>
          </a:prstGeom>
          <a:solidFill>
            <a:schemeClr val="lt2"/>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8908" name="Google Shape;8908;p83"/>
          <p:cNvPicPr preferRelativeResize="0"/>
          <p:nvPr/>
        </p:nvPicPr>
        <p:blipFill rotWithShape="1">
          <a:blip r:embed="rId4">
            <a:alphaModFix/>
          </a:blip>
          <a:srcRect/>
          <a:stretch/>
        </p:blipFill>
        <p:spPr>
          <a:xfrm>
            <a:off x="5914607" y="4006760"/>
            <a:ext cx="228600" cy="228600"/>
          </a:xfrm>
          <a:prstGeom prst="rect">
            <a:avLst/>
          </a:prstGeom>
          <a:noFill/>
          <a:ln>
            <a:noFill/>
          </a:ln>
        </p:spPr>
      </p:pic>
      <p:grpSp>
        <p:nvGrpSpPr>
          <p:cNvPr id="8909" name="Google Shape;8909;p83"/>
          <p:cNvGrpSpPr/>
          <p:nvPr/>
        </p:nvGrpSpPr>
        <p:grpSpPr>
          <a:xfrm>
            <a:off x="5870429" y="4290576"/>
            <a:ext cx="2023185" cy="254952"/>
            <a:chOff x="1410325" y="3573078"/>
            <a:chExt cx="2023185" cy="254952"/>
          </a:xfrm>
        </p:grpSpPr>
        <p:sp>
          <p:nvSpPr>
            <p:cNvPr id="8910" name="Google Shape;8910;p83"/>
            <p:cNvSpPr/>
            <p:nvPr/>
          </p:nvSpPr>
          <p:spPr>
            <a:xfrm>
              <a:off x="1410325" y="3573078"/>
              <a:ext cx="2023185" cy="254952"/>
            </a:xfrm>
            <a:prstGeom prst="rect">
              <a:avLst/>
            </a:prstGeom>
            <a:noFill/>
            <a:ln w="9525" cap="flat" cmpd="sng">
              <a:solidFill>
                <a:srgbClr val="316E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911" name="Google Shape;8911;p83"/>
            <p:cNvSpPr/>
            <p:nvPr/>
          </p:nvSpPr>
          <p:spPr>
            <a:xfrm>
              <a:off x="1420623" y="3636670"/>
              <a:ext cx="543931" cy="12311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1B1D36"/>
                </a:buClr>
                <a:buSzPts val="800"/>
                <a:buFont typeface="Arial"/>
                <a:buNone/>
              </a:pPr>
              <a:r>
                <a:rPr lang="en-US" sz="800" b="0" i="0" u="none" strike="noStrike" cap="none">
                  <a:solidFill>
                    <a:srgbClr val="1B1D36"/>
                  </a:solidFill>
                  <a:latin typeface="Arial"/>
                  <a:ea typeface="Arial"/>
                  <a:cs typeface="Arial"/>
                  <a:sym typeface="Arial"/>
                </a:rPr>
                <a:t>vSphere</a:t>
              </a:r>
              <a:endParaRPr/>
            </a:p>
          </p:txBody>
        </p:sp>
        <p:sp>
          <p:nvSpPr>
            <p:cNvPr id="8912" name="Google Shape;8912;p83"/>
            <p:cNvSpPr/>
            <p:nvPr/>
          </p:nvSpPr>
          <p:spPr>
            <a:xfrm>
              <a:off x="2824885" y="3636670"/>
              <a:ext cx="608625" cy="12311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1B1D36"/>
                </a:buClr>
                <a:buSzPts val="800"/>
                <a:buFont typeface="Arial"/>
                <a:buNone/>
              </a:pPr>
              <a:r>
                <a:rPr lang="en-US" sz="800" b="0" i="0" u="none" strike="noStrike" cap="none">
                  <a:solidFill>
                    <a:srgbClr val="1B1D36"/>
                  </a:solidFill>
                  <a:latin typeface="Arial"/>
                  <a:ea typeface="Arial"/>
                  <a:cs typeface="Arial"/>
                  <a:sym typeface="Arial"/>
                </a:rPr>
                <a:t>vSAN ESA</a:t>
              </a:r>
              <a:endParaRPr/>
            </a:p>
          </p:txBody>
        </p:sp>
        <p:cxnSp>
          <p:nvCxnSpPr>
            <p:cNvPr id="8913" name="Google Shape;8913;p83"/>
            <p:cNvCxnSpPr/>
            <p:nvPr/>
          </p:nvCxnSpPr>
          <p:spPr>
            <a:xfrm rot="10800000">
              <a:off x="2003038" y="3698226"/>
              <a:ext cx="297114" cy="0"/>
            </a:xfrm>
            <a:prstGeom prst="straightConnector1">
              <a:avLst/>
            </a:prstGeom>
            <a:noFill/>
            <a:ln w="9525" cap="flat" cmpd="sng">
              <a:solidFill>
                <a:schemeClr val="accent2"/>
              </a:solidFill>
              <a:prstDash val="solid"/>
              <a:miter lim="800000"/>
              <a:headEnd type="none" w="sm" len="sm"/>
              <a:tailEnd type="triangle" w="med" len="med"/>
            </a:ln>
          </p:spPr>
        </p:cxnSp>
        <p:cxnSp>
          <p:nvCxnSpPr>
            <p:cNvPr id="8914" name="Google Shape;8914;p83"/>
            <p:cNvCxnSpPr/>
            <p:nvPr/>
          </p:nvCxnSpPr>
          <p:spPr>
            <a:xfrm>
              <a:off x="2300152" y="3698226"/>
              <a:ext cx="501426" cy="0"/>
            </a:xfrm>
            <a:prstGeom prst="straightConnector1">
              <a:avLst/>
            </a:prstGeom>
            <a:noFill/>
            <a:ln w="9525" cap="flat" cmpd="sng">
              <a:solidFill>
                <a:schemeClr val="accent2"/>
              </a:solidFill>
              <a:prstDash val="solid"/>
              <a:miter lim="800000"/>
              <a:headEnd type="none" w="sm" len="sm"/>
              <a:tailEnd type="triangle" w="med" len="med"/>
            </a:ln>
          </p:spPr>
        </p:cxnSp>
      </p:grpSp>
      <p:sp>
        <p:nvSpPr>
          <p:cNvPr id="8915" name="Google Shape;8915;p83"/>
          <p:cNvSpPr/>
          <p:nvPr/>
        </p:nvSpPr>
        <p:spPr>
          <a:xfrm>
            <a:off x="6146239" y="4028727"/>
            <a:ext cx="1389059" cy="184666"/>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5C8A"/>
              </a:buClr>
              <a:buSzPts val="1200"/>
              <a:buFont typeface="Arial"/>
              <a:buNone/>
            </a:pPr>
            <a:r>
              <a:rPr lang="en-US" sz="1200" b="0" i="0" u="none" strike="noStrike" cap="none">
                <a:solidFill>
                  <a:srgbClr val="005C8A"/>
                </a:solidFill>
                <a:latin typeface="Arial"/>
                <a:ea typeface="Arial"/>
                <a:cs typeface="Arial"/>
                <a:sym typeface="Arial"/>
              </a:rPr>
              <a:t>Cloud Foundation</a:t>
            </a:r>
            <a:endParaRPr/>
          </a:p>
        </p:txBody>
      </p:sp>
      <p:pic>
        <p:nvPicPr>
          <p:cNvPr id="8916" name="Google Shape;8916;p83"/>
          <p:cNvPicPr preferRelativeResize="0"/>
          <p:nvPr/>
        </p:nvPicPr>
        <p:blipFill rotWithShape="1">
          <a:blip r:embed="rId4">
            <a:alphaModFix/>
          </a:blip>
          <a:srcRect/>
          <a:stretch/>
        </p:blipFill>
        <p:spPr>
          <a:xfrm>
            <a:off x="7589553" y="4006760"/>
            <a:ext cx="228600" cy="228600"/>
          </a:xfrm>
          <a:prstGeom prst="rect">
            <a:avLst/>
          </a:prstGeom>
          <a:noFill/>
          <a:ln>
            <a:noFill/>
          </a:ln>
        </p:spPr>
      </p:pic>
      <p:grpSp>
        <p:nvGrpSpPr>
          <p:cNvPr id="8917" name="Google Shape;8917;p83"/>
          <p:cNvGrpSpPr/>
          <p:nvPr/>
        </p:nvGrpSpPr>
        <p:grpSpPr>
          <a:xfrm>
            <a:off x="5789842" y="4660566"/>
            <a:ext cx="2189434" cy="283867"/>
            <a:chOff x="712452" y="5388690"/>
            <a:chExt cx="2189434" cy="283867"/>
          </a:xfrm>
        </p:grpSpPr>
        <p:sp>
          <p:nvSpPr>
            <p:cNvPr id="8918" name="Google Shape;8918;p83"/>
            <p:cNvSpPr/>
            <p:nvPr/>
          </p:nvSpPr>
          <p:spPr>
            <a:xfrm>
              <a:off x="712452" y="5388690"/>
              <a:ext cx="497923" cy="113067"/>
            </a:xfrm>
            <a:prstGeom prst="rect">
              <a:avLst/>
            </a:prstGeom>
            <a:solidFill>
              <a:schemeClr val="accent3">
                <a:alpha val="54901"/>
              </a:schemeClr>
            </a:solidFill>
            <a:ln w="12700" cap="flat" cmpd="sng">
              <a:solidFill>
                <a:schemeClr val="accent1">
                  <a:alpha val="64705"/>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919" name="Google Shape;8919;p83"/>
            <p:cNvSpPr/>
            <p:nvPr/>
          </p:nvSpPr>
          <p:spPr>
            <a:xfrm>
              <a:off x="1276289" y="5388690"/>
              <a:ext cx="497923" cy="113067"/>
            </a:xfrm>
            <a:prstGeom prst="rect">
              <a:avLst/>
            </a:prstGeom>
            <a:solidFill>
              <a:schemeClr val="accent3">
                <a:alpha val="54901"/>
              </a:schemeClr>
            </a:solidFill>
            <a:ln w="12700" cap="flat" cmpd="sng">
              <a:solidFill>
                <a:schemeClr val="accent1">
                  <a:alpha val="64705"/>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920" name="Google Shape;8920;p83"/>
            <p:cNvSpPr/>
            <p:nvPr/>
          </p:nvSpPr>
          <p:spPr>
            <a:xfrm>
              <a:off x="1840126" y="5388690"/>
              <a:ext cx="497923" cy="113067"/>
            </a:xfrm>
            <a:prstGeom prst="rect">
              <a:avLst/>
            </a:prstGeom>
            <a:solidFill>
              <a:schemeClr val="accent3">
                <a:alpha val="54901"/>
              </a:schemeClr>
            </a:solidFill>
            <a:ln w="12700" cap="flat" cmpd="sng">
              <a:solidFill>
                <a:schemeClr val="accent1">
                  <a:alpha val="64705"/>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921" name="Google Shape;8921;p83"/>
            <p:cNvSpPr/>
            <p:nvPr/>
          </p:nvSpPr>
          <p:spPr>
            <a:xfrm>
              <a:off x="2403963" y="5388690"/>
              <a:ext cx="497923" cy="113067"/>
            </a:xfrm>
            <a:prstGeom prst="rect">
              <a:avLst/>
            </a:prstGeom>
            <a:solidFill>
              <a:schemeClr val="accent3">
                <a:alpha val="54901"/>
              </a:schemeClr>
            </a:solidFill>
            <a:ln w="12700" cap="flat" cmpd="sng">
              <a:solidFill>
                <a:schemeClr val="accent1">
                  <a:alpha val="64705"/>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922" name="Google Shape;8922;p83"/>
            <p:cNvSpPr/>
            <p:nvPr/>
          </p:nvSpPr>
          <p:spPr>
            <a:xfrm>
              <a:off x="712452" y="5559490"/>
              <a:ext cx="497923" cy="113067"/>
            </a:xfrm>
            <a:prstGeom prst="rect">
              <a:avLst/>
            </a:prstGeom>
            <a:solidFill>
              <a:schemeClr val="accent3">
                <a:alpha val="54901"/>
              </a:schemeClr>
            </a:solidFill>
            <a:ln w="12700" cap="flat" cmpd="sng">
              <a:solidFill>
                <a:schemeClr val="accent1">
                  <a:alpha val="64705"/>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923" name="Google Shape;8923;p83"/>
            <p:cNvSpPr/>
            <p:nvPr/>
          </p:nvSpPr>
          <p:spPr>
            <a:xfrm>
              <a:off x="1276289" y="5559490"/>
              <a:ext cx="497923" cy="113067"/>
            </a:xfrm>
            <a:prstGeom prst="rect">
              <a:avLst/>
            </a:prstGeom>
            <a:solidFill>
              <a:schemeClr val="accent3">
                <a:alpha val="54901"/>
              </a:schemeClr>
            </a:solidFill>
            <a:ln w="12700" cap="flat" cmpd="sng">
              <a:solidFill>
                <a:schemeClr val="accent1">
                  <a:alpha val="64705"/>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924" name="Google Shape;8924;p83"/>
            <p:cNvSpPr/>
            <p:nvPr/>
          </p:nvSpPr>
          <p:spPr>
            <a:xfrm>
              <a:off x="1840126" y="5559490"/>
              <a:ext cx="497923" cy="113067"/>
            </a:xfrm>
            <a:prstGeom prst="rect">
              <a:avLst/>
            </a:prstGeom>
            <a:solidFill>
              <a:schemeClr val="accent3">
                <a:alpha val="54901"/>
              </a:schemeClr>
            </a:solidFill>
            <a:ln w="12700" cap="flat" cmpd="sng">
              <a:solidFill>
                <a:schemeClr val="accent1">
                  <a:alpha val="64705"/>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925" name="Google Shape;8925;p83"/>
            <p:cNvSpPr/>
            <p:nvPr/>
          </p:nvSpPr>
          <p:spPr>
            <a:xfrm>
              <a:off x="2403963" y="5559490"/>
              <a:ext cx="497923" cy="113067"/>
            </a:xfrm>
            <a:prstGeom prst="rect">
              <a:avLst/>
            </a:prstGeom>
            <a:solidFill>
              <a:schemeClr val="accent3">
                <a:alpha val="54901"/>
              </a:schemeClr>
            </a:solidFill>
            <a:ln w="12700" cap="flat" cmpd="sng">
              <a:solidFill>
                <a:schemeClr val="accent1">
                  <a:alpha val="64705"/>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cxnSp>
        <p:nvCxnSpPr>
          <p:cNvPr id="8926" name="Google Shape;8926;p83"/>
          <p:cNvCxnSpPr/>
          <p:nvPr/>
        </p:nvCxnSpPr>
        <p:spPr>
          <a:xfrm rot="10800000">
            <a:off x="3559175" y="3138886"/>
            <a:ext cx="2130425" cy="0"/>
          </a:xfrm>
          <a:prstGeom prst="straightConnector1">
            <a:avLst/>
          </a:prstGeom>
          <a:noFill/>
          <a:ln w="25400" cap="flat" cmpd="sng">
            <a:solidFill>
              <a:schemeClr val="accent3"/>
            </a:solidFill>
            <a:prstDash val="dot"/>
            <a:miter lim="800000"/>
            <a:headEnd type="none" w="sm" len="sm"/>
            <a:tailEnd type="triangle" w="med" len="med"/>
          </a:ln>
        </p:spPr>
      </p:cxnSp>
      <p:sp>
        <p:nvSpPr>
          <p:cNvPr id="8927" name="Google Shape;8927;p83"/>
          <p:cNvSpPr txBox="1"/>
          <p:nvPr/>
        </p:nvSpPr>
        <p:spPr>
          <a:xfrm>
            <a:off x="3638550" y="2925743"/>
            <a:ext cx="193675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98C7"/>
              </a:buClr>
              <a:buSzPts val="1200"/>
              <a:buFont typeface="Arial"/>
              <a:buNone/>
            </a:pPr>
            <a:r>
              <a:rPr lang="en-US" sz="1200" b="0" i="0" u="none" strike="noStrike" cap="none">
                <a:solidFill>
                  <a:srgbClr val="0098C7"/>
                </a:solidFill>
                <a:latin typeface="Arial"/>
                <a:ea typeface="Arial"/>
                <a:cs typeface="Arial"/>
                <a:sym typeface="Arial"/>
              </a:rPr>
              <a:t>Failback &amp; reprotect</a:t>
            </a:r>
            <a:endParaRPr/>
          </a:p>
        </p:txBody>
      </p:sp>
      <p:sp>
        <p:nvSpPr>
          <p:cNvPr id="8928" name="Google Shape;8928;p83"/>
          <p:cNvSpPr txBox="1"/>
          <p:nvPr/>
        </p:nvSpPr>
        <p:spPr>
          <a:xfrm>
            <a:off x="654141" y="5503849"/>
            <a:ext cx="2753271" cy="49244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1B1D36"/>
              </a:buClr>
              <a:buSzPts val="1600"/>
              <a:buFont typeface="Arial"/>
              <a:buNone/>
            </a:pPr>
            <a:r>
              <a:rPr lang="en-US" sz="1600" b="0" i="0" u="none" strike="noStrike" cap="none">
                <a:solidFill>
                  <a:srgbClr val="1B1D36"/>
                </a:solidFill>
                <a:latin typeface="Arial"/>
                <a:ea typeface="Arial"/>
                <a:cs typeface="Arial"/>
                <a:sym typeface="Arial"/>
              </a:rPr>
              <a:t>On-premises</a:t>
            </a:r>
            <a:br>
              <a:rPr lang="en-US" sz="1600" b="0" i="0" u="none" strike="noStrike" cap="none">
                <a:solidFill>
                  <a:srgbClr val="1B1D36"/>
                </a:solidFill>
                <a:latin typeface="Arial"/>
                <a:ea typeface="Arial"/>
                <a:cs typeface="Arial"/>
                <a:sym typeface="Arial"/>
              </a:rPr>
            </a:br>
            <a:r>
              <a:rPr lang="en-US" sz="1600" b="0" i="0" u="none" strike="noStrike" cap="none">
                <a:solidFill>
                  <a:srgbClr val="1B1D36"/>
                </a:solidFill>
                <a:latin typeface="Arial"/>
                <a:ea typeface="Arial"/>
                <a:cs typeface="Arial"/>
                <a:sym typeface="Arial"/>
              </a:rPr>
              <a:t>VCF cluster</a:t>
            </a:r>
            <a:endParaRPr/>
          </a:p>
        </p:txBody>
      </p:sp>
      <p:sp>
        <p:nvSpPr>
          <p:cNvPr id="8929" name="Google Shape;8929;p83"/>
          <p:cNvSpPr txBox="1"/>
          <p:nvPr/>
        </p:nvSpPr>
        <p:spPr>
          <a:xfrm>
            <a:off x="5788632" y="5503849"/>
            <a:ext cx="2184760" cy="49244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1B1D36"/>
              </a:buClr>
              <a:buSzPts val="1600"/>
              <a:buFont typeface="Arial"/>
              <a:buNone/>
            </a:pPr>
            <a:r>
              <a:rPr lang="en-US" sz="1600" b="0" i="0" u="none" strike="noStrike" cap="none">
                <a:solidFill>
                  <a:srgbClr val="1B1D36"/>
                </a:solidFill>
                <a:latin typeface="Arial"/>
                <a:ea typeface="Arial"/>
                <a:cs typeface="Arial"/>
                <a:sym typeface="Arial"/>
              </a:rPr>
              <a:t>On/off-premises</a:t>
            </a:r>
            <a:br>
              <a:rPr lang="en-US" sz="1600" b="0" i="0" u="none" strike="noStrike" cap="none">
                <a:solidFill>
                  <a:srgbClr val="1B1D36"/>
                </a:solidFill>
                <a:latin typeface="Arial"/>
                <a:ea typeface="Arial"/>
                <a:cs typeface="Arial"/>
                <a:sym typeface="Arial"/>
              </a:rPr>
            </a:br>
            <a:r>
              <a:rPr lang="en-US" sz="1600" b="0" i="0" u="none" strike="noStrike" cap="none">
                <a:solidFill>
                  <a:srgbClr val="1B1D36"/>
                </a:solidFill>
                <a:latin typeface="Arial"/>
                <a:ea typeface="Arial"/>
                <a:cs typeface="Arial"/>
                <a:sym typeface="Arial"/>
              </a:rPr>
              <a:t>VCF cluster</a:t>
            </a:r>
            <a:endParaRPr/>
          </a:p>
        </p:txBody>
      </p:sp>
      <p:grpSp>
        <p:nvGrpSpPr>
          <p:cNvPr id="8930" name="Google Shape;8930;p83"/>
          <p:cNvGrpSpPr/>
          <p:nvPr/>
        </p:nvGrpSpPr>
        <p:grpSpPr>
          <a:xfrm>
            <a:off x="645863" y="1935625"/>
            <a:ext cx="2761546" cy="438736"/>
            <a:chOff x="645863" y="1935625"/>
            <a:chExt cx="2761546" cy="438736"/>
          </a:xfrm>
        </p:grpSpPr>
        <p:pic>
          <p:nvPicPr>
            <p:cNvPr id="8931" name="Google Shape;8931;p83"/>
            <p:cNvPicPr preferRelativeResize="0"/>
            <p:nvPr/>
          </p:nvPicPr>
          <p:blipFill rotWithShape="1">
            <a:blip r:embed="rId9">
              <a:alphaModFix/>
            </a:blip>
            <a:srcRect/>
            <a:stretch/>
          </p:blipFill>
          <p:spPr>
            <a:xfrm>
              <a:off x="924337" y="1990901"/>
              <a:ext cx="328184" cy="328184"/>
            </a:xfrm>
            <a:prstGeom prst="rect">
              <a:avLst/>
            </a:prstGeom>
            <a:noFill/>
            <a:ln>
              <a:noFill/>
            </a:ln>
          </p:spPr>
        </p:pic>
        <p:sp>
          <p:nvSpPr>
            <p:cNvPr id="8932" name="Google Shape;8932;p83"/>
            <p:cNvSpPr txBox="1"/>
            <p:nvPr/>
          </p:nvSpPr>
          <p:spPr>
            <a:xfrm>
              <a:off x="1196907" y="2062660"/>
              <a:ext cx="1807512"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VMware Live Recovery</a:t>
              </a:r>
              <a:endParaRPr/>
            </a:p>
          </p:txBody>
        </p:sp>
        <p:sp>
          <p:nvSpPr>
            <p:cNvPr id="8933" name="Google Shape;8933;p83"/>
            <p:cNvSpPr/>
            <p:nvPr/>
          </p:nvSpPr>
          <p:spPr>
            <a:xfrm>
              <a:off x="645863" y="1935625"/>
              <a:ext cx="2761546" cy="438736"/>
            </a:xfrm>
            <a:prstGeom prst="rect">
              <a:avLst/>
            </a:prstGeom>
            <a:solidFill>
              <a:schemeClr val="accent5">
                <a:alpha val="980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8934" name="Google Shape;8934;p83"/>
          <p:cNvSpPr txBox="1"/>
          <p:nvPr/>
        </p:nvSpPr>
        <p:spPr>
          <a:xfrm>
            <a:off x="4039418" y="2056898"/>
            <a:ext cx="1118415"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6C4B94"/>
              </a:buClr>
              <a:buSzPts val="1200"/>
              <a:buFont typeface="Arial"/>
              <a:buNone/>
            </a:pPr>
            <a:r>
              <a:rPr lang="en-US" sz="1200" b="0" i="0" u="none" strike="noStrike" cap="none">
                <a:solidFill>
                  <a:srgbClr val="6C4B94"/>
                </a:solidFill>
                <a:latin typeface="Arial"/>
                <a:ea typeface="Arial"/>
                <a:cs typeface="Arial"/>
                <a:sym typeface="Arial"/>
              </a:rPr>
              <a:t>VLR addon</a:t>
            </a:r>
            <a:endParaRPr/>
          </a:p>
        </p:txBody>
      </p:sp>
      <p:grpSp>
        <p:nvGrpSpPr>
          <p:cNvPr id="8935" name="Google Shape;8935;p83"/>
          <p:cNvGrpSpPr/>
          <p:nvPr/>
        </p:nvGrpSpPr>
        <p:grpSpPr>
          <a:xfrm>
            <a:off x="3159991" y="4007897"/>
            <a:ext cx="2275934" cy="1537024"/>
            <a:chOff x="4881753" y="4008588"/>
            <a:chExt cx="2275934" cy="1537024"/>
          </a:xfrm>
        </p:grpSpPr>
        <p:sp>
          <p:nvSpPr>
            <p:cNvPr id="8936" name="Google Shape;8936;p83"/>
            <p:cNvSpPr/>
            <p:nvPr/>
          </p:nvSpPr>
          <p:spPr>
            <a:xfrm>
              <a:off x="4881755" y="4225209"/>
              <a:ext cx="2275932" cy="1320403"/>
            </a:xfrm>
            <a:prstGeom prst="rect">
              <a:avLst/>
            </a:prstGeom>
            <a:solidFill>
              <a:srgbClr val="007295"/>
            </a:solidFill>
            <a:ln>
              <a:noFill/>
            </a:ln>
          </p:spPr>
          <p:txBody>
            <a:bodyPr spcFirstLastPara="1" wrap="square" lIns="91425" tIns="45700" rIns="91425" bIns="45700" anchor="ctr" anchorCtr="0">
              <a:noAutofit/>
            </a:bodyPr>
            <a:lstStyle/>
            <a:p>
              <a:pPr marL="60325" marR="0" lvl="0" indent="0" algn="ctr" rtl="0">
                <a:lnSpc>
                  <a:spcPct val="100000"/>
                </a:lnSpc>
                <a:spcBef>
                  <a:spcPts val="0"/>
                </a:spcBef>
                <a:spcAft>
                  <a:spcPts val="0"/>
                </a:spcAft>
                <a:buClr>
                  <a:schemeClr val="lt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37" name="Google Shape;8937;p83"/>
            <p:cNvSpPr/>
            <p:nvPr/>
          </p:nvSpPr>
          <p:spPr>
            <a:xfrm>
              <a:off x="4881753" y="4008588"/>
              <a:ext cx="2275932" cy="204002"/>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1" i="0" u="none" strike="noStrike" cap="none">
                <a:solidFill>
                  <a:srgbClr val="FFFFFF"/>
                </a:solidFill>
                <a:latin typeface="Arial Rounded"/>
                <a:ea typeface="Arial Rounded"/>
                <a:cs typeface="Arial Rounded"/>
                <a:sym typeface="Arial Rounded"/>
              </a:endParaRPr>
            </a:p>
          </p:txBody>
        </p:sp>
        <p:sp>
          <p:nvSpPr>
            <p:cNvPr id="8938" name="Google Shape;8938;p83"/>
            <p:cNvSpPr/>
            <p:nvPr/>
          </p:nvSpPr>
          <p:spPr>
            <a:xfrm>
              <a:off x="4950451" y="4072107"/>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8939" name="Google Shape;8939;p83"/>
            <p:cNvSpPr/>
            <p:nvPr/>
          </p:nvSpPr>
          <p:spPr>
            <a:xfrm>
              <a:off x="5103529" y="4072107"/>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8940" name="Google Shape;8940;p83"/>
            <p:cNvSpPr/>
            <p:nvPr/>
          </p:nvSpPr>
          <p:spPr>
            <a:xfrm>
              <a:off x="5256607" y="4072107"/>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8941" name="Google Shape;8941;p83"/>
            <p:cNvSpPr/>
            <p:nvPr/>
          </p:nvSpPr>
          <p:spPr>
            <a:xfrm>
              <a:off x="5000763" y="4360501"/>
              <a:ext cx="2037083" cy="1061655"/>
            </a:xfrm>
            <a:prstGeom prst="rect">
              <a:avLst/>
            </a:prstGeom>
            <a:solidFill>
              <a:schemeClr val="lt1"/>
            </a:solidFill>
            <a:ln>
              <a:noFill/>
            </a:ln>
          </p:spPr>
          <p:txBody>
            <a:bodyPr spcFirstLastPara="1" wrap="square" lIns="91425" tIns="45700" rIns="91425" bIns="45700" anchor="ctr" anchorCtr="0">
              <a:noAutofit/>
            </a:bodyPr>
            <a:lstStyle/>
            <a:p>
              <a:pPr marL="60325" marR="0" lvl="0" indent="0" algn="ctr" rtl="0">
                <a:lnSpc>
                  <a:spcPct val="100000"/>
                </a:lnSpc>
                <a:spcBef>
                  <a:spcPts val="0"/>
                </a:spcBef>
                <a:spcAft>
                  <a:spcPts val="0"/>
                </a:spcAft>
                <a:buClr>
                  <a:schemeClr val="lt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42" name="Google Shape;8942;p83"/>
            <p:cNvSpPr/>
            <p:nvPr/>
          </p:nvSpPr>
          <p:spPr>
            <a:xfrm>
              <a:off x="5397473" y="4017450"/>
              <a:ext cx="1317327" cy="159299"/>
            </a:xfrm>
            <a:prstGeom prst="rect">
              <a:avLst/>
            </a:prstGeom>
            <a:noFill/>
            <a:ln>
              <a:noFill/>
            </a:ln>
          </p:spPr>
          <p:txBody>
            <a:bodyPr spcFirstLastPara="1" wrap="square" lIns="91425" tIns="45700" rIns="91425" bIns="45700" anchor="ctr" anchorCtr="0">
              <a:noAutofit/>
            </a:bodyPr>
            <a:lstStyle/>
            <a:p>
              <a:pPr marL="60325" marR="0" lvl="0" indent="0" algn="ctr" rtl="0">
                <a:lnSpc>
                  <a:spcPct val="100000"/>
                </a:lnSpc>
                <a:spcBef>
                  <a:spcPts val="0"/>
                </a:spcBef>
                <a:spcAft>
                  <a:spcPts val="0"/>
                </a:spcAft>
                <a:buClr>
                  <a:srgbClr val="FFFFFF"/>
                </a:buClr>
                <a:buSzPts val="1100"/>
                <a:buFont typeface="Arial"/>
                <a:buNone/>
              </a:pPr>
              <a:r>
                <a:rPr lang="en-US" sz="1100" b="0" i="0" u="none" strike="noStrike" cap="none">
                  <a:solidFill>
                    <a:srgbClr val="FFFFFF"/>
                  </a:solidFill>
                  <a:latin typeface="Arial"/>
                  <a:ea typeface="Arial"/>
                  <a:cs typeface="Arial"/>
                  <a:sym typeface="Arial"/>
                </a:rPr>
                <a:t>vCenter Server</a:t>
              </a:r>
              <a:endParaRPr/>
            </a:p>
          </p:txBody>
        </p:sp>
      </p:grpSp>
      <p:sp>
        <p:nvSpPr>
          <p:cNvPr id="8943" name="Google Shape;8943;p83"/>
          <p:cNvSpPr txBox="1"/>
          <p:nvPr/>
        </p:nvSpPr>
        <p:spPr>
          <a:xfrm>
            <a:off x="3341935" y="4425480"/>
            <a:ext cx="1974150" cy="19240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vSAN Data Protection</a:t>
            </a:r>
            <a:endParaRPr/>
          </a:p>
        </p:txBody>
      </p:sp>
      <p:grpSp>
        <p:nvGrpSpPr>
          <p:cNvPr id="8944" name="Google Shape;8944;p83"/>
          <p:cNvGrpSpPr/>
          <p:nvPr/>
        </p:nvGrpSpPr>
        <p:grpSpPr>
          <a:xfrm>
            <a:off x="3341934" y="4632053"/>
            <a:ext cx="1869254" cy="177470"/>
            <a:chOff x="5797762" y="5133815"/>
            <a:chExt cx="1869254" cy="177470"/>
          </a:xfrm>
        </p:grpSpPr>
        <p:sp>
          <p:nvSpPr>
            <p:cNvPr id="8945" name="Google Shape;8945;p83"/>
            <p:cNvSpPr/>
            <p:nvPr/>
          </p:nvSpPr>
          <p:spPr>
            <a:xfrm>
              <a:off x="5797762" y="5133815"/>
              <a:ext cx="1869253" cy="177470"/>
            </a:xfrm>
            <a:prstGeom prst="rect">
              <a:avLst/>
            </a:prstGeom>
            <a:no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946" name="Google Shape;8946;p83"/>
            <p:cNvSpPr txBox="1"/>
            <p:nvPr/>
          </p:nvSpPr>
          <p:spPr>
            <a:xfrm>
              <a:off x="5797762" y="5153301"/>
              <a:ext cx="1869254" cy="1384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98C7"/>
                </a:buClr>
                <a:buSzPts val="900"/>
                <a:buFont typeface="Arial"/>
                <a:buNone/>
              </a:pPr>
              <a:r>
                <a:rPr lang="en-US" sz="900" b="0" i="0" u="none" strike="noStrike" cap="none">
                  <a:solidFill>
                    <a:srgbClr val="0098C7"/>
                  </a:solidFill>
                  <a:latin typeface="Arial"/>
                  <a:ea typeface="Arial"/>
                  <a:cs typeface="Arial"/>
                  <a:sym typeface="Arial"/>
                </a:rPr>
                <a:t>CREATE PROTECTION GROUP</a:t>
              </a:r>
              <a:endParaRPr/>
            </a:p>
          </p:txBody>
        </p:sp>
      </p:grpSp>
      <p:sp>
        <p:nvSpPr>
          <p:cNvPr id="8947" name="Google Shape;8947;p83"/>
          <p:cNvSpPr/>
          <p:nvPr/>
        </p:nvSpPr>
        <p:spPr>
          <a:xfrm>
            <a:off x="3519072" y="4846276"/>
            <a:ext cx="1456307" cy="15810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B1D36"/>
              </a:buClr>
              <a:buSzPts val="1000"/>
              <a:buFont typeface="Arial"/>
              <a:buNone/>
            </a:pPr>
            <a:r>
              <a:rPr lang="en-US" sz="1000" b="0" i="0" u="none" strike="noStrike" cap="none">
                <a:solidFill>
                  <a:srgbClr val="1B1D36"/>
                </a:solidFill>
                <a:latin typeface="Arial"/>
                <a:ea typeface="Arial"/>
                <a:cs typeface="Arial"/>
                <a:sym typeface="Arial"/>
              </a:rPr>
              <a:t>1. Choose local/remote</a:t>
            </a:r>
            <a:endParaRPr/>
          </a:p>
        </p:txBody>
      </p:sp>
      <p:sp>
        <p:nvSpPr>
          <p:cNvPr id="8948" name="Google Shape;8948;p83"/>
          <p:cNvSpPr/>
          <p:nvPr/>
        </p:nvSpPr>
        <p:spPr>
          <a:xfrm>
            <a:off x="3519072" y="5025576"/>
            <a:ext cx="1563199" cy="15810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B1D36"/>
              </a:buClr>
              <a:buSzPts val="1000"/>
              <a:buFont typeface="Arial"/>
              <a:buNone/>
            </a:pPr>
            <a:r>
              <a:rPr lang="en-US" sz="1000" b="0" i="0" u="none" strike="noStrike" cap="none">
                <a:solidFill>
                  <a:srgbClr val="1B1D36"/>
                </a:solidFill>
                <a:latin typeface="Arial"/>
                <a:ea typeface="Arial"/>
                <a:cs typeface="Arial"/>
                <a:sym typeface="Arial"/>
              </a:rPr>
              <a:t>2. Select VMs</a:t>
            </a:r>
            <a:endParaRPr/>
          </a:p>
        </p:txBody>
      </p:sp>
      <p:sp>
        <p:nvSpPr>
          <p:cNvPr id="8949" name="Google Shape;8949;p83"/>
          <p:cNvSpPr/>
          <p:nvPr/>
        </p:nvSpPr>
        <p:spPr>
          <a:xfrm>
            <a:off x="3519072" y="5204876"/>
            <a:ext cx="1563199" cy="15810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B1D36"/>
              </a:buClr>
              <a:buSzPts val="1000"/>
              <a:buFont typeface="Arial"/>
              <a:buNone/>
            </a:pPr>
            <a:r>
              <a:rPr lang="en-US" sz="1000" b="0" i="0" u="none" strike="noStrike" cap="none">
                <a:solidFill>
                  <a:srgbClr val="1B1D36"/>
                </a:solidFill>
                <a:latin typeface="Arial"/>
                <a:ea typeface="Arial"/>
                <a:cs typeface="Arial"/>
                <a:sym typeface="Arial"/>
              </a:rPr>
              <a:t>3. Create schedules</a:t>
            </a:r>
            <a:endParaRPr/>
          </a:p>
        </p:txBody>
      </p:sp>
      <p:cxnSp>
        <p:nvCxnSpPr>
          <p:cNvPr id="8950" name="Google Shape;8950;p83"/>
          <p:cNvCxnSpPr/>
          <p:nvPr/>
        </p:nvCxnSpPr>
        <p:spPr>
          <a:xfrm>
            <a:off x="3559175" y="3599238"/>
            <a:ext cx="593725" cy="0"/>
          </a:xfrm>
          <a:prstGeom prst="straightConnector1">
            <a:avLst/>
          </a:prstGeom>
          <a:noFill/>
          <a:ln w="25400" cap="flat" cmpd="sng">
            <a:solidFill>
              <a:schemeClr val="dk1"/>
            </a:solidFill>
            <a:prstDash val="solid"/>
            <a:miter lim="800000"/>
            <a:headEnd type="diamond" w="lg" len="lg"/>
            <a:tailEnd type="none" w="sm" len="sm"/>
          </a:ln>
        </p:spPr>
      </p:cxnSp>
      <p:cxnSp>
        <p:nvCxnSpPr>
          <p:cNvPr id="8951" name="Google Shape;8951;p83"/>
          <p:cNvCxnSpPr/>
          <p:nvPr/>
        </p:nvCxnSpPr>
        <p:spPr>
          <a:xfrm rot="10800000">
            <a:off x="4152900" y="3599238"/>
            <a:ext cx="0" cy="344112"/>
          </a:xfrm>
          <a:prstGeom prst="straightConnector1">
            <a:avLst/>
          </a:prstGeom>
          <a:noFill/>
          <a:ln w="25400" cap="flat" cmpd="sng">
            <a:solidFill>
              <a:schemeClr val="dk1"/>
            </a:solidFill>
            <a:prstDash val="solid"/>
            <a:miter lim="800000"/>
            <a:headEnd type="none" w="sm" len="sm"/>
            <a:tailEnd type="none" w="sm" len="sm"/>
          </a:ln>
        </p:spPr>
      </p:cxnSp>
      <p:cxnSp>
        <p:nvCxnSpPr>
          <p:cNvPr id="8952" name="Google Shape;8952;p83"/>
          <p:cNvCxnSpPr/>
          <p:nvPr/>
        </p:nvCxnSpPr>
        <p:spPr>
          <a:xfrm>
            <a:off x="1776413" y="3092907"/>
            <a:ext cx="254368" cy="0"/>
          </a:xfrm>
          <a:prstGeom prst="straightConnector1">
            <a:avLst/>
          </a:prstGeom>
          <a:noFill/>
          <a:ln w="25400" cap="flat" cmpd="sng">
            <a:solidFill>
              <a:srgbClr val="E68C28"/>
            </a:solidFill>
            <a:prstDash val="solid"/>
            <a:miter lim="800000"/>
            <a:headEnd type="none" w="sm" len="sm"/>
            <a:tailEnd type="none" w="sm" len="sm"/>
          </a:ln>
        </p:spPr>
      </p:cxnSp>
      <p:cxnSp>
        <p:nvCxnSpPr>
          <p:cNvPr id="8953" name="Google Shape;8953;p83"/>
          <p:cNvCxnSpPr/>
          <p:nvPr/>
        </p:nvCxnSpPr>
        <p:spPr>
          <a:xfrm rot="10800000">
            <a:off x="1776413" y="2976563"/>
            <a:ext cx="0" cy="116344"/>
          </a:xfrm>
          <a:prstGeom prst="straightConnector1">
            <a:avLst/>
          </a:prstGeom>
          <a:noFill/>
          <a:ln w="25400" cap="flat" cmpd="sng">
            <a:solidFill>
              <a:srgbClr val="E68C28"/>
            </a:solidFill>
            <a:prstDash val="solid"/>
            <a:miter lim="800000"/>
            <a:headEnd type="none" w="sm" len="sm"/>
            <a:tailEnd type="none" w="sm" len="sm"/>
          </a:ln>
        </p:spPr>
      </p:cxnSp>
      <p:cxnSp>
        <p:nvCxnSpPr>
          <p:cNvPr id="8954" name="Google Shape;8954;p83"/>
          <p:cNvCxnSpPr/>
          <p:nvPr/>
        </p:nvCxnSpPr>
        <p:spPr>
          <a:xfrm rot="10800000">
            <a:off x="2307431" y="2976563"/>
            <a:ext cx="0" cy="116344"/>
          </a:xfrm>
          <a:prstGeom prst="straightConnector1">
            <a:avLst/>
          </a:prstGeom>
          <a:noFill/>
          <a:ln w="25400" cap="flat" cmpd="sng">
            <a:solidFill>
              <a:schemeClr val="accent3"/>
            </a:solidFill>
            <a:prstDash val="solid"/>
            <a:miter lim="800000"/>
            <a:headEnd type="none" w="sm" len="sm"/>
            <a:tailEnd type="none" w="sm" len="sm"/>
          </a:ln>
        </p:spPr>
      </p:cxnSp>
      <p:sp>
        <p:nvSpPr>
          <p:cNvPr id="8955" name="Google Shape;8955;p83"/>
          <p:cNvSpPr txBox="1"/>
          <p:nvPr/>
        </p:nvSpPr>
        <p:spPr>
          <a:xfrm>
            <a:off x="2498794" y="2822367"/>
            <a:ext cx="890142" cy="1846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98C7"/>
              </a:buClr>
              <a:buSzPts val="1200"/>
              <a:buFont typeface="Arial"/>
              <a:buNone/>
            </a:pPr>
            <a:r>
              <a:rPr lang="en-US" sz="1200" b="0" i="0" u="none" strike="noStrike" cap="none">
                <a:solidFill>
                  <a:srgbClr val="0098C7"/>
                </a:solidFill>
                <a:latin typeface="Arial"/>
                <a:ea typeface="Arial"/>
                <a:cs typeface="Arial"/>
                <a:sym typeface="Arial"/>
              </a:rPr>
              <a:t>Replica</a:t>
            </a:r>
            <a:endParaRPr/>
          </a:p>
        </p:txBody>
      </p:sp>
      <p:cxnSp>
        <p:nvCxnSpPr>
          <p:cNvPr id="8956" name="Google Shape;8956;p83"/>
          <p:cNvCxnSpPr/>
          <p:nvPr/>
        </p:nvCxnSpPr>
        <p:spPr>
          <a:xfrm>
            <a:off x="2030781" y="3092907"/>
            <a:ext cx="276650" cy="0"/>
          </a:xfrm>
          <a:prstGeom prst="straightConnector1">
            <a:avLst/>
          </a:prstGeom>
          <a:noFill/>
          <a:ln w="25400" cap="flat" cmpd="sng">
            <a:solidFill>
              <a:schemeClr val="accent3"/>
            </a:solidFill>
            <a:prstDash val="solid"/>
            <a:miter lim="800000"/>
            <a:headEnd type="none" w="sm" len="sm"/>
            <a:tailEnd type="none" w="sm" len="sm"/>
          </a:ln>
        </p:spPr>
      </p:cxnSp>
      <p:sp>
        <p:nvSpPr>
          <p:cNvPr id="8957" name="Google Shape;8957;p83"/>
          <p:cNvSpPr/>
          <p:nvPr/>
        </p:nvSpPr>
        <p:spPr>
          <a:xfrm>
            <a:off x="5395866" y="6468250"/>
            <a:ext cx="2577524" cy="1538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F7F7F"/>
              </a:buClr>
              <a:buSzPts val="1000"/>
              <a:buFont typeface="Arial"/>
              <a:buNone/>
            </a:pPr>
            <a:r>
              <a:rPr lang="en-US" sz="1000" b="0" i="0" u="none" strike="noStrike" cap="none">
                <a:solidFill>
                  <a:srgbClr val="7F7F7F"/>
                </a:solidFill>
                <a:latin typeface="Arial"/>
                <a:ea typeface="Arial"/>
                <a:cs typeface="Arial"/>
                <a:sym typeface="Arial"/>
              </a:rPr>
              <a:t>* Replication a part of the VLR addon license</a:t>
            </a:r>
            <a:endParaRPr/>
          </a:p>
        </p:txBody>
      </p:sp>
      <p:grpSp>
        <p:nvGrpSpPr>
          <p:cNvPr id="8958" name="Google Shape;8958;p83"/>
          <p:cNvGrpSpPr/>
          <p:nvPr/>
        </p:nvGrpSpPr>
        <p:grpSpPr>
          <a:xfrm>
            <a:off x="2215381" y="2694349"/>
            <a:ext cx="187831" cy="188341"/>
            <a:chOff x="4404513" y="3389064"/>
            <a:chExt cx="187831" cy="188341"/>
          </a:xfrm>
        </p:grpSpPr>
        <p:sp>
          <p:nvSpPr>
            <p:cNvPr id="8959" name="Google Shape;8959;p83"/>
            <p:cNvSpPr/>
            <p:nvPr/>
          </p:nvSpPr>
          <p:spPr>
            <a:xfrm>
              <a:off x="4404513" y="3389604"/>
              <a:ext cx="187831" cy="187801"/>
            </a:xfrm>
            <a:custGeom>
              <a:avLst/>
              <a:gdLst/>
              <a:ahLst/>
              <a:cxnLst/>
              <a:rect l="l" t="t" r="r" b="b"/>
              <a:pathLst>
                <a:path w="399841" h="399777" extrusionOk="0">
                  <a:moveTo>
                    <a:pt x="384030" y="15812"/>
                  </a:moveTo>
                  <a:lnTo>
                    <a:pt x="384030" y="383966"/>
                  </a:lnTo>
                  <a:lnTo>
                    <a:pt x="15812" y="383966"/>
                  </a:lnTo>
                  <a:lnTo>
                    <a:pt x="15812" y="15812"/>
                  </a:lnTo>
                  <a:lnTo>
                    <a:pt x="384030" y="15812"/>
                  </a:lnTo>
                  <a:moveTo>
                    <a:pt x="399841" y="0"/>
                  </a:moveTo>
                  <a:lnTo>
                    <a:pt x="0" y="0"/>
                  </a:lnTo>
                  <a:lnTo>
                    <a:pt x="0" y="399778"/>
                  </a:lnTo>
                  <a:lnTo>
                    <a:pt x="399778" y="399778"/>
                  </a:lnTo>
                  <a:lnTo>
                    <a:pt x="399778"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60" name="Google Shape;8960;p83"/>
            <p:cNvSpPr txBox="1"/>
            <p:nvPr/>
          </p:nvSpPr>
          <p:spPr>
            <a:xfrm>
              <a:off x="4409275" y="3389064"/>
              <a:ext cx="177513"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98C7"/>
                </a:buClr>
                <a:buSzPts val="1200"/>
                <a:buFont typeface="Arial"/>
                <a:buNone/>
              </a:pPr>
              <a:r>
                <a:rPr lang="en-US" sz="1200" b="0" i="0" u="none" strike="noStrike" cap="none">
                  <a:solidFill>
                    <a:srgbClr val="0098C7"/>
                  </a:solidFill>
                  <a:latin typeface="Arial"/>
                  <a:ea typeface="Arial"/>
                  <a:cs typeface="Arial"/>
                  <a:sym typeface="Arial"/>
                </a:rPr>
                <a:t>R</a:t>
              </a: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8779"/>
                                        </p:tgtEl>
                                        <p:attrNameLst>
                                          <p:attrName>style.visibility</p:attrName>
                                        </p:attrNameLst>
                                      </p:cBhvr>
                                      <p:to>
                                        <p:strVal val="visible"/>
                                      </p:to>
                                    </p:set>
                                    <p:animEffect transition="in" filter="fade">
                                      <p:cBhvr>
                                        <p:cTn id="7" dur="500"/>
                                        <p:tgtEl>
                                          <p:spTgt spid="8779"/>
                                        </p:tgtEl>
                                      </p:cBhvr>
                                    </p:animEffect>
                                  </p:childTnLst>
                                </p:cTn>
                              </p:par>
                              <p:par>
                                <p:cTn id="8" presetID="10" presetClass="entr" presetSubtype="0" fill="hold" nodeType="withEffect">
                                  <p:stCondLst>
                                    <p:cond delay="500"/>
                                  </p:stCondLst>
                                  <p:childTnLst>
                                    <p:set>
                                      <p:cBhvr>
                                        <p:cTn id="9" dur="1" fill="hold">
                                          <p:stCondLst>
                                            <p:cond delay="0"/>
                                          </p:stCondLst>
                                        </p:cTn>
                                        <p:tgtEl>
                                          <p:spTgt spid="8780"/>
                                        </p:tgtEl>
                                        <p:attrNameLst>
                                          <p:attrName>style.visibility</p:attrName>
                                        </p:attrNameLst>
                                      </p:cBhvr>
                                      <p:to>
                                        <p:strVal val="visible"/>
                                      </p:to>
                                    </p:set>
                                    <p:animEffect transition="in" filter="fade">
                                      <p:cBhvr>
                                        <p:cTn id="10" dur="500"/>
                                        <p:tgtEl>
                                          <p:spTgt spid="8780"/>
                                        </p:tgtEl>
                                      </p:cBhvr>
                                    </p:animEffect>
                                  </p:childTnLst>
                                </p:cTn>
                              </p:par>
                              <p:par>
                                <p:cTn id="11" presetID="10" presetClass="entr" presetSubtype="0" fill="hold" nodeType="withEffect">
                                  <p:stCondLst>
                                    <p:cond delay="500"/>
                                  </p:stCondLst>
                                  <p:childTnLst>
                                    <p:set>
                                      <p:cBhvr>
                                        <p:cTn id="12" dur="1" fill="hold">
                                          <p:stCondLst>
                                            <p:cond delay="0"/>
                                          </p:stCondLst>
                                        </p:cTn>
                                        <p:tgtEl>
                                          <p:spTgt spid="8781"/>
                                        </p:tgtEl>
                                        <p:attrNameLst>
                                          <p:attrName>style.visibility</p:attrName>
                                        </p:attrNameLst>
                                      </p:cBhvr>
                                      <p:to>
                                        <p:strVal val="visible"/>
                                      </p:to>
                                    </p:set>
                                    <p:animEffect transition="in" filter="fade">
                                      <p:cBhvr>
                                        <p:cTn id="13" dur="500"/>
                                        <p:tgtEl>
                                          <p:spTgt spid="8781"/>
                                        </p:tgtEl>
                                      </p:cBhvr>
                                    </p:animEffect>
                                  </p:childTnLst>
                                </p:cTn>
                              </p:par>
                              <p:par>
                                <p:cTn id="14" presetID="10" presetClass="entr" presetSubtype="0" fill="hold" nodeType="withEffect">
                                  <p:stCondLst>
                                    <p:cond delay="500"/>
                                  </p:stCondLst>
                                  <p:childTnLst>
                                    <p:set>
                                      <p:cBhvr>
                                        <p:cTn id="15" dur="1" fill="hold">
                                          <p:stCondLst>
                                            <p:cond delay="0"/>
                                          </p:stCondLst>
                                        </p:cTn>
                                        <p:tgtEl>
                                          <p:spTgt spid="8782"/>
                                        </p:tgtEl>
                                        <p:attrNameLst>
                                          <p:attrName>style.visibility</p:attrName>
                                        </p:attrNameLst>
                                      </p:cBhvr>
                                      <p:to>
                                        <p:strVal val="visible"/>
                                      </p:to>
                                    </p:set>
                                    <p:animEffect transition="in" filter="fade">
                                      <p:cBhvr>
                                        <p:cTn id="16" dur="500"/>
                                        <p:tgtEl>
                                          <p:spTgt spid="8782"/>
                                        </p:tgtEl>
                                      </p:cBhvr>
                                    </p:animEffect>
                                  </p:childTnLst>
                                </p:cTn>
                              </p:par>
                              <p:par>
                                <p:cTn id="17" presetID="10" presetClass="entr" presetSubtype="0" fill="hold" nodeType="withEffect">
                                  <p:stCondLst>
                                    <p:cond delay="500"/>
                                  </p:stCondLst>
                                  <p:childTnLst>
                                    <p:set>
                                      <p:cBhvr>
                                        <p:cTn id="18" dur="1" fill="hold">
                                          <p:stCondLst>
                                            <p:cond delay="0"/>
                                          </p:stCondLst>
                                        </p:cTn>
                                        <p:tgtEl>
                                          <p:spTgt spid="8783"/>
                                        </p:tgtEl>
                                        <p:attrNameLst>
                                          <p:attrName>style.visibility</p:attrName>
                                        </p:attrNameLst>
                                      </p:cBhvr>
                                      <p:to>
                                        <p:strVal val="visible"/>
                                      </p:to>
                                    </p:set>
                                    <p:animEffect transition="in" filter="fade">
                                      <p:cBhvr>
                                        <p:cTn id="19" dur="500"/>
                                        <p:tgtEl>
                                          <p:spTgt spid="8783"/>
                                        </p:tgtEl>
                                      </p:cBhvr>
                                    </p:animEffect>
                                  </p:childTnLst>
                                </p:cTn>
                              </p:par>
                              <p:par>
                                <p:cTn id="20" presetID="10" presetClass="entr" presetSubtype="0" fill="hold" nodeType="withEffect">
                                  <p:stCondLst>
                                    <p:cond delay="500"/>
                                  </p:stCondLst>
                                  <p:childTnLst>
                                    <p:set>
                                      <p:cBhvr>
                                        <p:cTn id="21" dur="1" fill="hold">
                                          <p:stCondLst>
                                            <p:cond delay="0"/>
                                          </p:stCondLst>
                                        </p:cTn>
                                        <p:tgtEl>
                                          <p:spTgt spid="8784"/>
                                        </p:tgtEl>
                                        <p:attrNameLst>
                                          <p:attrName>style.visibility</p:attrName>
                                        </p:attrNameLst>
                                      </p:cBhvr>
                                      <p:to>
                                        <p:strVal val="visible"/>
                                      </p:to>
                                    </p:set>
                                    <p:animEffect transition="in" filter="fade">
                                      <p:cBhvr>
                                        <p:cTn id="22" dur="500"/>
                                        <p:tgtEl>
                                          <p:spTgt spid="8784"/>
                                        </p:tgtEl>
                                      </p:cBhvr>
                                    </p:animEffect>
                                  </p:childTnLst>
                                </p:cTn>
                              </p:par>
                              <p:par>
                                <p:cTn id="23" presetID="10" presetClass="entr" presetSubtype="0" fill="hold" nodeType="withEffect">
                                  <p:stCondLst>
                                    <p:cond delay="500"/>
                                  </p:stCondLst>
                                  <p:childTnLst>
                                    <p:set>
                                      <p:cBhvr>
                                        <p:cTn id="24" dur="1" fill="hold">
                                          <p:stCondLst>
                                            <p:cond delay="0"/>
                                          </p:stCondLst>
                                        </p:cTn>
                                        <p:tgtEl>
                                          <p:spTgt spid="8805"/>
                                        </p:tgtEl>
                                        <p:attrNameLst>
                                          <p:attrName>style.visibility</p:attrName>
                                        </p:attrNameLst>
                                      </p:cBhvr>
                                      <p:to>
                                        <p:strVal val="visible"/>
                                      </p:to>
                                    </p:set>
                                    <p:animEffect transition="in" filter="fade">
                                      <p:cBhvr>
                                        <p:cTn id="25" dur="500"/>
                                        <p:tgtEl>
                                          <p:spTgt spid="8805"/>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8785"/>
                                        </p:tgtEl>
                                        <p:attrNameLst>
                                          <p:attrName>style.visibility</p:attrName>
                                        </p:attrNameLst>
                                      </p:cBhvr>
                                      <p:to>
                                        <p:strVal val="visible"/>
                                      </p:to>
                                    </p:set>
                                    <p:animEffect transition="in" filter="fade">
                                      <p:cBhvr>
                                        <p:cTn id="29" dur="500"/>
                                        <p:tgtEl>
                                          <p:spTgt spid="8785"/>
                                        </p:tgtEl>
                                      </p:cBhvr>
                                    </p:animEffect>
                                  </p:childTnLst>
                                </p:cTn>
                              </p:par>
                              <p:par>
                                <p:cTn id="30" presetID="10" presetClass="entr" presetSubtype="0" fill="hold" nodeType="withEffect">
                                  <p:stCondLst>
                                    <p:cond delay="0"/>
                                  </p:stCondLst>
                                  <p:childTnLst>
                                    <p:set>
                                      <p:cBhvr>
                                        <p:cTn id="31" dur="1" fill="hold">
                                          <p:stCondLst>
                                            <p:cond delay="0"/>
                                          </p:stCondLst>
                                        </p:cTn>
                                        <p:tgtEl>
                                          <p:spTgt spid="8787"/>
                                        </p:tgtEl>
                                        <p:attrNameLst>
                                          <p:attrName>style.visibility</p:attrName>
                                        </p:attrNameLst>
                                      </p:cBhvr>
                                      <p:to>
                                        <p:strVal val="visible"/>
                                      </p:to>
                                    </p:set>
                                    <p:animEffect transition="in" filter="fade">
                                      <p:cBhvr>
                                        <p:cTn id="32" dur="500"/>
                                        <p:tgtEl>
                                          <p:spTgt spid="8787"/>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8793"/>
                                        </p:tgtEl>
                                        <p:attrNameLst>
                                          <p:attrName>style.visibility</p:attrName>
                                        </p:attrNameLst>
                                      </p:cBhvr>
                                      <p:to>
                                        <p:strVal val="visible"/>
                                      </p:to>
                                    </p:set>
                                    <p:animEffect transition="in" filter="fade">
                                      <p:cBhvr>
                                        <p:cTn id="36" dur="500"/>
                                        <p:tgtEl>
                                          <p:spTgt spid="8793"/>
                                        </p:tgtEl>
                                      </p:cBhvr>
                                    </p:animEffect>
                                  </p:childTnLst>
                                </p:cTn>
                              </p:par>
                              <p:par>
                                <p:cTn id="37" presetID="10" presetClass="entr" presetSubtype="0" fill="hold" nodeType="withEffect">
                                  <p:stCondLst>
                                    <p:cond delay="0"/>
                                  </p:stCondLst>
                                  <p:childTnLst>
                                    <p:set>
                                      <p:cBhvr>
                                        <p:cTn id="38" dur="1" fill="hold">
                                          <p:stCondLst>
                                            <p:cond delay="0"/>
                                          </p:stCondLst>
                                        </p:cTn>
                                        <p:tgtEl>
                                          <p:spTgt spid="8786"/>
                                        </p:tgtEl>
                                        <p:attrNameLst>
                                          <p:attrName>style.visibility</p:attrName>
                                        </p:attrNameLst>
                                      </p:cBhvr>
                                      <p:to>
                                        <p:strVal val="visible"/>
                                      </p:to>
                                    </p:set>
                                    <p:animEffect transition="in" filter="fade">
                                      <p:cBhvr>
                                        <p:cTn id="39" dur="500"/>
                                        <p:tgtEl>
                                          <p:spTgt spid="8786"/>
                                        </p:tgtEl>
                                      </p:cBhvr>
                                    </p:animEffect>
                                  </p:childTnLst>
                                </p:cTn>
                              </p:par>
                              <p:par>
                                <p:cTn id="40" presetID="10" presetClass="entr" presetSubtype="0" fill="hold" nodeType="withEffect">
                                  <p:stCondLst>
                                    <p:cond delay="0"/>
                                  </p:stCondLst>
                                  <p:childTnLst>
                                    <p:set>
                                      <p:cBhvr>
                                        <p:cTn id="41" dur="1" fill="hold">
                                          <p:stCondLst>
                                            <p:cond delay="0"/>
                                          </p:stCondLst>
                                        </p:cTn>
                                        <p:tgtEl>
                                          <p:spTgt spid="8794"/>
                                        </p:tgtEl>
                                        <p:attrNameLst>
                                          <p:attrName>style.visibility</p:attrName>
                                        </p:attrNameLst>
                                      </p:cBhvr>
                                      <p:to>
                                        <p:strVal val="visible"/>
                                      </p:to>
                                    </p:set>
                                    <p:animEffect transition="in" filter="fade">
                                      <p:cBhvr>
                                        <p:cTn id="42" dur="500"/>
                                        <p:tgtEl>
                                          <p:spTgt spid="8794"/>
                                        </p:tgtEl>
                                      </p:cBhvr>
                                    </p:animEffect>
                                  </p:childTnLst>
                                </p:cTn>
                              </p:par>
                            </p:childTnLst>
                          </p:cTn>
                        </p:par>
                        <p:par>
                          <p:cTn id="43" fill="hold">
                            <p:stCondLst>
                              <p:cond delay="1500"/>
                            </p:stCondLst>
                            <p:childTnLst>
                              <p:par>
                                <p:cTn id="44" presetID="10" presetClass="entr" presetSubtype="0" fill="hold" nodeType="afterEffect">
                                  <p:stCondLst>
                                    <p:cond delay="0"/>
                                  </p:stCondLst>
                                  <p:childTnLst>
                                    <p:set>
                                      <p:cBhvr>
                                        <p:cTn id="45" dur="1" fill="hold">
                                          <p:stCondLst>
                                            <p:cond delay="0"/>
                                          </p:stCondLst>
                                        </p:cTn>
                                        <p:tgtEl>
                                          <p:spTgt spid="8816"/>
                                        </p:tgtEl>
                                        <p:attrNameLst>
                                          <p:attrName>style.visibility</p:attrName>
                                        </p:attrNameLst>
                                      </p:cBhvr>
                                      <p:to>
                                        <p:strVal val="visible"/>
                                      </p:to>
                                    </p:set>
                                    <p:animEffect transition="in" filter="fade">
                                      <p:cBhvr>
                                        <p:cTn id="46" dur="500"/>
                                        <p:tgtEl>
                                          <p:spTgt spid="8816"/>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8928"/>
                                        </p:tgtEl>
                                        <p:attrNameLst>
                                          <p:attrName>style.visibility</p:attrName>
                                        </p:attrNameLst>
                                      </p:cBhvr>
                                      <p:to>
                                        <p:strVal val="visible"/>
                                      </p:to>
                                    </p:set>
                                    <p:animEffect transition="in" filter="fade">
                                      <p:cBhvr>
                                        <p:cTn id="50" dur="500"/>
                                        <p:tgtEl>
                                          <p:spTgt spid="8928"/>
                                        </p:tgtEl>
                                      </p:cBhvr>
                                    </p:animEffect>
                                  </p:childTnLst>
                                </p:cTn>
                              </p:par>
                            </p:childTnLst>
                          </p:cTn>
                        </p:par>
                        <p:par>
                          <p:cTn id="51" fill="hold">
                            <p:stCondLst>
                              <p:cond delay="2500"/>
                            </p:stCondLst>
                            <p:childTnLst>
                              <p:par>
                                <p:cTn id="52" presetID="10" presetClass="entr" presetSubtype="0" fill="hold" nodeType="afterEffect">
                                  <p:stCondLst>
                                    <p:cond delay="500"/>
                                  </p:stCondLst>
                                  <p:childTnLst>
                                    <p:set>
                                      <p:cBhvr>
                                        <p:cTn id="53" dur="1" fill="hold">
                                          <p:stCondLst>
                                            <p:cond delay="0"/>
                                          </p:stCondLst>
                                        </p:cTn>
                                        <p:tgtEl>
                                          <p:spTgt spid="8901"/>
                                        </p:tgtEl>
                                        <p:attrNameLst>
                                          <p:attrName>style.visibility</p:attrName>
                                        </p:attrNameLst>
                                      </p:cBhvr>
                                      <p:to>
                                        <p:strVal val="visible"/>
                                      </p:to>
                                    </p:set>
                                    <p:animEffect transition="in" filter="fade">
                                      <p:cBhvr>
                                        <p:cTn id="54" dur="500"/>
                                        <p:tgtEl>
                                          <p:spTgt spid="8901"/>
                                        </p:tgtEl>
                                      </p:cBhvr>
                                    </p:animEffect>
                                  </p:childTnLst>
                                </p:cTn>
                              </p:par>
                              <p:par>
                                <p:cTn id="55" presetID="10" presetClass="entr" presetSubtype="0" fill="hold" nodeType="withEffect">
                                  <p:stCondLst>
                                    <p:cond delay="500"/>
                                  </p:stCondLst>
                                  <p:childTnLst>
                                    <p:set>
                                      <p:cBhvr>
                                        <p:cTn id="56" dur="1" fill="hold">
                                          <p:stCondLst>
                                            <p:cond delay="0"/>
                                          </p:stCondLst>
                                        </p:cTn>
                                        <p:tgtEl>
                                          <p:spTgt spid="8902"/>
                                        </p:tgtEl>
                                        <p:attrNameLst>
                                          <p:attrName>style.visibility</p:attrName>
                                        </p:attrNameLst>
                                      </p:cBhvr>
                                      <p:to>
                                        <p:strVal val="visible"/>
                                      </p:to>
                                    </p:set>
                                    <p:animEffect transition="in" filter="fade">
                                      <p:cBhvr>
                                        <p:cTn id="57" dur="500"/>
                                        <p:tgtEl>
                                          <p:spTgt spid="8902"/>
                                        </p:tgtEl>
                                      </p:cBhvr>
                                    </p:animEffect>
                                  </p:childTnLst>
                                </p:cTn>
                              </p:par>
                              <p:par>
                                <p:cTn id="58" presetID="10" presetClass="entr" presetSubtype="0" fill="hold" nodeType="withEffect">
                                  <p:stCondLst>
                                    <p:cond delay="500"/>
                                  </p:stCondLst>
                                  <p:childTnLst>
                                    <p:set>
                                      <p:cBhvr>
                                        <p:cTn id="59" dur="1" fill="hold">
                                          <p:stCondLst>
                                            <p:cond delay="0"/>
                                          </p:stCondLst>
                                        </p:cTn>
                                        <p:tgtEl>
                                          <p:spTgt spid="8903"/>
                                        </p:tgtEl>
                                        <p:attrNameLst>
                                          <p:attrName>style.visibility</p:attrName>
                                        </p:attrNameLst>
                                      </p:cBhvr>
                                      <p:to>
                                        <p:strVal val="visible"/>
                                      </p:to>
                                    </p:set>
                                    <p:animEffect transition="in" filter="fade">
                                      <p:cBhvr>
                                        <p:cTn id="60" dur="500"/>
                                        <p:tgtEl>
                                          <p:spTgt spid="8903"/>
                                        </p:tgtEl>
                                      </p:cBhvr>
                                    </p:animEffect>
                                  </p:childTnLst>
                                </p:cTn>
                              </p:par>
                              <p:par>
                                <p:cTn id="61" presetID="10" presetClass="entr" presetSubtype="0" fill="hold" nodeType="withEffect">
                                  <p:stCondLst>
                                    <p:cond delay="500"/>
                                  </p:stCondLst>
                                  <p:childTnLst>
                                    <p:set>
                                      <p:cBhvr>
                                        <p:cTn id="62" dur="1" fill="hold">
                                          <p:stCondLst>
                                            <p:cond delay="0"/>
                                          </p:stCondLst>
                                        </p:cTn>
                                        <p:tgtEl>
                                          <p:spTgt spid="8904"/>
                                        </p:tgtEl>
                                        <p:attrNameLst>
                                          <p:attrName>style.visibility</p:attrName>
                                        </p:attrNameLst>
                                      </p:cBhvr>
                                      <p:to>
                                        <p:strVal val="visible"/>
                                      </p:to>
                                    </p:set>
                                    <p:animEffect transition="in" filter="fade">
                                      <p:cBhvr>
                                        <p:cTn id="63" dur="500"/>
                                        <p:tgtEl>
                                          <p:spTgt spid="8904"/>
                                        </p:tgtEl>
                                      </p:cBhvr>
                                    </p:animEffect>
                                  </p:childTnLst>
                                </p:cTn>
                              </p:par>
                              <p:par>
                                <p:cTn id="64" presetID="10" presetClass="entr" presetSubtype="0" fill="hold" nodeType="withEffect">
                                  <p:stCondLst>
                                    <p:cond delay="500"/>
                                  </p:stCondLst>
                                  <p:childTnLst>
                                    <p:set>
                                      <p:cBhvr>
                                        <p:cTn id="65" dur="1" fill="hold">
                                          <p:stCondLst>
                                            <p:cond delay="0"/>
                                          </p:stCondLst>
                                        </p:cTn>
                                        <p:tgtEl>
                                          <p:spTgt spid="8905"/>
                                        </p:tgtEl>
                                        <p:attrNameLst>
                                          <p:attrName>style.visibility</p:attrName>
                                        </p:attrNameLst>
                                      </p:cBhvr>
                                      <p:to>
                                        <p:strVal val="visible"/>
                                      </p:to>
                                    </p:set>
                                    <p:animEffect transition="in" filter="fade">
                                      <p:cBhvr>
                                        <p:cTn id="66" dur="500"/>
                                        <p:tgtEl>
                                          <p:spTgt spid="8905"/>
                                        </p:tgtEl>
                                      </p:cBhvr>
                                    </p:animEffect>
                                  </p:childTnLst>
                                </p:cTn>
                              </p:par>
                              <p:par>
                                <p:cTn id="67" presetID="10" presetClass="entr" presetSubtype="0" fill="hold" nodeType="withEffect">
                                  <p:stCondLst>
                                    <p:cond delay="500"/>
                                  </p:stCondLst>
                                  <p:childTnLst>
                                    <p:set>
                                      <p:cBhvr>
                                        <p:cTn id="68" dur="1" fill="hold">
                                          <p:stCondLst>
                                            <p:cond delay="0"/>
                                          </p:stCondLst>
                                        </p:cTn>
                                        <p:tgtEl>
                                          <p:spTgt spid="8906"/>
                                        </p:tgtEl>
                                        <p:attrNameLst>
                                          <p:attrName>style.visibility</p:attrName>
                                        </p:attrNameLst>
                                      </p:cBhvr>
                                      <p:to>
                                        <p:strVal val="visible"/>
                                      </p:to>
                                    </p:set>
                                    <p:animEffect transition="in" filter="fade">
                                      <p:cBhvr>
                                        <p:cTn id="69" dur="500"/>
                                        <p:tgtEl>
                                          <p:spTgt spid="8906"/>
                                        </p:tgtEl>
                                      </p:cBhvr>
                                    </p:animEffect>
                                  </p:childTnLst>
                                </p:cTn>
                              </p:par>
                              <p:par>
                                <p:cTn id="70" presetID="10" presetClass="entr" presetSubtype="0" fill="hold" nodeType="withEffect">
                                  <p:stCondLst>
                                    <p:cond delay="500"/>
                                  </p:stCondLst>
                                  <p:childTnLst>
                                    <p:set>
                                      <p:cBhvr>
                                        <p:cTn id="71" dur="1" fill="hold">
                                          <p:stCondLst>
                                            <p:cond delay="0"/>
                                          </p:stCondLst>
                                        </p:cTn>
                                        <p:tgtEl>
                                          <p:spTgt spid="8917"/>
                                        </p:tgtEl>
                                        <p:attrNameLst>
                                          <p:attrName>style.visibility</p:attrName>
                                        </p:attrNameLst>
                                      </p:cBhvr>
                                      <p:to>
                                        <p:strVal val="visible"/>
                                      </p:to>
                                    </p:set>
                                    <p:animEffect transition="in" filter="fade">
                                      <p:cBhvr>
                                        <p:cTn id="72" dur="500"/>
                                        <p:tgtEl>
                                          <p:spTgt spid="8917"/>
                                        </p:tgtEl>
                                      </p:cBhvr>
                                    </p:animEffect>
                                  </p:childTnLst>
                                </p:cTn>
                              </p:par>
                            </p:childTnLst>
                          </p:cTn>
                        </p:par>
                        <p:par>
                          <p:cTn id="73" fill="hold">
                            <p:stCondLst>
                              <p:cond delay="3000"/>
                            </p:stCondLst>
                            <p:childTnLst>
                              <p:par>
                                <p:cTn id="74" presetID="10" presetClass="entr" presetSubtype="0" fill="hold" nodeType="afterEffect">
                                  <p:stCondLst>
                                    <p:cond delay="0"/>
                                  </p:stCondLst>
                                  <p:childTnLst>
                                    <p:set>
                                      <p:cBhvr>
                                        <p:cTn id="75" dur="1" fill="hold">
                                          <p:stCondLst>
                                            <p:cond delay="0"/>
                                          </p:stCondLst>
                                        </p:cTn>
                                        <p:tgtEl>
                                          <p:spTgt spid="8907"/>
                                        </p:tgtEl>
                                        <p:attrNameLst>
                                          <p:attrName>style.visibility</p:attrName>
                                        </p:attrNameLst>
                                      </p:cBhvr>
                                      <p:to>
                                        <p:strVal val="visible"/>
                                      </p:to>
                                    </p:set>
                                    <p:animEffect transition="in" filter="fade">
                                      <p:cBhvr>
                                        <p:cTn id="76" dur="500"/>
                                        <p:tgtEl>
                                          <p:spTgt spid="8907"/>
                                        </p:tgtEl>
                                      </p:cBhvr>
                                    </p:animEffect>
                                  </p:childTnLst>
                                </p:cTn>
                              </p:par>
                              <p:par>
                                <p:cTn id="77" presetID="10" presetClass="entr" presetSubtype="0" fill="hold" nodeType="withEffect">
                                  <p:stCondLst>
                                    <p:cond delay="0"/>
                                  </p:stCondLst>
                                  <p:childTnLst>
                                    <p:set>
                                      <p:cBhvr>
                                        <p:cTn id="78" dur="1" fill="hold">
                                          <p:stCondLst>
                                            <p:cond delay="0"/>
                                          </p:stCondLst>
                                        </p:cTn>
                                        <p:tgtEl>
                                          <p:spTgt spid="8909"/>
                                        </p:tgtEl>
                                        <p:attrNameLst>
                                          <p:attrName>style.visibility</p:attrName>
                                        </p:attrNameLst>
                                      </p:cBhvr>
                                      <p:to>
                                        <p:strVal val="visible"/>
                                      </p:to>
                                    </p:set>
                                    <p:animEffect transition="in" filter="fade">
                                      <p:cBhvr>
                                        <p:cTn id="79" dur="500"/>
                                        <p:tgtEl>
                                          <p:spTgt spid="8909"/>
                                        </p:tgtEl>
                                      </p:cBhvr>
                                    </p:animEffect>
                                  </p:childTnLst>
                                </p:cTn>
                              </p:par>
                            </p:childTnLst>
                          </p:cTn>
                        </p:par>
                        <p:par>
                          <p:cTn id="80" fill="hold">
                            <p:stCondLst>
                              <p:cond delay="3500"/>
                            </p:stCondLst>
                            <p:childTnLst>
                              <p:par>
                                <p:cTn id="81" presetID="10" presetClass="entr" presetSubtype="0" fill="hold" nodeType="afterEffect">
                                  <p:stCondLst>
                                    <p:cond delay="0"/>
                                  </p:stCondLst>
                                  <p:childTnLst>
                                    <p:set>
                                      <p:cBhvr>
                                        <p:cTn id="82" dur="1" fill="hold">
                                          <p:stCondLst>
                                            <p:cond delay="0"/>
                                          </p:stCondLst>
                                        </p:cTn>
                                        <p:tgtEl>
                                          <p:spTgt spid="8915"/>
                                        </p:tgtEl>
                                        <p:attrNameLst>
                                          <p:attrName>style.visibility</p:attrName>
                                        </p:attrNameLst>
                                      </p:cBhvr>
                                      <p:to>
                                        <p:strVal val="visible"/>
                                      </p:to>
                                    </p:set>
                                    <p:animEffect transition="in" filter="fade">
                                      <p:cBhvr>
                                        <p:cTn id="83" dur="500"/>
                                        <p:tgtEl>
                                          <p:spTgt spid="8915"/>
                                        </p:tgtEl>
                                      </p:cBhvr>
                                    </p:animEffect>
                                  </p:childTnLst>
                                </p:cTn>
                              </p:par>
                              <p:par>
                                <p:cTn id="84" presetID="10" presetClass="entr" presetSubtype="0" fill="hold" nodeType="withEffect">
                                  <p:stCondLst>
                                    <p:cond delay="0"/>
                                  </p:stCondLst>
                                  <p:childTnLst>
                                    <p:set>
                                      <p:cBhvr>
                                        <p:cTn id="85" dur="1" fill="hold">
                                          <p:stCondLst>
                                            <p:cond delay="0"/>
                                          </p:stCondLst>
                                        </p:cTn>
                                        <p:tgtEl>
                                          <p:spTgt spid="8908"/>
                                        </p:tgtEl>
                                        <p:attrNameLst>
                                          <p:attrName>style.visibility</p:attrName>
                                        </p:attrNameLst>
                                      </p:cBhvr>
                                      <p:to>
                                        <p:strVal val="visible"/>
                                      </p:to>
                                    </p:set>
                                    <p:animEffect transition="in" filter="fade">
                                      <p:cBhvr>
                                        <p:cTn id="86" dur="500"/>
                                        <p:tgtEl>
                                          <p:spTgt spid="8908"/>
                                        </p:tgtEl>
                                      </p:cBhvr>
                                    </p:animEffect>
                                  </p:childTnLst>
                                </p:cTn>
                              </p:par>
                              <p:par>
                                <p:cTn id="87" presetID="10" presetClass="entr" presetSubtype="0" fill="hold" nodeType="withEffect">
                                  <p:stCondLst>
                                    <p:cond delay="0"/>
                                  </p:stCondLst>
                                  <p:childTnLst>
                                    <p:set>
                                      <p:cBhvr>
                                        <p:cTn id="88" dur="1" fill="hold">
                                          <p:stCondLst>
                                            <p:cond delay="0"/>
                                          </p:stCondLst>
                                        </p:cTn>
                                        <p:tgtEl>
                                          <p:spTgt spid="8916"/>
                                        </p:tgtEl>
                                        <p:attrNameLst>
                                          <p:attrName>style.visibility</p:attrName>
                                        </p:attrNameLst>
                                      </p:cBhvr>
                                      <p:to>
                                        <p:strVal val="visible"/>
                                      </p:to>
                                    </p:set>
                                    <p:animEffect transition="in" filter="fade">
                                      <p:cBhvr>
                                        <p:cTn id="89" dur="500"/>
                                        <p:tgtEl>
                                          <p:spTgt spid="8916"/>
                                        </p:tgtEl>
                                      </p:cBhvr>
                                    </p:animEffect>
                                  </p:childTnLst>
                                </p:cTn>
                              </p:par>
                            </p:childTnLst>
                          </p:cTn>
                        </p:par>
                        <p:par>
                          <p:cTn id="90" fill="hold">
                            <p:stCondLst>
                              <p:cond delay="4000"/>
                            </p:stCondLst>
                            <p:childTnLst>
                              <p:par>
                                <p:cTn id="91" presetID="10" presetClass="entr" presetSubtype="0" fill="hold" nodeType="afterEffect">
                                  <p:stCondLst>
                                    <p:cond delay="0"/>
                                  </p:stCondLst>
                                  <p:childTnLst>
                                    <p:set>
                                      <p:cBhvr>
                                        <p:cTn id="92" dur="1" fill="hold">
                                          <p:stCondLst>
                                            <p:cond delay="0"/>
                                          </p:stCondLst>
                                        </p:cTn>
                                        <p:tgtEl>
                                          <p:spTgt spid="8929"/>
                                        </p:tgtEl>
                                        <p:attrNameLst>
                                          <p:attrName>style.visibility</p:attrName>
                                        </p:attrNameLst>
                                      </p:cBhvr>
                                      <p:to>
                                        <p:strVal val="visible"/>
                                      </p:to>
                                    </p:set>
                                    <p:animEffect transition="in" filter="fade">
                                      <p:cBhvr>
                                        <p:cTn id="93" dur="500"/>
                                        <p:tgtEl>
                                          <p:spTgt spid="8929"/>
                                        </p:tgtEl>
                                      </p:cBhvr>
                                    </p:animEffect>
                                  </p:childTnLst>
                                </p:cTn>
                              </p:par>
                            </p:childTnLst>
                          </p:cTn>
                        </p:par>
                        <p:par>
                          <p:cTn id="94" fill="hold">
                            <p:stCondLst>
                              <p:cond delay="4500"/>
                            </p:stCondLst>
                            <p:childTnLst>
                              <p:par>
                                <p:cTn id="95" presetID="10" presetClass="entr" presetSubtype="0" fill="hold" nodeType="afterEffect">
                                  <p:stCondLst>
                                    <p:cond delay="500"/>
                                  </p:stCondLst>
                                  <p:childTnLst>
                                    <p:set>
                                      <p:cBhvr>
                                        <p:cTn id="96" dur="1" fill="hold">
                                          <p:stCondLst>
                                            <p:cond delay="0"/>
                                          </p:stCondLst>
                                        </p:cTn>
                                        <p:tgtEl>
                                          <p:spTgt spid="8778"/>
                                        </p:tgtEl>
                                        <p:attrNameLst>
                                          <p:attrName>style.visibility</p:attrName>
                                        </p:attrNameLst>
                                      </p:cBhvr>
                                      <p:to>
                                        <p:strVal val="visible"/>
                                      </p:to>
                                    </p:set>
                                    <p:animEffect transition="in" filter="fade">
                                      <p:cBhvr>
                                        <p:cTn id="97" dur="500"/>
                                        <p:tgtEl>
                                          <p:spTgt spid="8778"/>
                                        </p:tgtEl>
                                      </p:cBhvr>
                                    </p:animEffect>
                                  </p:childTnLst>
                                </p:cTn>
                              </p:par>
                              <p:par>
                                <p:cTn id="98" presetID="10" presetClass="entr" presetSubtype="0" fill="hold" nodeType="withEffect">
                                  <p:stCondLst>
                                    <p:cond delay="500"/>
                                  </p:stCondLst>
                                  <p:childTnLst>
                                    <p:set>
                                      <p:cBhvr>
                                        <p:cTn id="99" dur="1" fill="hold">
                                          <p:stCondLst>
                                            <p:cond delay="0"/>
                                          </p:stCondLst>
                                        </p:cTn>
                                        <p:tgtEl>
                                          <p:spTgt spid="8841"/>
                                        </p:tgtEl>
                                        <p:attrNameLst>
                                          <p:attrName>style.visibility</p:attrName>
                                        </p:attrNameLst>
                                      </p:cBhvr>
                                      <p:to>
                                        <p:strVal val="visible"/>
                                      </p:to>
                                    </p:set>
                                    <p:animEffect transition="in" filter="fade">
                                      <p:cBhvr>
                                        <p:cTn id="100" dur="500"/>
                                        <p:tgtEl>
                                          <p:spTgt spid="8841"/>
                                        </p:tgtEl>
                                      </p:cBhvr>
                                    </p:animEffect>
                                  </p:childTnLst>
                                </p:cTn>
                              </p:par>
                            </p:childTnLst>
                          </p:cTn>
                        </p:par>
                        <p:par>
                          <p:cTn id="101" fill="hold">
                            <p:stCondLst>
                              <p:cond delay="5000"/>
                            </p:stCondLst>
                            <p:childTnLst>
                              <p:par>
                                <p:cTn id="102" presetID="10" presetClass="entr" presetSubtype="0" fill="hold" nodeType="afterEffect">
                                  <p:stCondLst>
                                    <p:cond delay="0"/>
                                  </p:stCondLst>
                                  <p:childTnLst>
                                    <p:set>
                                      <p:cBhvr>
                                        <p:cTn id="103" dur="1" fill="hold">
                                          <p:stCondLst>
                                            <p:cond delay="0"/>
                                          </p:stCondLst>
                                        </p:cTn>
                                        <p:tgtEl>
                                          <p:spTgt spid="8930"/>
                                        </p:tgtEl>
                                        <p:attrNameLst>
                                          <p:attrName>style.visibility</p:attrName>
                                        </p:attrNameLst>
                                      </p:cBhvr>
                                      <p:to>
                                        <p:strVal val="visible"/>
                                      </p:to>
                                    </p:set>
                                    <p:animEffect transition="in" filter="fade">
                                      <p:cBhvr>
                                        <p:cTn id="104" dur="500"/>
                                        <p:tgtEl>
                                          <p:spTgt spid="8930"/>
                                        </p:tgtEl>
                                      </p:cBhvr>
                                    </p:animEffect>
                                  </p:childTnLst>
                                </p:cTn>
                              </p:par>
                            </p:childTnLst>
                          </p:cTn>
                        </p:par>
                        <p:par>
                          <p:cTn id="105" fill="hold">
                            <p:stCondLst>
                              <p:cond delay="5500"/>
                            </p:stCondLst>
                            <p:childTnLst>
                              <p:par>
                                <p:cTn id="106" presetID="10" presetClass="entr" presetSubtype="0" fill="hold" nodeType="afterEffect">
                                  <p:stCondLst>
                                    <p:cond delay="500"/>
                                  </p:stCondLst>
                                  <p:childTnLst>
                                    <p:set>
                                      <p:cBhvr>
                                        <p:cTn id="107" dur="1" fill="hold">
                                          <p:stCondLst>
                                            <p:cond delay="0"/>
                                          </p:stCondLst>
                                        </p:cTn>
                                        <p:tgtEl>
                                          <p:spTgt spid="8842"/>
                                        </p:tgtEl>
                                        <p:attrNameLst>
                                          <p:attrName>style.visibility</p:attrName>
                                        </p:attrNameLst>
                                      </p:cBhvr>
                                      <p:to>
                                        <p:strVal val="visible"/>
                                      </p:to>
                                    </p:set>
                                    <p:animEffect transition="in" filter="fade">
                                      <p:cBhvr>
                                        <p:cTn id="108" dur="500"/>
                                        <p:tgtEl>
                                          <p:spTgt spid="8842"/>
                                        </p:tgtEl>
                                      </p:cBhvr>
                                    </p:animEffect>
                                  </p:childTnLst>
                                </p:cTn>
                              </p:par>
                              <p:par>
                                <p:cTn id="109" presetID="10" presetClass="entr" presetSubtype="0" fill="hold" nodeType="withEffect">
                                  <p:stCondLst>
                                    <p:cond delay="500"/>
                                  </p:stCondLst>
                                  <p:childTnLst>
                                    <p:set>
                                      <p:cBhvr>
                                        <p:cTn id="110" dur="1" fill="hold">
                                          <p:stCondLst>
                                            <p:cond delay="0"/>
                                          </p:stCondLst>
                                        </p:cTn>
                                        <p:tgtEl>
                                          <p:spTgt spid="8849"/>
                                        </p:tgtEl>
                                        <p:attrNameLst>
                                          <p:attrName>style.visibility</p:attrName>
                                        </p:attrNameLst>
                                      </p:cBhvr>
                                      <p:to>
                                        <p:strVal val="visible"/>
                                      </p:to>
                                    </p:set>
                                    <p:animEffect transition="in" filter="fade">
                                      <p:cBhvr>
                                        <p:cTn id="111" dur="500"/>
                                        <p:tgtEl>
                                          <p:spTgt spid="8849"/>
                                        </p:tgtEl>
                                      </p:cBhvr>
                                    </p:animEffect>
                                  </p:childTnLst>
                                </p:cTn>
                              </p:par>
                            </p:childTnLst>
                          </p:cTn>
                        </p:par>
                        <p:par>
                          <p:cTn id="112" fill="hold">
                            <p:stCondLst>
                              <p:cond delay="6000"/>
                            </p:stCondLst>
                            <p:childTnLst>
                              <p:par>
                                <p:cTn id="113" presetID="10" presetClass="entr" presetSubtype="0" fill="hold" nodeType="afterEffect">
                                  <p:stCondLst>
                                    <p:cond delay="0"/>
                                  </p:stCondLst>
                                  <p:childTnLst>
                                    <p:set>
                                      <p:cBhvr>
                                        <p:cTn id="114" dur="1" fill="hold">
                                          <p:stCondLst>
                                            <p:cond delay="0"/>
                                          </p:stCondLst>
                                        </p:cTn>
                                        <p:tgtEl>
                                          <p:spTgt spid="8850"/>
                                        </p:tgtEl>
                                        <p:attrNameLst>
                                          <p:attrName>style.visibility</p:attrName>
                                        </p:attrNameLst>
                                      </p:cBhvr>
                                      <p:to>
                                        <p:strVal val="visible"/>
                                      </p:to>
                                    </p:set>
                                    <p:animEffect transition="in" filter="fade">
                                      <p:cBhvr>
                                        <p:cTn id="115" dur="500"/>
                                        <p:tgtEl>
                                          <p:spTgt spid="8850"/>
                                        </p:tgtEl>
                                      </p:cBhvr>
                                    </p:animEffect>
                                  </p:childTnLst>
                                </p:cTn>
                              </p:par>
                            </p:childTnLst>
                          </p:cTn>
                        </p:par>
                        <p:par>
                          <p:cTn id="116" fill="hold">
                            <p:stCondLst>
                              <p:cond delay="6500"/>
                            </p:stCondLst>
                            <p:childTnLst>
                              <p:par>
                                <p:cTn id="117" presetID="10" presetClass="entr" presetSubtype="0" fill="hold" nodeType="afterEffect">
                                  <p:stCondLst>
                                    <p:cond delay="0"/>
                                  </p:stCondLst>
                                  <p:childTnLst>
                                    <p:set>
                                      <p:cBhvr>
                                        <p:cTn id="118" dur="1" fill="hold">
                                          <p:stCondLst>
                                            <p:cond delay="0"/>
                                          </p:stCondLst>
                                        </p:cTn>
                                        <p:tgtEl>
                                          <p:spTgt spid="8845"/>
                                        </p:tgtEl>
                                        <p:attrNameLst>
                                          <p:attrName>style.visibility</p:attrName>
                                        </p:attrNameLst>
                                      </p:cBhvr>
                                      <p:to>
                                        <p:strVal val="visible"/>
                                      </p:to>
                                    </p:set>
                                    <p:animEffect transition="in" filter="fade">
                                      <p:cBhvr>
                                        <p:cTn id="119" dur="500"/>
                                        <p:tgtEl>
                                          <p:spTgt spid="8845"/>
                                        </p:tgtEl>
                                      </p:cBhvr>
                                    </p:animEffect>
                                  </p:childTnLst>
                                </p:cTn>
                              </p:par>
                            </p:childTnLst>
                          </p:cTn>
                        </p:par>
                        <p:par>
                          <p:cTn id="120" fill="hold">
                            <p:stCondLst>
                              <p:cond delay="7000"/>
                            </p:stCondLst>
                            <p:childTnLst>
                              <p:par>
                                <p:cTn id="121" presetID="10" presetClass="entr" presetSubtype="0" fill="hold" nodeType="afterEffect">
                                  <p:stCondLst>
                                    <p:cond delay="0"/>
                                  </p:stCondLst>
                                  <p:childTnLst>
                                    <p:set>
                                      <p:cBhvr>
                                        <p:cTn id="122" dur="1" fill="hold">
                                          <p:stCondLst>
                                            <p:cond delay="0"/>
                                          </p:stCondLst>
                                        </p:cTn>
                                        <p:tgtEl>
                                          <p:spTgt spid="8934"/>
                                        </p:tgtEl>
                                        <p:attrNameLst>
                                          <p:attrName>style.visibility</p:attrName>
                                        </p:attrNameLst>
                                      </p:cBhvr>
                                      <p:to>
                                        <p:strVal val="visible"/>
                                      </p:to>
                                    </p:set>
                                    <p:animEffect transition="in" filter="fade">
                                      <p:cBhvr>
                                        <p:cTn id="123" dur="500"/>
                                        <p:tgtEl>
                                          <p:spTgt spid="8934"/>
                                        </p:tgtEl>
                                      </p:cBhvr>
                                    </p:animEffect>
                                  </p:childTnLst>
                                </p:cTn>
                              </p:par>
                            </p:childTnLst>
                          </p:cTn>
                        </p:par>
                        <p:par>
                          <p:cTn id="124" fill="hold">
                            <p:stCondLst>
                              <p:cond delay="7500"/>
                            </p:stCondLst>
                            <p:childTnLst>
                              <p:par>
                                <p:cTn id="125" presetID="10" presetClass="entr" presetSubtype="0" fill="hold" nodeType="afterEffect">
                                  <p:stCondLst>
                                    <p:cond delay="500"/>
                                  </p:stCondLst>
                                  <p:childTnLst>
                                    <p:set>
                                      <p:cBhvr>
                                        <p:cTn id="126" dur="1" fill="hold">
                                          <p:stCondLst>
                                            <p:cond delay="0"/>
                                          </p:stCondLst>
                                        </p:cTn>
                                        <p:tgtEl>
                                          <p:spTgt spid="8935"/>
                                        </p:tgtEl>
                                        <p:attrNameLst>
                                          <p:attrName>style.visibility</p:attrName>
                                        </p:attrNameLst>
                                      </p:cBhvr>
                                      <p:to>
                                        <p:strVal val="visible"/>
                                      </p:to>
                                    </p:set>
                                    <p:animEffect transition="in" filter="fade">
                                      <p:cBhvr>
                                        <p:cTn id="127" dur="500"/>
                                        <p:tgtEl>
                                          <p:spTgt spid="8935"/>
                                        </p:tgtEl>
                                      </p:cBhvr>
                                    </p:animEffect>
                                  </p:childTnLst>
                                </p:cTn>
                              </p:par>
                            </p:childTnLst>
                          </p:cTn>
                        </p:par>
                        <p:par>
                          <p:cTn id="128" fill="hold">
                            <p:stCondLst>
                              <p:cond delay="8000"/>
                            </p:stCondLst>
                            <p:childTnLst>
                              <p:par>
                                <p:cTn id="129" presetID="10" presetClass="entr" presetSubtype="0" fill="hold" nodeType="afterEffect">
                                  <p:stCondLst>
                                    <p:cond delay="0"/>
                                  </p:stCondLst>
                                  <p:childTnLst>
                                    <p:set>
                                      <p:cBhvr>
                                        <p:cTn id="130" dur="1" fill="hold">
                                          <p:stCondLst>
                                            <p:cond delay="0"/>
                                          </p:stCondLst>
                                        </p:cTn>
                                        <p:tgtEl>
                                          <p:spTgt spid="8943"/>
                                        </p:tgtEl>
                                        <p:attrNameLst>
                                          <p:attrName>style.visibility</p:attrName>
                                        </p:attrNameLst>
                                      </p:cBhvr>
                                      <p:to>
                                        <p:strVal val="visible"/>
                                      </p:to>
                                    </p:set>
                                    <p:animEffect transition="in" filter="fade">
                                      <p:cBhvr>
                                        <p:cTn id="131" dur="500"/>
                                        <p:tgtEl>
                                          <p:spTgt spid="8943"/>
                                        </p:tgtEl>
                                      </p:cBhvr>
                                    </p:animEffect>
                                  </p:childTnLst>
                                </p:cTn>
                              </p:par>
                            </p:childTnLst>
                          </p:cTn>
                        </p:par>
                        <p:par>
                          <p:cTn id="132" fill="hold">
                            <p:stCondLst>
                              <p:cond delay="8500"/>
                            </p:stCondLst>
                            <p:childTnLst>
                              <p:par>
                                <p:cTn id="133" presetID="10" presetClass="entr" presetSubtype="0" fill="hold" nodeType="afterEffect">
                                  <p:stCondLst>
                                    <p:cond delay="0"/>
                                  </p:stCondLst>
                                  <p:childTnLst>
                                    <p:set>
                                      <p:cBhvr>
                                        <p:cTn id="134" dur="1" fill="hold">
                                          <p:stCondLst>
                                            <p:cond delay="0"/>
                                          </p:stCondLst>
                                        </p:cTn>
                                        <p:tgtEl>
                                          <p:spTgt spid="8944"/>
                                        </p:tgtEl>
                                        <p:attrNameLst>
                                          <p:attrName>style.visibility</p:attrName>
                                        </p:attrNameLst>
                                      </p:cBhvr>
                                      <p:to>
                                        <p:strVal val="visible"/>
                                      </p:to>
                                    </p:set>
                                    <p:animEffect transition="in" filter="fade">
                                      <p:cBhvr>
                                        <p:cTn id="135" dur="500"/>
                                        <p:tgtEl>
                                          <p:spTgt spid="8944"/>
                                        </p:tgtEl>
                                      </p:cBhvr>
                                    </p:animEffect>
                                  </p:childTnLst>
                                </p:cTn>
                              </p:par>
                            </p:childTnLst>
                          </p:cTn>
                        </p:par>
                        <p:par>
                          <p:cTn id="136" fill="hold">
                            <p:stCondLst>
                              <p:cond delay="9000"/>
                            </p:stCondLst>
                            <p:childTnLst>
                              <p:par>
                                <p:cTn id="137" presetID="10" presetClass="entr" presetSubtype="0" fill="hold" nodeType="afterEffect">
                                  <p:stCondLst>
                                    <p:cond delay="0"/>
                                  </p:stCondLst>
                                  <p:childTnLst>
                                    <p:set>
                                      <p:cBhvr>
                                        <p:cTn id="138" dur="1" fill="hold">
                                          <p:stCondLst>
                                            <p:cond delay="0"/>
                                          </p:stCondLst>
                                        </p:cTn>
                                        <p:tgtEl>
                                          <p:spTgt spid="8947"/>
                                        </p:tgtEl>
                                        <p:attrNameLst>
                                          <p:attrName>style.visibility</p:attrName>
                                        </p:attrNameLst>
                                      </p:cBhvr>
                                      <p:to>
                                        <p:strVal val="visible"/>
                                      </p:to>
                                    </p:set>
                                    <p:animEffect transition="in" filter="fade">
                                      <p:cBhvr>
                                        <p:cTn id="139" dur="500"/>
                                        <p:tgtEl>
                                          <p:spTgt spid="8947"/>
                                        </p:tgtEl>
                                      </p:cBhvr>
                                    </p:animEffect>
                                  </p:childTnLst>
                                </p:cTn>
                              </p:par>
                            </p:childTnLst>
                          </p:cTn>
                        </p:par>
                        <p:par>
                          <p:cTn id="140" fill="hold">
                            <p:stCondLst>
                              <p:cond delay="9500"/>
                            </p:stCondLst>
                            <p:childTnLst>
                              <p:par>
                                <p:cTn id="141" presetID="10" presetClass="entr" presetSubtype="0" fill="hold" nodeType="afterEffect">
                                  <p:stCondLst>
                                    <p:cond delay="0"/>
                                  </p:stCondLst>
                                  <p:childTnLst>
                                    <p:set>
                                      <p:cBhvr>
                                        <p:cTn id="142" dur="1" fill="hold">
                                          <p:stCondLst>
                                            <p:cond delay="0"/>
                                          </p:stCondLst>
                                        </p:cTn>
                                        <p:tgtEl>
                                          <p:spTgt spid="8948"/>
                                        </p:tgtEl>
                                        <p:attrNameLst>
                                          <p:attrName>style.visibility</p:attrName>
                                        </p:attrNameLst>
                                      </p:cBhvr>
                                      <p:to>
                                        <p:strVal val="visible"/>
                                      </p:to>
                                    </p:set>
                                    <p:animEffect transition="in" filter="fade">
                                      <p:cBhvr>
                                        <p:cTn id="143" dur="500"/>
                                        <p:tgtEl>
                                          <p:spTgt spid="8948"/>
                                        </p:tgtEl>
                                      </p:cBhvr>
                                    </p:animEffect>
                                  </p:childTnLst>
                                </p:cTn>
                              </p:par>
                            </p:childTnLst>
                          </p:cTn>
                        </p:par>
                        <p:par>
                          <p:cTn id="144" fill="hold">
                            <p:stCondLst>
                              <p:cond delay="10000"/>
                            </p:stCondLst>
                            <p:childTnLst>
                              <p:par>
                                <p:cTn id="145" presetID="10" presetClass="entr" presetSubtype="0" fill="hold" nodeType="afterEffect">
                                  <p:stCondLst>
                                    <p:cond delay="0"/>
                                  </p:stCondLst>
                                  <p:childTnLst>
                                    <p:set>
                                      <p:cBhvr>
                                        <p:cTn id="146" dur="1" fill="hold">
                                          <p:stCondLst>
                                            <p:cond delay="0"/>
                                          </p:stCondLst>
                                        </p:cTn>
                                        <p:tgtEl>
                                          <p:spTgt spid="8949"/>
                                        </p:tgtEl>
                                        <p:attrNameLst>
                                          <p:attrName>style.visibility</p:attrName>
                                        </p:attrNameLst>
                                      </p:cBhvr>
                                      <p:to>
                                        <p:strVal val="visible"/>
                                      </p:to>
                                    </p:set>
                                    <p:animEffect transition="in" filter="fade">
                                      <p:cBhvr>
                                        <p:cTn id="147" dur="500"/>
                                        <p:tgtEl>
                                          <p:spTgt spid="8949"/>
                                        </p:tgtEl>
                                      </p:cBhvr>
                                    </p:animEffect>
                                  </p:childTnLst>
                                </p:cTn>
                              </p:par>
                            </p:childTnLst>
                          </p:cTn>
                        </p:par>
                        <p:par>
                          <p:cTn id="148" fill="hold">
                            <p:stCondLst>
                              <p:cond delay="10500"/>
                            </p:stCondLst>
                            <p:childTnLst>
                              <p:par>
                                <p:cTn id="149" presetID="10" presetClass="entr" presetSubtype="0" fill="hold" nodeType="afterEffect">
                                  <p:stCondLst>
                                    <p:cond delay="0"/>
                                  </p:stCondLst>
                                  <p:childTnLst>
                                    <p:set>
                                      <p:cBhvr>
                                        <p:cTn id="150" dur="1" fill="hold">
                                          <p:stCondLst>
                                            <p:cond delay="0"/>
                                          </p:stCondLst>
                                        </p:cTn>
                                        <p:tgtEl>
                                          <p:spTgt spid="8951"/>
                                        </p:tgtEl>
                                        <p:attrNameLst>
                                          <p:attrName>style.visibility</p:attrName>
                                        </p:attrNameLst>
                                      </p:cBhvr>
                                      <p:to>
                                        <p:strVal val="visible"/>
                                      </p:to>
                                    </p:set>
                                    <p:animEffect transition="in" filter="fade">
                                      <p:cBhvr>
                                        <p:cTn id="151" dur="500"/>
                                        <p:tgtEl>
                                          <p:spTgt spid="8951"/>
                                        </p:tgtEl>
                                      </p:cBhvr>
                                    </p:animEffect>
                                  </p:childTnLst>
                                </p:cTn>
                              </p:par>
                            </p:childTnLst>
                          </p:cTn>
                        </p:par>
                        <p:par>
                          <p:cTn id="152" fill="hold">
                            <p:stCondLst>
                              <p:cond delay="11000"/>
                            </p:stCondLst>
                            <p:childTnLst>
                              <p:par>
                                <p:cTn id="153" presetID="10" presetClass="entr" presetSubtype="0" fill="hold" nodeType="afterEffect">
                                  <p:stCondLst>
                                    <p:cond delay="0"/>
                                  </p:stCondLst>
                                  <p:childTnLst>
                                    <p:set>
                                      <p:cBhvr>
                                        <p:cTn id="154" dur="1" fill="hold">
                                          <p:stCondLst>
                                            <p:cond delay="0"/>
                                          </p:stCondLst>
                                        </p:cTn>
                                        <p:tgtEl>
                                          <p:spTgt spid="8950"/>
                                        </p:tgtEl>
                                        <p:attrNameLst>
                                          <p:attrName>style.visibility</p:attrName>
                                        </p:attrNameLst>
                                      </p:cBhvr>
                                      <p:to>
                                        <p:strVal val="visible"/>
                                      </p:to>
                                    </p:set>
                                    <p:animEffect transition="in" filter="fade">
                                      <p:cBhvr>
                                        <p:cTn id="155" dur="500"/>
                                        <p:tgtEl>
                                          <p:spTgt spid="8950"/>
                                        </p:tgtEl>
                                      </p:cBhvr>
                                    </p:animEffect>
                                  </p:childTnLst>
                                </p:cTn>
                              </p:par>
                            </p:childTnLst>
                          </p:cTn>
                        </p:par>
                        <p:par>
                          <p:cTn id="156" fill="hold">
                            <p:stCondLst>
                              <p:cond delay="11500"/>
                            </p:stCondLst>
                            <p:childTnLst>
                              <p:par>
                                <p:cTn id="157" presetID="10" presetClass="entr" presetSubtype="0" fill="hold" nodeType="afterEffect">
                                  <p:stCondLst>
                                    <p:cond delay="500"/>
                                  </p:stCondLst>
                                  <p:childTnLst>
                                    <p:set>
                                      <p:cBhvr>
                                        <p:cTn id="158" dur="1" fill="hold">
                                          <p:stCondLst>
                                            <p:cond delay="0"/>
                                          </p:stCondLst>
                                        </p:cTn>
                                        <p:tgtEl>
                                          <p:spTgt spid="8803"/>
                                        </p:tgtEl>
                                        <p:attrNameLst>
                                          <p:attrName>style.visibility</p:attrName>
                                        </p:attrNameLst>
                                      </p:cBhvr>
                                      <p:to>
                                        <p:strVal val="visible"/>
                                      </p:to>
                                    </p:set>
                                    <p:animEffect transition="in" filter="fade">
                                      <p:cBhvr>
                                        <p:cTn id="159" dur="250"/>
                                        <p:tgtEl>
                                          <p:spTgt spid="8803"/>
                                        </p:tgtEl>
                                      </p:cBhvr>
                                    </p:animEffect>
                                  </p:childTnLst>
                                </p:cTn>
                              </p:par>
                            </p:childTnLst>
                          </p:cTn>
                        </p:par>
                        <p:par>
                          <p:cTn id="160" fill="hold">
                            <p:stCondLst>
                              <p:cond delay="11750"/>
                            </p:stCondLst>
                            <p:childTnLst>
                              <p:par>
                                <p:cTn id="161" presetID="10" presetClass="entr" presetSubtype="0" fill="hold" nodeType="afterEffect">
                                  <p:stCondLst>
                                    <p:cond delay="0"/>
                                  </p:stCondLst>
                                  <p:childTnLst>
                                    <p:set>
                                      <p:cBhvr>
                                        <p:cTn id="162" dur="1" fill="hold">
                                          <p:stCondLst>
                                            <p:cond delay="0"/>
                                          </p:stCondLst>
                                        </p:cTn>
                                        <p:tgtEl>
                                          <p:spTgt spid="8952"/>
                                        </p:tgtEl>
                                        <p:attrNameLst>
                                          <p:attrName>style.visibility</p:attrName>
                                        </p:attrNameLst>
                                      </p:cBhvr>
                                      <p:to>
                                        <p:strVal val="visible"/>
                                      </p:to>
                                    </p:set>
                                    <p:animEffect transition="in" filter="fade">
                                      <p:cBhvr>
                                        <p:cTn id="163" dur="250"/>
                                        <p:tgtEl>
                                          <p:spTgt spid="8952"/>
                                        </p:tgtEl>
                                      </p:cBhvr>
                                    </p:animEffect>
                                  </p:childTnLst>
                                </p:cTn>
                              </p:par>
                              <p:par>
                                <p:cTn id="164" presetID="10" presetClass="entr" presetSubtype="0" fill="hold" nodeType="withEffect">
                                  <p:stCondLst>
                                    <p:cond delay="0"/>
                                  </p:stCondLst>
                                  <p:childTnLst>
                                    <p:set>
                                      <p:cBhvr>
                                        <p:cTn id="165" dur="1" fill="hold">
                                          <p:stCondLst>
                                            <p:cond delay="0"/>
                                          </p:stCondLst>
                                        </p:cTn>
                                        <p:tgtEl>
                                          <p:spTgt spid="8956"/>
                                        </p:tgtEl>
                                        <p:attrNameLst>
                                          <p:attrName>style.visibility</p:attrName>
                                        </p:attrNameLst>
                                      </p:cBhvr>
                                      <p:to>
                                        <p:strVal val="visible"/>
                                      </p:to>
                                    </p:set>
                                    <p:animEffect transition="in" filter="fade">
                                      <p:cBhvr>
                                        <p:cTn id="166" dur="250"/>
                                        <p:tgtEl>
                                          <p:spTgt spid="8956"/>
                                        </p:tgtEl>
                                      </p:cBhvr>
                                    </p:animEffect>
                                  </p:childTnLst>
                                </p:cTn>
                              </p:par>
                            </p:childTnLst>
                          </p:cTn>
                        </p:par>
                        <p:par>
                          <p:cTn id="167" fill="hold">
                            <p:stCondLst>
                              <p:cond delay="12000"/>
                            </p:stCondLst>
                            <p:childTnLst>
                              <p:par>
                                <p:cTn id="168" presetID="10" presetClass="entr" presetSubtype="0" fill="hold" nodeType="afterEffect">
                                  <p:stCondLst>
                                    <p:cond delay="0"/>
                                  </p:stCondLst>
                                  <p:childTnLst>
                                    <p:set>
                                      <p:cBhvr>
                                        <p:cTn id="169" dur="1" fill="hold">
                                          <p:stCondLst>
                                            <p:cond delay="0"/>
                                          </p:stCondLst>
                                        </p:cTn>
                                        <p:tgtEl>
                                          <p:spTgt spid="8953"/>
                                        </p:tgtEl>
                                        <p:attrNameLst>
                                          <p:attrName>style.visibility</p:attrName>
                                        </p:attrNameLst>
                                      </p:cBhvr>
                                      <p:to>
                                        <p:strVal val="visible"/>
                                      </p:to>
                                    </p:set>
                                    <p:animEffect transition="in" filter="fade">
                                      <p:cBhvr>
                                        <p:cTn id="170" dur="250"/>
                                        <p:tgtEl>
                                          <p:spTgt spid="8953"/>
                                        </p:tgtEl>
                                      </p:cBhvr>
                                    </p:animEffect>
                                  </p:childTnLst>
                                </p:cTn>
                              </p:par>
                              <p:par>
                                <p:cTn id="171" presetID="10" presetClass="entr" presetSubtype="0" fill="hold" nodeType="withEffect">
                                  <p:stCondLst>
                                    <p:cond delay="0"/>
                                  </p:stCondLst>
                                  <p:childTnLst>
                                    <p:set>
                                      <p:cBhvr>
                                        <p:cTn id="172" dur="1" fill="hold">
                                          <p:stCondLst>
                                            <p:cond delay="0"/>
                                          </p:stCondLst>
                                        </p:cTn>
                                        <p:tgtEl>
                                          <p:spTgt spid="8954"/>
                                        </p:tgtEl>
                                        <p:attrNameLst>
                                          <p:attrName>style.visibility</p:attrName>
                                        </p:attrNameLst>
                                      </p:cBhvr>
                                      <p:to>
                                        <p:strVal val="visible"/>
                                      </p:to>
                                    </p:set>
                                    <p:animEffect transition="in" filter="fade">
                                      <p:cBhvr>
                                        <p:cTn id="173" dur="250"/>
                                        <p:tgtEl>
                                          <p:spTgt spid="8954"/>
                                        </p:tgtEl>
                                      </p:cBhvr>
                                    </p:animEffect>
                                  </p:childTnLst>
                                </p:cTn>
                              </p:par>
                            </p:childTnLst>
                          </p:cTn>
                        </p:par>
                        <p:par>
                          <p:cTn id="174" fill="hold">
                            <p:stCondLst>
                              <p:cond delay="12250"/>
                            </p:stCondLst>
                            <p:childTnLst>
                              <p:par>
                                <p:cTn id="175" presetID="10" presetClass="entr" presetSubtype="0" fill="hold" nodeType="afterEffect">
                                  <p:stCondLst>
                                    <p:cond delay="0"/>
                                  </p:stCondLst>
                                  <p:childTnLst>
                                    <p:set>
                                      <p:cBhvr>
                                        <p:cTn id="176" dur="1" fill="hold">
                                          <p:stCondLst>
                                            <p:cond delay="0"/>
                                          </p:stCondLst>
                                        </p:cTn>
                                        <p:tgtEl>
                                          <p:spTgt spid="8795"/>
                                        </p:tgtEl>
                                        <p:attrNameLst>
                                          <p:attrName>style.visibility</p:attrName>
                                        </p:attrNameLst>
                                      </p:cBhvr>
                                      <p:to>
                                        <p:strVal val="visible"/>
                                      </p:to>
                                    </p:set>
                                    <p:animEffect transition="in" filter="fade">
                                      <p:cBhvr>
                                        <p:cTn id="177" dur="500"/>
                                        <p:tgtEl>
                                          <p:spTgt spid="8795"/>
                                        </p:tgtEl>
                                      </p:cBhvr>
                                    </p:animEffect>
                                  </p:childTnLst>
                                </p:cTn>
                              </p:par>
                              <p:par>
                                <p:cTn id="178" presetID="10" presetClass="entr" presetSubtype="0" fill="hold" nodeType="withEffect">
                                  <p:stCondLst>
                                    <p:cond delay="0"/>
                                  </p:stCondLst>
                                  <p:childTnLst>
                                    <p:set>
                                      <p:cBhvr>
                                        <p:cTn id="179" dur="1" fill="hold">
                                          <p:stCondLst>
                                            <p:cond delay="0"/>
                                          </p:stCondLst>
                                        </p:cTn>
                                        <p:tgtEl>
                                          <p:spTgt spid="8804"/>
                                        </p:tgtEl>
                                        <p:attrNameLst>
                                          <p:attrName>style.visibility</p:attrName>
                                        </p:attrNameLst>
                                      </p:cBhvr>
                                      <p:to>
                                        <p:strVal val="visible"/>
                                      </p:to>
                                    </p:set>
                                    <p:animEffect transition="in" filter="fade">
                                      <p:cBhvr>
                                        <p:cTn id="180" dur="500"/>
                                        <p:tgtEl>
                                          <p:spTgt spid="8804"/>
                                        </p:tgtEl>
                                      </p:cBhvr>
                                    </p:animEffect>
                                  </p:childTnLst>
                                </p:cTn>
                              </p:par>
                              <p:par>
                                <p:cTn id="181" presetID="10" presetClass="entr" presetSubtype="0" fill="hold" nodeType="withEffect">
                                  <p:stCondLst>
                                    <p:cond delay="0"/>
                                  </p:stCondLst>
                                  <p:childTnLst>
                                    <p:set>
                                      <p:cBhvr>
                                        <p:cTn id="182" dur="1" fill="hold">
                                          <p:stCondLst>
                                            <p:cond delay="0"/>
                                          </p:stCondLst>
                                        </p:cTn>
                                        <p:tgtEl>
                                          <p:spTgt spid="8955"/>
                                        </p:tgtEl>
                                        <p:attrNameLst>
                                          <p:attrName>style.visibility</p:attrName>
                                        </p:attrNameLst>
                                      </p:cBhvr>
                                      <p:to>
                                        <p:strVal val="visible"/>
                                      </p:to>
                                    </p:set>
                                    <p:animEffect transition="in" filter="fade">
                                      <p:cBhvr>
                                        <p:cTn id="183" dur="500"/>
                                        <p:tgtEl>
                                          <p:spTgt spid="8955"/>
                                        </p:tgtEl>
                                      </p:cBhvr>
                                    </p:animEffect>
                                  </p:childTnLst>
                                </p:cTn>
                              </p:par>
                              <p:par>
                                <p:cTn id="184" presetID="10" presetClass="entr" presetSubtype="0" fill="hold" nodeType="withEffect">
                                  <p:stCondLst>
                                    <p:cond delay="0"/>
                                  </p:stCondLst>
                                  <p:childTnLst>
                                    <p:set>
                                      <p:cBhvr>
                                        <p:cTn id="185" dur="1" fill="hold">
                                          <p:stCondLst>
                                            <p:cond delay="0"/>
                                          </p:stCondLst>
                                        </p:cTn>
                                        <p:tgtEl>
                                          <p:spTgt spid="8958"/>
                                        </p:tgtEl>
                                        <p:attrNameLst>
                                          <p:attrName>style.visibility</p:attrName>
                                        </p:attrNameLst>
                                      </p:cBhvr>
                                      <p:to>
                                        <p:strVal val="visible"/>
                                      </p:to>
                                    </p:set>
                                    <p:animEffect transition="in" filter="fade">
                                      <p:cBhvr>
                                        <p:cTn id="186" dur="500"/>
                                        <p:tgtEl>
                                          <p:spTgt spid="8958"/>
                                        </p:tgtEl>
                                      </p:cBhvr>
                                    </p:animEffect>
                                  </p:childTnLst>
                                </p:cTn>
                              </p:par>
                            </p:childTnLst>
                          </p:cTn>
                        </p:par>
                        <p:par>
                          <p:cTn id="187" fill="hold">
                            <p:stCondLst>
                              <p:cond delay="12750"/>
                            </p:stCondLst>
                            <p:childTnLst>
                              <p:par>
                                <p:cTn id="188" presetID="10" presetClass="entr" presetSubtype="0" fill="hold" nodeType="afterEffect">
                                  <p:stCondLst>
                                    <p:cond delay="0"/>
                                  </p:stCondLst>
                                  <p:childTnLst>
                                    <p:set>
                                      <p:cBhvr>
                                        <p:cTn id="189" dur="1" fill="hold">
                                          <p:stCondLst>
                                            <p:cond delay="0"/>
                                          </p:stCondLst>
                                        </p:cTn>
                                        <p:tgtEl>
                                          <p:spTgt spid="8802"/>
                                        </p:tgtEl>
                                        <p:attrNameLst>
                                          <p:attrName>style.visibility</p:attrName>
                                        </p:attrNameLst>
                                      </p:cBhvr>
                                      <p:to>
                                        <p:strVal val="visible"/>
                                      </p:to>
                                    </p:set>
                                    <p:animEffect transition="in" filter="fade">
                                      <p:cBhvr>
                                        <p:cTn id="190" dur="500"/>
                                        <p:tgtEl>
                                          <p:spTgt spid="8802"/>
                                        </p:tgtEl>
                                      </p:cBhvr>
                                    </p:animEffect>
                                  </p:childTnLst>
                                </p:cTn>
                              </p:par>
                              <p:par>
                                <p:cTn id="191" presetID="10" presetClass="entr" presetSubtype="0" fill="hold" nodeType="withEffect">
                                  <p:stCondLst>
                                    <p:cond delay="0"/>
                                  </p:stCondLst>
                                  <p:childTnLst>
                                    <p:set>
                                      <p:cBhvr>
                                        <p:cTn id="192" dur="1" fill="hold">
                                          <p:stCondLst>
                                            <p:cond delay="0"/>
                                          </p:stCondLst>
                                        </p:cTn>
                                        <p:tgtEl>
                                          <p:spTgt spid="8900"/>
                                        </p:tgtEl>
                                        <p:attrNameLst>
                                          <p:attrName>style.visibility</p:attrName>
                                        </p:attrNameLst>
                                      </p:cBhvr>
                                      <p:to>
                                        <p:strVal val="visible"/>
                                      </p:to>
                                    </p:set>
                                    <p:animEffect transition="in" filter="fade">
                                      <p:cBhvr>
                                        <p:cTn id="193" dur="500"/>
                                        <p:tgtEl>
                                          <p:spTgt spid="8900"/>
                                        </p:tgtEl>
                                      </p:cBhvr>
                                    </p:animEffect>
                                  </p:childTnLst>
                                </p:cTn>
                              </p:par>
                            </p:childTnLst>
                          </p:cTn>
                        </p:par>
                        <p:par>
                          <p:cTn id="194" fill="hold">
                            <p:stCondLst>
                              <p:cond delay="13250"/>
                            </p:stCondLst>
                            <p:childTnLst>
                              <p:par>
                                <p:cTn id="195" presetID="10" presetClass="entr" presetSubtype="0" fill="hold" nodeType="afterEffect">
                                  <p:stCondLst>
                                    <p:cond delay="1000"/>
                                  </p:stCondLst>
                                  <p:childTnLst>
                                    <p:set>
                                      <p:cBhvr>
                                        <p:cTn id="196" dur="1" fill="hold">
                                          <p:stCondLst>
                                            <p:cond delay="0"/>
                                          </p:stCondLst>
                                        </p:cTn>
                                        <p:tgtEl>
                                          <p:spTgt spid="8859"/>
                                        </p:tgtEl>
                                        <p:attrNameLst>
                                          <p:attrName>style.visibility</p:attrName>
                                        </p:attrNameLst>
                                      </p:cBhvr>
                                      <p:to>
                                        <p:strVal val="visible"/>
                                      </p:to>
                                    </p:set>
                                    <p:animEffect transition="in" filter="fade">
                                      <p:cBhvr>
                                        <p:cTn id="197" dur="500"/>
                                        <p:tgtEl>
                                          <p:spTgt spid="8859"/>
                                        </p:tgtEl>
                                      </p:cBhvr>
                                    </p:animEffect>
                                  </p:childTnLst>
                                </p:cTn>
                              </p:par>
                            </p:childTnLst>
                          </p:cTn>
                        </p:par>
                        <p:par>
                          <p:cTn id="198" fill="hold">
                            <p:stCondLst>
                              <p:cond delay="13750"/>
                            </p:stCondLst>
                            <p:childTnLst>
                              <p:par>
                                <p:cTn id="199" presetID="10" presetClass="entr" presetSubtype="0" fill="hold" nodeType="afterEffect">
                                  <p:stCondLst>
                                    <p:cond delay="1000"/>
                                  </p:stCondLst>
                                  <p:childTnLst>
                                    <p:set>
                                      <p:cBhvr>
                                        <p:cTn id="200" dur="1" fill="hold">
                                          <p:stCondLst>
                                            <p:cond delay="0"/>
                                          </p:stCondLst>
                                        </p:cTn>
                                        <p:tgtEl>
                                          <p:spTgt spid="8851"/>
                                        </p:tgtEl>
                                        <p:attrNameLst>
                                          <p:attrName>style.visibility</p:attrName>
                                        </p:attrNameLst>
                                      </p:cBhvr>
                                      <p:to>
                                        <p:strVal val="visible"/>
                                      </p:to>
                                    </p:set>
                                    <p:animEffect transition="in" filter="fade">
                                      <p:cBhvr>
                                        <p:cTn id="201" dur="500"/>
                                        <p:tgtEl>
                                          <p:spTgt spid="8851"/>
                                        </p:tgtEl>
                                      </p:cBhvr>
                                    </p:animEffect>
                                  </p:childTnLst>
                                </p:cTn>
                              </p:par>
                            </p:childTnLst>
                          </p:cTn>
                        </p:par>
                        <p:par>
                          <p:cTn id="202" fill="hold">
                            <p:stCondLst>
                              <p:cond delay="14250"/>
                            </p:stCondLst>
                            <p:childTnLst>
                              <p:par>
                                <p:cTn id="203" presetID="10" presetClass="entr" presetSubtype="0" fill="hold" nodeType="afterEffect">
                                  <p:stCondLst>
                                    <p:cond delay="1000"/>
                                  </p:stCondLst>
                                  <p:childTnLst>
                                    <p:set>
                                      <p:cBhvr>
                                        <p:cTn id="204" dur="1" fill="hold">
                                          <p:stCondLst>
                                            <p:cond delay="0"/>
                                          </p:stCondLst>
                                        </p:cTn>
                                        <p:tgtEl>
                                          <p:spTgt spid="8858"/>
                                        </p:tgtEl>
                                        <p:attrNameLst>
                                          <p:attrName>style.visibility</p:attrName>
                                        </p:attrNameLst>
                                      </p:cBhvr>
                                      <p:to>
                                        <p:strVal val="visible"/>
                                      </p:to>
                                    </p:set>
                                    <p:animEffect transition="in" filter="fade">
                                      <p:cBhvr>
                                        <p:cTn id="205" dur="500"/>
                                        <p:tgtEl>
                                          <p:spTgt spid="8858"/>
                                        </p:tgtEl>
                                      </p:cBhvr>
                                    </p:animEffect>
                                  </p:childTnLst>
                                </p:cTn>
                              </p:par>
                            </p:childTnLst>
                          </p:cTn>
                        </p:par>
                        <p:par>
                          <p:cTn id="206" fill="hold">
                            <p:stCondLst>
                              <p:cond delay="14750"/>
                            </p:stCondLst>
                            <p:childTnLst>
                              <p:par>
                                <p:cTn id="207" presetID="10" presetClass="entr" presetSubtype="0" fill="hold" nodeType="afterEffect">
                                  <p:stCondLst>
                                    <p:cond delay="1000"/>
                                  </p:stCondLst>
                                  <p:childTnLst>
                                    <p:set>
                                      <p:cBhvr>
                                        <p:cTn id="208" dur="1" fill="hold">
                                          <p:stCondLst>
                                            <p:cond delay="0"/>
                                          </p:stCondLst>
                                        </p:cTn>
                                        <p:tgtEl>
                                          <p:spTgt spid="8860"/>
                                        </p:tgtEl>
                                        <p:attrNameLst>
                                          <p:attrName>style.visibility</p:attrName>
                                        </p:attrNameLst>
                                      </p:cBhvr>
                                      <p:to>
                                        <p:strVal val="visible"/>
                                      </p:to>
                                    </p:set>
                                    <p:animEffect transition="in" filter="fade">
                                      <p:cBhvr>
                                        <p:cTn id="209" dur="500"/>
                                        <p:tgtEl>
                                          <p:spTgt spid="8860"/>
                                        </p:tgtEl>
                                      </p:cBhvr>
                                    </p:animEffect>
                                  </p:childTnLst>
                                </p:cTn>
                              </p:par>
                            </p:childTnLst>
                          </p:cTn>
                        </p:par>
                        <p:par>
                          <p:cTn id="210" fill="hold">
                            <p:stCondLst>
                              <p:cond delay="15250"/>
                            </p:stCondLst>
                            <p:childTnLst>
                              <p:par>
                                <p:cTn id="211" presetID="10" presetClass="entr" presetSubtype="0" fill="hold" nodeType="afterEffect">
                                  <p:stCondLst>
                                    <p:cond delay="1000"/>
                                  </p:stCondLst>
                                  <p:childTnLst>
                                    <p:set>
                                      <p:cBhvr>
                                        <p:cTn id="212" dur="1" fill="hold">
                                          <p:stCondLst>
                                            <p:cond delay="0"/>
                                          </p:stCondLst>
                                        </p:cTn>
                                        <p:tgtEl>
                                          <p:spTgt spid="8869"/>
                                        </p:tgtEl>
                                        <p:attrNameLst>
                                          <p:attrName>style.visibility</p:attrName>
                                        </p:attrNameLst>
                                      </p:cBhvr>
                                      <p:to>
                                        <p:strVal val="visible"/>
                                      </p:to>
                                    </p:set>
                                    <p:animEffect transition="in" filter="fade">
                                      <p:cBhvr>
                                        <p:cTn id="213" dur="500"/>
                                        <p:tgtEl>
                                          <p:spTgt spid="8869"/>
                                        </p:tgtEl>
                                      </p:cBhvr>
                                    </p:animEffect>
                                  </p:childTnLst>
                                </p:cTn>
                              </p:par>
                            </p:childTnLst>
                          </p:cTn>
                        </p:par>
                        <p:par>
                          <p:cTn id="214" fill="hold">
                            <p:stCondLst>
                              <p:cond delay="15750"/>
                            </p:stCondLst>
                            <p:childTnLst>
                              <p:par>
                                <p:cTn id="215" presetID="10" presetClass="entr" presetSubtype="0" fill="hold" nodeType="afterEffect">
                                  <p:stCondLst>
                                    <p:cond delay="0"/>
                                  </p:stCondLst>
                                  <p:childTnLst>
                                    <p:set>
                                      <p:cBhvr>
                                        <p:cTn id="216" dur="1" fill="hold">
                                          <p:stCondLst>
                                            <p:cond delay="0"/>
                                          </p:stCondLst>
                                        </p:cTn>
                                        <p:tgtEl>
                                          <p:spTgt spid="8926"/>
                                        </p:tgtEl>
                                        <p:attrNameLst>
                                          <p:attrName>style.visibility</p:attrName>
                                        </p:attrNameLst>
                                      </p:cBhvr>
                                      <p:to>
                                        <p:strVal val="visible"/>
                                      </p:to>
                                    </p:set>
                                    <p:animEffect transition="in" filter="fade">
                                      <p:cBhvr>
                                        <p:cTn id="217" dur="500"/>
                                        <p:tgtEl>
                                          <p:spTgt spid="8926"/>
                                        </p:tgtEl>
                                      </p:cBhvr>
                                    </p:animEffect>
                                  </p:childTnLst>
                                </p:cTn>
                              </p:par>
                              <p:par>
                                <p:cTn id="218" presetID="10" presetClass="entr" presetSubtype="0" fill="hold" nodeType="withEffect">
                                  <p:stCondLst>
                                    <p:cond delay="0"/>
                                  </p:stCondLst>
                                  <p:childTnLst>
                                    <p:set>
                                      <p:cBhvr>
                                        <p:cTn id="219" dur="1" fill="hold">
                                          <p:stCondLst>
                                            <p:cond delay="0"/>
                                          </p:stCondLst>
                                        </p:cTn>
                                        <p:tgtEl>
                                          <p:spTgt spid="8927"/>
                                        </p:tgtEl>
                                        <p:attrNameLst>
                                          <p:attrName>style.visibility</p:attrName>
                                        </p:attrNameLst>
                                      </p:cBhvr>
                                      <p:to>
                                        <p:strVal val="visible"/>
                                      </p:to>
                                    </p:set>
                                    <p:animEffect transition="in" filter="fade">
                                      <p:cBhvr>
                                        <p:cTn id="220" dur="500"/>
                                        <p:tgtEl>
                                          <p:spTgt spid="8927"/>
                                        </p:tgtEl>
                                      </p:cBhvr>
                                    </p:animEffect>
                                  </p:childTnLst>
                                </p:cTn>
                              </p:par>
                              <p:par>
                                <p:cTn id="221" presetID="10" presetClass="entr" presetSubtype="0" fill="hold" nodeType="withEffect">
                                  <p:stCondLst>
                                    <p:cond delay="0"/>
                                  </p:stCondLst>
                                  <p:childTnLst>
                                    <p:set>
                                      <p:cBhvr>
                                        <p:cTn id="222" dur="1" fill="hold">
                                          <p:stCondLst>
                                            <p:cond delay="0"/>
                                          </p:stCondLst>
                                        </p:cTn>
                                        <p:tgtEl>
                                          <p:spTgt spid="8957"/>
                                        </p:tgtEl>
                                        <p:attrNameLst>
                                          <p:attrName>style.visibility</p:attrName>
                                        </p:attrNameLst>
                                      </p:cBhvr>
                                      <p:to>
                                        <p:strVal val="visible"/>
                                      </p:to>
                                    </p:set>
                                    <p:animEffect transition="in" filter="fade">
                                      <p:cBhvr>
                                        <p:cTn id="223" dur="500"/>
                                        <p:tgtEl>
                                          <p:spTgt spid="8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965"/>
        <p:cNvGrpSpPr/>
        <p:nvPr/>
      </p:nvGrpSpPr>
      <p:grpSpPr>
        <a:xfrm>
          <a:off x="0" y="0"/>
          <a:ext cx="0" cy="0"/>
          <a:chOff x="0" y="0"/>
          <a:chExt cx="0" cy="0"/>
        </a:xfrm>
      </p:grpSpPr>
      <p:sp>
        <p:nvSpPr>
          <p:cNvPr id="8966" name="Google Shape;8966;p8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Unique Approach for Protecting VMs and Data across Clusters</a:t>
            </a:r>
            <a:endParaRPr/>
          </a:p>
        </p:txBody>
      </p:sp>
      <p:sp>
        <p:nvSpPr>
          <p:cNvPr id="8967" name="Google Shape;8967;p84"/>
          <p:cNvSpPr txBox="1">
            <a:spLocks noGrp="1"/>
          </p:cNvSpPr>
          <p:nvPr>
            <p:ph type="subTitle" idx="1"/>
          </p:nvPr>
        </p:nvSpPr>
        <p:spPr>
          <a:xfrm>
            <a:off x="592866" y="811830"/>
            <a:ext cx="1098794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Approach to remote protection* increase flexibility and capabilities for VCF</a:t>
            </a:r>
            <a:endParaRPr/>
          </a:p>
        </p:txBody>
      </p:sp>
      <p:sp>
        <p:nvSpPr>
          <p:cNvPr id="8968" name="Google Shape;8968;p84"/>
          <p:cNvSpPr txBox="1"/>
          <p:nvPr/>
        </p:nvSpPr>
        <p:spPr>
          <a:xfrm>
            <a:off x="1058545" y="1562101"/>
            <a:ext cx="4602320" cy="501869"/>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800">
                <a:solidFill>
                  <a:schemeClr val="accent4"/>
                </a:solidFill>
                <a:latin typeface="Arial"/>
                <a:ea typeface="Arial"/>
                <a:cs typeface="Arial"/>
                <a:sym typeface="Arial"/>
              </a:rPr>
              <a:t>Array-based Replication</a:t>
            </a:r>
            <a:endParaRPr/>
          </a:p>
        </p:txBody>
      </p:sp>
      <p:sp>
        <p:nvSpPr>
          <p:cNvPr id="8969" name="Google Shape;8969;p84"/>
          <p:cNvSpPr txBox="1"/>
          <p:nvPr/>
        </p:nvSpPr>
        <p:spPr>
          <a:xfrm>
            <a:off x="6170124" y="1562101"/>
            <a:ext cx="5351963" cy="501869"/>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800">
                <a:solidFill>
                  <a:schemeClr val="accent2"/>
                </a:solidFill>
                <a:latin typeface="Arial"/>
                <a:ea typeface="Arial"/>
                <a:cs typeface="Arial"/>
                <a:sym typeface="Arial"/>
              </a:rPr>
              <a:t>vSAN-to-vSAN Replication*</a:t>
            </a:r>
            <a:endParaRPr/>
          </a:p>
        </p:txBody>
      </p:sp>
      <p:cxnSp>
        <p:nvCxnSpPr>
          <p:cNvPr id="8970" name="Google Shape;8970;p84"/>
          <p:cNvCxnSpPr/>
          <p:nvPr/>
        </p:nvCxnSpPr>
        <p:spPr>
          <a:xfrm>
            <a:off x="6102905" y="1600201"/>
            <a:ext cx="0" cy="4572000"/>
          </a:xfrm>
          <a:prstGeom prst="straightConnector1">
            <a:avLst/>
          </a:prstGeom>
          <a:noFill/>
          <a:ln w="12700" cap="flat" cmpd="sng">
            <a:solidFill>
              <a:schemeClr val="accent2"/>
            </a:solidFill>
            <a:prstDash val="dot"/>
            <a:miter lim="800000"/>
            <a:headEnd type="none" w="sm" len="sm"/>
            <a:tailEnd type="none" w="sm" len="sm"/>
          </a:ln>
        </p:spPr>
      </p:cxnSp>
      <p:sp>
        <p:nvSpPr>
          <p:cNvPr id="8971" name="Google Shape;8971;p84"/>
          <p:cNvSpPr txBox="1"/>
          <p:nvPr/>
        </p:nvSpPr>
        <p:spPr>
          <a:xfrm>
            <a:off x="1437104" y="4125321"/>
            <a:ext cx="3845203" cy="326884"/>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800" b="1">
                <a:solidFill>
                  <a:schemeClr val="accent4"/>
                </a:solidFill>
                <a:latin typeface="Arial"/>
                <a:ea typeface="Arial"/>
                <a:cs typeface="Arial"/>
                <a:sym typeface="Arial"/>
              </a:rPr>
              <a:t>Traits</a:t>
            </a:r>
            <a:endParaRPr/>
          </a:p>
        </p:txBody>
      </p:sp>
      <p:sp>
        <p:nvSpPr>
          <p:cNvPr id="8972" name="Google Shape;8972;p84"/>
          <p:cNvSpPr txBox="1"/>
          <p:nvPr/>
        </p:nvSpPr>
        <p:spPr>
          <a:xfrm>
            <a:off x="6923504" y="4125321"/>
            <a:ext cx="3845203" cy="326884"/>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800" b="1">
                <a:solidFill>
                  <a:schemeClr val="accent2"/>
                </a:solidFill>
                <a:latin typeface="Arial"/>
                <a:ea typeface="Arial"/>
                <a:cs typeface="Arial"/>
                <a:sym typeface="Arial"/>
              </a:rPr>
              <a:t>Traits</a:t>
            </a:r>
            <a:endParaRPr/>
          </a:p>
        </p:txBody>
      </p:sp>
      <p:sp>
        <p:nvSpPr>
          <p:cNvPr id="8973" name="Google Shape;8973;p84"/>
          <p:cNvSpPr txBox="1"/>
          <p:nvPr/>
        </p:nvSpPr>
        <p:spPr>
          <a:xfrm>
            <a:off x="838331" y="4505454"/>
            <a:ext cx="5042748" cy="1651286"/>
          </a:xfrm>
          <a:prstGeom prst="rect">
            <a:avLst/>
          </a:prstGeom>
          <a:noFill/>
          <a:ln>
            <a:noFill/>
          </a:ln>
        </p:spPr>
        <p:txBody>
          <a:bodyPr spcFirstLastPara="1" wrap="square" lIns="0" tIns="0" rIns="0" bIns="0" anchor="t" anchorCtr="0">
            <a:spAutoFit/>
          </a:bodyPr>
          <a:lstStyle/>
          <a:p>
            <a:pPr marL="285750" marR="0" lvl="0" indent="-285750" algn="l" rtl="0">
              <a:lnSpc>
                <a:spcPct val="13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Protection and recovery limited to LUN</a:t>
            </a:r>
            <a:endParaRPr/>
          </a:p>
          <a:p>
            <a:pPr marL="285750" marR="0" lvl="0" indent="-285750" algn="l" rtl="0">
              <a:lnSpc>
                <a:spcPct val="13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May require similar arrays at source and target</a:t>
            </a:r>
            <a:endParaRPr/>
          </a:p>
          <a:p>
            <a:pPr marL="285750" marR="0" lvl="0" indent="-285750" algn="l" rtl="0">
              <a:lnSpc>
                <a:spcPct val="13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May create a dependency of LUNs across sites</a:t>
            </a:r>
            <a:endParaRPr/>
          </a:p>
          <a:p>
            <a:pPr marL="285750" marR="0" lvl="0" indent="-285750" algn="l" rtl="0">
              <a:lnSpc>
                <a:spcPct val="13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Additional array tooling needed to protect and restore</a:t>
            </a:r>
            <a:endParaRPr/>
          </a:p>
          <a:p>
            <a:pPr marL="285750" marR="0" lvl="0" indent="-285750" algn="l" rtl="0">
              <a:lnSpc>
                <a:spcPct val="13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RPO dependent on characteristics of arrays</a:t>
            </a:r>
            <a:endParaRPr/>
          </a:p>
          <a:p>
            <a:pPr marL="285750" marR="0" lvl="0" indent="-285750" algn="l" rtl="0">
              <a:lnSpc>
                <a:spcPct val="13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Snapshot retention dependent on characteristics of array</a:t>
            </a:r>
            <a:endParaRPr/>
          </a:p>
        </p:txBody>
      </p:sp>
      <p:sp>
        <p:nvSpPr>
          <p:cNvPr id="8974" name="Google Shape;8974;p84"/>
          <p:cNvSpPr txBox="1"/>
          <p:nvPr/>
        </p:nvSpPr>
        <p:spPr>
          <a:xfrm>
            <a:off x="6324732" y="4505454"/>
            <a:ext cx="5042747" cy="1651286"/>
          </a:xfrm>
          <a:prstGeom prst="rect">
            <a:avLst/>
          </a:prstGeom>
          <a:noFill/>
          <a:ln>
            <a:noFill/>
          </a:ln>
        </p:spPr>
        <p:txBody>
          <a:bodyPr spcFirstLastPara="1" wrap="square" lIns="0" tIns="0" rIns="0" bIns="0" anchor="t" anchorCtr="0">
            <a:spAutoFit/>
          </a:bodyPr>
          <a:lstStyle/>
          <a:p>
            <a:pPr marL="285750" marR="0" lvl="0" indent="-285750" algn="l" rtl="0">
              <a:lnSpc>
                <a:spcPct val="130000"/>
              </a:lnSpc>
              <a:spcBef>
                <a:spcPts val="0"/>
              </a:spcBef>
              <a:spcAft>
                <a:spcPts val="0"/>
              </a:spcAft>
              <a:buClr>
                <a:schemeClr val="dk1"/>
              </a:buClr>
              <a:buSzPts val="1400"/>
              <a:buFont typeface="Arial"/>
              <a:buChar char="•"/>
            </a:pPr>
            <a:r>
              <a:rPr lang="en-US" sz="1400" b="1">
                <a:solidFill>
                  <a:schemeClr val="accent2"/>
                </a:solidFill>
                <a:latin typeface="Arial"/>
                <a:ea typeface="Arial"/>
                <a:cs typeface="Arial"/>
                <a:sym typeface="Arial"/>
              </a:rPr>
              <a:t>Granular per-VM </a:t>
            </a:r>
            <a:r>
              <a:rPr lang="en-US" sz="1400">
                <a:solidFill>
                  <a:schemeClr val="dk2"/>
                </a:solidFill>
                <a:latin typeface="Arial"/>
                <a:ea typeface="Arial"/>
                <a:cs typeface="Arial"/>
                <a:sym typeface="Arial"/>
              </a:rPr>
              <a:t>protection and recovery</a:t>
            </a:r>
            <a:endParaRPr/>
          </a:p>
          <a:p>
            <a:pPr marL="285750" marR="0" lvl="0" indent="-285750" algn="l" rtl="0">
              <a:lnSpc>
                <a:spcPct val="130000"/>
              </a:lnSpc>
              <a:spcBef>
                <a:spcPts val="0"/>
              </a:spcBef>
              <a:spcAft>
                <a:spcPts val="0"/>
              </a:spcAft>
              <a:buClr>
                <a:schemeClr val="dk2"/>
              </a:buClr>
              <a:buSzPts val="1400"/>
              <a:buFont typeface="Arial"/>
              <a:buChar char="•"/>
            </a:pPr>
            <a:r>
              <a:rPr lang="en-US" sz="1400">
                <a:solidFill>
                  <a:schemeClr val="dk2"/>
                </a:solidFill>
                <a:latin typeface="Arial"/>
                <a:ea typeface="Arial"/>
                <a:cs typeface="Arial"/>
                <a:sym typeface="Arial"/>
              </a:rPr>
              <a:t>Source and target </a:t>
            </a:r>
            <a:r>
              <a:rPr lang="en-US" sz="1400" b="1">
                <a:solidFill>
                  <a:schemeClr val="accent2"/>
                </a:solidFill>
                <a:latin typeface="Arial"/>
                <a:ea typeface="Arial"/>
                <a:cs typeface="Arial"/>
                <a:sym typeface="Arial"/>
              </a:rPr>
              <a:t>can be dissimilar </a:t>
            </a:r>
            <a:r>
              <a:rPr lang="en-US" sz="1400">
                <a:solidFill>
                  <a:schemeClr val="dk2"/>
                </a:solidFill>
                <a:latin typeface="Arial"/>
                <a:ea typeface="Arial"/>
                <a:cs typeface="Arial"/>
                <a:sym typeface="Arial"/>
              </a:rPr>
              <a:t>vSAN clusters</a:t>
            </a:r>
            <a:endParaRPr/>
          </a:p>
          <a:p>
            <a:pPr marL="285750" marR="0" lvl="0" indent="-285750" algn="l" rtl="0">
              <a:lnSpc>
                <a:spcPct val="130000"/>
              </a:lnSpc>
              <a:spcBef>
                <a:spcPts val="0"/>
              </a:spcBef>
              <a:spcAft>
                <a:spcPts val="0"/>
              </a:spcAft>
              <a:buClr>
                <a:schemeClr val="dk2"/>
              </a:buClr>
              <a:buSzPts val="1400"/>
              <a:buFont typeface="Arial"/>
              <a:buChar char="•"/>
            </a:pPr>
            <a:r>
              <a:rPr lang="en-US" sz="1400">
                <a:solidFill>
                  <a:schemeClr val="dk2"/>
                </a:solidFill>
                <a:latin typeface="Arial"/>
                <a:ea typeface="Arial"/>
                <a:cs typeface="Arial"/>
                <a:sym typeface="Arial"/>
              </a:rPr>
              <a:t>Full autonomous </a:t>
            </a:r>
            <a:r>
              <a:rPr lang="en-US" sz="1400" b="1">
                <a:solidFill>
                  <a:schemeClr val="accent2"/>
                </a:solidFill>
                <a:latin typeface="Arial"/>
                <a:ea typeface="Arial"/>
                <a:cs typeface="Arial"/>
                <a:sym typeface="Arial"/>
              </a:rPr>
              <a:t>copies</a:t>
            </a:r>
            <a:r>
              <a:rPr lang="en-US" sz="1400">
                <a:solidFill>
                  <a:schemeClr val="dk2"/>
                </a:solidFill>
                <a:latin typeface="Arial"/>
                <a:ea typeface="Arial"/>
                <a:cs typeface="Arial"/>
                <a:sym typeface="Arial"/>
              </a:rPr>
              <a:t> of VMs at each site</a:t>
            </a:r>
            <a:endParaRPr/>
          </a:p>
          <a:p>
            <a:pPr marL="285750" marR="0" lvl="0" indent="-285750" algn="l" rtl="0">
              <a:lnSpc>
                <a:spcPct val="130000"/>
              </a:lnSpc>
              <a:spcBef>
                <a:spcPts val="0"/>
              </a:spcBef>
              <a:spcAft>
                <a:spcPts val="0"/>
              </a:spcAft>
              <a:buClr>
                <a:schemeClr val="dk2"/>
              </a:buClr>
              <a:buSzPts val="1400"/>
              <a:buFont typeface="Arial"/>
              <a:buChar char="•"/>
            </a:pPr>
            <a:r>
              <a:rPr lang="en-US" sz="1400">
                <a:solidFill>
                  <a:schemeClr val="dk2"/>
                </a:solidFill>
                <a:latin typeface="Arial"/>
                <a:ea typeface="Arial"/>
                <a:cs typeface="Arial"/>
                <a:sym typeface="Arial"/>
              </a:rPr>
              <a:t>Fully </a:t>
            </a:r>
            <a:r>
              <a:rPr lang="en-US" sz="1400" b="1">
                <a:solidFill>
                  <a:schemeClr val="accent2"/>
                </a:solidFill>
                <a:latin typeface="Arial"/>
                <a:ea typeface="Arial"/>
                <a:cs typeface="Arial"/>
                <a:sym typeface="Arial"/>
              </a:rPr>
              <a:t>integrated</a:t>
            </a:r>
            <a:r>
              <a:rPr lang="en-US" sz="1400">
                <a:solidFill>
                  <a:schemeClr val="dk2"/>
                </a:solidFill>
                <a:latin typeface="Arial"/>
                <a:ea typeface="Arial"/>
                <a:cs typeface="Arial"/>
                <a:sym typeface="Arial"/>
              </a:rPr>
              <a:t> protection and recovery </a:t>
            </a:r>
            <a:r>
              <a:rPr lang="en-US" sz="1400" b="1">
                <a:solidFill>
                  <a:schemeClr val="accent2"/>
                </a:solidFill>
                <a:latin typeface="Arial"/>
                <a:ea typeface="Arial"/>
                <a:cs typeface="Arial"/>
                <a:sym typeface="Arial"/>
              </a:rPr>
              <a:t>APIs</a:t>
            </a:r>
            <a:r>
              <a:rPr lang="en-US" sz="1400">
                <a:solidFill>
                  <a:schemeClr val="dk2"/>
                </a:solidFill>
                <a:latin typeface="Arial"/>
                <a:ea typeface="Arial"/>
                <a:cs typeface="Arial"/>
                <a:sym typeface="Arial"/>
              </a:rPr>
              <a:t> and </a:t>
            </a:r>
            <a:r>
              <a:rPr lang="en-US" sz="1400" b="1">
                <a:solidFill>
                  <a:schemeClr val="accent2"/>
                </a:solidFill>
                <a:latin typeface="Arial"/>
                <a:ea typeface="Arial"/>
                <a:cs typeface="Arial"/>
                <a:sym typeface="Arial"/>
              </a:rPr>
              <a:t>UI</a:t>
            </a:r>
            <a:endParaRPr/>
          </a:p>
          <a:p>
            <a:pPr marL="285750" marR="0" lvl="0" indent="-285750" algn="l" rtl="0">
              <a:lnSpc>
                <a:spcPct val="130000"/>
              </a:lnSpc>
              <a:spcBef>
                <a:spcPts val="0"/>
              </a:spcBef>
              <a:spcAft>
                <a:spcPts val="0"/>
              </a:spcAft>
              <a:buClr>
                <a:schemeClr val="dk1"/>
              </a:buClr>
              <a:buSzPts val="1400"/>
              <a:buFont typeface="Arial"/>
              <a:buChar char="•"/>
            </a:pPr>
            <a:r>
              <a:rPr lang="en-US" sz="1400" b="1">
                <a:solidFill>
                  <a:schemeClr val="accent2"/>
                </a:solidFill>
                <a:latin typeface="Arial"/>
                <a:ea typeface="Arial"/>
                <a:cs typeface="Arial"/>
                <a:sym typeface="Arial"/>
              </a:rPr>
              <a:t>1-minute RPO </a:t>
            </a:r>
            <a:r>
              <a:rPr lang="en-US" sz="1400">
                <a:solidFill>
                  <a:schemeClr val="dk2"/>
                </a:solidFill>
                <a:latin typeface="Arial"/>
                <a:ea typeface="Arial"/>
                <a:cs typeface="Arial"/>
                <a:sym typeface="Arial"/>
              </a:rPr>
              <a:t>– with no need to snapshot source</a:t>
            </a:r>
            <a:endParaRPr/>
          </a:p>
          <a:p>
            <a:pPr marL="285750" marR="0" lvl="0" indent="-285750" algn="l" rtl="0">
              <a:lnSpc>
                <a:spcPct val="130000"/>
              </a:lnSpc>
              <a:spcBef>
                <a:spcPts val="0"/>
              </a:spcBef>
              <a:spcAft>
                <a:spcPts val="0"/>
              </a:spcAft>
              <a:buClr>
                <a:schemeClr val="dk2"/>
              </a:buClr>
              <a:buSzPts val="1400"/>
              <a:buFont typeface="Arial"/>
              <a:buChar char="•"/>
            </a:pPr>
            <a:r>
              <a:rPr lang="en-US" sz="1400">
                <a:solidFill>
                  <a:schemeClr val="dk2"/>
                </a:solidFill>
                <a:latin typeface="Arial"/>
                <a:ea typeface="Arial"/>
                <a:cs typeface="Arial"/>
                <a:sym typeface="Arial"/>
              </a:rPr>
              <a:t>Up to </a:t>
            </a:r>
            <a:r>
              <a:rPr lang="en-US" sz="1400" b="1">
                <a:solidFill>
                  <a:schemeClr val="accent2"/>
                </a:solidFill>
                <a:latin typeface="Arial"/>
                <a:ea typeface="Arial"/>
                <a:cs typeface="Arial"/>
                <a:sym typeface="Arial"/>
              </a:rPr>
              <a:t>200 snapshots per VM </a:t>
            </a:r>
            <a:r>
              <a:rPr lang="en-US" sz="1400">
                <a:solidFill>
                  <a:schemeClr val="dk2"/>
                </a:solidFill>
                <a:latin typeface="Arial"/>
                <a:ea typeface="Arial"/>
                <a:cs typeface="Arial"/>
                <a:sym typeface="Arial"/>
              </a:rPr>
              <a:t>at each site</a:t>
            </a:r>
            <a:endParaRPr/>
          </a:p>
        </p:txBody>
      </p:sp>
      <p:sp>
        <p:nvSpPr>
          <p:cNvPr id="8975" name="Google Shape;8975;p84"/>
          <p:cNvSpPr txBox="1"/>
          <p:nvPr/>
        </p:nvSpPr>
        <p:spPr>
          <a:xfrm>
            <a:off x="838331" y="2091897"/>
            <a:ext cx="5042748"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chemeClr val="dk2"/>
                </a:solidFill>
                <a:latin typeface="Arial"/>
                <a:ea typeface="Arial"/>
                <a:cs typeface="Arial"/>
                <a:sym typeface="Arial"/>
              </a:rPr>
              <a:t>Snapshot LUN at source </a:t>
            </a:r>
            <a:r>
              <a:rPr lang="en-US" sz="1400">
                <a:solidFill>
                  <a:schemeClr val="dk2"/>
                </a:solidFill>
                <a:latin typeface="Arial"/>
                <a:ea typeface="Arial"/>
                <a:cs typeface="Arial"/>
                <a:sym typeface="Arial"/>
              </a:rPr>
              <a:t>followed by replicating LUN to target</a:t>
            </a:r>
            <a:endParaRPr/>
          </a:p>
        </p:txBody>
      </p:sp>
      <p:sp>
        <p:nvSpPr>
          <p:cNvPr id="8976" name="Google Shape;8976;p84"/>
          <p:cNvSpPr txBox="1"/>
          <p:nvPr/>
        </p:nvSpPr>
        <p:spPr>
          <a:xfrm>
            <a:off x="6324733" y="2091897"/>
            <a:ext cx="504274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chemeClr val="dk2"/>
                </a:solidFill>
                <a:latin typeface="Arial"/>
                <a:ea typeface="Arial"/>
                <a:cs typeface="Arial"/>
                <a:sym typeface="Arial"/>
              </a:rPr>
              <a:t>Replicate VM to target </a:t>
            </a:r>
            <a:r>
              <a:rPr lang="en-US" sz="1400">
                <a:solidFill>
                  <a:schemeClr val="dk2"/>
                </a:solidFill>
                <a:latin typeface="Arial"/>
                <a:ea typeface="Arial"/>
                <a:cs typeface="Arial"/>
                <a:sym typeface="Arial"/>
              </a:rPr>
              <a:t>followed by snapshotting VM at target</a:t>
            </a:r>
            <a:endParaRPr/>
          </a:p>
        </p:txBody>
      </p:sp>
      <p:sp>
        <p:nvSpPr>
          <p:cNvPr id="8977" name="Google Shape;8977;p84"/>
          <p:cNvSpPr/>
          <p:nvPr/>
        </p:nvSpPr>
        <p:spPr>
          <a:xfrm>
            <a:off x="1265727" y="3524836"/>
            <a:ext cx="758541" cy="46166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chemeClr val="dk2"/>
                </a:solidFill>
                <a:latin typeface="Arial"/>
                <a:ea typeface="Arial"/>
                <a:cs typeface="Arial"/>
                <a:sym typeface="Arial"/>
              </a:rPr>
              <a:t>Storage</a:t>
            </a:r>
            <a:br>
              <a:rPr lang="en-US" sz="1200">
                <a:solidFill>
                  <a:schemeClr val="dk2"/>
                </a:solidFill>
                <a:latin typeface="Arial"/>
                <a:ea typeface="Arial"/>
                <a:cs typeface="Arial"/>
                <a:sym typeface="Arial"/>
              </a:rPr>
            </a:br>
            <a:r>
              <a:rPr lang="en-US" sz="1200">
                <a:solidFill>
                  <a:schemeClr val="dk2"/>
                </a:solidFill>
                <a:latin typeface="Arial"/>
                <a:ea typeface="Arial"/>
                <a:cs typeface="Arial"/>
                <a:sym typeface="Arial"/>
              </a:rPr>
              <a:t>array</a:t>
            </a:r>
            <a:endParaRPr/>
          </a:p>
        </p:txBody>
      </p:sp>
      <p:grpSp>
        <p:nvGrpSpPr>
          <p:cNvPr id="8978" name="Google Shape;8978;p84"/>
          <p:cNvGrpSpPr/>
          <p:nvPr/>
        </p:nvGrpSpPr>
        <p:grpSpPr>
          <a:xfrm>
            <a:off x="1708762" y="2478331"/>
            <a:ext cx="1061760" cy="1518468"/>
            <a:chOff x="1708762" y="2478331"/>
            <a:chExt cx="1061760" cy="1518468"/>
          </a:xfrm>
        </p:grpSpPr>
        <p:pic>
          <p:nvPicPr>
            <p:cNvPr id="8979" name="Google Shape;8979;p84"/>
            <p:cNvPicPr preferRelativeResize="0"/>
            <p:nvPr/>
          </p:nvPicPr>
          <p:blipFill rotWithShape="1">
            <a:blip r:embed="rId3">
              <a:alphaModFix/>
            </a:blip>
            <a:srcRect/>
            <a:stretch/>
          </p:blipFill>
          <p:spPr>
            <a:xfrm>
              <a:off x="1997621" y="3507709"/>
              <a:ext cx="489090" cy="489090"/>
            </a:xfrm>
            <a:prstGeom prst="rect">
              <a:avLst/>
            </a:prstGeom>
            <a:noFill/>
            <a:ln>
              <a:noFill/>
            </a:ln>
          </p:spPr>
        </p:pic>
        <p:grpSp>
          <p:nvGrpSpPr>
            <p:cNvPr id="8980" name="Google Shape;8980;p84"/>
            <p:cNvGrpSpPr/>
            <p:nvPr/>
          </p:nvGrpSpPr>
          <p:grpSpPr>
            <a:xfrm>
              <a:off x="1708762" y="2478331"/>
              <a:ext cx="1061760" cy="395756"/>
              <a:chOff x="413230" y="2611731"/>
              <a:chExt cx="1061760" cy="395756"/>
            </a:xfrm>
          </p:grpSpPr>
          <p:grpSp>
            <p:nvGrpSpPr>
              <p:cNvPr id="8981" name="Google Shape;8981;p84"/>
              <p:cNvGrpSpPr/>
              <p:nvPr/>
            </p:nvGrpSpPr>
            <p:grpSpPr>
              <a:xfrm>
                <a:off x="413230" y="2894420"/>
                <a:ext cx="1061760" cy="113067"/>
                <a:chOff x="1904239" y="3813027"/>
                <a:chExt cx="1061760" cy="113067"/>
              </a:xfrm>
            </p:grpSpPr>
            <p:sp>
              <p:nvSpPr>
                <p:cNvPr id="8982" name="Google Shape;8982;p84"/>
                <p:cNvSpPr/>
                <p:nvPr/>
              </p:nvSpPr>
              <p:spPr>
                <a:xfrm>
                  <a:off x="1904239" y="3813027"/>
                  <a:ext cx="497923" cy="113067"/>
                </a:xfrm>
                <a:prstGeom prst="rect">
                  <a:avLst/>
                </a:prstGeom>
                <a:solidFill>
                  <a:schemeClr val="accent4">
                    <a:alpha val="54901"/>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983" name="Google Shape;8983;p84"/>
                <p:cNvSpPr/>
                <p:nvPr/>
              </p:nvSpPr>
              <p:spPr>
                <a:xfrm>
                  <a:off x="2468076" y="3813027"/>
                  <a:ext cx="497923" cy="113067"/>
                </a:xfrm>
                <a:prstGeom prst="rect">
                  <a:avLst/>
                </a:prstGeom>
                <a:solidFill>
                  <a:schemeClr val="accent4">
                    <a:alpha val="54901"/>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nvGrpSpPr>
              <p:cNvPr id="8984" name="Google Shape;8984;p84"/>
              <p:cNvGrpSpPr/>
              <p:nvPr/>
            </p:nvGrpSpPr>
            <p:grpSpPr>
              <a:xfrm>
                <a:off x="413230" y="2611731"/>
                <a:ext cx="1061760" cy="230392"/>
                <a:chOff x="6535453" y="2852959"/>
                <a:chExt cx="966592" cy="209741"/>
              </a:xfrm>
            </p:grpSpPr>
            <p:pic>
              <p:nvPicPr>
                <p:cNvPr id="8985" name="Google Shape;8985;p84"/>
                <p:cNvPicPr preferRelativeResize="0"/>
                <p:nvPr/>
              </p:nvPicPr>
              <p:blipFill rotWithShape="1">
                <a:blip r:embed="rId4">
                  <a:alphaModFix/>
                </a:blip>
                <a:srcRect/>
                <a:stretch/>
              </p:blipFill>
              <p:spPr>
                <a:xfrm>
                  <a:off x="6787737" y="2852959"/>
                  <a:ext cx="209741" cy="209741"/>
                </a:xfrm>
                <a:prstGeom prst="rect">
                  <a:avLst/>
                </a:prstGeom>
                <a:noFill/>
                <a:ln>
                  <a:noFill/>
                </a:ln>
              </p:spPr>
            </p:pic>
            <p:pic>
              <p:nvPicPr>
                <p:cNvPr id="8986" name="Google Shape;8986;p84"/>
                <p:cNvPicPr preferRelativeResize="0"/>
                <p:nvPr/>
              </p:nvPicPr>
              <p:blipFill rotWithShape="1">
                <a:blip r:embed="rId4">
                  <a:alphaModFix/>
                </a:blip>
                <a:srcRect/>
                <a:stretch/>
              </p:blipFill>
              <p:spPr>
                <a:xfrm>
                  <a:off x="6535453" y="2852959"/>
                  <a:ext cx="209741" cy="209741"/>
                </a:xfrm>
                <a:prstGeom prst="rect">
                  <a:avLst/>
                </a:prstGeom>
                <a:noFill/>
                <a:ln>
                  <a:noFill/>
                </a:ln>
              </p:spPr>
            </p:pic>
            <p:pic>
              <p:nvPicPr>
                <p:cNvPr id="8987" name="Google Shape;8987;p84"/>
                <p:cNvPicPr preferRelativeResize="0"/>
                <p:nvPr/>
              </p:nvPicPr>
              <p:blipFill rotWithShape="1">
                <a:blip r:embed="rId4">
                  <a:alphaModFix/>
                </a:blip>
                <a:srcRect/>
                <a:stretch/>
              </p:blipFill>
              <p:spPr>
                <a:xfrm>
                  <a:off x="7292304" y="2852959"/>
                  <a:ext cx="209741" cy="209741"/>
                </a:xfrm>
                <a:prstGeom prst="rect">
                  <a:avLst/>
                </a:prstGeom>
                <a:noFill/>
                <a:ln>
                  <a:noFill/>
                </a:ln>
              </p:spPr>
            </p:pic>
            <p:pic>
              <p:nvPicPr>
                <p:cNvPr id="8988" name="Google Shape;8988;p84"/>
                <p:cNvPicPr preferRelativeResize="0"/>
                <p:nvPr/>
              </p:nvPicPr>
              <p:blipFill rotWithShape="1">
                <a:blip r:embed="rId4">
                  <a:alphaModFix/>
                </a:blip>
                <a:srcRect/>
                <a:stretch/>
              </p:blipFill>
              <p:spPr>
                <a:xfrm>
                  <a:off x="7040021" y="2852959"/>
                  <a:ext cx="209741" cy="209741"/>
                </a:xfrm>
                <a:prstGeom prst="rect">
                  <a:avLst/>
                </a:prstGeom>
                <a:noFill/>
                <a:ln>
                  <a:noFill/>
                </a:ln>
              </p:spPr>
            </p:pic>
          </p:grpSp>
        </p:grpSp>
        <p:pic>
          <p:nvPicPr>
            <p:cNvPr id="8989" name="Google Shape;8989;p84"/>
            <p:cNvPicPr preferRelativeResize="0"/>
            <p:nvPr/>
          </p:nvPicPr>
          <p:blipFill rotWithShape="1">
            <a:blip r:embed="rId5">
              <a:alphaModFix/>
            </a:blip>
            <a:srcRect/>
            <a:stretch/>
          </p:blipFill>
          <p:spPr>
            <a:xfrm rot="10800000" flipH="1">
              <a:off x="1997616" y="3174182"/>
              <a:ext cx="489101" cy="130164"/>
            </a:xfrm>
            <a:prstGeom prst="rect">
              <a:avLst/>
            </a:prstGeom>
            <a:noFill/>
            <a:ln>
              <a:noFill/>
            </a:ln>
          </p:spPr>
        </p:pic>
        <p:cxnSp>
          <p:nvCxnSpPr>
            <p:cNvPr id="8990" name="Google Shape;8990;p84"/>
            <p:cNvCxnSpPr/>
            <p:nvPr/>
          </p:nvCxnSpPr>
          <p:spPr>
            <a:xfrm>
              <a:off x="2242165" y="3340294"/>
              <a:ext cx="0" cy="125867"/>
            </a:xfrm>
            <a:prstGeom prst="straightConnector1">
              <a:avLst/>
            </a:prstGeom>
            <a:noFill/>
            <a:ln w="19050" cap="flat" cmpd="sng">
              <a:solidFill>
                <a:schemeClr val="dk1"/>
              </a:solidFill>
              <a:prstDash val="solid"/>
              <a:miter lim="800000"/>
              <a:headEnd type="none" w="sm" len="sm"/>
              <a:tailEnd type="none" w="sm" len="sm"/>
            </a:ln>
          </p:spPr>
        </p:cxnSp>
        <p:grpSp>
          <p:nvGrpSpPr>
            <p:cNvPr id="8991" name="Google Shape;8991;p84"/>
            <p:cNvGrpSpPr/>
            <p:nvPr/>
          </p:nvGrpSpPr>
          <p:grpSpPr>
            <a:xfrm>
              <a:off x="1957723" y="2930967"/>
              <a:ext cx="563837" cy="195895"/>
              <a:chOff x="1957723" y="2930967"/>
              <a:chExt cx="563837" cy="195895"/>
            </a:xfrm>
          </p:grpSpPr>
          <p:cxnSp>
            <p:nvCxnSpPr>
              <p:cNvPr id="8992" name="Google Shape;8992;p84"/>
              <p:cNvCxnSpPr/>
              <p:nvPr/>
            </p:nvCxnSpPr>
            <p:spPr>
              <a:xfrm>
                <a:off x="1957723" y="2930967"/>
                <a:ext cx="0" cy="70028"/>
              </a:xfrm>
              <a:prstGeom prst="straightConnector1">
                <a:avLst/>
              </a:prstGeom>
              <a:noFill/>
              <a:ln w="19050" cap="flat" cmpd="sng">
                <a:solidFill>
                  <a:schemeClr val="dk1"/>
                </a:solidFill>
                <a:prstDash val="solid"/>
                <a:miter lim="800000"/>
                <a:headEnd type="none" w="sm" len="sm"/>
                <a:tailEnd type="none" w="sm" len="sm"/>
              </a:ln>
            </p:spPr>
          </p:cxnSp>
          <p:cxnSp>
            <p:nvCxnSpPr>
              <p:cNvPr id="8993" name="Google Shape;8993;p84"/>
              <p:cNvCxnSpPr/>
              <p:nvPr/>
            </p:nvCxnSpPr>
            <p:spPr>
              <a:xfrm>
                <a:off x="2521560" y="2930967"/>
                <a:ext cx="0" cy="70028"/>
              </a:xfrm>
              <a:prstGeom prst="straightConnector1">
                <a:avLst/>
              </a:prstGeom>
              <a:noFill/>
              <a:ln w="19050" cap="flat" cmpd="sng">
                <a:solidFill>
                  <a:schemeClr val="dk1"/>
                </a:solidFill>
                <a:prstDash val="solid"/>
                <a:miter lim="800000"/>
                <a:headEnd type="none" w="sm" len="sm"/>
                <a:tailEnd type="none" w="sm" len="sm"/>
              </a:ln>
            </p:spPr>
          </p:cxnSp>
          <p:cxnSp>
            <p:nvCxnSpPr>
              <p:cNvPr id="8994" name="Google Shape;8994;p84"/>
              <p:cNvCxnSpPr/>
              <p:nvPr/>
            </p:nvCxnSpPr>
            <p:spPr>
              <a:xfrm>
                <a:off x="1957723" y="3000995"/>
                <a:ext cx="563362" cy="0"/>
              </a:xfrm>
              <a:prstGeom prst="straightConnector1">
                <a:avLst/>
              </a:prstGeom>
              <a:noFill/>
              <a:ln w="19050" cap="flat" cmpd="sng">
                <a:solidFill>
                  <a:schemeClr val="dk1"/>
                </a:solidFill>
                <a:prstDash val="solid"/>
                <a:miter lim="800000"/>
                <a:headEnd type="none" w="sm" len="sm"/>
                <a:tailEnd type="none" w="sm" len="sm"/>
              </a:ln>
            </p:spPr>
          </p:cxnSp>
          <p:cxnSp>
            <p:nvCxnSpPr>
              <p:cNvPr id="8995" name="Google Shape;8995;p84"/>
              <p:cNvCxnSpPr/>
              <p:nvPr/>
            </p:nvCxnSpPr>
            <p:spPr>
              <a:xfrm>
                <a:off x="2242165" y="3000995"/>
                <a:ext cx="0" cy="125867"/>
              </a:xfrm>
              <a:prstGeom prst="straightConnector1">
                <a:avLst/>
              </a:prstGeom>
              <a:noFill/>
              <a:ln w="19050" cap="flat" cmpd="sng">
                <a:solidFill>
                  <a:schemeClr val="dk1"/>
                </a:solidFill>
                <a:prstDash val="solid"/>
                <a:miter lim="800000"/>
                <a:headEnd type="none" w="sm" len="sm"/>
                <a:tailEnd type="none" w="sm" len="sm"/>
              </a:ln>
            </p:spPr>
          </p:cxnSp>
        </p:grpSp>
      </p:grpSp>
      <p:sp>
        <p:nvSpPr>
          <p:cNvPr id="8996" name="Google Shape;8996;p84"/>
          <p:cNvSpPr/>
          <p:nvPr/>
        </p:nvSpPr>
        <p:spPr>
          <a:xfrm>
            <a:off x="4695143" y="3524836"/>
            <a:ext cx="758541" cy="46166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chemeClr val="dk2"/>
                </a:solidFill>
                <a:latin typeface="Arial"/>
                <a:ea typeface="Arial"/>
                <a:cs typeface="Arial"/>
                <a:sym typeface="Arial"/>
              </a:rPr>
              <a:t>Storage</a:t>
            </a:r>
            <a:br>
              <a:rPr lang="en-US" sz="1200">
                <a:solidFill>
                  <a:schemeClr val="dk2"/>
                </a:solidFill>
                <a:latin typeface="Arial"/>
                <a:ea typeface="Arial"/>
                <a:cs typeface="Arial"/>
                <a:sym typeface="Arial"/>
              </a:rPr>
            </a:br>
            <a:r>
              <a:rPr lang="en-US" sz="1200">
                <a:solidFill>
                  <a:schemeClr val="dk2"/>
                </a:solidFill>
                <a:latin typeface="Arial"/>
                <a:ea typeface="Arial"/>
                <a:cs typeface="Arial"/>
                <a:sym typeface="Arial"/>
              </a:rPr>
              <a:t>array</a:t>
            </a:r>
            <a:endParaRPr/>
          </a:p>
        </p:txBody>
      </p:sp>
      <p:grpSp>
        <p:nvGrpSpPr>
          <p:cNvPr id="8997" name="Google Shape;8997;p84"/>
          <p:cNvGrpSpPr/>
          <p:nvPr/>
        </p:nvGrpSpPr>
        <p:grpSpPr>
          <a:xfrm>
            <a:off x="3917194" y="2478331"/>
            <a:ext cx="1061760" cy="1518468"/>
            <a:chOff x="3917194" y="2478331"/>
            <a:chExt cx="1061760" cy="1518468"/>
          </a:xfrm>
        </p:grpSpPr>
        <p:pic>
          <p:nvPicPr>
            <p:cNvPr id="8998" name="Google Shape;8998;p84"/>
            <p:cNvPicPr preferRelativeResize="0"/>
            <p:nvPr/>
          </p:nvPicPr>
          <p:blipFill rotWithShape="1">
            <a:blip r:embed="rId3">
              <a:alphaModFix/>
            </a:blip>
            <a:srcRect/>
            <a:stretch/>
          </p:blipFill>
          <p:spPr>
            <a:xfrm>
              <a:off x="4206053" y="3507709"/>
              <a:ext cx="489090" cy="489090"/>
            </a:xfrm>
            <a:prstGeom prst="rect">
              <a:avLst/>
            </a:prstGeom>
            <a:noFill/>
            <a:ln>
              <a:noFill/>
            </a:ln>
          </p:spPr>
        </p:pic>
        <p:grpSp>
          <p:nvGrpSpPr>
            <p:cNvPr id="8999" name="Google Shape;8999;p84"/>
            <p:cNvGrpSpPr/>
            <p:nvPr/>
          </p:nvGrpSpPr>
          <p:grpSpPr>
            <a:xfrm>
              <a:off x="3917194" y="2478331"/>
              <a:ext cx="1061760" cy="395756"/>
              <a:chOff x="413230" y="2611731"/>
              <a:chExt cx="1061760" cy="395756"/>
            </a:xfrm>
          </p:grpSpPr>
          <p:grpSp>
            <p:nvGrpSpPr>
              <p:cNvPr id="9000" name="Google Shape;9000;p84"/>
              <p:cNvGrpSpPr/>
              <p:nvPr/>
            </p:nvGrpSpPr>
            <p:grpSpPr>
              <a:xfrm>
                <a:off x="413230" y="2894420"/>
                <a:ext cx="1061760" cy="113067"/>
                <a:chOff x="1904239" y="3813027"/>
                <a:chExt cx="1061760" cy="113067"/>
              </a:xfrm>
            </p:grpSpPr>
            <p:sp>
              <p:nvSpPr>
                <p:cNvPr id="9001" name="Google Shape;9001;p84"/>
                <p:cNvSpPr/>
                <p:nvPr/>
              </p:nvSpPr>
              <p:spPr>
                <a:xfrm>
                  <a:off x="1904239" y="3813027"/>
                  <a:ext cx="497923" cy="113067"/>
                </a:xfrm>
                <a:prstGeom prst="rect">
                  <a:avLst/>
                </a:prstGeom>
                <a:solidFill>
                  <a:schemeClr val="accent4">
                    <a:alpha val="54901"/>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002" name="Google Shape;9002;p84"/>
                <p:cNvSpPr/>
                <p:nvPr/>
              </p:nvSpPr>
              <p:spPr>
                <a:xfrm>
                  <a:off x="2468076" y="3813027"/>
                  <a:ext cx="497923" cy="113067"/>
                </a:xfrm>
                <a:prstGeom prst="rect">
                  <a:avLst/>
                </a:prstGeom>
                <a:solidFill>
                  <a:schemeClr val="accent4">
                    <a:alpha val="54901"/>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nvGrpSpPr>
              <p:cNvPr id="9003" name="Google Shape;9003;p84"/>
              <p:cNvGrpSpPr/>
              <p:nvPr/>
            </p:nvGrpSpPr>
            <p:grpSpPr>
              <a:xfrm>
                <a:off x="413230" y="2611731"/>
                <a:ext cx="1061760" cy="230392"/>
                <a:chOff x="6535453" y="2852959"/>
                <a:chExt cx="966592" cy="209741"/>
              </a:xfrm>
            </p:grpSpPr>
            <p:pic>
              <p:nvPicPr>
                <p:cNvPr id="9004" name="Google Shape;9004;p84"/>
                <p:cNvPicPr preferRelativeResize="0"/>
                <p:nvPr/>
              </p:nvPicPr>
              <p:blipFill rotWithShape="1">
                <a:blip r:embed="rId4">
                  <a:alphaModFix/>
                </a:blip>
                <a:srcRect/>
                <a:stretch/>
              </p:blipFill>
              <p:spPr>
                <a:xfrm>
                  <a:off x="6787737" y="2852959"/>
                  <a:ext cx="209741" cy="209741"/>
                </a:xfrm>
                <a:prstGeom prst="rect">
                  <a:avLst/>
                </a:prstGeom>
                <a:noFill/>
                <a:ln>
                  <a:noFill/>
                </a:ln>
              </p:spPr>
            </p:pic>
            <p:pic>
              <p:nvPicPr>
                <p:cNvPr id="9005" name="Google Shape;9005;p84"/>
                <p:cNvPicPr preferRelativeResize="0"/>
                <p:nvPr/>
              </p:nvPicPr>
              <p:blipFill rotWithShape="1">
                <a:blip r:embed="rId4">
                  <a:alphaModFix/>
                </a:blip>
                <a:srcRect/>
                <a:stretch/>
              </p:blipFill>
              <p:spPr>
                <a:xfrm>
                  <a:off x="6535453" y="2852959"/>
                  <a:ext cx="209741" cy="209741"/>
                </a:xfrm>
                <a:prstGeom prst="rect">
                  <a:avLst/>
                </a:prstGeom>
                <a:noFill/>
                <a:ln>
                  <a:noFill/>
                </a:ln>
              </p:spPr>
            </p:pic>
            <p:pic>
              <p:nvPicPr>
                <p:cNvPr id="9006" name="Google Shape;9006;p84"/>
                <p:cNvPicPr preferRelativeResize="0"/>
                <p:nvPr/>
              </p:nvPicPr>
              <p:blipFill rotWithShape="1">
                <a:blip r:embed="rId4">
                  <a:alphaModFix/>
                </a:blip>
                <a:srcRect/>
                <a:stretch/>
              </p:blipFill>
              <p:spPr>
                <a:xfrm>
                  <a:off x="7292304" y="2852959"/>
                  <a:ext cx="209741" cy="209741"/>
                </a:xfrm>
                <a:prstGeom prst="rect">
                  <a:avLst/>
                </a:prstGeom>
                <a:noFill/>
                <a:ln>
                  <a:noFill/>
                </a:ln>
              </p:spPr>
            </p:pic>
            <p:pic>
              <p:nvPicPr>
                <p:cNvPr id="9007" name="Google Shape;9007;p84"/>
                <p:cNvPicPr preferRelativeResize="0"/>
                <p:nvPr/>
              </p:nvPicPr>
              <p:blipFill rotWithShape="1">
                <a:blip r:embed="rId4">
                  <a:alphaModFix/>
                </a:blip>
                <a:srcRect/>
                <a:stretch/>
              </p:blipFill>
              <p:spPr>
                <a:xfrm>
                  <a:off x="7040021" y="2852959"/>
                  <a:ext cx="209741" cy="209741"/>
                </a:xfrm>
                <a:prstGeom prst="rect">
                  <a:avLst/>
                </a:prstGeom>
                <a:noFill/>
                <a:ln>
                  <a:noFill/>
                </a:ln>
              </p:spPr>
            </p:pic>
          </p:grpSp>
        </p:grpSp>
        <p:pic>
          <p:nvPicPr>
            <p:cNvPr id="9008" name="Google Shape;9008;p84"/>
            <p:cNvPicPr preferRelativeResize="0"/>
            <p:nvPr/>
          </p:nvPicPr>
          <p:blipFill rotWithShape="1">
            <a:blip r:embed="rId5">
              <a:alphaModFix/>
            </a:blip>
            <a:srcRect/>
            <a:stretch/>
          </p:blipFill>
          <p:spPr>
            <a:xfrm rot="10800000" flipH="1">
              <a:off x="4206048" y="3174182"/>
              <a:ext cx="489101" cy="130164"/>
            </a:xfrm>
            <a:prstGeom prst="rect">
              <a:avLst/>
            </a:prstGeom>
            <a:noFill/>
            <a:ln>
              <a:noFill/>
            </a:ln>
          </p:spPr>
        </p:pic>
        <p:cxnSp>
          <p:nvCxnSpPr>
            <p:cNvPr id="9009" name="Google Shape;9009;p84"/>
            <p:cNvCxnSpPr/>
            <p:nvPr/>
          </p:nvCxnSpPr>
          <p:spPr>
            <a:xfrm>
              <a:off x="4450597" y="3340294"/>
              <a:ext cx="0" cy="125867"/>
            </a:xfrm>
            <a:prstGeom prst="straightConnector1">
              <a:avLst/>
            </a:prstGeom>
            <a:noFill/>
            <a:ln w="19050" cap="flat" cmpd="sng">
              <a:solidFill>
                <a:schemeClr val="dk1"/>
              </a:solidFill>
              <a:prstDash val="solid"/>
              <a:miter lim="800000"/>
              <a:headEnd type="none" w="sm" len="sm"/>
              <a:tailEnd type="none" w="sm" len="sm"/>
            </a:ln>
          </p:spPr>
        </p:cxnSp>
        <p:grpSp>
          <p:nvGrpSpPr>
            <p:cNvPr id="9010" name="Google Shape;9010;p84"/>
            <p:cNvGrpSpPr/>
            <p:nvPr/>
          </p:nvGrpSpPr>
          <p:grpSpPr>
            <a:xfrm>
              <a:off x="4166155" y="2930967"/>
              <a:ext cx="563837" cy="195895"/>
              <a:chOff x="4166155" y="2930967"/>
              <a:chExt cx="563837" cy="195895"/>
            </a:xfrm>
          </p:grpSpPr>
          <p:cxnSp>
            <p:nvCxnSpPr>
              <p:cNvPr id="9011" name="Google Shape;9011;p84"/>
              <p:cNvCxnSpPr/>
              <p:nvPr/>
            </p:nvCxnSpPr>
            <p:spPr>
              <a:xfrm>
                <a:off x="4166155" y="2930967"/>
                <a:ext cx="0" cy="70028"/>
              </a:xfrm>
              <a:prstGeom prst="straightConnector1">
                <a:avLst/>
              </a:prstGeom>
              <a:noFill/>
              <a:ln w="19050" cap="flat" cmpd="sng">
                <a:solidFill>
                  <a:schemeClr val="dk1"/>
                </a:solidFill>
                <a:prstDash val="solid"/>
                <a:miter lim="800000"/>
                <a:headEnd type="none" w="sm" len="sm"/>
                <a:tailEnd type="none" w="sm" len="sm"/>
              </a:ln>
            </p:spPr>
          </p:cxnSp>
          <p:cxnSp>
            <p:nvCxnSpPr>
              <p:cNvPr id="9012" name="Google Shape;9012;p84"/>
              <p:cNvCxnSpPr/>
              <p:nvPr/>
            </p:nvCxnSpPr>
            <p:spPr>
              <a:xfrm>
                <a:off x="4729992" y="2930967"/>
                <a:ext cx="0" cy="70028"/>
              </a:xfrm>
              <a:prstGeom prst="straightConnector1">
                <a:avLst/>
              </a:prstGeom>
              <a:noFill/>
              <a:ln w="19050" cap="flat" cmpd="sng">
                <a:solidFill>
                  <a:schemeClr val="dk1"/>
                </a:solidFill>
                <a:prstDash val="solid"/>
                <a:miter lim="800000"/>
                <a:headEnd type="none" w="sm" len="sm"/>
                <a:tailEnd type="none" w="sm" len="sm"/>
              </a:ln>
            </p:spPr>
          </p:cxnSp>
          <p:cxnSp>
            <p:nvCxnSpPr>
              <p:cNvPr id="9013" name="Google Shape;9013;p84"/>
              <p:cNvCxnSpPr/>
              <p:nvPr/>
            </p:nvCxnSpPr>
            <p:spPr>
              <a:xfrm>
                <a:off x="4166155" y="3000995"/>
                <a:ext cx="563362" cy="0"/>
              </a:xfrm>
              <a:prstGeom prst="straightConnector1">
                <a:avLst/>
              </a:prstGeom>
              <a:noFill/>
              <a:ln w="19050" cap="flat" cmpd="sng">
                <a:solidFill>
                  <a:schemeClr val="dk1"/>
                </a:solidFill>
                <a:prstDash val="solid"/>
                <a:miter lim="800000"/>
                <a:headEnd type="none" w="sm" len="sm"/>
                <a:tailEnd type="none" w="sm" len="sm"/>
              </a:ln>
            </p:spPr>
          </p:cxnSp>
          <p:cxnSp>
            <p:nvCxnSpPr>
              <p:cNvPr id="9014" name="Google Shape;9014;p84"/>
              <p:cNvCxnSpPr/>
              <p:nvPr/>
            </p:nvCxnSpPr>
            <p:spPr>
              <a:xfrm>
                <a:off x="4450597" y="3000995"/>
                <a:ext cx="0" cy="125867"/>
              </a:xfrm>
              <a:prstGeom prst="straightConnector1">
                <a:avLst/>
              </a:prstGeom>
              <a:noFill/>
              <a:ln w="19050" cap="flat" cmpd="sng">
                <a:solidFill>
                  <a:schemeClr val="dk1"/>
                </a:solidFill>
                <a:prstDash val="solid"/>
                <a:miter lim="800000"/>
                <a:headEnd type="none" w="sm" len="sm"/>
                <a:tailEnd type="none" w="sm" len="sm"/>
              </a:ln>
            </p:spPr>
          </p:cxnSp>
        </p:grpSp>
      </p:grpSp>
      <p:grpSp>
        <p:nvGrpSpPr>
          <p:cNvPr id="9015" name="Google Shape;9015;p84"/>
          <p:cNvGrpSpPr/>
          <p:nvPr/>
        </p:nvGrpSpPr>
        <p:grpSpPr>
          <a:xfrm>
            <a:off x="7077714" y="3501970"/>
            <a:ext cx="1062410" cy="506692"/>
            <a:chOff x="7077714" y="3501970"/>
            <a:chExt cx="1062410" cy="506692"/>
          </a:xfrm>
        </p:grpSpPr>
        <p:grpSp>
          <p:nvGrpSpPr>
            <p:cNvPr id="9016" name="Google Shape;9016;p84"/>
            <p:cNvGrpSpPr/>
            <p:nvPr/>
          </p:nvGrpSpPr>
          <p:grpSpPr>
            <a:xfrm>
              <a:off x="7077714" y="3823996"/>
              <a:ext cx="1062410" cy="184666"/>
              <a:chOff x="7950077" y="3379353"/>
              <a:chExt cx="1062410" cy="184666"/>
            </a:xfrm>
          </p:grpSpPr>
          <p:cxnSp>
            <p:nvCxnSpPr>
              <p:cNvPr id="9017" name="Google Shape;9017;p84"/>
              <p:cNvCxnSpPr/>
              <p:nvPr/>
            </p:nvCxnSpPr>
            <p:spPr>
              <a:xfrm>
                <a:off x="7954667" y="3387515"/>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9018" name="Google Shape;9018;p84"/>
              <p:cNvCxnSpPr/>
              <p:nvPr/>
            </p:nvCxnSpPr>
            <p:spPr>
              <a:xfrm>
                <a:off x="8781445" y="3475525"/>
                <a:ext cx="230392"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9019" name="Google Shape;9019;p84"/>
              <p:cNvCxnSpPr/>
              <p:nvPr/>
            </p:nvCxnSpPr>
            <p:spPr>
              <a:xfrm>
                <a:off x="9012487" y="3387515"/>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9020" name="Google Shape;9020;p84"/>
              <p:cNvCxnSpPr/>
              <p:nvPr/>
            </p:nvCxnSpPr>
            <p:spPr>
              <a:xfrm>
                <a:off x="7950077" y="3475525"/>
                <a:ext cx="230392"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sp>
            <p:nvSpPr>
              <p:cNvPr id="9021" name="Google Shape;9021;p84"/>
              <p:cNvSpPr txBox="1"/>
              <p:nvPr/>
            </p:nvSpPr>
            <p:spPr>
              <a:xfrm>
                <a:off x="8217202" y="3379353"/>
                <a:ext cx="545281"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1"/>
                    </a:solidFill>
                    <a:latin typeface="Arial"/>
                    <a:ea typeface="Arial"/>
                    <a:cs typeface="Arial"/>
                    <a:sym typeface="Arial"/>
                  </a:rPr>
                  <a:t>vSAN</a:t>
                </a:r>
                <a:endParaRPr/>
              </a:p>
            </p:txBody>
          </p:sp>
        </p:grpSp>
        <p:grpSp>
          <p:nvGrpSpPr>
            <p:cNvPr id="9022" name="Google Shape;9022;p84"/>
            <p:cNvGrpSpPr/>
            <p:nvPr/>
          </p:nvGrpSpPr>
          <p:grpSpPr>
            <a:xfrm>
              <a:off x="7077714" y="3501970"/>
              <a:ext cx="1061760" cy="283867"/>
              <a:chOff x="7950077" y="3385398"/>
              <a:chExt cx="1061760" cy="283867"/>
            </a:xfrm>
          </p:grpSpPr>
          <p:grpSp>
            <p:nvGrpSpPr>
              <p:cNvPr id="9023" name="Google Shape;9023;p84"/>
              <p:cNvGrpSpPr/>
              <p:nvPr/>
            </p:nvGrpSpPr>
            <p:grpSpPr>
              <a:xfrm>
                <a:off x="7950077" y="3385398"/>
                <a:ext cx="1061760" cy="113067"/>
                <a:chOff x="9883178" y="3095486"/>
                <a:chExt cx="1061760" cy="113067"/>
              </a:xfrm>
            </p:grpSpPr>
            <p:sp>
              <p:nvSpPr>
                <p:cNvPr id="9024" name="Google Shape;9024;p84"/>
                <p:cNvSpPr/>
                <p:nvPr/>
              </p:nvSpPr>
              <p:spPr>
                <a:xfrm>
                  <a:off x="9883178" y="3095486"/>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025" name="Google Shape;9025;p84"/>
                <p:cNvSpPr/>
                <p:nvPr/>
              </p:nvSpPr>
              <p:spPr>
                <a:xfrm>
                  <a:off x="10447015" y="3095486"/>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nvGrpSpPr>
              <p:cNvPr id="9026" name="Google Shape;9026;p84"/>
              <p:cNvGrpSpPr/>
              <p:nvPr/>
            </p:nvGrpSpPr>
            <p:grpSpPr>
              <a:xfrm>
                <a:off x="7950077" y="3556198"/>
                <a:ext cx="1061760" cy="113067"/>
                <a:chOff x="9883178" y="3095486"/>
                <a:chExt cx="1061760" cy="113067"/>
              </a:xfrm>
            </p:grpSpPr>
            <p:sp>
              <p:nvSpPr>
                <p:cNvPr id="9027" name="Google Shape;9027;p84"/>
                <p:cNvSpPr/>
                <p:nvPr/>
              </p:nvSpPr>
              <p:spPr>
                <a:xfrm>
                  <a:off x="9883178" y="3095486"/>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028" name="Google Shape;9028;p84"/>
                <p:cNvSpPr/>
                <p:nvPr/>
              </p:nvSpPr>
              <p:spPr>
                <a:xfrm>
                  <a:off x="10447015" y="3095486"/>
                  <a:ext cx="497923" cy="113067"/>
                </a:xfrm>
                <a:prstGeom prst="rect">
                  <a:avLst/>
                </a:prstGeom>
                <a:solidFill>
                  <a:schemeClr val="accent3">
                    <a:alpha val="54901"/>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grpSp>
      <p:grpSp>
        <p:nvGrpSpPr>
          <p:cNvPr id="9029" name="Google Shape;9029;p84"/>
          <p:cNvGrpSpPr/>
          <p:nvPr/>
        </p:nvGrpSpPr>
        <p:grpSpPr>
          <a:xfrm>
            <a:off x="7077714" y="3199360"/>
            <a:ext cx="1061760" cy="230392"/>
            <a:chOff x="6535453" y="2852959"/>
            <a:chExt cx="966592" cy="209741"/>
          </a:xfrm>
        </p:grpSpPr>
        <p:pic>
          <p:nvPicPr>
            <p:cNvPr id="9030" name="Google Shape;9030;p84"/>
            <p:cNvPicPr preferRelativeResize="0"/>
            <p:nvPr/>
          </p:nvPicPr>
          <p:blipFill rotWithShape="1">
            <a:blip r:embed="rId6">
              <a:alphaModFix/>
            </a:blip>
            <a:srcRect/>
            <a:stretch/>
          </p:blipFill>
          <p:spPr>
            <a:xfrm>
              <a:off x="6787737" y="2852959"/>
              <a:ext cx="209741" cy="209741"/>
            </a:xfrm>
            <a:prstGeom prst="rect">
              <a:avLst/>
            </a:prstGeom>
            <a:noFill/>
            <a:ln>
              <a:noFill/>
            </a:ln>
          </p:spPr>
        </p:pic>
        <p:pic>
          <p:nvPicPr>
            <p:cNvPr id="9031" name="Google Shape;9031;p84"/>
            <p:cNvPicPr preferRelativeResize="0"/>
            <p:nvPr/>
          </p:nvPicPr>
          <p:blipFill rotWithShape="1">
            <a:blip r:embed="rId6">
              <a:alphaModFix/>
            </a:blip>
            <a:srcRect/>
            <a:stretch/>
          </p:blipFill>
          <p:spPr>
            <a:xfrm>
              <a:off x="6535453" y="2852959"/>
              <a:ext cx="209741" cy="209741"/>
            </a:xfrm>
            <a:prstGeom prst="rect">
              <a:avLst/>
            </a:prstGeom>
            <a:noFill/>
            <a:ln>
              <a:noFill/>
            </a:ln>
          </p:spPr>
        </p:pic>
        <p:pic>
          <p:nvPicPr>
            <p:cNvPr id="9032" name="Google Shape;9032;p84"/>
            <p:cNvPicPr preferRelativeResize="0"/>
            <p:nvPr/>
          </p:nvPicPr>
          <p:blipFill rotWithShape="1">
            <a:blip r:embed="rId6">
              <a:alphaModFix/>
            </a:blip>
            <a:srcRect/>
            <a:stretch/>
          </p:blipFill>
          <p:spPr>
            <a:xfrm>
              <a:off x="7292304" y="2852959"/>
              <a:ext cx="209741" cy="209741"/>
            </a:xfrm>
            <a:prstGeom prst="rect">
              <a:avLst/>
            </a:prstGeom>
            <a:noFill/>
            <a:ln>
              <a:noFill/>
            </a:ln>
          </p:spPr>
        </p:pic>
        <p:pic>
          <p:nvPicPr>
            <p:cNvPr id="9033" name="Google Shape;9033;p84"/>
            <p:cNvPicPr preferRelativeResize="0"/>
            <p:nvPr/>
          </p:nvPicPr>
          <p:blipFill rotWithShape="1">
            <a:blip r:embed="rId6">
              <a:alphaModFix/>
            </a:blip>
            <a:srcRect/>
            <a:stretch/>
          </p:blipFill>
          <p:spPr>
            <a:xfrm>
              <a:off x="7040021" y="2852959"/>
              <a:ext cx="209741" cy="209741"/>
            </a:xfrm>
            <a:prstGeom prst="rect">
              <a:avLst/>
            </a:prstGeom>
            <a:noFill/>
            <a:ln>
              <a:noFill/>
            </a:ln>
          </p:spPr>
        </p:pic>
      </p:grpSp>
      <p:grpSp>
        <p:nvGrpSpPr>
          <p:cNvPr id="9034" name="Google Shape;9034;p84"/>
          <p:cNvGrpSpPr/>
          <p:nvPr/>
        </p:nvGrpSpPr>
        <p:grpSpPr>
          <a:xfrm>
            <a:off x="9610868" y="2809893"/>
            <a:ext cx="1061760" cy="113067"/>
            <a:chOff x="10447015" y="3095486"/>
            <a:chExt cx="1061760" cy="113067"/>
          </a:xfrm>
        </p:grpSpPr>
        <p:sp>
          <p:nvSpPr>
            <p:cNvPr id="9035" name="Google Shape;9035;p84"/>
            <p:cNvSpPr/>
            <p:nvPr/>
          </p:nvSpPr>
          <p:spPr>
            <a:xfrm>
              <a:off x="10447015" y="3095486"/>
              <a:ext cx="497923" cy="113067"/>
            </a:xfrm>
            <a:prstGeom prst="rect">
              <a:avLst/>
            </a:prstGeom>
            <a:solidFill>
              <a:schemeClr val="accent4">
                <a:alpha val="54901"/>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036" name="Google Shape;9036;p84"/>
            <p:cNvSpPr/>
            <p:nvPr/>
          </p:nvSpPr>
          <p:spPr>
            <a:xfrm>
              <a:off x="11010852" y="3095486"/>
              <a:ext cx="497923" cy="113067"/>
            </a:xfrm>
            <a:prstGeom prst="rect">
              <a:avLst/>
            </a:prstGeom>
            <a:solidFill>
              <a:schemeClr val="accent4">
                <a:alpha val="54901"/>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cxnSp>
        <p:nvCxnSpPr>
          <p:cNvPr id="9037" name="Google Shape;9037;p84"/>
          <p:cNvCxnSpPr/>
          <p:nvPr/>
        </p:nvCxnSpPr>
        <p:spPr>
          <a:xfrm rot="10800000">
            <a:off x="10141748" y="3251029"/>
            <a:ext cx="0" cy="129942"/>
          </a:xfrm>
          <a:prstGeom prst="straightConnector1">
            <a:avLst/>
          </a:prstGeom>
          <a:noFill/>
          <a:ln w="25400" cap="flat" cmpd="sng">
            <a:solidFill>
              <a:schemeClr val="accent2"/>
            </a:solidFill>
            <a:prstDash val="dot"/>
            <a:miter lim="800000"/>
            <a:headEnd type="diamond" w="lg" len="lg"/>
            <a:tailEnd type="none" w="sm" len="sm"/>
          </a:ln>
        </p:spPr>
      </p:cxnSp>
      <p:pic>
        <p:nvPicPr>
          <p:cNvPr id="9038" name="Google Shape;9038;p84"/>
          <p:cNvPicPr preferRelativeResize="0"/>
          <p:nvPr/>
        </p:nvPicPr>
        <p:blipFill rotWithShape="1">
          <a:blip r:embed="rId7">
            <a:alphaModFix/>
          </a:blip>
          <a:srcRect/>
          <a:stretch/>
        </p:blipFill>
        <p:spPr>
          <a:xfrm>
            <a:off x="10046543" y="2969218"/>
            <a:ext cx="190410" cy="223781"/>
          </a:xfrm>
          <a:prstGeom prst="rect">
            <a:avLst/>
          </a:prstGeom>
          <a:noFill/>
          <a:ln>
            <a:noFill/>
          </a:ln>
        </p:spPr>
      </p:pic>
      <p:grpSp>
        <p:nvGrpSpPr>
          <p:cNvPr id="9039" name="Google Shape;9039;p84"/>
          <p:cNvGrpSpPr/>
          <p:nvPr/>
        </p:nvGrpSpPr>
        <p:grpSpPr>
          <a:xfrm>
            <a:off x="9598865" y="2496313"/>
            <a:ext cx="1074715" cy="230392"/>
            <a:chOff x="5450579" y="1595520"/>
            <a:chExt cx="1074715" cy="230392"/>
          </a:xfrm>
        </p:grpSpPr>
        <p:pic>
          <p:nvPicPr>
            <p:cNvPr id="9040" name="Google Shape;9040;p84"/>
            <p:cNvPicPr preferRelativeResize="0"/>
            <p:nvPr/>
          </p:nvPicPr>
          <p:blipFill rotWithShape="1">
            <a:blip r:embed="rId6">
              <a:alphaModFix/>
            </a:blip>
            <a:srcRect/>
            <a:stretch/>
          </p:blipFill>
          <p:spPr>
            <a:xfrm>
              <a:off x="5732020" y="1595520"/>
              <a:ext cx="230392" cy="230392"/>
            </a:xfrm>
            <a:prstGeom prst="rect">
              <a:avLst/>
            </a:prstGeom>
            <a:noFill/>
            <a:ln>
              <a:noFill/>
            </a:ln>
          </p:spPr>
        </p:pic>
        <p:pic>
          <p:nvPicPr>
            <p:cNvPr id="9041" name="Google Shape;9041;p84"/>
            <p:cNvPicPr preferRelativeResize="0"/>
            <p:nvPr/>
          </p:nvPicPr>
          <p:blipFill rotWithShape="1">
            <a:blip r:embed="rId6">
              <a:alphaModFix/>
            </a:blip>
            <a:srcRect/>
            <a:stretch/>
          </p:blipFill>
          <p:spPr>
            <a:xfrm>
              <a:off x="5450579" y="1595520"/>
              <a:ext cx="230392" cy="230392"/>
            </a:xfrm>
            <a:prstGeom prst="rect">
              <a:avLst/>
            </a:prstGeom>
            <a:noFill/>
            <a:ln>
              <a:noFill/>
            </a:ln>
          </p:spPr>
        </p:pic>
        <p:pic>
          <p:nvPicPr>
            <p:cNvPr id="9042" name="Google Shape;9042;p84"/>
            <p:cNvPicPr preferRelativeResize="0"/>
            <p:nvPr/>
          </p:nvPicPr>
          <p:blipFill rotWithShape="1">
            <a:blip r:embed="rId6">
              <a:alphaModFix/>
            </a:blip>
            <a:srcRect/>
            <a:stretch/>
          </p:blipFill>
          <p:spPr>
            <a:xfrm>
              <a:off x="6294902" y="1595520"/>
              <a:ext cx="230392" cy="230392"/>
            </a:xfrm>
            <a:prstGeom prst="rect">
              <a:avLst/>
            </a:prstGeom>
            <a:noFill/>
            <a:ln>
              <a:noFill/>
            </a:ln>
          </p:spPr>
        </p:pic>
        <p:pic>
          <p:nvPicPr>
            <p:cNvPr id="9043" name="Google Shape;9043;p84"/>
            <p:cNvPicPr preferRelativeResize="0"/>
            <p:nvPr/>
          </p:nvPicPr>
          <p:blipFill rotWithShape="1">
            <a:blip r:embed="rId6">
              <a:alphaModFix/>
            </a:blip>
            <a:srcRect/>
            <a:stretch/>
          </p:blipFill>
          <p:spPr>
            <a:xfrm>
              <a:off x="6013461" y="1595520"/>
              <a:ext cx="230392" cy="230392"/>
            </a:xfrm>
            <a:prstGeom prst="rect">
              <a:avLst/>
            </a:prstGeom>
            <a:noFill/>
            <a:ln>
              <a:noFill/>
            </a:ln>
          </p:spPr>
        </p:pic>
      </p:grpSp>
      <p:grpSp>
        <p:nvGrpSpPr>
          <p:cNvPr id="9044" name="Google Shape;9044;p84"/>
          <p:cNvGrpSpPr/>
          <p:nvPr/>
        </p:nvGrpSpPr>
        <p:grpSpPr>
          <a:xfrm>
            <a:off x="9610867" y="3501136"/>
            <a:ext cx="1061761" cy="507526"/>
            <a:chOff x="9610867" y="3501136"/>
            <a:chExt cx="1061761" cy="507526"/>
          </a:xfrm>
        </p:grpSpPr>
        <p:grpSp>
          <p:nvGrpSpPr>
            <p:cNvPr id="9045" name="Google Shape;9045;p84"/>
            <p:cNvGrpSpPr/>
            <p:nvPr/>
          </p:nvGrpSpPr>
          <p:grpSpPr>
            <a:xfrm>
              <a:off x="9610868" y="3501136"/>
              <a:ext cx="1061760" cy="284701"/>
              <a:chOff x="5462582" y="3987172"/>
              <a:chExt cx="1061760" cy="284701"/>
            </a:xfrm>
          </p:grpSpPr>
          <p:sp>
            <p:nvSpPr>
              <p:cNvPr id="9046" name="Google Shape;9046;p84"/>
              <p:cNvSpPr/>
              <p:nvPr/>
            </p:nvSpPr>
            <p:spPr>
              <a:xfrm>
                <a:off x="5462582" y="4158806"/>
                <a:ext cx="497923" cy="113067"/>
              </a:xfrm>
              <a:prstGeom prst="rect">
                <a:avLst/>
              </a:prstGeom>
              <a:solidFill>
                <a:schemeClr val="accent3">
                  <a:alpha val="54901"/>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047" name="Google Shape;9047;p84"/>
              <p:cNvSpPr/>
              <p:nvPr/>
            </p:nvSpPr>
            <p:spPr>
              <a:xfrm>
                <a:off x="6026419" y="4158806"/>
                <a:ext cx="497923" cy="113067"/>
              </a:xfrm>
              <a:prstGeom prst="rect">
                <a:avLst/>
              </a:prstGeom>
              <a:solidFill>
                <a:schemeClr val="accent3">
                  <a:alpha val="54901"/>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048" name="Google Shape;9048;p84"/>
              <p:cNvSpPr/>
              <p:nvPr/>
            </p:nvSpPr>
            <p:spPr>
              <a:xfrm>
                <a:off x="5462582" y="3987172"/>
                <a:ext cx="497923" cy="113067"/>
              </a:xfrm>
              <a:prstGeom prst="rect">
                <a:avLst/>
              </a:prstGeom>
              <a:solidFill>
                <a:schemeClr val="accent3">
                  <a:alpha val="54901"/>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049" name="Google Shape;9049;p84"/>
              <p:cNvSpPr/>
              <p:nvPr/>
            </p:nvSpPr>
            <p:spPr>
              <a:xfrm>
                <a:off x="6026419" y="3987172"/>
                <a:ext cx="497923" cy="113067"/>
              </a:xfrm>
              <a:prstGeom prst="rect">
                <a:avLst/>
              </a:prstGeom>
              <a:solidFill>
                <a:schemeClr val="accent3">
                  <a:alpha val="54901"/>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nvGrpSpPr>
            <p:cNvPr id="9050" name="Google Shape;9050;p84"/>
            <p:cNvGrpSpPr/>
            <p:nvPr/>
          </p:nvGrpSpPr>
          <p:grpSpPr>
            <a:xfrm>
              <a:off x="9610867" y="3823996"/>
              <a:ext cx="1061761" cy="184666"/>
              <a:chOff x="1516532" y="4795878"/>
              <a:chExt cx="1061761" cy="184666"/>
            </a:xfrm>
          </p:grpSpPr>
          <p:cxnSp>
            <p:nvCxnSpPr>
              <p:cNvPr id="9051" name="Google Shape;9051;p84"/>
              <p:cNvCxnSpPr/>
              <p:nvPr/>
            </p:nvCxnSpPr>
            <p:spPr>
              <a:xfrm>
                <a:off x="1521122" y="4804040"/>
                <a:ext cx="0" cy="8801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9052" name="Google Shape;9052;p84"/>
              <p:cNvCxnSpPr/>
              <p:nvPr/>
            </p:nvCxnSpPr>
            <p:spPr>
              <a:xfrm>
                <a:off x="2356829" y="4892050"/>
                <a:ext cx="221464" cy="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9053" name="Google Shape;9053;p84"/>
              <p:cNvCxnSpPr/>
              <p:nvPr/>
            </p:nvCxnSpPr>
            <p:spPr>
              <a:xfrm>
                <a:off x="2578293" y="4804040"/>
                <a:ext cx="0" cy="8801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9054" name="Google Shape;9054;p84"/>
              <p:cNvCxnSpPr/>
              <p:nvPr/>
            </p:nvCxnSpPr>
            <p:spPr>
              <a:xfrm>
                <a:off x="1516532" y="4892050"/>
                <a:ext cx="218390" cy="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sp>
            <p:nvSpPr>
              <p:cNvPr id="9055" name="Google Shape;9055;p84"/>
              <p:cNvSpPr txBox="1"/>
              <p:nvPr/>
            </p:nvSpPr>
            <p:spPr>
              <a:xfrm>
                <a:off x="1785971" y="4795878"/>
                <a:ext cx="565533"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2"/>
                    </a:solidFill>
                    <a:latin typeface="Arial"/>
                    <a:ea typeface="Arial"/>
                    <a:cs typeface="Arial"/>
                    <a:sym typeface="Arial"/>
                  </a:rPr>
                  <a:t>vSAN</a:t>
                </a:r>
                <a:endParaRPr/>
              </a:p>
            </p:txBody>
          </p:sp>
        </p:grpSp>
      </p:grpSp>
      <p:grpSp>
        <p:nvGrpSpPr>
          <p:cNvPr id="9056" name="Google Shape;9056;p84"/>
          <p:cNvGrpSpPr/>
          <p:nvPr/>
        </p:nvGrpSpPr>
        <p:grpSpPr>
          <a:xfrm>
            <a:off x="8232357" y="3626705"/>
            <a:ext cx="1291187" cy="0"/>
            <a:chOff x="8232357" y="3192999"/>
            <a:chExt cx="1291187" cy="0"/>
          </a:xfrm>
        </p:grpSpPr>
        <p:cxnSp>
          <p:nvCxnSpPr>
            <p:cNvPr id="9057" name="Google Shape;9057;p84"/>
            <p:cNvCxnSpPr/>
            <p:nvPr/>
          </p:nvCxnSpPr>
          <p:spPr>
            <a:xfrm>
              <a:off x="8818952" y="3192999"/>
              <a:ext cx="704592" cy="0"/>
            </a:xfrm>
            <a:prstGeom prst="straightConnector1">
              <a:avLst/>
            </a:prstGeom>
            <a:noFill/>
            <a:ln w="25400" cap="flat" cmpd="sng">
              <a:solidFill>
                <a:schemeClr val="accent3"/>
              </a:solidFill>
              <a:prstDash val="solid"/>
              <a:miter lim="800000"/>
              <a:headEnd type="none" w="sm" len="sm"/>
              <a:tailEnd type="triangle" w="med" len="med"/>
            </a:ln>
          </p:spPr>
        </p:cxnSp>
        <p:cxnSp>
          <p:nvCxnSpPr>
            <p:cNvPr id="9058" name="Google Shape;9058;p84"/>
            <p:cNvCxnSpPr/>
            <p:nvPr/>
          </p:nvCxnSpPr>
          <p:spPr>
            <a:xfrm rot="10800000">
              <a:off x="8232357" y="3192999"/>
              <a:ext cx="610018" cy="0"/>
            </a:xfrm>
            <a:prstGeom prst="straightConnector1">
              <a:avLst/>
            </a:prstGeom>
            <a:noFill/>
            <a:ln w="25400" cap="flat" cmpd="sng">
              <a:solidFill>
                <a:schemeClr val="accent3"/>
              </a:solidFill>
              <a:prstDash val="solid"/>
              <a:miter lim="800000"/>
              <a:headEnd type="none" w="sm" len="sm"/>
              <a:tailEnd type="triangle" w="med" len="med"/>
            </a:ln>
          </p:spPr>
        </p:cxnSp>
      </p:grpSp>
      <p:sp>
        <p:nvSpPr>
          <p:cNvPr id="9059" name="Google Shape;9059;p84"/>
          <p:cNvSpPr/>
          <p:nvPr/>
        </p:nvSpPr>
        <p:spPr>
          <a:xfrm>
            <a:off x="8453610" y="3394201"/>
            <a:ext cx="848681" cy="184666"/>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a:solidFill>
                  <a:schemeClr val="accent3"/>
                </a:solidFill>
                <a:latin typeface="Arial"/>
                <a:ea typeface="Arial"/>
                <a:cs typeface="Arial"/>
                <a:sym typeface="Arial"/>
              </a:rPr>
              <a:t>Replicate</a:t>
            </a:r>
            <a:endParaRPr/>
          </a:p>
        </p:txBody>
      </p:sp>
      <p:grpSp>
        <p:nvGrpSpPr>
          <p:cNvPr id="9060" name="Google Shape;9060;p84"/>
          <p:cNvGrpSpPr/>
          <p:nvPr/>
        </p:nvGrpSpPr>
        <p:grpSpPr>
          <a:xfrm>
            <a:off x="2682501" y="3626705"/>
            <a:ext cx="1291187" cy="0"/>
            <a:chOff x="8232357" y="3192999"/>
            <a:chExt cx="1291187" cy="0"/>
          </a:xfrm>
        </p:grpSpPr>
        <p:cxnSp>
          <p:nvCxnSpPr>
            <p:cNvPr id="9061" name="Google Shape;9061;p84"/>
            <p:cNvCxnSpPr/>
            <p:nvPr/>
          </p:nvCxnSpPr>
          <p:spPr>
            <a:xfrm>
              <a:off x="8818952" y="3192999"/>
              <a:ext cx="704592" cy="0"/>
            </a:xfrm>
            <a:prstGeom prst="straightConnector1">
              <a:avLst/>
            </a:prstGeom>
            <a:noFill/>
            <a:ln w="25400" cap="flat" cmpd="sng">
              <a:solidFill>
                <a:srgbClr val="A6192E"/>
              </a:solidFill>
              <a:prstDash val="solid"/>
              <a:miter lim="800000"/>
              <a:headEnd type="none" w="sm" len="sm"/>
              <a:tailEnd type="triangle" w="med" len="med"/>
            </a:ln>
          </p:spPr>
        </p:cxnSp>
        <p:cxnSp>
          <p:nvCxnSpPr>
            <p:cNvPr id="9062" name="Google Shape;9062;p84"/>
            <p:cNvCxnSpPr/>
            <p:nvPr/>
          </p:nvCxnSpPr>
          <p:spPr>
            <a:xfrm rot="10800000">
              <a:off x="8232357" y="3192999"/>
              <a:ext cx="619499" cy="0"/>
            </a:xfrm>
            <a:prstGeom prst="straightConnector1">
              <a:avLst/>
            </a:prstGeom>
            <a:noFill/>
            <a:ln w="25400" cap="flat" cmpd="sng">
              <a:solidFill>
                <a:srgbClr val="A6192E"/>
              </a:solidFill>
              <a:prstDash val="solid"/>
              <a:miter lim="800000"/>
              <a:headEnd type="none" w="sm" len="sm"/>
              <a:tailEnd type="triangle" w="med" len="med"/>
            </a:ln>
          </p:spPr>
        </p:cxnSp>
      </p:grpSp>
      <p:sp>
        <p:nvSpPr>
          <p:cNvPr id="9063" name="Google Shape;9063;p84"/>
          <p:cNvSpPr/>
          <p:nvPr/>
        </p:nvSpPr>
        <p:spPr>
          <a:xfrm>
            <a:off x="2903754" y="3394201"/>
            <a:ext cx="848681" cy="184666"/>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a:solidFill>
                  <a:srgbClr val="A6192E"/>
                </a:solidFill>
                <a:latin typeface="Arial"/>
                <a:ea typeface="Arial"/>
                <a:cs typeface="Arial"/>
                <a:sym typeface="Arial"/>
              </a:rPr>
              <a:t>Replicate</a:t>
            </a:r>
            <a:endParaRPr/>
          </a:p>
        </p:txBody>
      </p:sp>
      <p:pic>
        <p:nvPicPr>
          <p:cNvPr id="9064" name="Google Shape;9064;p84"/>
          <p:cNvPicPr preferRelativeResize="0"/>
          <p:nvPr/>
        </p:nvPicPr>
        <p:blipFill rotWithShape="1">
          <a:blip r:embed="rId8">
            <a:alphaModFix/>
          </a:blip>
          <a:srcRect/>
          <a:stretch/>
        </p:blipFill>
        <p:spPr>
          <a:xfrm>
            <a:off x="8762754" y="3130665"/>
            <a:ext cx="230392" cy="230392"/>
          </a:xfrm>
          <a:prstGeom prst="rect">
            <a:avLst/>
          </a:prstGeom>
          <a:noFill/>
          <a:ln>
            <a:noFill/>
          </a:ln>
        </p:spPr>
      </p:pic>
      <p:pic>
        <p:nvPicPr>
          <p:cNvPr id="9065" name="Google Shape;9065;p84"/>
          <p:cNvPicPr preferRelativeResize="0"/>
          <p:nvPr/>
        </p:nvPicPr>
        <p:blipFill rotWithShape="1">
          <a:blip r:embed="rId9">
            <a:alphaModFix/>
          </a:blip>
          <a:srcRect/>
          <a:stretch/>
        </p:blipFill>
        <p:spPr>
          <a:xfrm>
            <a:off x="3205934" y="3073917"/>
            <a:ext cx="244321" cy="287140"/>
          </a:xfrm>
          <a:prstGeom prst="rect">
            <a:avLst/>
          </a:prstGeom>
          <a:noFill/>
          <a:ln>
            <a:noFill/>
          </a:ln>
        </p:spPr>
      </p:pic>
      <p:sp>
        <p:nvSpPr>
          <p:cNvPr id="9066" name="Google Shape;9066;p84"/>
          <p:cNvSpPr/>
          <p:nvPr/>
        </p:nvSpPr>
        <p:spPr>
          <a:xfrm>
            <a:off x="5395866" y="6468250"/>
            <a:ext cx="2577524"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7F7F7F"/>
                </a:solidFill>
                <a:latin typeface="Arial"/>
                <a:ea typeface="Arial"/>
                <a:cs typeface="Arial"/>
                <a:sym typeface="Arial"/>
              </a:rPr>
              <a:t>* Replication a part of the VLR addon license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978"/>
                                        </p:tgtEl>
                                        <p:attrNameLst>
                                          <p:attrName>style.visibility</p:attrName>
                                        </p:attrNameLst>
                                      </p:cBhvr>
                                      <p:to>
                                        <p:strVal val="visible"/>
                                      </p:to>
                                    </p:set>
                                    <p:animEffect transition="in" filter="fade">
                                      <p:cBhvr>
                                        <p:cTn id="7" dur="500"/>
                                        <p:tgtEl>
                                          <p:spTgt spid="8978"/>
                                        </p:tgtEl>
                                      </p:cBhvr>
                                    </p:animEffect>
                                  </p:childTnLst>
                                </p:cTn>
                              </p:par>
                              <p:par>
                                <p:cTn id="8" presetID="10" presetClass="entr" presetSubtype="0" fill="hold" nodeType="withEffect">
                                  <p:stCondLst>
                                    <p:cond delay="0"/>
                                  </p:stCondLst>
                                  <p:childTnLst>
                                    <p:set>
                                      <p:cBhvr>
                                        <p:cTn id="9" dur="1" fill="hold">
                                          <p:stCondLst>
                                            <p:cond delay="0"/>
                                          </p:stCondLst>
                                        </p:cTn>
                                        <p:tgtEl>
                                          <p:spTgt spid="8997"/>
                                        </p:tgtEl>
                                        <p:attrNameLst>
                                          <p:attrName>style.visibility</p:attrName>
                                        </p:attrNameLst>
                                      </p:cBhvr>
                                      <p:to>
                                        <p:strVal val="visible"/>
                                      </p:to>
                                    </p:set>
                                    <p:animEffect transition="in" filter="fade">
                                      <p:cBhvr>
                                        <p:cTn id="10" dur="500"/>
                                        <p:tgtEl>
                                          <p:spTgt spid="8997"/>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8996"/>
                                        </p:tgtEl>
                                        <p:attrNameLst>
                                          <p:attrName>style.visibility</p:attrName>
                                        </p:attrNameLst>
                                      </p:cBhvr>
                                      <p:to>
                                        <p:strVal val="visible"/>
                                      </p:to>
                                    </p:set>
                                    <p:animEffect transition="in" filter="fade">
                                      <p:cBhvr>
                                        <p:cTn id="14" dur="500"/>
                                        <p:tgtEl>
                                          <p:spTgt spid="8996"/>
                                        </p:tgtEl>
                                      </p:cBhvr>
                                    </p:animEffect>
                                  </p:childTnLst>
                                </p:cTn>
                              </p:par>
                              <p:par>
                                <p:cTn id="15" presetID="10" presetClass="entr" presetSubtype="0" fill="hold" nodeType="withEffect">
                                  <p:stCondLst>
                                    <p:cond delay="0"/>
                                  </p:stCondLst>
                                  <p:childTnLst>
                                    <p:set>
                                      <p:cBhvr>
                                        <p:cTn id="16" dur="1" fill="hold">
                                          <p:stCondLst>
                                            <p:cond delay="0"/>
                                          </p:stCondLst>
                                        </p:cTn>
                                        <p:tgtEl>
                                          <p:spTgt spid="8977"/>
                                        </p:tgtEl>
                                        <p:attrNameLst>
                                          <p:attrName>style.visibility</p:attrName>
                                        </p:attrNameLst>
                                      </p:cBhvr>
                                      <p:to>
                                        <p:strVal val="visible"/>
                                      </p:to>
                                    </p:set>
                                    <p:animEffect transition="in" filter="fade">
                                      <p:cBhvr>
                                        <p:cTn id="17" dur="500"/>
                                        <p:tgtEl>
                                          <p:spTgt spid="8977"/>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9060"/>
                                        </p:tgtEl>
                                        <p:attrNameLst>
                                          <p:attrName>style.visibility</p:attrName>
                                        </p:attrNameLst>
                                      </p:cBhvr>
                                      <p:to>
                                        <p:strVal val="visible"/>
                                      </p:to>
                                    </p:set>
                                    <p:animEffect transition="in" filter="fade">
                                      <p:cBhvr>
                                        <p:cTn id="21" dur="500"/>
                                        <p:tgtEl>
                                          <p:spTgt spid="9060"/>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9063"/>
                                        </p:tgtEl>
                                        <p:attrNameLst>
                                          <p:attrName>style.visibility</p:attrName>
                                        </p:attrNameLst>
                                      </p:cBhvr>
                                      <p:to>
                                        <p:strVal val="visible"/>
                                      </p:to>
                                    </p:set>
                                    <p:animEffect transition="in" filter="fade">
                                      <p:cBhvr>
                                        <p:cTn id="25" dur="500"/>
                                        <p:tgtEl>
                                          <p:spTgt spid="9063"/>
                                        </p:tgtEl>
                                      </p:cBhvr>
                                    </p:animEffect>
                                  </p:childTnLst>
                                </p:cTn>
                              </p:par>
                              <p:par>
                                <p:cTn id="26" presetID="10" presetClass="entr" presetSubtype="0" fill="hold" nodeType="withEffect">
                                  <p:stCondLst>
                                    <p:cond delay="0"/>
                                  </p:stCondLst>
                                  <p:childTnLst>
                                    <p:set>
                                      <p:cBhvr>
                                        <p:cTn id="27" dur="1" fill="hold">
                                          <p:stCondLst>
                                            <p:cond delay="0"/>
                                          </p:stCondLst>
                                        </p:cTn>
                                        <p:tgtEl>
                                          <p:spTgt spid="9065"/>
                                        </p:tgtEl>
                                        <p:attrNameLst>
                                          <p:attrName>style.visibility</p:attrName>
                                        </p:attrNameLst>
                                      </p:cBhvr>
                                      <p:to>
                                        <p:strVal val="visible"/>
                                      </p:to>
                                    </p:set>
                                    <p:animEffect transition="in" filter="fade">
                                      <p:cBhvr>
                                        <p:cTn id="28" dur="500"/>
                                        <p:tgtEl>
                                          <p:spTgt spid="9065"/>
                                        </p:tgtEl>
                                      </p:cBhvr>
                                    </p:animEffect>
                                  </p:childTnLst>
                                </p:cTn>
                              </p:par>
                            </p:childTnLst>
                          </p:cTn>
                        </p:par>
                        <p:par>
                          <p:cTn id="29" fill="hold">
                            <p:stCondLst>
                              <p:cond delay="2000"/>
                            </p:stCondLst>
                            <p:childTnLst>
                              <p:par>
                                <p:cTn id="30" presetID="10" presetClass="entr" presetSubtype="0" fill="hold" nodeType="afterEffect">
                                  <p:stCondLst>
                                    <p:cond delay="0"/>
                                  </p:stCondLst>
                                  <p:childTnLst>
                                    <p:set>
                                      <p:cBhvr>
                                        <p:cTn id="31" dur="1" fill="hold">
                                          <p:stCondLst>
                                            <p:cond delay="0"/>
                                          </p:stCondLst>
                                        </p:cTn>
                                        <p:tgtEl>
                                          <p:spTgt spid="8968"/>
                                        </p:tgtEl>
                                        <p:attrNameLst>
                                          <p:attrName>style.visibility</p:attrName>
                                        </p:attrNameLst>
                                      </p:cBhvr>
                                      <p:to>
                                        <p:strVal val="visible"/>
                                      </p:to>
                                    </p:set>
                                    <p:animEffect transition="in" filter="fade">
                                      <p:cBhvr>
                                        <p:cTn id="32" dur="500"/>
                                        <p:tgtEl>
                                          <p:spTgt spid="8968"/>
                                        </p:tgtEl>
                                      </p:cBhvr>
                                    </p:animEffect>
                                  </p:childTnLst>
                                </p:cTn>
                              </p:par>
                            </p:childTnLst>
                          </p:cTn>
                        </p:par>
                        <p:par>
                          <p:cTn id="33" fill="hold">
                            <p:stCondLst>
                              <p:cond delay="2500"/>
                            </p:stCondLst>
                            <p:childTnLst>
                              <p:par>
                                <p:cTn id="34" presetID="10" presetClass="entr" presetSubtype="0" fill="hold" nodeType="afterEffect">
                                  <p:stCondLst>
                                    <p:cond delay="0"/>
                                  </p:stCondLst>
                                  <p:childTnLst>
                                    <p:set>
                                      <p:cBhvr>
                                        <p:cTn id="35" dur="1" fill="hold">
                                          <p:stCondLst>
                                            <p:cond delay="0"/>
                                          </p:stCondLst>
                                        </p:cTn>
                                        <p:tgtEl>
                                          <p:spTgt spid="8975"/>
                                        </p:tgtEl>
                                        <p:attrNameLst>
                                          <p:attrName>style.visibility</p:attrName>
                                        </p:attrNameLst>
                                      </p:cBhvr>
                                      <p:to>
                                        <p:strVal val="visible"/>
                                      </p:to>
                                    </p:set>
                                    <p:animEffect transition="in" filter="fade">
                                      <p:cBhvr>
                                        <p:cTn id="36" dur="500"/>
                                        <p:tgtEl>
                                          <p:spTgt spid="8975"/>
                                        </p:tgtEl>
                                      </p:cBhvr>
                                    </p:animEffect>
                                  </p:childTnLst>
                                </p:cTn>
                              </p:par>
                            </p:childTnLst>
                          </p:cTn>
                        </p:par>
                        <p:par>
                          <p:cTn id="37" fill="hold">
                            <p:stCondLst>
                              <p:cond delay="3000"/>
                            </p:stCondLst>
                            <p:childTnLst>
                              <p:par>
                                <p:cTn id="38" presetID="10" presetClass="entr" presetSubtype="0" fill="hold" nodeType="afterEffect">
                                  <p:stCondLst>
                                    <p:cond delay="0"/>
                                  </p:stCondLst>
                                  <p:childTnLst>
                                    <p:set>
                                      <p:cBhvr>
                                        <p:cTn id="39" dur="1" fill="hold">
                                          <p:stCondLst>
                                            <p:cond delay="0"/>
                                          </p:stCondLst>
                                        </p:cTn>
                                        <p:tgtEl>
                                          <p:spTgt spid="8971"/>
                                        </p:tgtEl>
                                        <p:attrNameLst>
                                          <p:attrName>style.visibility</p:attrName>
                                        </p:attrNameLst>
                                      </p:cBhvr>
                                      <p:to>
                                        <p:strVal val="visible"/>
                                      </p:to>
                                    </p:set>
                                    <p:animEffect transition="in" filter="fade">
                                      <p:cBhvr>
                                        <p:cTn id="40" dur="500"/>
                                        <p:tgtEl>
                                          <p:spTgt spid="8971"/>
                                        </p:tgtEl>
                                      </p:cBhvr>
                                    </p:animEffect>
                                  </p:childTnLst>
                                </p:cTn>
                              </p:par>
                            </p:childTnLst>
                          </p:cTn>
                        </p:par>
                        <p:par>
                          <p:cTn id="41" fill="hold">
                            <p:stCondLst>
                              <p:cond delay="3500"/>
                            </p:stCondLst>
                            <p:childTnLst>
                              <p:par>
                                <p:cTn id="42" presetID="10" presetClass="entr" presetSubtype="0" fill="hold" nodeType="afterEffect">
                                  <p:stCondLst>
                                    <p:cond delay="0"/>
                                  </p:stCondLst>
                                  <p:childTnLst>
                                    <p:set>
                                      <p:cBhvr>
                                        <p:cTn id="43" dur="1" fill="hold">
                                          <p:stCondLst>
                                            <p:cond delay="0"/>
                                          </p:stCondLst>
                                        </p:cTn>
                                        <p:tgtEl>
                                          <p:spTgt spid="8973"/>
                                        </p:tgtEl>
                                        <p:attrNameLst>
                                          <p:attrName>style.visibility</p:attrName>
                                        </p:attrNameLst>
                                      </p:cBhvr>
                                      <p:to>
                                        <p:strVal val="visible"/>
                                      </p:to>
                                    </p:set>
                                    <p:animEffect transition="in" filter="fade">
                                      <p:cBhvr>
                                        <p:cTn id="44" dur="500"/>
                                        <p:tgtEl>
                                          <p:spTgt spid="8973"/>
                                        </p:tgtEl>
                                      </p:cBhvr>
                                    </p:animEffect>
                                  </p:childTnLst>
                                </p:cTn>
                              </p:par>
                            </p:childTnLst>
                          </p:cTn>
                        </p:par>
                        <p:par>
                          <p:cTn id="45" fill="hold">
                            <p:stCondLst>
                              <p:cond delay="4000"/>
                            </p:stCondLst>
                            <p:childTnLst>
                              <p:par>
                                <p:cTn id="46" presetID="10" presetClass="entr" presetSubtype="0" fill="hold" nodeType="afterEffect">
                                  <p:stCondLst>
                                    <p:cond delay="2000"/>
                                  </p:stCondLst>
                                  <p:childTnLst>
                                    <p:set>
                                      <p:cBhvr>
                                        <p:cTn id="47" dur="1" fill="hold">
                                          <p:stCondLst>
                                            <p:cond delay="0"/>
                                          </p:stCondLst>
                                        </p:cTn>
                                        <p:tgtEl>
                                          <p:spTgt spid="8970"/>
                                        </p:tgtEl>
                                        <p:attrNameLst>
                                          <p:attrName>style.visibility</p:attrName>
                                        </p:attrNameLst>
                                      </p:cBhvr>
                                      <p:to>
                                        <p:strVal val="visible"/>
                                      </p:to>
                                    </p:set>
                                    <p:animEffect transition="in" filter="fade">
                                      <p:cBhvr>
                                        <p:cTn id="48" dur="500"/>
                                        <p:tgtEl>
                                          <p:spTgt spid="8970"/>
                                        </p:tgtEl>
                                      </p:cBhvr>
                                    </p:animEffect>
                                  </p:childTnLst>
                                </p:cTn>
                              </p:par>
                            </p:childTnLst>
                          </p:cTn>
                        </p:par>
                        <p:par>
                          <p:cTn id="49" fill="hold">
                            <p:stCondLst>
                              <p:cond delay="4500"/>
                            </p:stCondLst>
                            <p:childTnLst>
                              <p:par>
                                <p:cTn id="50" presetID="10" presetClass="entr" presetSubtype="0" fill="hold" nodeType="afterEffect">
                                  <p:stCondLst>
                                    <p:cond delay="0"/>
                                  </p:stCondLst>
                                  <p:childTnLst>
                                    <p:set>
                                      <p:cBhvr>
                                        <p:cTn id="51" dur="1" fill="hold">
                                          <p:stCondLst>
                                            <p:cond delay="0"/>
                                          </p:stCondLst>
                                        </p:cTn>
                                        <p:tgtEl>
                                          <p:spTgt spid="9015"/>
                                        </p:tgtEl>
                                        <p:attrNameLst>
                                          <p:attrName>style.visibility</p:attrName>
                                        </p:attrNameLst>
                                      </p:cBhvr>
                                      <p:to>
                                        <p:strVal val="visible"/>
                                      </p:to>
                                    </p:set>
                                    <p:animEffect transition="in" filter="fade">
                                      <p:cBhvr>
                                        <p:cTn id="52" dur="500"/>
                                        <p:tgtEl>
                                          <p:spTgt spid="9015"/>
                                        </p:tgtEl>
                                      </p:cBhvr>
                                    </p:animEffect>
                                  </p:childTnLst>
                                </p:cTn>
                              </p:par>
                              <p:par>
                                <p:cTn id="53" presetID="10" presetClass="entr" presetSubtype="0" fill="hold" nodeType="withEffect">
                                  <p:stCondLst>
                                    <p:cond delay="0"/>
                                  </p:stCondLst>
                                  <p:childTnLst>
                                    <p:set>
                                      <p:cBhvr>
                                        <p:cTn id="54" dur="1" fill="hold">
                                          <p:stCondLst>
                                            <p:cond delay="0"/>
                                          </p:stCondLst>
                                        </p:cTn>
                                        <p:tgtEl>
                                          <p:spTgt spid="9044"/>
                                        </p:tgtEl>
                                        <p:attrNameLst>
                                          <p:attrName>style.visibility</p:attrName>
                                        </p:attrNameLst>
                                      </p:cBhvr>
                                      <p:to>
                                        <p:strVal val="visible"/>
                                      </p:to>
                                    </p:set>
                                    <p:animEffect transition="in" filter="fade">
                                      <p:cBhvr>
                                        <p:cTn id="55" dur="500"/>
                                        <p:tgtEl>
                                          <p:spTgt spid="9044"/>
                                        </p:tgtEl>
                                      </p:cBhvr>
                                    </p:animEffect>
                                  </p:childTnLst>
                                </p:cTn>
                              </p:par>
                              <p:par>
                                <p:cTn id="56" presetID="10" presetClass="entr" presetSubtype="0" fill="hold" nodeType="withEffect">
                                  <p:stCondLst>
                                    <p:cond delay="0"/>
                                  </p:stCondLst>
                                  <p:childTnLst>
                                    <p:set>
                                      <p:cBhvr>
                                        <p:cTn id="57" dur="1" fill="hold">
                                          <p:stCondLst>
                                            <p:cond delay="0"/>
                                          </p:stCondLst>
                                        </p:cTn>
                                        <p:tgtEl>
                                          <p:spTgt spid="9034"/>
                                        </p:tgtEl>
                                        <p:attrNameLst>
                                          <p:attrName>style.visibility</p:attrName>
                                        </p:attrNameLst>
                                      </p:cBhvr>
                                      <p:to>
                                        <p:strVal val="visible"/>
                                      </p:to>
                                    </p:set>
                                    <p:animEffect transition="in" filter="fade">
                                      <p:cBhvr>
                                        <p:cTn id="58" dur="500"/>
                                        <p:tgtEl>
                                          <p:spTgt spid="9034"/>
                                        </p:tgtEl>
                                      </p:cBhvr>
                                    </p:animEffect>
                                  </p:childTnLst>
                                </p:cTn>
                              </p:par>
                            </p:childTnLst>
                          </p:cTn>
                        </p:par>
                        <p:par>
                          <p:cTn id="59" fill="hold">
                            <p:stCondLst>
                              <p:cond delay="5000"/>
                            </p:stCondLst>
                            <p:childTnLst>
                              <p:par>
                                <p:cTn id="60" presetID="10" presetClass="entr" presetSubtype="0" fill="hold" nodeType="afterEffect">
                                  <p:stCondLst>
                                    <p:cond delay="0"/>
                                  </p:stCondLst>
                                  <p:childTnLst>
                                    <p:set>
                                      <p:cBhvr>
                                        <p:cTn id="61" dur="1" fill="hold">
                                          <p:stCondLst>
                                            <p:cond delay="0"/>
                                          </p:stCondLst>
                                        </p:cTn>
                                        <p:tgtEl>
                                          <p:spTgt spid="9037"/>
                                        </p:tgtEl>
                                        <p:attrNameLst>
                                          <p:attrName>style.visibility</p:attrName>
                                        </p:attrNameLst>
                                      </p:cBhvr>
                                      <p:to>
                                        <p:strVal val="visible"/>
                                      </p:to>
                                    </p:set>
                                    <p:animEffect transition="in" filter="fade">
                                      <p:cBhvr>
                                        <p:cTn id="62" dur="250"/>
                                        <p:tgtEl>
                                          <p:spTgt spid="9037"/>
                                        </p:tgtEl>
                                      </p:cBhvr>
                                    </p:animEffect>
                                  </p:childTnLst>
                                </p:cTn>
                              </p:par>
                            </p:childTnLst>
                          </p:cTn>
                        </p:par>
                        <p:par>
                          <p:cTn id="63" fill="hold">
                            <p:stCondLst>
                              <p:cond delay="5250"/>
                            </p:stCondLst>
                            <p:childTnLst>
                              <p:par>
                                <p:cTn id="64" presetID="10" presetClass="entr" presetSubtype="0" fill="hold" nodeType="afterEffect">
                                  <p:stCondLst>
                                    <p:cond delay="0"/>
                                  </p:stCondLst>
                                  <p:childTnLst>
                                    <p:set>
                                      <p:cBhvr>
                                        <p:cTn id="65" dur="1" fill="hold">
                                          <p:stCondLst>
                                            <p:cond delay="0"/>
                                          </p:stCondLst>
                                        </p:cTn>
                                        <p:tgtEl>
                                          <p:spTgt spid="9038"/>
                                        </p:tgtEl>
                                        <p:attrNameLst>
                                          <p:attrName>style.visibility</p:attrName>
                                        </p:attrNameLst>
                                      </p:cBhvr>
                                      <p:to>
                                        <p:strVal val="visible"/>
                                      </p:to>
                                    </p:set>
                                    <p:animEffect transition="in" filter="fade">
                                      <p:cBhvr>
                                        <p:cTn id="66" dur="500"/>
                                        <p:tgtEl>
                                          <p:spTgt spid="9038"/>
                                        </p:tgtEl>
                                      </p:cBhvr>
                                    </p:animEffect>
                                  </p:childTnLst>
                                </p:cTn>
                              </p:par>
                            </p:childTnLst>
                          </p:cTn>
                        </p:par>
                        <p:par>
                          <p:cTn id="67" fill="hold">
                            <p:stCondLst>
                              <p:cond delay="5750"/>
                            </p:stCondLst>
                            <p:childTnLst>
                              <p:par>
                                <p:cTn id="68" presetID="10" presetClass="entr" presetSubtype="0" fill="hold" nodeType="afterEffect">
                                  <p:stCondLst>
                                    <p:cond delay="0"/>
                                  </p:stCondLst>
                                  <p:childTnLst>
                                    <p:set>
                                      <p:cBhvr>
                                        <p:cTn id="69" dur="1" fill="hold">
                                          <p:stCondLst>
                                            <p:cond delay="0"/>
                                          </p:stCondLst>
                                        </p:cTn>
                                        <p:tgtEl>
                                          <p:spTgt spid="9056"/>
                                        </p:tgtEl>
                                        <p:attrNameLst>
                                          <p:attrName>style.visibility</p:attrName>
                                        </p:attrNameLst>
                                      </p:cBhvr>
                                      <p:to>
                                        <p:strVal val="visible"/>
                                      </p:to>
                                    </p:set>
                                    <p:animEffect transition="in" filter="fade">
                                      <p:cBhvr>
                                        <p:cTn id="70" dur="500"/>
                                        <p:tgtEl>
                                          <p:spTgt spid="9056"/>
                                        </p:tgtEl>
                                      </p:cBhvr>
                                    </p:animEffect>
                                  </p:childTnLst>
                                </p:cTn>
                              </p:par>
                            </p:childTnLst>
                          </p:cTn>
                        </p:par>
                        <p:par>
                          <p:cTn id="71" fill="hold">
                            <p:stCondLst>
                              <p:cond delay="6250"/>
                            </p:stCondLst>
                            <p:childTnLst>
                              <p:par>
                                <p:cTn id="72" presetID="10" presetClass="entr" presetSubtype="0" fill="hold" nodeType="afterEffect">
                                  <p:stCondLst>
                                    <p:cond delay="0"/>
                                  </p:stCondLst>
                                  <p:childTnLst>
                                    <p:set>
                                      <p:cBhvr>
                                        <p:cTn id="73" dur="1" fill="hold">
                                          <p:stCondLst>
                                            <p:cond delay="0"/>
                                          </p:stCondLst>
                                        </p:cTn>
                                        <p:tgtEl>
                                          <p:spTgt spid="9059"/>
                                        </p:tgtEl>
                                        <p:attrNameLst>
                                          <p:attrName>style.visibility</p:attrName>
                                        </p:attrNameLst>
                                      </p:cBhvr>
                                      <p:to>
                                        <p:strVal val="visible"/>
                                      </p:to>
                                    </p:set>
                                    <p:animEffect transition="in" filter="fade">
                                      <p:cBhvr>
                                        <p:cTn id="74" dur="500"/>
                                        <p:tgtEl>
                                          <p:spTgt spid="9059"/>
                                        </p:tgtEl>
                                      </p:cBhvr>
                                    </p:animEffect>
                                  </p:childTnLst>
                                </p:cTn>
                              </p:par>
                              <p:par>
                                <p:cTn id="75" presetID="10" presetClass="entr" presetSubtype="0" fill="hold" nodeType="withEffect">
                                  <p:stCondLst>
                                    <p:cond delay="0"/>
                                  </p:stCondLst>
                                  <p:childTnLst>
                                    <p:set>
                                      <p:cBhvr>
                                        <p:cTn id="76" dur="1" fill="hold">
                                          <p:stCondLst>
                                            <p:cond delay="0"/>
                                          </p:stCondLst>
                                        </p:cTn>
                                        <p:tgtEl>
                                          <p:spTgt spid="9064"/>
                                        </p:tgtEl>
                                        <p:attrNameLst>
                                          <p:attrName>style.visibility</p:attrName>
                                        </p:attrNameLst>
                                      </p:cBhvr>
                                      <p:to>
                                        <p:strVal val="visible"/>
                                      </p:to>
                                    </p:set>
                                    <p:animEffect transition="in" filter="fade">
                                      <p:cBhvr>
                                        <p:cTn id="77" dur="500"/>
                                        <p:tgtEl>
                                          <p:spTgt spid="9064"/>
                                        </p:tgtEl>
                                      </p:cBhvr>
                                    </p:animEffect>
                                  </p:childTnLst>
                                </p:cTn>
                              </p:par>
                              <p:par>
                                <p:cTn id="78" presetID="10" presetClass="entr" presetSubtype="0" fill="hold" nodeType="withEffect">
                                  <p:stCondLst>
                                    <p:cond delay="0"/>
                                  </p:stCondLst>
                                  <p:childTnLst>
                                    <p:set>
                                      <p:cBhvr>
                                        <p:cTn id="79" dur="1" fill="hold">
                                          <p:stCondLst>
                                            <p:cond delay="0"/>
                                          </p:stCondLst>
                                        </p:cTn>
                                        <p:tgtEl>
                                          <p:spTgt spid="9029"/>
                                        </p:tgtEl>
                                        <p:attrNameLst>
                                          <p:attrName>style.visibility</p:attrName>
                                        </p:attrNameLst>
                                      </p:cBhvr>
                                      <p:to>
                                        <p:strVal val="visible"/>
                                      </p:to>
                                    </p:set>
                                    <p:animEffect transition="in" filter="fade">
                                      <p:cBhvr>
                                        <p:cTn id="80" dur="500"/>
                                        <p:tgtEl>
                                          <p:spTgt spid="9029"/>
                                        </p:tgtEl>
                                      </p:cBhvr>
                                    </p:animEffect>
                                  </p:childTnLst>
                                </p:cTn>
                              </p:par>
                              <p:par>
                                <p:cTn id="81" presetID="10" presetClass="entr" presetSubtype="0" fill="hold" nodeType="withEffect">
                                  <p:stCondLst>
                                    <p:cond delay="0"/>
                                  </p:stCondLst>
                                  <p:childTnLst>
                                    <p:set>
                                      <p:cBhvr>
                                        <p:cTn id="82" dur="1" fill="hold">
                                          <p:stCondLst>
                                            <p:cond delay="0"/>
                                          </p:stCondLst>
                                        </p:cTn>
                                        <p:tgtEl>
                                          <p:spTgt spid="9039"/>
                                        </p:tgtEl>
                                        <p:attrNameLst>
                                          <p:attrName>style.visibility</p:attrName>
                                        </p:attrNameLst>
                                      </p:cBhvr>
                                      <p:to>
                                        <p:strVal val="visible"/>
                                      </p:to>
                                    </p:set>
                                    <p:animEffect transition="in" filter="fade">
                                      <p:cBhvr>
                                        <p:cTn id="83" dur="500"/>
                                        <p:tgtEl>
                                          <p:spTgt spid="9039"/>
                                        </p:tgtEl>
                                      </p:cBhvr>
                                    </p:animEffect>
                                  </p:childTnLst>
                                </p:cTn>
                              </p:par>
                            </p:childTnLst>
                          </p:cTn>
                        </p:par>
                        <p:par>
                          <p:cTn id="84" fill="hold">
                            <p:stCondLst>
                              <p:cond delay="6750"/>
                            </p:stCondLst>
                            <p:childTnLst>
                              <p:par>
                                <p:cTn id="85" presetID="10" presetClass="entr" presetSubtype="0" fill="hold" nodeType="afterEffect">
                                  <p:stCondLst>
                                    <p:cond delay="0"/>
                                  </p:stCondLst>
                                  <p:childTnLst>
                                    <p:set>
                                      <p:cBhvr>
                                        <p:cTn id="86" dur="1" fill="hold">
                                          <p:stCondLst>
                                            <p:cond delay="0"/>
                                          </p:stCondLst>
                                        </p:cTn>
                                        <p:tgtEl>
                                          <p:spTgt spid="8969"/>
                                        </p:tgtEl>
                                        <p:attrNameLst>
                                          <p:attrName>style.visibility</p:attrName>
                                        </p:attrNameLst>
                                      </p:cBhvr>
                                      <p:to>
                                        <p:strVal val="visible"/>
                                      </p:to>
                                    </p:set>
                                    <p:animEffect transition="in" filter="fade">
                                      <p:cBhvr>
                                        <p:cTn id="87" dur="500"/>
                                        <p:tgtEl>
                                          <p:spTgt spid="8969"/>
                                        </p:tgtEl>
                                      </p:cBhvr>
                                    </p:animEffect>
                                  </p:childTnLst>
                                </p:cTn>
                              </p:par>
                            </p:childTnLst>
                          </p:cTn>
                        </p:par>
                        <p:par>
                          <p:cTn id="88" fill="hold">
                            <p:stCondLst>
                              <p:cond delay="7250"/>
                            </p:stCondLst>
                            <p:childTnLst>
                              <p:par>
                                <p:cTn id="89" presetID="10" presetClass="entr" presetSubtype="0" fill="hold" nodeType="afterEffect">
                                  <p:stCondLst>
                                    <p:cond delay="0"/>
                                  </p:stCondLst>
                                  <p:childTnLst>
                                    <p:set>
                                      <p:cBhvr>
                                        <p:cTn id="90" dur="1" fill="hold">
                                          <p:stCondLst>
                                            <p:cond delay="0"/>
                                          </p:stCondLst>
                                        </p:cTn>
                                        <p:tgtEl>
                                          <p:spTgt spid="8976"/>
                                        </p:tgtEl>
                                        <p:attrNameLst>
                                          <p:attrName>style.visibility</p:attrName>
                                        </p:attrNameLst>
                                      </p:cBhvr>
                                      <p:to>
                                        <p:strVal val="visible"/>
                                      </p:to>
                                    </p:set>
                                    <p:animEffect transition="in" filter="fade">
                                      <p:cBhvr>
                                        <p:cTn id="91" dur="500"/>
                                        <p:tgtEl>
                                          <p:spTgt spid="8976"/>
                                        </p:tgtEl>
                                      </p:cBhvr>
                                    </p:animEffect>
                                  </p:childTnLst>
                                </p:cTn>
                              </p:par>
                            </p:childTnLst>
                          </p:cTn>
                        </p:par>
                        <p:par>
                          <p:cTn id="92" fill="hold">
                            <p:stCondLst>
                              <p:cond delay="7750"/>
                            </p:stCondLst>
                            <p:childTnLst>
                              <p:par>
                                <p:cTn id="93" presetID="10" presetClass="entr" presetSubtype="0" fill="hold" nodeType="afterEffect">
                                  <p:stCondLst>
                                    <p:cond delay="0"/>
                                  </p:stCondLst>
                                  <p:childTnLst>
                                    <p:set>
                                      <p:cBhvr>
                                        <p:cTn id="94" dur="1" fill="hold">
                                          <p:stCondLst>
                                            <p:cond delay="0"/>
                                          </p:stCondLst>
                                        </p:cTn>
                                        <p:tgtEl>
                                          <p:spTgt spid="8972"/>
                                        </p:tgtEl>
                                        <p:attrNameLst>
                                          <p:attrName>style.visibility</p:attrName>
                                        </p:attrNameLst>
                                      </p:cBhvr>
                                      <p:to>
                                        <p:strVal val="visible"/>
                                      </p:to>
                                    </p:set>
                                    <p:animEffect transition="in" filter="fade">
                                      <p:cBhvr>
                                        <p:cTn id="95" dur="500"/>
                                        <p:tgtEl>
                                          <p:spTgt spid="8972"/>
                                        </p:tgtEl>
                                      </p:cBhvr>
                                    </p:animEffect>
                                  </p:childTnLst>
                                </p:cTn>
                              </p:par>
                            </p:childTnLst>
                          </p:cTn>
                        </p:par>
                        <p:par>
                          <p:cTn id="96" fill="hold">
                            <p:stCondLst>
                              <p:cond delay="8250"/>
                            </p:stCondLst>
                            <p:childTnLst>
                              <p:par>
                                <p:cTn id="97" presetID="10" presetClass="entr" presetSubtype="0" fill="hold" nodeType="afterEffect">
                                  <p:stCondLst>
                                    <p:cond delay="0"/>
                                  </p:stCondLst>
                                  <p:childTnLst>
                                    <p:set>
                                      <p:cBhvr>
                                        <p:cTn id="98" dur="1" fill="hold">
                                          <p:stCondLst>
                                            <p:cond delay="0"/>
                                          </p:stCondLst>
                                        </p:cTn>
                                        <p:tgtEl>
                                          <p:spTgt spid="8974"/>
                                        </p:tgtEl>
                                        <p:attrNameLst>
                                          <p:attrName>style.visibility</p:attrName>
                                        </p:attrNameLst>
                                      </p:cBhvr>
                                      <p:to>
                                        <p:strVal val="visible"/>
                                      </p:to>
                                    </p:set>
                                    <p:animEffect transition="in" filter="fade">
                                      <p:cBhvr>
                                        <p:cTn id="99" dur="500"/>
                                        <p:tgtEl>
                                          <p:spTgt spid="8974"/>
                                        </p:tgtEl>
                                      </p:cBhvr>
                                    </p:animEffect>
                                  </p:childTnLst>
                                </p:cTn>
                              </p:par>
                              <p:par>
                                <p:cTn id="100" presetID="10" presetClass="entr" presetSubtype="0" fill="hold" nodeType="withEffect">
                                  <p:stCondLst>
                                    <p:cond delay="0"/>
                                  </p:stCondLst>
                                  <p:childTnLst>
                                    <p:set>
                                      <p:cBhvr>
                                        <p:cTn id="101" dur="1" fill="hold">
                                          <p:stCondLst>
                                            <p:cond delay="0"/>
                                          </p:stCondLst>
                                        </p:cTn>
                                        <p:tgtEl>
                                          <p:spTgt spid="9066"/>
                                        </p:tgtEl>
                                        <p:attrNameLst>
                                          <p:attrName>style.visibility</p:attrName>
                                        </p:attrNameLst>
                                      </p:cBhvr>
                                      <p:to>
                                        <p:strVal val="visible"/>
                                      </p:to>
                                    </p:set>
                                    <p:animEffect transition="in" filter="fade">
                                      <p:cBhvr>
                                        <p:cTn id="102" dur="500"/>
                                        <p:tgtEl>
                                          <p:spTgt spid="9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071"/>
        <p:cNvGrpSpPr/>
        <p:nvPr/>
      </p:nvGrpSpPr>
      <p:grpSpPr>
        <a:xfrm>
          <a:off x="0" y="0"/>
          <a:ext cx="0" cy="0"/>
          <a:chOff x="0" y="0"/>
          <a:chExt cx="0" cy="0"/>
        </a:xfrm>
      </p:grpSpPr>
      <p:sp>
        <p:nvSpPr>
          <p:cNvPr id="9072" name="Google Shape;9072;p85"/>
          <p:cNvSpPr txBox="1"/>
          <p:nvPr/>
        </p:nvSpPr>
        <p:spPr>
          <a:xfrm>
            <a:off x="579438" y="412750"/>
            <a:ext cx="11001375" cy="3810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2"/>
              </a:buClr>
              <a:buSzPts val="2800"/>
              <a:buFont typeface="Arial"/>
              <a:buNone/>
            </a:pPr>
            <a:r>
              <a:rPr lang="en-US" sz="2800" b="0">
                <a:solidFill>
                  <a:schemeClr val="accent2"/>
                </a:solidFill>
                <a:latin typeface="Arial"/>
                <a:ea typeface="Arial"/>
                <a:cs typeface="Arial"/>
                <a:sym typeface="Arial"/>
              </a:rPr>
              <a:t>Resilience Woven Throughout VMware Cloud Foundation</a:t>
            </a:r>
            <a:endParaRPr/>
          </a:p>
        </p:txBody>
      </p:sp>
      <p:sp>
        <p:nvSpPr>
          <p:cNvPr id="9073" name="Google Shape;9073;p85"/>
          <p:cNvSpPr txBox="1"/>
          <p:nvPr/>
        </p:nvSpPr>
        <p:spPr>
          <a:xfrm>
            <a:off x="579809" y="412751"/>
            <a:ext cx="11001004" cy="381000"/>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Clr>
                <a:schemeClr val="accent2"/>
              </a:buClr>
              <a:buSzPts val="2800"/>
              <a:buFont typeface="Arial"/>
              <a:buNone/>
            </a:pPr>
            <a:endParaRPr sz="2800" b="0">
              <a:solidFill>
                <a:schemeClr val="accent2"/>
              </a:solidFill>
              <a:latin typeface="Arial"/>
              <a:ea typeface="Arial"/>
              <a:cs typeface="Arial"/>
              <a:sym typeface="Arial"/>
            </a:endParaRPr>
          </a:p>
        </p:txBody>
      </p:sp>
      <p:grpSp>
        <p:nvGrpSpPr>
          <p:cNvPr id="9074" name="Google Shape;9074;p85"/>
          <p:cNvGrpSpPr/>
          <p:nvPr/>
        </p:nvGrpSpPr>
        <p:grpSpPr>
          <a:xfrm>
            <a:off x="8987564" y="2568572"/>
            <a:ext cx="2782072" cy="959120"/>
            <a:chOff x="195550" y="2178715"/>
            <a:chExt cx="2782798" cy="2030264"/>
          </a:xfrm>
        </p:grpSpPr>
        <p:sp>
          <p:nvSpPr>
            <p:cNvPr id="9075" name="Google Shape;9075;p85"/>
            <p:cNvSpPr/>
            <p:nvPr/>
          </p:nvSpPr>
          <p:spPr>
            <a:xfrm>
              <a:off x="195550" y="2178715"/>
              <a:ext cx="2179732" cy="2030264"/>
            </a:xfrm>
            <a:prstGeom prst="rect">
              <a:avLst/>
            </a:prstGeom>
            <a:gradFill>
              <a:gsLst>
                <a:gs pos="0">
                  <a:schemeClr val="accent4"/>
                </a:gs>
                <a:gs pos="44000">
                  <a:schemeClr val="accent4"/>
                </a:gs>
                <a:gs pos="100000">
                  <a:srgbClr val="005C8A">
                    <a:alpha val="49803"/>
                  </a:srgbClr>
                </a:gs>
              </a:gsLst>
              <a:lin ang="108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9076" name="Google Shape;9076;p85"/>
            <p:cNvSpPr/>
            <p:nvPr/>
          </p:nvSpPr>
          <p:spPr>
            <a:xfrm rot="5400000">
              <a:off x="1661767" y="2892252"/>
              <a:ext cx="2029968" cy="603193"/>
            </a:xfrm>
            <a:prstGeom prst="triangle">
              <a:avLst>
                <a:gd name="adj" fmla="val 50000"/>
              </a:avLst>
            </a:prstGeom>
            <a:gradFill>
              <a:gsLst>
                <a:gs pos="0">
                  <a:schemeClr val="accent4"/>
                </a:gs>
                <a:gs pos="44000">
                  <a:schemeClr val="accent4"/>
                </a:gs>
                <a:gs pos="100000">
                  <a:srgbClr val="005C8A">
                    <a:alpha val="49803"/>
                  </a:srgbClr>
                </a:gs>
              </a:gsLst>
              <a:lin ang="108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9077" name="Google Shape;9077;p85"/>
          <p:cNvGrpSpPr/>
          <p:nvPr/>
        </p:nvGrpSpPr>
        <p:grpSpPr>
          <a:xfrm>
            <a:off x="6709964" y="2568572"/>
            <a:ext cx="2909945" cy="959120"/>
            <a:chOff x="67644" y="2178715"/>
            <a:chExt cx="2910704" cy="2030264"/>
          </a:xfrm>
        </p:grpSpPr>
        <p:sp>
          <p:nvSpPr>
            <p:cNvPr id="9078" name="Google Shape;9078;p85"/>
            <p:cNvSpPr/>
            <p:nvPr/>
          </p:nvSpPr>
          <p:spPr>
            <a:xfrm>
              <a:off x="67644" y="2178715"/>
              <a:ext cx="2307638" cy="2030264"/>
            </a:xfrm>
            <a:prstGeom prst="rect">
              <a:avLst/>
            </a:prstGeom>
            <a:gradFill>
              <a:gsLst>
                <a:gs pos="0">
                  <a:schemeClr val="accent3"/>
                </a:gs>
                <a:gs pos="44000">
                  <a:schemeClr val="accent3"/>
                </a:gs>
                <a:gs pos="100000">
                  <a:srgbClr val="005C8A">
                    <a:alpha val="49803"/>
                  </a:srgbClr>
                </a:gs>
              </a:gsLst>
              <a:lin ang="108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9079" name="Google Shape;9079;p85"/>
            <p:cNvSpPr/>
            <p:nvPr/>
          </p:nvSpPr>
          <p:spPr>
            <a:xfrm rot="5400000">
              <a:off x="1661767" y="2892252"/>
              <a:ext cx="2029968" cy="603193"/>
            </a:xfrm>
            <a:prstGeom prst="triangle">
              <a:avLst>
                <a:gd name="adj" fmla="val 50000"/>
              </a:avLst>
            </a:prstGeom>
            <a:gradFill>
              <a:gsLst>
                <a:gs pos="0">
                  <a:schemeClr val="accent3"/>
                </a:gs>
                <a:gs pos="44000">
                  <a:schemeClr val="accent3"/>
                </a:gs>
                <a:gs pos="100000">
                  <a:srgbClr val="005C8A">
                    <a:alpha val="49803"/>
                  </a:srgbClr>
                </a:gs>
              </a:gsLst>
              <a:lin ang="108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9080" name="Google Shape;9080;p85"/>
          <p:cNvGrpSpPr/>
          <p:nvPr/>
        </p:nvGrpSpPr>
        <p:grpSpPr>
          <a:xfrm>
            <a:off x="4615560" y="2568572"/>
            <a:ext cx="2752764" cy="959120"/>
            <a:chOff x="224866" y="2178715"/>
            <a:chExt cx="2753482" cy="2030264"/>
          </a:xfrm>
        </p:grpSpPr>
        <p:sp>
          <p:nvSpPr>
            <p:cNvPr id="9081" name="Google Shape;9081;p85"/>
            <p:cNvSpPr/>
            <p:nvPr/>
          </p:nvSpPr>
          <p:spPr>
            <a:xfrm>
              <a:off x="224866" y="2178715"/>
              <a:ext cx="2150415" cy="2030264"/>
            </a:xfrm>
            <a:prstGeom prst="rect">
              <a:avLst/>
            </a:prstGeom>
            <a:gradFill>
              <a:gsLst>
                <a:gs pos="0">
                  <a:schemeClr val="accent1"/>
                </a:gs>
                <a:gs pos="44000">
                  <a:schemeClr val="accent1"/>
                </a:gs>
                <a:gs pos="100000">
                  <a:srgbClr val="005C8A">
                    <a:alpha val="49803"/>
                  </a:srgbClr>
                </a:gs>
              </a:gsLst>
              <a:lin ang="108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9082" name="Google Shape;9082;p85"/>
            <p:cNvSpPr/>
            <p:nvPr/>
          </p:nvSpPr>
          <p:spPr>
            <a:xfrm rot="5400000">
              <a:off x="1661767" y="2892252"/>
              <a:ext cx="2029968" cy="603193"/>
            </a:xfrm>
            <a:prstGeom prst="triangle">
              <a:avLst>
                <a:gd name="adj" fmla="val 50000"/>
              </a:avLst>
            </a:prstGeom>
            <a:gradFill>
              <a:gsLst>
                <a:gs pos="0">
                  <a:schemeClr val="accent1"/>
                </a:gs>
                <a:gs pos="44000">
                  <a:schemeClr val="accent1"/>
                </a:gs>
                <a:gs pos="100000">
                  <a:srgbClr val="005C8A">
                    <a:alpha val="49803"/>
                  </a:srgbClr>
                </a:gs>
              </a:gsLst>
              <a:lin ang="108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9083" name="Google Shape;9083;p85"/>
          <p:cNvGrpSpPr/>
          <p:nvPr/>
        </p:nvGrpSpPr>
        <p:grpSpPr>
          <a:xfrm>
            <a:off x="2220811" y="2568572"/>
            <a:ext cx="3046429" cy="959120"/>
            <a:chOff x="-68876" y="2178715"/>
            <a:chExt cx="3047223" cy="2030264"/>
          </a:xfrm>
        </p:grpSpPr>
        <p:sp>
          <p:nvSpPr>
            <p:cNvPr id="9084" name="Google Shape;9084;p85"/>
            <p:cNvSpPr/>
            <p:nvPr/>
          </p:nvSpPr>
          <p:spPr>
            <a:xfrm>
              <a:off x="-68876" y="2178715"/>
              <a:ext cx="2444158" cy="2030264"/>
            </a:xfrm>
            <a:prstGeom prst="rect">
              <a:avLst/>
            </a:prstGeom>
            <a:gradFill>
              <a:gsLst>
                <a:gs pos="0">
                  <a:schemeClr val="accent5"/>
                </a:gs>
                <a:gs pos="44000">
                  <a:schemeClr val="accent5"/>
                </a:gs>
                <a:gs pos="100000">
                  <a:srgbClr val="005C8A">
                    <a:alpha val="49803"/>
                  </a:srgbClr>
                </a:gs>
              </a:gsLst>
              <a:lin ang="108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9085" name="Google Shape;9085;p85"/>
            <p:cNvSpPr/>
            <p:nvPr/>
          </p:nvSpPr>
          <p:spPr>
            <a:xfrm rot="5400000">
              <a:off x="1661767" y="2892252"/>
              <a:ext cx="2029968" cy="603193"/>
            </a:xfrm>
            <a:prstGeom prst="triangle">
              <a:avLst>
                <a:gd name="adj" fmla="val 50000"/>
              </a:avLst>
            </a:prstGeom>
            <a:gradFill>
              <a:gsLst>
                <a:gs pos="0">
                  <a:schemeClr val="accent5"/>
                </a:gs>
                <a:gs pos="44000">
                  <a:schemeClr val="accent5"/>
                </a:gs>
                <a:gs pos="100000">
                  <a:srgbClr val="005C8A">
                    <a:alpha val="49803"/>
                  </a:srgbClr>
                </a:gs>
              </a:gsLst>
              <a:lin ang="108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9086" name="Google Shape;9086;p85"/>
          <p:cNvGrpSpPr/>
          <p:nvPr/>
        </p:nvGrpSpPr>
        <p:grpSpPr>
          <a:xfrm>
            <a:off x="653251" y="2568572"/>
            <a:ext cx="2568630" cy="959120"/>
            <a:chOff x="409048" y="2178715"/>
            <a:chExt cx="2569300" cy="2030264"/>
          </a:xfrm>
        </p:grpSpPr>
        <p:sp>
          <p:nvSpPr>
            <p:cNvPr id="9087" name="Google Shape;9087;p85"/>
            <p:cNvSpPr/>
            <p:nvPr/>
          </p:nvSpPr>
          <p:spPr>
            <a:xfrm>
              <a:off x="409048" y="2178715"/>
              <a:ext cx="1966234" cy="2030264"/>
            </a:xfrm>
            <a:prstGeom prst="rect">
              <a:avLst/>
            </a:prstGeom>
            <a:gradFill>
              <a:gsLst>
                <a:gs pos="0">
                  <a:schemeClr val="accent2"/>
                </a:gs>
                <a:gs pos="44000">
                  <a:schemeClr val="accent2"/>
                </a:gs>
                <a:gs pos="100000">
                  <a:srgbClr val="005C8A">
                    <a:alpha val="49803"/>
                  </a:srgbClr>
                </a:gs>
              </a:gsLst>
              <a:lin ang="108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chemeClr val="lt1"/>
                </a:solidFill>
                <a:latin typeface="Arial"/>
                <a:ea typeface="Arial"/>
                <a:cs typeface="Arial"/>
                <a:sym typeface="Arial"/>
              </a:endParaRPr>
            </a:p>
          </p:txBody>
        </p:sp>
        <p:sp>
          <p:nvSpPr>
            <p:cNvPr id="9088" name="Google Shape;9088;p85"/>
            <p:cNvSpPr/>
            <p:nvPr/>
          </p:nvSpPr>
          <p:spPr>
            <a:xfrm rot="5400000">
              <a:off x="1661767" y="2892252"/>
              <a:ext cx="2029968" cy="603193"/>
            </a:xfrm>
            <a:prstGeom prst="triangle">
              <a:avLst>
                <a:gd name="adj" fmla="val 50000"/>
              </a:avLst>
            </a:prstGeom>
            <a:gradFill>
              <a:gsLst>
                <a:gs pos="0">
                  <a:schemeClr val="accent2"/>
                </a:gs>
                <a:gs pos="44000">
                  <a:schemeClr val="accent2"/>
                </a:gs>
                <a:gs pos="100000">
                  <a:srgbClr val="005C8A">
                    <a:alpha val="49803"/>
                  </a:srgbClr>
                </a:gs>
              </a:gsLst>
              <a:lin ang="108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chemeClr val="lt1"/>
                </a:solidFill>
                <a:latin typeface="Arial"/>
                <a:ea typeface="Arial"/>
                <a:cs typeface="Arial"/>
                <a:sym typeface="Arial"/>
              </a:endParaRPr>
            </a:p>
          </p:txBody>
        </p:sp>
      </p:grpSp>
      <p:sp>
        <p:nvSpPr>
          <p:cNvPr id="9089" name="Google Shape;9089;p85"/>
          <p:cNvSpPr txBox="1"/>
          <p:nvPr/>
        </p:nvSpPr>
        <p:spPr>
          <a:xfrm>
            <a:off x="9839880" y="2858699"/>
            <a:ext cx="1297698" cy="4000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999"/>
              <a:buFont typeface="Arial"/>
              <a:buNone/>
            </a:pPr>
            <a:r>
              <a:rPr lang="en-US" sz="1999" b="0" i="0" u="none" strike="noStrike" cap="none">
                <a:solidFill>
                  <a:schemeClr val="lt1"/>
                </a:solidFill>
                <a:latin typeface="Arial"/>
                <a:ea typeface="Arial"/>
                <a:cs typeface="Arial"/>
                <a:sym typeface="Arial"/>
              </a:rPr>
              <a:t>Recover</a:t>
            </a:r>
            <a:endParaRPr/>
          </a:p>
        </p:txBody>
      </p:sp>
      <p:sp>
        <p:nvSpPr>
          <p:cNvPr id="9090" name="Google Shape;9090;p85"/>
          <p:cNvSpPr txBox="1"/>
          <p:nvPr/>
        </p:nvSpPr>
        <p:spPr>
          <a:xfrm>
            <a:off x="7565219" y="2858699"/>
            <a:ext cx="1297698" cy="4000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999"/>
              <a:buFont typeface="Arial"/>
              <a:buNone/>
            </a:pPr>
            <a:r>
              <a:rPr lang="en-US" sz="1999" b="0" i="0" u="none" strike="noStrike" cap="none">
                <a:solidFill>
                  <a:schemeClr val="lt1"/>
                </a:solidFill>
                <a:latin typeface="Arial"/>
                <a:ea typeface="Arial"/>
                <a:cs typeface="Arial"/>
                <a:sym typeface="Arial"/>
              </a:rPr>
              <a:t>Respond</a:t>
            </a:r>
            <a:endParaRPr/>
          </a:p>
        </p:txBody>
      </p:sp>
      <p:sp>
        <p:nvSpPr>
          <p:cNvPr id="9091" name="Google Shape;9091;p85"/>
          <p:cNvSpPr txBox="1"/>
          <p:nvPr/>
        </p:nvSpPr>
        <p:spPr>
          <a:xfrm>
            <a:off x="5344043" y="2858699"/>
            <a:ext cx="1297698" cy="4000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999"/>
              <a:buFont typeface="Arial"/>
              <a:buNone/>
            </a:pPr>
            <a:r>
              <a:rPr lang="en-US" sz="1999" b="0" i="0" u="none" strike="noStrike" cap="none">
                <a:solidFill>
                  <a:schemeClr val="lt1"/>
                </a:solidFill>
                <a:latin typeface="Arial"/>
                <a:ea typeface="Arial"/>
                <a:cs typeface="Arial"/>
                <a:sym typeface="Arial"/>
              </a:rPr>
              <a:t>Detect</a:t>
            </a:r>
            <a:endParaRPr/>
          </a:p>
        </p:txBody>
      </p:sp>
      <p:sp>
        <p:nvSpPr>
          <p:cNvPr id="9092" name="Google Shape;9092;p85"/>
          <p:cNvSpPr txBox="1"/>
          <p:nvPr/>
        </p:nvSpPr>
        <p:spPr>
          <a:xfrm>
            <a:off x="3349653" y="2858699"/>
            <a:ext cx="1297698" cy="4000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999"/>
              <a:buFont typeface="Arial"/>
              <a:buNone/>
            </a:pPr>
            <a:r>
              <a:rPr lang="en-US" sz="1999" b="0" i="0" u="none" strike="noStrike" cap="none">
                <a:solidFill>
                  <a:schemeClr val="lt1"/>
                </a:solidFill>
                <a:latin typeface="Arial"/>
                <a:ea typeface="Arial"/>
                <a:cs typeface="Arial"/>
                <a:sym typeface="Arial"/>
              </a:rPr>
              <a:t>Protect</a:t>
            </a:r>
            <a:endParaRPr/>
          </a:p>
        </p:txBody>
      </p:sp>
      <p:sp>
        <p:nvSpPr>
          <p:cNvPr id="9093" name="Google Shape;9093;p85"/>
          <p:cNvSpPr txBox="1"/>
          <p:nvPr/>
        </p:nvSpPr>
        <p:spPr>
          <a:xfrm>
            <a:off x="1020459" y="2858699"/>
            <a:ext cx="1391346" cy="4000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999"/>
              <a:buFont typeface="Arial"/>
              <a:buNone/>
            </a:pPr>
            <a:r>
              <a:rPr lang="en-US" sz="1999" b="0" i="0" u="none" strike="noStrike" cap="none">
                <a:solidFill>
                  <a:schemeClr val="lt1"/>
                </a:solidFill>
                <a:latin typeface="Arial"/>
                <a:ea typeface="Arial"/>
                <a:cs typeface="Arial"/>
                <a:sym typeface="Arial"/>
              </a:rPr>
              <a:t>Identify</a:t>
            </a:r>
            <a:endParaRPr/>
          </a:p>
        </p:txBody>
      </p:sp>
      <p:grpSp>
        <p:nvGrpSpPr>
          <p:cNvPr id="9094" name="Google Shape;9094;p85"/>
          <p:cNvGrpSpPr/>
          <p:nvPr/>
        </p:nvGrpSpPr>
        <p:grpSpPr>
          <a:xfrm>
            <a:off x="1820623" y="1261010"/>
            <a:ext cx="758008" cy="1311796"/>
            <a:chOff x="1841405" y="1436575"/>
            <a:chExt cx="758008" cy="1311796"/>
          </a:xfrm>
        </p:grpSpPr>
        <p:cxnSp>
          <p:nvCxnSpPr>
            <p:cNvPr id="9095" name="Google Shape;9095;p85"/>
            <p:cNvCxnSpPr/>
            <p:nvPr/>
          </p:nvCxnSpPr>
          <p:spPr>
            <a:xfrm rot="10800000">
              <a:off x="2211829" y="2382706"/>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096" name="Google Shape;9096;p85"/>
            <p:cNvSpPr/>
            <p:nvPr/>
          </p:nvSpPr>
          <p:spPr>
            <a:xfrm>
              <a:off x="1971769" y="1900043"/>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097" name="Google Shape;9097;p85"/>
            <p:cNvSpPr/>
            <p:nvPr/>
          </p:nvSpPr>
          <p:spPr>
            <a:xfrm>
              <a:off x="1841405" y="1436575"/>
              <a:ext cx="758008" cy="3790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Continuous</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Monitoring</a:t>
              </a:r>
              <a:endParaRPr sz="1100" b="0" i="0" u="none" strike="noStrike" cap="none">
                <a:solidFill>
                  <a:srgbClr val="000001"/>
                </a:solidFill>
                <a:latin typeface="Arial"/>
                <a:ea typeface="Arial"/>
                <a:cs typeface="Arial"/>
                <a:sym typeface="Arial"/>
              </a:endParaRPr>
            </a:p>
          </p:txBody>
        </p:sp>
        <p:pic>
          <p:nvPicPr>
            <p:cNvPr id="9098" name="Google Shape;9098;p85"/>
            <p:cNvPicPr preferRelativeResize="0"/>
            <p:nvPr/>
          </p:nvPicPr>
          <p:blipFill rotWithShape="1">
            <a:blip r:embed="rId3">
              <a:alphaModFix/>
            </a:blip>
            <a:srcRect/>
            <a:stretch/>
          </p:blipFill>
          <p:spPr>
            <a:xfrm>
              <a:off x="2037476" y="2024483"/>
              <a:ext cx="350624" cy="200761"/>
            </a:xfrm>
            <a:prstGeom prst="rect">
              <a:avLst/>
            </a:prstGeom>
            <a:noFill/>
            <a:ln>
              <a:noFill/>
            </a:ln>
          </p:spPr>
        </p:pic>
      </p:grpSp>
      <p:grpSp>
        <p:nvGrpSpPr>
          <p:cNvPr id="9099" name="Google Shape;9099;p85"/>
          <p:cNvGrpSpPr/>
          <p:nvPr/>
        </p:nvGrpSpPr>
        <p:grpSpPr>
          <a:xfrm>
            <a:off x="3759381" y="3520028"/>
            <a:ext cx="941094" cy="1305479"/>
            <a:chOff x="3363585" y="3695593"/>
            <a:chExt cx="941094" cy="1305479"/>
          </a:xfrm>
        </p:grpSpPr>
        <p:cxnSp>
          <p:nvCxnSpPr>
            <p:cNvPr id="9100" name="Google Shape;9100;p85"/>
            <p:cNvCxnSpPr/>
            <p:nvPr/>
          </p:nvCxnSpPr>
          <p:spPr>
            <a:xfrm>
              <a:off x="3846074" y="3695593"/>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101" name="Google Shape;9101;p85"/>
            <p:cNvSpPr/>
            <p:nvPr/>
          </p:nvSpPr>
          <p:spPr>
            <a:xfrm rot="10800000">
              <a:off x="3606014" y="406125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pic>
          <p:nvPicPr>
            <p:cNvPr id="9102" name="Google Shape;9102;p85"/>
            <p:cNvPicPr preferRelativeResize="0"/>
            <p:nvPr/>
          </p:nvPicPr>
          <p:blipFill rotWithShape="1">
            <a:blip r:embed="rId4">
              <a:alphaModFix/>
            </a:blip>
            <a:srcRect/>
            <a:stretch/>
          </p:blipFill>
          <p:spPr>
            <a:xfrm>
              <a:off x="3715600" y="4167511"/>
              <a:ext cx="293337" cy="293337"/>
            </a:xfrm>
            <a:prstGeom prst="rect">
              <a:avLst/>
            </a:prstGeom>
            <a:noFill/>
            <a:ln>
              <a:noFill/>
            </a:ln>
          </p:spPr>
        </p:pic>
        <p:sp>
          <p:nvSpPr>
            <p:cNvPr id="9103" name="Google Shape;9103;p85"/>
            <p:cNvSpPr/>
            <p:nvPr/>
          </p:nvSpPr>
          <p:spPr>
            <a:xfrm>
              <a:off x="3363585" y="4622068"/>
              <a:ext cx="941094"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1"/>
                </a:buClr>
                <a:buSzPts val="1100"/>
                <a:buFont typeface="Arial"/>
                <a:buNone/>
              </a:pPr>
              <a:r>
                <a:rPr lang="en-US" sz="1100">
                  <a:solidFill>
                    <a:srgbClr val="000001"/>
                  </a:solidFill>
                  <a:latin typeface="Arial"/>
                  <a:ea typeface="Arial"/>
                  <a:cs typeface="Arial"/>
                  <a:sym typeface="Arial"/>
                </a:rPr>
                <a:t>vMotion &amp;</a:t>
              </a:r>
              <a:br>
                <a:rPr lang="en-US" sz="1100">
                  <a:solidFill>
                    <a:srgbClr val="000001"/>
                  </a:solidFill>
                  <a:latin typeface="Arial"/>
                  <a:ea typeface="Arial"/>
                  <a:cs typeface="Arial"/>
                  <a:sym typeface="Arial"/>
                </a:rPr>
              </a:br>
              <a:r>
                <a:rPr lang="en-US" sz="1100">
                  <a:solidFill>
                    <a:srgbClr val="000001"/>
                  </a:solidFill>
                  <a:latin typeface="Arial"/>
                  <a:ea typeface="Arial"/>
                  <a:cs typeface="Arial"/>
                  <a:sym typeface="Arial"/>
                </a:rPr>
                <a:t>DRS</a:t>
              </a:r>
              <a:endParaRPr sz="1100" b="0" i="0" u="none" strike="noStrike" cap="none">
                <a:solidFill>
                  <a:srgbClr val="000001"/>
                </a:solidFill>
                <a:latin typeface="Arial"/>
                <a:ea typeface="Arial"/>
                <a:cs typeface="Arial"/>
                <a:sym typeface="Arial"/>
              </a:endParaRPr>
            </a:p>
          </p:txBody>
        </p:sp>
      </p:grpSp>
      <p:grpSp>
        <p:nvGrpSpPr>
          <p:cNvPr id="9104" name="Google Shape;9104;p85"/>
          <p:cNvGrpSpPr/>
          <p:nvPr/>
        </p:nvGrpSpPr>
        <p:grpSpPr>
          <a:xfrm>
            <a:off x="4983457" y="1261010"/>
            <a:ext cx="758008" cy="1311796"/>
            <a:chOff x="4829288" y="1436575"/>
            <a:chExt cx="758008" cy="1311796"/>
          </a:xfrm>
        </p:grpSpPr>
        <p:cxnSp>
          <p:nvCxnSpPr>
            <p:cNvPr id="9105" name="Google Shape;9105;p85"/>
            <p:cNvCxnSpPr/>
            <p:nvPr/>
          </p:nvCxnSpPr>
          <p:spPr>
            <a:xfrm rot="10800000">
              <a:off x="5208289" y="2382706"/>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106" name="Google Shape;9106;p85"/>
            <p:cNvSpPr/>
            <p:nvPr/>
          </p:nvSpPr>
          <p:spPr>
            <a:xfrm>
              <a:off x="4968229" y="1900043"/>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107" name="Google Shape;9107;p85"/>
            <p:cNvSpPr/>
            <p:nvPr/>
          </p:nvSpPr>
          <p:spPr>
            <a:xfrm>
              <a:off x="4829288" y="1436575"/>
              <a:ext cx="758008" cy="3790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VM</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Sandbox</a:t>
              </a:r>
              <a:endParaRPr/>
            </a:p>
          </p:txBody>
        </p:sp>
        <p:pic>
          <p:nvPicPr>
            <p:cNvPr id="9108" name="Google Shape;9108;p85"/>
            <p:cNvPicPr preferRelativeResize="0"/>
            <p:nvPr/>
          </p:nvPicPr>
          <p:blipFill rotWithShape="1">
            <a:blip r:embed="rId5">
              <a:alphaModFix/>
            </a:blip>
            <a:srcRect/>
            <a:stretch/>
          </p:blipFill>
          <p:spPr>
            <a:xfrm>
              <a:off x="5081495" y="1998068"/>
              <a:ext cx="253591" cy="253591"/>
            </a:xfrm>
            <a:prstGeom prst="rect">
              <a:avLst/>
            </a:prstGeom>
            <a:noFill/>
            <a:ln>
              <a:noFill/>
            </a:ln>
          </p:spPr>
        </p:pic>
      </p:grpSp>
      <p:grpSp>
        <p:nvGrpSpPr>
          <p:cNvPr id="9109" name="Google Shape;9109;p85"/>
          <p:cNvGrpSpPr/>
          <p:nvPr/>
        </p:nvGrpSpPr>
        <p:grpSpPr>
          <a:xfrm>
            <a:off x="8182391" y="3520028"/>
            <a:ext cx="941094" cy="1305479"/>
            <a:chOff x="7798650" y="3695593"/>
            <a:chExt cx="941094" cy="1305479"/>
          </a:xfrm>
        </p:grpSpPr>
        <p:cxnSp>
          <p:nvCxnSpPr>
            <p:cNvPr id="9110" name="Google Shape;9110;p85"/>
            <p:cNvCxnSpPr/>
            <p:nvPr/>
          </p:nvCxnSpPr>
          <p:spPr>
            <a:xfrm>
              <a:off x="8281138" y="3695593"/>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111" name="Google Shape;9111;p85"/>
            <p:cNvSpPr/>
            <p:nvPr/>
          </p:nvSpPr>
          <p:spPr>
            <a:xfrm rot="10800000">
              <a:off x="8041078" y="406125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112" name="Google Shape;9112;p85"/>
            <p:cNvSpPr/>
            <p:nvPr/>
          </p:nvSpPr>
          <p:spPr>
            <a:xfrm>
              <a:off x="7798650" y="4622068"/>
              <a:ext cx="941094"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VM</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Snapshot</a:t>
              </a:r>
              <a:endParaRPr/>
            </a:p>
          </p:txBody>
        </p:sp>
        <p:pic>
          <p:nvPicPr>
            <p:cNvPr id="9113" name="Google Shape;9113;p85"/>
            <p:cNvPicPr preferRelativeResize="0"/>
            <p:nvPr/>
          </p:nvPicPr>
          <p:blipFill rotWithShape="1">
            <a:blip r:embed="rId6">
              <a:alphaModFix/>
            </a:blip>
            <a:srcRect/>
            <a:stretch/>
          </p:blipFill>
          <p:spPr>
            <a:xfrm>
              <a:off x="8148261" y="4162716"/>
              <a:ext cx="271582" cy="271582"/>
            </a:xfrm>
            <a:prstGeom prst="rect">
              <a:avLst/>
            </a:prstGeom>
            <a:noFill/>
            <a:ln>
              <a:noFill/>
            </a:ln>
          </p:spPr>
        </p:pic>
      </p:grpSp>
      <p:grpSp>
        <p:nvGrpSpPr>
          <p:cNvPr id="9114" name="Google Shape;9114;p85"/>
          <p:cNvGrpSpPr/>
          <p:nvPr/>
        </p:nvGrpSpPr>
        <p:grpSpPr>
          <a:xfrm>
            <a:off x="9425458" y="3527623"/>
            <a:ext cx="758008" cy="1294116"/>
            <a:chOff x="9200771" y="3703188"/>
            <a:chExt cx="758008" cy="1294116"/>
          </a:xfrm>
        </p:grpSpPr>
        <p:sp>
          <p:nvSpPr>
            <p:cNvPr id="9115" name="Google Shape;9115;p85"/>
            <p:cNvSpPr/>
            <p:nvPr/>
          </p:nvSpPr>
          <p:spPr>
            <a:xfrm>
              <a:off x="9200771" y="4618300"/>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Failover to </a:t>
              </a:r>
              <a:endParaRPr/>
            </a:p>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Recovery Site</a:t>
              </a:r>
              <a:endParaRPr/>
            </a:p>
          </p:txBody>
        </p:sp>
        <p:cxnSp>
          <p:nvCxnSpPr>
            <p:cNvPr id="9116" name="Google Shape;9116;p85"/>
            <p:cNvCxnSpPr/>
            <p:nvPr/>
          </p:nvCxnSpPr>
          <p:spPr>
            <a:xfrm>
              <a:off x="9572154" y="3703188"/>
              <a:ext cx="0" cy="365379"/>
            </a:xfrm>
            <a:prstGeom prst="straightConnector1">
              <a:avLst/>
            </a:prstGeom>
            <a:noFill/>
            <a:ln w="12700" cap="flat" cmpd="sng">
              <a:solidFill>
                <a:schemeClr val="dk1"/>
              </a:solidFill>
              <a:prstDash val="solid"/>
              <a:miter lim="800000"/>
              <a:headEnd type="none" w="sm" len="sm"/>
              <a:tailEnd type="none" w="sm" len="sm"/>
            </a:ln>
          </p:spPr>
        </p:cxnSp>
        <p:sp>
          <p:nvSpPr>
            <p:cNvPr id="9117" name="Google Shape;9117;p85"/>
            <p:cNvSpPr/>
            <p:nvPr/>
          </p:nvSpPr>
          <p:spPr>
            <a:xfrm rot="10800000">
              <a:off x="9339713" y="406856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pic>
          <p:nvPicPr>
            <p:cNvPr id="9118" name="Google Shape;9118;p85"/>
            <p:cNvPicPr preferRelativeResize="0"/>
            <p:nvPr/>
          </p:nvPicPr>
          <p:blipFill rotWithShape="1">
            <a:blip r:embed="rId7">
              <a:alphaModFix/>
            </a:blip>
            <a:srcRect/>
            <a:stretch/>
          </p:blipFill>
          <p:spPr>
            <a:xfrm>
              <a:off x="9416546" y="4169032"/>
              <a:ext cx="317777" cy="294713"/>
            </a:xfrm>
            <a:prstGeom prst="rect">
              <a:avLst/>
            </a:prstGeom>
            <a:noFill/>
            <a:ln>
              <a:noFill/>
            </a:ln>
          </p:spPr>
        </p:pic>
      </p:grpSp>
      <p:grpSp>
        <p:nvGrpSpPr>
          <p:cNvPr id="9119" name="Google Shape;9119;p85"/>
          <p:cNvGrpSpPr/>
          <p:nvPr/>
        </p:nvGrpSpPr>
        <p:grpSpPr>
          <a:xfrm>
            <a:off x="2699400" y="3520028"/>
            <a:ext cx="758008" cy="1305480"/>
            <a:chOff x="2397242" y="3695593"/>
            <a:chExt cx="758008" cy="1305480"/>
          </a:xfrm>
        </p:grpSpPr>
        <p:cxnSp>
          <p:nvCxnSpPr>
            <p:cNvPr id="9120" name="Google Shape;9120;p85"/>
            <p:cNvCxnSpPr/>
            <p:nvPr/>
          </p:nvCxnSpPr>
          <p:spPr>
            <a:xfrm>
              <a:off x="2776944" y="3695593"/>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121" name="Google Shape;9121;p85"/>
            <p:cNvSpPr/>
            <p:nvPr/>
          </p:nvSpPr>
          <p:spPr>
            <a:xfrm rot="10800000">
              <a:off x="2536884" y="406125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122" name="Google Shape;9122;p85"/>
            <p:cNvSpPr/>
            <p:nvPr/>
          </p:nvSpPr>
          <p:spPr>
            <a:xfrm>
              <a:off x="2397242" y="4622069"/>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Distributed</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Firewall</a:t>
              </a:r>
              <a:endParaRPr/>
            </a:p>
          </p:txBody>
        </p:sp>
        <p:sp>
          <p:nvSpPr>
            <p:cNvPr id="9123" name="Google Shape;9123;p85" descr="Security 1&#10;"/>
            <p:cNvSpPr/>
            <p:nvPr/>
          </p:nvSpPr>
          <p:spPr>
            <a:xfrm>
              <a:off x="2640142" y="4150019"/>
              <a:ext cx="263705" cy="310319"/>
            </a:xfrm>
            <a:custGeom>
              <a:avLst/>
              <a:gdLst/>
              <a:ahLst/>
              <a:cxnLst/>
              <a:rect l="l" t="t" r="r" b="b"/>
              <a:pathLst>
                <a:path w="509509" h="599572" extrusionOk="0">
                  <a:moveTo>
                    <a:pt x="254818" y="599572"/>
                  </a:moveTo>
                  <a:lnTo>
                    <a:pt x="246217" y="596536"/>
                  </a:lnTo>
                  <a:cubicBezTo>
                    <a:pt x="235908" y="592678"/>
                    <a:pt x="0" y="500655"/>
                    <a:pt x="0" y="263609"/>
                  </a:cubicBezTo>
                  <a:lnTo>
                    <a:pt x="0" y="110364"/>
                  </a:lnTo>
                  <a:lnTo>
                    <a:pt x="18974" y="105494"/>
                  </a:lnTo>
                  <a:cubicBezTo>
                    <a:pt x="58566" y="95001"/>
                    <a:pt x="97250" y="81337"/>
                    <a:pt x="134651" y="64637"/>
                  </a:cubicBezTo>
                  <a:cubicBezTo>
                    <a:pt x="171498" y="48775"/>
                    <a:pt x="207082" y="30127"/>
                    <a:pt x="241094" y="8854"/>
                  </a:cubicBezTo>
                  <a:lnTo>
                    <a:pt x="254692" y="0"/>
                  </a:lnTo>
                  <a:lnTo>
                    <a:pt x="268669" y="8665"/>
                  </a:lnTo>
                  <a:cubicBezTo>
                    <a:pt x="302616" y="30027"/>
                    <a:pt x="338136" y="48780"/>
                    <a:pt x="374922" y="64764"/>
                  </a:cubicBezTo>
                  <a:cubicBezTo>
                    <a:pt x="412304" y="81506"/>
                    <a:pt x="450965" y="95231"/>
                    <a:pt x="490536" y="105811"/>
                  </a:cubicBezTo>
                  <a:lnTo>
                    <a:pt x="509510" y="110681"/>
                  </a:lnTo>
                  <a:lnTo>
                    <a:pt x="509510" y="263609"/>
                  </a:lnTo>
                  <a:cubicBezTo>
                    <a:pt x="509510" y="495659"/>
                    <a:pt x="289287" y="586923"/>
                    <a:pt x="262850" y="596220"/>
                  </a:cubicBezTo>
                  <a:lnTo>
                    <a:pt x="262850" y="596220"/>
                  </a:lnTo>
                  <a:close/>
                  <a:moveTo>
                    <a:pt x="15748" y="122697"/>
                  </a:moveTo>
                  <a:lnTo>
                    <a:pt x="15748" y="263609"/>
                  </a:lnTo>
                  <a:cubicBezTo>
                    <a:pt x="15748" y="489904"/>
                    <a:pt x="241853" y="578005"/>
                    <a:pt x="251529" y="581673"/>
                  </a:cubicBezTo>
                  <a:lnTo>
                    <a:pt x="254818" y="582812"/>
                  </a:lnTo>
                  <a:lnTo>
                    <a:pt x="259562" y="581168"/>
                  </a:lnTo>
                  <a:cubicBezTo>
                    <a:pt x="273602" y="575981"/>
                    <a:pt x="493888" y="487627"/>
                    <a:pt x="493888" y="263609"/>
                  </a:cubicBezTo>
                  <a:lnTo>
                    <a:pt x="493888" y="122697"/>
                  </a:lnTo>
                  <a:lnTo>
                    <a:pt x="486551" y="120800"/>
                  </a:lnTo>
                  <a:cubicBezTo>
                    <a:pt x="446185" y="109995"/>
                    <a:pt x="406743" y="95995"/>
                    <a:pt x="368598" y="78931"/>
                  </a:cubicBezTo>
                  <a:cubicBezTo>
                    <a:pt x="331139" y="62720"/>
                    <a:pt x="294964" y="43692"/>
                    <a:pt x="260384" y="22010"/>
                  </a:cubicBezTo>
                  <a:lnTo>
                    <a:pt x="254945" y="18658"/>
                  </a:lnTo>
                  <a:lnTo>
                    <a:pt x="249632" y="22136"/>
                  </a:lnTo>
                  <a:cubicBezTo>
                    <a:pt x="214986" y="43819"/>
                    <a:pt x="178748" y="62848"/>
                    <a:pt x="141228" y="79058"/>
                  </a:cubicBezTo>
                  <a:cubicBezTo>
                    <a:pt x="103025" y="96104"/>
                    <a:pt x="63517" y="110063"/>
                    <a:pt x="23085" y="12080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grpSp>
      <p:grpSp>
        <p:nvGrpSpPr>
          <p:cNvPr id="9124" name="Google Shape;9124;p85"/>
          <p:cNvGrpSpPr/>
          <p:nvPr/>
        </p:nvGrpSpPr>
        <p:grpSpPr>
          <a:xfrm>
            <a:off x="6037735" y="1261010"/>
            <a:ext cx="758008" cy="1311796"/>
            <a:chOff x="5998300" y="1436575"/>
            <a:chExt cx="758008" cy="1311796"/>
          </a:xfrm>
        </p:grpSpPr>
        <p:cxnSp>
          <p:nvCxnSpPr>
            <p:cNvPr id="9125" name="Google Shape;9125;p85"/>
            <p:cNvCxnSpPr/>
            <p:nvPr/>
          </p:nvCxnSpPr>
          <p:spPr>
            <a:xfrm rot="10800000">
              <a:off x="6368723" y="2382706"/>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126" name="Google Shape;9126;p85"/>
            <p:cNvSpPr/>
            <p:nvPr/>
          </p:nvSpPr>
          <p:spPr>
            <a:xfrm>
              <a:off x="6128663" y="1900043"/>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127" name="Google Shape;9127;p85"/>
            <p:cNvSpPr/>
            <p:nvPr/>
          </p:nvSpPr>
          <p:spPr>
            <a:xfrm>
              <a:off x="5998300" y="1436575"/>
              <a:ext cx="758008" cy="379004"/>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Threat Detection</a:t>
              </a:r>
              <a:endParaRPr/>
            </a:p>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&amp; Response</a:t>
              </a:r>
              <a:endParaRPr/>
            </a:p>
          </p:txBody>
        </p:sp>
        <p:grpSp>
          <p:nvGrpSpPr>
            <p:cNvPr id="9128" name="Google Shape;9128;p85" descr="Endpoint Threat Inspection&#10;"/>
            <p:cNvGrpSpPr/>
            <p:nvPr/>
          </p:nvGrpSpPr>
          <p:grpSpPr>
            <a:xfrm>
              <a:off x="6234047" y="2019839"/>
              <a:ext cx="274249" cy="240028"/>
              <a:chOff x="11084357" y="5738838"/>
              <a:chExt cx="594512" cy="520331"/>
            </a:xfrm>
          </p:grpSpPr>
          <p:sp>
            <p:nvSpPr>
              <p:cNvPr id="9129" name="Google Shape;9129;p85"/>
              <p:cNvSpPr/>
              <p:nvPr/>
            </p:nvSpPr>
            <p:spPr>
              <a:xfrm>
                <a:off x="11155193" y="5970800"/>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30" name="Google Shape;9130;p85"/>
              <p:cNvSpPr/>
              <p:nvPr/>
            </p:nvSpPr>
            <p:spPr>
              <a:xfrm>
                <a:off x="11221601" y="5970800"/>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31" name="Google Shape;9131;p85"/>
              <p:cNvSpPr/>
              <p:nvPr/>
            </p:nvSpPr>
            <p:spPr>
              <a:xfrm>
                <a:off x="11288642" y="5970800"/>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32" name="Google Shape;9132;p85"/>
              <p:cNvSpPr/>
              <p:nvPr/>
            </p:nvSpPr>
            <p:spPr>
              <a:xfrm>
                <a:off x="11355050" y="5970800"/>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33" name="Google Shape;9133;p85"/>
              <p:cNvSpPr/>
              <p:nvPr/>
            </p:nvSpPr>
            <p:spPr>
              <a:xfrm>
                <a:off x="11421458" y="5970800"/>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34" name="Google Shape;9134;p85"/>
              <p:cNvSpPr/>
              <p:nvPr/>
            </p:nvSpPr>
            <p:spPr>
              <a:xfrm>
                <a:off x="11270928" y="6135583"/>
                <a:ext cx="221466" cy="123586"/>
              </a:xfrm>
              <a:custGeom>
                <a:avLst/>
                <a:gdLst/>
                <a:ahLst/>
                <a:cxnLst/>
                <a:rect l="l" t="t" r="r" b="b"/>
                <a:pathLst>
                  <a:path w="221466" h="123586" extrusionOk="0">
                    <a:moveTo>
                      <a:pt x="216306" y="100137"/>
                    </a:moveTo>
                    <a:cubicBezTo>
                      <a:pt x="206187" y="93165"/>
                      <a:pt x="180888" y="83025"/>
                      <a:pt x="169504" y="78589"/>
                    </a:cubicBezTo>
                    <a:lnTo>
                      <a:pt x="161915" y="0"/>
                    </a:lnTo>
                    <a:lnTo>
                      <a:pt x="146103" y="0"/>
                    </a:lnTo>
                    <a:lnTo>
                      <a:pt x="154325" y="89996"/>
                    </a:lnTo>
                    <a:lnTo>
                      <a:pt x="158752" y="91898"/>
                    </a:lnTo>
                    <a:cubicBezTo>
                      <a:pt x="166342" y="95067"/>
                      <a:pt x="184683" y="102038"/>
                      <a:pt x="196700" y="107742"/>
                    </a:cubicBezTo>
                    <a:lnTo>
                      <a:pt x="24671" y="107742"/>
                    </a:lnTo>
                    <a:cubicBezTo>
                      <a:pt x="36688" y="102038"/>
                      <a:pt x="55029" y="94433"/>
                      <a:pt x="62618" y="91898"/>
                    </a:cubicBezTo>
                    <a:lnTo>
                      <a:pt x="67046" y="89996"/>
                    </a:lnTo>
                    <a:lnTo>
                      <a:pt x="78430" y="0"/>
                    </a:lnTo>
                    <a:lnTo>
                      <a:pt x="62618" y="0"/>
                    </a:lnTo>
                    <a:lnTo>
                      <a:pt x="52499" y="78589"/>
                    </a:lnTo>
                    <a:cubicBezTo>
                      <a:pt x="41747" y="83025"/>
                      <a:pt x="15816" y="93165"/>
                      <a:pt x="5697" y="100137"/>
                    </a:cubicBezTo>
                    <a:cubicBezTo>
                      <a:pt x="1270" y="103306"/>
                      <a:pt x="-1260" y="109010"/>
                      <a:pt x="637" y="114714"/>
                    </a:cubicBezTo>
                    <a:cubicBezTo>
                      <a:pt x="2535" y="119784"/>
                      <a:pt x="6962" y="123587"/>
                      <a:pt x="12654" y="123587"/>
                    </a:cubicBezTo>
                    <a:lnTo>
                      <a:pt x="208717" y="123587"/>
                    </a:lnTo>
                    <a:cubicBezTo>
                      <a:pt x="214409" y="123587"/>
                      <a:pt x="218836" y="119784"/>
                      <a:pt x="220733" y="114714"/>
                    </a:cubicBezTo>
                    <a:cubicBezTo>
                      <a:pt x="222631" y="109644"/>
                      <a:pt x="220733" y="103940"/>
                      <a:pt x="216306" y="1001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35" name="Google Shape;9135;p85"/>
              <p:cNvSpPr/>
              <p:nvPr/>
            </p:nvSpPr>
            <p:spPr>
              <a:xfrm>
                <a:off x="11084357" y="5738838"/>
                <a:ext cx="594512" cy="380266"/>
              </a:xfrm>
              <a:custGeom>
                <a:avLst/>
                <a:gdLst/>
                <a:ahLst/>
                <a:cxnLst/>
                <a:rect l="l" t="t" r="r" b="b"/>
                <a:pathLst>
                  <a:path w="594512" h="380266" extrusionOk="0">
                    <a:moveTo>
                      <a:pt x="562257" y="15844"/>
                    </a:moveTo>
                    <a:cubicBezTo>
                      <a:pt x="571111" y="15844"/>
                      <a:pt x="578701" y="22816"/>
                      <a:pt x="578701" y="31055"/>
                    </a:cubicBezTo>
                    <a:lnTo>
                      <a:pt x="578701" y="350479"/>
                    </a:lnTo>
                    <a:cubicBezTo>
                      <a:pt x="578701" y="358085"/>
                      <a:pt x="571744" y="364423"/>
                      <a:pt x="563522" y="364423"/>
                    </a:cubicBezTo>
                    <a:lnTo>
                      <a:pt x="29726" y="364423"/>
                    </a:lnTo>
                    <a:cubicBezTo>
                      <a:pt x="22136" y="364423"/>
                      <a:pt x="15812" y="358719"/>
                      <a:pt x="15812" y="351747"/>
                    </a:cubicBezTo>
                    <a:lnTo>
                      <a:pt x="15812" y="28520"/>
                    </a:lnTo>
                    <a:cubicBezTo>
                      <a:pt x="15812" y="21548"/>
                      <a:pt x="22136" y="15844"/>
                      <a:pt x="29726" y="15844"/>
                    </a:cubicBezTo>
                    <a:lnTo>
                      <a:pt x="562257" y="15844"/>
                    </a:lnTo>
                    <a:moveTo>
                      <a:pt x="562257" y="0"/>
                    </a:moveTo>
                    <a:lnTo>
                      <a:pt x="29726" y="0"/>
                    </a:lnTo>
                    <a:cubicBezTo>
                      <a:pt x="13282" y="0"/>
                      <a:pt x="0" y="12676"/>
                      <a:pt x="0" y="28520"/>
                    </a:cubicBezTo>
                    <a:lnTo>
                      <a:pt x="0" y="351747"/>
                    </a:lnTo>
                    <a:cubicBezTo>
                      <a:pt x="0" y="367591"/>
                      <a:pt x="13282" y="380267"/>
                      <a:pt x="29726" y="380267"/>
                    </a:cubicBezTo>
                    <a:lnTo>
                      <a:pt x="563522" y="380267"/>
                    </a:lnTo>
                    <a:cubicBezTo>
                      <a:pt x="580598" y="380267"/>
                      <a:pt x="594512" y="366958"/>
                      <a:pt x="594512" y="350479"/>
                    </a:cubicBezTo>
                    <a:lnTo>
                      <a:pt x="594512" y="31055"/>
                    </a:lnTo>
                    <a:cubicBezTo>
                      <a:pt x="594512" y="13943"/>
                      <a:pt x="579966" y="0"/>
                      <a:pt x="562257" y="0"/>
                    </a:cubicBezTo>
                    <a:lnTo>
                      <a:pt x="56225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grpSp>
            <p:nvGrpSpPr>
              <p:cNvPr id="9136" name="Google Shape;9136;p85"/>
              <p:cNvGrpSpPr/>
              <p:nvPr/>
            </p:nvGrpSpPr>
            <p:grpSpPr>
              <a:xfrm>
                <a:off x="11121040" y="5796511"/>
                <a:ext cx="299785" cy="32956"/>
                <a:chOff x="11121040" y="5796511"/>
                <a:chExt cx="299785" cy="32956"/>
              </a:xfrm>
            </p:grpSpPr>
            <p:sp>
              <p:nvSpPr>
                <p:cNvPr id="9137" name="Google Shape;9137;p85"/>
                <p:cNvSpPr/>
                <p:nvPr/>
              </p:nvSpPr>
              <p:spPr>
                <a:xfrm>
                  <a:off x="11121040" y="5796511"/>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38" name="Google Shape;9138;p85"/>
                <p:cNvSpPr/>
                <p:nvPr/>
              </p:nvSpPr>
              <p:spPr>
                <a:xfrm>
                  <a:off x="11188081" y="5796511"/>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39" name="Google Shape;9139;p85"/>
                <p:cNvSpPr/>
                <p:nvPr/>
              </p:nvSpPr>
              <p:spPr>
                <a:xfrm>
                  <a:off x="11254489" y="5796511"/>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40" name="Google Shape;9140;p85"/>
                <p:cNvSpPr/>
                <p:nvPr/>
              </p:nvSpPr>
              <p:spPr>
                <a:xfrm>
                  <a:off x="11320897" y="5796511"/>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41" name="Google Shape;9141;p85"/>
                <p:cNvSpPr/>
                <p:nvPr/>
              </p:nvSpPr>
              <p:spPr>
                <a:xfrm>
                  <a:off x="11387938" y="5796511"/>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grpSp>
          <p:grpSp>
            <p:nvGrpSpPr>
              <p:cNvPr id="9142" name="Google Shape;9142;p85"/>
              <p:cNvGrpSpPr/>
              <p:nvPr/>
            </p:nvGrpSpPr>
            <p:grpSpPr>
              <a:xfrm>
                <a:off x="11121040" y="5912493"/>
                <a:ext cx="369356" cy="32956"/>
                <a:chOff x="11121040" y="5912493"/>
                <a:chExt cx="369356" cy="32956"/>
              </a:xfrm>
            </p:grpSpPr>
            <p:sp>
              <p:nvSpPr>
                <p:cNvPr id="9143" name="Google Shape;9143;p85"/>
                <p:cNvSpPr/>
                <p:nvPr/>
              </p:nvSpPr>
              <p:spPr>
                <a:xfrm>
                  <a:off x="11121040" y="5912493"/>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44" name="Google Shape;9144;p85"/>
                <p:cNvSpPr/>
                <p:nvPr/>
              </p:nvSpPr>
              <p:spPr>
                <a:xfrm>
                  <a:off x="11188081" y="5912493"/>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45" name="Google Shape;9145;p85"/>
                <p:cNvSpPr/>
                <p:nvPr/>
              </p:nvSpPr>
              <p:spPr>
                <a:xfrm>
                  <a:off x="11254489" y="5912493"/>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46" name="Google Shape;9146;p85"/>
                <p:cNvSpPr/>
                <p:nvPr/>
              </p:nvSpPr>
              <p:spPr>
                <a:xfrm>
                  <a:off x="11320897" y="5912493"/>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47" name="Google Shape;9147;p85"/>
                <p:cNvSpPr/>
                <p:nvPr/>
              </p:nvSpPr>
              <p:spPr>
                <a:xfrm>
                  <a:off x="11387938" y="5912493"/>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48" name="Google Shape;9148;p85"/>
                <p:cNvSpPr/>
                <p:nvPr/>
              </p:nvSpPr>
              <p:spPr>
                <a:xfrm>
                  <a:off x="11457509" y="5912493"/>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grpSp>
          <p:grpSp>
            <p:nvGrpSpPr>
              <p:cNvPr id="9149" name="Google Shape;9149;p85"/>
              <p:cNvGrpSpPr/>
              <p:nvPr/>
            </p:nvGrpSpPr>
            <p:grpSpPr>
              <a:xfrm>
                <a:off x="11121040" y="6028474"/>
                <a:ext cx="299785" cy="32956"/>
                <a:chOff x="11121040" y="6028474"/>
                <a:chExt cx="299785" cy="32956"/>
              </a:xfrm>
            </p:grpSpPr>
            <p:sp>
              <p:nvSpPr>
                <p:cNvPr id="9150" name="Google Shape;9150;p85"/>
                <p:cNvSpPr/>
                <p:nvPr/>
              </p:nvSpPr>
              <p:spPr>
                <a:xfrm>
                  <a:off x="11121040" y="6028474"/>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51" name="Google Shape;9151;p85"/>
                <p:cNvSpPr/>
                <p:nvPr/>
              </p:nvSpPr>
              <p:spPr>
                <a:xfrm>
                  <a:off x="11188081" y="6028474"/>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52" name="Google Shape;9152;p85"/>
                <p:cNvSpPr/>
                <p:nvPr/>
              </p:nvSpPr>
              <p:spPr>
                <a:xfrm>
                  <a:off x="11254489" y="6028474"/>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53" name="Google Shape;9153;p85"/>
                <p:cNvSpPr/>
                <p:nvPr/>
              </p:nvSpPr>
              <p:spPr>
                <a:xfrm>
                  <a:off x="11320897" y="6028474"/>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54" name="Google Shape;9154;p85"/>
                <p:cNvSpPr/>
                <p:nvPr/>
              </p:nvSpPr>
              <p:spPr>
                <a:xfrm>
                  <a:off x="11387938" y="6028474"/>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grpSp>
          <p:grpSp>
            <p:nvGrpSpPr>
              <p:cNvPr id="9155" name="Google Shape;9155;p85"/>
              <p:cNvGrpSpPr/>
              <p:nvPr/>
            </p:nvGrpSpPr>
            <p:grpSpPr>
              <a:xfrm>
                <a:off x="11155193" y="5854819"/>
                <a:ext cx="299152" cy="32956"/>
                <a:chOff x="11155193" y="5854819"/>
                <a:chExt cx="299152" cy="32956"/>
              </a:xfrm>
            </p:grpSpPr>
            <p:sp>
              <p:nvSpPr>
                <p:cNvPr id="9156" name="Google Shape;9156;p85"/>
                <p:cNvSpPr/>
                <p:nvPr/>
              </p:nvSpPr>
              <p:spPr>
                <a:xfrm>
                  <a:off x="11155193" y="5854819"/>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57" name="Google Shape;9157;p85"/>
                <p:cNvSpPr/>
                <p:nvPr/>
              </p:nvSpPr>
              <p:spPr>
                <a:xfrm>
                  <a:off x="11221601" y="5854819"/>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58" name="Google Shape;9158;p85"/>
                <p:cNvSpPr/>
                <p:nvPr/>
              </p:nvSpPr>
              <p:spPr>
                <a:xfrm>
                  <a:off x="11288642" y="5854819"/>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59" name="Google Shape;9159;p85"/>
                <p:cNvSpPr/>
                <p:nvPr/>
              </p:nvSpPr>
              <p:spPr>
                <a:xfrm>
                  <a:off x="11355050" y="5854819"/>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60" name="Google Shape;9160;p85"/>
                <p:cNvSpPr/>
                <p:nvPr/>
              </p:nvSpPr>
              <p:spPr>
                <a:xfrm>
                  <a:off x="11421458" y="5854819"/>
                  <a:ext cx="32887" cy="32956"/>
                </a:xfrm>
                <a:custGeom>
                  <a:avLst/>
                  <a:gdLst/>
                  <a:ahLst/>
                  <a:cxnLst/>
                  <a:rect l="l" t="t" r="r" b="b"/>
                  <a:pathLst>
                    <a:path w="32887" h="32956" extrusionOk="0">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grpSp>
        </p:grpSp>
      </p:grpSp>
      <p:grpSp>
        <p:nvGrpSpPr>
          <p:cNvPr id="9161" name="Google Shape;9161;p85"/>
          <p:cNvGrpSpPr/>
          <p:nvPr/>
        </p:nvGrpSpPr>
        <p:grpSpPr>
          <a:xfrm>
            <a:off x="7700951" y="3527622"/>
            <a:ext cx="758008" cy="2475217"/>
            <a:chOff x="7258991" y="3703187"/>
            <a:chExt cx="758008" cy="2475217"/>
          </a:xfrm>
        </p:grpSpPr>
        <p:cxnSp>
          <p:nvCxnSpPr>
            <p:cNvPr id="9162" name="Google Shape;9162;p85"/>
            <p:cNvCxnSpPr/>
            <p:nvPr/>
          </p:nvCxnSpPr>
          <p:spPr>
            <a:xfrm>
              <a:off x="7639226" y="3703187"/>
              <a:ext cx="0" cy="1554480"/>
            </a:xfrm>
            <a:prstGeom prst="straightConnector1">
              <a:avLst/>
            </a:prstGeom>
            <a:noFill/>
            <a:ln w="12700" cap="flat" cmpd="sng">
              <a:solidFill>
                <a:schemeClr val="dk1"/>
              </a:solidFill>
              <a:prstDash val="solid"/>
              <a:miter lim="800000"/>
              <a:headEnd type="none" w="sm" len="sm"/>
              <a:tailEnd type="none" w="sm" len="sm"/>
            </a:ln>
          </p:spPr>
        </p:cxnSp>
        <p:sp>
          <p:nvSpPr>
            <p:cNvPr id="9163" name="Google Shape;9163;p85"/>
            <p:cNvSpPr/>
            <p:nvPr/>
          </p:nvSpPr>
          <p:spPr>
            <a:xfrm rot="10800000">
              <a:off x="7399165" y="524966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164" name="Google Shape;9164;p85"/>
            <p:cNvSpPr/>
            <p:nvPr/>
          </p:nvSpPr>
          <p:spPr>
            <a:xfrm>
              <a:off x="7258991" y="5799400"/>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Workload</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Clustering</a:t>
              </a:r>
              <a:endParaRPr/>
            </a:p>
          </p:txBody>
        </p:sp>
        <p:pic>
          <p:nvPicPr>
            <p:cNvPr id="9165" name="Google Shape;9165;p85"/>
            <p:cNvPicPr preferRelativeResize="0"/>
            <p:nvPr/>
          </p:nvPicPr>
          <p:blipFill rotWithShape="1">
            <a:blip r:embed="rId8">
              <a:alphaModFix/>
            </a:blip>
            <a:srcRect t="104" b="103"/>
            <a:stretch/>
          </p:blipFill>
          <p:spPr>
            <a:xfrm>
              <a:off x="7448781" y="5286952"/>
              <a:ext cx="422800" cy="421921"/>
            </a:xfrm>
            <a:prstGeom prst="rect">
              <a:avLst/>
            </a:prstGeom>
            <a:noFill/>
            <a:ln>
              <a:noFill/>
            </a:ln>
          </p:spPr>
        </p:pic>
      </p:grpSp>
      <p:grpSp>
        <p:nvGrpSpPr>
          <p:cNvPr id="9166" name="Google Shape;9166;p85"/>
          <p:cNvGrpSpPr/>
          <p:nvPr/>
        </p:nvGrpSpPr>
        <p:grpSpPr>
          <a:xfrm>
            <a:off x="766345" y="1191740"/>
            <a:ext cx="758008" cy="1381066"/>
            <a:chOff x="766345" y="1367305"/>
            <a:chExt cx="758008" cy="1381066"/>
          </a:xfrm>
        </p:grpSpPr>
        <p:cxnSp>
          <p:nvCxnSpPr>
            <p:cNvPr id="9167" name="Google Shape;9167;p85"/>
            <p:cNvCxnSpPr/>
            <p:nvPr/>
          </p:nvCxnSpPr>
          <p:spPr>
            <a:xfrm rot="10800000">
              <a:off x="1145346" y="2382706"/>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168" name="Google Shape;9168;p85"/>
            <p:cNvSpPr/>
            <p:nvPr/>
          </p:nvSpPr>
          <p:spPr>
            <a:xfrm>
              <a:off x="905286" y="1900043"/>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169" name="Google Shape;9169;p85"/>
            <p:cNvSpPr/>
            <p:nvPr/>
          </p:nvSpPr>
          <p:spPr>
            <a:xfrm>
              <a:off x="766345" y="1367305"/>
              <a:ext cx="758008" cy="3790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100"/>
                <a:buFont typeface="Arial"/>
                <a:buNone/>
              </a:pPr>
              <a:endParaRPr sz="1100" b="0" i="0" u="none" strike="noStrike" cap="none">
                <a:solidFill>
                  <a:srgbClr val="000001"/>
                </a:solidFill>
                <a:latin typeface="Arial"/>
                <a:ea typeface="Arial"/>
                <a:cs typeface="Arial"/>
                <a:sym typeface="Arial"/>
              </a:endParaRPr>
            </a:p>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Dependency</a:t>
              </a:r>
              <a:endParaRPr/>
            </a:p>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Mapping</a:t>
              </a:r>
              <a:endParaRPr/>
            </a:p>
          </p:txBody>
        </p:sp>
        <p:pic>
          <p:nvPicPr>
            <p:cNvPr id="9170" name="Google Shape;9170;p85"/>
            <p:cNvPicPr preferRelativeResize="0"/>
            <p:nvPr/>
          </p:nvPicPr>
          <p:blipFill rotWithShape="1">
            <a:blip r:embed="rId9">
              <a:alphaModFix/>
            </a:blip>
            <a:srcRect l="104" r="103"/>
            <a:stretch/>
          </p:blipFill>
          <p:spPr>
            <a:xfrm>
              <a:off x="952411" y="1941655"/>
              <a:ext cx="396896" cy="396896"/>
            </a:xfrm>
            <a:prstGeom prst="rect">
              <a:avLst/>
            </a:prstGeom>
            <a:noFill/>
            <a:ln>
              <a:noFill/>
            </a:ln>
          </p:spPr>
        </p:pic>
      </p:grpSp>
      <p:grpSp>
        <p:nvGrpSpPr>
          <p:cNvPr id="9171" name="Google Shape;9171;p85"/>
          <p:cNvGrpSpPr/>
          <p:nvPr/>
        </p:nvGrpSpPr>
        <p:grpSpPr>
          <a:xfrm>
            <a:off x="3291393" y="3527622"/>
            <a:ext cx="758008" cy="2475217"/>
            <a:chOff x="3961953" y="3703187"/>
            <a:chExt cx="758008" cy="2475217"/>
          </a:xfrm>
        </p:grpSpPr>
        <p:sp>
          <p:nvSpPr>
            <p:cNvPr id="9172" name="Google Shape;9172;p85"/>
            <p:cNvSpPr/>
            <p:nvPr/>
          </p:nvSpPr>
          <p:spPr>
            <a:xfrm>
              <a:off x="3961953" y="5799400"/>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TPM &amp;</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Secure Boot</a:t>
              </a:r>
              <a:endParaRPr/>
            </a:p>
          </p:txBody>
        </p:sp>
        <p:cxnSp>
          <p:nvCxnSpPr>
            <p:cNvPr id="9173" name="Google Shape;9173;p85"/>
            <p:cNvCxnSpPr/>
            <p:nvPr/>
          </p:nvCxnSpPr>
          <p:spPr>
            <a:xfrm>
              <a:off x="4340956" y="3703187"/>
              <a:ext cx="0" cy="1554480"/>
            </a:xfrm>
            <a:prstGeom prst="straightConnector1">
              <a:avLst/>
            </a:prstGeom>
            <a:noFill/>
            <a:ln w="12700" cap="flat" cmpd="sng">
              <a:solidFill>
                <a:schemeClr val="dk1"/>
              </a:solidFill>
              <a:prstDash val="solid"/>
              <a:miter lim="800000"/>
              <a:headEnd type="none" w="sm" len="sm"/>
              <a:tailEnd type="none" w="sm" len="sm"/>
            </a:ln>
          </p:spPr>
        </p:cxnSp>
        <p:sp>
          <p:nvSpPr>
            <p:cNvPr id="9174" name="Google Shape;9174;p85"/>
            <p:cNvSpPr/>
            <p:nvPr/>
          </p:nvSpPr>
          <p:spPr>
            <a:xfrm rot="10800000">
              <a:off x="4100896" y="524966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grpSp>
          <p:nvGrpSpPr>
            <p:cNvPr id="9175" name="Google Shape;9175;p85" descr="Dashboard&#10;"/>
            <p:cNvGrpSpPr/>
            <p:nvPr/>
          </p:nvGrpSpPr>
          <p:grpSpPr>
            <a:xfrm>
              <a:off x="4220310" y="5369590"/>
              <a:ext cx="244612" cy="244612"/>
              <a:chOff x="7127146" y="720904"/>
              <a:chExt cx="598307" cy="598307"/>
            </a:xfrm>
          </p:grpSpPr>
          <p:sp>
            <p:nvSpPr>
              <p:cNvPr id="9176" name="Google Shape;9176;p85"/>
              <p:cNvSpPr/>
              <p:nvPr/>
            </p:nvSpPr>
            <p:spPr>
              <a:xfrm>
                <a:off x="7196084" y="912539"/>
                <a:ext cx="132816" cy="343425"/>
              </a:xfrm>
              <a:custGeom>
                <a:avLst/>
                <a:gdLst/>
                <a:ahLst/>
                <a:cxnLst/>
                <a:rect l="l" t="t" r="r" b="b"/>
                <a:pathLst>
                  <a:path w="132816" h="343425" extrusionOk="0">
                    <a:moveTo>
                      <a:pt x="132817" y="343426"/>
                    </a:moveTo>
                    <a:lnTo>
                      <a:pt x="0" y="343426"/>
                    </a:lnTo>
                    <a:lnTo>
                      <a:pt x="0" y="0"/>
                    </a:lnTo>
                    <a:lnTo>
                      <a:pt x="132817" y="0"/>
                    </a:lnTo>
                    <a:lnTo>
                      <a:pt x="132817" y="343426"/>
                    </a:lnTo>
                    <a:close/>
                    <a:moveTo>
                      <a:pt x="15812" y="327614"/>
                    </a:moveTo>
                    <a:lnTo>
                      <a:pt x="117005" y="327614"/>
                    </a:lnTo>
                    <a:lnTo>
                      <a:pt x="117005" y="15812"/>
                    </a:lnTo>
                    <a:lnTo>
                      <a:pt x="15812" y="15812"/>
                    </a:lnTo>
                    <a:lnTo>
                      <a:pt x="15812" y="3276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77" name="Google Shape;9177;p85"/>
              <p:cNvSpPr/>
              <p:nvPr/>
            </p:nvSpPr>
            <p:spPr>
              <a:xfrm>
                <a:off x="7359891" y="784782"/>
                <a:ext cx="132816" cy="471182"/>
              </a:xfrm>
              <a:custGeom>
                <a:avLst/>
                <a:gdLst/>
                <a:ahLst/>
                <a:cxnLst/>
                <a:rect l="l" t="t" r="r" b="b"/>
                <a:pathLst>
                  <a:path w="132816" h="471182" extrusionOk="0">
                    <a:moveTo>
                      <a:pt x="132817" y="471183"/>
                    </a:moveTo>
                    <a:lnTo>
                      <a:pt x="0" y="471183"/>
                    </a:lnTo>
                    <a:lnTo>
                      <a:pt x="0" y="0"/>
                    </a:lnTo>
                    <a:lnTo>
                      <a:pt x="132817" y="0"/>
                    </a:lnTo>
                    <a:lnTo>
                      <a:pt x="132817" y="471183"/>
                    </a:lnTo>
                    <a:close/>
                    <a:moveTo>
                      <a:pt x="15812" y="455371"/>
                    </a:moveTo>
                    <a:lnTo>
                      <a:pt x="117005" y="455371"/>
                    </a:lnTo>
                    <a:lnTo>
                      <a:pt x="117005" y="15812"/>
                    </a:lnTo>
                    <a:lnTo>
                      <a:pt x="15812" y="15812"/>
                    </a:lnTo>
                    <a:lnTo>
                      <a:pt x="15812" y="45537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78" name="Google Shape;9178;p85"/>
              <p:cNvSpPr/>
              <p:nvPr/>
            </p:nvSpPr>
            <p:spPr>
              <a:xfrm>
                <a:off x="7523066" y="1018160"/>
                <a:ext cx="132816" cy="237804"/>
              </a:xfrm>
              <a:custGeom>
                <a:avLst/>
                <a:gdLst/>
                <a:ahLst/>
                <a:cxnLst/>
                <a:rect l="l" t="t" r="r" b="b"/>
                <a:pathLst>
                  <a:path w="132816" h="237804" extrusionOk="0">
                    <a:moveTo>
                      <a:pt x="132817" y="237805"/>
                    </a:moveTo>
                    <a:lnTo>
                      <a:pt x="0" y="237805"/>
                    </a:lnTo>
                    <a:lnTo>
                      <a:pt x="0" y="0"/>
                    </a:lnTo>
                    <a:lnTo>
                      <a:pt x="132817" y="0"/>
                    </a:lnTo>
                    <a:lnTo>
                      <a:pt x="132817" y="237805"/>
                    </a:lnTo>
                    <a:close/>
                    <a:moveTo>
                      <a:pt x="16444" y="221993"/>
                    </a:moveTo>
                    <a:lnTo>
                      <a:pt x="117638" y="221993"/>
                    </a:lnTo>
                    <a:lnTo>
                      <a:pt x="117638" y="15812"/>
                    </a:lnTo>
                    <a:lnTo>
                      <a:pt x="16444" y="15812"/>
                    </a:lnTo>
                    <a:lnTo>
                      <a:pt x="16444" y="22199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79" name="Google Shape;9179;p85"/>
              <p:cNvSpPr/>
              <p:nvPr/>
            </p:nvSpPr>
            <p:spPr>
              <a:xfrm>
                <a:off x="7127146" y="720904"/>
                <a:ext cx="598307" cy="598307"/>
              </a:xfrm>
              <a:custGeom>
                <a:avLst/>
                <a:gdLst/>
                <a:ahLst/>
                <a:cxnLst/>
                <a:rect l="l" t="t" r="r" b="b"/>
                <a:pathLst>
                  <a:path w="598307" h="598307" extrusionOk="0">
                    <a:moveTo>
                      <a:pt x="598307" y="598307"/>
                    </a:moveTo>
                    <a:lnTo>
                      <a:pt x="0" y="598307"/>
                    </a:lnTo>
                    <a:lnTo>
                      <a:pt x="0" y="0"/>
                    </a:lnTo>
                    <a:lnTo>
                      <a:pt x="598307" y="0"/>
                    </a:lnTo>
                    <a:lnTo>
                      <a:pt x="598307" y="598307"/>
                    </a:lnTo>
                    <a:close/>
                    <a:moveTo>
                      <a:pt x="15812" y="582496"/>
                    </a:moveTo>
                    <a:lnTo>
                      <a:pt x="582496" y="582496"/>
                    </a:lnTo>
                    <a:lnTo>
                      <a:pt x="582496" y="15812"/>
                    </a:lnTo>
                    <a:lnTo>
                      <a:pt x="15812" y="15812"/>
                    </a:lnTo>
                    <a:lnTo>
                      <a:pt x="15812" y="58249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grpSp>
      </p:grpSp>
      <p:grpSp>
        <p:nvGrpSpPr>
          <p:cNvPr id="9180" name="Google Shape;9180;p85"/>
          <p:cNvGrpSpPr/>
          <p:nvPr/>
        </p:nvGrpSpPr>
        <p:grpSpPr>
          <a:xfrm>
            <a:off x="5002448" y="3527623"/>
            <a:ext cx="758008" cy="1271439"/>
            <a:chOff x="4427566" y="3703188"/>
            <a:chExt cx="758008" cy="1271439"/>
          </a:xfrm>
        </p:grpSpPr>
        <p:sp>
          <p:nvSpPr>
            <p:cNvPr id="9181" name="Google Shape;9181;p85"/>
            <p:cNvSpPr/>
            <p:nvPr/>
          </p:nvSpPr>
          <p:spPr>
            <a:xfrm>
              <a:off x="4427566" y="4595623"/>
              <a:ext cx="758008" cy="3790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Health</a:t>
              </a:r>
              <a:endParaRPr/>
            </a:p>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Checks</a:t>
              </a:r>
              <a:endParaRPr/>
            </a:p>
          </p:txBody>
        </p:sp>
        <p:cxnSp>
          <p:nvCxnSpPr>
            <p:cNvPr id="9182" name="Google Shape;9182;p85"/>
            <p:cNvCxnSpPr/>
            <p:nvPr/>
          </p:nvCxnSpPr>
          <p:spPr>
            <a:xfrm rot="10800000">
              <a:off x="4804663" y="3703188"/>
              <a:ext cx="0" cy="361499"/>
            </a:xfrm>
            <a:prstGeom prst="straightConnector1">
              <a:avLst/>
            </a:prstGeom>
            <a:noFill/>
            <a:ln w="12700" cap="flat" cmpd="sng">
              <a:solidFill>
                <a:schemeClr val="dk1"/>
              </a:solidFill>
              <a:prstDash val="solid"/>
              <a:miter lim="800000"/>
              <a:headEnd type="none" w="sm" len="sm"/>
              <a:tailEnd type="none" w="sm" len="sm"/>
            </a:ln>
          </p:spPr>
        </p:cxnSp>
        <p:sp>
          <p:nvSpPr>
            <p:cNvPr id="9183" name="Google Shape;9183;p85"/>
            <p:cNvSpPr/>
            <p:nvPr/>
          </p:nvSpPr>
          <p:spPr>
            <a:xfrm>
              <a:off x="4566510" y="4057739"/>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184" name="Google Shape;9184;p85" descr="Health Services&#10;"/>
            <p:cNvSpPr/>
            <p:nvPr/>
          </p:nvSpPr>
          <p:spPr>
            <a:xfrm>
              <a:off x="4675376" y="4173916"/>
              <a:ext cx="262393" cy="262393"/>
            </a:xfrm>
            <a:custGeom>
              <a:avLst/>
              <a:gdLst/>
              <a:ahLst/>
              <a:cxnLst/>
              <a:rect l="l" t="t" r="r" b="b"/>
              <a:pathLst>
                <a:path w="600837" h="600836" extrusionOk="0">
                  <a:moveTo>
                    <a:pt x="384789" y="15812"/>
                  </a:moveTo>
                  <a:lnTo>
                    <a:pt x="384789" y="216112"/>
                  </a:lnTo>
                  <a:lnTo>
                    <a:pt x="585026" y="216112"/>
                  </a:lnTo>
                  <a:lnTo>
                    <a:pt x="585026" y="384789"/>
                  </a:lnTo>
                  <a:lnTo>
                    <a:pt x="384789" y="384789"/>
                  </a:lnTo>
                  <a:lnTo>
                    <a:pt x="384789" y="585026"/>
                  </a:lnTo>
                  <a:lnTo>
                    <a:pt x="216112" y="585026"/>
                  </a:lnTo>
                  <a:lnTo>
                    <a:pt x="216112" y="384789"/>
                  </a:lnTo>
                  <a:lnTo>
                    <a:pt x="15812" y="384789"/>
                  </a:lnTo>
                  <a:lnTo>
                    <a:pt x="15812" y="216112"/>
                  </a:lnTo>
                  <a:lnTo>
                    <a:pt x="216112" y="216112"/>
                  </a:lnTo>
                  <a:lnTo>
                    <a:pt x="216112" y="15812"/>
                  </a:lnTo>
                  <a:lnTo>
                    <a:pt x="384789" y="15812"/>
                  </a:lnTo>
                  <a:moveTo>
                    <a:pt x="400600" y="0"/>
                  </a:moveTo>
                  <a:lnTo>
                    <a:pt x="200300" y="0"/>
                  </a:lnTo>
                  <a:lnTo>
                    <a:pt x="200300" y="200300"/>
                  </a:lnTo>
                  <a:lnTo>
                    <a:pt x="0" y="200300"/>
                  </a:lnTo>
                  <a:lnTo>
                    <a:pt x="0" y="400600"/>
                  </a:lnTo>
                  <a:lnTo>
                    <a:pt x="200300" y="400600"/>
                  </a:lnTo>
                  <a:lnTo>
                    <a:pt x="200300" y="600837"/>
                  </a:lnTo>
                  <a:lnTo>
                    <a:pt x="400600" y="600837"/>
                  </a:lnTo>
                  <a:lnTo>
                    <a:pt x="400600" y="400600"/>
                  </a:lnTo>
                  <a:lnTo>
                    <a:pt x="600837" y="400600"/>
                  </a:lnTo>
                  <a:lnTo>
                    <a:pt x="600837" y="200300"/>
                  </a:lnTo>
                  <a:lnTo>
                    <a:pt x="400600" y="200300"/>
                  </a:lnTo>
                  <a:lnTo>
                    <a:pt x="40060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grpSp>
      <p:grpSp>
        <p:nvGrpSpPr>
          <p:cNvPr id="9185" name="Google Shape;9185;p85"/>
          <p:cNvGrpSpPr/>
          <p:nvPr/>
        </p:nvGrpSpPr>
        <p:grpSpPr>
          <a:xfrm>
            <a:off x="10254847" y="1261010"/>
            <a:ext cx="758008" cy="1300703"/>
            <a:chOff x="10254847" y="1436575"/>
            <a:chExt cx="758008" cy="1300703"/>
          </a:xfrm>
        </p:grpSpPr>
        <p:sp>
          <p:nvSpPr>
            <p:cNvPr id="9186" name="Google Shape;9186;p85"/>
            <p:cNvSpPr/>
            <p:nvPr/>
          </p:nvSpPr>
          <p:spPr>
            <a:xfrm>
              <a:off x="10408396" y="1900043"/>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187" name="Google Shape;9187;p85"/>
            <p:cNvSpPr/>
            <p:nvPr/>
          </p:nvSpPr>
          <p:spPr>
            <a:xfrm>
              <a:off x="10254847" y="1436575"/>
              <a:ext cx="758008" cy="3790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Delta-Based</a:t>
              </a:r>
              <a:endParaRPr/>
            </a:p>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Failback</a:t>
              </a:r>
              <a:endParaRPr/>
            </a:p>
          </p:txBody>
        </p:sp>
        <p:grpSp>
          <p:nvGrpSpPr>
            <p:cNvPr id="9188" name="Google Shape;9188;p85" descr="Future-Proof&#10;"/>
            <p:cNvGrpSpPr/>
            <p:nvPr/>
          </p:nvGrpSpPr>
          <p:grpSpPr>
            <a:xfrm flipH="1">
              <a:off x="10501120" y="1998409"/>
              <a:ext cx="274249" cy="282799"/>
              <a:chOff x="8459498" y="3193521"/>
              <a:chExt cx="553154" cy="570400"/>
            </a:xfrm>
          </p:grpSpPr>
          <p:sp>
            <p:nvSpPr>
              <p:cNvPr id="9189" name="Google Shape;9189;p85"/>
              <p:cNvSpPr/>
              <p:nvPr/>
            </p:nvSpPr>
            <p:spPr>
              <a:xfrm>
                <a:off x="8600537" y="3334854"/>
                <a:ext cx="284606" cy="285200"/>
              </a:xfrm>
              <a:custGeom>
                <a:avLst/>
                <a:gdLst/>
                <a:ahLst/>
                <a:cxnLst/>
                <a:rect l="l" t="t" r="r" b="b"/>
                <a:pathLst>
                  <a:path w="284606" h="285200" extrusionOk="0">
                    <a:moveTo>
                      <a:pt x="142304" y="285200"/>
                    </a:moveTo>
                    <a:cubicBezTo>
                      <a:pt x="63878" y="285200"/>
                      <a:pt x="0" y="221189"/>
                      <a:pt x="0" y="142600"/>
                    </a:cubicBezTo>
                    <a:cubicBezTo>
                      <a:pt x="0" y="64012"/>
                      <a:pt x="63878" y="0"/>
                      <a:pt x="142304" y="0"/>
                    </a:cubicBezTo>
                    <a:cubicBezTo>
                      <a:pt x="220729" y="0"/>
                      <a:pt x="284607" y="64012"/>
                      <a:pt x="284607" y="142600"/>
                    </a:cubicBezTo>
                    <a:cubicBezTo>
                      <a:pt x="284607" y="221189"/>
                      <a:pt x="220729" y="285200"/>
                      <a:pt x="142304" y="285200"/>
                    </a:cubicBezTo>
                    <a:close/>
                    <a:moveTo>
                      <a:pt x="142304" y="15844"/>
                    </a:moveTo>
                    <a:cubicBezTo>
                      <a:pt x="72733" y="15844"/>
                      <a:pt x="15812" y="72885"/>
                      <a:pt x="15812" y="142600"/>
                    </a:cubicBezTo>
                    <a:cubicBezTo>
                      <a:pt x="15812" y="212316"/>
                      <a:pt x="72733" y="269356"/>
                      <a:pt x="142304" y="269356"/>
                    </a:cubicBezTo>
                    <a:cubicBezTo>
                      <a:pt x="211874" y="269356"/>
                      <a:pt x="268795" y="212316"/>
                      <a:pt x="268795" y="142600"/>
                    </a:cubicBezTo>
                    <a:cubicBezTo>
                      <a:pt x="268795" y="72885"/>
                      <a:pt x="212507" y="15844"/>
                      <a:pt x="142304" y="158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90" name="Google Shape;9190;p85"/>
              <p:cNvSpPr/>
              <p:nvPr/>
            </p:nvSpPr>
            <p:spPr>
              <a:xfrm>
                <a:off x="8728294" y="3416611"/>
                <a:ext cx="66882" cy="123586"/>
              </a:xfrm>
              <a:custGeom>
                <a:avLst/>
                <a:gdLst/>
                <a:ahLst/>
                <a:cxnLst/>
                <a:rect l="l" t="t" r="r" b="b"/>
                <a:pathLst>
                  <a:path w="66882" h="123586" extrusionOk="0">
                    <a:moveTo>
                      <a:pt x="59451" y="123587"/>
                    </a:moveTo>
                    <a:cubicBezTo>
                      <a:pt x="57554" y="123587"/>
                      <a:pt x="55024" y="122953"/>
                      <a:pt x="53759" y="121052"/>
                    </a:cubicBezTo>
                    <a:lnTo>
                      <a:pt x="0" y="65279"/>
                    </a:lnTo>
                    <a:lnTo>
                      <a:pt x="0" y="7605"/>
                    </a:lnTo>
                    <a:cubicBezTo>
                      <a:pt x="0" y="3169"/>
                      <a:pt x="3795" y="0"/>
                      <a:pt x="7590" y="0"/>
                    </a:cubicBezTo>
                    <a:cubicBezTo>
                      <a:pt x="11384" y="0"/>
                      <a:pt x="15179" y="3803"/>
                      <a:pt x="15179" y="7605"/>
                    </a:cubicBezTo>
                    <a:lnTo>
                      <a:pt x="15179" y="58941"/>
                    </a:lnTo>
                    <a:lnTo>
                      <a:pt x="64511" y="110277"/>
                    </a:lnTo>
                    <a:cubicBezTo>
                      <a:pt x="67673" y="113446"/>
                      <a:pt x="67673" y="118517"/>
                      <a:pt x="64511" y="121685"/>
                    </a:cubicBezTo>
                    <a:cubicBezTo>
                      <a:pt x="63246" y="122319"/>
                      <a:pt x="61349" y="123587"/>
                      <a:pt x="59451" y="12358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91" name="Google Shape;9191;p85"/>
              <p:cNvSpPr/>
              <p:nvPr/>
            </p:nvSpPr>
            <p:spPr>
              <a:xfrm>
                <a:off x="8537291" y="3271476"/>
                <a:ext cx="411098" cy="411955"/>
              </a:xfrm>
              <a:custGeom>
                <a:avLst/>
                <a:gdLst/>
                <a:ahLst/>
                <a:cxnLst/>
                <a:rect l="l" t="t" r="r" b="b"/>
                <a:pathLst>
                  <a:path w="411098" h="411955" extrusionOk="0">
                    <a:moveTo>
                      <a:pt x="214404" y="411956"/>
                    </a:moveTo>
                    <a:lnTo>
                      <a:pt x="213771" y="396111"/>
                    </a:lnTo>
                    <a:cubicBezTo>
                      <a:pt x="218831" y="396111"/>
                      <a:pt x="223891" y="395478"/>
                      <a:pt x="228951" y="394844"/>
                    </a:cubicBezTo>
                    <a:lnTo>
                      <a:pt x="230848" y="410688"/>
                    </a:lnTo>
                    <a:cubicBezTo>
                      <a:pt x="225156" y="411322"/>
                      <a:pt x="220096" y="411956"/>
                      <a:pt x="214404" y="411956"/>
                    </a:cubicBezTo>
                    <a:close/>
                    <a:moveTo>
                      <a:pt x="181516" y="410688"/>
                    </a:moveTo>
                    <a:cubicBezTo>
                      <a:pt x="175824" y="410055"/>
                      <a:pt x="170764" y="409421"/>
                      <a:pt x="165072" y="408153"/>
                    </a:cubicBezTo>
                    <a:lnTo>
                      <a:pt x="168234" y="392309"/>
                    </a:lnTo>
                    <a:cubicBezTo>
                      <a:pt x="173294" y="393576"/>
                      <a:pt x="178354" y="394210"/>
                      <a:pt x="183413" y="394844"/>
                    </a:cubicBezTo>
                    <a:lnTo>
                      <a:pt x="181516" y="410688"/>
                    </a:lnTo>
                    <a:close/>
                    <a:moveTo>
                      <a:pt x="263103" y="403717"/>
                    </a:moveTo>
                    <a:lnTo>
                      <a:pt x="258676" y="388506"/>
                    </a:lnTo>
                    <a:cubicBezTo>
                      <a:pt x="263736" y="387239"/>
                      <a:pt x="268163" y="385337"/>
                      <a:pt x="273223" y="383436"/>
                    </a:cubicBezTo>
                    <a:lnTo>
                      <a:pt x="278915" y="398013"/>
                    </a:lnTo>
                    <a:cubicBezTo>
                      <a:pt x="273855" y="400548"/>
                      <a:pt x="268163" y="402449"/>
                      <a:pt x="263103" y="403717"/>
                    </a:cubicBezTo>
                    <a:close/>
                    <a:moveTo>
                      <a:pt x="132817" y="398647"/>
                    </a:moveTo>
                    <a:cubicBezTo>
                      <a:pt x="127757" y="396745"/>
                      <a:pt x="122697" y="394844"/>
                      <a:pt x="117638" y="392309"/>
                    </a:cubicBezTo>
                    <a:lnTo>
                      <a:pt x="124595" y="377732"/>
                    </a:lnTo>
                    <a:cubicBezTo>
                      <a:pt x="129022" y="379633"/>
                      <a:pt x="134082" y="382168"/>
                      <a:pt x="138509" y="383436"/>
                    </a:cubicBezTo>
                    <a:lnTo>
                      <a:pt x="132817" y="398647"/>
                    </a:lnTo>
                    <a:close/>
                    <a:moveTo>
                      <a:pt x="308640" y="384703"/>
                    </a:moveTo>
                    <a:lnTo>
                      <a:pt x="300418" y="370760"/>
                    </a:lnTo>
                    <a:cubicBezTo>
                      <a:pt x="304846" y="368225"/>
                      <a:pt x="309273" y="365690"/>
                      <a:pt x="313068" y="362521"/>
                    </a:cubicBezTo>
                    <a:lnTo>
                      <a:pt x="321922" y="375831"/>
                    </a:lnTo>
                    <a:cubicBezTo>
                      <a:pt x="318127" y="378366"/>
                      <a:pt x="313700" y="381535"/>
                      <a:pt x="308640" y="384703"/>
                    </a:cubicBezTo>
                    <a:close/>
                    <a:moveTo>
                      <a:pt x="89177" y="375831"/>
                    </a:moveTo>
                    <a:cubicBezTo>
                      <a:pt x="84750" y="372662"/>
                      <a:pt x="80322" y="369493"/>
                      <a:pt x="75895" y="365690"/>
                    </a:cubicBezTo>
                    <a:lnTo>
                      <a:pt x="86015" y="353648"/>
                    </a:lnTo>
                    <a:cubicBezTo>
                      <a:pt x="89809" y="356817"/>
                      <a:pt x="94237" y="359986"/>
                      <a:pt x="98031" y="362521"/>
                    </a:cubicBezTo>
                    <a:lnTo>
                      <a:pt x="89177" y="375831"/>
                    </a:lnTo>
                    <a:close/>
                    <a:moveTo>
                      <a:pt x="348485" y="354282"/>
                    </a:moveTo>
                    <a:lnTo>
                      <a:pt x="337101" y="342874"/>
                    </a:lnTo>
                    <a:cubicBezTo>
                      <a:pt x="340896" y="339071"/>
                      <a:pt x="344058" y="335903"/>
                      <a:pt x="347853" y="332100"/>
                    </a:cubicBezTo>
                    <a:lnTo>
                      <a:pt x="359870" y="342874"/>
                    </a:lnTo>
                    <a:cubicBezTo>
                      <a:pt x="356075" y="346677"/>
                      <a:pt x="352280" y="350479"/>
                      <a:pt x="348485" y="354282"/>
                    </a:cubicBezTo>
                    <a:close/>
                    <a:moveTo>
                      <a:pt x="51862" y="342874"/>
                    </a:moveTo>
                    <a:cubicBezTo>
                      <a:pt x="48067" y="338438"/>
                      <a:pt x="44905" y="334635"/>
                      <a:pt x="41110" y="330198"/>
                    </a:cubicBezTo>
                    <a:lnTo>
                      <a:pt x="53759" y="320692"/>
                    </a:lnTo>
                    <a:cubicBezTo>
                      <a:pt x="56921" y="324494"/>
                      <a:pt x="60084" y="328931"/>
                      <a:pt x="63246" y="332734"/>
                    </a:cubicBezTo>
                    <a:lnTo>
                      <a:pt x="51862" y="342874"/>
                    </a:lnTo>
                    <a:close/>
                    <a:moveTo>
                      <a:pt x="379476" y="316255"/>
                    </a:moveTo>
                    <a:lnTo>
                      <a:pt x="366194" y="308016"/>
                    </a:lnTo>
                    <a:cubicBezTo>
                      <a:pt x="368724" y="303580"/>
                      <a:pt x="371254" y="299143"/>
                      <a:pt x="373784" y="294707"/>
                    </a:cubicBezTo>
                    <a:lnTo>
                      <a:pt x="387698" y="302312"/>
                    </a:lnTo>
                    <a:cubicBezTo>
                      <a:pt x="385168" y="306749"/>
                      <a:pt x="382638" y="311185"/>
                      <a:pt x="379476" y="316255"/>
                    </a:cubicBezTo>
                    <a:close/>
                    <a:moveTo>
                      <a:pt x="24033" y="302312"/>
                    </a:moveTo>
                    <a:cubicBezTo>
                      <a:pt x="21504" y="297242"/>
                      <a:pt x="18974" y="292172"/>
                      <a:pt x="17076" y="287102"/>
                    </a:cubicBezTo>
                    <a:lnTo>
                      <a:pt x="31623" y="280764"/>
                    </a:lnTo>
                    <a:cubicBezTo>
                      <a:pt x="33520" y="285200"/>
                      <a:pt x="36050" y="290270"/>
                      <a:pt x="37948" y="294707"/>
                    </a:cubicBezTo>
                    <a:lnTo>
                      <a:pt x="24033" y="302312"/>
                    </a:lnTo>
                    <a:close/>
                    <a:moveTo>
                      <a:pt x="400980" y="271257"/>
                    </a:moveTo>
                    <a:lnTo>
                      <a:pt x="385801" y="266187"/>
                    </a:lnTo>
                    <a:cubicBezTo>
                      <a:pt x="387698" y="261117"/>
                      <a:pt x="388963" y="256680"/>
                      <a:pt x="390228" y="251610"/>
                    </a:cubicBezTo>
                    <a:lnTo>
                      <a:pt x="405407" y="255413"/>
                    </a:lnTo>
                    <a:cubicBezTo>
                      <a:pt x="404142" y="260483"/>
                      <a:pt x="402245" y="266187"/>
                      <a:pt x="400980" y="271257"/>
                    </a:cubicBezTo>
                    <a:close/>
                    <a:moveTo>
                      <a:pt x="6325" y="256046"/>
                    </a:moveTo>
                    <a:cubicBezTo>
                      <a:pt x="5060" y="250976"/>
                      <a:pt x="3795" y="245272"/>
                      <a:pt x="3162" y="239568"/>
                    </a:cubicBezTo>
                    <a:lnTo>
                      <a:pt x="18974" y="237033"/>
                    </a:lnTo>
                    <a:cubicBezTo>
                      <a:pt x="19606" y="242103"/>
                      <a:pt x="20871" y="247174"/>
                      <a:pt x="22136" y="252244"/>
                    </a:cubicBezTo>
                    <a:lnTo>
                      <a:pt x="6325" y="256046"/>
                    </a:lnTo>
                    <a:close/>
                    <a:moveTo>
                      <a:pt x="410467" y="222456"/>
                    </a:moveTo>
                    <a:lnTo>
                      <a:pt x="394655" y="221189"/>
                    </a:lnTo>
                    <a:cubicBezTo>
                      <a:pt x="395287" y="216118"/>
                      <a:pt x="395287" y="211048"/>
                      <a:pt x="395287" y="205978"/>
                    </a:cubicBezTo>
                    <a:lnTo>
                      <a:pt x="395287" y="205344"/>
                    </a:lnTo>
                    <a:lnTo>
                      <a:pt x="411099" y="205344"/>
                    </a:lnTo>
                    <a:lnTo>
                      <a:pt x="411099" y="205978"/>
                    </a:lnTo>
                    <a:cubicBezTo>
                      <a:pt x="411099" y="211682"/>
                      <a:pt x="411099" y="217386"/>
                      <a:pt x="410467" y="222456"/>
                    </a:cubicBezTo>
                    <a:close/>
                    <a:moveTo>
                      <a:pt x="0" y="206612"/>
                    </a:moveTo>
                    <a:lnTo>
                      <a:pt x="0" y="206612"/>
                    </a:lnTo>
                    <a:cubicBezTo>
                      <a:pt x="0" y="200908"/>
                      <a:pt x="0" y="195204"/>
                      <a:pt x="632" y="190133"/>
                    </a:cubicBezTo>
                    <a:lnTo>
                      <a:pt x="16444" y="191401"/>
                    </a:lnTo>
                    <a:cubicBezTo>
                      <a:pt x="15812" y="196471"/>
                      <a:pt x="15812" y="201542"/>
                      <a:pt x="15812" y="206612"/>
                    </a:cubicBezTo>
                    <a:lnTo>
                      <a:pt x="0" y="206612"/>
                    </a:lnTo>
                    <a:close/>
                    <a:moveTo>
                      <a:pt x="392758" y="174923"/>
                    </a:moveTo>
                    <a:cubicBezTo>
                      <a:pt x="392125" y="169853"/>
                      <a:pt x="390860" y="164782"/>
                      <a:pt x="389595" y="159712"/>
                    </a:cubicBezTo>
                    <a:lnTo>
                      <a:pt x="404774" y="155909"/>
                    </a:lnTo>
                    <a:cubicBezTo>
                      <a:pt x="406039" y="160980"/>
                      <a:pt x="407304" y="166684"/>
                      <a:pt x="407937" y="172388"/>
                    </a:cubicBezTo>
                    <a:lnTo>
                      <a:pt x="392758" y="174923"/>
                    </a:lnTo>
                    <a:close/>
                    <a:moveTo>
                      <a:pt x="21504" y="160980"/>
                    </a:moveTo>
                    <a:lnTo>
                      <a:pt x="6325" y="157177"/>
                    </a:lnTo>
                    <a:cubicBezTo>
                      <a:pt x="7590" y="152107"/>
                      <a:pt x="8854" y="146403"/>
                      <a:pt x="10752" y="141333"/>
                    </a:cubicBezTo>
                    <a:lnTo>
                      <a:pt x="25931" y="146403"/>
                    </a:lnTo>
                    <a:cubicBezTo>
                      <a:pt x="24033" y="150839"/>
                      <a:pt x="22769" y="155909"/>
                      <a:pt x="21504" y="160980"/>
                    </a:cubicBezTo>
                    <a:close/>
                    <a:moveTo>
                      <a:pt x="380108" y="131192"/>
                    </a:moveTo>
                    <a:cubicBezTo>
                      <a:pt x="378211" y="126756"/>
                      <a:pt x="375681" y="121685"/>
                      <a:pt x="373784" y="117249"/>
                    </a:cubicBezTo>
                    <a:lnTo>
                      <a:pt x="387698" y="109644"/>
                    </a:lnTo>
                    <a:cubicBezTo>
                      <a:pt x="390228" y="114714"/>
                      <a:pt x="392758" y="119784"/>
                      <a:pt x="394655" y="124854"/>
                    </a:cubicBezTo>
                    <a:lnTo>
                      <a:pt x="380108" y="131192"/>
                    </a:lnTo>
                    <a:close/>
                    <a:moveTo>
                      <a:pt x="37315" y="117883"/>
                    </a:moveTo>
                    <a:lnTo>
                      <a:pt x="23401" y="110277"/>
                    </a:lnTo>
                    <a:cubicBezTo>
                      <a:pt x="25931" y="105207"/>
                      <a:pt x="28461" y="100771"/>
                      <a:pt x="31623" y="95701"/>
                    </a:cubicBezTo>
                    <a:lnTo>
                      <a:pt x="44905" y="103940"/>
                    </a:lnTo>
                    <a:cubicBezTo>
                      <a:pt x="42375" y="109010"/>
                      <a:pt x="39845" y="113446"/>
                      <a:pt x="37315" y="117883"/>
                    </a:cubicBezTo>
                    <a:close/>
                    <a:moveTo>
                      <a:pt x="357340" y="91264"/>
                    </a:moveTo>
                    <a:cubicBezTo>
                      <a:pt x="354178" y="87461"/>
                      <a:pt x="351015" y="83025"/>
                      <a:pt x="347853" y="79222"/>
                    </a:cubicBezTo>
                    <a:lnTo>
                      <a:pt x="359870" y="68448"/>
                    </a:lnTo>
                    <a:cubicBezTo>
                      <a:pt x="363664" y="72251"/>
                      <a:pt x="366827" y="76687"/>
                      <a:pt x="370622" y="81124"/>
                    </a:cubicBezTo>
                    <a:lnTo>
                      <a:pt x="357340" y="91264"/>
                    </a:lnTo>
                    <a:close/>
                    <a:moveTo>
                      <a:pt x="63246" y="80490"/>
                    </a:moveTo>
                    <a:lnTo>
                      <a:pt x="51229" y="69716"/>
                    </a:lnTo>
                    <a:cubicBezTo>
                      <a:pt x="55024" y="65913"/>
                      <a:pt x="58819" y="61476"/>
                      <a:pt x="62614" y="57674"/>
                    </a:cubicBezTo>
                    <a:lnTo>
                      <a:pt x="73365" y="69082"/>
                    </a:lnTo>
                    <a:cubicBezTo>
                      <a:pt x="70203" y="72885"/>
                      <a:pt x="67041" y="76687"/>
                      <a:pt x="63246" y="80490"/>
                    </a:cubicBezTo>
                    <a:close/>
                    <a:moveTo>
                      <a:pt x="325084" y="58308"/>
                    </a:moveTo>
                    <a:cubicBezTo>
                      <a:pt x="321290" y="55139"/>
                      <a:pt x="316862" y="51970"/>
                      <a:pt x="313068" y="49435"/>
                    </a:cubicBezTo>
                    <a:lnTo>
                      <a:pt x="321922" y="36125"/>
                    </a:lnTo>
                    <a:cubicBezTo>
                      <a:pt x="326349" y="39294"/>
                      <a:pt x="330777" y="42463"/>
                      <a:pt x="335204" y="46266"/>
                    </a:cubicBezTo>
                    <a:lnTo>
                      <a:pt x="325084" y="58308"/>
                    </a:lnTo>
                    <a:close/>
                    <a:moveTo>
                      <a:pt x="97399" y="50068"/>
                    </a:moveTo>
                    <a:lnTo>
                      <a:pt x="88544" y="36759"/>
                    </a:lnTo>
                    <a:cubicBezTo>
                      <a:pt x="92972" y="33590"/>
                      <a:pt x="98031" y="30421"/>
                      <a:pt x="102459" y="27886"/>
                    </a:cubicBezTo>
                    <a:lnTo>
                      <a:pt x="110681" y="41829"/>
                    </a:lnTo>
                    <a:cubicBezTo>
                      <a:pt x="106253" y="44364"/>
                      <a:pt x="101826" y="46900"/>
                      <a:pt x="97399" y="50068"/>
                    </a:cubicBezTo>
                    <a:close/>
                    <a:moveTo>
                      <a:pt x="286504" y="34224"/>
                    </a:moveTo>
                    <a:cubicBezTo>
                      <a:pt x="282077" y="32323"/>
                      <a:pt x="277017" y="29788"/>
                      <a:pt x="272590" y="28520"/>
                    </a:cubicBezTo>
                    <a:lnTo>
                      <a:pt x="278282" y="13943"/>
                    </a:lnTo>
                    <a:cubicBezTo>
                      <a:pt x="283342" y="15844"/>
                      <a:pt x="288402" y="17746"/>
                      <a:pt x="293461" y="20281"/>
                    </a:cubicBezTo>
                    <a:lnTo>
                      <a:pt x="286504" y="34224"/>
                    </a:lnTo>
                    <a:close/>
                    <a:moveTo>
                      <a:pt x="137876" y="28520"/>
                    </a:moveTo>
                    <a:lnTo>
                      <a:pt x="132184" y="13943"/>
                    </a:lnTo>
                    <a:cubicBezTo>
                      <a:pt x="137244" y="12042"/>
                      <a:pt x="142304" y="10140"/>
                      <a:pt x="147996" y="8873"/>
                    </a:cubicBezTo>
                    <a:lnTo>
                      <a:pt x="152423" y="24084"/>
                    </a:lnTo>
                    <a:cubicBezTo>
                      <a:pt x="147363" y="24717"/>
                      <a:pt x="142936" y="26619"/>
                      <a:pt x="137876" y="28520"/>
                    </a:cubicBezTo>
                    <a:close/>
                    <a:moveTo>
                      <a:pt x="242865" y="19647"/>
                    </a:moveTo>
                    <a:cubicBezTo>
                      <a:pt x="237805" y="18380"/>
                      <a:pt x="232745" y="17746"/>
                      <a:pt x="227686" y="17112"/>
                    </a:cubicBezTo>
                    <a:lnTo>
                      <a:pt x="229583" y="1268"/>
                    </a:lnTo>
                    <a:cubicBezTo>
                      <a:pt x="235275" y="1901"/>
                      <a:pt x="240335" y="2535"/>
                      <a:pt x="246027" y="3803"/>
                    </a:cubicBezTo>
                    <a:lnTo>
                      <a:pt x="242865" y="19647"/>
                    </a:lnTo>
                    <a:close/>
                    <a:moveTo>
                      <a:pt x="182148" y="17112"/>
                    </a:moveTo>
                    <a:lnTo>
                      <a:pt x="180251" y="1268"/>
                    </a:lnTo>
                    <a:cubicBezTo>
                      <a:pt x="185943" y="634"/>
                      <a:pt x="191003" y="0"/>
                      <a:pt x="196695" y="0"/>
                    </a:cubicBezTo>
                    <a:lnTo>
                      <a:pt x="197328" y="15844"/>
                    </a:lnTo>
                    <a:cubicBezTo>
                      <a:pt x="192268" y="16478"/>
                      <a:pt x="187208" y="17112"/>
                      <a:pt x="182148" y="171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sp>
            <p:nvSpPr>
              <p:cNvPr id="9192" name="Google Shape;9192;p85"/>
              <p:cNvSpPr/>
              <p:nvPr/>
            </p:nvSpPr>
            <p:spPr>
              <a:xfrm>
                <a:off x="8459498" y="3193521"/>
                <a:ext cx="553154" cy="570400"/>
              </a:xfrm>
              <a:custGeom>
                <a:avLst/>
                <a:gdLst/>
                <a:ahLst/>
                <a:cxnLst/>
                <a:rect l="l" t="t" r="r" b="b"/>
                <a:pathLst>
                  <a:path w="553154" h="570400" extrusionOk="0">
                    <a:moveTo>
                      <a:pt x="547710" y="370127"/>
                    </a:moveTo>
                    <a:cubicBezTo>
                      <a:pt x="543283" y="368859"/>
                      <a:pt x="538856" y="370760"/>
                      <a:pt x="537591" y="375197"/>
                    </a:cubicBezTo>
                    <a:cubicBezTo>
                      <a:pt x="499643" y="482305"/>
                      <a:pt x="397817" y="553922"/>
                      <a:pt x="284607" y="553922"/>
                    </a:cubicBezTo>
                    <a:cubicBezTo>
                      <a:pt x="136611" y="553922"/>
                      <a:pt x="15812" y="432871"/>
                      <a:pt x="15812" y="284566"/>
                    </a:cubicBezTo>
                    <a:cubicBezTo>
                      <a:pt x="15812" y="136262"/>
                      <a:pt x="136611" y="15211"/>
                      <a:pt x="284607" y="15211"/>
                    </a:cubicBezTo>
                    <a:cubicBezTo>
                      <a:pt x="375681" y="15211"/>
                      <a:pt x="461063" y="62110"/>
                      <a:pt x="510395" y="138797"/>
                    </a:cubicBezTo>
                    <a:lnTo>
                      <a:pt x="480670" y="148304"/>
                    </a:lnTo>
                    <a:lnTo>
                      <a:pt x="507233" y="173021"/>
                    </a:lnTo>
                    <a:lnTo>
                      <a:pt x="533796" y="197739"/>
                    </a:lnTo>
                    <a:lnTo>
                      <a:pt x="542018" y="162247"/>
                    </a:lnTo>
                    <a:lnTo>
                      <a:pt x="550240" y="126756"/>
                    </a:lnTo>
                    <a:lnTo>
                      <a:pt x="526207" y="134361"/>
                    </a:lnTo>
                    <a:cubicBezTo>
                      <a:pt x="474345" y="51336"/>
                      <a:pt x="382638" y="0"/>
                      <a:pt x="284607" y="0"/>
                    </a:cubicBezTo>
                    <a:cubicBezTo>
                      <a:pt x="127757" y="0"/>
                      <a:pt x="0" y="128023"/>
                      <a:pt x="0" y="285200"/>
                    </a:cubicBezTo>
                    <a:cubicBezTo>
                      <a:pt x="0" y="442377"/>
                      <a:pt x="127757" y="570400"/>
                      <a:pt x="284607" y="570400"/>
                    </a:cubicBezTo>
                    <a:cubicBezTo>
                      <a:pt x="404774" y="570400"/>
                      <a:pt x="512293" y="494347"/>
                      <a:pt x="552770" y="380901"/>
                    </a:cubicBezTo>
                    <a:cubicBezTo>
                      <a:pt x="554035" y="375831"/>
                      <a:pt x="552138" y="371394"/>
                      <a:pt x="547710" y="37012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b="0" i="0" u="none" strike="noStrike" cap="none">
                  <a:solidFill>
                    <a:srgbClr val="000001"/>
                  </a:solidFill>
                  <a:latin typeface="Arial"/>
                  <a:ea typeface="Arial"/>
                  <a:cs typeface="Arial"/>
                  <a:sym typeface="Arial"/>
                </a:endParaRPr>
              </a:p>
            </p:txBody>
          </p:sp>
        </p:grpSp>
        <p:cxnSp>
          <p:nvCxnSpPr>
            <p:cNvPr id="9193" name="Google Shape;9193;p85"/>
            <p:cNvCxnSpPr/>
            <p:nvPr/>
          </p:nvCxnSpPr>
          <p:spPr>
            <a:xfrm rot="10800000">
              <a:off x="10633670" y="2371613"/>
              <a:ext cx="0" cy="365665"/>
            </a:xfrm>
            <a:prstGeom prst="straightConnector1">
              <a:avLst/>
            </a:prstGeom>
            <a:noFill/>
            <a:ln w="12700" cap="flat" cmpd="sng">
              <a:solidFill>
                <a:schemeClr val="dk1"/>
              </a:solidFill>
              <a:prstDash val="solid"/>
              <a:miter lim="800000"/>
              <a:headEnd type="none" w="sm" len="sm"/>
              <a:tailEnd type="none" w="sm" len="sm"/>
            </a:ln>
          </p:spPr>
        </p:cxnSp>
      </p:grpSp>
      <p:grpSp>
        <p:nvGrpSpPr>
          <p:cNvPr id="9194" name="Google Shape;9194;p85"/>
          <p:cNvGrpSpPr/>
          <p:nvPr/>
        </p:nvGrpSpPr>
        <p:grpSpPr>
          <a:xfrm>
            <a:off x="10485438" y="3523164"/>
            <a:ext cx="758008" cy="1303912"/>
            <a:chOff x="10485438" y="3698729"/>
            <a:chExt cx="758008" cy="1303912"/>
          </a:xfrm>
        </p:grpSpPr>
        <p:cxnSp>
          <p:nvCxnSpPr>
            <p:cNvPr id="9195" name="Google Shape;9195;p85"/>
            <p:cNvCxnSpPr/>
            <p:nvPr/>
          </p:nvCxnSpPr>
          <p:spPr>
            <a:xfrm>
              <a:off x="10859094" y="3698729"/>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196" name="Google Shape;9196;p85"/>
            <p:cNvSpPr/>
            <p:nvPr/>
          </p:nvSpPr>
          <p:spPr>
            <a:xfrm rot="10800000">
              <a:off x="10625080" y="4062825"/>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197" name="Google Shape;9197;p85"/>
            <p:cNvSpPr/>
            <p:nvPr/>
          </p:nvSpPr>
          <p:spPr>
            <a:xfrm>
              <a:off x="10485438" y="4623637"/>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Review, Audit,</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Remediate</a:t>
              </a:r>
              <a:endParaRPr/>
            </a:p>
          </p:txBody>
        </p:sp>
        <p:pic>
          <p:nvPicPr>
            <p:cNvPr id="9198" name="Google Shape;9198;p85"/>
            <p:cNvPicPr preferRelativeResize="0"/>
            <p:nvPr/>
          </p:nvPicPr>
          <p:blipFill rotWithShape="1">
            <a:blip r:embed="rId10">
              <a:alphaModFix/>
            </a:blip>
            <a:srcRect/>
            <a:stretch/>
          </p:blipFill>
          <p:spPr>
            <a:xfrm>
              <a:off x="10737142" y="4162716"/>
              <a:ext cx="255993" cy="302925"/>
            </a:xfrm>
            <a:prstGeom prst="rect">
              <a:avLst/>
            </a:prstGeom>
            <a:noFill/>
            <a:ln>
              <a:noFill/>
            </a:ln>
          </p:spPr>
        </p:pic>
      </p:grpSp>
      <p:grpSp>
        <p:nvGrpSpPr>
          <p:cNvPr id="9199" name="Google Shape;9199;p85"/>
          <p:cNvGrpSpPr/>
          <p:nvPr/>
        </p:nvGrpSpPr>
        <p:grpSpPr>
          <a:xfrm>
            <a:off x="3929179" y="1261010"/>
            <a:ext cx="758008" cy="1300703"/>
            <a:chOff x="3855590" y="1436575"/>
            <a:chExt cx="758008" cy="1300703"/>
          </a:xfrm>
        </p:grpSpPr>
        <p:cxnSp>
          <p:nvCxnSpPr>
            <p:cNvPr id="9200" name="Google Shape;9200;p85"/>
            <p:cNvCxnSpPr/>
            <p:nvPr/>
          </p:nvCxnSpPr>
          <p:spPr>
            <a:xfrm rot="10800000">
              <a:off x="4234591" y="2371613"/>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201" name="Google Shape;9201;p85"/>
            <p:cNvSpPr/>
            <p:nvPr/>
          </p:nvSpPr>
          <p:spPr>
            <a:xfrm>
              <a:off x="3994531" y="1900043"/>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202" name="Google Shape;9202;p85"/>
            <p:cNvSpPr/>
            <p:nvPr/>
          </p:nvSpPr>
          <p:spPr>
            <a:xfrm>
              <a:off x="3855590" y="1436575"/>
              <a:ext cx="758008" cy="3790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Data-at-Rest</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Encryption</a:t>
              </a:r>
              <a:endParaRPr/>
            </a:p>
          </p:txBody>
        </p:sp>
        <p:grpSp>
          <p:nvGrpSpPr>
            <p:cNvPr id="9203" name="Google Shape;9203;p85" descr="Storage Secure&#10;"/>
            <p:cNvGrpSpPr/>
            <p:nvPr/>
          </p:nvGrpSpPr>
          <p:grpSpPr>
            <a:xfrm>
              <a:off x="4116947" y="1998123"/>
              <a:ext cx="274320" cy="294795"/>
              <a:chOff x="5851715" y="3181479"/>
              <a:chExt cx="559095" cy="600822"/>
            </a:xfrm>
          </p:grpSpPr>
          <p:sp>
            <p:nvSpPr>
              <p:cNvPr id="9204" name="Google Shape;9204;p85"/>
              <p:cNvSpPr/>
              <p:nvPr/>
            </p:nvSpPr>
            <p:spPr>
              <a:xfrm>
                <a:off x="6223602" y="3503439"/>
                <a:ext cx="187208" cy="278862"/>
              </a:xfrm>
              <a:custGeom>
                <a:avLst/>
                <a:gdLst/>
                <a:ahLst/>
                <a:cxnLst/>
                <a:rect l="l" t="t" r="r" b="b"/>
                <a:pathLst>
                  <a:path w="187208" h="278862" extrusionOk="0">
                    <a:moveTo>
                      <a:pt x="148628" y="109010"/>
                    </a:moveTo>
                    <a:lnTo>
                      <a:pt x="148628" y="55773"/>
                    </a:lnTo>
                    <a:cubicBezTo>
                      <a:pt x="148628" y="25351"/>
                      <a:pt x="125860" y="0"/>
                      <a:pt x="98031" y="0"/>
                    </a:cubicBezTo>
                    <a:lnTo>
                      <a:pt x="89177" y="0"/>
                    </a:lnTo>
                    <a:cubicBezTo>
                      <a:pt x="61349" y="0"/>
                      <a:pt x="38580" y="24717"/>
                      <a:pt x="38580" y="55773"/>
                    </a:cubicBezTo>
                    <a:lnTo>
                      <a:pt x="38580" y="109010"/>
                    </a:lnTo>
                    <a:cubicBezTo>
                      <a:pt x="15179" y="126122"/>
                      <a:pt x="0" y="153374"/>
                      <a:pt x="0" y="185063"/>
                    </a:cubicBezTo>
                    <a:cubicBezTo>
                      <a:pt x="0" y="237033"/>
                      <a:pt x="41742" y="278862"/>
                      <a:pt x="93604" y="278862"/>
                    </a:cubicBezTo>
                    <a:cubicBezTo>
                      <a:pt x="145466" y="278862"/>
                      <a:pt x="187208" y="237033"/>
                      <a:pt x="187208" y="185063"/>
                    </a:cubicBezTo>
                    <a:cubicBezTo>
                      <a:pt x="187208" y="153374"/>
                      <a:pt x="172029" y="125488"/>
                      <a:pt x="148628" y="109010"/>
                    </a:cubicBezTo>
                    <a:close/>
                    <a:moveTo>
                      <a:pt x="55024" y="55773"/>
                    </a:moveTo>
                    <a:cubicBezTo>
                      <a:pt x="55024" y="33590"/>
                      <a:pt x="70203" y="15844"/>
                      <a:pt x="89177" y="15844"/>
                    </a:cubicBezTo>
                    <a:lnTo>
                      <a:pt x="98031" y="15844"/>
                    </a:lnTo>
                    <a:cubicBezTo>
                      <a:pt x="117005" y="15844"/>
                      <a:pt x="132184" y="33590"/>
                      <a:pt x="132184" y="55773"/>
                    </a:cubicBezTo>
                    <a:lnTo>
                      <a:pt x="132184" y="99503"/>
                    </a:lnTo>
                    <a:cubicBezTo>
                      <a:pt x="120167" y="93799"/>
                      <a:pt x="107518" y="91264"/>
                      <a:pt x="93604" y="91264"/>
                    </a:cubicBezTo>
                    <a:cubicBezTo>
                      <a:pt x="79690" y="91264"/>
                      <a:pt x="66408" y="94433"/>
                      <a:pt x="55024" y="99503"/>
                    </a:cubicBezTo>
                    <a:lnTo>
                      <a:pt x="55024" y="55773"/>
                    </a:lnTo>
                    <a:close/>
                    <a:moveTo>
                      <a:pt x="94237" y="262384"/>
                    </a:moveTo>
                    <a:cubicBezTo>
                      <a:pt x="51862" y="262384"/>
                      <a:pt x="17076" y="227526"/>
                      <a:pt x="17076" y="185063"/>
                    </a:cubicBezTo>
                    <a:cubicBezTo>
                      <a:pt x="17076" y="142600"/>
                      <a:pt x="51862" y="107742"/>
                      <a:pt x="94237" y="107742"/>
                    </a:cubicBezTo>
                    <a:cubicBezTo>
                      <a:pt x="136611" y="107742"/>
                      <a:pt x="171397" y="142600"/>
                      <a:pt x="171397" y="185063"/>
                    </a:cubicBezTo>
                    <a:cubicBezTo>
                      <a:pt x="171397" y="227526"/>
                      <a:pt x="136611" y="262384"/>
                      <a:pt x="94237" y="26238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05" name="Google Shape;9205;p85"/>
              <p:cNvSpPr/>
              <p:nvPr/>
            </p:nvSpPr>
            <p:spPr>
              <a:xfrm>
                <a:off x="6302659" y="3663785"/>
                <a:ext cx="29765" cy="48167"/>
              </a:xfrm>
              <a:custGeom>
                <a:avLst/>
                <a:gdLst/>
                <a:ahLst/>
                <a:cxnLst/>
                <a:rect l="l" t="t" r="r" b="b"/>
                <a:pathLst>
                  <a:path w="29765" h="48167" extrusionOk="0">
                    <a:moveTo>
                      <a:pt x="15179" y="0"/>
                    </a:moveTo>
                    <a:cubicBezTo>
                      <a:pt x="6957" y="0"/>
                      <a:pt x="0" y="6972"/>
                      <a:pt x="0" y="15211"/>
                    </a:cubicBezTo>
                    <a:cubicBezTo>
                      <a:pt x="0" y="20915"/>
                      <a:pt x="3162" y="25985"/>
                      <a:pt x="7590" y="28520"/>
                    </a:cubicBezTo>
                    <a:lnTo>
                      <a:pt x="7590" y="44364"/>
                    </a:lnTo>
                    <a:cubicBezTo>
                      <a:pt x="7590" y="46900"/>
                      <a:pt x="9487" y="48167"/>
                      <a:pt x="11384" y="48167"/>
                    </a:cubicBezTo>
                    <a:lnTo>
                      <a:pt x="18341" y="48167"/>
                    </a:lnTo>
                    <a:cubicBezTo>
                      <a:pt x="20871" y="48167"/>
                      <a:pt x="22136" y="46266"/>
                      <a:pt x="22136" y="44364"/>
                    </a:cubicBezTo>
                    <a:lnTo>
                      <a:pt x="22136" y="28520"/>
                    </a:lnTo>
                    <a:cubicBezTo>
                      <a:pt x="26563" y="25985"/>
                      <a:pt x="29726" y="20915"/>
                      <a:pt x="29726" y="15211"/>
                    </a:cubicBezTo>
                    <a:cubicBezTo>
                      <a:pt x="30358" y="6972"/>
                      <a:pt x="23401" y="0"/>
                      <a:pt x="1517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nvGrpSpPr>
              <p:cNvPr id="9206" name="Google Shape;9206;p85"/>
              <p:cNvGrpSpPr/>
              <p:nvPr/>
            </p:nvGrpSpPr>
            <p:grpSpPr>
              <a:xfrm>
                <a:off x="5851715" y="3181479"/>
                <a:ext cx="474345" cy="571034"/>
                <a:chOff x="5851715" y="3181479"/>
                <a:chExt cx="474345" cy="571034"/>
              </a:xfrm>
            </p:grpSpPr>
            <p:sp>
              <p:nvSpPr>
                <p:cNvPr id="9207" name="Google Shape;9207;p85"/>
                <p:cNvSpPr/>
                <p:nvPr/>
              </p:nvSpPr>
              <p:spPr>
                <a:xfrm>
                  <a:off x="5851715" y="3181479"/>
                  <a:ext cx="474345" cy="295974"/>
                </a:xfrm>
                <a:custGeom>
                  <a:avLst/>
                  <a:gdLst/>
                  <a:ahLst/>
                  <a:cxnLst/>
                  <a:rect l="l" t="t" r="r" b="b"/>
                  <a:pathLst>
                    <a:path w="474345" h="295974" extrusionOk="0">
                      <a:moveTo>
                        <a:pt x="237173" y="272525"/>
                      </a:moveTo>
                      <a:cubicBezTo>
                        <a:pt x="326982" y="272525"/>
                        <a:pt x="421851" y="257314"/>
                        <a:pt x="458534" y="229428"/>
                      </a:cubicBezTo>
                      <a:lnTo>
                        <a:pt x="458534" y="295974"/>
                      </a:lnTo>
                      <a:lnTo>
                        <a:pt x="474345" y="295974"/>
                      </a:lnTo>
                      <a:lnTo>
                        <a:pt x="474345" y="69082"/>
                      </a:lnTo>
                      <a:cubicBezTo>
                        <a:pt x="474345" y="24084"/>
                        <a:pt x="352280" y="0"/>
                        <a:pt x="237173" y="0"/>
                      </a:cubicBezTo>
                      <a:cubicBezTo>
                        <a:pt x="122065" y="0"/>
                        <a:pt x="0" y="24084"/>
                        <a:pt x="0" y="69082"/>
                      </a:cubicBezTo>
                      <a:cubicBezTo>
                        <a:pt x="0" y="114080"/>
                        <a:pt x="122065" y="138164"/>
                        <a:pt x="237173" y="138164"/>
                      </a:cubicBezTo>
                      <a:cubicBezTo>
                        <a:pt x="326982" y="138164"/>
                        <a:pt x="421851" y="122953"/>
                        <a:pt x="458534" y="95067"/>
                      </a:cubicBezTo>
                      <a:lnTo>
                        <a:pt x="458534" y="203443"/>
                      </a:lnTo>
                      <a:cubicBezTo>
                        <a:pt x="458534" y="225625"/>
                        <a:pt x="374416" y="256680"/>
                        <a:pt x="237173" y="256680"/>
                      </a:cubicBezTo>
                      <a:cubicBezTo>
                        <a:pt x="99929" y="256680"/>
                        <a:pt x="15812" y="225625"/>
                        <a:pt x="15812" y="203443"/>
                      </a:cubicBezTo>
                      <a:lnTo>
                        <a:pt x="15812" y="124221"/>
                      </a:lnTo>
                      <a:lnTo>
                        <a:pt x="0" y="124221"/>
                      </a:lnTo>
                      <a:lnTo>
                        <a:pt x="0" y="202809"/>
                      </a:lnTo>
                      <a:cubicBezTo>
                        <a:pt x="0" y="248441"/>
                        <a:pt x="122065" y="272525"/>
                        <a:pt x="237173" y="272525"/>
                      </a:cubicBezTo>
                      <a:close/>
                      <a:moveTo>
                        <a:pt x="237173" y="122319"/>
                      </a:moveTo>
                      <a:cubicBezTo>
                        <a:pt x="99929" y="122319"/>
                        <a:pt x="15812" y="91264"/>
                        <a:pt x="15812" y="69082"/>
                      </a:cubicBezTo>
                      <a:cubicBezTo>
                        <a:pt x="15812" y="46900"/>
                        <a:pt x="99929" y="15844"/>
                        <a:pt x="237173" y="15844"/>
                      </a:cubicBezTo>
                      <a:cubicBezTo>
                        <a:pt x="374416" y="15844"/>
                        <a:pt x="458534" y="46900"/>
                        <a:pt x="458534" y="69082"/>
                      </a:cubicBezTo>
                      <a:cubicBezTo>
                        <a:pt x="458534" y="91264"/>
                        <a:pt x="373784" y="122319"/>
                        <a:pt x="237173" y="1223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08" name="Google Shape;9208;p85"/>
                <p:cNvSpPr/>
                <p:nvPr/>
              </p:nvSpPr>
              <p:spPr>
                <a:xfrm>
                  <a:off x="5851715" y="3604843"/>
                  <a:ext cx="354810" cy="147670"/>
                </a:xfrm>
                <a:custGeom>
                  <a:avLst/>
                  <a:gdLst/>
                  <a:ahLst/>
                  <a:cxnLst/>
                  <a:rect l="l" t="t" r="r" b="b"/>
                  <a:pathLst>
                    <a:path w="354810" h="147670" extrusionOk="0">
                      <a:moveTo>
                        <a:pt x="354810" y="123587"/>
                      </a:moveTo>
                      <a:cubicBezTo>
                        <a:pt x="321922" y="129291"/>
                        <a:pt x="282710" y="132460"/>
                        <a:pt x="237173" y="132460"/>
                      </a:cubicBezTo>
                      <a:cubicBezTo>
                        <a:pt x="99929" y="132460"/>
                        <a:pt x="15812" y="101405"/>
                        <a:pt x="15812" y="79222"/>
                      </a:cubicBezTo>
                      <a:lnTo>
                        <a:pt x="15812" y="0"/>
                      </a:lnTo>
                      <a:lnTo>
                        <a:pt x="0" y="0"/>
                      </a:lnTo>
                      <a:lnTo>
                        <a:pt x="0" y="78589"/>
                      </a:lnTo>
                      <a:cubicBezTo>
                        <a:pt x="0" y="123587"/>
                        <a:pt x="122065" y="147670"/>
                        <a:pt x="237173" y="147670"/>
                      </a:cubicBezTo>
                      <a:cubicBezTo>
                        <a:pt x="277650" y="147670"/>
                        <a:pt x="318760" y="144501"/>
                        <a:pt x="354810" y="138797"/>
                      </a:cubicBezTo>
                      <a:lnTo>
                        <a:pt x="354810" y="1235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09" name="Google Shape;9209;p85"/>
                <p:cNvSpPr/>
                <p:nvPr/>
              </p:nvSpPr>
              <p:spPr>
                <a:xfrm>
                  <a:off x="5851715" y="3455272"/>
                  <a:ext cx="354810" cy="148304"/>
                </a:xfrm>
                <a:custGeom>
                  <a:avLst/>
                  <a:gdLst/>
                  <a:ahLst/>
                  <a:cxnLst/>
                  <a:rect l="l" t="t" r="r" b="b"/>
                  <a:pathLst>
                    <a:path w="354810" h="148304" extrusionOk="0">
                      <a:moveTo>
                        <a:pt x="237173" y="148304"/>
                      </a:moveTo>
                      <a:cubicBezTo>
                        <a:pt x="277650" y="148304"/>
                        <a:pt x="318760" y="145135"/>
                        <a:pt x="354810" y="139431"/>
                      </a:cubicBezTo>
                      <a:lnTo>
                        <a:pt x="354810" y="123587"/>
                      </a:lnTo>
                      <a:cubicBezTo>
                        <a:pt x="321922" y="129291"/>
                        <a:pt x="282710" y="132460"/>
                        <a:pt x="237173" y="132460"/>
                      </a:cubicBezTo>
                      <a:cubicBezTo>
                        <a:pt x="99929" y="132460"/>
                        <a:pt x="15812" y="101405"/>
                        <a:pt x="15812" y="78589"/>
                      </a:cubicBezTo>
                      <a:lnTo>
                        <a:pt x="15812" y="0"/>
                      </a:lnTo>
                      <a:lnTo>
                        <a:pt x="0" y="0"/>
                      </a:lnTo>
                      <a:lnTo>
                        <a:pt x="0" y="78589"/>
                      </a:lnTo>
                      <a:cubicBezTo>
                        <a:pt x="0" y="124221"/>
                        <a:pt x="122065" y="148304"/>
                        <a:pt x="237173" y="14830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grpSp>
        <p:nvGrpSpPr>
          <p:cNvPr id="9210" name="Google Shape;9210;p85"/>
          <p:cNvGrpSpPr/>
          <p:nvPr/>
        </p:nvGrpSpPr>
        <p:grpSpPr>
          <a:xfrm>
            <a:off x="2874901" y="1261010"/>
            <a:ext cx="758008" cy="1300703"/>
            <a:chOff x="2872610" y="1436575"/>
            <a:chExt cx="758008" cy="1300703"/>
          </a:xfrm>
        </p:grpSpPr>
        <p:cxnSp>
          <p:nvCxnSpPr>
            <p:cNvPr id="9211" name="Google Shape;9211;p85"/>
            <p:cNvCxnSpPr/>
            <p:nvPr/>
          </p:nvCxnSpPr>
          <p:spPr>
            <a:xfrm rot="10800000">
              <a:off x="3251611" y="2371613"/>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212" name="Google Shape;9212;p85"/>
            <p:cNvSpPr/>
            <p:nvPr/>
          </p:nvSpPr>
          <p:spPr>
            <a:xfrm>
              <a:off x="3011551" y="1900043"/>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213" name="Google Shape;9213;p85"/>
            <p:cNvSpPr/>
            <p:nvPr/>
          </p:nvSpPr>
          <p:spPr>
            <a:xfrm>
              <a:off x="2872610" y="1436575"/>
              <a:ext cx="758008" cy="3790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Automated</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Patching</a:t>
              </a:r>
              <a:endParaRPr/>
            </a:p>
          </p:txBody>
        </p:sp>
        <p:grpSp>
          <p:nvGrpSpPr>
            <p:cNvPr id="9214" name="Google Shape;9214;p85" descr="Security Lifecycle&#10;"/>
            <p:cNvGrpSpPr/>
            <p:nvPr/>
          </p:nvGrpSpPr>
          <p:grpSpPr>
            <a:xfrm>
              <a:off x="3121454" y="1995171"/>
              <a:ext cx="274607" cy="274320"/>
              <a:chOff x="8438627" y="1946048"/>
              <a:chExt cx="605896" cy="605264"/>
            </a:xfrm>
          </p:grpSpPr>
          <p:sp>
            <p:nvSpPr>
              <p:cNvPr id="9215" name="Google Shape;9215;p85"/>
              <p:cNvSpPr/>
              <p:nvPr/>
            </p:nvSpPr>
            <p:spPr>
              <a:xfrm>
                <a:off x="8438627" y="1946048"/>
                <a:ext cx="588187" cy="471182"/>
              </a:xfrm>
              <a:custGeom>
                <a:avLst/>
                <a:gdLst/>
                <a:ahLst/>
                <a:cxnLst/>
                <a:rect l="l" t="t" r="r" b="b"/>
                <a:pathLst>
                  <a:path w="588187" h="471182" extrusionOk="0">
                    <a:moveTo>
                      <a:pt x="17076" y="302948"/>
                    </a:moveTo>
                    <a:cubicBezTo>
                      <a:pt x="17076" y="145466"/>
                      <a:pt x="145466" y="17076"/>
                      <a:pt x="302948" y="17076"/>
                    </a:cubicBezTo>
                    <a:cubicBezTo>
                      <a:pt x="405407" y="17076"/>
                      <a:pt x="499011" y="70836"/>
                      <a:pt x="550240" y="158747"/>
                    </a:cubicBezTo>
                    <a:lnTo>
                      <a:pt x="501541" y="149893"/>
                    </a:lnTo>
                    <a:lnTo>
                      <a:pt x="498379" y="166337"/>
                    </a:lnTo>
                    <a:lnTo>
                      <a:pt x="573009" y="179619"/>
                    </a:lnTo>
                    <a:lnTo>
                      <a:pt x="588188" y="105621"/>
                    </a:lnTo>
                    <a:lnTo>
                      <a:pt x="571744" y="102459"/>
                    </a:lnTo>
                    <a:lnTo>
                      <a:pt x="562257" y="146731"/>
                    </a:lnTo>
                    <a:cubicBezTo>
                      <a:pt x="507865" y="55656"/>
                      <a:pt x="409834" y="0"/>
                      <a:pt x="302948" y="0"/>
                    </a:cubicBezTo>
                    <a:cubicBezTo>
                      <a:pt x="135979" y="0"/>
                      <a:pt x="0" y="135979"/>
                      <a:pt x="0" y="302948"/>
                    </a:cubicBezTo>
                    <a:cubicBezTo>
                      <a:pt x="0" y="363032"/>
                      <a:pt x="17709" y="421218"/>
                      <a:pt x="50597" y="471183"/>
                    </a:cubicBezTo>
                    <a:lnTo>
                      <a:pt x="64511" y="461696"/>
                    </a:lnTo>
                    <a:cubicBezTo>
                      <a:pt x="34153" y="414261"/>
                      <a:pt x="17076" y="359870"/>
                      <a:pt x="17076" y="3029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16" name="Google Shape;9216;p85"/>
              <p:cNvSpPr/>
              <p:nvPr/>
            </p:nvSpPr>
            <p:spPr>
              <a:xfrm>
                <a:off x="8500608" y="2143376"/>
                <a:ext cx="543915" cy="407936"/>
              </a:xfrm>
              <a:custGeom>
                <a:avLst/>
                <a:gdLst/>
                <a:ahLst/>
                <a:cxnLst/>
                <a:rect l="l" t="t" r="r" b="b"/>
                <a:pathLst>
                  <a:path w="543915" h="407936" extrusionOk="0">
                    <a:moveTo>
                      <a:pt x="524942" y="0"/>
                    </a:moveTo>
                    <a:lnTo>
                      <a:pt x="509130" y="5692"/>
                    </a:lnTo>
                    <a:cubicBezTo>
                      <a:pt x="521147" y="37315"/>
                      <a:pt x="526839" y="71468"/>
                      <a:pt x="526839" y="105621"/>
                    </a:cubicBezTo>
                    <a:cubicBezTo>
                      <a:pt x="526839" y="263103"/>
                      <a:pt x="398450" y="391493"/>
                      <a:pt x="240967" y="391493"/>
                    </a:cubicBezTo>
                    <a:cubicBezTo>
                      <a:pt x="164440" y="391493"/>
                      <a:pt x="91074" y="360502"/>
                      <a:pt x="37315" y="306111"/>
                    </a:cubicBezTo>
                    <a:lnTo>
                      <a:pt x="86647" y="314965"/>
                    </a:lnTo>
                    <a:lnTo>
                      <a:pt x="89809" y="298521"/>
                    </a:lnTo>
                    <a:lnTo>
                      <a:pt x="15179" y="285239"/>
                    </a:lnTo>
                    <a:lnTo>
                      <a:pt x="0" y="359237"/>
                    </a:lnTo>
                    <a:lnTo>
                      <a:pt x="16444" y="362400"/>
                    </a:lnTo>
                    <a:lnTo>
                      <a:pt x="25931" y="318127"/>
                    </a:lnTo>
                    <a:cubicBezTo>
                      <a:pt x="82852" y="375681"/>
                      <a:pt x="160012" y="407937"/>
                      <a:pt x="240967" y="407937"/>
                    </a:cubicBezTo>
                    <a:cubicBezTo>
                      <a:pt x="407937" y="407937"/>
                      <a:pt x="543916" y="271958"/>
                      <a:pt x="543916" y="104988"/>
                    </a:cubicBezTo>
                    <a:cubicBezTo>
                      <a:pt x="543916" y="68938"/>
                      <a:pt x="537591" y="33520"/>
                      <a:pt x="52494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17" name="Google Shape;9217;p85"/>
              <p:cNvSpPr/>
              <p:nvPr/>
            </p:nvSpPr>
            <p:spPr>
              <a:xfrm>
                <a:off x="8721969" y="2275560"/>
                <a:ext cx="46169" cy="72100"/>
              </a:xfrm>
              <a:custGeom>
                <a:avLst/>
                <a:gdLst/>
                <a:ahLst/>
                <a:cxnLst/>
                <a:rect l="l" t="t" r="r" b="b"/>
                <a:pathLst>
                  <a:path w="46169" h="72100" extrusionOk="0">
                    <a:moveTo>
                      <a:pt x="0" y="22769"/>
                    </a:moveTo>
                    <a:cubicBezTo>
                      <a:pt x="0" y="30991"/>
                      <a:pt x="4427" y="38580"/>
                      <a:pt x="11384" y="42375"/>
                    </a:cubicBezTo>
                    <a:lnTo>
                      <a:pt x="11384" y="65776"/>
                    </a:lnTo>
                    <a:cubicBezTo>
                      <a:pt x="11384" y="68938"/>
                      <a:pt x="13914" y="72100"/>
                      <a:pt x="17709" y="72100"/>
                    </a:cubicBezTo>
                    <a:lnTo>
                      <a:pt x="28461" y="72100"/>
                    </a:lnTo>
                    <a:cubicBezTo>
                      <a:pt x="31623" y="72100"/>
                      <a:pt x="34785" y="69571"/>
                      <a:pt x="34785" y="65776"/>
                    </a:cubicBezTo>
                    <a:lnTo>
                      <a:pt x="34785" y="42375"/>
                    </a:lnTo>
                    <a:cubicBezTo>
                      <a:pt x="41742" y="38580"/>
                      <a:pt x="46170" y="30991"/>
                      <a:pt x="46170" y="22769"/>
                    </a:cubicBezTo>
                    <a:cubicBezTo>
                      <a:pt x="46170" y="10119"/>
                      <a:pt x="36050" y="0"/>
                      <a:pt x="23401" y="0"/>
                    </a:cubicBezTo>
                    <a:cubicBezTo>
                      <a:pt x="10119" y="0"/>
                      <a:pt x="0" y="10119"/>
                      <a:pt x="0" y="2276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18" name="Google Shape;9218;p85"/>
              <p:cNvSpPr/>
              <p:nvPr/>
            </p:nvSpPr>
            <p:spPr>
              <a:xfrm>
                <a:off x="8604331" y="2045977"/>
                <a:ext cx="282077" cy="408569"/>
              </a:xfrm>
              <a:custGeom>
                <a:avLst/>
                <a:gdLst/>
                <a:ahLst/>
                <a:cxnLst/>
                <a:rect l="l" t="t" r="r" b="b"/>
                <a:pathLst>
                  <a:path w="282077" h="408569" extrusionOk="0">
                    <a:moveTo>
                      <a:pt x="141039" y="0"/>
                    </a:moveTo>
                    <a:cubicBezTo>
                      <a:pt x="98664" y="0"/>
                      <a:pt x="64511" y="34153"/>
                      <a:pt x="64511" y="76528"/>
                    </a:cubicBezTo>
                    <a:lnTo>
                      <a:pt x="64511" y="149261"/>
                    </a:lnTo>
                    <a:cubicBezTo>
                      <a:pt x="25298" y="174559"/>
                      <a:pt x="0" y="218199"/>
                      <a:pt x="0" y="267531"/>
                    </a:cubicBezTo>
                    <a:cubicBezTo>
                      <a:pt x="0" y="345323"/>
                      <a:pt x="63246" y="408569"/>
                      <a:pt x="141039" y="408569"/>
                    </a:cubicBezTo>
                    <a:cubicBezTo>
                      <a:pt x="218831" y="408569"/>
                      <a:pt x="282077" y="345323"/>
                      <a:pt x="282077" y="267531"/>
                    </a:cubicBezTo>
                    <a:cubicBezTo>
                      <a:pt x="282077" y="218199"/>
                      <a:pt x="256146" y="174559"/>
                      <a:pt x="217566" y="149261"/>
                    </a:cubicBezTo>
                    <a:lnTo>
                      <a:pt x="217566" y="76528"/>
                    </a:lnTo>
                    <a:cubicBezTo>
                      <a:pt x="217566" y="34153"/>
                      <a:pt x="182781" y="0"/>
                      <a:pt x="141039" y="0"/>
                    </a:cubicBezTo>
                    <a:close/>
                    <a:moveTo>
                      <a:pt x="83485" y="76528"/>
                    </a:moveTo>
                    <a:cubicBezTo>
                      <a:pt x="83485" y="44905"/>
                      <a:pt x="109416" y="18974"/>
                      <a:pt x="141039" y="18974"/>
                    </a:cubicBezTo>
                    <a:cubicBezTo>
                      <a:pt x="172662" y="18974"/>
                      <a:pt x="198592" y="44905"/>
                      <a:pt x="198592" y="76528"/>
                    </a:cubicBezTo>
                    <a:lnTo>
                      <a:pt x="198592" y="139141"/>
                    </a:lnTo>
                    <a:cubicBezTo>
                      <a:pt x="180884" y="130919"/>
                      <a:pt x="161277" y="126492"/>
                      <a:pt x="141039" y="126492"/>
                    </a:cubicBezTo>
                    <a:cubicBezTo>
                      <a:pt x="120800" y="126492"/>
                      <a:pt x="101194" y="130919"/>
                      <a:pt x="83485" y="138509"/>
                    </a:cubicBezTo>
                    <a:lnTo>
                      <a:pt x="83485" y="76528"/>
                    </a:lnTo>
                    <a:close/>
                    <a:moveTo>
                      <a:pt x="262471" y="267531"/>
                    </a:moveTo>
                    <a:cubicBezTo>
                      <a:pt x="262471" y="334571"/>
                      <a:pt x="207447" y="389595"/>
                      <a:pt x="140406" y="389595"/>
                    </a:cubicBezTo>
                    <a:cubicBezTo>
                      <a:pt x="73365" y="389595"/>
                      <a:pt x="18341" y="335204"/>
                      <a:pt x="18341" y="267531"/>
                    </a:cubicBezTo>
                    <a:cubicBezTo>
                      <a:pt x="18341" y="199857"/>
                      <a:pt x="73365" y="145466"/>
                      <a:pt x="140406" y="145466"/>
                    </a:cubicBezTo>
                    <a:cubicBezTo>
                      <a:pt x="207447" y="145466"/>
                      <a:pt x="262471" y="200490"/>
                      <a:pt x="262471" y="2675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nvGrpSpPr>
          <p:cNvPr id="9219" name="Google Shape;9219;p85"/>
          <p:cNvGrpSpPr/>
          <p:nvPr/>
        </p:nvGrpSpPr>
        <p:grpSpPr>
          <a:xfrm>
            <a:off x="1623789" y="3523164"/>
            <a:ext cx="758008" cy="1303912"/>
            <a:chOff x="1501458" y="3698729"/>
            <a:chExt cx="758008" cy="1303912"/>
          </a:xfrm>
        </p:grpSpPr>
        <p:cxnSp>
          <p:nvCxnSpPr>
            <p:cNvPr id="9220" name="Google Shape;9220;p85"/>
            <p:cNvCxnSpPr/>
            <p:nvPr/>
          </p:nvCxnSpPr>
          <p:spPr>
            <a:xfrm>
              <a:off x="1875114" y="3698729"/>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221" name="Google Shape;9221;p85"/>
            <p:cNvSpPr/>
            <p:nvPr/>
          </p:nvSpPr>
          <p:spPr>
            <a:xfrm rot="10800000">
              <a:off x="1641100" y="4062825"/>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222" name="Google Shape;9222;p85"/>
            <p:cNvSpPr/>
            <p:nvPr/>
          </p:nvSpPr>
          <p:spPr>
            <a:xfrm>
              <a:off x="1501458" y="4623637"/>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Application</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Load Balancing</a:t>
              </a:r>
              <a:endParaRPr/>
            </a:p>
          </p:txBody>
        </p:sp>
        <p:grpSp>
          <p:nvGrpSpPr>
            <p:cNvPr id="9223" name="Google Shape;9223;p85" descr="Visibility&#10;"/>
            <p:cNvGrpSpPr/>
            <p:nvPr/>
          </p:nvGrpSpPr>
          <p:grpSpPr>
            <a:xfrm>
              <a:off x="1700949" y="4199234"/>
              <a:ext cx="365760" cy="211756"/>
              <a:chOff x="530529" y="4527708"/>
              <a:chExt cx="600837" cy="347853"/>
            </a:xfrm>
          </p:grpSpPr>
          <p:sp>
            <p:nvSpPr>
              <p:cNvPr id="9224" name="Google Shape;9224;p85"/>
              <p:cNvSpPr/>
              <p:nvPr/>
            </p:nvSpPr>
            <p:spPr>
              <a:xfrm>
                <a:off x="734181" y="4606766"/>
                <a:ext cx="193532" cy="189738"/>
              </a:xfrm>
              <a:custGeom>
                <a:avLst/>
                <a:gdLst/>
                <a:ahLst/>
                <a:cxnLst/>
                <a:rect l="l" t="t" r="r" b="b"/>
                <a:pathLst>
                  <a:path w="193532" h="189738" extrusionOk="0">
                    <a:moveTo>
                      <a:pt x="96766" y="189738"/>
                    </a:moveTo>
                    <a:cubicBezTo>
                      <a:pt x="43640" y="189738"/>
                      <a:pt x="0" y="147363"/>
                      <a:pt x="0" y="94869"/>
                    </a:cubicBezTo>
                    <a:cubicBezTo>
                      <a:pt x="0" y="42375"/>
                      <a:pt x="43007" y="0"/>
                      <a:pt x="96766" y="0"/>
                    </a:cubicBezTo>
                    <a:cubicBezTo>
                      <a:pt x="149893" y="0"/>
                      <a:pt x="193533" y="42375"/>
                      <a:pt x="193533" y="94869"/>
                    </a:cubicBezTo>
                    <a:cubicBezTo>
                      <a:pt x="193533" y="147363"/>
                      <a:pt x="149893" y="189738"/>
                      <a:pt x="96766" y="189738"/>
                    </a:cubicBezTo>
                    <a:close/>
                    <a:moveTo>
                      <a:pt x="96766" y="15812"/>
                    </a:moveTo>
                    <a:cubicBezTo>
                      <a:pt x="51862" y="15812"/>
                      <a:pt x="15812" y="51229"/>
                      <a:pt x="15812" y="94869"/>
                    </a:cubicBezTo>
                    <a:cubicBezTo>
                      <a:pt x="15812" y="138509"/>
                      <a:pt x="51862" y="173927"/>
                      <a:pt x="96766" y="173927"/>
                    </a:cubicBezTo>
                    <a:cubicBezTo>
                      <a:pt x="141671" y="173927"/>
                      <a:pt x="177721" y="138509"/>
                      <a:pt x="177721" y="94869"/>
                    </a:cubicBezTo>
                    <a:cubicBezTo>
                      <a:pt x="177721" y="51229"/>
                      <a:pt x="141039" y="15812"/>
                      <a:pt x="96766" y="158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25" name="Google Shape;9225;p85"/>
              <p:cNvSpPr/>
              <p:nvPr/>
            </p:nvSpPr>
            <p:spPr>
              <a:xfrm>
                <a:off x="530529" y="4527708"/>
                <a:ext cx="600837" cy="347853"/>
              </a:xfrm>
              <a:custGeom>
                <a:avLst/>
                <a:gdLst/>
                <a:ahLst/>
                <a:cxnLst/>
                <a:rect l="l" t="t" r="r" b="b"/>
                <a:pathLst>
                  <a:path w="600837" h="347853" extrusionOk="0">
                    <a:moveTo>
                      <a:pt x="597042" y="169499"/>
                    </a:moveTo>
                    <a:cubicBezTo>
                      <a:pt x="595777" y="167602"/>
                      <a:pt x="563522" y="126492"/>
                      <a:pt x="510395" y="85382"/>
                    </a:cubicBezTo>
                    <a:cubicBezTo>
                      <a:pt x="461696" y="46170"/>
                      <a:pt x="385168" y="0"/>
                      <a:pt x="300419" y="0"/>
                    </a:cubicBezTo>
                    <a:cubicBezTo>
                      <a:pt x="215669" y="0"/>
                      <a:pt x="139141" y="46170"/>
                      <a:pt x="89809" y="84750"/>
                    </a:cubicBezTo>
                    <a:cubicBezTo>
                      <a:pt x="37315" y="126492"/>
                      <a:pt x="5060" y="167602"/>
                      <a:pt x="3795" y="169499"/>
                    </a:cubicBezTo>
                    <a:lnTo>
                      <a:pt x="0" y="173927"/>
                    </a:lnTo>
                    <a:lnTo>
                      <a:pt x="3795" y="178986"/>
                    </a:lnTo>
                    <a:cubicBezTo>
                      <a:pt x="4427" y="179619"/>
                      <a:pt x="6325" y="182148"/>
                      <a:pt x="10119" y="186576"/>
                    </a:cubicBezTo>
                    <a:lnTo>
                      <a:pt x="20871" y="174559"/>
                    </a:lnTo>
                    <a:cubicBezTo>
                      <a:pt x="20871" y="174559"/>
                      <a:pt x="20871" y="174559"/>
                      <a:pt x="20871" y="173927"/>
                    </a:cubicBezTo>
                    <a:cubicBezTo>
                      <a:pt x="43640" y="146731"/>
                      <a:pt x="161910" y="15812"/>
                      <a:pt x="301051" y="15812"/>
                    </a:cubicBezTo>
                    <a:cubicBezTo>
                      <a:pt x="440192" y="15812"/>
                      <a:pt x="558462" y="146731"/>
                      <a:pt x="581231" y="173927"/>
                    </a:cubicBezTo>
                    <a:cubicBezTo>
                      <a:pt x="558462" y="201122"/>
                      <a:pt x="440192" y="332042"/>
                      <a:pt x="301051" y="332042"/>
                    </a:cubicBezTo>
                    <a:cubicBezTo>
                      <a:pt x="186576" y="332042"/>
                      <a:pt x="86647" y="243497"/>
                      <a:pt x="41742" y="196695"/>
                    </a:cubicBezTo>
                    <a:lnTo>
                      <a:pt x="30358" y="208079"/>
                    </a:lnTo>
                    <a:cubicBezTo>
                      <a:pt x="44905" y="223258"/>
                      <a:pt x="65776" y="242865"/>
                      <a:pt x="90442" y="263103"/>
                    </a:cubicBezTo>
                    <a:cubicBezTo>
                      <a:pt x="139141" y="301683"/>
                      <a:pt x="215036" y="347853"/>
                      <a:pt x="300419" y="347853"/>
                    </a:cubicBezTo>
                    <a:cubicBezTo>
                      <a:pt x="385801" y="347853"/>
                      <a:pt x="461696" y="301683"/>
                      <a:pt x="510395" y="263103"/>
                    </a:cubicBezTo>
                    <a:cubicBezTo>
                      <a:pt x="562889" y="221361"/>
                      <a:pt x="595145" y="180251"/>
                      <a:pt x="597042" y="178986"/>
                    </a:cubicBezTo>
                    <a:lnTo>
                      <a:pt x="600837" y="173927"/>
                    </a:lnTo>
                    <a:lnTo>
                      <a:pt x="597042" y="16949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nvGrpSpPr>
          <p:cNvPr id="9226" name="Google Shape;9226;p85"/>
          <p:cNvGrpSpPr/>
          <p:nvPr/>
        </p:nvGrpSpPr>
        <p:grpSpPr>
          <a:xfrm>
            <a:off x="9200569" y="1261010"/>
            <a:ext cx="758008" cy="1317802"/>
            <a:chOff x="9308111" y="1436575"/>
            <a:chExt cx="758008" cy="1317802"/>
          </a:xfrm>
        </p:grpSpPr>
        <p:cxnSp>
          <p:nvCxnSpPr>
            <p:cNvPr id="9227" name="Google Shape;9227;p85"/>
            <p:cNvCxnSpPr/>
            <p:nvPr/>
          </p:nvCxnSpPr>
          <p:spPr>
            <a:xfrm rot="10800000">
              <a:off x="9687112" y="2388712"/>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228" name="Google Shape;9228;p85"/>
            <p:cNvSpPr/>
            <p:nvPr/>
          </p:nvSpPr>
          <p:spPr>
            <a:xfrm>
              <a:off x="9447052" y="1900043"/>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229" name="Google Shape;9229;p85"/>
            <p:cNvSpPr/>
            <p:nvPr/>
          </p:nvSpPr>
          <p:spPr>
            <a:xfrm>
              <a:off x="9308111" y="1436575"/>
              <a:ext cx="758008" cy="3790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Redeploy</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Modern App</a:t>
              </a:r>
              <a:endParaRPr/>
            </a:p>
          </p:txBody>
        </p:sp>
        <p:grpSp>
          <p:nvGrpSpPr>
            <p:cNvPr id="9230" name="Google Shape;9230;p85" descr="DevOps&#10;"/>
            <p:cNvGrpSpPr/>
            <p:nvPr/>
          </p:nvGrpSpPr>
          <p:grpSpPr>
            <a:xfrm>
              <a:off x="9504232" y="2043825"/>
              <a:ext cx="365760" cy="204316"/>
              <a:chOff x="4511243" y="4174113"/>
              <a:chExt cx="598939" cy="334571"/>
            </a:xfrm>
          </p:grpSpPr>
          <p:sp>
            <p:nvSpPr>
              <p:cNvPr id="9231" name="Google Shape;9231;p85"/>
              <p:cNvSpPr/>
              <p:nvPr/>
            </p:nvSpPr>
            <p:spPr>
              <a:xfrm>
                <a:off x="4581446" y="4176643"/>
                <a:ext cx="528736" cy="332041"/>
              </a:xfrm>
              <a:custGeom>
                <a:avLst/>
                <a:gdLst/>
                <a:ahLst/>
                <a:cxnLst/>
                <a:rect l="l" t="t" r="r" b="b"/>
                <a:pathLst>
                  <a:path w="528736" h="332041" extrusionOk="0">
                    <a:moveTo>
                      <a:pt x="361767" y="332042"/>
                    </a:moveTo>
                    <a:cubicBezTo>
                      <a:pt x="326349" y="332042"/>
                      <a:pt x="292197" y="321290"/>
                      <a:pt x="263736" y="300419"/>
                    </a:cubicBezTo>
                    <a:cubicBezTo>
                      <a:pt x="254881" y="294726"/>
                      <a:pt x="247292" y="287769"/>
                      <a:pt x="240335" y="279547"/>
                    </a:cubicBezTo>
                    <a:lnTo>
                      <a:pt x="252984" y="268796"/>
                    </a:lnTo>
                    <a:cubicBezTo>
                      <a:pt x="259309" y="276385"/>
                      <a:pt x="265633" y="281445"/>
                      <a:pt x="273855" y="287137"/>
                    </a:cubicBezTo>
                    <a:cubicBezTo>
                      <a:pt x="299786" y="306111"/>
                      <a:pt x="330777" y="316230"/>
                      <a:pt x="362400" y="316230"/>
                    </a:cubicBezTo>
                    <a:cubicBezTo>
                      <a:pt x="445252" y="316230"/>
                      <a:pt x="512925" y="248557"/>
                      <a:pt x="512925" y="165705"/>
                    </a:cubicBezTo>
                    <a:cubicBezTo>
                      <a:pt x="512925" y="82852"/>
                      <a:pt x="445252" y="15179"/>
                      <a:pt x="362400" y="15179"/>
                    </a:cubicBezTo>
                    <a:cubicBezTo>
                      <a:pt x="306743" y="15179"/>
                      <a:pt x="254249" y="47435"/>
                      <a:pt x="228318" y="96766"/>
                    </a:cubicBezTo>
                    <a:cubicBezTo>
                      <a:pt x="219464" y="113210"/>
                      <a:pt x="216301" y="131552"/>
                      <a:pt x="212507" y="150525"/>
                    </a:cubicBezTo>
                    <a:cubicBezTo>
                      <a:pt x="211242" y="156218"/>
                      <a:pt x="210609" y="161910"/>
                      <a:pt x="209344" y="167602"/>
                    </a:cubicBezTo>
                    <a:cubicBezTo>
                      <a:pt x="209344" y="167602"/>
                      <a:pt x="209344" y="167602"/>
                      <a:pt x="209344" y="167602"/>
                    </a:cubicBezTo>
                    <a:lnTo>
                      <a:pt x="209344" y="167602"/>
                    </a:lnTo>
                    <a:cubicBezTo>
                      <a:pt x="207447" y="177721"/>
                      <a:pt x="204285" y="187841"/>
                      <a:pt x="200490" y="197960"/>
                    </a:cubicBezTo>
                    <a:cubicBezTo>
                      <a:pt x="184678" y="238437"/>
                      <a:pt x="146098" y="263103"/>
                      <a:pt x="96766" y="263103"/>
                    </a:cubicBezTo>
                    <a:cubicBezTo>
                      <a:pt x="43640" y="263103"/>
                      <a:pt x="0" y="219464"/>
                      <a:pt x="0" y="166337"/>
                    </a:cubicBezTo>
                    <a:cubicBezTo>
                      <a:pt x="0" y="113210"/>
                      <a:pt x="43640" y="69571"/>
                      <a:pt x="96766" y="69571"/>
                    </a:cubicBezTo>
                    <a:cubicBezTo>
                      <a:pt x="126492" y="69571"/>
                      <a:pt x="154953" y="72733"/>
                      <a:pt x="183413" y="110681"/>
                    </a:cubicBezTo>
                    <a:cubicBezTo>
                      <a:pt x="189106" y="118902"/>
                      <a:pt x="194165" y="127757"/>
                      <a:pt x="197960" y="137244"/>
                    </a:cubicBezTo>
                    <a:cubicBezTo>
                      <a:pt x="201122" y="121432"/>
                      <a:pt x="204917" y="105621"/>
                      <a:pt x="213139" y="90442"/>
                    </a:cubicBezTo>
                    <a:cubicBezTo>
                      <a:pt x="241600" y="35418"/>
                      <a:pt x="299786" y="0"/>
                      <a:pt x="361767" y="0"/>
                    </a:cubicBezTo>
                    <a:cubicBezTo>
                      <a:pt x="454106" y="0"/>
                      <a:pt x="528737" y="74630"/>
                      <a:pt x="528737" y="166969"/>
                    </a:cubicBezTo>
                    <a:cubicBezTo>
                      <a:pt x="528737" y="256779"/>
                      <a:pt x="454106" y="332042"/>
                      <a:pt x="361767" y="332042"/>
                    </a:cubicBezTo>
                    <a:close/>
                    <a:moveTo>
                      <a:pt x="96766" y="84117"/>
                    </a:moveTo>
                    <a:cubicBezTo>
                      <a:pt x="52494" y="84117"/>
                      <a:pt x="16444" y="120167"/>
                      <a:pt x="16444" y="164440"/>
                    </a:cubicBezTo>
                    <a:cubicBezTo>
                      <a:pt x="16444" y="208712"/>
                      <a:pt x="52494" y="244762"/>
                      <a:pt x="96766" y="244762"/>
                    </a:cubicBezTo>
                    <a:cubicBezTo>
                      <a:pt x="138509" y="244762"/>
                      <a:pt x="171397" y="224523"/>
                      <a:pt x="184678" y="190370"/>
                    </a:cubicBezTo>
                    <a:cubicBezTo>
                      <a:pt x="187841" y="182781"/>
                      <a:pt x="189738" y="174559"/>
                      <a:pt x="191635" y="166337"/>
                    </a:cubicBezTo>
                    <a:cubicBezTo>
                      <a:pt x="189106" y="157483"/>
                      <a:pt x="182148" y="134082"/>
                      <a:pt x="170132" y="118270"/>
                    </a:cubicBezTo>
                    <a:cubicBezTo>
                      <a:pt x="146731" y="86647"/>
                      <a:pt x="123962" y="84117"/>
                      <a:pt x="96766" y="841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32" name="Google Shape;9232;p85"/>
              <p:cNvSpPr/>
              <p:nvPr/>
            </p:nvSpPr>
            <p:spPr>
              <a:xfrm>
                <a:off x="4511243" y="4174113"/>
                <a:ext cx="529369" cy="334571"/>
              </a:xfrm>
              <a:custGeom>
                <a:avLst/>
                <a:gdLst/>
                <a:ahLst/>
                <a:cxnLst/>
                <a:rect l="l" t="t" r="r" b="b"/>
                <a:pathLst>
                  <a:path w="529369" h="334571" extrusionOk="0">
                    <a:moveTo>
                      <a:pt x="166969" y="334571"/>
                    </a:moveTo>
                    <a:cubicBezTo>
                      <a:pt x="166969" y="334571"/>
                      <a:pt x="166969" y="334571"/>
                      <a:pt x="166969" y="334571"/>
                    </a:cubicBezTo>
                    <a:cubicBezTo>
                      <a:pt x="75263" y="334571"/>
                      <a:pt x="0" y="259309"/>
                      <a:pt x="0" y="166969"/>
                    </a:cubicBezTo>
                    <a:cubicBezTo>
                      <a:pt x="0" y="74630"/>
                      <a:pt x="74630" y="0"/>
                      <a:pt x="166969" y="0"/>
                    </a:cubicBezTo>
                    <a:cubicBezTo>
                      <a:pt x="213139" y="0"/>
                      <a:pt x="244762" y="7590"/>
                      <a:pt x="289034" y="50597"/>
                    </a:cubicBezTo>
                    <a:lnTo>
                      <a:pt x="277650" y="62614"/>
                    </a:lnTo>
                    <a:cubicBezTo>
                      <a:pt x="237805" y="23401"/>
                      <a:pt x="209977" y="16444"/>
                      <a:pt x="167602" y="16444"/>
                    </a:cubicBezTo>
                    <a:cubicBezTo>
                      <a:pt x="84750" y="16444"/>
                      <a:pt x="17076" y="84117"/>
                      <a:pt x="17076" y="166969"/>
                    </a:cubicBezTo>
                    <a:cubicBezTo>
                      <a:pt x="17076" y="249822"/>
                      <a:pt x="84750" y="317495"/>
                      <a:pt x="167602" y="317495"/>
                    </a:cubicBezTo>
                    <a:cubicBezTo>
                      <a:pt x="167602" y="317495"/>
                      <a:pt x="167602" y="317495"/>
                      <a:pt x="167602" y="317495"/>
                    </a:cubicBezTo>
                    <a:cubicBezTo>
                      <a:pt x="214404" y="317495"/>
                      <a:pt x="260574" y="297256"/>
                      <a:pt x="287769" y="264368"/>
                    </a:cubicBezTo>
                    <a:cubicBezTo>
                      <a:pt x="308640" y="239070"/>
                      <a:pt x="317495" y="209977"/>
                      <a:pt x="326349" y="178986"/>
                    </a:cubicBezTo>
                    <a:cubicBezTo>
                      <a:pt x="331409" y="162542"/>
                      <a:pt x="336469" y="146098"/>
                      <a:pt x="343426" y="129654"/>
                    </a:cubicBezTo>
                    <a:cubicBezTo>
                      <a:pt x="358605" y="94237"/>
                      <a:pt x="394023" y="70203"/>
                      <a:pt x="432603" y="70203"/>
                    </a:cubicBezTo>
                    <a:cubicBezTo>
                      <a:pt x="485729" y="70203"/>
                      <a:pt x="529369" y="113843"/>
                      <a:pt x="529369" y="166969"/>
                    </a:cubicBezTo>
                    <a:cubicBezTo>
                      <a:pt x="529369" y="220096"/>
                      <a:pt x="485729" y="263736"/>
                      <a:pt x="432603" y="263736"/>
                    </a:cubicBezTo>
                    <a:cubicBezTo>
                      <a:pt x="406039" y="263736"/>
                      <a:pt x="380108" y="252352"/>
                      <a:pt x="361767" y="232745"/>
                    </a:cubicBezTo>
                    <a:lnTo>
                      <a:pt x="349118" y="220096"/>
                    </a:lnTo>
                    <a:lnTo>
                      <a:pt x="361135" y="208712"/>
                    </a:lnTo>
                    <a:lnTo>
                      <a:pt x="373784" y="221993"/>
                    </a:lnTo>
                    <a:cubicBezTo>
                      <a:pt x="388963" y="238437"/>
                      <a:pt x="410467" y="247924"/>
                      <a:pt x="432603" y="247924"/>
                    </a:cubicBezTo>
                    <a:cubicBezTo>
                      <a:pt x="476875" y="247924"/>
                      <a:pt x="512925" y="211874"/>
                      <a:pt x="512925" y="167602"/>
                    </a:cubicBezTo>
                    <a:cubicBezTo>
                      <a:pt x="512925" y="123330"/>
                      <a:pt x="476875" y="87280"/>
                      <a:pt x="432603" y="87280"/>
                    </a:cubicBezTo>
                    <a:cubicBezTo>
                      <a:pt x="400347" y="87280"/>
                      <a:pt x="370622" y="106886"/>
                      <a:pt x="358605" y="136611"/>
                    </a:cubicBezTo>
                    <a:cubicBezTo>
                      <a:pt x="352280" y="152423"/>
                      <a:pt x="347221" y="168867"/>
                      <a:pt x="342161" y="184678"/>
                    </a:cubicBezTo>
                    <a:cubicBezTo>
                      <a:pt x="332674" y="215669"/>
                      <a:pt x="323187" y="247924"/>
                      <a:pt x="300419" y="275753"/>
                    </a:cubicBezTo>
                    <a:cubicBezTo>
                      <a:pt x="269428" y="311803"/>
                      <a:pt x="218831" y="334571"/>
                      <a:pt x="166969" y="33457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33" name="Google Shape;9233;p85"/>
              <p:cNvSpPr/>
              <p:nvPr/>
            </p:nvSpPr>
            <p:spPr>
              <a:xfrm>
                <a:off x="4784226" y="4287084"/>
                <a:ext cx="74288" cy="50836"/>
              </a:xfrm>
              <a:custGeom>
                <a:avLst/>
                <a:gdLst/>
                <a:ahLst/>
                <a:cxnLst/>
                <a:rect l="l" t="t" r="r" b="b"/>
                <a:pathLst>
                  <a:path w="74288" h="50836" extrusionOk="0">
                    <a:moveTo>
                      <a:pt x="66648" y="50836"/>
                    </a:moveTo>
                    <a:cubicBezTo>
                      <a:pt x="64118" y="50836"/>
                      <a:pt x="60955" y="49571"/>
                      <a:pt x="59690" y="47041"/>
                    </a:cubicBezTo>
                    <a:lnTo>
                      <a:pt x="41982" y="19213"/>
                    </a:lnTo>
                    <a:lnTo>
                      <a:pt x="12256" y="35025"/>
                    </a:lnTo>
                    <a:cubicBezTo>
                      <a:pt x="8461" y="36922"/>
                      <a:pt x="3402" y="35657"/>
                      <a:pt x="872" y="31862"/>
                    </a:cubicBezTo>
                    <a:cubicBezTo>
                      <a:pt x="-1026" y="28068"/>
                      <a:pt x="239" y="23008"/>
                      <a:pt x="4034" y="20478"/>
                    </a:cubicBezTo>
                    <a:lnTo>
                      <a:pt x="40717" y="872"/>
                    </a:lnTo>
                    <a:cubicBezTo>
                      <a:pt x="44511" y="-1026"/>
                      <a:pt x="48939" y="239"/>
                      <a:pt x="51469" y="4034"/>
                    </a:cubicBezTo>
                    <a:lnTo>
                      <a:pt x="72972" y="38187"/>
                    </a:lnTo>
                    <a:cubicBezTo>
                      <a:pt x="75502" y="41982"/>
                      <a:pt x="74237" y="47041"/>
                      <a:pt x="70442" y="49571"/>
                    </a:cubicBezTo>
                    <a:cubicBezTo>
                      <a:pt x="69810" y="50204"/>
                      <a:pt x="67912" y="50836"/>
                      <a:pt x="66648" y="5083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34" name="Google Shape;9234;p85"/>
              <p:cNvSpPr/>
              <p:nvPr/>
            </p:nvSpPr>
            <p:spPr>
              <a:xfrm>
                <a:off x="4899522" y="4184813"/>
                <a:ext cx="52784" cy="74049"/>
              </a:xfrm>
              <a:custGeom>
                <a:avLst/>
                <a:gdLst/>
                <a:ahLst/>
                <a:cxnLst/>
                <a:rect l="l" t="t" r="r" b="b"/>
                <a:pathLst>
                  <a:path w="52784" h="74049" extrusionOk="0">
                    <a:moveTo>
                      <a:pt x="25982" y="74049"/>
                    </a:moveTo>
                    <a:cubicBezTo>
                      <a:pt x="24717" y="74049"/>
                      <a:pt x="23452" y="74049"/>
                      <a:pt x="22187" y="73417"/>
                    </a:cubicBezTo>
                    <a:cubicBezTo>
                      <a:pt x="18393" y="71519"/>
                      <a:pt x="16495" y="66460"/>
                      <a:pt x="18393" y="62665"/>
                    </a:cubicBezTo>
                    <a:lnTo>
                      <a:pt x="33572" y="33572"/>
                    </a:lnTo>
                    <a:lnTo>
                      <a:pt x="3846" y="15230"/>
                    </a:lnTo>
                    <a:cubicBezTo>
                      <a:pt x="51" y="12700"/>
                      <a:pt x="-1214" y="7641"/>
                      <a:pt x="1316" y="3846"/>
                    </a:cubicBezTo>
                    <a:cubicBezTo>
                      <a:pt x="3846" y="51"/>
                      <a:pt x="8906" y="-1214"/>
                      <a:pt x="12700" y="1316"/>
                    </a:cubicBezTo>
                    <a:lnTo>
                      <a:pt x="48751" y="22820"/>
                    </a:lnTo>
                    <a:cubicBezTo>
                      <a:pt x="52545" y="25350"/>
                      <a:pt x="53810" y="29777"/>
                      <a:pt x="51913" y="33572"/>
                    </a:cubicBezTo>
                    <a:lnTo>
                      <a:pt x="33572" y="69622"/>
                    </a:lnTo>
                    <a:cubicBezTo>
                      <a:pt x="31674" y="72784"/>
                      <a:pt x="28512" y="74049"/>
                      <a:pt x="25982" y="740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35" name="Google Shape;9235;p85"/>
              <p:cNvSpPr/>
              <p:nvPr/>
            </p:nvSpPr>
            <p:spPr>
              <a:xfrm>
                <a:off x="5011438" y="4242137"/>
                <a:ext cx="64872" cy="56569"/>
              </a:xfrm>
              <a:custGeom>
                <a:avLst/>
                <a:gdLst/>
                <a:ahLst/>
                <a:cxnLst/>
                <a:rect l="l" t="t" r="r" b="b"/>
                <a:pathLst>
                  <a:path w="64872" h="56569" extrusionOk="0">
                    <a:moveTo>
                      <a:pt x="48148" y="56570"/>
                    </a:moveTo>
                    <a:cubicBezTo>
                      <a:pt x="47515" y="56570"/>
                      <a:pt x="47515" y="56570"/>
                      <a:pt x="46883" y="56570"/>
                    </a:cubicBezTo>
                    <a:lnTo>
                      <a:pt x="7038" y="51510"/>
                    </a:lnTo>
                    <a:cubicBezTo>
                      <a:pt x="2610" y="50878"/>
                      <a:pt x="-552" y="47083"/>
                      <a:pt x="81" y="42656"/>
                    </a:cubicBezTo>
                    <a:cubicBezTo>
                      <a:pt x="713" y="38229"/>
                      <a:pt x="4508" y="35066"/>
                      <a:pt x="9567" y="35699"/>
                    </a:cubicBezTo>
                    <a:lnTo>
                      <a:pt x="41823" y="40126"/>
                    </a:lnTo>
                    <a:lnTo>
                      <a:pt x="48780" y="6606"/>
                    </a:lnTo>
                    <a:cubicBezTo>
                      <a:pt x="49412" y="2178"/>
                      <a:pt x="53840" y="-984"/>
                      <a:pt x="58267" y="281"/>
                    </a:cubicBezTo>
                    <a:cubicBezTo>
                      <a:pt x="62694" y="914"/>
                      <a:pt x="65856" y="5341"/>
                      <a:pt x="64592" y="9768"/>
                    </a:cubicBezTo>
                    <a:lnTo>
                      <a:pt x="56370" y="50878"/>
                    </a:lnTo>
                    <a:cubicBezTo>
                      <a:pt x="55105" y="53408"/>
                      <a:pt x="51942" y="56570"/>
                      <a:pt x="48148" y="565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36" name="Google Shape;9236;p85"/>
              <p:cNvSpPr/>
              <p:nvPr/>
            </p:nvSpPr>
            <p:spPr>
              <a:xfrm>
                <a:off x="5001751" y="4393928"/>
                <a:ext cx="67402" cy="56570"/>
              </a:xfrm>
              <a:custGeom>
                <a:avLst/>
                <a:gdLst/>
                <a:ahLst/>
                <a:cxnLst/>
                <a:rect l="l" t="t" r="r" b="b"/>
                <a:pathLst>
                  <a:path w="67402" h="56570" extrusionOk="0">
                    <a:moveTo>
                      <a:pt x="17358" y="56570"/>
                    </a:moveTo>
                    <a:cubicBezTo>
                      <a:pt x="13563" y="56570"/>
                      <a:pt x="10400" y="54040"/>
                      <a:pt x="9136" y="50245"/>
                    </a:cubicBezTo>
                    <a:lnTo>
                      <a:pt x="281" y="10400"/>
                    </a:lnTo>
                    <a:cubicBezTo>
                      <a:pt x="-984" y="5973"/>
                      <a:pt x="2178" y="1546"/>
                      <a:pt x="6606" y="281"/>
                    </a:cubicBezTo>
                    <a:cubicBezTo>
                      <a:pt x="11033" y="-984"/>
                      <a:pt x="15460" y="2178"/>
                      <a:pt x="16725" y="6606"/>
                    </a:cubicBezTo>
                    <a:lnTo>
                      <a:pt x="24315" y="38861"/>
                    </a:lnTo>
                    <a:lnTo>
                      <a:pt x="57835" y="33169"/>
                    </a:lnTo>
                    <a:cubicBezTo>
                      <a:pt x="62262" y="32537"/>
                      <a:pt x="66689" y="35699"/>
                      <a:pt x="67322" y="40126"/>
                    </a:cubicBezTo>
                    <a:cubicBezTo>
                      <a:pt x="67954" y="44553"/>
                      <a:pt x="64792" y="48980"/>
                      <a:pt x="60365" y="49613"/>
                    </a:cubicBezTo>
                    <a:lnTo>
                      <a:pt x="19255" y="56570"/>
                    </a:lnTo>
                    <a:cubicBezTo>
                      <a:pt x="18622" y="56570"/>
                      <a:pt x="17990" y="56570"/>
                      <a:pt x="17358" y="565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37" name="Google Shape;9237;p85"/>
              <p:cNvSpPr/>
              <p:nvPr/>
            </p:nvSpPr>
            <p:spPr>
              <a:xfrm>
                <a:off x="4860896" y="4416019"/>
                <a:ext cx="54814" cy="68631"/>
              </a:xfrm>
              <a:custGeom>
                <a:avLst/>
                <a:gdLst/>
                <a:ahLst/>
                <a:cxnLst/>
                <a:rect l="l" t="t" r="r" b="b"/>
                <a:pathLst>
                  <a:path w="54814" h="68631" extrusionOk="0">
                    <a:moveTo>
                      <a:pt x="17173" y="68631"/>
                    </a:moveTo>
                    <a:cubicBezTo>
                      <a:pt x="13379" y="68631"/>
                      <a:pt x="10216" y="66101"/>
                      <a:pt x="8951" y="62307"/>
                    </a:cubicBezTo>
                    <a:lnTo>
                      <a:pt x="97" y="21197"/>
                    </a:lnTo>
                    <a:cubicBezTo>
                      <a:pt x="-536" y="16770"/>
                      <a:pt x="1994" y="12975"/>
                      <a:pt x="5789" y="11710"/>
                    </a:cubicBezTo>
                    <a:lnTo>
                      <a:pt x="44369" y="326"/>
                    </a:lnTo>
                    <a:cubicBezTo>
                      <a:pt x="48796" y="-939"/>
                      <a:pt x="53223" y="1591"/>
                      <a:pt x="54488" y="6018"/>
                    </a:cubicBezTo>
                    <a:cubicBezTo>
                      <a:pt x="55753" y="10445"/>
                      <a:pt x="53223" y="14872"/>
                      <a:pt x="48796" y="16137"/>
                    </a:cubicBezTo>
                    <a:lnTo>
                      <a:pt x="17173" y="24992"/>
                    </a:lnTo>
                    <a:lnTo>
                      <a:pt x="24130" y="58512"/>
                    </a:lnTo>
                    <a:cubicBezTo>
                      <a:pt x="24763" y="62939"/>
                      <a:pt x="22233" y="67366"/>
                      <a:pt x="17806" y="67999"/>
                    </a:cubicBezTo>
                    <a:cubicBezTo>
                      <a:pt x="18438" y="68631"/>
                      <a:pt x="17806" y="68631"/>
                      <a:pt x="17173" y="686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nvGrpSpPr>
              <p:cNvPr id="9238" name="Google Shape;9238;p85"/>
              <p:cNvGrpSpPr/>
              <p:nvPr/>
            </p:nvGrpSpPr>
            <p:grpSpPr>
              <a:xfrm>
                <a:off x="4515037" y="4323373"/>
                <a:ext cx="84750" cy="84116"/>
                <a:chOff x="4515037" y="4323373"/>
                <a:chExt cx="84750" cy="84116"/>
              </a:xfrm>
            </p:grpSpPr>
            <p:sp>
              <p:nvSpPr>
                <p:cNvPr id="9239" name="Google Shape;9239;p85"/>
                <p:cNvSpPr/>
                <p:nvPr/>
              </p:nvSpPr>
              <p:spPr>
                <a:xfrm>
                  <a:off x="4518200" y="4359423"/>
                  <a:ext cx="81587" cy="48066"/>
                </a:xfrm>
                <a:custGeom>
                  <a:avLst/>
                  <a:gdLst/>
                  <a:ahLst/>
                  <a:cxnLst/>
                  <a:rect l="l" t="t" r="r" b="b"/>
                  <a:pathLst>
                    <a:path w="81587" h="48066" extrusionOk="0">
                      <a:moveTo>
                        <a:pt x="51229" y="48067"/>
                      </a:moveTo>
                      <a:cubicBezTo>
                        <a:pt x="49964" y="48067"/>
                        <a:pt x="48699" y="47435"/>
                        <a:pt x="47435" y="46802"/>
                      </a:cubicBezTo>
                      <a:lnTo>
                        <a:pt x="0" y="20239"/>
                      </a:lnTo>
                      <a:lnTo>
                        <a:pt x="8222" y="5692"/>
                      </a:lnTo>
                      <a:lnTo>
                        <a:pt x="48699" y="28461"/>
                      </a:lnTo>
                      <a:lnTo>
                        <a:pt x="67673" y="0"/>
                      </a:lnTo>
                      <a:lnTo>
                        <a:pt x="81587" y="8854"/>
                      </a:lnTo>
                      <a:lnTo>
                        <a:pt x="58186" y="43640"/>
                      </a:lnTo>
                      <a:cubicBezTo>
                        <a:pt x="56921" y="46802"/>
                        <a:pt x="53759" y="48067"/>
                        <a:pt x="51229" y="4806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40" name="Google Shape;9240;p85"/>
                <p:cNvSpPr/>
                <p:nvPr/>
              </p:nvSpPr>
              <p:spPr>
                <a:xfrm>
                  <a:off x="4515037" y="4323373"/>
                  <a:ext cx="82852" cy="55656"/>
                </a:xfrm>
                <a:custGeom>
                  <a:avLst/>
                  <a:gdLst/>
                  <a:ahLst/>
                  <a:cxnLst/>
                  <a:rect l="l" t="t" r="r" b="b"/>
                  <a:pathLst>
                    <a:path w="82852" h="55656" extrusionOk="0">
                      <a:moveTo>
                        <a:pt x="48067" y="55656"/>
                      </a:moveTo>
                      <a:cubicBezTo>
                        <a:pt x="46802" y="55656"/>
                        <a:pt x="45537" y="55024"/>
                        <a:pt x="44272" y="54392"/>
                      </a:cubicBezTo>
                      <a:lnTo>
                        <a:pt x="0" y="29726"/>
                      </a:lnTo>
                      <a:lnTo>
                        <a:pt x="8222" y="15179"/>
                      </a:lnTo>
                      <a:lnTo>
                        <a:pt x="45537" y="36050"/>
                      </a:lnTo>
                      <a:lnTo>
                        <a:pt x="68938" y="0"/>
                      </a:lnTo>
                      <a:lnTo>
                        <a:pt x="82852" y="8854"/>
                      </a:lnTo>
                      <a:lnTo>
                        <a:pt x="55024" y="51229"/>
                      </a:lnTo>
                      <a:cubicBezTo>
                        <a:pt x="53127" y="54392"/>
                        <a:pt x="50597" y="55656"/>
                        <a:pt x="48067" y="5565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241" name="Google Shape;9241;p85"/>
              <p:cNvGrpSpPr/>
              <p:nvPr/>
            </p:nvGrpSpPr>
            <p:grpSpPr>
              <a:xfrm>
                <a:off x="4712917" y="4200676"/>
                <a:ext cx="74710" cy="80322"/>
                <a:chOff x="4712917" y="4200676"/>
                <a:chExt cx="74710" cy="80322"/>
              </a:xfrm>
            </p:grpSpPr>
            <p:sp>
              <p:nvSpPr>
                <p:cNvPr id="9242" name="Google Shape;9242;p85"/>
                <p:cNvSpPr/>
                <p:nvPr/>
              </p:nvSpPr>
              <p:spPr>
                <a:xfrm>
                  <a:off x="4712917" y="4200676"/>
                  <a:ext cx="57634" cy="61981"/>
                </a:xfrm>
                <a:custGeom>
                  <a:avLst/>
                  <a:gdLst/>
                  <a:ahLst/>
                  <a:cxnLst/>
                  <a:rect l="l" t="t" r="r" b="b"/>
                  <a:pathLst>
                    <a:path w="57634" h="61981" extrusionOk="0">
                      <a:moveTo>
                        <a:pt x="5140" y="61981"/>
                      </a:moveTo>
                      <a:lnTo>
                        <a:pt x="81" y="17709"/>
                      </a:lnTo>
                      <a:cubicBezTo>
                        <a:pt x="-552" y="13282"/>
                        <a:pt x="2610" y="9487"/>
                        <a:pt x="7038" y="8854"/>
                      </a:cubicBezTo>
                      <a:lnTo>
                        <a:pt x="54472" y="0"/>
                      </a:lnTo>
                      <a:lnTo>
                        <a:pt x="57634" y="15812"/>
                      </a:lnTo>
                      <a:lnTo>
                        <a:pt x="17157" y="23401"/>
                      </a:lnTo>
                      <a:lnTo>
                        <a:pt x="20952" y="60084"/>
                      </a:lnTo>
                      <a:lnTo>
                        <a:pt x="5140" y="6198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43" name="Google Shape;9243;p85"/>
                <p:cNvSpPr/>
                <p:nvPr/>
              </p:nvSpPr>
              <p:spPr>
                <a:xfrm>
                  <a:off x="4736950" y="4220282"/>
                  <a:ext cx="50677" cy="60716"/>
                </a:xfrm>
                <a:custGeom>
                  <a:avLst/>
                  <a:gdLst/>
                  <a:ahLst/>
                  <a:cxnLst/>
                  <a:rect l="l" t="t" r="r" b="b"/>
                  <a:pathLst>
                    <a:path w="50677" h="60716" extrusionOk="0">
                      <a:moveTo>
                        <a:pt x="5141" y="60716"/>
                      </a:moveTo>
                      <a:lnTo>
                        <a:pt x="81" y="16444"/>
                      </a:lnTo>
                      <a:cubicBezTo>
                        <a:pt x="-551" y="12017"/>
                        <a:pt x="2611" y="8222"/>
                        <a:pt x="6406" y="7590"/>
                      </a:cubicBezTo>
                      <a:lnTo>
                        <a:pt x="47515" y="0"/>
                      </a:lnTo>
                      <a:lnTo>
                        <a:pt x="50678" y="15812"/>
                      </a:lnTo>
                      <a:lnTo>
                        <a:pt x="16525" y="22136"/>
                      </a:lnTo>
                      <a:lnTo>
                        <a:pt x="20952" y="58819"/>
                      </a:lnTo>
                      <a:lnTo>
                        <a:pt x="5141" y="60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244" name="Google Shape;9244;p85"/>
              <p:cNvGrpSpPr/>
              <p:nvPr/>
            </p:nvGrpSpPr>
            <p:grpSpPr>
              <a:xfrm>
                <a:off x="4632043" y="4414447"/>
                <a:ext cx="82462" cy="91074"/>
                <a:chOff x="4632043" y="4414447"/>
                <a:chExt cx="82462" cy="91074"/>
              </a:xfrm>
            </p:grpSpPr>
            <p:sp>
              <p:nvSpPr>
                <p:cNvPr id="9245" name="Google Shape;9245;p85"/>
                <p:cNvSpPr/>
                <p:nvPr/>
              </p:nvSpPr>
              <p:spPr>
                <a:xfrm>
                  <a:off x="4664930" y="4425199"/>
                  <a:ext cx="49575" cy="80322"/>
                </a:xfrm>
                <a:custGeom>
                  <a:avLst/>
                  <a:gdLst/>
                  <a:ahLst/>
                  <a:cxnLst/>
                  <a:rect l="l" t="t" r="r" b="b"/>
                  <a:pathLst>
                    <a:path w="49575" h="80322" extrusionOk="0">
                      <a:moveTo>
                        <a:pt x="12017" y="80322"/>
                      </a:moveTo>
                      <a:lnTo>
                        <a:pt x="0" y="68938"/>
                      </a:lnTo>
                      <a:lnTo>
                        <a:pt x="29726" y="37948"/>
                      </a:lnTo>
                      <a:lnTo>
                        <a:pt x="5692" y="10752"/>
                      </a:lnTo>
                      <a:lnTo>
                        <a:pt x="17709" y="0"/>
                      </a:lnTo>
                      <a:lnTo>
                        <a:pt x="47435" y="32888"/>
                      </a:lnTo>
                      <a:cubicBezTo>
                        <a:pt x="50597" y="36050"/>
                        <a:pt x="49964" y="41110"/>
                        <a:pt x="47435" y="44272"/>
                      </a:cubicBezTo>
                      <a:lnTo>
                        <a:pt x="12017" y="8032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46" name="Google Shape;9246;p85"/>
                <p:cNvSpPr/>
                <p:nvPr/>
              </p:nvSpPr>
              <p:spPr>
                <a:xfrm>
                  <a:off x="4632043" y="4414447"/>
                  <a:ext cx="53600" cy="87911"/>
                </a:xfrm>
                <a:custGeom>
                  <a:avLst/>
                  <a:gdLst/>
                  <a:ahLst/>
                  <a:cxnLst/>
                  <a:rect l="l" t="t" r="r" b="b"/>
                  <a:pathLst>
                    <a:path w="53600" h="87911" extrusionOk="0">
                      <a:moveTo>
                        <a:pt x="18974" y="87912"/>
                      </a:moveTo>
                      <a:lnTo>
                        <a:pt x="6957" y="76528"/>
                      </a:lnTo>
                      <a:lnTo>
                        <a:pt x="34153" y="48067"/>
                      </a:lnTo>
                      <a:lnTo>
                        <a:pt x="0" y="11384"/>
                      </a:lnTo>
                      <a:lnTo>
                        <a:pt x="12017" y="0"/>
                      </a:lnTo>
                      <a:lnTo>
                        <a:pt x="51229" y="42375"/>
                      </a:lnTo>
                      <a:cubicBezTo>
                        <a:pt x="54392" y="45537"/>
                        <a:pt x="54392" y="50597"/>
                        <a:pt x="51229" y="53759"/>
                      </a:cubicBezTo>
                      <a:lnTo>
                        <a:pt x="18974" y="8791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247" name="Google Shape;9247;p85"/>
              <p:cNvGrpSpPr/>
              <p:nvPr/>
            </p:nvGrpSpPr>
            <p:grpSpPr>
              <a:xfrm>
                <a:off x="4741458" y="4375154"/>
                <a:ext cx="79057" cy="82300"/>
                <a:chOff x="4741458" y="4375154"/>
                <a:chExt cx="79057" cy="82300"/>
              </a:xfrm>
            </p:grpSpPr>
            <p:sp>
              <p:nvSpPr>
                <p:cNvPr id="9248" name="Google Shape;9248;p85"/>
                <p:cNvSpPr/>
                <p:nvPr/>
              </p:nvSpPr>
              <p:spPr>
                <a:xfrm>
                  <a:off x="4764227" y="4375154"/>
                  <a:ext cx="56288" cy="58899"/>
                </a:xfrm>
                <a:custGeom>
                  <a:avLst/>
                  <a:gdLst/>
                  <a:ahLst/>
                  <a:cxnLst/>
                  <a:rect l="l" t="t" r="r" b="b"/>
                  <a:pathLst>
                    <a:path w="56288" h="58899" extrusionOk="0">
                      <a:moveTo>
                        <a:pt x="40477" y="58899"/>
                      </a:moveTo>
                      <a:lnTo>
                        <a:pt x="32888" y="16525"/>
                      </a:lnTo>
                      <a:lnTo>
                        <a:pt x="1897" y="19687"/>
                      </a:lnTo>
                      <a:lnTo>
                        <a:pt x="0" y="3875"/>
                      </a:lnTo>
                      <a:lnTo>
                        <a:pt x="38580" y="81"/>
                      </a:lnTo>
                      <a:cubicBezTo>
                        <a:pt x="43007" y="-552"/>
                        <a:pt x="46802" y="2610"/>
                        <a:pt x="47435" y="7038"/>
                      </a:cubicBezTo>
                      <a:lnTo>
                        <a:pt x="56289" y="56370"/>
                      </a:lnTo>
                      <a:lnTo>
                        <a:pt x="40477" y="5889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49" name="Google Shape;9249;p85"/>
                <p:cNvSpPr/>
                <p:nvPr/>
              </p:nvSpPr>
              <p:spPr>
                <a:xfrm>
                  <a:off x="4741458" y="4397923"/>
                  <a:ext cx="62613" cy="59531"/>
                </a:xfrm>
                <a:custGeom>
                  <a:avLst/>
                  <a:gdLst/>
                  <a:ahLst/>
                  <a:cxnLst/>
                  <a:rect l="l" t="t" r="r" b="b"/>
                  <a:pathLst>
                    <a:path w="62613" h="59531" extrusionOk="0">
                      <a:moveTo>
                        <a:pt x="46170" y="59532"/>
                      </a:moveTo>
                      <a:lnTo>
                        <a:pt x="38580" y="17157"/>
                      </a:lnTo>
                      <a:lnTo>
                        <a:pt x="1897" y="21584"/>
                      </a:lnTo>
                      <a:lnTo>
                        <a:pt x="0" y="5140"/>
                      </a:lnTo>
                      <a:lnTo>
                        <a:pt x="44272" y="81"/>
                      </a:lnTo>
                      <a:cubicBezTo>
                        <a:pt x="48699" y="-552"/>
                        <a:pt x="52494" y="2610"/>
                        <a:pt x="53127" y="7038"/>
                      </a:cubicBezTo>
                      <a:lnTo>
                        <a:pt x="62614" y="57002"/>
                      </a:lnTo>
                      <a:lnTo>
                        <a:pt x="46170" y="5953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250" name="Google Shape;9250;p85"/>
              <p:cNvGrpSpPr/>
              <p:nvPr/>
            </p:nvGrpSpPr>
            <p:grpSpPr>
              <a:xfrm>
                <a:off x="4574392" y="4191822"/>
                <a:ext cx="82316" cy="86646"/>
                <a:chOff x="4574392" y="4191822"/>
                <a:chExt cx="82316" cy="86646"/>
              </a:xfrm>
            </p:grpSpPr>
            <p:sp>
              <p:nvSpPr>
                <p:cNvPr id="9251" name="Google Shape;9251;p85"/>
                <p:cNvSpPr/>
                <p:nvPr/>
              </p:nvSpPr>
              <p:spPr>
                <a:xfrm>
                  <a:off x="4574392" y="4205103"/>
                  <a:ext cx="53223" cy="73365"/>
                </a:xfrm>
                <a:custGeom>
                  <a:avLst/>
                  <a:gdLst/>
                  <a:ahLst/>
                  <a:cxnLst/>
                  <a:rect l="l" t="t" r="r" b="b"/>
                  <a:pathLst>
                    <a:path w="53223" h="73365" extrusionOk="0">
                      <a:moveTo>
                        <a:pt x="48796" y="73365"/>
                      </a:moveTo>
                      <a:lnTo>
                        <a:pt x="5789" y="59451"/>
                      </a:lnTo>
                      <a:cubicBezTo>
                        <a:pt x="1994" y="58186"/>
                        <a:pt x="-536" y="53759"/>
                        <a:pt x="97" y="49964"/>
                      </a:cubicBezTo>
                      <a:lnTo>
                        <a:pt x="12746" y="0"/>
                      </a:lnTo>
                      <a:lnTo>
                        <a:pt x="28558" y="3795"/>
                      </a:lnTo>
                      <a:lnTo>
                        <a:pt x="17806" y="46802"/>
                      </a:lnTo>
                      <a:lnTo>
                        <a:pt x="53223" y="58186"/>
                      </a:lnTo>
                      <a:lnTo>
                        <a:pt x="48796" y="7336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52" name="Google Shape;9252;p85"/>
                <p:cNvSpPr/>
                <p:nvPr/>
              </p:nvSpPr>
              <p:spPr>
                <a:xfrm>
                  <a:off x="4600323" y="4191822"/>
                  <a:ext cx="56385" cy="72100"/>
                </a:xfrm>
                <a:custGeom>
                  <a:avLst/>
                  <a:gdLst/>
                  <a:ahLst/>
                  <a:cxnLst/>
                  <a:rect l="l" t="t" r="r" b="b"/>
                  <a:pathLst>
                    <a:path w="56385" h="72100" extrusionOk="0">
                      <a:moveTo>
                        <a:pt x="51326" y="72100"/>
                      </a:moveTo>
                      <a:lnTo>
                        <a:pt x="5789" y="57554"/>
                      </a:lnTo>
                      <a:cubicBezTo>
                        <a:pt x="1994" y="56289"/>
                        <a:pt x="-536" y="51862"/>
                        <a:pt x="97" y="48067"/>
                      </a:cubicBezTo>
                      <a:lnTo>
                        <a:pt x="12114" y="0"/>
                      </a:lnTo>
                      <a:lnTo>
                        <a:pt x="27925" y="3795"/>
                      </a:lnTo>
                      <a:lnTo>
                        <a:pt x="17806" y="44272"/>
                      </a:lnTo>
                      <a:lnTo>
                        <a:pt x="56386" y="56921"/>
                      </a:lnTo>
                      <a:lnTo>
                        <a:pt x="51326" y="7210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grpSp>
        <p:nvGrpSpPr>
          <p:cNvPr id="9253" name="Google Shape;9253;p85"/>
          <p:cNvGrpSpPr/>
          <p:nvPr/>
        </p:nvGrpSpPr>
        <p:grpSpPr>
          <a:xfrm>
            <a:off x="5463093" y="3527622"/>
            <a:ext cx="758008" cy="2475217"/>
            <a:chOff x="4922073" y="3703187"/>
            <a:chExt cx="758008" cy="2475217"/>
          </a:xfrm>
        </p:grpSpPr>
        <p:sp>
          <p:nvSpPr>
            <p:cNvPr id="9254" name="Google Shape;9254;p85"/>
            <p:cNvSpPr/>
            <p:nvPr/>
          </p:nvSpPr>
          <p:spPr>
            <a:xfrm>
              <a:off x="4922073" y="5799400"/>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Log</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Monitoring</a:t>
              </a:r>
              <a:endParaRPr/>
            </a:p>
          </p:txBody>
        </p:sp>
        <p:cxnSp>
          <p:nvCxnSpPr>
            <p:cNvPr id="9255" name="Google Shape;9255;p85"/>
            <p:cNvCxnSpPr/>
            <p:nvPr/>
          </p:nvCxnSpPr>
          <p:spPr>
            <a:xfrm>
              <a:off x="5301076" y="3703187"/>
              <a:ext cx="0" cy="1554480"/>
            </a:xfrm>
            <a:prstGeom prst="straightConnector1">
              <a:avLst/>
            </a:prstGeom>
            <a:noFill/>
            <a:ln w="12700" cap="flat" cmpd="sng">
              <a:solidFill>
                <a:schemeClr val="dk1"/>
              </a:solidFill>
              <a:prstDash val="solid"/>
              <a:miter lim="800000"/>
              <a:headEnd type="none" w="sm" len="sm"/>
              <a:tailEnd type="none" w="sm" len="sm"/>
            </a:ln>
          </p:spPr>
        </p:cxnSp>
        <p:sp>
          <p:nvSpPr>
            <p:cNvPr id="9256" name="Google Shape;9256;p85"/>
            <p:cNvSpPr/>
            <p:nvPr/>
          </p:nvSpPr>
          <p:spPr>
            <a:xfrm rot="10800000">
              <a:off x="5061016" y="524966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grpSp>
          <p:nvGrpSpPr>
            <p:cNvPr id="9257" name="Google Shape;9257;p85" descr="Filtered Data&#10;"/>
            <p:cNvGrpSpPr/>
            <p:nvPr/>
          </p:nvGrpSpPr>
          <p:grpSpPr>
            <a:xfrm>
              <a:off x="5163916" y="5354825"/>
              <a:ext cx="273749" cy="273180"/>
              <a:chOff x="7128581" y="1952373"/>
              <a:chExt cx="597018" cy="595777"/>
            </a:xfrm>
          </p:grpSpPr>
          <p:sp>
            <p:nvSpPr>
              <p:cNvPr id="9258" name="Google Shape;9258;p85"/>
              <p:cNvSpPr/>
              <p:nvPr/>
            </p:nvSpPr>
            <p:spPr>
              <a:xfrm>
                <a:off x="7314912" y="1952373"/>
                <a:ext cx="229427" cy="595777"/>
              </a:xfrm>
              <a:custGeom>
                <a:avLst/>
                <a:gdLst/>
                <a:ahLst/>
                <a:cxnLst/>
                <a:rect l="l" t="t" r="r" b="b"/>
                <a:pathLst>
                  <a:path w="229427" h="595777" extrusionOk="0">
                    <a:moveTo>
                      <a:pt x="58941" y="595777"/>
                    </a:moveTo>
                    <a:lnTo>
                      <a:pt x="0" y="595777"/>
                    </a:lnTo>
                    <a:lnTo>
                      <a:pt x="0" y="576804"/>
                    </a:lnTo>
                    <a:lnTo>
                      <a:pt x="48167" y="576804"/>
                    </a:lnTo>
                    <a:lnTo>
                      <a:pt x="207879" y="297889"/>
                    </a:lnTo>
                    <a:lnTo>
                      <a:pt x="48167" y="18974"/>
                    </a:lnTo>
                    <a:lnTo>
                      <a:pt x="0" y="18974"/>
                    </a:lnTo>
                    <a:lnTo>
                      <a:pt x="0" y="0"/>
                    </a:lnTo>
                    <a:lnTo>
                      <a:pt x="58941" y="0"/>
                    </a:lnTo>
                    <a:lnTo>
                      <a:pt x="229428" y="29788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nvGrpSpPr>
              <p:cNvPr id="9259" name="Google Shape;9259;p85"/>
              <p:cNvGrpSpPr/>
              <p:nvPr/>
            </p:nvGrpSpPr>
            <p:grpSpPr>
              <a:xfrm>
                <a:off x="7253435" y="2016251"/>
                <a:ext cx="347310" cy="35417"/>
                <a:chOff x="7253435" y="2016251"/>
                <a:chExt cx="347310" cy="35417"/>
              </a:xfrm>
            </p:grpSpPr>
            <p:sp>
              <p:nvSpPr>
                <p:cNvPr id="9260" name="Google Shape;9260;p85"/>
                <p:cNvSpPr/>
                <p:nvPr/>
              </p:nvSpPr>
              <p:spPr>
                <a:xfrm>
                  <a:off x="7253435" y="2016251"/>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61" name="Google Shape;9261;p85"/>
                <p:cNvSpPr/>
                <p:nvPr/>
              </p:nvSpPr>
              <p:spPr>
                <a:xfrm>
                  <a:off x="7315545" y="2016251"/>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62" name="Google Shape;9262;p85"/>
                <p:cNvSpPr/>
                <p:nvPr/>
              </p:nvSpPr>
              <p:spPr>
                <a:xfrm>
                  <a:off x="7378290" y="2016251"/>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63" name="Google Shape;9263;p85"/>
                <p:cNvSpPr/>
                <p:nvPr/>
              </p:nvSpPr>
              <p:spPr>
                <a:xfrm>
                  <a:off x="7503144" y="2016251"/>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64" name="Google Shape;9264;p85"/>
                <p:cNvSpPr/>
                <p:nvPr/>
              </p:nvSpPr>
              <p:spPr>
                <a:xfrm>
                  <a:off x="7565254" y="2016251"/>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265" name="Google Shape;9265;p85"/>
              <p:cNvGrpSpPr/>
              <p:nvPr/>
            </p:nvGrpSpPr>
            <p:grpSpPr>
              <a:xfrm>
                <a:off x="7315545" y="2102898"/>
                <a:ext cx="347310" cy="35417"/>
                <a:chOff x="7315545" y="2102898"/>
                <a:chExt cx="347310" cy="35417"/>
              </a:xfrm>
            </p:grpSpPr>
            <p:sp>
              <p:nvSpPr>
                <p:cNvPr id="9266" name="Google Shape;9266;p85"/>
                <p:cNvSpPr/>
                <p:nvPr/>
              </p:nvSpPr>
              <p:spPr>
                <a:xfrm>
                  <a:off x="7315545" y="2102898"/>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67" name="Google Shape;9267;p85"/>
                <p:cNvSpPr/>
                <p:nvPr/>
              </p:nvSpPr>
              <p:spPr>
                <a:xfrm>
                  <a:off x="7378290" y="2102898"/>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68" name="Google Shape;9268;p85"/>
                <p:cNvSpPr/>
                <p:nvPr/>
              </p:nvSpPr>
              <p:spPr>
                <a:xfrm>
                  <a:off x="7627364" y="2102898"/>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269" name="Google Shape;9269;p85"/>
              <p:cNvGrpSpPr/>
              <p:nvPr/>
            </p:nvGrpSpPr>
            <p:grpSpPr>
              <a:xfrm>
                <a:off x="7191959" y="2189545"/>
                <a:ext cx="533640" cy="35417"/>
                <a:chOff x="7191959" y="2189545"/>
                <a:chExt cx="533640" cy="35417"/>
              </a:xfrm>
            </p:grpSpPr>
            <p:sp>
              <p:nvSpPr>
                <p:cNvPr id="9270" name="Google Shape;9270;p85"/>
                <p:cNvSpPr/>
                <p:nvPr/>
              </p:nvSpPr>
              <p:spPr>
                <a:xfrm>
                  <a:off x="7253435"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71" name="Google Shape;9271;p85"/>
                <p:cNvSpPr/>
                <p:nvPr/>
              </p:nvSpPr>
              <p:spPr>
                <a:xfrm>
                  <a:off x="7191959"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72" name="Google Shape;9272;p85"/>
                <p:cNvSpPr/>
                <p:nvPr/>
              </p:nvSpPr>
              <p:spPr>
                <a:xfrm>
                  <a:off x="7315545"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73" name="Google Shape;9273;p85"/>
                <p:cNvSpPr/>
                <p:nvPr/>
              </p:nvSpPr>
              <p:spPr>
                <a:xfrm>
                  <a:off x="7378290"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74" name="Google Shape;9274;p85"/>
                <p:cNvSpPr/>
                <p:nvPr/>
              </p:nvSpPr>
              <p:spPr>
                <a:xfrm>
                  <a:off x="7440400"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75" name="Google Shape;9275;p85"/>
                <p:cNvSpPr/>
                <p:nvPr/>
              </p:nvSpPr>
              <p:spPr>
                <a:xfrm>
                  <a:off x="7627364"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76" name="Google Shape;9276;p85"/>
                <p:cNvSpPr/>
                <p:nvPr/>
              </p:nvSpPr>
              <p:spPr>
                <a:xfrm>
                  <a:off x="7690108"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277" name="Google Shape;9277;p85"/>
              <p:cNvGrpSpPr/>
              <p:nvPr/>
            </p:nvGrpSpPr>
            <p:grpSpPr>
              <a:xfrm>
                <a:off x="7128581" y="2275560"/>
                <a:ext cx="472164" cy="35417"/>
                <a:chOff x="7128581" y="2275560"/>
                <a:chExt cx="472164" cy="35417"/>
              </a:xfrm>
            </p:grpSpPr>
            <p:sp>
              <p:nvSpPr>
                <p:cNvPr id="9278" name="Google Shape;9278;p85"/>
                <p:cNvSpPr/>
                <p:nvPr/>
              </p:nvSpPr>
              <p:spPr>
                <a:xfrm>
                  <a:off x="7253435"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79" name="Google Shape;9279;p85"/>
                <p:cNvSpPr/>
                <p:nvPr/>
              </p:nvSpPr>
              <p:spPr>
                <a:xfrm>
                  <a:off x="7191325"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80" name="Google Shape;9280;p85"/>
                <p:cNvSpPr/>
                <p:nvPr/>
              </p:nvSpPr>
              <p:spPr>
                <a:xfrm>
                  <a:off x="7128581"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81" name="Google Shape;9281;p85"/>
                <p:cNvSpPr/>
                <p:nvPr/>
              </p:nvSpPr>
              <p:spPr>
                <a:xfrm>
                  <a:off x="7315545"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82" name="Google Shape;9282;p85"/>
                <p:cNvSpPr/>
                <p:nvPr/>
              </p:nvSpPr>
              <p:spPr>
                <a:xfrm>
                  <a:off x="7378290"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83" name="Google Shape;9283;p85"/>
                <p:cNvSpPr/>
                <p:nvPr/>
              </p:nvSpPr>
              <p:spPr>
                <a:xfrm>
                  <a:off x="7440400"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84" name="Google Shape;9284;p85"/>
                <p:cNvSpPr/>
                <p:nvPr/>
              </p:nvSpPr>
              <p:spPr>
                <a:xfrm>
                  <a:off x="7503144"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85" name="Google Shape;9285;p85"/>
                <p:cNvSpPr/>
                <p:nvPr/>
              </p:nvSpPr>
              <p:spPr>
                <a:xfrm>
                  <a:off x="7565254"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286" name="Google Shape;9286;p85"/>
              <p:cNvGrpSpPr/>
              <p:nvPr/>
            </p:nvGrpSpPr>
            <p:grpSpPr>
              <a:xfrm>
                <a:off x="7191325" y="2362207"/>
                <a:ext cx="534274" cy="35417"/>
                <a:chOff x="7191325" y="2362207"/>
                <a:chExt cx="534274" cy="35417"/>
              </a:xfrm>
            </p:grpSpPr>
            <p:sp>
              <p:nvSpPr>
                <p:cNvPr id="9287" name="Google Shape;9287;p85"/>
                <p:cNvSpPr/>
                <p:nvPr/>
              </p:nvSpPr>
              <p:spPr>
                <a:xfrm>
                  <a:off x="7253435"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88" name="Google Shape;9288;p85"/>
                <p:cNvSpPr/>
                <p:nvPr/>
              </p:nvSpPr>
              <p:spPr>
                <a:xfrm>
                  <a:off x="7191325"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89" name="Google Shape;9289;p85"/>
                <p:cNvSpPr/>
                <p:nvPr/>
              </p:nvSpPr>
              <p:spPr>
                <a:xfrm>
                  <a:off x="7315545"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90" name="Google Shape;9290;p85"/>
                <p:cNvSpPr/>
                <p:nvPr/>
              </p:nvSpPr>
              <p:spPr>
                <a:xfrm>
                  <a:off x="7378290"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91" name="Google Shape;9291;p85"/>
                <p:cNvSpPr/>
                <p:nvPr/>
              </p:nvSpPr>
              <p:spPr>
                <a:xfrm>
                  <a:off x="7503144"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92" name="Google Shape;9292;p85"/>
                <p:cNvSpPr/>
                <p:nvPr/>
              </p:nvSpPr>
              <p:spPr>
                <a:xfrm>
                  <a:off x="7565254"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93" name="Google Shape;9293;p85"/>
                <p:cNvSpPr/>
                <p:nvPr/>
              </p:nvSpPr>
              <p:spPr>
                <a:xfrm>
                  <a:off x="7690108"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294" name="Google Shape;9294;p85"/>
              <p:cNvGrpSpPr/>
              <p:nvPr/>
            </p:nvGrpSpPr>
            <p:grpSpPr>
              <a:xfrm>
                <a:off x="7253435" y="2448854"/>
                <a:ext cx="409420" cy="35417"/>
                <a:chOff x="7253435" y="2448854"/>
                <a:chExt cx="409420" cy="35417"/>
              </a:xfrm>
            </p:grpSpPr>
            <p:sp>
              <p:nvSpPr>
                <p:cNvPr id="9295" name="Google Shape;9295;p85"/>
                <p:cNvSpPr/>
                <p:nvPr/>
              </p:nvSpPr>
              <p:spPr>
                <a:xfrm>
                  <a:off x="7253435"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96" name="Google Shape;9296;p85"/>
                <p:cNvSpPr/>
                <p:nvPr/>
              </p:nvSpPr>
              <p:spPr>
                <a:xfrm>
                  <a:off x="7315545"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97" name="Google Shape;9297;p85"/>
                <p:cNvSpPr/>
                <p:nvPr/>
              </p:nvSpPr>
              <p:spPr>
                <a:xfrm>
                  <a:off x="7378290"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98" name="Google Shape;9298;p85"/>
                <p:cNvSpPr/>
                <p:nvPr/>
              </p:nvSpPr>
              <p:spPr>
                <a:xfrm>
                  <a:off x="7503144"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299" name="Google Shape;9299;p85"/>
                <p:cNvSpPr/>
                <p:nvPr/>
              </p:nvSpPr>
              <p:spPr>
                <a:xfrm>
                  <a:off x="7565254"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00" name="Google Shape;9300;p85"/>
                <p:cNvSpPr/>
                <p:nvPr/>
              </p:nvSpPr>
              <p:spPr>
                <a:xfrm>
                  <a:off x="7627364"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grpSp>
        <p:nvGrpSpPr>
          <p:cNvPr id="9301" name="Google Shape;9301;p85"/>
          <p:cNvGrpSpPr/>
          <p:nvPr/>
        </p:nvGrpSpPr>
        <p:grpSpPr>
          <a:xfrm>
            <a:off x="8146291" y="1261010"/>
            <a:ext cx="758008" cy="1317802"/>
            <a:chOff x="8233691" y="1436575"/>
            <a:chExt cx="758008" cy="1317802"/>
          </a:xfrm>
        </p:grpSpPr>
        <p:cxnSp>
          <p:nvCxnSpPr>
            <p:cNvPr id="9302" name="Google Shape;9302;p85"/>
            <p:cNvCxnSpPr/>
            <p:nvPr/>
          </p:nvCxnSpPr>
          <p:spPr>
            <a:xfrm rot="10800000">
              <a:off x="8612692" y="2388712"/>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303" name="Google Shape;9303;p85"/>
            <p:cNvSpPr/>
            <p:nvPr/>
          </p:nvSpPr>
          <p:spPr>
            <a:xfrm>
              <a:off x="8372632" y="1900043"/>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304" name="Google Shape;9304;p85"/>
            <p:cNvSpPr/>
            <p:nvPr/>
          </p:nvSpPr>
          <p:spPr>
            <a:xfrm>
              <a:off x="8233691" y="1436575"/>
              <a:ext cx="758008" cy="3790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High</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Availability</a:t>
              </a:r>
              <a:endParaRPr/>
            </a:p>
          </p:txBody>
        </p:sp>
        <p:grpSp>
          <p:nvGrpSpPr>
            <p:cNvPr id="9305" name="Google Shape;9305;p85" descr="vSAN HCI Mesh&#10;"/>
            <p:cNvGrpSpPr/>
            <p:nvPr/>
          </p:nvGrpSpPr>
          <p:grpSpPr>
            <a:xfrm>
              <a:off x="8475798" y="2006160"/>
              <a:ext cx="274320" cy="254154"/>
              <a:chOff x="3176259" y="5196894"/>
              <a:chExt cx="585026" cy="542018"/>
            </a:xfrm>
          </p:grpSpPr>
          <p:sp>
            <p:nvSpPr>
              <p:cNvPr id="9306" name="Google Shape;9306;p85"/>
              <p:cNvSpPr/>
              <p:nvPr/>
            </p:nvSpPr>
            <p:spPr>
              <a:xfrm>
                <a:off x="3178157" y="5197527"/>
                <a:ext cx="166336" cy="99928"/>
              </a:xfrm>
              <a:custGeom>
                <a:avLst/>
                <a:gdLst/>
                <a:ahLst/>
                <a:cxnLst/>
                <a:rect l="l" t="t" r="r" b="b"/>
                <a:pathLst>
                  <a:path w="166336" h="99928" extrusionOk="0">
                    <a:moveTo>
                      <a:pt x="82852" y="53127"/>
                    </a:moveTo>
                    <a:cubicBezTo>
                      <a:pt x="89177" y="53127"/>
                      <a:pt x="127757" y="52494"/>
                      <a:pt x="150525" y="43007"/>
                    </a:cubicBezTo>
                    <a:cubicBezTo>
                      <a:pt x="150525" y="53127"/>
                      <a:pt x="150525" y="65143"/>
                      <a:pt x="150525" y="70203"/>
                    </a:cubicBezTo>
                    <a:cubicBezTo>
                      <a:pt x="146731" y="74630"/>
                      <a:pt x="123330" y="82220"/>
                      <a:pt x="83485" y="82220"/>
                    </a:cubicBezTo>
                    <a:cubicBezTo>
                      <a:pt x="43007" y="82220"/>
                      <a:pt x="20239" y="74630"/>
                      <a:pt x="16444" y="70203"/>
                    </a:cubicBezTo>
                    <a:lnTo>
                      <a:pt x="16444" y="52494"/>
                    </a:lnTo>
                    <a:lnTo>
                      <a:pt x="632" y="52494"/>
                    </a:lnTo>
                    <a:lnTo>
                      <a:pt x="632" y="71468"/>
                    </a:lnTo>
                    <a:cubicBezTo>
                      <a:pt x="632" y="97399"/>
                      <a:pt x="75263" y="98031"/>
                      <a:pt x="83485" y="98031"/>
                    </a:cubicBezTo>
                    <a:cubicBezTo>
                      <a:pt x="89177" y="98031"/>
                      <a:pt x="128389" y="97399"/>
                      <a:pt x="150525" y="88544"/>
                    </a:cubicBezTo>
                    <a:lnTo>
                      <a:pt x="150525" y="99929"/>
                    </a:lnTo>
                    <a:lnTo>
                      <a:pt x="166337" y="99929"/>
                    </a:lnTo>
                    <a:lnTo>
                      <a:pt x="166337" y="80322"/>
                    </a:lnTo>
                    <a:lnTo>
                      <a:pt x="162542" y="80322"/>
                    </a:lnTo>
                    <a:cubicBezTo>
                      <a:pt x="165072" y="77793"/>
                      <a:pt x="166337" y="74630"/>
                      <a:pt x="166337" y="71468"/>
                    </a:cubicBezTo>
                    <a:cubicBezTo>
                      <a:pt x="166337" y="67041"/>
                      <a:pt x="166337" y="48067"/>
                      <a:pt x="166337" y="36683"/>
                    </a:cubicBezTo>
                    <a:lnTo>
                      <a:pt x="166337" y="27828"/>
                    </a:lnTo>
                    <a:lnTo>
                      <a:pt x="165705" y="27828"/>
                    </a:lnTo>
                    <a:cubicBezTo>
                      <a:pt x="165705" y="27196"/>
                      <a:pt x="165705" y="27196"/>
                      <a:pt x="165705" y="26563"/>
                    </a:cubicBezTo>
                    <a:cubicBezTo>
                      <a:pt x="165705" y="632"/>
                      <a:pt x="91074" y="0"/>
                      <a:pt x="82852" y="0"/>
                    </a:cubicBezTo>
                    <a:cubicBezTo>
                      <a:pt x="74630" y="0"/>
                      <a:pt x="0" y="632"/>
                      <a:pt x="0" y="26563"/>
                    </a:cubicBezTo>
                    <a:cubicBezTo>
                      <a:pt x="0" y="52494"/>
                      <a:pt x="73998" y="53127"/>
                      <a:pt x="82852" y="53127"/>
                    </a:cubicBezTo>
                    <a:close/>
                    <a:moveTo>
                      <a:pt x="82852" y="15812"/>
                    </a:moveTo>
                    <a:cubicBezTo>
                      <a:pt x="120800" y="15812"/>
                      <a:pt x="142936" y="22769"/>
                      <a:pt x="149261" y="26563"/>
                    </a:cubicBezTo>
                    <a:cubicBezTo>
                      <a:pt x="143568" y="30991"/>
                      <a:pt x="120800" y="37315"/>
                      <a:pt x="82852" y="37315"/>
                    </a:cubicBezTo>
                    <a:cubicBezTo>
                      <a:pt x="44905" y="37315"/>
                      <a:pt x="22769" y="30358"/>
                      <a:pt x="16444" y="26563"/>
                    </a:cubicBezTo>
                    <a:cubicBezTo>
                      <a:pt x="22136" y="22136"/>
                      <a:pt x="44905" y="15812"/>
                      <a:pt x="82852" y="158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07" name="Google Shape;9307;p85"/>
              <p:cNvSpPr/>
              <p:nvPr/>
            </p:nvSpPr>
            <p:spPr>
              <a:xfrm>
                <a:off x="3178157" y="5296823"/>
                <a:ext cx="39212" cy="42374"/>
              </a:xfrm>
              <a:custGeom>
                <a:avLst/>
                <a:gdLst/>
                <a:ahLst/>
                <a:cxnLst/>
                <a:rect l="l" t="t" r="r" b="b"/>
                <a:pathLst>
                  <a:path w="39212" h="42374" extrusionOk="0">
                    <a:moveTo>
                      <a:pt x="15812" y="18974"/>
                    </a:moveTo>
                    <a:lnTo>
                      <a:pt x="15812" y="0"/>
                    </a:lnTo>
                    <a:lnTo>
                      <a:pt x="0" y="0"/>
                    </a:lnTo>
                    <a:lnTo>
                      <a:pt x="0" y="19606"/>
                    </a:lnTo>
                    <a:cubicBezTo>
                      <a:pt x="0" y="30358"/>
                      <a:pt x="12017" y="37948"/>
                      <a:pt x="36050" y="42375"/>
                    </a:cubicBezTo>
                    <a:lnTo>
                      <a:pt x="39213" y="26563"/>
                    </a:lnTo>
                    <a:cubicBezTo>
                      <a:pt x="23401" y="24033"/>
                      <a:pt x="17076" y="20239"/>
                      <a:pt x="15812" y="189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08" name="Google Shape;9308;p85"/>
              <p:cNvSpPr/>
              <p:nvPr/>
            </p:nvSpPr>
            <p:spPr>
              <a:xfrm>
                <a:off x="3178157" y="5344258"/>
                <a:ext cx="37947" cy="42374"/>
              </a:xfrm>
              <a:custGeom>
                <a:avLst/>
                <a:gdLst/>
                <a:ahLst/>
                <a:cxnLst/>
                <a:rect l="l" t="t" r="r" b="b"/>
                <a:pathLst>
                  <a:path w="37947" h="42374" extrusionOk="0">
                    <a:moveTo>
                      <a:pt x="0" y="0"/>
                    </a:moveTo>
                    <a:lnTo>
                      <a:pt x="0" y="19606"/>
                    </a:lnTo>
                    <a:cubicBezTo>
                      <a:pt x="0" y="30358"/>
                      <a:pt x="11384" y="37315"/>
                      <a:pt x="34785" y="42375"/>
                    </a:cubicBezTo>
                    <a:lnTo>
                      <a:pt x="37948" y="26563"/>
                    </a:lnTo>
                    <a:cubicBezTo>
                      <a:pt x="23401" y="23401"/>
                      <a:pt x="17709" y="20239"/>
                      <a:pt x="15812" y="18974"/>
                    </a:cubicBezTo>
                    <a:lnTo>
                      <a:pt x="15812" y="0"/>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09" name="Google Shape;9309;p85"/>
              <p:cNvSpPr/>
              <p:nvPr/>
            </p:nvSpPr>
            <p:spPr>
              <a:xfrm>
                <a:off x="3412799" y="5341095"/>
                <a:ext cx="36682" cy="36682"/>
              </a:xfrm>
              <a:custGeom>
                <a:avLst/>
                <a:gdLst/>
                <a:ahLst/>
                <a:cxnLst/>
                <a:rect l="l" t="t" r="r" b="b"/>
                <a:pathLst>
                  <a:path w="36682" h="36682" extrusionOk="0">
                    <a:moveTo>
                      <a:pt x="18341" y="0"/>
                    </a:moveTo>
                    <a:cubicBezTo>
                      <a:pt x="8222" y="0"/>
                      <a:pt x="0" y="8222"/>
                      <a:pt x="0" y="18341"/>
                    </a:cubicBezTo>
                    <a:cubicBezTo>
                      <a:pt x="0" y="28461"/>
                      <a:pt x="8222" y="36683"/>
                      <a:pt x="18341" y="36683"/>
                    </a:cubicBezTo>
                    <a:cubicBezTo>
                      <a:pt x="28461" y="36683"/>
                      <a:pt x="36683" y="28461"/>
                      <a:pt x="36683" y="18341"/>
                    </a:cubicBezTo>
                    <a:cubicBezTo>
                      <a:pt x="36683" y="8222"/>
                      <a:pt x="27828" y="0"/>
                      <a:pt x="18341"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10" name="Google Shape;9310;p85"/>
              <p:cNvSpPr/>
              <p:nvPr/>
            </p:nvSpPr>
            <p:spPr>
              <a:xfrm>
                <a:off x="3261641" y="5340463"/>
                <a:ext cx="7589" cy="36682"/>
              </a:xfrm>
              <a:custGeom>
                <a:avLst/>
                <a:gdLst/>
                <a:ahLst/>
                <a:cxnLst/>
                <a:rect l="l" t="t" r="r" b="b"/>
                <a:pathLst>
                  <a:path w="7589" h="36682" extrusionOk="0">
                    <a:moveTo>
                      <a:pt x="0" y="0"/>
                    </a:moveTo>
                    <a:lnTo>
                      <a:pt x="7590" y="0"/>
                    </a:lnTo>
                    <a:lnTo>
                      <a:pt x="7590" y="36683"/>
                    </a:lnTo>
                    <a:lnTo>
                      <a:pt x="0" y="366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11" name="Google Shape;9311;p85"/>
              <p:cNvSpPr/>
              <p:nvPr/>
            </p:nvSpPr>
            <p:spPr>
              <a:xfrm>
                <a:off x="3286940" y="5340463"/>
                <a:ext cx="7589" cy="36682"/>
              </a:xfrm>
              <a:custGeom>
                <a:avLst/>
                <a:gdLst/>
                <a:ahLst/>
                <a:cxnLst/>
                <a:rect l="l" t="t" r="r" b="b"/>
                <a:pathLst>
                  <a:path w="7589" h="36682" extrusionOk="0">
                    <a:moveTo>
                      <a:pt x="0" y="0"/>
                    </a:moveTo>
                    <a:lnTo>
                      <a:pt x="7590" y="0"/>
                    </a:lnTo>
                    <a:lnTo>
                      <a:pt x="7590" y="36683"/>
                    </a:lnTo>
                    <a:lnTo>
                      <a:pt x="0" y="366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12" name="Google Shape;9312;p85"/>
              <p:cNvSpPr/>
              <p:nvPr/>
            </p:nvSpPr>
            <p:spPr>
              <a:xfrm>
                <a:off x="3312238" y="5340463"/>
                <a:ext cx="7589" cy="36682"/>
              </a:xfrm>
              <a:custGeom>
                <a:avLst/>
                <a:gdLst/>
                <a:ahLst/>
                <a:cxnLst/>
                <a:rect l="l" t="t" r="r" b="b"/>
                <a:pathLst>
                  <a:path w="7589" h="36682" extrusionOk="0">
                    <a:moveTo>
                      <a:pt x="0" y="0"/>
                    </a:moveTo>
                    <a:lnTo>
                      <a:pt x="7590" y="0"/>
                    </a:lnTo>
                    <a:lnTo>
                      <a:pt x="7590" y="36683"/>
                    </a:lnTo>
                    <a:lnTo>
                      <a:pt x="0" y="366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13" name="Google Shape;9313;p85"/>
              <p:cNvSpPr/>
              <p:nvPr/>
            </p:nvSpPr>
            <p:spPr>
              <a:xfrm>
                <a:off x="3336904" y="5340463"/>
                <a:ext cx="7589" cy="36682"/>
              </a:xfrm>
              <a:custGeom>
                <a:avLst/>
                <a:gdLst/>
                <a:ahLst/>
                <a:cxnLst/>
                <a:rect l="l" t="t" r="r" b="b"/>
                <a:pathLst>
                  <a:path w="7589" h="36682" extrusionOk="0">
                    <a:moveTo>
                      <a:pt x="0" y="0"/>
                    </a:moveTo>
                    <a:lnTo>
                      <a:pt x="7590" y="0"/>
                    </a:lnTo>
                    <a:lnTo>
                      <a:pt x="7590" y="36683"/>
                    </a:lnTo>
                    <a:lnTo>
                      <a:pt x="0" y="366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14" name="Google Shape;9314;p85"/>
              <p:cNvSpPr/>
              <p:nvPr/>
            </p:nvSpPr>
            <p:spPr>
              <a:xfrm>
                <a:off x="3362202" y="5340463"/>
                <a:ext cx="7589" cy="36682"/>
              </a:xfrm>
              <a:custGeom>
                <a:avLst/>
                <a:gdLst/>
                <a:ahLst/>
                <a:cxnLst/>
                <a:rect l="l" t="t" r="r" b="b"/>
                <a:pathLst>
                  <a:path w="7589" h="36682" extrusionOk="0">
                    <a:moveTo>
                      <a:pt x="0" y="0"/>
                    </a:moveTo>
                    <a:lnTo>
                      <a:pt x="7590" y="0"/>
                    </a:lnTo>
                    <a:lnTo>
                      <a:pt x="7590" y="36683"/>
                    </a:lnTo>
                    <a:lnTo>
                      <a:pt x="0" y="366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15" name="Google Shape;9315;p85"/>
              <p:cNvSpPr/>
              <p:nvPr/>
            </p:nvSpPr>
            <p:spPr>
              <a:xfrm>
                <a:off x="3594948" y="5404341"/>
                <a:ext cx="165710" cy="314965"/>
              </a:xfrm>
              <a:custGeom>
                <a:avLst/>
                <a:gdLst/>
                <a:ahLst/>
                <a:cxnLst/>
                <a:rect l="l" t="t" r="r" b="b"/>
                <a:pathLst>
                  <a:path w="165710" h="314965" extrusionOk="0">
                    <a:moveTo>
                      <a:pt x="94237" y="122065"/>
                    </a:moveTo>
                    <a:lnTo>
                      <a:pt x="94237" y="0"/>
                    </a:lnTo>
                    <a:lnTo>
                      <a:pt x="78425" y="0"/>
                    </a:lnTo>
                    <a:lnTo>
                      <a:pt x="78425" y="122065"/>
                    </a:lnTo>
                    <a:cubicBezTo>
                      <a:pt x="60084" y="122697"/>
                      <a:pt x="0" y="125227"/>
                      <a:pt x="0" y="148628"/>
                    </a:cubicBezTo>
                    <a:cubicBezTo>
                      <a:pt x="0" y="174559"/>
                      <a:pt x="74630" y="175191"/>
                      <a:pt x="82852" y="175191"/>
                    </a:cubicBezTo>
                    <a:cubicBezTo>
                      <a:pt x="88544" y="175191"/>
                      <a:pt x="127757" y="174559"/>
                      <a:pt x="149893" y="165705"/>
                    </a:cubicBezTo>
                    <a:lnTo>
                      <a:pt x="149893" y="192900"/>
                    </a:lnTo>
                    <a:cubicBezTo>
                      <a:pt x="146098" y="197328"/>
                      <a:pt x="122697" y="204917"/>
                      <a:pt x="82852" y="204917"/>
                    </a:cubicBezTo>
                    <a:cubicBezTo>
                      <a:pt x="42375" y="204917"/>
                      <a:pt x="19606" y="197328"/>
                      <a:pt x="15812" y="192900"/>
                    </a:cubicBezTo>
                    <a:cubicBezTo>
                      <a:pt x="15812" y="187841"/>
                      <a:pt x="16444" y="174559"/>
                      <a:pt x="16444" y="174559"/>
                    </a:cubicBezTo>
                    <a:lnTo>
                      <a:pt x="632" y="173927"/>
                    </a:lnTo>
                    <a:cubicBezTo>
                      <a:pt x="632" y="173927"/>
                      <a:pt x="0" y="188473"/>
                      <a:pt x="0" y="193533"/>
                    </a:cubicBezTo>
                    <a:cubicBezTo>
                      <a:pt x="0" y="219464"/>
                      <a:pt x="74630" y="220096"/>
                      <a:pt x="82852" y="220096"/>
                    </a:cubicBezTo>
                    <a:cubicBezTo>
                      <a:pt x="88544" y="220096"/>
                      <a:pt x="127757" y="219464"/>
                      <a:pt x="149893" y="210609"/>
                    </a:cubicBezTo>
                    <a:lnTo>
                      <a:pt x="149893" y="240335"/>
                    </a:lnTo>
                    <a:cubicBezTo>
                      <a:pt x="146731" y="243497"/>
                      <a:pt x="131552" y="249822"/>
                      <a:pt x="99296" y="251719"/>
                    </a:cubicBezTo>
                    <a:lnTo>
                      <a:pt x="99929" y="267531"/>
                    </a:lnTo>
                    <a:cubicBezTo>
                      <a:pt x="111945" y="266898"/>
                      <a:pt x="134714" y="264368"/>
                      <a:pt x="149893" y="258044"/>
                    </a:cubicBezTo>
                    <a:lnTo>
                      <a:pt x="149893" y="287769"/>
                    </a:lnTo>
                    <a:cubicBezTo>
                      <a:pt x="146731" y="290932"/>
                      <a:pt x="131552" y="297256"/>
                      <a:pt x="99296" y="299154"/>
                    </a:cubicBezTo>
                    <a:lnTo>
                      <a:pt x="99929" y="314965"/>
                    </a:lnTo>
                    <a:cubicBezTo>
                      <a:pt x="119535" y="313700"/>
                      <a:pt x="165705" y="308640"/>
                      <a:pt x="165705" y="288402"/>
                    </a:cubicBezTo>
                    <a:lnTo>
                      <a:pt x="165705" y="249822"/>
                    </a:lnTo>
                    <a:lnTo>
                      <a:pt x="161910" y="249822"/>
                    </a:lnTo>
                    <a:cubicBezTo>
                      <a:pt x="164440" y="247292"/>
                      <a:pt x="165705" y="244130"/>
                      <a:pt x="165705" y="240967"/>
                    </a:cubicBezTo>
                    <a:lnTo>
                      <a:pt x="165705" y="202387"/>
                    </a:lnTo>
                    <a:lnTo>
                      <a:pt x="161910" y="202387"/>
                    </a:lnTo>
                    <a:cubicBezTo>
                      <a:pt x="164440" y="199857"/>
                      <a:pt x="165705" y="196695"/>
                      <a:pt x="165705" y="193533"/>
                    </a:cubicBezTo>
                    <a:lnTo>
                      <a:pt x="165705" y="154953"/>
                    </a:lnTo>
                    <a:lnTo>
                      <a:pt x="163807" y="154953"/>
                    </a:lnTo>
                    <a:cubicBezTo>
                      <a:pt x="165072" y="153055"/>
                      <a:pt x="165705" y="150525"/>
                      <a:pt x="165705" y="148628"/>
                    </a:cubicBezTo>
                    <a:cubicBezTo>
                      <a:pt x="166337" y="127757"/>
                      <a:pt x="117638" y="122697"/>
                      <a:pt x="94237" y="122065"/>
                    </a:cubicBezTo>
                    <a:close/>
                    <a:moveTo>
                      <a:pt x="82852" y="159380"/>
                    </a:moveTo>
                    <a:cubicBezTo>
                      <a:pt x="44905" y="159380"/>
                      <a:pt x="22769" y="152423"/>
                      <a:pt x="16444" y="148628"/>
                    </a:cubicBezTo>
                    <a:cubicBezTo>
                      <a:pt x="22136" y="144201"/>
                      <a:pt x="44905" y="137876"/>
                      <a:pt x="82852" y="137876"/>
                    </a:cubicBezTo>
                    <a:cubicBezTo>
                      <a:pt x="120800" y="137876"/>
                      <a:pt x="142936" y="144833"/>
                      <a:pt x="149261" y="148628"/>
                    </a:cubicBezTo>
                    <a:cubicBezTo>
                      <a:pt x="143568" y="153055"/>
                      <a:pt x="120800" y="159380"/>
                      <a:pt x="82852" y="1593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16" name="Google Shape;9316;p85"/>
              <p:cNvSpPr/>
              <p:nvPr/>
            </p:nvSpPr>
            <p:spPr>
              <a:xfrm>
                <a:off x="3429876" y="5640881"/>
                <a:ext cx="252351" cy="93604"/>
              </a:xfrm>
              <a:custGeom>
                <a:avLst/>
                <a:gdLst/>
                <a:ahLst/>
                <a:cxnLst/>
                <a:rect l="l" t="t" r="r" b="b"/>
                <a:pathLst>
                  <a:path w="252351" h="93604" extrusionOk="0">
                    <a:moveTo>
                      <a:pt x="0" y="93604"/>
                    </a:moveTo>
                    <a:lnTo>
                      <a:pt x="252352" y="93604"/>
                    </a:lnTo>
                    <a:lnTo>
                      <a:pt x="252352" y="0"/>
                    </a:lnTo>
                    <a:lnTo>
                      <a:pt x="0" y="0"/>
                    </a:lnTo>
                    <a:lnTo>
                      <a:pt x="0" y="93604"/>
                    </a:lnTo>
                    <a:close/>
                    <a:moveTo>
                      <a:pt x="15812" y="15812"/>
                    </a:moveTo>
                    <a:lnTo>
                      <a:pt x="236540" y="15812"/>
                    </a:lnTo>
                    <a:lnTo>
                      <a:pt x="236540" y="77793"/>
                    </a:lnTo>
                    <a:lnTo>
                      <a:pt x="15812" y="77793"/>
                    </a:lnTo>
                    <a:lnTo>
                      <a:pt x="15812" y="1581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17" name="Google Shape;9317;p85"/>
              <p:cNvSpPr/>
              <p:nvPr/>
            </p:nvSpPr>
            <p:spPr>
              <a:xfrm>
                <a:off x="3607597" y="5669975"/>
                <a:ext cx="36682" cy="36682"/>
              </a:xfrm>
              <a:custGeom>
                <a:avLst/>
                <a:gdLst/>
                <a:ahLst/>
                <a:cxnLst/>
                <a:rect l="l" t="t" r="r" b="b"/>
                <a:pathLst>
                  <a:path w="36682" h="36682" extrusionOk="0">
                    <a:moveTo>
                      <a:pt x="18341" y="0"/>
                    </a:moveTo>
                    <a:cubicBezTo>
                      <a:pt x="8222" y="0"/>
                      <a:pt x="0" y="8222"/>
                      <a:pt x="0" y="18341"/>
                    </a:cubicBezTo>
                    <a:cubicBezTo>
                      <a:pt x="0" y="28461"/>
                      <a:pt x="8222" y="36683"/>
                      <a:pt x="18341" y="36683"/>
                    </a:cubicBezTo>
                    <a:cubicBezTo>
                      <a:pt x="28461" y="36683"/>
                      <a:pt x="36683" y="28461"/>
                      <a:pt x="36683" y="18341"/>
                    </a:cubicBezTo>
                    <a:cubicBezTo>
                      <a:pt x="36683" y="8222"/>
                      <a:pt x="27828" y="0"/>
                      <a:pt x="18341"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18" name="Google Shape;9318;p85"/>
              <p:cNvSpPr/>
              <p:nvPr/>
            </p:nvSpPr>
            <p:spPr>
              <a:xfrm>
                <a:off x="3461499" y="5669342"/>
                <a:ext cx="7589" cy="36682"/>
              </a:xfrm>
              <a:custGeom>
                <a:avLst/>
                <a:gdLst/>
                <a:ahLst/>
                <a:cxnLst/>
                <a:rect l="l" t="t" r="r" b="b"/>
                <a:pathLst>
                  <a:path w="7589" h="36682" extrusionOk="0">
                    <a:moveTo>
                      <a:pt x="0" y="0"/>
                    </a:moveTo>
                    <a:lnTo>
                      <a:pt x="7590" y="0"/>
                    </a:lnTo>
                    <a:lnTo>
                      <a:pt x="7590" y="36683"/>
                    </a:lnTo>
                    <a:lnTo>
                      <a:pt x="0" y="366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19" name="Google Shape;9319;p85"/>
              <p:cNvSpPr/>
              <p:nvPr/>
            </p:nvSpPr>
            <p:spPr>
              <a:xfrm>
                <a:off x="3486797" y="5669342"/>
                <a:ext cx="7589" cy="36682"/>
              </a:xfrm>
              <a:custGeom>
                <a:avLst/>
                <a:gdLst/>
                <a:ahLst/>
                <a:cxnLst/>
                <a:rect l="l" t="t" r="r" b="b"/>
                <a:pathLst>
                  <a:path w="7589" h="36682" extrusionOk="0">
                    <a:moveTo>
                      <a:pt x="0" y="0"/>
                    </a:moveTo>
                    <a:lnTo>
                      <a:pt x="7590" y="0"/>
                    </a:lnTo>
                    <a:lnTo>
                      <a:pt x="7590" y="36683"/>
                    </a:lnTo>
                    <a:lnTo>
                      <a:pt x="0" y="366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20" name="Google Shape;9320;p85"/>
              <p:cNvSpPr/>
              <p:nvPr/>
            </p:nvSpPr>
            <p:spPr>
              <a:xfrm>
                <a:off x="3512095" y="5669342"/>
                <a:ext cx="7589" cy="36682"/>
              </a:xfrm>
              <a:custGeom>
                <a:avLst/>
                <a:gdLst/>
                <a:ahLst/>
                <a:cxnLst/>
                <a:rect l="l" t="t" r="r" b="b"/>
                <a:pathLst>
                  <a:path w="7589" h="36682" extrusionOk="0">
                    <a:moveTo>
                      <a:pt x="0" y="0"/>
                    </a:moveTo>
                    <a:lnTo>
                      <a:pt x="7590" y="0"/>
                    </a:lnTo>
                    <a:lnTo>
                      <a:pt x="7590" y="36683"/>
                    </a:lnTo>
                    <a:lnTo>
                      <a:pt x="0" y="366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21" name="Google Shape;9321;p85"/>
              <p:cNvSpPr/>
              <p:nvPr/>
            </p:nvSpPr>
            <p:spPr>
              <a:xfrm>
                <a:off x="3537394" y="5669342"/>
                <a:ext cx="7589" cy="36682"/>
              </a:xfrm>
              <a:custGeom>
                <a:avLst/>
                <a:gdLst/>
                <a:ahLst/>
                <a:cxnLst/>
                <a:rect l="l" t="t" r="r" b="b"/>
                <a:pathLst>
                  <a:path w="7589" h="36682" extrusionOk="0">
                    <a:moveTo>
                      <a:pt x="0" y="0"/>
                    </a:moveTo>
                    <a:lnTo>
                      <a:pt x="7590" y="0"/>
                    </a:lnTo>
                    <a:lnTo>
                      <a:pt x="7590" y="36683"/>
                    </a:lnTo>
                    <a:lnTo>
                      <a:pt x="0" y="366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22" name="Google Shape;9322;p85"/>
              <p:cNvSpPr/>
              <p:nvPr/>
            </p:nvSpPr>
            <p:spPr>
              <a:xfrm>
                <a:off x="3562692" y="5669342"/>
                <a:ext cx="7589" cy="36682"/>
              </a:xfrm>
              <a:custGeom>
                <a:avLst/>
                <a:gdLst/>
                <a:ahLst/>
                <a:cxnLst/>
                <a:rect l="l" t="t" r="r" b="b"/>
                <a:pathLst>
                  <a:path w="7589" h="36682" extrusionOk="0">
                    <a:moveTo>
                      <a:pt x="0" y="0"/>
                    </a:moveTo>
                    <a:lnTo>
                      <a:pt x="7590" y="0"/>
                    </a:lnTo>
                    <a:lnTo>
                      <a:pt x="7590" y="36683"/>
                    </a:lnTo>
                    <a:lnTo>
                      <a:pt x="0" y="366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23" name="Google Shape;9323;p85"/>
              <p:cNvSpPr/>
              <p:nvPr/>
            </p:nvSpPr>
            <p:spPr>
              <a:xfrm>
                <a:off x="3176259" y="5541585"/>
                <a:ext cx="237804" cy="197327"/>
              </a:xfrm>
              <a:custGeom>
                <a:avLst/>
                <a:gdLst/>
                <a:ahLst/>
                <a:cxnLst/>
                <a:rect l="l" t="t" r="r" b="b"/>
                <a:pathLst>
                  <a:path w="237804" h="197327" extrusionOk="0">
                    <a:moveTo>
                      <a:pt x="172662" y="131552"/>
                    </a:moveTo>
                    <a:lnTo>
                      <a:pt x="168867" y="131552"/>
                    </a:lnTo>
                    <a:cubicBezTo>
                      <a:pt x="171397" y="129022"/>
                      <a:pt x="172662" y="125860"/>
                      <a:pt x="172662" y="122065"/>
                    </a:cubicBezTo>
                    <a:lnTo>
                      <a:pt x="172662" y="82852"/>
                    </a:lnTo>
                    <a:lnTo>
                      <a:pt x="168867" y="82852"/>
                    </a:lnTo>
                    <a:cubicBezTo>
                      <a:pt x="171397" y="80322"/>
                      <a:pt x="172662" y="77160"/>
                      <a:pt x="172662" y="73365"/>
                    </a:cubicBezTo>
                    <a:lnTo>
                      <a:pt x="172662" y="34153"/>
                    </a:lnTo>
                    <a:lnTo>
                      <a:pt x="170764" y="34153"/>
                    </a:lnTo>
                    <a:cubicBezTo>
                      <a:pt x="172029" y="32255"/>
                      <a:pt x="172662" y="29726"/>
                      <a:pt x="172662" y="27196"/>
                    </a:cubicBezTo>
                    <a:cubicBezTo>
                      <a:pt x="172662" y="632"/>
                      <a:pt x="95501" y="0"/>
                      <a:pt x="86647" y="0"/>
                    </a:cubicBezTo>
                    <a:cubicBezTo>
                      <a:pt x="77793" y="0"/>
                      <a:pt x="632" y="632"/>
                      <a:pt x="632" y="27196"/>
                    </a:cubicBezTo>
                    <a:cubicBezTo>
                      <a:pt x="632" y="53759"/>
                      <a:pt x="77793" y="54392"/>
                      <a:pt x="86647" y="54392"/>
                    </a:cubicBezTo>
                    <a:cubicBezTo>
                      <a:pt x="92972" y="54392"/>
                      <a:pt x="133449" y="53759"/>
                      <a:pt x="156850" y="44272"/>
                    </a:cubicBezTo>
                    <a:lnTo>
                      <a:pt x="156850" y="72100"/>
                    </a:lnTo>
                    <a:cubicBezTo>
                      <a:pt x="153055" y="76528"/>
                      <a:pt x="129022" y="84117"/>
                      <a:pt x="86647" y="84117"/>
                    </a:cubicBezTo>
                    <a:cubicBezTo>
                      <a:pt x="46170" y="84117"/>
                      <a:pt x="20239" y="76528"/>
                      <a:pt x="15812" y="71468"/>
                    </a:cubicBezTo>
                    <a:lnTo>
                      <a:pt x="15812" y="53127"/>
                    </a:lnTo>
                    <a:lnTo>
                      <a:pt x="0" y="53127"/>
                    </a:lnTo>
                    <a:lnTo>
                      <a:pt x="0" y="72100"/>
                    </a:lnTo>
                    <a:cubicBezTo>
                      <a:pt x="0" y="98664"/>
                      <a:pt x="77793" y="99296"/>
                      <a:pt x="86647" y="99296"/>
                    </a:cubicBezTo>
                    <a:cubicBezTo>
                      <a:pt x="92972" y="99296"/>
                      <a:pt x="133449" y="98664"/>
                      <a:pt x="156850" y="89177"/>
                    </a:cubicBezTo>
                    <a:lnTo>
                      <a:pt x="156850" y="120167"/>
                    </a:lnTo>
                    <a:cubicBezTo>
                      <a:pt x="153055" y="124595"/>
                      <a:pt x="129022" y="132184"/>
                      <a:pt x="86647" y="132184"/>
                    </a:cubicBezTo>
                    <a:cubicBezTo>
                      <a:pt x="46170" y="132184"/>
                      <a:pt x="20239" y="124595"/>
                      <a:pt x="15812" y="119535"/>
                    </a:cubicBezTo>
                    <a:lnTo>
                      <a:pt x="15812" y="101194"/>
                    </a:lnTo>
                    <a:lnTo>
                      <a:pt x="0" y="101194"/>
                    </a:lnTo>
                    <a:lnTo>
                      <a:pt x="0" y="120167"/>
                    </a:lnTo>
                    <a:cubicBezTo>
                      <a:pt x="0" y="146731"/>
                      <a:pt x="77793" y="147363"/>
                      <a:pt x="86647" y="147363"/>
                    </a:cubicBezTo>
                    <a:cubicBezTo>
                      <a:pt x="92972" y="147363"/>
                      <a:pt x="133449" y="146731"/>
                      <a:pt x="156850" y="137244"/>
                    </a:cubicBezTo>
                    <a:lnTo>
                      <a:pt x="156850" y="170132"/>
                    </a:lnTo>
                    <a:cubicBezTo>
                      <a:pt x="153055" y="174559"/>
                      <a:pt x="129022" y="182149"/>
                      <a:pt x="86647" y="182149"/>
                    </a:cubicBezTo>
                    <a:cubicBezTo>
                      <a:pt x="46170" y="182149"/>
                      <a:pt x="20239" y="174559"/>
                      <a:pt x="15812" y="169499"/>
                    </a:cubicBezTo>
                    <a:lnTo>
                      <a:pt x="15812" y="151158"/>
                    </a:lnTo>
                    <a:lnTo>
                      <a:pt x="0" y="151158"/>
                    </a:lnTo>
                    <a:lnTo>
                      <a:pt x="0" y="170132"/>
                    </a:lnTo>
                    <a:cubicBezTo>
                      <a:pt x="0" y="196695"/>
                      <a:pt x="77793" y="197328"/>
                      <a:pt x="86647" y="197328"/>
                    </a:cubicBezTo>
                    <a:cubicBezTo>
                      <a:pt x="95501" y="197328"/>
                      <a:pt x="172662" y="196695"/>
                      <a:pt x="172662" y="170132"/>
                    </a:cubicBezTo>
                    <a:lnTo>
                      <a:pt x="172662" y="155585"/>
                    </a:lnTo>
                    <a:lnTo>
                      <a:pt x="237805" y="155585"/>
                    </a:lnTo>
                    <a:lnTo>
                      <a:pt x="237805" y="139774"/>
                    </a:lnTo>
                    <a:lnTo>
                      <a:pt x="172662" y="139774"/>
                    </a:lnTo>
                    <a:lnTo>
                      <a:pt x="172662" y="131552"/>
                    </a:lnTo>
                    <a:close/>
                    <a:moveTo>
                      <a:pt x="86647" y="39213"/>
                    </a:moveTo>
                    <a:cubicBezTo>
                      <a:pt x="46802" y="39213"/>
                      <a:pt x="23401" y="32255"/>
                      <a:pt x="17709" y="27828"/>
                    </a:cubicBezTo>
                    <a:cubicBezTo>
                      <a:pt x="23401" y="23401"/>
                      <a:pt x="47435" y="16444"/>
                      <a:pt x="86647" y="16444"/>
                    </a:cubicBezTo>
                    <a:cubicBezTo>
                      <a:pt x="125860" y="16444"/>
                      <a:pt x="149893" y="23401"/>
                      <a:pt x="155585" y="27828"/>
                    </a:cubicBezTo>
                    <a:cubicBezTo>
                      <a:pt x="149893" y="32255"/>
                      <a:pt x="126492" y="39213"/>
                      <a:pt x="86647" y="3921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24" name="Google Shape;9324;p85"/>
              <p:cNvSpPr/>
              <p:nvPr/>
            </p:nvSpPr>
            <p:spPr>
              <a:xfrm>
                <a:off x="3494387" y="5196894"/>
                <a:ext cx="266898" cy="197327"/>
              </a:xfrm>
              <a:custGeom>
                <a:avLst/>
                <a:gdLst/>
                <a:ahLst/>
                <a:cxnLst/>
                <a:rect l="l" t="t" r="r" b="b"/>
                <a:pathLst>
                  <a:path w="266898" h="197327" extrusionOk="0">
                    <a:moveTo>
                      <a:pt x="266898" y="27196"/>
                    </a:moveTo>
                    <a:cubicBezTo>
                      <a:pt x="266898" y="632"/>
                      <a:pt x="189738" y="0"/>
                      <a:pt x="180884" y="0"/>
                    </a:cubicBezTo>
                    <a:cubicBezTo>
                      <a:pt x="172029" y="0"/>
                      <a:pt x="94869" y="632"/>
                      <a:pt x="94869" y="27196"/>
                    </a:cubicBezTo>
                    <a:cubicBezTo>
                      <a:pt x="94869" y="53759"/>
                      <a:pt x="172029" y="54392"/>
                      <a:pt x="180884" y="54392"/>
                    </a:cubicBezTo>
                    <a:cubicBezTo>
                      <a:pt x="187208" y="54392"/>
                      <a:pt x="227686" y="53759"/>
                      <a:pt x="251087" y="44272"/>
                    </a:cubicBezTo>
                    <a:lnTo>
                      <a:pt x="251087" y="72100"/>
                    </a:lnTo>
                    <a:cubicBezTo>
                      <a:pt x="247292" y="76528"/>
                      <a:pt x="223258" y="84117"/>
                      <a:pt x="180884" y="84117"/>
                    </a:cubicBezTo>
                    <a:cubicBezTo>
                      <a:pt x="138509" y="84117"/>
                      <a:pt x="114475" y="75895"/>
                      <a:pt x="110680" y="72100"/>
                    </a:cubicBezTo>
                    <a:cubicBezTo>
                      <a:pt x="110680" y="66408"/>
                      <a:pt x="110680" y="53759"/>
                      <a:pt x="110680" y="53759"/>
                    </a:cubicBezTo>
                    <a:lnTo>
                      <a:pt x="94869" y="53759"/>
                    </a:lnTo>
                    <a:cubicBezTo>
                      <a:pt x="94869" y="53759"/>
                      <a:pt x="94869" y="68306"/>
                      <a:pt x="94869" y="72733"/>
                    </a:cubicBezTo>
                    <a:cubicBezTo>
                      <a:pt x="94869" y="99296"/>
                      <a:pt x="172029" y="99929"/>
                      <a:pt x="180884" y="99929"/>
                    </a:cubicBezTo>
                    <a:cubicBezTo>
                      <a:pt x="187208" y="99929"/>
                      <a:pt x="227686" y="99296"/>
                      <a:pt x="251087" y="89809"/>
                    </a:cubicBezTo>
                    <a:lnTo>
                      <a:pt x="251087" y="120800"/>
                    </a:lnTo>
                    <a:cubicBezTo>
                      <a:pt x="247292" y="125227"/>
                      <a:pt x="223258" y="132817"/>
                      <a:pt x="180884" y="132817"/>
                    </a:cubicBezTo>
                    <a:cubicBezTo>
                      <a:pt x="138509" y="132817"/>
                      <a:pt x="114475" y="124595"/>
                      <a:pt x="110680" y="120800"/>
                    </a:cubicBezTo>
                    <a:cubicBezTo>
                      <a:pt x="110680" y="115108"/>
                      <a:pt x="110680" y="101826"/>
                      <a:pt x="110680" y="101826"/>
                    </a:cubicBezTo>
                    <a:lnTo>
                      <a:pt x="94869" y="101826"/>
                    </a:lnTo>
                    <a:cubicBezTo>
                      <a:pt x="94869" y="101826"/>
                      <a:pt x="94869" y="116373"/>
                      <a:pt x="94869" y="121432"/>
                    </a:cubicBezTo>
                    <a:cubicBezTo>
                      <a:pt x="94869" y="147996"/>
                      <a:pt x="172029" y="148628"/>
                      <a:pt x="180884" y="148628"/>
                    </a:cubicBezTo>
                    <a:cubicBezTo>
                      <a:pt x="187208" y="148628"/>
                      <a:pt x="227686" y="147996"/>
                      <a:pt x="251087" y="138509"/>
                    </a:cubicBezTo>
                    <a:lnTo>
                      <a:pt x="251087" y="169499"/>
                    </a:lnTo>
                    <a:cubicBezTo>
                      <a:pt x="247292" y="173926"/>
                      <a:pt x="223258" y="181516"/>
                      <a:pt x="180884" y="181516"/>
                    </a:cubicBezTo>
                    <a:cubicBezTo>
                      <a:pt x="138509" y="181516"/>
                      <a:pt x="114475" y="173294"/>
                      <a:pt x="110680" y="169499"/>
                    </a:cubicBezTo>
                    <a:cubicBezTo>
                      <a:pt x="110680" y="163807"/>
                      <a:pt x="110680" y="149893"/>
                      <a:pt x="110680" y="149893"/>
                    </a:cubicBezTo>
                    <a:lnTo>
                      <a:pt x="104356" y="149893"/>
                    </a:lnTo>
                    <a:lnTo>
                      <a:pt x="104356" y="149893"/>
                    </a:lnTo>
                    <a:lnTo>
                      <a:pt x="0" y="149893"/>
                    </a:lnTo>
                    <a:lnTo>
                      <a:pt x="0" y="165705"/>
                    </a:lnTo>
                    <a:lnTo>
                      <a:pt x="94869" y="165705"/>
                    </a:lnTo>
                    <a:cubicBezTo>
                      <a:pt x="94869" y="167602"/>
                      <a:pt x="94869" y="169499"/>
                      <a:pt x="94869" y="170132"/>
                    </a:cubicBezTo>
                    <a:cubicBezTo>
                      <a:pt x="94869" y="196695"/>
                      <a:pt x="172029" y="197328"/>
                      <a:pt x="180884" y="197328"/>
                    </a:cubicBezTo>
                    <a:cubicBezTo>
                      <a:pt x="189738" y="197328"/>
                      <a:pt x="266898" y="196695"/>
                      <a:pt x="266898" y="170132"/>
                    </a:cubicBezTo>
                    <a:lnTo>
                      <a:pt x="266898" y="130919"/>
                    </a:lnTo>
                    <a:lnTo>
                      <a:pt x="263103" y="130919"/>
                    </a:lnTo>
                    <a:cubicBezTo>
                      <a:pt x="265633" y="128389"/>
                      <a:pt x="266898" y="125227"/>
                      <a:pt x="266898" y="121432"/>
                    </a:cubicBezTo>
                    <a:lnTo>
                      <a:pt x="266898" y="82220"/>
                    </a:lnTo>
                    <a:lnTo>
                      <a:pt x="263103" y="82220"/>
                    </a:lnTo>
                    <a:cubicBezTo>
                      <a:pt x="265633" y="79690"/>
                      <a:pt x="266898" y="76528"/>
                      <a:pt x="266898" y="72733"/>
                    </a:cubicBezTo>
                    <a:lnTo>
                      <a:pt x="266898" y="34153"/>
                    </a:lnTo>
                    <a:lnTo>
                      <a:pt x="265001" y="34153"/>
                    </a:lnTo>
                    <a:cubicBezTo>
                      <a:pt x="266266" y="32255"/>
                      <a:pt x="266898" y="29726"/>
                      <a:pt x="266898" y="27196"/>
                    </a:cubicBezTo>
                    <a:close/>
                    <a:moveTo>
                      <a:pt x="180884" y="39213"/>
                    </a:moveTo>
                    <a:cubicBezTo>
                      <a:pt x="141039" y="39213"/>
                      <a:pt x="117638" y="32255"/>
                      <a:pt x="111945" y="27828"/>
                    </a:cubicBezTo>
                    <a:cubicBezTo>
                      <a:pt x="117638" y="23401"/>
                      <a:pt x="141671" y="16444"/>
                      <a:pt x="180884" y="16444"/>
                    </a:cubicBezTo>
                    <a:cubicBezTo>
                      <a:pt x="220096" y="16444"/>
                      <a:pt x="244130" y="23401"/>
                      <a:pt x="249822" y="27828"/>
                    </a:cubicBezTo>
                    <a:cubicBezTo>
                      <a:pt x="244130" y="32255"/>
                      <a:pt x="220096" y="39213"/>
                      <a:pt x="180884" y="3921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25" name="Google Shape;9325;p85"/>
              <p:cNvSpPr/>
              <p:nvPr/>
            </p:nvSpPr>
            <p:spPr>
              <a:xfrm>
                <a:off x="3229386" y="5312002"/>
                <a:ext cx="252984" cy="216933"/>
              </a:xfrm>
              <a:custGeom>
                <a:avLst/>
                <a:gdLst/>
                <a:ahLst/>
                <a:cxnLst/>
                <a:rect l="l" t="t" r="r" b="b"/>
                <a:pathLst>
                  <a:path w="252984" h="216933" extrusionOk="0">
                    <a:moveTo>
                      <a:pt x="40477" y="216934"/>
                    </a:moveTo>
                    <a:lnTo>
                      <a:pt x="40477" y="93604"/>
                    </a:lnTo>
                    <a:lnTo>
                      <a:pt x="252984" y="93604"/>
                    </a:lnTo>
                    <a:lnTo>
                      <a:pt x="252984" y="0"/>
                    </a:lnTo>
                    <a:lnTo>
                      <a:pt x="0" y="0"/>
                    </a:lnTo>
                    <a:lnTo>
                      <a:pt x="0" y="93604"/>
                    </a:lnTo>
                    <a:lnTo>
                      <a:pt x="24033" y="93604"/>
                    </a:lnTo>
                    <a:lnTo>
                      <a:pt x="24033" y="216934"/>
                    </a:lnTo>
                    <a:lnTo>
                      <a:pt x="40477" y="216934"/>
                    </a:lnTo>
                    <a:close/>
                    <a:moveTo>
                      <a:pt x="15812" y="15812"/>
                    </a:moveTo>
                    <a:lnTo>
                      <a:pt x="236540" y="15812"/>
                    </a:lnTo>
                    <a:lnTo>
                      <a:pt x="236540" y="77793"/>
                    </a:lnTo>
                    <a:lnTo>
                      <a:pt x="15812" y="77793"/>
                    </a:lnTo>
                    <a:lnTo>
                      <a:pt x="15812" y="1581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nvGrpSpPr>
          <p:cNvPr id="9326" name="Google Shape;9326;p85"/>
          <p:cNvGrpSpPr/>
          <p:nvPr/>
        </p:nvGrpSpPr>
        <p:grpSpPr>
          <a:xfrm>
            <a:off x="2171258" y="3527622"/>
            <a:ext cx="758008" cy="2475217"/>
            <a:chOff x="2879918" y="3703187"/>
            <a:chExt cx="758008" cy="2475217"/>
          </a:xfrm>
        </p:grpSpPr>
        <p:cxnSp>
          <p:nvCxnSpPr>
            <p:cNvPr id="9327" name="Google Shape;9327;p85"/>
            <p:cNvCxnSpPr/>
            <p:nvPr/>
          </p:nvCxnSpPr>
          <p:spPr>
            <a:xfrm>
              <a:off x="3260152" y="3703187"/>
              <a:ext cx="0" cy="1554480"/>
            </a:xfrm>
            <a:prstGeom prst="straightConnector1">
              <a:avLst/>
            </a:prstGeom>
            <a:noFill/>
            <a:ln w="12700" cap="flat" cmpd="sng">
              <a:solidFill>
                <a:schemeClr val="dk1"/>
              </a:solidFill>
              <a:prstDash val="solid"/>
              <a:miter lim="800000"/>
              <a:headEnd type="none" w="sm" len="sm"/>
              <a:tailEnd type="none" w="sm" len="sm"/>
            </a:ln>
          </p:spPr>
        </p:cxnSp>
        <p:sp>
          <p:nvSpPr>
            <p:cNvPr id="9328" name="Google Shape;9328;p85"/>
            <p:cNvSpPr/>
            <p:nvPr/>
          </p:nvSpPr>
          <p:spPr>
            <a:xfrm rot="10800000">
              <a:off x="3020093" y="524966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329" name="Google Shape;9329;p85"/>
            <p:cNvSpPr/>
            <p:nvPr/>
          </p:nvSpPr>
          <p:spPr>
            <a:xfrm>
              <a:off x="2879918" y="5799400"/>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Data-in-Transit</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Encryption</a:t>
              </a:r>
              <a:endParaRPr sz="1100" b="0" i="0" u="none" strike="noStrike" cap="none">
                <a:solidFill>
                  <a:srgbClr val="000001"/>
                </a:solidFill>
                <a:latin typeface="Arial"/>
                <a:ea typeface="Arial"/>
                <a:cs typeface="Arial"/>
                <a:sym typeface="Arial"/>
              </a:endParaRPr>
            </a:p>
          </p:txBody>
        </p:sp>
        <p:grpSp>
          <p:nvGrpSpPr>
            <p:cNvPr id="9330" name="Google Shape;9330;p85" descr="NSX/SDN Controller&#10;"/>
            <p:cNvGrpSpPr/>
            <p:nvPr/>
          </p:nvGrpSpPr>
          <p:grpSpPr>
            <a:xfrm>
              <a:off x="3125618" y="5353132"/>
              <a:ext cx="274320" cy="274320"/>
              <a:chOff x="4485843" y="1946681"/>
              <a:chExt cx="600837" cy="600837"/>
            </a:xfrm>
          </p:grpSpPr>
          <p:sp>
            <p:nvSpPr>
              <p:cNvPr id="9331" name="Google Shape;9331;p85"/>
              <p:cNvSpPr/>
              <p:nvPr/>
            </p:nvSpPr>
            <p:spPr>
              <a:xfrm>
                <a:off x="4485843" y="1946681"/>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32" name="Google Shape;9332;p85"/>
              <p:cNvSpPr/>
              <p:nvPr/>
            </p:nvSpPr>
            <p:spPr>
              <a:xfrm>
                <a:off x="4816872" y="2261456"/>
                <a:ext cx="94869" cy="94869"/>
              </a:xfrm>
              <a:custGeom>
                <a:avLst/>
                <a:gdLst/>
                <a:ahLst/>
                <a:cxnLst/>
                <a:rect l="l" t="t" r="r" b="b"/>
                <a:pathLst>
                  <a:path w="94869" h="94869" extrusionOk="0">
                    <a:moveTo>
                      <a:pt x="94869" y="47434"/>
                    </a:moveTo>
                    <a:cubicBezTo>
                      <a:pt x="94869" y="73632"/>
                      <a:pt x="73632" y="94869"/>
                      <a:pt x="47434" y="94869"/>
                    </a:cubicBezTo>
                    <a:cubicBezTo>
                      <a:pt x="21237" y="94869"/>
                      <a:pt x="0" y="73632"/>
                      <a:pt x="0" y="47434"/>
                    </a:cubicBezTo>
                    <a:cubicBezTo>
                      <a:pt x="0" y="21237"/>
                      <a:pt x="21237" y="0"/>
                      <a:pt x="47434" y="0"/>
                    </a:cubicBezTo>
                    <a:cubicBezTo>
                      <a:pt x="73632" y="0"/>
                      <a:pt x="94869" y="21237"/>
                      <a:pt x="94869" y="474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33" name="Google Shape;9333;p85"/>
              <p:cNvSpPr/>
              <p:nvPr/>
            </p:nvSpPr>
            <p:spPr>
              <a:xfrm>
                <a:off x="4643894" y="2330015"/>
                <a:ext cx="94869" cy="94869"/>
              </a:xfrm>
              <a:custGeom>
                <a:avLst/>
                <a:gdLst/>
                <a:ahLst/>
                <a:cxnLst/>
                <a:rect l="l" t="t" r="r" b="b"/>
                <a:pathLst>
                  <a:path w="94869" h="94869" extrusionOk="0">
                    <a:moveTo>
                      <a:pt x="94869" y="47435"/>
                    </a:moveTo>
                    <a:cubicBezTo>
                      <a:pt x="94869" y="73632"/>
                      <a:pt x="73632" y="94869"/>
                      <a:pt x="47435" y="94869"/>
                    </a:cubicBezTo>
                    <a:cubicBezTo>
                      <a:pt x="21237" y="94869"/>
                      <a:pt x="0" y="73632"/>
                      <a:pt x="0" y="47435"/>
                    </a:cubicBezTo>
                    <a:cubicBezTo>
                      <a:pt x="0" y="21237"/>
                      <a:pt x="21237" y="0"/>
                      <a:pt x="47435" y="0"/>
                    </a:cubicBezTo>
                    <a:cubicBezTo>
                      <a:pt x="73632" y="0"/>
                      <a:pt x="94869" y="21237"/>
                      <a:pt x="94869" y="4743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34" name="Google Shape;9334;p85"/>
              <p:cNvSpPr/>
              <p:nvPr/>
            </p:nvSpPr>
            <p:spPr>
              <a:xfrm>
                <a:off x="4880751" y="2094044"/>
                <a:ext cx="94869" cy="94869"/>
              </a:xfrm>
              <a:custGeom>
                <a:avLst/>
                <a:gdLst/>
                <a:ahLst/>
                <a:cxnLst/>
                <a:rect l="l" t="t" r="r" b="b"/>
                <a:pathLst>
                  <a:path w="94869" h="94869" extrusionOk="0">
                    <a:moveTo>
                      <a:pt x="94869" y="47434"/>
                    </a:moveTo>
                    <a:cubicBezTo>
                      <a:pt x="94869" y="73632"/>
                      <a:pt x="73632" y="94869"/>
                      <a:pt x="47435" y="94869"/>
                    </a:cubicBezTo>
                    <a:cubicBezTo>
                      <a:pt x="21237" y="94869"/>
                      <a:pt x="0" y="73632"/>
                      <a:pt x="0" y="47434"/>
                    </a:cubicBezTo>
                    <a:cubicBezTo>
                      <a:pt x="0" y="21237"/>
                      <a:pt x="21237" y="0"/>
                      <a:pt x="47435" y="0"/>
                    </a:cubicBezTo>
                    <a:cubicBezTo>
                      <a:pt x="73632" y="0"/>
                      <a:pt x="94869" y="21237"/>
                      <a:pt x="94869" y="474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35" name="Google Shape;9335;p85"/>
              <p:cNvSpPr/>
              <p:nvPr/>
            </p:nvSpPr>
            <p:spPr>
              <a:xfrm>
                <a:off x="4635230" y="2086328"/>
                <a:ext cx="110680" cy="110680"/>
              </a:xfrm>
              <a:custGeom>
                <a:avLst/>
                <a:gdLst/>
                <a:ahLst/>
                <a:cxnLst/>
                <a:rect l="l" t="t" r="r" b="b"/>
                <a:pathLst>
                  <a:path w="110680" h="110680" extrusionOk="0">
                    <a:moveTo>
                      <a:pt x="55340" y="15812"/>
                    </a:moveTo>
                    <a:cubicBezTo>
                      <a:pt x="77172" y="15812"/>
                      <a:pt x="94869" y="33509"/>
                      <a:pt x="94869" y="55340"/>
                    </a:cubicBezTo>
                    <a:cubicBezTo>
                      <a:pt x="94869" y="77171"/>
                      <a:pt x="77172" y="94869"/>
                      <a:pt x="55340" y="94869"/>
                    </a:cubicBezTo>
                    <a:cubicBezTo>
                      <a:pt x="33509" y="94869"/>
                      <a:pt x="15812" y="77171"/>
                      <a:pt x="15812" y="55340"/>
                    </a:cubicBezTo>
                    <a:cubicBezTo>
                      <a:pt x="15812" y="33509"/>
                      <a:pt x="33509" y="15812"/>
                      <a:pt x="55340" y="15812"/>
                    </a:cubicBezTo>
                    <a:moveTo>
                      <a:pt x="55340" y="0"/>
                    </a:moveTo>
                    <a:cubicBezTo>
                      <a:pt x="24777" y="0"/>
                      <a:pt x="0" y="24777"/>
                      <a:pt x="0" y="55340"/>
                    </a:cubicBezTo>
                    <a:cubicBezTo>
                      <a:pt x="0" y="85904"/>
                      <a:pt x="24777" y="110681"/>
                      <a:pt x="55340" y="110681"/>
                    </a:cubicBezTo>
                    <a:cubicBezTo>
                      <a:pt x="85904" y="110681"/>
                      <a:pt x="110681" y="85904"/>
                      <a:pt x="110681" y="55340"/>
                    </a:cubicBezTo>
                    <a:cubicBezTo>
                      <a:pt x="110681" y="24777"/>
                      <a:pt x="85904" y="0"/>
                      <a:pt x="5534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36" name="Google Shape;9336;p85"/>
              <p:cNvSpPr/>
              <p:nvPr/>
            </p:nvSpPr>
            <p:spPr>
              <a:xfrm>
                <a:off x="4685004" y="2214717"/>
                <a:ext cx="15811" cy="102648"/>
              </a:xfrm>
              <a:custGeom>
                <a:avLst/>
                <a:gdLst/>
                <a:ahLst/>
                <a:cxnLst/>
                <a:rect l="l" t="t" r="r" b="b"/>
                <a:pathLst>
                  <a:path w="15811" h="102648" extrusionOk="0">
                    <a:moveTo>
                      <a:pt x="0" y="0"/>
                    </a:moveTo>
                    <a:lnTo>
                      <a:pt x="15812" y="0"/>
                    </a:lnTo>
                    <a:lnTo>
                      <a:pt x="15812" y="102648"/>
                    </a:lnTo>
                    <a:lnTo>
                      <a:pt x="0" y="1026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37" name="Google Shape;9337;p85"/>
              <p:cNvSpPr/>
              <p:nvPr/>
            </p:nvSpPr>
            <p:spPr>
              <a:xfrm>
                <a:off x="4763429" y="2135154"/>
                <a:ext cx="102648" cy="15811"/>
              </a:xfrm>
              <a:custGeom>
                <a:avLst/>
                <a:gdLst/>
                <a:ahLst/>
                <a:cxnLst/>
                <a:rect l="l" t="t" r="r" b="b"/>
                <a:pathLst>
                  <a:path w="102648" h="15811" extrusionOk="0">
                    <a:moveTo>
                      <a:pt x="0" y="0"/>
                    </a:moveTo>
                    <a:lnTo>
                      <a:pt x="102648" y="0"/>
                    </a:lnTo>
                    <a:lnTo>
                      <a:pt x="102648" y="15811"/>
                    </a:lnTo>
                    <a:lnTo>
                      <a:pt x="0" y="1581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38" name="Google Shape;9338;p85"/>
              <p:cNvSpPr/>
              <p:nvPr/>
            </p:nvSpPr>
            <p:spPr>
              <a:xfrm rot="-2700000">
                <a:off x="4776000" y="2177112"/>
                <a:ext cx="15811" cy="102648"/>
              </a:xfrm>
              <a:custGeom>
                <a:avLst/>
                <a:gdLst/>
                <a:ahLst/>
                <a:cxnLst/>
                <a:rect l="l" t="t" r="r" b="b"/>
                <a:pathLst>
                  <a:path w="15811" h="102648" extrusionOk="0">
                    <a:moveTo>
                      <a:pt x="0" y="0"/>
                    </a:moveTo>
                    <a:lnTo>
                      <a:pt x="15812" y="0"/>
                    </a:lnTo>
                    <a:lnTo>
                      <a:pt x="15812" y="102648"/>
                    </a:lnTo>
                    <a:lnTo>
                      <a:pt x="0" y="1026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nvGrpSpPr>
          <p:cNvPr id="9339" name="Google Shape;9339;p85"/>
          <p:cNvGrpSpPr/>
          <p:nvPr/>
        </p:nvGrpSpPr>
        <p:grpSpPr>
          <a:xfrm>
            <a:off x="6588431" y="3527622"/>
            <a:ext cx="758008" cy="2475217"/>
            <a:chOff x="6055031" y="3703187"/>
            <a:chExt cx="758008" cy="2475217"/>
          </a:xfrm>
        </p:grpSpPr>
        <p:cxnSp>
          <p:nvCxnSpPr>
            <p:cNvPr id="9340" name="Google Shape;9340;p85"/>
            <p:cNvCxnSpPr/>
            <p:nvPr/>
          </p:nvCxnSpPr>
          <p:spPr>
            <a:xfrm>
              <a:off x="6435266" y="3703187"/>
              <a:ext cx="0" cy="1554480"/>
            </a:xfrm>
            <a:prstGeom prst="straightConnector1">
              <a:avLst/>
            </a:prstGeom>
            <a:noFill/>
            <a:ln w="12700" cap="flat" cmpd="sng">
              <a:solidFill>
                <a:schemeClr val="dk1"/>
              </a:solidFill>
              <a:prstDash val="solid"/>
              <a:miter lim="800000"/>
              <a:headEnd type="none" w="sm" len="sm"/>
              <a:tailEnd type="none" w="sm" len="sm"/>
            </a:ln>
          </p:spPr>
        </p:cxnSp>
        <p:sp>
          <p:nvSpPr>
            <p:cNvPr id="9341" name="Google Shape;9341;p85"/>
            <p:cNvSpPr/>
            <p:nvPr/>
          </p:nvSpPr>
          <p:spPr>
            <a:xfrm rot="10800000">
              <a:off x="6195205" y="524966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342" name="Google Shape;9342;p85"/>
            <p:cNvSpPr/>
            <p:nvPr/>
          </p:nvSpPr>
          <p:spPr>
            <a:xfrm>
              <a:off x="6055031" y="5799400"/>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Code</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Signing</a:t>
              </a:r>
              <a:endParaRPr/>
            </a:p>
          </p:txBody>
        </p:sp>
        <p:pic>
          <p:nvPicPr>
            <p:cNvPr id="9343" name="Google Shape;9343;p85"/>
            <p:cNvPicPr preferRelativeResize="0"/>
            <p:nvPr/>
          </p:nvPicPr>
          <p:blipFill rotWithShape="1">
            <a:blip r:embed="rId11">
              <a:alphaModFix/>
            </a:blip>
            <a:srcRect/>
            <a:stretch/>
          </p:blipFill>
          <p:spPr>
            <a:xfrm>
              <a:off x="6281929" y="5338153"/>
              <a:ext cx="302147" cy="302147"/>
            </a:xfrm>
            <a:prstGeom prst="rect">
              <a:avLst/>
            </a:prstGeom>
            <a:noFill/>
            <a:ln>
              <a:noFill/>
            </a:ln>
          </p:spPr>
        </p:pic>
      </p:grpSp>
      <p:grpSp>
        <p:nvGrpSpPr>
          <p:cNvPr id="9344" name="Google Shape;9344;p85"/>
          <p:cNvGrpSpPr/>
          <p:nvPr/>
        </p:nvGrpSpPr>
        <p:grpSpPr>
          <a:xfrm>
            <a:off x="6062429" y="3523164"/>
            <a:ext cx="758008" cy="1303912"/>
            <a:chOff x="6062429" y="3523164"/>
            <a:chExt cx="758008" cy="1303912"/>
          </a:xfrm>
        </p:grpSpPr>
        <p:cxnSp>
          <p:nvCxnSpPr>
            <p:cNvPr id="9345" name="Google Shape;9345;p85"/>
            <p:cNvCxnSpPr/>
            <p:nvPr/>
          </p:nvCxnSpPr>
          <p:spPr>
            <a:xfrm>
              <a:off x="6436085" y="3523164"/>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346" name="Google Shape;9346;p85"/>
            <p:cNvSpPr/>
            <p:nvPr/>
          </p:nvSpPr>
          <p:spPr>
            <a:xfrm rot="10800000">
              <a:off x="6202071" y="3887260"/>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347" name="Google Shape;9347;p85"/>
            <p:cNvSpPr/>
            <p:nvPr/>
          </p:nvSpPr>
          <p:spPr>
            <a:xfrm>
              <a:off x="6062429" y="4448072"/>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Intrusion</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Detection</a:t>
              </a:r>
              <a:endParaRPr/>
            </a:p>
          </p:txBody>
        </p:sp>
        <p:grpSp>
          <p:nvGrpSpPr>
            <p:cNvPr id="9348" name="Google Shape;9348;p85" descr="Detections 3&#10;"/>
            <p:cNvGrpSpPr/>
            <p:nvPr/>
          </p:nvGrpSpPr>
          <p:grpSpPr>
            <a:xfrm>
              <a:off x="6255780" y="3949239"/>
              <a:ext cx="365760" cy="366135"/>
              <a:chOff x="11081827" y="720438"/>
              <a:chExt cx="600204" cy="600821"/>
            </a:xfrm>
          </p:grpSpPr>
          <p:sp>
            <p:nvSpPr>
              <p:cNvPr id="9349" name="Google Shape;9349;p85"/>
              <p:cNvSpPr/>
              <p:nvPr/>
            </p:nvSpPr>
            <p:spPr>
              <a:xfrm>
                <a:off x="11373392" y="1258515"/>
                <a:ext cx="15811" cy="62744"/>
              </a:xfrm>
              <a:custGeom>
                <a:avLst/>
                <a:gdLst/>
                <a:ahLst/>
                <a:cxnLst/>
                <a:rect l="l" t="t" r="r" b="b"/>
                <a:pathLst>
                  <a:path w="15811" h="62744" extrusionOk="0">
                    <a:moveTo>
                      <a:pt x="0" y="0"/>
                    </a:moveTo>
                    <a:lnTo>
                      <a:pt x="15812" y="0"/>
                    </a:lnTo>
                    <a:lnTo>
                      <a:pt x="15812" y="62744"/>
                    </a:lnTo>
                    <a:lnTo>
                      <a:pt x="0" y="627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nvGrpSpPr>
              <p:cNvPr id="9350" name="Google Shape;9350;p85"/>
              <p:cNvGrpSpPr/>
              <p:nvPr/>
            </p:nvGrpSpPr>
            <p:grpSpPr>
              <a:xfrm>
                <a:off x="11081827" y="720438"/>
                <a:ext cx="600204" cy="552653"/>
                <a:chOff x="11081827" y="720438"/>
                <a:chExt cx="600204" cy="552653"/>
              </a:xfrm>
            </p:grpSpPr>
            <p:grpSp>
              <p:nvGrpSpPr>
                <p:cNvPr id="9351" name="Google Shape;9351;p85"/>
                <p:cNvGrpSpPr/>
                <p:nvPr/>
              </p:nvGrpSpPr>
              <p:grpSpPr>
                <a:xfrm>
                  <a:off x="11252592" y="851999"/>
                  <a:ext cx="263103" cy="337434"/>
                  <a:chOff x="11252592" y="851999"/>
                  <a:chExt cx="263103" cy="337434"/>
                </a:xfrm>
              </p:grpSpPr>
              <p:sp>
                <p:nvSpPr>
                  <p:cNvPr id="9352" name="Google Shape;9352;p85"/>
                  <p:cNvSpPr/>
                  <p:nvPr/>
                </p:nvSpPr>
                <p:spPr>
                  <a:xfrm>
                    <a:off x="11326589" y="1114014"/>
                    <a:ext cx="125859" cy="61476"/>
                  </a:xfrm>
                  <a:custGeom>
                    <a:avLst/>
                    <a:gdLst/>
                    <a:ahLst/>
                    <a:cxnLst/>
                    <a:rect l="l" t="t" r="r" b="b"/>
                    <a:pathLst>
                      <a:path w="125859" h="61476" extrusionOk="0">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53" name="Google Shape;9353;p85"/>
                  <p:cNvSpPr/>
                  <p:nvPr/>
                </p:nvSpPr>
                <p:spPr>
                  <a:xfrm>
                    <a:off x="11367067" y="1148872"/>
                    <a:ext cx="46169" cy="40561"/>
                  </a:xfrm>
                  <a:custGeom>
                    <a:avLst/>
                    <a:gdLst/>
                    <a:ahLst/>
                    <a:cxnLst/>
                    <a:rect l="l" t="t" r="r" b="b"/>
                    <a:pathLst>
                      <a:path w="46169" h="40561" extrusionOk="0">
                        <a:moveTo>
                          <a:pt x="3795" y="40562"/>
                        </a:moveTo>
                        <a:lnTo>
                          <a:pt x="0" y="25351"/>
                        </a:lnTo>
                        <a:cubicBezTo>
                          <a:pt x="0" y="25351"/>
                          <a:pt x="20871" y="20281"/>
                          <a:pt x="32255" y="0"/>
                        </a:cubicBezTo>
                        <a:lnTo>
                          <a:pt x="46170" y="7605"/>
                        </a:lnTo>
                        <a:cubicBezTo>
                          <a:pt x="31623" y="34224"/>
                          <a:pt x="5060" y="40562"/>
                          <a:pt x="3795" y="4056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54" name="Google Shape;9354;p85"/>
                  <p:cNvSpPr/>
                  <p:nvPr/>
                </p:nvSpPr>
                <p:spPr>
                  <a:xfrm>
                    <a:off x="11413237" y="1082959"/>
                    <a:ext cx="67040" cy="51969"/>
                  </a:xfrm>
                  <a:custGeom>
                    <a:avLst/>
                    <a:gdLst/>
                    <a:ahLst/>
                    <a:cxnLst/>
                    <a:rect l="l" t="t" r="r" b="b"/>
                    <a:pathLst>
                      <a:path w="67040" h="51969" extrusionOk="0">
                        <a:moveTo>
                          <a:pt x="63878" y="51970"/>
                        </a:moveTo>
                        <a:cubicBezTo>
                          <a:pt x="61981" y="51336"/>
                          <a:pt x="13282" y="43097"/>
                          <a:pt x="0" y="5070"/>
                        </a:cubicBezTo>
                        <a:lnTo>
                          <a:pt x="15179" y="0"/>
                        </a:lnTo>
                        <a:cubicBezTo>
                          <a:pt x="25931" y="29788"/>
                          <a:pt x="66408" y="36759"/>
                          <a:pt x="67041" y="36759"/>
                        </a:cubicBezTo>
                        <a:lnTo>
                          <a:pt x="63878" y="519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55" name="Google Shape;9355;p85"/>
                  <p:cNvSpPr/>
                  <p:nvPr/>
                </p:nvSpPr>
                <p:spPr>
                  <a:xfrm>
                    <a:off x="11258916" y="920426"/>
                    <a:ext cx="234010" cy="187883"/>
                  </a:xfrm>
                  <a:custGeom>
                    <a:avLst/>
                    <a:gdLst/>
                    <a:ahLst/>
                    <a:cxnLst/>
                    <a:rect l="l" t="t" r="r" b="b"/>
                    <a:pathLst>
                      <a:path w="234010" h="187883" extrusionOk="0">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56" name="Google Shape;9356;p85"/>
                  <p:cNvSpPr/>
                  <p:nvPr/>
                </p:nvSpPr>
                <p:spPr>
                  <a:xfrm>
                    <a:off x="11266506" y="955461"/>
                    <a:ext cx="173239" cy="201015"/>
                  </a:xfrm>
                  <a:custGeom>
                    <a:avLst/>
                    <a:gdLst/>
                    <a:ahLst/>
                    <a:cxnLst/>
                    <a:rect l="l" t="t" r="r" b="b"/>
                    <a:pathLst>
                      <a:path w="173239" h="201015" extrusionOk="0">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57" name="Google Shape;9357;p85"/>
                  <p:cNvSpPr/>
                  <p:nvPr/>
                </p:nvSpPr>
                <p:spPr>
                  <a:xfrm>
                    <a:off x="11279155" y="998032"/>
                    <a:ext cx="125227" cy="131192"/>
                  </a:xfrm>
                  <a:custGeom>
                    <a:avLst/>
                    <a:gdLst/>
                    <a:ahLst/>
                    <a:cxnLst/>
                    <a:rect l="l" t="t" r="r" b="b"/>
                    <a:pathLst>
                      <a:path w="125227" h="131192" extrusionOk="0">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58" name="Google Shape;9358;p85"/>
                  <p:cNvSpPr/>
                  <p:nvPr/>
                </p:nvSpPr>
                <p:spPr>
                  <a:xfrm>
                    <a:off x="11254489" y="886878"/>
                    <a:ext cx="260481" cy="187842"/>
                  </a:xfrm>
                  <a:custGeom>
                    <a:avLst/>
                    <a:gdLst/>
                    <a:ahLst/>
                    <a:cxnLst/>
                    <a:rect l="l" t="t" r="r" b="b"/>
                    <a:pathLst>
                      <a:path w="260481" h="187842" extrusionOk="0">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59" name="Google Shape;9359;p85"/>
                  <p:cNvSpPr/>
                  <p:nvPr/>
                </p:nvSpPr>
                <p:spPr>
                  <a:xfrm>
                    <a:off x="11252592" y="851999"/>
                    <a:ext cx="263103" cy="132723"/>
                  </a:xfrm>
                  <a:custGeom>
                    <a:avLst/>
                    <a:gdLst/>
                    <a:ahLst/>
                    <a:cxnLst/>
                    <a:rect l="l" t="t" r="r" b="b"/>
                    <a:pathLst>
                      <a:path w="263103" h="132723" extrusionOk="0">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sp>
              <p:nvSpPr>
                <p:cNvPr id="9360" name="Google Shape;9360;p85"/>
                <p:cNvSpPr/>
                <p:nvPr/>
              </p:nvSpPr>
              <p:spPr>
                <a:xfrm>
                  <a:off x="11406912" y="768605"/>
                  <a:ext cx="227685" cy="228793"/>
                </a:xfrm>
                <a:custGeom>
                  <a:avLst/>
                  <a:gdLst/>
                  <a:ahLst/>
                  <a:cxnLst/>
                  <a:rect l="l" t="t" r="r" b="b"/>
                  <a:pathLst>
                    <a:path w="227685" h="228793" extrusionOk="0">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61" name="Google Shape;9361;p85"/>
                <p:cNvSpPr/>
                <p:nvPr/>
              </p:nvSpPr>
              <p:spPr>
                <a:xfrm>
                  <a:off x="11081827" y="1013243"/>
                  <a:ext cx="63878" cy="15844"/>
                </a:xfrm>
                <a:custGeom>
                  <a:avLst/>
                  <a:gdLst/>
                  <a:ahLst/>
                  <a:cxnLst/>
                  <a:rect l="l" t="t" r="r" b="b"/>
                  <a:pathLst>
                    <a:path w="63878" h="15844" extrusionOk="0">
                      <a:moveTo>
                        <a:pt x="0" y="0"/>
                      </a:moveTo>
                      <a:lnTo>
                        <a:pt x="63878" y="0"/>
                      </a:lnTo>
                      <a:lnTo>
                        <a:pt x="63878" y="15844"/>
                      </a:lnTo>
                      <a:lnTo>
                        <a:pt x="0" y="158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62" name="Google Shape;9362;p85"/>
                <p:cNvSpPr/>
                <p:nvPr/>
              </p:nvSpPr>
              <p:spPr>
                <a:xfrm>
                  <a:off x="11373392" y="720438"/>
                  <a:ext cx="15811" cy="63377"/>
                </a:xfrm>
                <a:custGeom>
                  <a:avLst/>
                  <a:gdLst/>
                  <a:ahLst/>
                  <a:cxnLst/>
                  <a:rect l="l" t="t" r="r" b="b"/>
                  <a:pathLst>
                    <a:path w="15811" h="63377" extrusionOk="0">
                      <a:moveTo>
                        <a:pt x="0" y="0"/>
                      </a:moveTo>
                      <a:lnTo>
                        <a:pt x="15812" y="0"/>
                      </a:lnTo>
                      <a:lnTo>
                        <a:pt x="15812" y="63378"/>
                      </a:lnTo>
                      <a:lnTo>
                        <a:pt x="0" y="6337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63" name="Google Shape;9363;p85"/>
                <p:cNvSpPr/>
                <p:nvPr/>
              </p:nvSpPr>
              <p:spPr>
                <a:xfrm>
                  <a:off x="11619418" y="1013243"/>
                  <a:ext cx="62613" cy="15844"/>
                </a:xfrm>
                <a:custGeom>
                  <a:avLst/>
                  <a:gdLst/>
                  <a:ahLst/>
                  <a:cxnLst/>
                  <a:rect l="l" t="t" r="r" b="b"/>
                  <a:pathLst>
                    <a:path w="62613" h="15844" extrusionOk="0">
                      <a:moveTo>
                        <a:pt x="0" y="0"/>
                      </a:moveTo>
                      <a:lnTo>
                        <a:pt x="62614" y="0"/>
                      </a:lnTo>
                      <a:lnTo>
                        <a:pt x="62614" y="15844"/>
                      </a:lnTo>
                      <a:lnTo>
                        <a:pt x="0" y="158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64" name="Google Shape;9364;p85"/>
                <p:cNvSpPr/>
                <p:nvPr/>
              </p:nvSpPr>
              <p:spPr>
                <a:xfrm>
                  <a:off x="11405015" y="1043664"/>
                  <a:ext cx="229582" cy="229427"/>
                </a:xfrm>
                <a:custGeom>
                  <a:avLst/>
                  <a:gdLst/>
                  <a:ahLst/>
                  <a:cxnLst/>
                  <a:rect l="l" t="t" r="r" b="b"/>
                  <a:pathLst>
                    <a:path w="229582" h="229427" extrusionOk="0">
                      <a:moveTo>
                        <a:pt x="213771" y="634"/>
                      </a:moveTo>
                      <a:cubicBezTo>
                        <a:pt x="203020" y="113446"/>
                        <a:pt x="113210" y="203443"/>
                        <a:pt x="0" y="213583"/>
                      </a:cubicBezTo>
                      <a:lnTo>
                        <a:pt x="0" y="229428"/>
                      </a:lnTo>
                      <a:cubicBezTo>
                        <a:pt x="121432" y="218654"/>
                        <a:pt x="218199" y="121685"/>
                        <a:pt x="229583" y="0"/>
                      </a:cubicBezTo>
                      <a:lnTo>
                        <a:pt x="21377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65" name="Google Shape;9365;p85"/>
                <p:cNvSpPr/>
                <p:nvPr/>
              </p:nvSpPr>
              <p:spPr>
                <a:xfrm>
                  <a:off x="11130527" y="769238"/>
                  <a:ext cx="225788" cy="228160"/>
                </a:xfrm>
                <a:custGeom>
                  <a:avLst/>
                  <a:gdLst/>
                  <a:ahLst/>
                  <a:cxnLst/>
                  <a:rect l="l" t="t" r="r" b="b"/>
                  <a:pathLst>
                    <a:path w="225788" h="228160" extrusionOk="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66" name="Google Shape;9366;p85"/>
                <p:cNvSpPr/>
                <p:nvPr/>
              </p:nvSpPr>
              <p:spPr>
                <a:xfrm>
                  <a:off x="11130527" y="1044298"/>
                  <a:ext cx="227685" cy="228793"/>
                </a:xfrm>
                <a:custGeom>
                  <a:avLst/>
                  <a:gdLst/>
                  <a:ahLst/>
                  <a:cxnLst/>
                  <a:rect l="l" t="t" r="r" b="b"/>
                  <a:pathLst>
                    <a:path w="227685" h="228793" extrusionOk="0">
                      <a:moveTo>
                        <a:pt x="15812" y="0"/>
                      </a:moveTo>
                      <a:lnTo>
                        <a:pt x="0" y="0"/>
                      </a:lnTo>
                      <a:cubicBezTo>
                        <a:pt x="11384" y="120418"/>
                        <a:pt x="106886" y="217386"/>
                        <a:pt x="227686" y="228794"/>
                      </a:cubicBezTo>
                      <a:lnTo>
                        <a:pt x="227686" y="212950"/>
                      </a:lnTo>
                      <a:cubicBezTo>
                        <a:pt x="115740" y="201541"/>
                        <a:pt x="27196" y="111545"/>
                        <a:pt x="1581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grpSp>
        <p:nvGrpSpPr>
          <p:cNvPr id="9367" name="Google Shape;9367;p85"/>
          <p:cNvGrpSpPr/>
          <p:nvPr/>
        </p:nvGrpSpPr>
        <p:grpSpPr>
          <a:xfrm>
            <a:off x="7122410" y="3520028"/>
            <a:ext cx="758008" cy="1305480"/>
            <a:chOff x="6640471" y="3695593"/>
            <a:chExt cx="758008" cy="1305480"/>
          </a:xfrm>
        </p:grpSpPr>
        <p:cxnSp>
          <p:nvCxnSpPr>
            <p:cNvPr id="9368" name="Google Shape;9368;p85"/>
            <p:cNvCxnSpPr/>
            <p:nvPr/>
          </p:nvCxnSpPr>
          <p:spPr>
            <a:xfrm>
              <a:off x="7020173" y="3695593"/>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369" name="Google Shape;9369;p85"/>
            <p:cNvSpPr/>
            <p:nvPr/>
          </p:nvSpPr>
          <p:spPr>
            <a:xfrm rot="10800000">
              <a:off x="6780113" y="406125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370" name="Google Shape;9370;p85"/>
            <p:cNvSpPr/>
            <p:nvPr/>
          </p:nvSpPr>
          <p:spPr>
            <a:xfrm>
              <a:off x="6640471" y="4622069"/>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Behavioral</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Analysis</a:t>
              </a:r>
              <a:endParaRPr/>
            </a:p>
          </p:txBody>
        </p:sp>
        <p:grpSp>
          <p:nvGrpSpPr>
            <p:cNvPr id="9371" name="Google Shape;9371;p85" descr="Defense Secure&#10;"/>
            <p:cNvGrpSpPr/>
            <p:nvPr/>
          </p:nvGrpSpPr>
          <p:grpSpPr>
            <a:xfrm>
              <a:off x="6907343" y="4179228"/>
              <a:ext cx="232985" cy="274320"/>
              <a:chOff x="9808294" y="719639"/>
              <a:chExt cx="509762" cy="600204"/>
            </a:xfrm>
          </p:grpSpPr>
          <p:sp>
            <p:nvSpPr>
              <p:cNvPr id="9372" name="Google Shape;9372;p85"/>
              <p:cNvSpPr/>
              <p:nvPr/>
            </p:nvSpPr>
            <p:spPr>
              <a:xfrm>
                <a:off x="9970836" y="882814"/>
                <a:ext cx="184678" cy="274487"/>
              </a:xfrm>
              <a:custGeom>
                <a:avLst/>
                <a:gdLst/>
                <a:ahLst/>
                <a:cxnLst/>
                <a:rect l="l" t="t" r="r" b="b"/>
                <a:pathLst>
                  <a:path w="184678"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4678" y="151158"/>
                      <a:pt x="169499" y="123962"/>
                      <a:pt x="146731" y="107518"/>
                    </a:cubicBezTo>
                    <a:close/>
                    <a:moveTo>
                      <a:pt x="53759" y="55024"/>
                    </a:moveTo>
                    <a:cubicBezTo>
                      <a:pt x="53759" y="33520"/>
                      <a:pt x="68938" y="15812"/>
                      <a:pt x="87912" y="15812"/>
                    </a:cubicBezTo>
                    <a:lnTo>
                      <a:pt x="96134" y="15812"/>
                    </a:lnTo>
                    <a:cubicBezTo>
                      <a:pt x="115108" y="15812"/>
                      <a:pt x="130287" y="33520"/>
                      <a:pt x="130287" y="55024"/>
                    </a:cubicBezTo>
                    <a:lnTo>
                      <a:pt x="130287" y="98031"/>
                    </a:lnTo>
                    <a:cubicBezTo>
                      <a:pt x="118902" y="92972"/>
                      <a:pt x="105621" y="89809"/>
                      <a:pt x="91707" y="89809"/>
                    </a:cubicBezTo>
                    <a:cubicBezTo>
                      <a:pt x="77793" y="89809"/>
                      <a:pt x="65143" y="92972"/>
                      <a:pt x="53127" y="98031"/>
                    </a:cubicBezTo>
                    <a:lnTo>
                      <a:pt x="53127" y="55024"/>
                    </a:lnTo>
                    <a:close/>
                    <a:moveTo>
                      <a:pt x="92339" y="258676"/>
                    </a:moveTo>
                    <a:cubicBezTo>
                      <a:pt x="49964" y="258676"/>
                      <a:pt x="15812" y="224523"/>
                      <a:pt x="15812" y="182148"/>
                    </a:cubicBezTo>
                    <a:cubicBezTo>
                      <a:pt x="15812" y="139774"/>
                      <a:pt x="49964" y="105621"/>
                      <a:pt x="92339" y="105621"/>
                    </a:cubicBezTo>
                    <a:cubicBezTo>
                      <a:pt x="134714" y="105621"/>
                      <a:pt x="168867" y="139774"/>
                      <a:pt x="168867" y="182148"/>
                    </a:cubicBezTo>
                    <a:cubicBezTo>
                      <a:pt x="168867" y="224523"/>
                      <a:pt x="134714" y="258676"/>
                      <a:pt x="92339" y="2586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73" name="Google Shape;9373;p85"/>
              <p:cNvSpPr/>
              <p:nvPr/>
            </p:nvSpPr>
            <p:spPr>
              <a:xfrm>
                <a:off x="10047996" y="1040929"/>
                <a:ext cx="29765" cy="48066"/>
              </a:xfrm>
              <a:custGeom>
                <a:avLst/>
                <a:gdLst/>
                <a:ahLst/>
                <a:cxnLst/>
                <a:rect l="l" t="t" r="r" b="b"/>
                <a:pathLst>
                  <a:path w="29765" h="48066" extrusionOk="0">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74" name="Google Shape;9374;p85"/>
              <p:cNvSpPr/>
              <p:nvPr/>
            </p:nvSpPr>
            <p:spPr>
              <a:xfrm>
                <a:off x="9808294" y="719639"/>
                <a:ext cx="509762" cy="600204"/>
              </a:xfrm>
              <a:custGeom>
                <a:avLst/>
                <a:gdLst/>
                <a:ahLst/>
                <a:cxnLst/>
                <a:rect l="l" t="t" r="r" b="b"/>
                <a:pathLst>
                  <a:path w="509762" h="600204" extrusionOk="0">
                    <a:moveTo>
                      <a:pt x="254881" y="600205"/>
                    </a:moveTo>
                    <a:lnTo>
                      <a:pt x="246027" y="597042"/>
                    </a:lnTo>
                    <a:cubicBezTo>
                      <a:pt x="235908" y="593248"/>
                      <a:pt x="0" y="500908"/>
                      <a:pt x="0" y="264368"/>
                    </a:cubicBezTo>
                    <a:lnTo>
                      <a:pt x="0" y="111313"/>
                    </a:lnTo>
                    <a:lnTo>
                      <a:pt x="18974" y="106253"/>
                    </a:lnTo>
                    <a:cubicBezTo>
                      <a:pt x="58186" y="95501"/>
                      <a:pt x="97399" y="82220"/>
                      <a:pt x="134714" y="65143"/>
                    </a:cubicBezTo>
                    <a:cubicBezTo>
                      <a:pt x="171397" y="49332"/>
                      <a:pt x="207447" y="30358"/>
                      <a:pt x="240967" y="8854"/>
                    </a:cubicBezTo>
                    <a:lnTo>
                      <a:pt x="254881" y="0"/>
                    </a:lnTo>
                    <a:lnTo>
                      <a:pt x="268796" y="8854"/>
                    </a:lnTo>
                    <a:cubicBezTo>
                      <a:pt x="302948" y="30358"/>
                      <a:pt x="338366" y="49332"/>
                      <a:pt x="375049" y="65143"/>
                    </a:cubicBezTo>
                    <a:cubicBezTo>
                      <a:pt x="412364" y="81587"/>
                      <a:pt x="450944" y="95501"/>
                      <a:pt x="490789" y="106253"/>
                    </a:cubicBezTo>
                    <a:lnTo>
                      <a:pt x="509763" y="111313"/>
                    </a:lnTo>
                    <a:lnTo>
                      <a:pt x="509763" y="264368"/>
                    </a:lnTo>
                    <a:cubicBezTo>
                      <a:pt x="509763" y="496481"/>
                      <a:pt x="289667" y="587555"/>
                      <a:pt x="263103" y="597042"/>
                    </a:cubicBezTo>
                    <a:lnTo>
                      <a:pt x="263103" y="597675"/>
                    </a:lnTo>
                    <a:lnTo>
                      <a:pt x="254881" y="600205"/>
                    </a:lnTo>
                    <a:close/>
                    <a:moveTo>
                      <a:pt x="15812" y="123330"/>
                    </a:moveTo>
                    <a:lnTo>
                      <a:pt x="15812" y="264368"/>
                    </a:lnTo>
                    <a:cubicBezTo>
                      <a:pt x="15812" y="490789"/>
                      <a:pt x="242232" y="578701"/>
                      <a:pt x="251719" y="582496"/>
                    </a:cubicBezTo>
                    <a:lnTo>
                      <a:pt x="254881" y="583761"/>
                    </a:lnTo>
                    <a:lnTo>
                      <a:pt x="259941" y="581863"/>
                    </a:lnTo>
                    <a:cubicBezTo>
                      <a:pt x="273855" y="576804"/>
                      <a:pt x="493951" y="488259"/>
                      <a:pt x="493951" y="264368"/>
                    </a:cubicBezTo>
                    <a:lnTo>
                      <a:pt x="493951" y="123330"/>
                    </a:lnTo>
                    <a:lnTo>
                      <a:pt x="486362" y="121432"/>
                    </a:lnTo>
                    <a:cubicBezTo>
                      <a:pt x="446517" y="110681"/>
                      <a:pt x="406672" y="96766"/>
                      <a:pt x="368724" y="79690"/>
                    </a:cubicBezTo>
                    <a:cubicBezTo>
                      <a:pt x="331409" y="63246"/>
                      <a:pt x="294726" y="44272"/>
                      <a:pt x="260574" y="22769"/>
                    </a:cubicBezTo>
                    <a:lnTo>
                      <a:pt x="254881" y="18974"/>
                    </a:lnTo>
                    <a:lnTo>
                      <a:pt x="249822" y="22136"/>
                    </a:lnTo>
                    <a:cubicBezTo>
                      <a:pt x="215036" y="43640"/>
                      <a:pt x="178986" y="63246"/>
                      <a:pt x="141671" y="79690"/>
                    </a:cubicBezTo>
                    <a:cubicBezTo>
                      <a:pt x="103723" y="96766"/>
                      <a:pt x="63878" y="110681"/>
                      <a:pt x="23401" y="121432"/>
                    </a:cubicBezTo>
                    <a:lnTo>
                      <a:pt x="15812" y="12333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nvGrpSpPr>
          <p:cNvPr id="9375" name="Google Shape;9375;p85"/>
          <p:cNvGrpSpPr/>
          <p:nvPr/>
        </p:nvGrpSpPr>
        <p:grpSpPr>
          <a:xfrm>
            <a:off x="579438" y="3521596"/>
            <a:ext cx="758008" cy="1305480"/>
            <a:chOff x="579438" y="3697161"/>
            <a:chExt cx="758008" cy="1305480"/>
          </a:xfrm>
        </p:grpSpPr>
        <p:cxnSp>
          <p:nvCxnSpPr>
            <p:cNvPr id="9376" name="Google Shape;9376;p85"/>
            <p:cNvCxnSpPr/>
            <p:nvPr/>
          </p:nvCxnSpPr>
          <p:spPr>
            <a:xfrm>
              <a:off x="959140" y="3697161"/>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377" name="Google Shape;9377;p85"/>
            <p:cNvSpPr/>
            <p:nvPr/>
          </p:nvSpPr>
          <p:spPr>
            <a:xfrm rot="10800000">
              <a:off x="719080" y="4062825"/>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378" name="Google Shape;9378;p85"/>
            <p:cNvSpPr/>
            <p:nvPr/>
          </p:nvSpPr>
          <p:spPr>
            <a:xfrm>
              <a:off x="579438" y="4623637"/>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Trusted</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Computing</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Base</a:t>
              </a:r>
              <a:endParaRPr/>
            </a:p>
          </p:txBody>
        </p:sp>
        <p:grpSp>
          <p:nvGrpSpPr>
            <p:cNvPr id="9379" name="Google Shape;9379;p85" descr="Reliability&#10;"/>
            <p:cNvGrpSpPr/>
            <p:nvPr/>
          </p:nvGrpSpPr>
          <p:grpSpPr>
            <a:xfrm>
              <a:off x="846355" y="4118271"/>
              <a:ext cx="227830" cy="365761"/>
              <a:chOff x="3280734" y="4422087"/>
              <a:chExt cx="373863" cy="600205"/>
            </a:xfrm>
          </p:grpSpPr>
          <p:grpSp>
            <p:nvGrpSpPr>
              <p:cNvPr id="9380" name="Google Shape;9380;p85"/>
              <p:cNvGrpSpPr/>
              <p:nvPr/>
            </p:nvGrpSpPr>
            <p:grpSpPr>
              <a:xfrm>
                <a:off x="3280734" y="4771838"/>
                <a:ext cx="373863" cy="250454"/>
                <a:chOff x="3280734" y="4771838"/>
                <a:chExt cx="373863" cy="250454"/>
              </a:xfrm>
            </p:grpSpPr>
            <p:sp>
              <p:nvSpPr>
                <p:cNvPr id="9381" name="Google Shape;9381;p85"/>
                <p:cNvSpPr/>
                <p:nvPr/>
              </p:nvSpPr>
              <p:spPr>
                <a:xfrm>
                  <a:off x="3280734" y="4774368"/>
                  <a:ext cx="178234" cy="247924"/>
                </a:xfrm>
                <a:custGeom>
                  <a:avLst/>
                  <a:gdLst/>
                  <a:ahLst/>
                  <a:cxnLst/>
                  <a:rect l="l" t="t" r="r" b="b"/>
                  <a:pathLst>
                    <a:path w="178234" h="247924" extrusionOk="0">
                      <a:moveTo>
                        <a:pt x="122578" y="220729"/>
                      </a:moveTo>
                      <a:cubicBezTo>
                        <a:pt x="116253" y="203652"/>
                        <a:pt x="109296" y="185943"/>
                        <a:pt x="101707" y="168867"/>
                      </a:cubicBezTo>
                      <a:cubicBezTo>
                        <a:pt x="101074" y="166969"/>
                        <a:pt x="99177" y="165072"/>
                        <a:pt x="97280" y="164440"/>
                      </a:cubicBezTo>
                      <a:cubicBezTo>
                        <a:pt x="96647" y="164440"/>
                        <a:pt x="95382" y="163807"/>
                        <a:pt x="94750" y="163807"/>
                      </a:cubicBezTo>
                      <a:cubicBezTo>
                        <a:pt x="93485" y="163807"/>
                        <a:pt x="92220" y="163807"/>
                        <a:pt x="90955" y="164440"/>
                      </a:cubicBezTo>
                      <a:cubicBezTo>
                        <a:pt x="70084" y="175191"/>
                        <a:pt x="49213" y="185943"/>
                        <a:pt x="28341" y="196695"/>
                      </a:cubicBezTo>
                      <a:cubicBezTo>
                        <a:pt x="63759" y="134082"/>
                        <a:pt x="88425" y="67041"/>
                        <a:pt x="101707" y="0"/>
                      </a:cubicBezTo>
                      <a:cubicBezTo>
                        <a:pt x="99177" y="0"/>
                        <a:pt x="96015" y="632"/>
                        <a:pt x="93485" y="1265"/>
                      </a:cubicBezTo>
                      <a:cubicBezTo>
                        <a:pt x="90955" y="1897"/>
                        <a:pt x="87793" y="2530"/>
                        <a:pt x="85263" y="2530"/>
                      </a:cubicBezTo>
                      <a:cubicBezTo>
                        <a:pt x="70084" y="73998"/>
                        <a:pt x="41623" y="145466"/>
                        <a:pt x="1146" y="212507"/>
                      </a:cubicBezTo>
                      <a:cubicBezTo>
                        <a:pt x="-752" y="215669"/>
                        <a:pt x="-119" y="219464"/>
                        <a:pt x="1778" y="221993"/>
                      </a:cubicBezTo>
                      <a:cubicBezTo>
                        <a:pt x="4308" y="224523"/>
                        <a:pt x="8103" y="225156"/>
                        <a:pt x="11265" y="223891"/>
                      </a:cubicBezTo>
                      <a:cubicBezTo>
                        <a:pt x="37828" y="210609"/>
                        <a:pt x="64392" y="197328"/>
                        <a:pt x="90323" y="183413"/>
                      </a:cubicBezTo>
                      <a:cubicBezTo>
                        <a:pt x="99177" y="203020"/>
                        <a:pt x="106766" y="223258"/>
                        <a:pt x="113091" y="242865"/>
                      </a:cubicBezTo>
                      <a:cubicBezTo>
                        <a:pt x="114356" y="246027"/>
                        <a:pt x="116886" y="247924"/>
                        <a:pt x="120048" y="247924"/>
                      </a:cubicBezTo>
                      <a:cubicBezTo>
                        <a:pt x="120048" y="247924"/>
                        <a:pt x="120681" y="247924"/>
                        <a:pt x="120681" y="247924"/>
                      </a:cubicBezTo>
                      <a:cubicBezTo>
                        <a:pt x="123210" y="247924"/>
                        <a:pt x="126373" y="246659"/>
                        <a:pt x="127638" y="244130"/>
                      </a:cubicBezTo>
                      <a:cubicBezTo>
                        <a:pt x="147876" y="208712"/>
                        <a:pt x="164953" y="171397"/>
                        <a:pt x="178234" y="133449"/>
                      </a:cubicBezTo>
                      <a:cubicBezTo>
                        <a:pt x="175705" y="125227"/>
                        <a:pt x="172542" y="116373"/>
                        <a:pt x="170012" y="107518"/>
                      </a:cubicBezTo>
                      <a:cubicBezTo>
                        <a:pt x="157996" y="146098"/>
                        <a:pt x="142184" y="184046"/>
                        <a:pt x="122578" y="22072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82" name="Google Shape;9382;p85"/>
                <p:cNvSpPr/>
                <p:nvPr/>
              </p:nvSpPr>
              <p:spPr>
                <a:xfrm>
                  <a:off x="3454542" y="4771838"/>
                  <a:ext cx="200055" cy="242864"/>
                </a:xfrm>
                <a:custGeom>
                  <a:avLst/>
                  <a:gdLst/>
                  <a:ahLst/>
                  <a:cxnLst/>
                  <a:rect l="l" t="t" r="r" b="b"/>
                  <a:pathLst>
                    <a:path w="200055" h="242864" extrusionOk="0">
                      <a:moveTo>
                        <a:pt x="115740" y="632"/>
                      </a:moveTo>
                      <a:cubicBezTo>
                        <a:pt x="110681" y="1265"/>
                        <a:pt x="104988" y="632"/>
                        <a:pt x="99296" y="0"/>
                      </a:cubicBezTo>
                      <a:cubicBezTo>
                        <a:pt x="112578" y="66408"/>
                        <a:pt x="137244" y="132184"/>
                        <a:pt x="171397" y="194798"/>
                      </a:cubicBezTo>
                      <a:cubicBezTo>
                        <a:pt x="151158" y="184678"/>
                        <a:pt x="130919" y="174559"/>
                        <a:pt x="111313" y="164440"/>
                      </a:cubicBezTo>
                      <a:cubicBezTo>
                        <a:pt x="109416" y="163175"/>
                        <a:pt x="106886" y="163175"/>
                        <a:pt x="104988" y="163807"/>
                      </a:cubicBezTo>
                      <a:cubicBezTo>
                        <a:pt x="103091" y="164440"/>
                        <a:pt x="101194" y="166337"/>
                        <a:pt x="100561" y="168234"/>
                      </a:cubicBezTo>
                      <a:cubicBezTo>
                        <a:pt x="94237" y="184046"/>
                        <a:pt x="88544" y="199857"/>
                        <a:pt x="82852" y="215036"/>
                      </a:cubicBezTo>
                      <a:cubicBezTo>
                        <a:pt x="49332" y="151790"/>
                        <a:pt x="26563" y="84750"/>
                        <a:pt x="15812" y="17709"/>
                      </a:cubicBezTo>
                      <a:cubicBezTo>
                        <a:pt x="13282" y="16444"/>
                        <a:pt x="10752" y="15179"/>
                        <a:pt x="8854" y="15179"/>
                      </a:cubicBezTo>
                      <a:cubicBezTo>
                        <a:pt x="6957" y="15179"/>
                        <a:pt x="3795" y="17076"/>
                        <a:pt x="0" y="18974"/>
                      </a:cubicBezTo>
                      <a:cubicBezTo>
                        <a:pt x="12017" y="94237"/>
                        <a:pt x="38580" y="168867"/>
                        <a:pt x="78425" y="239070"/>
                      </a:cubicBezTo>
                      <a:cubicBezTo>
                        <a:pt x="79690" y="241600"/>
                        <a:pt x="82220" y="242865"/>
                        <a:pt x="85382" y="242865"/>
                      </a:cubicBezTo>
                      <a:cubicBezTo>
                        <a:pt x="85382" y="242865"/>
                        <a:pt x="86015" y="242865"/>
                        <a:pt x="86015" y="242865"/>
                      </a:cubicBezTo>
                      <a:cubicBezTo>
                        <a:pt x="89177" y="242232"/>
                        <a:pt x="91707" y="240335"/>
                        <a:pt x="92972" y="237173"/>
                      </a:cubicBezTo>
                      <a:cubicBezTo>
                        <a:pt x="98664" y="218831"/>
                        <a:pt x="104988" y="200490"/>
                        <a:pt x="112578" y="182149"/>
                      </a:cubicBezTo>
                      <a:cubicBezTo>
                        <a:pt x="137876" y="194798"/>
                        <a:pt x="163175" y="208079"/>
                        <a:pt x="188473" y="220096"/>
                      </a:cubicBezTo>
                      <a:cubicBezTo>
                        <a:pt x="191635" y="221361"/>
                        <a:pt x="195430" y="220729"/>
                        <a:pt x="197960" y="218199"/>
                      </a:cubicBezTo>
                      <a:cubicBezTo>
                        <a:pt x="200490" y="215669"/>
                        <a:pt x="200490" y="211874"/>
                        <a:pt x="199225" y="208712"/>
                      </a:cubicBezTo>
                      <a:cubicBezTo>
                        <a:pt x="158747" y="142936"/>
                        <a:pt x="130919" y="71468"/>
                        <a:pt x="115740" y="63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sp>
            <p:nvSpPr>
              <p:cNvPr id="9383" name="Google Shape;9383;p85"/>
              <p:cNvSpPr/>
              <p:nvPr/>
            </p:nvSpPr>
            <p:spPr>
              <a:xfrm>
                <a:off x="3286307" y="4422087"/>
                <a:ext cx="346587" cy="349116"/>
              </a:xfrm>
              <a:custGeom>
                <a:avLst/>
                <a:gdLst/>
                <a:ahLst/>
                <a:cxnLst/>
                <a:rect l="l" t="t" r="r" b="b"/>
                <a:pathLst>
                  <a:path w="346588" h="349117" extrusionOk="0">
                    <a:moveTo>
                      <a:pt x="137876" y="15812"/>
                    </a:moveTo>
                    <a:cubicBezTo>
                      <a:pt x="139774" y="15812"/>
                      <a:pt x="144833" y="18341"/>
                      <a:pt x="148628" y="20239"/>
                    </a:cubicBezTo>
                    <a:cubicBezTo>
                      <a:pt x="156218" y="23401"/>
                      <a:pt x="164440" y="27828"/>
                      <a:pt x="173927" y="27828"/>
                    </a:cubicBezTo>
                    <a:cubicBezTo>
                      <a:pt x="183413" y="27828"/>
                      <a:pt x="191635" y="24033"/>
                      <a:pt x="199225" y="20239"/>
                    </a:cubicBezTo>
                    <a:cubicBezTo>
                      <a:pt x="202387" y="18341"/>
                      <a:pt x="207447" y="16444"/>
                      <a:pt x="209977" y="15812"/>
                    </a:cubicBezTo>
                    <a:cubicBezTo>
                      <a:pt x="211874" y="17076"/>
                      <a:pt x="215669" y="21504"/>
                      <a:pt x="218199" y="24666"/>
                    </a:cubicBezTo>
                    <a:cubicBezTo>
                      <a:pt x="223258" y="30991"/>
                      <a:pt x="228318" y="37948"/>
                      <a:pt x="236540" y="42375"/>
                    </a:cubicBezTo>
                    <a:cubicBezTo>
                      <a:pt x="244762" y="46802"/>
                      <a:pt x="254249" y="46802"/>
                      <a:pt x="261838" y="46802"/>
                    </a:cubicBezTo>
                    <a:cubicBezTo>
                      <a:pt x="265633" y="46802"/>
                      <a:pt x="271325" y="46802"/>
                      <a:pt x="273223" y="48067"/>
                    </a:cubicBezTo>
                    <a:cubicBezTo>
                      <a:pt x="274488" y="49964"/>
                      <a:pt x="275753" y="55656"/>
                      <a:pt x="276385" y="59451"/>
                    </a:cubicBezTo>
                    <a:cubicBezTo>
                      <a:pt x="278282" y="67041"/>
                      <a:pt x="279547" y="76528"/>
                      <a:pt x="285872" y="83485"/>
                    </a:cubicBezTo>
                    <a:cubicBezTo>
                      <a:pt x="291564" y="91074"/>
                      <a:pt x="299786" y="94869"/>
                      <a:pt x="306743" y="98664"/>
                    </a:cubicBezTo>
                    <a:cubicBezTo>
                      <a:pt x="309905" y="100561"/>
                      <a:pt x="315598" y="103091"/>
                      <a:pt x="316862" y="104988"/>
                    </a:cubicBezTo>
                    <a:cubicBezTo>
                      <a:pt x="317495" y="106886"/>
                      <a:pt x="315598" y="112578"/>
                      <a:pt x="314965" y="116373"/>
                    </a:cubicBezTo>
                    <a:cubicBezTo>
                      <a:pt x="313068" y="123962"/>
                      <a:pt x="311170" y="133449"/>
                      <a:pt x="313068" y="142304"/>
                    </a:cubicBezTo>
                    <a:cubicBezTo>
                      <a:pt x="314965" y="151158"/>
                      <a:pt x="320657" y="158115"/>
                      <a:pt x="325717" y="164440"/>
                    </a:cubicBezTo>
                    <a:cubicBezTo>
                      <a:pt x="328247" y="167602"/>
                      <a:pt x="332042" y="172662"/>
                      <a:pt x="332674" y="174559"/>
                    </a:cubicBezTo>
                    <a:cubicBezTo>
                      <a:pt x="332674" y="176456"/>
                      <a:pt x="328247" y="181516"/>
                      <a:pt x="325717" y="184678"/>
                    </a:cubicBezTo>
                    <a:cubicBezTo>
                      <a:pt x="320657" y="191003"/>
                      <a:pt x="314965" y="197960"/>
                      <a:pt x="313068" y="206814"/>
                    </a:cubicBezTo>
                    <a:cubicBezTo>
                      <a:pt x="311170" y="216301"/>
                      <a:pt x="313068" y="225156"/>
                      <a:pt x="314965" y="232745"/>
                    </a:cubicBezTo>
                    <a:cubicBezTo>
                      <a:pt x="315598" y="236540"/>
                      <a:pt x="317495" y="242232"/>
                      <a:pt x="316862" y="244130"/>
                    </a:cubicBezTo>
                    <a:cubicBezTo>
                      <a:pt x="315598" y="246027"/>
                      <a:pt x="309905" y="248557"/>
                      <a:pt x="306743" y="250454"/>
                    </a:cubicBezTo>
                    <a:cubicBezTo>
                      <a:pt x="299786" y="254249"/>
                      <a:pt x="291564" y="258044"/>
                      <a:pt x="285872" y="265633"/>
                    </a:cubicBezTo>
                    <a:cubicBezTo>
                      <a:pt x="280180" y="273223"/>
                      <a:pt x="278282" y="282077"/>
                      <a:pt x="276385" y="289667"/>
                    </a:cubicBezTo>
                    <a:cubicBezTo>
                      <a:pt x="275753" y="293461"/>
                      <a:pt x="274488" y="299154"/>
                      <a:pt x="273223" y="301051"/>
                    </a:cubicBezTo>
                    <a:cubicBezTo>
                      <a:pt x="271325" y="301683"/>
                      <a:pt x="265001" y="302316"/>
                      <a:pt x="261838" y="302316"/>
                    </a:cubicBezTo>
                    <a:cubicBezTo>
                      <a:pt x="253616" y="302316"/>
                      <a:pt x="244762" y="302948"/>
                      <a:pt x="236540" y="306743"/>
                    </a:cubicBezTo>
                    <a:cubicBezTo>
                      <a:pt x="228318" y="311170"/>
                      <a:pt x="222626" y="318127"/>
                      <a:pt x="218199" y="324452"/>
                    </a:cubicBezTo>
                    <a:cubicBezTo>
                      <a:pt x="215669" y="327614"/>
                      <a:pt x="211874" y="332042"/>
                      <a:pt x="209977" y="333306"/>
                    </a:cubicBezTo>
                    <a:cubicBezTo>
                      <a:pt x="208079" y="333306"/>
                      <a:pt x="203020" y="330777"/>
                      <a:pt x="199225" y="328879"/>
                    </a:cubicBezTo>
                    <a:cubicBezTo>
                      <a:pt x="191635" y="325717"/>
                      <a:pt x="183413" y="321290"/>
                      <a:pt x="173927" y="321290"/>
                    </a:cubicBezTo>
                    <a:cubicBezTo>
                      <a:pt x="164440" y="321290"/>
                      <a:pt x="156218" y="325084"/>
                      <a:pt x="148628" y="328879"/>
                    </a:cubicBezTo>
                    <a:cubicBezTo>
                      <a:pt x="145466" y="330777"/>
                      <a:pt x="140406" y="332674"/>
                      <a:pt x="137876" y="333306"/>
                    </a:cubicBezTo>
                    <a:cubicBezTo>
                      <a:pt x="135979" y="332042"/>
                      <a:pt x="132184" y="327614"/>
                      <a:pt x="129654" y="324452"/>
                    </a:cubicBezTo>
                    <a:cubicBezTo>
                      <a:pt x="124595" y="318127"/>
                      <a:pt x="119535" y="311170"/>
                      <a:pt x="111313" y="306743"/>
                    </a:cubicBezTo>
                    <a:cubicBezTo>
                      <a:pt x="103091" y="302316"/>
                      <a:pt x="93604" y="302316"/>
                      <a:pt x="86015" y="302316"/>
                    </a:cubicBezTo>
                    <a:cubicBezTo>
                      <a:pt x="82220" y="302316"/>
                      <a:pt x="76528" y="302316"/>
                      <a:pt x="74630" y="301051"/>
                    </a:cubicBezTo>
                    <a:cubicBezTo>
                      <a:pt x="73365" y="299154"/>
                      <a:pt x="72100" y="293461"/>
                      <a:pt x="71468" y="289667"/>
                    </a:cubicBezTo>
                    <a:cubicBezTo>
                      <a:pt x="69571" y="282077"/>
                      <a:pt x="68306" y="272590"/>
                      <a:pt x="61981" y="265633"/>
                    </a:cubicBezTo>
                    <a:cubicBezTo>
                      <a:pt x="56289" y="258044"/>
                      <a:pt x="48067" y="254249"/>
                      <a:pt x="41110" y="250454"/>
                    </a:cubicBezTo>
                    <a:cubicBezTo>
                      <a:pt x="37948" y="248557"/>
                      <a:pt x="32255" y="246027"/>
                      <a:pt x="30991" y="244130"/>
                    </a:cubicBezTo>
                    <a:cubicBezTo>
                      <a:pt x="30358" y="242232"/>
                      <a:pt x="32255" y="236540"/>
                      <a:pt x="32888" y="232745"/>
                    </a:cubicBezTo>
                    <a:cubicBezTo>
                      <a:pt x="34785" y="225156"/>
                      <a:pt x="36683" y="215669"/>
                      <a:pt x="34785" y="206814"/>
                    </a:cubicBezTo>
                    <a:cubicBezTo>
                      <a:pt x="32888" y="197960"/>
                      <a:pt x="27196" y="191003"/>
                      <a:pt x="22136" y="184678"/>
                    </a:cubicBezTo>
                    <a:cubicBezTo>
                      <a:pt x="19606" y="181516"/>
                      <a:pt x="15812" y="176456"/>
                      <a:pt x="15179" y="174559"/>
                    </a:cubicBezTo>
                    <a:cubicBezTo>
                      <a:pt x="15179" y="172662"/>
                      <a:pt x="19606" y="167602"/>
                      <a:pt x="22136" y="164440"/>
                    </a:cubicBezTo>
                    <a:cubicBezTo>
                      <a:pt x="27196" y="158115"/>
                      <a:pt x="32888" y="151158"/>
                      <a:pt x="34785" y="142304"/>
                    </a:cubicBezTo>
                    <a:cubicBezTo>
                      <a:pt x="36683" y="132817"/>
                      <a:pt x="34785" y="123962"/>
                      <a:pt x="32888" y="116373"/>
                    </a:cubicBezTo>
                    <a:cubicBezTo>
                      <a:pt x="32255" y="112578"/>
                      <a:pt x="30358" y="106886"/>
                      <a:pt x="30991" y="104988"/>
                    </a:cubicBezTo>
                    <a:cubicBezTo>
                      <a:pt x="32255" y="103091"/>
                      <a:pt x="37948" y="100561"/>
                      <a:pt x="41110" y="98664"/>
                    </a:cubicBezTo>
                    <a:cubicBezTo>
                      <a:pt x="48067" y="94869"/>
                      <a:pt x="56289" y="91074"/>
                      <a:pt x="61981" y="83485"/>
                    </a:cubicBezTo>
                    <a:cubicBezTo>
                      <a:pt x="67673" y="75895"/>
                      <a:pt x="69571" y="67041"/>
                      <a:pt x="71468" y="59451"/>
                    </a:cubicBezTo>
                    <a:cubicBezTo>
                      <a:pt x="72100" y="55656"/>
                      <a:pt x="73365" y="49964"/>
                      <a:pt x="74630" y="48067"/>
                    </a:cubicBezTo>
                    <a:cubicBezTo>
                      <a:pt x="76528" y="47434"/>
                      <a:pt x="82852" y="46802"/>
                      <a:pt x="86015" y="46802"/>
                    </a:cubicBezTo>
                    <a:cubicBezTo>
                      <a:pt x="94237" y="46802"/>
                      <a:pt x="103091" y="46170"/>
                      <a:pt x="111313" y="42375"/>
                    </a:cubicBezTo>
                    <a:cubicBezTo>
                      <a:pt x="119535" y="37948"/>
                      <a:pt x="125227" y="30991"/>
                      <a:pt x="129654" y="24666"/>
                    </a:cubicBezTo>
                    <a:cubicBezTo>
                      <a:pt x="132184" y="22136"/>
                      <a:pt x="135979" y="17076"/>
                      <a:pt x="137876" y="15812"/>
                    </a:cubicBezTo>
                    <a:moveTo>
                      <a:pt x="209344" y="0"/>
                    </a:moveTo>
                    <a:cubicBezTo>
                      <a:pt x="197960" y="0"/>
                      <a:pt x="185311" y="11384"/>
                      <a:pt x="173294" y="11384"/>
                    </a:cubicBezTo>
                    <a:cubicBezTo>
                      <a:pt x="161910" y="11384"/>
                      <a:pt x="148628" y="0"/>
                      <a:pt x="137244" y="0"/>
                    </a:cubicBezTo>
                    <a:cubicBezTo>
                      <a:pt x="135979" y="0"/>
                      <a:pt x="134714" y="0"/>
                      <a:pt x="134082" y="632"/>
                    </a:cubicBezTo>
                    <a:cubicBezTo>
                      <a:pt x="121432" y="3795"/>
                      <a:pt x="115108" y="22769"/>
                      <a:pt x="103723" y="28461"/>
                    </a:cubicBezTo>
                    <a:cubicBezTo>
                      <a:pt x="92339" y="34153"/>
                      <a:pt x="73365" y="27828"/>
                      <a:pt x="63878" y="36050"/>
                    </a:cubicBezTo>
                    <a:cubicBezTo>
                      <a:pt x="54392" y="44272"/>
                      <a:pt x="56921" y="63878"/>
                      <a:pt x="49332" y="73998"/>
                    </a:cubicBezTo>
                    <a:cubicBezTo>
                      <a:pt x="41742" y="84117"/>
                      <a:pt x="21504" y="86647"/>
                      <a:pt x="16444" y="98031"/>
                    </a:cubicBezTo>
                    <a:cubicBezTo>
                      <a:pt x="11384" y="109416"/>
                      <a:pt x="22136" y="126492"/>
                      <a:pt x="19606" y="138509"/>
                    </a:cubicBezTo>
                    <a:cubicBezTo>
                      <a:pt x="17076" y="150525"/>
                      <a:pt x="0" y="161277"/>
                      <a:pt x="0" y="174559"/>
                    </a:cubicBezTo>
                    <a:cubicBezTo>
                      <a:pt x="0" y="187208"/>
                      <a:pt x="17076" y="198592"/>
                      <a:pt x="19606" y="210609"/>
                    </a:cubicBezTo>
                    <a:cubicBezTo>
                      <a:pt x="22136" y="223258"/>
                      <a:pt x="11384" y="240335"/>
                      <a:pt x="16444" y="251087"/>
                    </a:cubicBezTo>
                    <a:cubicBezTo>
                      <a:pt x="21504" y="262471"/>
                      <a:pt x="41742" y="265001"/>
                      <a:pt x="49332" y="275120"/>
                    </a:cubicBezTo>
                    <a:cubicBezTo>
                      <a:pt x="56921" y="285239"/>
                      <a:pt x="54392" y="305478"/>
                      <a:pt x="63878" y="313068"/>
                    </a:cubicBezTo>
                    <a:cubicBezTo>
                      <a:pt x="73365" y="321290"/>
                      <a:pt x="92972" y="314965"/>
                      <a:pt x="103723" y="320657"/>
                    </a:cubicBezTo>
                    <a:cubicBezTo>
                      <a:pt x="115108" y="326349"/>
                      <a:pt x="121432" y="345323"/>
                      <a:pt x="134082" y="348485"/>
                    </a:cubicBezTo>
                    <a:cubicBezTo>
                      <a:pt x="135346" y="348485"/>
                      <a:pt x="136611" y="349118"/>
                      <a:pt x="137244" y="349118"/>
                    </a:cubicBezTo>
                    <a:cubicBezTo>
                      <a:pt x="148628" y="349118"/>
                      <a:pt x="161277" y="337734"/>
                      <a:pt x="173294" y="337734"/>
                    </a:cubicBezTo>
                    <a:cubicBezTo>
                      <a:pt x="184678" y="337734"/>
                      <a:pt x="197960" y="349118"/>
                      <a:pt x="209344" y="349118"/>
                    </a:cubicBezTo>
                    <a:cubicBezTo>
                      <a:pt x="210609" y="349118"/>
                      <a:pt x="211874" y="349118"/>
                      <a:pt x="212507" y="348485"/>
                    </a:cubicBezTo>
                    <a:cubicBezTo>
                      <a:pt x="225156" y="345323"/>
                      <a:pt x="231480" y="326349"/>
                      <a:pt x="242865" y="320657"/>
                    </a:cubicBezTo>
                    <a:cubicBezTo>
                      <a:pt x="254249" y="314965"/>
                      <a:pt x="273223" y="321290"/>
                      <a:pt x="282710" y="313068"/>
                    </a:cubicBezTo>
                    <a:cubicBezTo>
                      <a:pt x="292197" y="304846"/>
                      <a:pt x="289667" y="285239"/>
                      <a:pt x="297256" y="275120"/>
                    </a:cubicBezTo>
                    <a:cubicBezTo>
                      <a:pt x="304846" y="265001"/>
                      <a:pt x="325084" y="262471"/>
                      <a:pt x="330144" y="251087"/>
                    </a:cubicBezTo>
                    <a:cubicBezTo>
                      <a:pt x="335204" y="239702"/>
                      <a:pt x="324452" y="222626"/>
                      <a:pt x="326982" y="210609"/>
                    </a:cubicBezTo>
                    <a:cubicBezTo>
                      <a:pt x="329512" y="198592"/>
                      <a:pt x="346588" y="187841"/>
                      <a:pt x="346588" y="174559"/>
                    </a:cubicBezTo>
                    <a:cubicBezTo>
                      <a:pt x="346588" y="161910"/>
                      <a:pt x="329512" y="150525"/>
                      <a:pt x="326982" y="138509"/>
                    </a:cubicBezTo>
                    <a:cubicBezTo>
                      <a:pt x="324452" y="125860"/>
                      <a:pt x="335204" y="108783"/>
                      <a:pt x="330144" y="98031"/>
                    </a:cubicBezTo>
                    <a:cubicBezTo>
                      <a:pt x="325084" y="86647"/>
                      <a:pt x="304846" y="84117"/>
                      <a:pt x="297256" y="73998"/>
                    </a:cubicBezTo>
                    <a:cubicBezTo>
                      <a:pt x="289667" y="63878"/>
                      <a:pt x="292197" y="43640"/>
                      <a:pt x="282710" y="36050"/>
                    </a:cubicBezTo>
                    <a:cubicBezTo>
                      <a:pt x="273223" y="27828"/>
                      <a:pt x="253616" y="34153"/>
                      <a:pt x="242865" y="28461"/>
                    </a:cubicBezTo>
                    <a:cubicBezTo>
                      <a:pt x="231480" y="22769"/>
                      <a:pt x="225156" y="3795"/>
                      <a:pt x="212507" y="632"/>
                    </a:cubicBezTo>
                    <a:cubicBezTo>
                      <a:pt x="211874" y="632"/>
                      <a:pt x="210609" y="0"/>
                      <a:pt x="209344" y="0"/>
                    </a:cubicBezTo>
                    <a:lnTo>
                      <a:pt x="209344"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84" name="Google Shape;9384;p85"/>
              <p:cNvSpPr/>
              <p:nvPr/>
            </p:nvSpPr>
            <p:spPr>
              <a:xfrm>
                <a:off x="3347656" y="4488496"/>
                <a:ext cx="221361" cy="220728"/>
              </a:xfrm>
              <a:custGeom>
                <a:avLst/>
                <a:gdLst/>
                <a:ahLst/>
                <a:cxnLst/>
                <a:rect l="l" t="t" r="r" b="b"/>
                <a:pathLst>
                  <a:path w="221361" h="220728" extrusionOk="0">
                    <a:moveTo>
                      <a:pt x="110048" y="220729"/>
                    </a:moveTo>
                    <a:cubicBezTo>
                      <a:pt x="105621" y="220729"/>
                      <a:pt x="102459" y="216934"/>
                      <a:pt x="102459" y="213139"/>
                    </a:cubicBezTo>
                    <a:cubicBezTo>
                      <a:pt x="102459" y="209344"/>
                      <a:pt x="106253" y="205550"/>
                      <a:pt x="110048" y="205550"/>
                    </a:cubicBezTo>
                    <a:cubicBezTo>
                      <a:pt x="162542" y="205550"/>
                      <a:pt x="204917" y="163175"/>
                      <a:pt x="204917" y="110681"/>
                    </a:cubicBezTo>
                    <a:cubicBezTo>
                      <a:pt x="204917" y="58186"/>
                      <a:pt x="162542" y="15812"/>
                      <a:pt x="110048" y="15812"/>
                    </a:cubicBezTo>
                    <a:cubicBezTo>
                      <a:pt x="57554" y="15812"/>
                      <a:pt x="15179" y="58186"/>
                      <a:pt x="15179" y="110681"/>
                    </a:cubicBezTo>
                    <a:cubicBezTo>
                      <a:pt x="15179" y="115108"/>
                      <a:pt x="11384" y="118270"/>
                      <a:pt x="7590" y="118270"/>
                    </a:cubicBezTo>
                    <a:cubicBezTo>
                      <a:pt x="3795" y="118270"/>
                      <a:pt x="0" y="114475"/>
                      <a:pt x="0" y="110681"/>
                    </a:cubicBezTo>
                    <a:cubicBezTo>
                      <a:pt x="0" y="49964"/>
                      <a:pt x="49964" y="0"/>
                      <a:pt x="110681" y="0"/>
                    </a:cubicBezTo>
                    <a:cubicBezTo>
                      <a:pt x="171397" y="0"/>
                      <a:pt x="221361" y="49964"/>
                      <a:pt x="221361" y="110681"/>
                    </a:cubicBezTo>
                    <a:cubicBezTo>
                      <a:pt x="221361" y="171397"/>
                      <a:pt x="171397" y="220729"/>
                      <a:pt x="110048" y="22072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nvGrpSpPr>
          <p:cNvPr id="9385" name="Google Shape;9385;p85"/>
          <p:cNvGrpSpPr/>
          <p:nvPr/>
        </p:nvGrpSpPr>
        <p:grpSpPr>
          <a:xfrm>
            <a:off x="8854379" y="3534551"/>
            <a:ext cx="758008" cy="2475217"/>
            <a:chOff x="8549193" y="3703187"/>
            <a:chExt cx="758008" cy="2475217"/>
          </a:xfrm>
        </p:grpSpPr>
        <p:sp>
          <p:nvSpPr>
            <p:cNvPr id="9386" name="Google Shape;9386;p85"/>
            <p:cNvSpPr/>
            <p:nvPr/>
          </p:nvSpPr>
          <p:spPr>
            <a:xfrm>
              <a:off x="8549193" y="5799400"/>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Stretched</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Cluster</a:t>
              </a:r>
              <a:endParaRPr/>
            </a:p>
          </p:txBody>
        </p:sp>
        <p:cxnSp>
          <p:nvCxnSpPr>
            <p:cNvPr id="9387" name="Google Shape;9387;p85"/>
            <p:cNvCxnSpPr/>
            <p:nvPr/>
          </p:nvCxnSpPr>
          <p:spPr>
            <a:xfrm>
              <a:off x="8928196" y="3703187"/>
              <a:ext cx="0" cy="1554480"/>
            </a:xfrm>
            <a:prstGeom prst="straightConnector1">
              <a:avLst/>
            </a:prstGeom>
            <a:noFill/>
            <a:ln w="12700" cap="flat" cmpd="sng">
              <a:solidFill>
                <a:schemeClr val="dk1"/>
              </a:solidFill>
              <a:prstDash val="solid"/>
              <a:miter lim="800000"/>
              <a:headEnd type="none" w="sm" len="sm"/>
              <a:tailEnd type="none" w="sm" len="sm"/>
            </a:ln>
          </p:spPr>
        </p:cxnSp>
        <p:sp>
          <p:nvSpPr>
            <p:cNvPr id="9388" name="Google Shape;9388;p85"/>
            <p:cNvSpPr/>
            <p:nvPr/>
          </p:nvSpPr>
          <p:spPr>
            <a:xfrm rot="10800000">
              <a:off x="8688136" y="524966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pic>
          <p:nvPicPr>
            <p:cNvPr id="9389" name="Google Shape;9389;p85" descr="Agile Storage Ops&#10;"/>
            <p:cNvPicPr preferRelativeResize="0"/>
            <p:nvPr/>
          </p:nvPicPr>
          <p:blipFill rotWithShape="1">
            <a:blip r:embed="rId12">
              <a:alphaModFix/>
            </a:blip>
            <a:srcRect/>
            <a:stretch/>
          </p:blipFill>
          <p:spPr>
            <a:xfrm>
              <a:off x="8752936" y="5296935"/>
              <a:ext cx="365760" cy="365760"/>
            </a:xfrm>
            <a:prstGeom prst="rect">
              <a:avLst/>
            </a:prstGeom>
            <a:noFill/>
            <a:ln>
              <a:noFill/>
            </a:ln>
          </p:spPr>
        </p:pic>
      </p:grpSp>
      <p:grpSp>
        <p:nvGrpSpPr>
          <p:cNvPr id="9390" name="Google Shape;9390;p85"/>
          <p:cNvGrpSpPr/>
          <p:nvPr/>
        </p:nvGrpSpPr>
        <p:grpSpPr>
          <a:xfrm>
            <a:off x="7092013" y="1261010"/>
            <a:ext cx="758008" cy="1317802"/>
            <a:chOff x="7319291" y="1436575"/>
            <a:chExt cx="758008" cy="1317802"/>
          </a:xfrm>
        </p:grpSpPr>
        <p:cxnSp>
          <p:nvCxnSpPr>
            <p:cNvPr id="9391" name="Google Shape;9391;p85"/>
            <p:cNvCxnSpPr/>
            <p:nvPr/>
          </p:nvCxnSpPr>
          <p:spPr>
            <a:xfrm rot="10800000">
              <a:off x="7698292" y="2388712"/>
              <a:ext cx="0" cy="365665"/>
            </a:xfrm>
            <a:prstGeom prst="straightConnector1">
              <a:avLst/>
            </a:prstGeom>
            <a:noFill/>
            <a:ln w="12700" cap="flat" cmpd="sng">
              <a:solidFill>
                <a:schemeClr val="dk1"/>
              </a:solidFill>
              <a:prstDash val="solid"/>
              <a:miter lim="800000"/>
              <a:headEnd type="none" w="sm" len="sm"/>
              <a:tailEnd type="none" w="sm" len="sm"/>
            </a:ln>
          </p:spPr>
        </p:cxnSp>
        <p:sp>
          <p:nvSpPr>
            <p:cNvPr id="9392" name="Google Shape;9392;p85"/>
            <p:cNvSpPr/>
            <p:nvPr/>
          </p:nvSpPr>
          <p:spPr>
            <a:xfrm>
              <a:off x="7458232" y="1900043"/>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393" name="Google Shape;9393;p85"/>
            <p:cNvSpPr/>
            <p:nvPr/>
          </p:nvSpPr>
          <p:spPr>
            <a:xfrm>
              <a:off x="7319291" y="1436575"/>
              <a:ext cx="758008" cy="3790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000001"/>
                  </a:solidFill>
                  <a:latin typeface="Arial"/>
                  <a:ea typeface="Arial"/>
                  <a:cs typeface="Arial"/>
                  <a:sym typeface="Arial"/>
                </a:rPr>
                <a:t>HCX</a:t>
              </a:r>
              <a:endParaRPr/>
            </a:p>
          </p:txBody>
        </p:sp>
        <p:grpSp>
          <p:nvGrpSpPr>
            <p:cNvPr id="9394" name="Google Shape;9394;p85" descr="Multiple apps&#10;"/>
            <p:cNvGrpSpPr/>
            <p:nvPr/>
          </p:nvGrpSpPr>
          <p:grpSpPr>
            <a:xfrm>
              <a:off x="7561230" y="2002791"/>
              <a:ext cx="274320" cy="271874"/>
              <a:chOff x="5805988" y="720881"/>
              <a:chExt cx="597276" cy="591949"/>
            </a:xfrm>
          </p:grpSpPr>
          <p:sp>
            <p:nvSpPr>
              <p:cNvPr id="9395" name="Google Shape;9395;p85"/>
              <p:cNvSpPr/>
              <p:nvPr/>
            </p:nvSpPr>
            <p:spPr>
              <a:xfrm>
                <a:off x="5906360" y="1003800"/>
                <a:ext cx="96133" cy="95827"/>
              </a:xfrm>
              <a:custGeom>
                <a:avLst/>
                <a:gdLst/>
                <a:ahLst/>
                <a:cxnLst/>
                <a:rect l="l" t="t" r="r" b="b"/>
                <a:pathLst>
                  <a:path w="96133" h="95827" extrusionOk="0">
                    <a:moveTo>
                      <a:pt x="75010" y="74089"/>
                    </a:moveTo>
                    <a:lnTo>
                      <a:pt x="21440" y="74089"/>
                    </a:lnTo>
                    <a:lnTo>
                      <a:pt x="11764" y="95827"/>
                    </a:lnTo>
                    <a:lnTo>
                      <a:pt x="0" y="95827"/>
                    </a:lnTo>
                    <a:lnTo>
                      <a:pt x="42122" y="0"/>
                    </a:lnTo>
                    <a:lnTo>
                      <a:pt x="54012" y="0"/>
                    </a:lnTo>
                    <a:lnTo>
                      <a:pt x="96134" y="95827"/>
                    </a:lnTo>
                    <a:lnTo>
                      <a:pt x="84307" y="95827"/>
                    </a:lnTo>
                    <a:close/>
                    <a:moveTo>
                      <a:pt x="70583" y="63758"/>
                    </a:moveTo>
                    <a:lnTo>
                      <a:pt x="48446" y="13056"/>
                    </a:lnTo>
                    <a:lnTo>
                      <a:pt x="26184" y="6375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96" name="Google Shape;9396;p85"/>
              <p:cNvSpPr/>
              <p:nvPr/>
            </p:nvSpPr>
            <p:spPr>
              <a:xfrm>
                <a:off x="6022100" y="1003800"/>
                <a:ext cx="74061" cy="95890"/>
              </a:xfrm>
              <a:custGeom>
                <a:avLst/>
                <a:gdLst/>
                <a:ahLst/>
                <a:cxnLst/>
                <a:rect l="l" t="t" r="r" b="b"/>
                <a:pathLst>
                  <a:path w="74061" h="95890" extrusionOk="0">
                    <a:moveTo>
                      <a:pt x="0" y="0"/>
                    </a:moveTo>
                    <a:lnTo>
                      <a:pt x="38833" y="0"/>
                    </a:lnTo>
                    <a:cubicBezTo>
                      <a:pt x="58629" y="0"/>
                      <a:pt x="74061" y="12676"/>
                      <a:pt x="74061" y="30675"/>
                    </a:cubicBezTo>
                    <a:cubicBezTo>
                      <a:pt x="74061" y="48674"/>
                      <a:pt x="58629" y="61413"/>
                      <a:pt x="38833" y="61413"/>
                    </a:cubicBezTo>
                    <a:lnTo>
                      <a:pt x="10878" y="61413"/>
                    </a:lnTo>
                    <a:lnTo>
                      <a:pt x="10878" y="95891"/>
                    </a:lnTo>
                    <a:lnTo>
                      <a:pt x="0" y="95891"/>
                    </a:lnTo>
                    <a:close/>
                    <a:moveTo>
                      <a:pt x="36872" y="50702"/>
                    </a:moveTo>
                    <a:cubicBezTo>
                      <a:pt x="52494" y="50702"/>
                      <a:pt x="63056" y="43224"/>
                      <a:pt x="63056" y="30358"/>
                    </a:cubicBezTo>
                    <a:cubicBezTo>
                      <a:pt x="63056" y="17492"/>
                      <a:pt x="52494" y="10014"/>
                      <a:pt x="36872" y="10014"/>
                    </a:cubicBezTo>
                    <a:lnTo>
                      <a:pt x="10878" y="10014"/>
                    </a:lnTo>
                    <a:lnTo>
                      <a:pt x="10878" y="5070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97" name="Google Shape;9397;p85"/>
              <p:cNvSpPr/>
              <p:nvPr/>
            </p:nvSpPr>
            <p:spPr>
              <a:xfrm>
                <a:off x="6115894" y="1003800"/>
                <a:ext cx="74061" cy="95890"/>
              </a:xfrm>
              <a:custGeom>
                <a:avLst/>
                <a:gdLst/>
                <a:ahLst/>
                <a:cxnLst/>
                <a:rect l="l" t="t" r="r" b="b"/>
                <a:pathLst>
                  <a:path w="74061" h="95890" extrusionOk="0">
                    <a:moveTo>
                      <a:pt x="0" y="0"/>
                    </a:moveTo>
                    <a:lnTo>
                      <a:pt x="38833" y="0"/>
                    </a:lnTo>
                    <a:cubicBezTo>
                      <a:pt x="58566" y="0"/>
                      <a:pt x="74061" y="12676"/>
                      <a:pt x="74061" y="30675"/>
                    </a:cubicBezTo>
                    <a:cubicBezTo>
                      <a:pt x="74061" y="48674"/>
                      <a:pt x="58566" y="61413"/>
                      <a:pt x="38833" y="61413"/>
                    </a:cubicBezTo>
                    <a:lnTo>
                      <a:pt x="10942" y="61413"/>
                    </a:lnTo>
                    <a:lnTo>
                      <a:pt x="10942" y="95891"/>
                    </a:lnTo>
                    <a:lnTo>
                      <a:pt x="0" y="95891"/>
                    </a:lnTo>
                    <a:close/>
                    <a:moveTo>
                      <a:pt x="36872" y="50702"/>
                    </a:moveTo>
                    <a:cubicBezTo>
                      <a:pt x="52431" y="50702"/>
                      <a:pt x="63056" y="43224"/>
                      <a:pt x="63056" y="30358"/>
                    </a:cubicBezTo>
                    <a:cubicBezTo>
                      <a:pt x="63056" y="17492"/>
                      <a:pt x="52431" y="10014"/>
                      <a:pt x="36872" y="10014"/>
                    </a:cubicBezTo>
                    <a:lnTo>
                      <a:pt x="10942" y="10014"/>
                    </a:lnTo>
                    <a:lnTo>
                      <a:pt x="10942" y="5070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98" name="Google Shape;9398;p85"/>
              <p:cNvSpPr/>
              <p:nvPr/>
            </p:nvSpPr>
            <p:spPr>
              <a:xfrm>
                <a:off x="5805988" y="821652"/>
                <a:ext cx="490156" cy="491178"/>
              </a:xfrm>
              <a:custGeom>
                <a:avLst/>
                <a:gdLst/>
                <a:ahLst/>
                <a:cxnLst/>
                <a:rect l="l" t="t" r="r" b="b"/>
                <a:pathLst>
                  <a:path w="490156" h="491178" extrusionOk="0">
                    <a:moveTo>
                      <a:pt x="452715" y="15844"/>
                    </a:moveTo>
                    <a:cubicBezTo>
                      <a:pt x="464661" y="15844"/>
                      <a:pt x="474345" y="25549"/>
                      <a:pt x="474345" y="37520"/>
                    </a:cubicBezTo>
                    <a:lnTo>
                      <a:pt x="474345" y="453659"/>
                    </a:lnTo>
                    <a:cubicBezTo>
                      <a:pt x="474345" y="465631"/>
                      <a:pt x="464661" y="475334"/>
                      <a:pt x="452715" y="475334"/>
                    </a:cubicBezTo>
                    <a:lnTo>
                      <a:pt x="37442" y="475334"/>
                    </a:lnTo>
                    <a:cubicBezTo>
                      <a:pt x="25496" y="475334"/>
                      <a:pt x="15812" y="465631"/>
                      <a:pt x="15812" y="453659"/>
                    </a:cubicBezTo>
                    <a:lnTo>
                      <a:pt x="15812" y="37520"/>
                    </a:lnTo>
                    <a:cubicBezTo>
                      <a:pt x="15812" y="25549"/>
                      <a:pt x="25496" y="15844"/>
                      <a:pt x="37442" y="15844"/>
                    </a:cubicBezTo>
                    <a:lnTo>
                      <a:pt x="452715" y="15844"/>
                    </a:lnTo>
                    <a:moveTo>
                      <a:pt x="452715" y="0"/>
                    </a:moveTo>
                    <a:lnTo>
                      <a:pt x="37442" y="0"/>
                    </a:lnTo>
                    <a:cubicBezTo>
                      <a:pt x="16763" y="0"/>
                      <a:pt x="0" y="16798"/>
                      <a:pt x="0" y="37520"/>
                    </a:cubicBezTo>
                    <a:lnTo>
                      <a:pt x="0" y="453659"/>
                    </a:lnTo>
                    <a:cubicBezTo>
                      <a:pt x="0" y="474383"/>
                      <a:pt x="16763" y="491178"/>
                      <a:pt x="37442" y="491178"/>
                    </a:cubicBezTo>
                    <a:lnTo>
                      <a:pt x="452715" y="491178"/>
                    </a:lnTo>
                    <a:cubicBezTo>
                      <a:pt x="473393" y="491178"/>
                      <a:pt x="490156" y="474383"/>
                      <a:pt x="490156" y="453659"/>
                    </a:cubicBezTo>
                    <a:lnTo>
                      <a:pt x="490156" y="37520"/>
                    </a:lnTo>
                    <a:cubicBezTo>
                      <a:pt x="490156" y="16798"/>
                      <a:pt x="473393" y="0"/>
                      <a:pt x="45271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399" name="Google Shape;9399;p85"/>
              <p:cNvSpPr/>
              <p:nvPr/>
            </p:nvSpPr>
            <p:spPr>
              <a:xfrm>
                <a:off x="5862214" y="771267"/>
                <a:ext cx="486595" cy="491241"/>
              </a:xfrm>
              <a:custGeom>
                <a:avLst/>
                <a:gdLst/>
                <a:ahLst/>
                <a:cxnLst/>
                <a:rect l="l" t="t" r="r" b="b"/>
                <a:pathLst>
                  <a:path w="486595" h="491241" extrusionOk="0">
                    <a:moveTo>
                      <a:pt x="461696" y="491242"/>
                    </a:moveTo>
                    <a:lnTo>
                      <a:pt x="454739" y="477045"/>
                    </a:lnTo>
                    <a:cubicBezTo>
                      <a:pt x="464577" y="472211"/>
                      <a:pt x="470792" y="462167"/>
                      <a:pt x="470740" y="451187"/>
                    </a:cubicBezTo>
                    <a:lnTo>
                      <a:pt x="470740" y="44555"/>
                    </a:lnTo>
                    <a:cubicBezTo>
                      <a:pt x="471309" y="24020"/>
                      <a:pt x="467261" y="17049"/>
                      <a:pt x="441900" y="15844"/>
                    </a:cubicBezTo>
                    <a:lnTo>
                      <a:pt x="39023" y="15844"/>
                    </a:lnTo>
                    <a:cubicBezTo>
                      <a:pt x="22516" y="15844"/>
                      <a:pt x="17772" y="21232"/>
                      <a:pt x="15242" y="30548"/>
                    </a:cubicBezTo>
                    <a:lnTo>
                      <a:pt x="0" y="26429"/>
                    </a:lnTo>
                    <a:cubicBezTo>
                      <a:pt x="6325" y="2725"/>
                      <a:pt x="25298" y="0"/>
                      <a:pt x="39023" y="0"/>
                    </a:cubicBezTo>
                    <a:lnTo>
                      <a:pt x="442279" y="0"/>
                    </a:lnTo>
                    <a:cubicBezTo>
                      <a:pt x="475167" y="1521"/>
                      <a:pt x="487437" y="14133"/>
                      <a:pt x="486551" y="44808"/>
                    </a:cubicBezTo>
                    <a:lnTo>
                      <a:pt x="486551" y="451187"/>
                    </a:lnTo>
                    <a:cubicBezTo>
                      <a:pt x="486622" y="468211"/>
                      <a:pt x="476964" y="483775"/>
                      <a:pt x="461696" y="4912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00" name="Google Shape;9400;p85"/>
              <p:cNvSpPr/>
              <p:nvPr/>
            </p:nvSpPr>
            <p:spPr>
              <a:xfrm>
                <a:off x="5916669" y="720881"/>
                <a:ext cx="486595" cy="491304"/>
              </a:xfrm>
              <a:custGeom>
                <a:avLst/>
                <a:gdLst/>
                <a:ahLst/>
                <a:cxnLst/>
                <a:rect l="l" t="t" r="r" b="b"/>
                <a:pathLst>
                  <a:path w="486595" h="491304" extrusionOk="0">
                    <a:moveTo>
                      <a:pt x="461696" y="491305"/>
                    </a:moveTo>
                    <a:lnTo>
                      <a:pt x="454739" y="477425"/>
                    </a:lnTo>
                    <a:cubicBezTo>
                      <a:pt x="464561" y="472585"/>
                      <a:pt x="470759" y="462537"/>
                      <a:pt x="470677" y="451567"/>
                    </a:cubicBezTo>
                    <a:lnTo>
                      <a:pt x="470677" y="44618"/>
                    </a:lnTo>
                    <a:cubicBezTo>
                      <a:pt x="471309" y="24020"/>
                      <a:pt x="467261" y="17112"/>
                      <a:pt x="441900" y="15844"/>
                    </a:cubicBezTo>
                    <a:lnTo>
                      <a:pt x="39023" y="15844"/>
                    </a:lnTo>
                    <a:cubicBezTo>
                      <a:pt x="22516" y="15844"/>
                      <a:pt x="17772" y="21232"/>
                      <a:pt x="15242" y="30548"/>
                    </a:cubicBezTo>
                    <a:lnTo>
                      <a:pt x="0" y="26365"/>
                    </a:lnTo>
                    <a:cubicBezTo>
                      <a:pt x="6325" y="2725"/>
                      <a:pt x="25298" y="0"/>
                      <a:pt x="39023" y="0"/>
                    </a:cubicBezTo>
                    <a:lnTo>
                      <a:pt x="442279" y="0"/>
                    </a:lnTo>
                    <a:cubicBezTo>
                      <a:pt x="475167" y="1521"/>
                      <a:pt x="487437" y="14070"/>
                      <a:pt x="486551" y="44808"/>
                    </a:cubicBezTo>
                    <a:lnTo>
                      <a:pt x="486551" y="451250"/>
                    </a:lnTo>
                    <a:cubicBezTo>
                      <a:pt x="486621" y="468275"/>
                      <a:pt x="476963" y="483838"/>
                      <a:pt x="461696" y="4913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nvGrpSpPr>
          <p:cNvPr id="9401" name="Google Shape;9401;p85"/>
          <p:cNvGrpSpPr/>
          <p:nvPr/>
        </p:nvGrpSpPr>
        <p:grpSpPr>
          <a:xfrm>
            <a:off x="4438837" y="3527622"/>
            <a:ext cx="758008" cy="2475217"/>
            <a:chOff x="4922073" y="3703187"/>
            <a:chExt cx="758008" cy="2475217"/>
          </a:xfrm>
        </p:grpSpPr>
        <p:sp>
          <p:nvSpPr>
            <p:cNvPr id="9402" name="Google Shape;9402;p85"/>
            <p:cNvSpPr/>
            <p:nvPr/>
          </p:nvSpPr>
          <p:spPr>
            <a:xfrm>
              <a:off x="4922073" y="5799400"/>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1"/>
                </a:buClr>
                <a:buSzPts val="1100"/>
                <a:buFont typeface="Arial"/>
                <a:buNone/>
              </a:pPr>
              <a:r>
                <a:rPr lang="en-US" sz="1100" b="0" i="0" u="none" strike="noStrike" cap="none">
                  <a:solidFill>
                    <a:srgbClr val="000001"/>
                  </a:solidFill>
                  <a:latin typeface="Arial"/>
                  <a:ea typeface="Arial"/>
                  <a:cs typeface="Arial"/>
                  <a:sym typeface="Arial"/>
                </a:rPr>
                <a:t>Network</a:t>
              </a:r>
              <a:br>
                <a:rPr lang="en-US" sz="1100" b="0" i="0" u="none" strike="noStrike" cap="none">
                  <a:solidFill>
                    <a:srgbClr val="000001"/>
                  </a:solidFill>
                  <a:latin typeface="Arial"/>
                  <a:ea typeface="Arial"/>
                  <a:cs typeface="Arial"/>
                  <a:sym typeface="Arial"/>
                </a:rPr>
              </a:br>
              <a:r>
                <a:rPr lang="en-US" sz="1100" b="0" i="0" u="none" strike="noStrike" cap="none">
                  <a:solidFill>
                    <a:srgbClr val="000001"/>
                  </a:solidFill>
                  <a:latin typeface="Arial"/>
                  <a:ea typeface="Arial"/>
                  <a:cs typeface="Arial"/>
                  <a:sym typeface="Arial"/>
                </a:rPr>
                <a:t>Monitoring</a:t>
              </a:r>
              <a:endParaRPr/>
            </a:p>
          </p:txBody>
        </p:sp>
        <p:cxnSp>
          <p:nvCxnSpPr>
            <p:cNvPr id="9403" name="Google Shape;9403;p85"/>
            <p:cNvCxnSpPr/>
            <p:nvPr/>
          </p:nvCxnSpPr>
          <p:spPr>
            <a:xfrm>
              <a:off x="5301076" y="3703187"/>
              <a:ext cx="0" cy="1554480"/>
            </a:xfrm>
            <a:prstGeom prst="straightConnector1">
              <a:avLst/>
            </a:prstGeom>
            <a:noFill/>
            <a:ln w="12700" cap="flat" cmpd="sng">
              <a:solidFill>
                <a:schemeClr val="dk1"/>
              </a:solidFill>
              <a:prstDash val="solid"/>
              <a:miter lim="800000"/>
              <a:headEnd type="none" w="sm" len="sm"/>
              <a:tailEnd type="none" w="sm" len="sm"/>
            </a:ln>
          </p:spPr>
        </p:cxnSp>
        <p:sp>
          <p:nvSpPr>
            <p:cNvPr id="9404" name="Google Shape;9404;p85"/>
            <p:cNvSpPr/>
            <p:nvPr/>
          </p:nvSpPr>
          <p:spPr>
            <a:xfrm rot="10800000">
              <a:off x="5061016" y="5249667"/>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grpSp>
          <p:nvGrpSpPr>
            <p:cNvPr id="9405" name="Google Shape;9405;p85" descr="Filtered Data&#10;"/>
            <p:cNvGrpSpPr/>
            <p:nvPr/>
          </p:nvGrpSpPr>
          <p:grpSpPr>
            <a:xfrm>
              <a:off x="5163916" y="5354825"/>
              <a:ext cx="273749" cy="273180"/>
              <a:chOff x="7128581" y="1952373"/>
              <a:chExt cx="597018" cy="595777"/>
            </a:xfrm>
          </p:grpSpPr>
          <p:sp>
            <p:nvSpPr>
              <p:cNvPr id="9406" name="Google Shape;9406;p85"/>
              <p:cNvSpPr/>
              <p:nvPr/>
            </p:nvSpPr>
            <p:spPr>
              <a:xfrm>
                <a:off x="7314912" y="1952373"/>
                <a:ext cx="229427" cy="595777"/>
              </a:xfrm>
              <a:custGeom>
                <a:avLst/>
                <a:gdLst/>
                <a:ahLst/>
                <a:cxnLst/>
                <a:rect l="l" t="t" r="r" b="b"/>
                <a:pathLst>
                  <a:path w="229427" h="595777" extrusionOk="0">
                    <a:moveTo>
                      <a:pt x="58941" y="595777"/>
                    </a:moveTo>
                    <a:lnTo>
                      <a:pt x="0" y="595777"/>
                    </a:lnTo>
                    <a:lnTo>
                      <a:pt x="0" y="576804"/>
                    </a:lnTo>
                    <a:lnTo>
                      <a:pt x="48167" y="576804"/>
                    </a:lnTo>
                    <a:lnTo>
                      <a:pt x="207879" y="297889"/>
                    </a:lnTo>
                    <a:lnTo>
                      <a:pt x="48167" y="18974"/>
                    </a:lnTo>
                    <a:lnTo>
                      <a:pt x="0" y="18974"/>
                    </a:lnTo>
                    <a:lnTo>
                      <a:pt x="0" y="0"/>
                    </a:lnTo>
                    <a:lnTo>
                      <a:pt x="58941" y="0"/>
                    </a:lnTo>
                    <a:lnTo>
                      <a:pt x="229428" y="29788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nvGrpSpPr>
              <p:cNvPr id="9407" name="Google Shape;9407;p85"/>
              <p:cNvGrpSpPr/>
              <p:nvPr/>
            </p:nvGrpSpPr>
            <p:grpSpPr>
              <a:xfrm>
                <a:off x="7253435" y="2016251"/>
                <a:ext cx="347310" cy="35417"/>
                <a:chOff x="7253435" y="2016251"/>
                <a:chExt cx="347310" cy="35417"/>
              </a:xfrm>
            </p:grpSpPr>
            <p:sp>
              <p:nvSpPr>
                <p:cNvPr id="9408" name="Google Shape;9408;p85"/>
                <p:cNvSpPr/>
                <p:nvPr/>
              </p:nvSpPr>
              <p:spPr>
                <a:xfrm>
                  <a:off x="7253435" y="2016251"/>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09" name="Google Shape;9409;p85"/>
                <p:cNvSpPr/>
                <p:nvPr/>
              </p:nvSpPr>
              <p:spPr>
                <a:xfrm>
                  <a:off x="7315545" y="2016251"/>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10" name="Google Shape;9410;p85"/>
                <p:cNvSpPr/>
                <p:nvPr/>
              </p:nvSpPr>
              <p:spPr>
                <a:xfrm>
                  <a:off x="7378290" y="2016251"/>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11" name="Google Shape;9411;p85"/>
                <p:cNvSpPr/>
                <p:nvPr/>
              </p:nvSpPr>
              <p:spPr>
                <a:xfrm>
                  <a:off x="7503144" y="2016251"/>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12" name="Google Shape;9412;p85"/>
                <p:cNvSpPr/>
                <p:nvPr/>
              </p:nvSpPr>
              <p:spPr>
                <a:xfrm>
                  <a:off x="7565254" y="2016251"/>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413" name="Google Shape;9413;p85"/>
              <p:cNvGrpSpPr/>
              <p:nvPr/>
            </p:nvGrpSpPr>
            <p:grpSpPr>
              <a:xfrm>
                <a:off x="7315545" y="2102898"/>
                <a:ext cx="347310" cy="35417"/>
                <a:chOff x="7315545" y="2102898"/>
                <a:chExt cx="347310" cy="35417"/>
              </a:xfrm>
            </p:grpSpPr>
            <p:sp>
              <p:nvSpPr>
                <p:cNvPr id="9414" name="Google Shape;9414;p85"/>
                <p:cNvSpPr/>
                <p:nvPr/>
              </p:nvSpPr>
              <p:spPr>
                <a:xfrm>
                  <a:off x="7315545" y="2102898"/>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15" name="Google Shape;9415;p85"/>
                <p:cNvSpPr/>
                <p:nvPr/>
              </p:nvSpPr>
              <p:spPr>
                <a:xfrm>
                  <a:off x="7378290" y="2102898"/>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16" name="Google Shape;9416;p85"/>
                <p:cNvSpPr/>
                <p:nvPr/>
              </p:nvSpPr>
              <p:spPr>
                <a:xfrm>
                  <a:off x="7627364" y="2102898"/>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417" name="Google Shape;9417;p85"/>
              <p:cNvGrpSpPr/>
              <p:nvPr/>
            </p:nvGrpSpPr>
            <p:grpSpPr>
              <a:xfrm>
                <a:off x="7191959" y="2189545"/>
                <a:ext cx="533640" cy="35417"/>
                <a:chOff x="7191959" y="2189545"/>
                <a:chExt cx="533640" cy="35417"/>
              </a:xfrm>
            </p:grpSpPr>
            <p:sp>
              <p:nvSpPr>
                <p:cNvPr id="9418" name="Google Shape;9418;p85"/>
                <p:cNvSpPr/>
                <p:nvPr/>
              </p:nvSpPr>
              <p:spPr>
                <a:xfrm>
                  <a:off x="7253435"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19" name="Google Shape;9419;p85"/>
                <p:cNvSpPr/>
                <p:nvPr/>
              </p:nvSpPr>
              <p:spPr>
                <a:xfrm>
                  <a:off x="7191959"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20" name="Google Shape;9420;p85"/>
                <p:cNvSpPr/>
                <p:nvPr/>
              </p:nvSpPr>
              <p:spPr>
                <a:xfrm>
                  <a:off x="7315545"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21" name="Google Shape;9421;p85"/>
                <p:cNvSpPr/>
                <p:nvPr/>
              </p:nvSpPr>
              <p:spPr>
                <a:xfrm>
                  <a:off x="7378290"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22" name="Google Shape;9422;p85"/>
                <p:cNvSpPr/>
                <p:nvPr/>
              </p:nvSpPr>
              <p:spPr>
                <a:xfrm>
                  <a:off x="7440400"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23" name="Google Shape;9423;p85"/>
                <p:cNvSpPr/>
                <p:nvPr/>
              </p:nvSpPr>
              <p:spPr>
                <a:xfrm>
                  <a:off x="7627364"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24" name="Google Shape;9424;p85"/>
                <p:cNvSpPr/>
                <p:nvPr/>
              </p:nvSpPr>
              <p:spPr>
                <a:xfrm>
                  <a:off x="7690108" y="2189545"/>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425" name="Google Shape;9425;p85"/>
              <p:cNvGrpSpPr/>
              <p:nvPr/>
            </p:nvGrpSpPr>
            <p:grpSpPr>
              <a:xfrm>
                <a:off x="7128581" y="2275560"/>
                <a:ext cx="472164" cy="35417"/>
                <a:chOff x="7128581" y="2275560"/>
                <a:chExt cx="472164" cy="35417"/>
              </a:xfrm>
            </p:grpSpPr>
            <p:sp>
              <p:nvSpPr>
                <p:cNvPr id="9426" name="Google Shape;9426;p85"/>
                <p:cNvSpPr/>
                <p:nvPr/>
              </p:nvSpPr>
              <p:spPr>
                <a:xfrm>
                  <a:off x="7253435"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27" name="Google Shape;9427;p85"/>
                <p:cNvSpPr/>
                <p:nvPr/>
              </p:nvSpPr>
              <p:spPr>
                <a:xfrm>
                  <a:off x="7191325"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28" name="Google Shape;9428;p85"/>
                <p:cNvSpPr/>
                <p:nvPr/>
              </p:nvSpPr>
              <p:spPr>
                <a:xfrm>
                  <a:off x="7128581"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29" name="Google Shape;9429;p85"/>
                <p:cNvSpPr/>
                <p:nvPr/>
              </p:nvSpPr>
              <p:spPr>
                <a:xfrm>
                  <a:off x="7315545"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30" name="Google Shape;9430;p85"/>
                <p:cNvSpPr/>
                <p:nvPr/>
              </p:nvSpPr>
              <p:spPr>
                <a:xfrm>
                  <a:off x="7378290"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31" name="Google Shape;9431;p85"/>
                <p:cNvSpPr/>
                <p:nvPr/>
              </p:nvSpPr>
              <p:spPr>
                <a:xfrm>
                  <a:off x="7440400"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32" name="Google Shape;9432;p85"/>
                <p:cNvSpPr/>
                <p:nvPr/>
              </p:nvSpPr>
              <p:spPr>
                <a:xfrm>
                  <a:off x="7503144"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33" name="Google Shape;9433;p85"/>
                <p:cNvSpPr/>
                <p:nvPr/>
              </p:nvSpPr>
              <p:spPr>
                <a:xfrm>
                  <a:off x="7565254" y="2275560"/>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434" name="Google Shape;9434;p85"/>
              <p:cNvGrpSpPr/>
              <p:nvPr/>
            </p:nvGrpSpPr>
            <p:grpSpPr>
              <a:xfrm>
                <a:off x="7191325" y="2362207"/>
                <a:ext cx="534274" cy="35417"/>
                <a:chOff x="7191325" y="2362207"/>
                <a:chExt cx="534274" cy="35417"/>
              </a:xfrm>
            </p:grpSpPr>
            <p:sp>
              <p:nvSpPr>
                <p:cNvPr id="9435" name="Google Shape;9435;p85"/>
                <p:cNvSpPr/>
                <p:nvPr/>
              </p:nvSpPr>
              <p:spPr>
                <a:xfrm>
                  <a:off x="7253435"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36" name="Google Shape;9436;p85"/>
                <p:cNvSpPr/>
                <p:nvPr/>
              </p:nvSpPr>
              <p:spPr>
                <a:xfrm>
                  <a:off x="7191325"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37" name="Google Shape;9437;p85"/>
                <p:cNvSpPr/>
                <p:nvPr/>
              </p:nvSpPr>
              <p:spPr>
                <a:xfrm>
                  <a:off x="7315545"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38" name="Google Shape;9438;p85"/>
                <p:cNvSpPr/>
                <p:nvPr/>
              </p:nvSpPr>
              <p:spPr>
                <a:xfrm>
                  <a:off x="7378290"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39" name="Google Shape;9439;p85"/>
                <p:cNvSpPr/>
                <p:nvPr/>
              </p:nvSpPr>
              <p:spPr>
                <a:xfrm>
                  <a:off x="7503144"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40" name="Google Shape;9440;p85"/>
                <p:cNvSpPr/>
                <p:nvPr/>
              </p:nvSpPr>
              <p:spPr>
                <a:xfrm>
                  <a:off x="7565254"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41" name="Google Shape;9441;p85"/>
                <p:cNvSpPr/>
                <p:nvPr/>
              </p:nvSpPr>
              <p:spPr>
                <a:xfrm>
                  <a:off x="7690108" y="2362207"/>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nvGrpSpPr>
              <p:cNvPr id="9442" name="Google Shape;9442;p85"/>
              <p:cNvGrpSpPr/>
              <p:nvPr/>
            </p:nvGrpSpPr>
            <p:grpSpPr>
              <a:xfrm>
                <a:off x="7253435" y="2448854"/>
                <a:ext cx="409420" cy="35417"/>
                <a:chOff x="7253435" y="2448854"/>
                <a:chExt cx="409420" cy="35417"/>
              </a:xfrm>
            </p:grpSpPr>
            <p:sp>
              <p:nvSpPr>
                <p:cNvPr id="9443" name="Google Shape;9443;p85"/>
                <p:cNvSpPr/>
                <p:nvPr/>
              </p:nvSpPr>
              <p:spPr>
                <a:xfrm>
                  <a:off x="7253435"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44" name="Google Shape;9444;p85"/>
                <p:cNvSpPr/>
                <p:nvPr/>
              </p:nvSpPr>
              <p:spPr>
                <a:xfrm>
                  <a:off x="7315545"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45" name="Google Shape;9445;p85"/>
                <p:cNvSpPr/>
                <p:nvPr/>
              </p:nvSpPr>
              <p:spPr>
                <a:xfrm>
                  <a:off x="7378290"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46" name="Google Shape;9446;p85"/>
                <p:cNvSpPr/>
                <p:nvPr/>
              </p:nvSpPr>
              <p:spPr>
                <a:xfrm>
                  <a:off x="7503144"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47" name="Google Shape;9447;p85"/>
                <p:cNvSpPr/>
                <p:nvPr/>
              </p:nvSpPr>
              <p:spPr>
                <a:xfrm>
                  <a:off x="7565254"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48" name="Google Shape;9448;p85"/>
                <p:cNvSpPr/>
                <p:nvPr/>
              </p:nvSpPr>
              <p:spPr>
                <a:xfrm>
                  <a:off x="7627364" y="2448854"/>
                  <a:ext cx="35491" cy="35417"/>
                </a:xfrm>
                <a:custGeom>
                  <a:avLst/>
                  <a:gdLst/>
                  <a:ahLst/>
                  <a:cxnLst/>
                  <a:rect l="l" t="t" r="r" b="b"/>
                  <a:pathLst>
                    <a:path w="35491" h="35417" extrusionOk="0">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grpSp>
        <p:nvGrpSpPr>
          <p:cNvPr id="9449" name="Google Shape;9449;p85"/>
          <p:cNvGrpSpPr/>
          <p:nvPr/>
        </p:nvGrpSpPr>
        <p:grpSpPr>
          <a:xfrm>
            <a:off x="9973774" y="3527622"/>
            <a:ext cx="758008" cy="2475217"/>
            <a:chOff x="9973774" y="3527622"/>
            <a:chExt cx="758008" cy="2475217"/>
          </a:xfrm>
        </p:grpSpPr>
        <p:cxnSp>
          <p:nvCxnSpPr>
            <p:cNvPr id="9450" name="Google Shape;9450;p85"/>
            <p:cNvCxnSpPr/>
            <p:nvPr/>
          </p:nvCxnSpPr>
          <p:spPr>
            <a:xfrm>
              <a:off x="10354009" y="3527622"/>
              <a:ext cx="0" cy="1554480"/>
            </a:xfrm>
            <a:prstGeom prst="straightConnector1">
              <a:avLst/>
            </a:prstGeom>
            <a:noFill/>
            <a:ln w="12700" cap="flat" cmpd="sng">
              <a:solidFill>
                <a:schemeClr val="dk1"/>
              </a:solidFill>
              <a:prstDash val="solid"/>
              <a:miter lim="800000"/>
              <a:headEnd type="none" w="sm" len="sm"/>
              <a:tailEnd type="none" w="sm" len="sm"/>
            </a:ln>
          </p:spPr>
        </p:cxnSp>
        <p:sp>
          <p:nvSpPr>
            <p:cNvPr id="9451" name="Google Shape;9451;p85"/>
            <p:cNvSpPr/>
            <p:nvPr/>
          </p:nvSpPr>
          <p:spPr>
            <a:xfrm rot="10800000">
              <a:off x="10113948" y="5074102"/>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452" name="Google Shape;9452;p85"/>
            <p:cNvSpPr/>
            <p:nvPr/>
          </p:nvSpPr>
          <p:spPr>
            <a:xfrm>
              <a:off x="9973774" y="5623835"/>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a:solidFill>
                    <a:srgbClr val="000001"/>
                  </a:solidFill>
                  <a:latin typeface="Arial"/>
                  <a:ea typeface="Arial"/>
                  <a:cs typeface="Arial"/>
                  <a:sym typeface="Arial"/>
                </a:rPr>
                <a:t>Isolated</a:t>
              </a:r>
              <a:br>
                <a:rPr lang="en-US" sz="1100">
                  <a:solidFill>
                    <a:srgbClr val="000001"/>
                  </a:solidFill>
                  <a:latin typeface="Arial"/>
                  <a:ea typeface="Arial"/>
                  <a:cs typeface="Arial"/>
                  <a:sym typeface="Arial"/>
                </a:rPr>
              </a:br>
              <a:r>
                <a:rPr lang="en-US" sz="1100">
                  <a:solidFill>
                    <a:srgbClr val="000001"/>
                  </a:solidFill>
                  <a:latin typeface="Arial"/>
                  <a:ea typeface="Arial"/>
                  <a:cs typeface="Arial"/>
                  <a:sym typeface="Arial"/>
                </a:rPr>
                <a:t>Recovery</a:t>
              </a:r>
              <a:endParaRPr sz="1100" b="0" i="0" u="none" strike="noStrike" cap="none">
                <a:solidFill>
                  <a:srgbClr val="000001"/>
                </a:solidFill>
                <a:latin typeface="Arial"/>
                <a:ea typeface="Arial"/>
                <a:cs typeface="Arial"/>
                <a:sym typeface="Arial"/>
              </a:endParaRPr>
            </a:p>
          </p:txBody>
        </p:sp>
        <p:grpSp>
          <p:nvGrpSpPr>
            <p:cNvPr id="9453" name="Google Shape;9453;p85" descr="Detections 3&#10;"/>
            <p:cNvGrpSpPr/>
            <p:nvPr/>
          </p:nvGrpSpPr>
          <p:grpSpPr>
            <a:xfrm>
              <a:off x="10173073" y="5134714"/>
              <a:ext cx="365760" cy="366135"/>
              <a:chOff x="11081827" y="720438"/>
              <a:chExt cx="600204" cy="600821"/>
            </a:xfrm>
          </p:grpSpPr>
          <p:sp>
            <p:nvSpPr>
              <p:cNvPr id="9454" name="Google Shape;9454;p85"/>
              <p:cNvSpPr/>
              <p:nvPr/>
            </p:nvSpPr>
            <p:spPr>
              <a:xfrm>
                <a:off x="11373392" y="1258515"/>
                <a:ext cx="15811" cy="62744"/>
              </a:xfrm>
              <a:custGeom>
                <a:avLst/>
                <a:gdLst/>
                <a:ahLst/>
                <a:cxnLst/>
                <a:rect l="l" t="t" r="r" b="b"/>
                <a:pathLst>
                  <a:path w="15811" h="62744" extrusionOk="0">
                    <a:moveTo>
                      <a:pt x="0" y="0"/>
                    </a:moveTo>
                    <a:lnTo>
                      <a:pt x="15812" y="0"/>
                    </a:lnTo>
                    <a:lnTo>
                      <a:pt x="15812" y="62744"/>
                    </a:lnTo>
                    <a:lnTo>
                      <a:pt x="0" y="627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nvGrpSpPr>
              <p:cNvPr id="9455" name="Google Shape;9455;p85"/>
              <p:cNvGrpSpPr/>
              <p:nvPr/>
            </p:nvGrpSpPr>
            <p:grpSpPr>
              <a:xfrm>
                <a:off x="11081827" y="720438"/>
                <a:ext cx="600204" cy="552653"/>
                <a:chOff x="11081827" y="720438"/>
                <a:chExt cx="600204" cy="552653"/>
              </a:xfrm>
            </p:grpSpPr>
            <p:grpSp>
              <p:nvGrpSpPr>
                <p:cNvPr id="9456" name="Google Shape;9456;p85"/>
                <p:cNvGrpSpPr/>
                <p:nvPr/>
              </p:nvGrpSpPr>
              <p:grpSpPr>
                <a:xfrm>
                  <a:off x="11252592" y="851999"/>
                  <a:ext cx="263103" cy="337434"/>
                  <a:chOff x="11252592" y="851999"/>
                  <a:chExt cx="263103" cy="337434"/>
                </a:xfrm>
              </p:grpSpPr>
              <p:sp>
                <p:nvSpPr>
                  <p:cNvPr id="9457" name="Google Shape;9457;p85"/>
                  <p:cNvSpPr/>
                  <p:nvPr/>
                </p:nvSpPr>
                <p:spPr>
                  <a:xfrm>
                    <a:off x="11326589" y="1114014"/>
                    <a:ext cx="125859" cy="61476"/>
                  </a:xfrm>
                  <a:custGeom>
                    <a:avLst/>
                    <a:gdLst/>
                    <a:ahLst/>
                    <a:cxnLst/>
                    <a:rect l="l" t="t" r="r" b="b"/>
                    <a:pathLst>
                      <a:path w="125859" h="61476" extrusionOk="0">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58" name="Google Shape;9458;p85"/>
                  <p:cNvSpPr/>
                  <p:nvPr/>
                </p:nvSpPr>
                <p:spPr>
                  <a:xfrm>
                    <a:off x="11367067" y="1148872"/>
                    <a:ext cx="46169" cy="40561"/>
                  </a:xfrm>
                  <a:custGeom>
                    <a:avLst/>
                    <a:gdLst/>
                    <a:ahLst/>
                    <a:cxnLst/>
                    <a:rect l="l" t="t" r="r" b="b"/>
                    <a:pathLst>
                      <a:path w="46169" h="40561" extrusionOk="0">
                        <a:moveTo>
                          <a:pt x="3795" y="40562"/>
                        </a:moveTo>
                        <a:lnTo>
                          <a:pt x="0" y="25351"/>
                        </a:lnTo>
                        <a:cubicBezTo>
                          <a:pt x="0" y="25351"/>
                          <a:pt x="20871" y="20281"/>
                          <a:pt x="32255" y="0"/>
                        </a:cubicBezTo>
                        <a:lnTo>
                          <a:pt x="46170" y="7605"/>
                        </a:lnTo>
                        <a:cubicBezTo>
                          <a:pt x="31623" y="34224"/>
                          <a:pt x="5060" y="40562"/>
                          <a:pt x="3795" y="4056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59" name="Google Shape;9459;p85"/>
                  <p:cNvSpPr/>
                  <p:nvPr/>
                </p:nvSpPr>
                <p:spPr>
                  <a:xfrm>
                    <a:off x="11413237" y="1082959"/>
                    <a:ext cx="67040" cy="51969"/>
                  </a:xfrm>
                  <a:custGeom>
                    <a:avLst/>
                    <a:gdLst/>
                    <a:ahLst/>
                    <a:cxnLst/>
                    <a:rect l="l" t="t" r="r" b="b"/>
                    <a:pathLst>
                      <a:path w="67040" h="51969" extrusionOk="0">
                        <a:moveTo>
                          <a:pt x="63878" y="51970"/>
                        </a:moveTo>
                        <a:cubicBezTo>
                          <a:pt x="61981" y="51336"/>
                          <a:pt x="13282" y="43097"/>
                          <a:pt x="0" y="5070"/>
                        </a:cubicBezTo>
                        <a:lnTo>
                          <a:pt x="15179" y="0"/>
                        </a:lnTo>
                        <a:cubicBezTo>
                          <a:pt x="25931" y="29788"/>
                          <a:pt x="66408" y="36759"/>
                          <a:pt x="67041" y="36759"/>
                        </a:cubicBezTo>
                        <a:lnTo>
                          <a:pt x="63878" y="519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60" name="Google Shape;9460;p85"/>
                  <p:cNvSpPr/>
                  <p:nvPr/>
                </p:nvSpPr>
                <p:spPr>
                  <a:xfrm>
                    <a:off x="11258916" y="920426"/>
                    <a:ext cx="234010" cy="187883"/>
                  </a:xfrm>
                  <a:custGeom>
                    <a:avLst/>
                    <a:gdLst/>
                    <a:ahLst/>
                    <a:cxnLst/>
                    <a:rect l="l" t="t" r="r" b="b"/>
                    <a:pathLst>
                      <a:path w="234010" h="187883" extrusionOk="0">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61" name="Google Shape;9461;p85"/>
                  <p:cNvSpPr/>
                  <p:nvPr/>
                </p:nvSpPr>
                <p:spPr>
                  <a:xfrm>
                    <a:off x="11266506" y="955461"/>
                    <a:ext cx="173239" cy="201015"/>
                  </a:xfrm>
                  <a:custGeom>
                    <a:avLst/>
                    <a:gdLst/>
                    <a:ahLst/>
                    <a:cxnLst/>
                    <a:rect l="l" t="t" r="r" b="b"/>
                    <a:pathLst>
                      <a:path w="173239" h="201015" extrusionOk="0">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62" name="Google Shape;9462;p85"/>
                  <p:cNvSpPr/>
                  <p:nvPr/>
                </p:nvSpPr>
                <p:spPr>
                  <a:xfrm>
                    <a:off x="11279155" y="998032"/>
                    <a:ext cx="125227" cy="131192"/>
                  </a:xfrm>
                  <a:custGeom>
                    <a:avLst/>
                    <a:gdLst/>
                    <a:ahLst/>
                    <a:cxnLst/>
                    <a:rect l="l" t="t" r="r" b="b"/>
                    <a:pathLst>
                      <a:path w="125227" h="131192" extrusionOk="0">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63" name="Google Shape;9463;p85"/>
                  <p:cNvSpPr/>
                  <p:nvPr/>
                </p:nvSpPr>
                <p:spPr>
                  <a:xfrm>
                    <a:off x="11254489" y="886878"/>
                    <a:ext cx="260481" cy="187842"/>
                  </a:xfrm>
                  <a:custGeom>
                    <a:avLst/>
                    <a:gdLst/>
                    <a:ahLst/>
                    <a:cxnLst/>
                    <a:rect l="l" t="t" r="r" b="b"/>
                    <a:pathLst>
                      <a:path w="260481" h="187842" extrusionOk="0">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64" name="Google Shape;9464;p85"/>
                  <p:cNvSpPr/>
                  <p:nvPr/>
                </p:nvSpPr>
                <p:spPr>
                  <a:xfrm>
                    <a:off x="11252592" y="851999"/>
                    <a:ext cx="263103" cy="132723"/>
                  </a:xfrm>
                  <a:custGeom>
                    <a:avLst/>
                    <a:gdLst/>
                    <a:ahLst/>
                    <a:cxnLst/>
                    <a:rect l="l" t="t" r="r" b="b"/>
                    <a:pathLst>
                      <a:path w="263103" h="132723" extrusionOk="0">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sp>
              <p:nvSpPr>
                <p:cNvPr id="9465" name="Google Shape;9465;p85"/>
                <p:cNvSpPr/>
                <p:nvPr/>
              </p:nvSpPr>
              <p:spPr>
                <a:xfrm>
                  <a:off x="11406912" y="768605"/>
                  <a:ext cx="227685" cy="228793"/>
                </a:xfrm>
                <a:custGeom>
                  <a:avLst/>
                  <a:gdLst/>
                  <a:ahLst/>
                  <a:cxnLst/>
                  <a:rect l="l" t="t" r="r" b="b"/>
                  <a:pathLst>
                    <a:path w="227685" h="228793" extrusionOk="0">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66" name="Google Shape;9466;p85"/>
                <p:cNvSpPr/>
                <p:nvPr/>
              </p:nvSpPr>
              <p:spPr>
                <a:xfrm>
                  <a:off x="11081827" y="1013243"/>
                  <a:ext cx="63878" cy="15844"/>
                </a:xfrm>
                <a:custGeom>
                  <a:avLst/>
                  <a:gdLst/>
                  <a:ahLst/>
                  <a:cxnLst/>
                  <a:rect l="l" t="t" r="r" b="b"/>
                  <a:pathLst>
                    <a:path w="63878" h="15844" extrusionOk="0">
                      <a:moveTo>
                        <a:pt x="0" y="0"/>
                      </a:moveTo>
                      <a:lnTo>
                        <a:pt x="63878" y="0"/>
                      </a:lnTo>
                      <a:lnTo>
                        <a:pt x="63878" y="15844"/>
                      </a:lnTo>
                      <a:lnTo>
                        <a:pt x="0" y="158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67" name="Google Shape;9467;p85"/>
                <p:cNvSpPr/>
                <p:nvPr/>
              </p:nvSpPr>
              <p:spPr>
                <a:xfrm>
                  <a:off x="11373392" y="720438"/>
                  <a:ext cx="15811" cy="63377"/>
                </a:xfrm>
                <a:custGeom>
                  <a:avLst/>
                  <a:gdLst/>
                  <a:ahLst/>
                  <a:cxnLst/>
                  <a:rect l="l" t="t" r="r" b="b"/>
                  <a:pathLst>
                    <a:path w="15811" h="63377" extrusionOk="0">
                      <a:moveTo>
                        <a:pt x="0" y="0"/>
                      </a:moveTo>
                      <a:lnTo>
                        <a:pt x="15812" y="0"/>
                      </a:lnTo>
                      <a:lnTo>
                        <a:pt x="15812" y="63378"/>
                      </a:lnTo>
                      <a:lnTo>
                        <a:pt x="0" y="6337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68" name="Google Shape;9468;p85"/>
                <p:cNvSpPr/>
                <p:nvPr/>
              </p:nvSpPr>
              <p:spPr>
                <a:xfrm>
                  <a:off x="11619418" y="1013243"/>
                  <a:ext cx="62613" cy="15844"/>
                </a:xfrm>
                <a:custGeom>
                  <a:avLst/>
                  <a:gdLst/>
                  <a:ahLst/>
                  <a:cxnLst/>
                  <a:rect l="l" t="t" r="r" b="b"/>
                  <a:pathLst>
                    <a:path w="62613" h="15844" extrusionOk="0">
                      <a:moveTo>
                        <a:pt x="0" y="0"/>
                      </a:moveTo>
                      <a:lnTo>
                        <a:pt x="62614" y="0"/>
                      </a:lnTo>
                      <a:lnTo>
                        <a:pt x="62614" y="15844"/>
                      </a:lnTo>
                      <a:lnTo>
                        <a:pt x="0" y="158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69" name="Google Shape;9469;p85"/>
                <p:cNvSpPr/>
                <p:nvPr/>
              </p:nvSpPr>
              <p:spPr>
                <a:xfrm>
                  <a:off x="11405015" y="1043664"/>
                  <a:ext cx="229582" cy="229427"/>
                </a:xfrm>
                <a:custGeom>
                  <a:avLst/>
                  <a:gdLst/>
                  <a:ahLst/>
                  <a:cxnLst/>
                  <a:rect l="l" t="t" r="r" b="b"/>
                  <a:pathLst>
                    <a:path w="229582" h="229427" extrusionOk="0">
                      <a:moveTo>
                        <a:pt x="213771" y="634"/>
                      </a:moveTo>
                      <a:cubicBezTo>
                        <a:pt x="203020" y="113446"/>
                        <a:pt x="113210" y="203443"/>
                        <a:pt x="0" y="213583"/>
                      </a:cubicBezTo>
                      <a:lnTo>
                        <a:pt x="0" y="229428"/>
                      </a:lnTo>
                      <a:cubicBezTo>
                        <a:pt x="121432" y="218654"/>
                        <a:pt x="218199" y="121685"/>
                        <a:pt x="229583" y="0"/>
                      </a:cubicBezTo>
                      <a:lnTo>
                        <a:pt x="21377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70" name="Google Shape;9470;p85"/>
                <p:cNvSpPr/>
                <p:nvPr/>
              </p:nvSpPr>
              <p:spPr>
                <a:xfrm>
                  <a:off x="11130527" y="769238"/>
                  <a:ext cx="225788" cy="228160"/>
                </a:xfrm>
                <a:custGeom>
                  <a:avLst/>
                  <a:gdLst/>
                  <a:ahLst/>
                  <a:cxnLst/>
                  <a:rect l="l" t="t" r="r" b="b"/>
                  <a:pathLst>
                    <a:path w="225788" h="228160" extrusionOk="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71" name="Google Shape;9471;p85"/>
                <p:cNvSpPr/>
                <p:nvPr/>
              </p:nvSpPr>
              <p:spPr>
                <a:xfrm>
                  <a:off x="11130527" y="1044298"/>
                  <a:ext cx="227685" cy="228793"/>
                </a:xfrm>
                <a:custGeom>
                  <a:avLst/>
                  <a:gdLst/>
                  <a:ahLst/>
                  <a:cxnLst/>
                  <a:rect l="l" t="t" r="r" b="b"/>
                  <a:pathLst>
                    <a:path w="227685" h="228793" extrusionOk="0">
                      <a:moveTo>
                        <a:pt x="15812" y="0"/>
                      </a:moveTo>
                      <a:lnTo>
                        <a:pt x="0" y="0"/>
                      </a:lnTo>
                      <a:cubicBezTo>
                        <a:pt x="11384" y="120418"/>
                        <a:pt x="106886" y="217386"/>
                        <a:pt x="227686" y="228794"/>
                      </a:cubicBezTo>
                      <a:lnTo>
                        <a:pt x="227686" y="212950"/>
                      </a:lnTo>
                      <a:cubicBezTo>
                        <a:pt x="115740" y="201541"/>
                        <a:pt x="27196" y="111545"/>
                        <a:pt x="1581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grpSp>
        <p:nvGrpSpPr>
          <p:cNvPr id="9472" name="Google Shape;9472;p85"/>
          <p:cNvGrpSpPr/>
          <p:nvPr/>
        </p:nvGrpSpPr>
        <p:grpSpPr>
          <a:xfrm>
            <a:off x="1075047" y="3527648"/>
            <a:ext cx="758008" cy="2475217"/>
            <a:chOff x="9973774" y="3527622"/>
            <a:chExt cx="758008" cy="2475217"/>
          </a:xfrm>
        </p:grpSpPr>
        <p:cxnSp>
          <p:nvCxnSpPr>
            <p:cNvPr id="9473" name="Google Shape;9473;p85"/>
            <p:cNvCxnSpPr/>
            <p:nvPr/>
          </p:nvCxnSpPr>
          <p:spPr>
            <a:xfrm>
              <a:off x="10354009" y="3527622"/>
              <a:ext cx="0" cy="1554480"/>
            </a:xfrm>
            <a:prstGeom prst="straightConnector1">
              <a:avLst/>
            </a:prstGeom>
            <a:noFill/>
            <a:ln w="12700" cap="flat" cmpd="sng">
              <a:solidFill>
                <a:schemeClr val="dk1"/>
              </a:solidFill>
              <a:prstDash val="solid"/>
              <a:miter lim="800000"/>
              <a:headEnd type="none" w="sm" len="sm"/>
              <a:tailEnd type="none" w="sm" len="sm"/>
            </a:ln>
          </p:spPr>
        </p:cxnSp>
        <p:sp>
          <p:nvSpPr>
            <p:cNvPr id="9474" name="Google Shape;9474;p85"/>
            <p:cNvSpPr/>
            <p:nvPr/>
          </p:nvSpPr>
          <p:spPr>
            <a:xfrm rot="10800000">
              <a:off x="10113948" y="5074102"/>
              <a:ext cx="480121" cy="480121"/>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000001"/>
                </a:solidFill>
                <a:latin typeface="Arial"/>
                <a:ea typeface="Arial"/>
                <a:cs typeface="Arial"/>
                <a:sym typeface="Arial"/>
              </a:endParaRPr>
            </a:p>
          </p:txBody>
        </p:sp>
        <p:sp>
          <p:nvSpPr>
            <p:cNvPr id="9475" name="Google Shape;9475;p85"/>
            <p:cNvSpPr/>
            <p:nvPr/>
          </p:nvSpPr>
          <p:spPr>
            <a:xfrm>
              <a:off x="9973774" y="5623835"/>
              <a:ext cx="758008" cy="37900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a:solidFill>
                    <a:srgbClr val="000001"/>
                  </a:solidFill>
                  <a:latin typeface="Arial"/>
                  <a:ea typeface="Arial"/>
                  <a:cs typeface="Arial"/>
                  <a:sym typeface="Arial"/>
                </a:rPr>
                <a:t>Host</a:t>
              </a:r>
              <a:br>
                <a:rPr lang="en-US" sz="1100">
                  <a:solidFill>
                    <a:srgbClr val="000001"/>
                  </a:solidFill>
                  <a:latin typeface="Arial"/>
                  <a:ea typeface="Arial"/>
                  <a:cs typeface="Arial"/>
                  <a:sym typeface="Arial"/>
                </a:rPr>
              </a:br>
              <a:r>
                <a:rPr lang="en-US" sz="1100">
                  <a:solidFill>
                    <a:srgbClr val="000001"/>
                  </a:solidFill>
                  <a:latin typeface="Arial"/>
                  <a:ea typeface="Arial"/>
                  <a:cs typeface="Arial"/>
                  <a:sym typeface="Arial"/>
                </a:rPr>
                <a:t>Attestation</a:t>
              </a:r>
              <a:endParaRPr sz="1100" b="0" i="0" u="none" strike="noStrike" cap="none">
                <a:solidFill>
                  <a:srgbClr val="000001"/>
                </a:solidFill>
                <a:latin typeface="Arial"/>
                <a:ea typeface="Arial"/>
                <a:cs typeface="Arial"/>
                <a:sym typeface="Arial"/>
              </a:endParaRPr>
            </a:p>
          </p:txBody>
        </p:sp>
        <p:grpSp>
          <p:nvGrpSpPr>
            <p:cNvPr id="9476" name="Google Shape;9476;p85" descr="Detections 3&#10;"/>
            <p:cNvGrpSpPr/>
            <p:nvPr/>
          </p:nvGrpSpPr>
          <p:grpSpPr>
            <a:xfrm>
              <a:off x="10173073" y="5134714"/>
              <a:ext cx="365760" cy="366135"/>
              <a:chOff x="11081827" y="720438"/>
              <a:chExt cx="600204" cy="600821"/>
            </a:xfrm>
          </p:grpSpPr>
          <p:sp>
            <p:nvSpPr>
              <p:cNvPr id="9477" name="Google Shape;9477;p85"/>
              <p:cNvSpPr/>
              <p:nvPr/>
            </p:nvSpPr>
            <p:spPr>
              <a:xfrm>
                <a:off x="11373392" y="1258515"/>
                <a:ext cx="15811" cy="62744"/>
              </a:xfrm>
              <a:custGeom>
                <a:avLst/>
                <a:gdLst/>
                <a:ahLst/>
                <a:cxnLst/>
                <a:rect l="l" t="t" r="r" b="b"/>
                <a:pathLst>
                  <a:path w="15811" h="62744" extrusionOk="0">
                    <a:moveTo>
                      <a:pt x="0" y="0"/>
                    </a:moveTo>
                    <a:lnTo>
                      <a:pt x="15812" y="0"/>
                    </a:lnTo>
                    <a:lnTo>
                      <a:pt x="15812" y="62744"/>
                    </a:lnTo>
                    <a:lnTo>
                      <a:pt x="0" y="627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nvGrpSpPr>
              <p:cNvPr id="9478" name="Google Shape;9478;p85"/>
              <p:cNvGrpSpPr/>
              <p:nvPr/>
            </p:nvGrpSpPr>
            <p:grpSpPr>
              <a:xfrm>
                <a:off x="11081827" y="720438"/>
                <a:ext cx="600204" cy="552653"/>
                <a:chOff x="11081827" y="720438"/>
                <a:chExt cx="600204" cy="552653"/>
              </a:xfrm>
            </p:grpSpPr>
            <p:grpSp>
              <p:nvGrpSpPr>
                <p:cNvPr id="9479" name="Google Shape;9479;p85"/>
                <p:cNvGrpSpPr/>
                <p:nvPr/>
              </p:nvGrpSpPr>
              <p:grpSpPr>
                <a:xfrm>
                  <a:off x="11252592" y="851999"/>
                  <a:ext cx="263103" cy="337434"/>
                  <a:chOff x="11252592" y="851999"/>
                  <a:chExt cx="263103" cy="337434"/>
                </a:xfrm>
              </p:grpSpPr>
              <p:sp>
                <p:nvSpPr>
                  <p:cNvPr id="9480" name="Google Shape;9480;p85"/>
                  <p:cNvSpPr/>
                  <p:nvPr/>
                </p:nvSpPr>
                <p:spPr>
                  <a:xfrm>
                    <a:off x="11326589" y="1114014"/>
                    <a:ext cx="125859" cy="61476"/>
                  </a:xfrm>
                  <a:custGeom>
                    <a:avLst/>
                    <a:gdLst/>
                    <a:ahLst/>
                    <a:cxnLst/>
                    <a:rect l="l" t="t" r="r" b="b"/>
                    <a:pathLst>
                      <a:path w="125859" h="61476" extrusionOk="0">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81" name="Google Shape;9481;p85"/>
                  <p:cNvSpPr/>
                  <p:nvPr/>
                </p:nvSpPr>
                <p:spPr>
                  <a:xfrm>
                    <a:off x="11367067" y="1148872"/>
                    <a:ext cx="46169" cy="40561"/>
                  </a:xfrm>
                  <a:custGeom>
                    <a:avLst/>
                    <a:gdLst/>
                    <a:ahLst/>
                    <a:cxnLst/>
                    <a:rect l="l" t="t" r="r" b="b"/>
                    <a:pathLst>
                      <a:path w="46169" h="40561" extrusionOk="0">
                        <a:moveTo>
                          <a:pt x="3795" y="40562"/>
                        </a:moveTo>
                        <a:lnTo>
                          <a:pt x="0" y="25351"/>
                        </a:lnTo>
                        <a:cubicBezTo>
                          <a:pt x="0" y="25351"/>
                          <a:pt x="20871" y="20281"/>
                          <a:pt x="32255" y="0"/>
                        </a:cubicBezTo>
                        <a:lnTo>
                          <a:pt x="46170" y="7605"/>
                        </a:lnTo>
                        <a:cubicBezTo>
                          <a:pt x="31623" y="34224"/>
                          <a:pt x="5060" y="40562"/>
                          <a:pt x="3795" y="4056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82" name="Google Shape;9482;p85"/>
                  <p:cNvSpPr/>
                  <p:nvPr/>
                </p:nvSpPr>
                <p:spPr>
                  <a:xfrm>
                    <a:off x="11413237" y="1082959"/>
                    <a:ext cx="67040" cy="51969"/>
                  </a:xfrm>
                  <a:custGeom>
                    <a:avLst/>
                    <a:gdLst/>
                    <a:ahLst/>
                    <a:cxnLst/>
                    <a:rect l="l" t="t" r="r" b="b"/>
                    <a:pathLst>
                      <a:path w="67040" h="51969" extrusionOk="0">
                        <a:moveTo>
                          <a:pt x="63878" y="51970"/>
                        </a:moveTo>
                        <a:cubicBezTo>
                          <a:pt x="61981" y="51336"/>
                          <a:pt x="13282" y="43097"/>
                          <a:pt x="0" y="5070"/>
                        </a:cubicBezTo>
                        <a:lnTo>
                          <a:pt x="15179" y="0"/>
                        </a:lnTo>
                        <a:cubicBezTo>
                          <a:pt x="25931" y="29788"/>
                          <a:pt x="66408" y="36759"/>
                          <a:pt x="67041" y="36759"/>
                        </a:cubicBezTo>
                        <a:lnTo>
                          <a:pt x="63878" y="519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83" name="Google Shape;9483;p85"/>
                  <p:cNvSpPr/>
                  <p:nvPr/>
                </p:nvSpPr>
                <p:spPr>
                  <a:xfrm>
                    <a:off x="11258916" y="920426"/>
                    <a:ext cx="234010" cy="187883"/>
                  </a:xfrm>
                  <a:custGeom>
                    <a:avLst/>
                    <a:gdLst/>
                    <a:ahLst/>
                    <a:cxnLst/>
                    <a:rect l="l" t="t" r="r" b="b"/>
                    <a:pathLst>
                      <a:path w="234010" h="187883" extrusionOk="0">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84" name="Google Shape;9484;p85"/>
                  <p:cNvSpPr/>
                  <p:nvPr/>
                </p:nvSpPr>
                <p:spPr>
                  <a:xfrm>
                    <a:off x="11266506" y="955461"/>
                    <a:ext cx="173239" cy="201015"/>
                  </a:xfrm>
                  <a:custGeom>
                    <a:avLst/>
                    <a:gdLst/>
                    <a:ahLst/>
                    <a:cxnLst/>
                    <a:rect l="l" t="t" r="r" b="b"/>
                    <a:pathLst>
                      <a:path w="173239" h="201015" extrusionOk="0">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85" name="Google Shape;9485;p85"/>
                  <p:cNvSpPr/>
                  <p:nvPr/>
                </p:nvSpPr>
                <p:spPr>
                  <a:xfrm>
                    <a:off x="11279155" y="998032"/>
                    <a:ext cx="125227" cy="131192"/>
                  </a:xfrm>
                  <a:custGeom>
                    <a:avLst/>
                    <a:gdLst/>
                    <a:ahLst/>
                    <a:cxnLst/>
                    <a:rect l="l" t="t" r="r" b="b"/>
                    <a:pathLst>
                      <a:path w="125227" h="131192" extrusionOk="0">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86" name="Google Shape;9486;p85"/>
                  <p:cNvSpPr/>
                  <p:nvPr/>
                </p:nvSpPr>
                <p:spPr>
                  <a:xfrm>
                    <a:off x="11254489" y="886878"/>
                    <a:ext cx="260481" cy="187842"/>
                  </a:xfrm>
                  <a:custGeom>
                    <a:avLst/>
                    <a:gdLst/>
                    <a:ahLst/>
                    <a:cxnLst/>
                    <a:rect l="l" t="t" r="r" b="b"/>
                    <a:pathLst>
                      <a:path w="260481" h="187842" extrusionOk="0">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87" name="Google Shape;9487;p85"/>
                  <p:cNvSpPr/>
                  <p:nvPr/>
                </p:nvSpPr>
                <p:spPr>
                  <a:xfrm>
                    <a:off x="11252592" y="851999"/>
                    <a:ext cx="263103" cy="132723"/>
                  </a:xfrm>
                  <a:custGeom>
                    <a:avLst/>
                    <a:gdLst/>
                    <a:ahLst/>
                    <a:cxnLst/>
                    <a:rect l="l" t="t" r="r" b="b"/>
                    <a:pathLst>
                      <a:path w="263103" h="132723" extrusionOk="0">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sp>
              <p:nvSpPr>
                <p:cNvPr id="9488" name="Google Shape;9488;p85"/>
                <p:cNvSpPr/>
                <p:nvPr/>
              </p:nvSpPr>
              <p:spPr>
                <a:xfrm>
                  <a:off x="11406912" y="768605"/>
                  <a:ext cx="227685" cy="228793"/>
                </a:xfrm>
                <a:custGeom>
                  <a:avLst/>
                  <a:gdLst/>
                  <a:ahLst/>
                  <a:cxnLst/>
                  <a:rect l="l" t="t" r="r" b="b"/>
                  <a:pathLst>
                    <a:path w="227685" h="228793" extrusionOk="0">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89" name="Google Shape;9489;p85"/>
                <p:cNvSpPr/>
                <p:nvPr/>
              </p:nvSpPr>
              <p:spPr>
                <a:xfrm>
                  <a:off x="11081827" y="1013243"/>
                  <a:ext cx="63878" cy="15844"/>
                </a:xfrm>
                <a:custGeom>
                  <a:avLst/>
                  <a:gdLst/>
                  <a:ahLst/>
                  <a:cxnLst/>
                  <a:rect l="l" t="t" r="r" b="b"/>
                  <a:pathLst>
                    <a:path w="63878" h="15844" extrusionOk="0">
                      <a:moveTo>
                        <a:pt x="0" y="0"/>
                      </a:moveTo>
                      <a:lnTo>
                        <a:pt x="63878" y="0"/>
                      </a:lnTo>
                      <a:lnTo>
                        <a:pt x="63878" y="15844"/>
                      </a:lnTo>
                      <a:lnTo>
                        <a:pt x="0" y="158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90" name="Google Shape;9490;p85"/>
                <p:cNvSpPr/>
                <p:nvPr/>
              </p:nvSpPr>
              <p:spPr>
                <a:xfrm>
                  <a:off x="11373392" y="720438"/>
                  <a:ext cx="15811" cy="63377"/>
                </a:xfrm>
                <a:custGeom>
                  <a:avLst/>
                  <a:gdLst/>
                  <a:ahLst/>
                  <a:cxnLst/>
                  <a:rect l="l" t="t" r="r" b="b"/>
                  <a:pathLst>
                    <a:path w="15811" h="63377" extrusionOk="0">
                      <a:moveTo>
                        <a:pt x="0" y="0"/>
                      </a:moveTo>
                      <a:lnTo>
                        <a:pt x="15812" y="0"/>
                      </a:lnTo>
                      <a:lnTo>
                        <a:pt x="15812" y="63378"/>
                      </a:lnTo>
                      <a:lnTo>
                        <a:pt x="0" y="6337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91" name="Google Shape;9491;p85"/>
                <p:cNvSpPr/>
                <p:nvPr/>
              </p:nvSpPr>
              <p:spPr>
                <a:xfrm>
                  <a:off x="11619418" y="1013243"/>
                  <a:ext cx="62613" cy="15844"/>
                </a:xfrm>
                <a:custGeom>
                  <a:avLst/>
                  <a:gdLst/>
                  <a:ahLst/>
                  <a:cxnLst/>
                  <a:rect l="l" t="t" r="r" b="b"/>
                  <a:pathLst>
                    <a:path w="62613" h="15844" extrusionOk="0">
                      <a:moveTo>
                        <a:pt x="0" y="0"/>
                      </a:moveTo>
                      <a:lnTo>
                        <a:pt x="62614" y="0"/>
                      </a:lnTo>
                      <a:lnTo>
                        <a:pt x="62614" y="15844"/>
                      </a:lnTo>
                      <a:lnTo>
                        <a:pt x="0" y="158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92" name="Google Shape;9492;p85"/>
                <p:cNvSpPr/>
                <p:nvPr/>
              </p:nvSpPr>
              <p:spPr>
                <a:xfrm>
                  <a:off x="11405015" y="1043664"/>
                  <a:ext cx="229582" cy="229427"/>
                </a:xfrm>
                <a:custGeom>
                  <a:avLst/>
                  <a:gdLst/>
                  <a:ahLst/>
                  <a:cxnLst/>
                  <a:rect l="l" t="t" r="r" b="b"/>
                  <a:pathLst>
                    <a:path w="229582" h="229427" extrusionOk="0">
                      <a:moveTo>
                        <a:pt x="213771" y="634"/>
                      </a:moveTo>
                      <a:cubicBezTo>
                        <a:pt x="203020" y="113446"/>
                        <a:pt x="113210" y="203443"/>
                        <a:pt x="0" y="213583"/>
                      </a:cubicBezTo>
                      <a:lnTo>
                        <a:pt x="0" y="229428"/>
                      </a:lnTo>
                      <a:cubicBezTo>
                        <a:pt x="121432" y="218654"/>
                        <a:pt x="218199" y="121685"/>
                        <a:pt x="229583" y="0"/>
                      </a:cubicBezTo>
                      <a:lnTo>
                        <a:pt x="21377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93" name="Google Shape;9493;p85"/>
                <p:cNvSpPr/>
                <p:nvPr/>
              </p:nvSpPr>
              <p:spPr>
                <a:xfrm>
                  <a:off x="11130527" y="769238"/>
                  <a:ext cx="225788" cy="228160"/>
                </a:xfrm>
                <a:custGeom>
                  <a:avLst/>
                  <a:gdLst/>
                  <a:ahLst/>
                  <a:cxnLst/>
                  <a:rect l="l" t="t" r="r" b="b"/>
                  <a:pathLst>
                    <a:path w="225788" h="228160" extrusionOk="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sp>
              <p:nvSpPr>
                <p:cNvPr id="9494" name="Google Shape;9494;p85"/>
                <p:cNvSpPr/>
                <p:nvPr/>
              </p:nvSpPr>
              <p:spPr>
                <a:xfrm>
                  <a:off x="11130527" y="1044298"/>
                  <a:ext cx="227685" cy="228793"/>
                </a:xfrm>
                <a:custGeom>
                  <a:avLst/>
                  <a:gdLst/>
                  <a:ahLst/>
                  <a:cxnLst/>
                  <a:rect l="l" t="t" r="r" b="b"/>
                  <a:pathLst>
                    <a:path w="227685" h="228793" extrusionOk="0">
                      <a:moveTo>
                        <a:pt x="15812" y="0"/>
                      </a:moveTo>
                      <a:lnTo>
                        <a:pt x="0" y="0"/>
                      </a:lnTo>
                      <a:cubicBezTo>
                        <a:pt x="11384" y="120418"/>
                        <a:pt x="106886" y="217386"/>
                        <a:pt x="227686" y="228794"/>
                      </a:cubicBezTo>
                      <a:lnTo>
                        <a:pt x="227686" y="212950"/>
                      </a:lnTo>
                      <a:cubicBezTo>
                        <a:pt x="115740" y="201541"/>
                        <a:pt x="27196" y="111545"/>
                        <a:pt x="1581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1"/>
                    </a:solidFill>
                    <a:latin typeface="Arial"/>
                    <a:ea typeface="Arial"/>
                    <a:cs typeface="Arial"/>
                    <a:sym typeface="Arial"/>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375"/>
                                        </p:tgtEl>
                                        <p:attrNameLst>
                                          <p:attrName>style.visibility</p:attrName>
                                        </p:attrNameLst>
                                      </p:cBhvr>
                                      <p:to>
                                        <p:strVal val="visible"/>
                                      </p:to>
                                    </p:set>
                                    <p:anim calcmode="lin" valueType="num">
                                      <p:cBhvr additive="base">
                                        <p:cTn id="7" dur="200"/>
                                        <p:tgtEl>
                                          <p:spTgt spid="9375"/>
                                        </p:tgtEl>
                                        <p:attrNameLst>
                                          <p:attrName>ppt_y</p:attrName>
                                        </p:attrNameLst>
                                      </p:cBhvr>
                                      <p:tavLst>
                                        <p:tav tm="0">
                                          <p:val>
                                            <p:strVal val="#ppt_y+1"/>
                                          </p:val>
                                        </p:tav>
                                        <p:tav tm="100000">
                                          <p:val>
                                            <p:strVal val="#ppt_y"/>
                                          </p:val>
                                        </p:tav>
                                      </p:tavLst>
                                    </p:anim>
                                  </p:childTnLst>
                                </p:cTn>
                              </p:par>
                            </p:childTnLst>
                          </p:cTn>
                        </p:par>
                        <p:par>
                          <p:cTn id="8" fill="hold">
                            <p:stCondLst>
                              <p:cond delay="200"/>
                            </p:stCondLst>
                            <p:childTnLst>
                              <p:par>
                                <p:cTn id="9" presetID="2" presetClass="entr" presetSubtype="1" fill="hold" nodeType="afterEffect">
                                  <p:stCondLst>
                                    <p:cond delay="0"/>
                                  </p:stCondLst>
                                  <p:childTnLst>
                                    <p:set>
                                      <p:cBhvr>
                                        <p:cTn id="10" dur="1" fill="hold">
                                          <p:stCondLst>
                                            <p:cond delay="0"/>
                                          </p:stCondLst>
                                        </p:cTn>
                                        <p:tgtEl>
                                          <p:spTgt spid="9166"/>
                                        </p:tgtEl>
                                        <p:attrNameLst>
                                          <p:attrName>style.visibility</p:attrName>
                                        </p:attrNameLst>
                                      </p:cBhvr>
                                      <p:to>
                                        <p:strVal val="visible"/>
                                      </p:to>
                                    </p:set>
                                    <p:anim calcmode="lin" valueType="num">
                                      <p:cBhvr additive="base">
                                        <p:cTn id="11" dur="200"/>
                                        <p:tgtEl>
                                          <p:spTgt spid="9166"/>
                                        </p:tgtEl>
                                        <p:attrNameLst>
                                          <p:attrName>ppt_y</p:attrName>
                                        </p:attrNameLst>
                                      </p:cBhvr>
                                      <p:tavLst>
                                        <p:tav tm="0">
                                          <p:val>
                                            <p:strVal val="#ppt_y-1"/>
                                          </p:val>
                                        </p:tav>
                                        <p:tav tm="100000">
                                          <p:val>
                                            <p:strVal val="#ppt_y"/>
                                          </p:val>
                                        </p:tav>
                                      </p:tavLst>
                                    </p:anim>
                                  </p:childTnLst>
                                </p:cTn>
                              </p:par>
                            </p:childTnLst>
                          </p:cTn>
                        </p:par>
                        <p:par>
                          <p:cTn id="12" fill="hold">
                            <p:stCondLst>
                              <p:cond delay="400"/>
                            </p:stCondLst>
                            <p:childTnLst>
                              <p:par>
                                <p:cTn id="13" presetID="2" presetClass="entr" presetSubtype="4" fill="hold" nodeType="afterEffect">
                                  <p:stCondLst>
                                    <p:cond delay="0"/>
                                  </p:stCondLst>
                                  <p:childTnLst>
                                    <p:set>
                                      <p:cBhvr>
                                        <p:cTn id="14" dur="1" fill="hold">
                                          <p:stCondLst>
                                            <p:cond delay="0"/>
                                          </p:stCondLst>
                                        </p:cTn>
                                        <p:tgtEl>
                                          <p:spTgt spid="9472"/>
                                        </p:tgtEl>
                                        <p:attrNameLst>
                                          <p:attrName>style.visibility</p:attrName>
                                        </p:attrNameLst>
                                      </p:cBhvr>
                                      <p:to>
                                        <p:strVal val="visible"/>
                                      </p:to>
                                    </p:set>
                                    <p:anim calcmode="lin" valueType="num">
                                      <p:cBhvr additive="base">
                                        <p:cTn id="15" dur="200"/>
                                        <p:tgtEl>
                                          <p:spTgt spid="9472"/>
                                        </p:tgtEl>
                                        <p:attrNameLst>
                                          <p:attrName>ppt_y</p:attrName>
                                        </p:attrNameLst>
                                      </p:cBhvr>
                                      <p:tavLst>
                                        <p:tav tm="0">
                                          <p:val>
                                            <p:strVal val="#ppt_y+1"/>
                                          </p:val>
                                        </p:tav>
                                        <p:tav tm="100000">
                                          <p:val>
                                            <p:strVal val="#ppt_y"/>
                                          </p:val>
                                        </p:tav>
                                      </p:tavLst>
                                    </p:anim>
                                  </p:childTnLst>
                                </p:cTn>
                              </p:par>
                            </p:childTnLst>
                          </p:cTn>
                        </p:par>
                        <p:par>
                          <p:cTn id="16" fill="hold">
                            <p:stCondLst>
                              <p:cond delay="600"/>
                            </p:stCondLst>
                            <p:childTnLst>
                              <p:par>
                                <p:cTn id="17" presetID="2" presetClass="entr" presetSubtype="4" fill="hold" nodeType="afterEffect">
                                  <p:stCondLst>
                                    <p:cond delay="0"/>
                                  </p:stCondLst>
                                  <p:childTnLst>
                                    <p:set>
                                      <p:cBhvr>
                                        <p:cTn id="18" dur="1" fill="hold">
                                          <p:stCondLst>
                                            <p:cond delay="0"/>
                                          </p:stCondLst>
                                        </p:cTn>
                                        <p:tgtEl>
                                          <p:spTgt spid="9219"/>
                                        </p:tgtEl>
                                        <p:attrNameLst>
                                          <p:attrName>style.visibility</p:attrName>
                                        </p:attrNameLst>
                                      </p:cBhvr>
                                      <p:to>
                                        <p:strVal val="visible"/>
                                      </p:to>
                                    </p:set>
                                    <p:anim calcmode="lin" valueType="num">
                                      <p:cBhvr additive="base">
                                        <p:cTn id="19" dur="200"/>
                                        <p:tgtEl>
                                          <p:spTgt spid="9219"/>
                                        </p:tgtEl>
                                        <p:attrNameLst>
                                          <p:attrName>ppt_y</p:attrName>
                                        </p:attrNameLst>
                                      </p:cBhvr>
                                      <p:tavLst>
                                        <p:tav tm="0">
                                          <p:val>
                                            <p:strVal val="#ppt_y+1"/>
                                          </p:val>
                                        </p:tav>
                                        <p:tav tm="100000">
                                          <p:val>
                                            <p:strVal val="#ppt_y"/>
                                          </p:val>
                                        </p:tav>
                                      </p:tavLst>
                                    </p:anim>
                                  </p:childTnLst>
                                </p:cTn>
                              </p:par>
                            </p:childTnLst>
                          </p:cTn>
                        </p:par>
                        <p:par>
                          <p:cTn id="20" fill="hold">
                            <p:stCondLst>
                              <p:cond delay="800"/>
                            </p:stCondLst>
                            <p:childTnLst>
                              <p:par>
                                <p:cTn id="21" presetID="2" presetClass="entr" presetSubtype="1" fill="hold" nodeType="afterEffect">
                                  <p:stCondLst>
                                    <p:cond delay="0"/>
                                  </p:stCondLst>
                                  <p:childTnLst>
                                    <p:set>
                                      <p:cBhvr>
                                        <p:cTn id="22" dur="1" fill="hold">
                                          <p:stCondLst>
                                            <p:cond delay="0"/>
                                          </p:stCondLst>
                                        </p:cTn>
                                        <p:tgtEl>
                                          <p:spTgt spid="9094"/>
                                        </p:tgtEl>
                                        <p:attrNameLst>
                                          <p:attrName>style.visibility</p:attrName>
                                        </p:attrNameLst>
                                      </p:cBhvr>
                                      <p:to>
                                        <p:strVal val="visible"/>
                                      </p:to>
                                    </p:set>
                                    <p:anim calcmode="lin" valueType="num">
                                      <p:cBhvr additive="base">
                                        <p:cTn id="23" dur="200"/>
                                        <p:tgtEl>
                                          <p:spTgt spid="9094"/>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2" presetClass="entr" presetSubtype="4" fill="hold" nodeType="afterEffect">
                                  <p:stCondLst>
                                    <p:cond delay="0"/>
                                  </p:stCondLst>
                                  <p:childTnLst>
                                    <p:set>
                                      <p:cBhvr>
                                        <p:cTn id="26" dur="1" fill="hold">
                                          <p:stCondLst>
                                            <p:cond delay="0"/>
                                          </p:stCondLst>
                                        </p:cTn>
                                        <p:tgtEl>
                                          <p:spTgt spid="9326"/>
                                        </p:tgtEl>
                                        <p:attrNameLst>
                                          <p:attrName>style.visibility</p:attrName>
                                        </p:attrNameLst>
                                      </p:cBhvr>
                                      <p:to>
                                        <p:strVal val="visible"/>
                                      </p:to>
                                    </p:set>
                                    <p:anim calcmode="lin" valueType="num">
                                      <p:cBhvr additive="base">
                                        <p:cTn id="27" dur="200"/>
                                        <p:tgtEl>
                                          <p:spTgt spid="9326"/>
                                        </p:tgtEl>
                                        <p:attrNameLst>
                                          <p:attrName>ppt_y</p:attrName>
                                        </p:attrNameLst>
                                      </p:cBhvr>
                                      <p:tavLst>
                                        <p:tav tm="0">
                                          <p:val>
                                            <p:strVal val="#ppt_y+1"/>
                                          </p:val>
                                        </p:tav>
                                        <p:tav tm="100000">
                                          <p:val>
                                            <p:strVal val="#ppt_y"/>
                                          </p:val>
                                        </p:tav>
                                      </p:tavLst>
                                    </p:anim>
                                  </p:childTnLst>
                                </p:cTn>
                              </p:par>
                            </p:childTnLst>
                          </p:cTn>
                        </p:par>
                        <p:par>
                          <p:cTn id="28" fill="hold">
                            <p:stCondLst>
                              <p:cond delay="1200"/>
                            </p:stCondLst>
                            <p:childTnLst>
                              <p:par>
                                <p:cTn id="29" presetID="2" presetClass="entr" presetSubtype="4" fill="hold" nodeType="afterEffect">
                                  <p:stCondLst>
                                    <p:cond delay="0"/>
                                  </p:stCondLst>
                                  <p:childTnLst>
                                    <p:set>
                                      <p:cBhvr>
                                        <p:cTn id="30" dur="1" fill="hold">
                                          <p:stCondLst>
                                            <p:cond delay="0"/>
                                          </p:stCondLst>
                                        </p:cTn>
                                        <p:tgtEl>
                                          <p:spTgt spid="9119"/>
                                        </p:tgtEl>
                                        <p:attrNameLst>
                                          <p:attrName>style.visibility</p:attrName>
                                        </p:attrNameLst>
                                      </p:cBhvr>
                                      <p:to>
                                        <p:strVal val="visible"/>
                                      </p:to>
                                    </p:set>
                                    <p:anim calcmode="lin" valueType="num">
                                      <p:cBhvr additive="base">
                                        <p:cTn id="31" dur="200"/>
                                        <p:tgtEl>
                                          <p:spTgt spid="9119"/>
                                        </p:tgtEl>
                                        <p:attrNameLst>
                                          <p:attrName>ppt_y</p:attrName>
                                        </p:attrNameLst>
                                      </p:cBhvr>
                                      <p:tavLst>
                                        <p:tav tm="0">
                                          <p:val>
                                            <p:strVal val="#ppt_y+1"/>
                                          </p:val>
                                        </p:tav>
                                        <p:tav tm="100000">
                                          <p:val>
                                            <p:strVal val="#ppt_y"/>
                                          </p:val>
                                        </p:tav>
                                      </p:tavLst>
                                    </p:anim>
                                  </p:childTnLst>
                                </p:cTn>
                              </p:par>
                            </p:childTnLst>
                          </p:cTn>
                        </p:par>
                        <p:par>
                          <p:cTn id="32" fill="hold">
                            <p:stCondLst>
                              <p:cond delay="1400"/>
                            </p:stCondLst>
                            <p:childTnLst>
                              <p:par>
                                <p:cTn id="33" presetID="2" presetClass="entr" presetSubtype="1" fill="hold" nodeType="afterEffect">
                                  <p:stCondLst>
                                    <p:cond delay="0"/>
                                  </p:stCondLst>
                                  <p:childTnLst>
                                    <p:set>
                                      <p:cBhvr>
                                        <p:cTn id="34" dur="1" fill="hold">
                                          <p:stCondLst>
                                            <p:cond delay="0"/>
                                          </p:stCondLst>
                                        </p:cTn>
                                        <p:tgtEl>
                                          <p:spTgt spid="9210"/>
                                        </p:tgtEl>
                                        <p:attrNameLst>
                                          <p:attrName>style.visibility</p:attrName>
                                        </p:attrNameLst>
                                      </p:cBhvr>
                                      <p:to>
                                        <p:strVal val="visible"/>
                                      </p:to>
                                    </p:set>
                                    <p:anim calcmode="lin" valueType="num">
                                      <p:cBhvr additive="base">
                                        <p:cTn id="35" dur="200"/>
                                        <p:tgtEl>
                                          <p:spTgt spid="9210"/>
                                        </p:tgtEl>
                                        <p:attrNameLst>
                                          <p:attrName>ppt_y</p:attrName>
                                        </p:attrNameLst>
                                      </p:cBhvr>
                                      <p:tavLst>
                                        <p:tav tm="0">
                                          <p:val>
                                            <p:strVal val="#ppt_y-1"/>
                                          </p:val>
                                        </p:tav>
                                        <p:tav tm="100000">
                                          <p:val>
                                            <p:strVal val="#ppt_y"/>
                                          </p:val>
                                        </p:tav>
                                      </p:tavLst>
                                    </p:anim>
                                  </p:childTnLst>
                                </p:cTn>
                              </p:par>
                            </p:childTnLst>
                          </p:cTn>
                        </p:par>
                        <p:par>
                          <p:cTn id="36" fill="hold">
                            <p:stCondLst>
                              <p:cond delay="1600"/>
                            </p:stCondLst>
                            <p:childTnLst>
                              <p:par>
                                <p:cTn id="37" presetID="2" presetClass="entr" presetSubtype="4" fill="hold" nodeType="afterEffect">
                                  <p:stCondLst>
                                    <p:cond delay="0"/>
                                  </p:stCondLst>
                                  <p:childTnLst>
                                    <p:set>
                                      <p:cBhvr>
                                        <p:cTn id="38" dur="1" fill="hold">
                                          <p:stCondLst>
                                            <p:cond delay="0"/>
                                          </p:stCondLst>
                                        </p:cTn>
                                        <p:tgtEl>
                                          <p:spTgt spid="9171"/>
                                        </p:tgtEl>
                                        <p:attrNameLst>
                                          <p:attrName>style.visibility</p:attrName>
                                        </p:attrNameLst>
                                      </p:cBhvr>
                                      <p:to>
                                        <p:strVal val="visible"/>
                                      </p:to>
                                    </p:set>
                                    <p:anim calcmode="lin" valueType="num">
                                      <p:cBhvr additive="base">
                                        <p:cTn id="39" dur="200"/>
                                        <p:tgtEl>
                                          <p:spTgt spid="9171"/>
                                        </p:tgtEl>
                                        <p:attrNameLst>
                                          <p:attrName>ppt_y</p:attrName>
                                        </p:attrNameLst>
                                      </p:cBhvr>
                                      <p:tavLst>
                                        <p:tav tm="0">
                                          <p:val>
                                            <p:strVal val="#ppt_y+1"/>
                                          </p:val>
                                        </p:tav>
                                        <p:tav tm="100000">
                                          <p:val>
                                            <p:strVal val="#ppt_y"/>
                                          </p:val>
                                        </p:tav>
                                      </p:tavLst>
                                    </p:anim>
                                  </p:childTnLst>
                                </p:cTn>
                              </p:par>
                            </p:childTnLst>
                          </p:cTn>
                        </p:par>
                        <p:par>
                          <p:cTn id="40" fill="hold">
                            <p:stCondLst>
                              <p:cond delay="1800"/>
                            </p:stCondLst>
                            <p:childTnLst>
                              <p:par>
                                <p:cTn id="41" presetID="2" presetClass="entr" presetSubtype="4" fill="hold" nodeType="afterEffect">
                                  <p:stCondLst>
                                    <p:cond delay="0"/>
                                  </p:stCondLst>
                                  <p:childTnLst>
                                    <p:set>
                                      <p:cBhvr>
                                        <p:cTn id="42" dur="1" fill="hold">
                                          <p:stCondLst>
                                            <p:cond delay="0"/>
                                          </p:stCondLst>
                                        </p:cTn>
                                        <p:tgtEl>
                                          <p:spTgt spid="9099"/>
                                        </p:tgtEl>
                                        <p:attrNameLst>
                                          <p:attrName>style.visibility</p:attrName>
                                        </p:attrNameLst>
                                      </p:cBhvr>
                                      <p:to>
                                        <p:strVal val="visible"/>
                                      </p:to>
                                    </p:set>
                                    <p:anim calcmode="lin" valueType="num">
                                      <p:cBhvr additive="base">
                                        <p:cTn id="43" dur="200"/>
                                        <p:tgtEl>
                                          <p:spTgt spid="9099"/>
                                        </p:tgtEl>
                                        <p:attrNameLst>
                                          <p:attrName>ppt_y</p:attrName>
                                        </p:attrNameLst>
                                      </p:cBhvr>
                                      <p:tavLst>
                                        <p:tav tm="0">
                                          <p:val>
                                            <p:strVal val="#ppt_y+1"/>
                                          </p:val>
                                        </p:tav>
                                        <p:tav tm="100000">
                                          <p:val>
                                            <p:strVal val="#ppt_y"/>
                                          </p:val>
                                        </p:tav>
                                      </p:tavLst>
                                    </p:anim>
                                  </p:childTnLst>
                                </p:cTn>
                              </p:par>
                            </p:childTnLst>
                          </p:cTn>
                        </p:par>
                        <p:par>
                          <p:cTn id="44" fill="hold">
                            <p:stCondLst>
                              <p:cond delay="2000"/>
                            </p:stCondLst>
                            <p:childTnLst>
                              <p:par>
                                <p:cTn id="45" presetID="2" presetClass="entr" presetSubtype="1" fill="hold" nodeType="afterEffect">
                                  <p:stCondLst>
                                    <p:cond delay="0"/>
                                  </p:stCondLst>
                                  <p:childTnLst>
                                    <p:set>
                                      <p:cBhvr>
                                        <p:cTn id="46" dur="1" fill="hold">
                                          <p:stCondLst>
                                            <p:cond delay="0"/>
                                          </p:stCondLst>
                                        </p:cTn>
                                        <p:tgtEl>
                                          <p:spTgt spid="9199"/>
                                        </p:tgtEl>
                                        <p:attrNameLst>
                                          <p:attrName>style.visibility</p:attrName>
                                        </p:attrNameLst>
                                      </p:cBhvr>
                                      <p:to>
                                        <p:strVal val="visible"/>
                                      </p:to>
                                    </p:set>
                                    <p:anim calcmode="lin" valueType="num">
                                      <p:cBhvr additive="base">
                                        <p:cTn id="47" dur="200"/>
                                        <p:tgtEl>
                                          <p:spTgt spid="9199"/>
                                        </p:tgtEl>
                                        <p:attrNameLst>
                                          <p:attrName>ppt_y</p:attrName>
                                        </p:attrNameLst>
                                      </p:cBhvr>
                                      <p:tavLst>
                                        <p:tav tm="0">
                                          <p:val>
                                            <p:strVal val="#ppt_y-1"/>
                                          </p:val>
                                        </p:tav>
                                        <p:tav tm="100000">
                                          <p:val>
                                            <p:strVal val="#ppt_y"/>
                                          </p:val>
                                        </p:tav>
                                      </p:tavLst>
                                    </p:anim>
                                  </p:childTnLst>
                                </p:cTn>
                              </p:par>
                            </p:childTnLst>
                          </p:cTn>
                        </p:par>
                        <p:par>
                          <p:cTn id="48" fill="hold">
                            <p:stCondLst>
                              <p:cond delay="2200"/>
                            </p:stCondLst>
                            <p:childTnLst>
                              <p:par>
                                <p:cTn id="49" presetID="2" presetClass="entr" presetSubtype="4" fill="hold" nodeType="afterEffect">
                                  <p:stCondLst>
                                    <p:cond delay="0"/>
                                  </p:stCondLst>
                                  <p:childTnLst>
                                    <p:set>
                                      <p:cBhvr>
                                        <p:cTn id="50" dur="1" fill="hold">
                                          <p:stCondLst>
                                            <p:cond delay="0"/>
                                          </p:stCondLst>
                                        </p:cTn>
                                        <p:tgtEl>
                                          <p:spTgt spid="9401"/>
                                        </p:tgtEl>
                                        <p:attrNameLst>
                                          <p:attrName>style.visibility</p:attrName>
                                        </p:attrNameLst>
                                      </p:cBhvr>
                                      <p:to>
                                        <p:strVal val="visible"/>
                                      </p:to>
                                    </p:set>
                                    <p:anim calcmode="lin" valueType="num">
                                      <p:cBhvr additive="base">
                                        <p:cTn id="51" dur="200"/>
                                        <p:tgtEl>
                                          <p:spTgt spid="9401"/>
                                        </p:tgtEl>
                                        <p:attrNameLst>
                                          <p:attrName>ppt_y</p:attrName>
                                        </p:attrNameLst>
                                      </p:cBhvr>
                                      <p:tavLst>
                                        <p:tav tm="0">
                                          <p:val>
                                            <p:strVal val="#ppt_y+1"/>
                                          </p:val>
                                        </p:tav>
                                        <p:tav tm="100000">
                                          <p:val>
                                            <p:strVal val="#ppt_y"/>
                                          </p:val>
                                        </p:tav>
                                      </p:tavLst>
                                    </p:anim>
                                  </p:childTnLst>
                                </p:cTn>
                              </p:par>
                            </p:childTnLst>
                          </p:cTn>
                        </p:par>
                        <p:par>
                          <p:cTn id="52" fill="hold">
                            <p:stCondLst>
                              <p:cond delay="2400"/>
                            </p:stCondLst>
                            <p:childTnLst>
                              <p:par>
                                <p:cTn id="53" presetID="2" presetClass="entr" presetSubtype="1" fill="hold" nodeType="afterEffect">
                                  <p:stCondLst>
                                    <p:cond delay="0"/>
                                  </p:stCondLst>
                                  <p:childTnLst>
                                    <p:set>
                                      <p:cBhvr>
                                        <p:cTn id="54" dur="1" fill="hold">
                                          <p:stCondLst>
                                            <p:cond delay="0"/>
                                          </p:stCondLst>
                                        </p:cTn>
                                        <p:tgtEl>
                                          <p:spTgt spid="9104"/>
                                        </p:tgtEl>
                                        <p:attrNameLst>
                                          <p:attrName>style.visibility</p:attrName>
                                        </p:attrNameLst>
                                      </p:cBhvr>
                                      <p:to>
                                        <p:strVal val="visible"/>
                                      </p:to>
                                    </p:set>
                                    <p:anim calcmode="lin" valueType="num">
                                      <p:cBhvr additive="base">
                                        <p:cTn id="55" dur="200"/>
                                        <p:tgtEl>
                                          <p:spTgt spid="9104"/>
                                        </p:tgtEl>
                                        <p:attrNameLst>
                                          <p:attrName>ppt_y</p:attrName>
                                        </p:attrNameLst>
                                      </p:cBhvr>
                                      <p:tavLst>
                                        <p:tav tm="0">
                                          <p:val>
                                            <p:strVal val="#ppt_y-1"/>
                                          </p:val>
                                        </p:tav>
                                        <p:tav tm="100000">
                                          <p:val>
                                            <p:strVal val="#ppt_y"/>
                                          </p:val>
                                        </p:tav>
                                      </p:tavLst>
                                    </p:anim>
                                  </p:childTnLst>
                                </p:cTn>
                              </p:par>
                            </p:childTnLst>
                          </p:cTn>
                        </p:par>
                        <p:par>
                          <p:cTn id="56" fill="hold">
                            <p:stCondLst>
                              <p:cond delay="2600"/>
                            </p:stCondLst>
                            <p:childTnLst>
                              <p:par>
                                <p:cTn id="57" presetID="2" presetClass="entr" presetSubtype="4" fill="hold" nodeType="afterEffect">
                                  <p:stCondLst>
                                    <p:cond delay="0"/>
                                  </p:stCondLst>
                                  <p:childTnLst>
                                    <p:set>
                                      <p:cBhvr>
                                        <p:cTn id="58" dur="1" fill="hold">
                                          <p:stCondLst>
                                            <p:cond delay="0"/>
                                          </p:stCondLst>
                                        </p:cTn>
                                        <p:tgtEl>
                                          <p:spTgt spid="9180"/>
                                        </p:tgtEl>
                                        <p:attrNameLst>
                                          <p:attrName>style.visibility</p:attrName>
                                        </p:attrNameLst>
                                      </p:cBhvr>
                                      <p:to>
                                        <p:strVal val="visible"/>
                                      </p:to>
                                    </p:set>
                                    <p:anim calcmode="lin" valueType="num">
                                      <p:cBhvr additive="base">
                                        <p:cTn id="59" dur="200"/>
                                        <p:tgtEl>
                                          <p:spTgt spid="9180"/>
                                        </p:tgtEl>
                                        <p:attrNameLst>
                                          <p:attrName>ppt_y</p:attrName>
                                        </p:attrNameLst>
                                      </p:cBhvr>
                                      <p:tavLst>
                                        <p:tav tm="0">
                                          <p:val>
                                            <p:strVal val="#ppt_y+1"/>
                                          </p:val>
                                        </p:tav>
                                        <p:tav tm="100000">
                                          <p:val>
                                            <p:strVal val="#ppt_y"/>
                                          </p:val>
                                        </p:tav>
                                      </p:tavLst>
                                    </p:anim>
                                  </p:childTnLst>
                                </p:cTn>
                              </p:par>
                            </p:childTnLst>
                          </p:cTn>
                        </p:par>
                        <p:par>
                          <p:cTn id="60" fill="hold">
                            <p:stCondLst>
                              <p:cond delay="2800"/>
                            </p:stCondLst>
                            <p:childTnLst>
                              <p:par>
                                <p:cTn id="61" presetID="2" presetClass="entr" presetSubtype="4" fill="hold" nodeType="afterEffect">
                                  <p:stCondLst>
                                    <p:cond delay="0"/>
                                  </p:stCondLst>
                                  <p:childTnLst>
                                    <p:set>
                                      <p:cBhvr>
                                        <p:cTn id="62" dur="1" fill="hold">
                                          <p:stCondLst>
                                            <p:cond delay="0"/>
                                          </p:stCondLst>
                                        </p:cTn>
                                        <p:tgtEl>
                                          <p:spTgt spid="9253"/>
                                        </p:tgtEl>
                                        <p:attrNameLst>
                                          <p:attrName>style.visibility</p:attrName>
                                        </p:attrNameLst>
                                      </p:cBhvr>
                                      <p:to>
                                        <p:strVal val="visible"/>
                                      </p:to>
                                    </p:set>
                                    <p:anim calcmode="lin" valueType="num">
                                      <p:cBhvr additive="base">
                                        <p:cTn id="63" dur="200"/>
                                        <p:tgtEl>
                                          <p:spTgt spid="9253"/>
                                        </p:tgtEl>
                                        <p:attrNameLst>
                                          <p:attrName>ppt_y</p:attrName>
                                        </p:attrNameLst>
                                      </p:cBhvr>
                                      <p:tavLst>
                                        <p:tav tm="0">
                                          <p:val>
                                            <p:strVal val="#ppt_y+1"/>
                                          </p:val>
                                        </p:tav>
                                        <p:tav tm="100000">
                                          <p:val>
                                            <p:strVal val="#ppt_y"/>
                                          </p:val>
                                        </p:tav>
                                      </p:tavLst>
                                    </p:anim>
                                  </p:childTnLst>
                                </p:cTn>
                              </p:par>
                            </p:childTnLst>
                          </p:cTn>
                        </p:par>
                        <p:par>
                          <p:cTn id="64" fill="hold">
                            <p:stCondLst>
                              <p:cond delay="3000"/>
                            </p:stCondLst>
                            <p:childTnLst>
                              <p:par>
                                <p:cTn id="65" presetID="2" presetClass="entr" presetSubtype="1" fill="hold" nodeType="afterEffect">
                                  <p:stCondLst>
                                    <p:cond delay="0"/>
                                  </p:stCondLst>
                                  <p:childTnLst>
                                    <p:set>
                                      <p:cBhvr>
                                        <p:cTn id="66" dur="1" fill="hold">
                                          <p:stCondLst>
                                            <p:cond delay="0"/>
                                          </p:stCondLst>
                                        </p:cTn>
                                        <p:tgtEl>
                                          <p:spTgt spid="9124"/>
                                        </p:tgtEl>
                                        <p:attrNameLst>
                                          <p:attrName>style.visibility</p:attrName>
                                        </p:attrNameLst>
                                      </p:cBhvr>
                                      <p:to>
                                        <p:strVal val="visible"/>
                                      </p:to>
                                    </p:set>
                                    <p:anim calcmode="lin" valueType="num">
                                      <p:cBhvr additive="base">
                                        <p:cTn id="67" dur="200"/>
                                        <p:tgtEl>
                                          <p:spTgt spid="9124"/>
                                        </p:tgtEl>
                                        <p:attrNameLst>
                                          <p:attrName>ppt_y</p:attrName>
                                        </p:attrNameLst>
                                      </p:cBhvr>
                                      <p:tavLst>
                                        <p:tav tm="0">
                                          <p:val>
                                            <p:strVal val="#ppt_y-1"/>
                                          </p:val>
                                        </p:tav>
                                        <p:tav tm="100000">
                                          <p:val>
                                            <p:strVal val="#ppt_y"/>
                                          </p:val>
                                        </p:tav>
                                      </p:tavLst>
                                    </p:anim>
                                  </p:childTnLst>
                                </p:cTn>
                              </p:par>
                            </p:childTnLst>
                          </p:cTn>
                        </p:par>
                        <p:par>
                          <p:cTn id="68" fill="hold">
                            <p:stCondLst>
                              <p:cond delay="3200"/>
                            </p:stCondLst>
                            <p:childTnLst>
                              <p:par>
                                <p:cTn id="69" presetID="2" presetClass="entr" presetSubtype="4" fill="hold" nodeType="afterEffect">
                                  <p:stCondLst>
                                    <p:cond delay="0"/>
                                  </p:stCondLst>
                                  <p:childTnLst>
                                    <p:set>
                                      <p:cBhvr>
                                        <p:cTn id="70" dur="1" fill="hold">
                                          <p:stCondLst>
                                            <p:cond delay="0"/>
                                          </p:stCondLst>
                                        </p:cTn>
                                        <p:tgtEl>
                                          <p:spTgt spid="9344"/>
                                        </p:tgtEl>
                                        <p:attrNameLst>
                                          <p:attrName>style.visibility</p:attrName>
                                        </p:attrNameLst>
                                      </p:cBhvr>
                                      <p:to>
                                        <p:strVal val="visible"/>
                                      </p:to>
                                    </p:set>
                                    <p:anim calcmode="lin" valueType="num">
                                      <p:cBhvr additive="base">
                                        <p:cTn id="71" dur="200"/>
                                        <p:tgtEl>
                                          <p:spTgt spid="9344"/>
                                        </p:tgtEl>
                                        <p:attrNameLst>
                                          <p:attrName>ppt_y</p:attrName>
                                        </p:attrNameLst>
                                      </p:cBhvr>
                                      <p:tavLst>
                                        <p:tav tm="0">
                                          <p:val>
                                            <p:strVal val="#ppt_y+1"/>
                                          </p:val>
                                        </p:tav>
                                        <p:tav tm="100000">
                                          <p:val>
                                            <p:strVal val="#ppt_y"/>
                                          </p:val>
                                        </p:tav>
                                      </p:tavLst>
                                    </p:anim>
                                  </p:childTnLst>
                                </p:cTn>
                              </p:par>
                            </p:childTnLst>
                          </p:cTn>
                        </p:par>
                        <p:par>
                          <p:cTn id="72" fill="hold">
                            <p:stCondLst>
                              <p:cond delay="3400"/>
                            </p:stCondLst>
                            <p:childTnLst>
                              <p:par>
                                <p:cTn id="73" presetID="2" presetClass="entr" presetSubtype="4" fill="hold" nodeType="afterEffect">
                                  <p:stCondLst>
                                    <p:cond delay="0"/>
                                  </p:stCondLst>
                                  <p:childTnLst>
                                    <p:set>
                                      <p:cBhvr>
                                        <p:cTn id="74" dur="1" fill="hold">
                                          <p:stCondLst>
                                            <p:cond delay="0"/>
                                          </p:stCondLst>
                                        </p:cTn>
                                        <p:tgtEl>
                                          <p:spTgt spid="9339"/>
                                        </p:tgtEl>
                                        <p:attrNameLst>
                                          <p:attrName>style.visibility</p:attrName>
                                        </p:attrNameLst>
                                      </p:cBhvr>
                                      <p:to>
                                        <p:strVal val="visible"/>
                                      </p:to>
                                    </p:set>
                                    <p:anim calcmode="lin" valueType="num">
                                      <p:cBhvr additive="base">
                                        <p:cTn id="75" dur="200"/>
                                        <p:tgtEl>
                                          <p:spTgt spid="9339"/>
                                        </p:tgtEl>
                                        <p:attrNameLst>
                                          <p:attrName>ppt_y</p:attrName>
                                        </p:attrNameLst>
                                      </p:cBhvr>
                                      <p:tavLst>
                                        <p:tav tm="0">
                                          <p:val>
                                            <p:strVal val="#ppt_y+1"/>
                                          </p:val>
                                        </p:tav>
                                        <p:tav tm="100000">
                                          <p:val>
                                            <p:strVal val="#ppt_y"/>
                                          </p:val>
                                        </p:tav>
                                      </p:tavLst>
                                    </p:anim>
                                  </p:childTnLst>
                                </p:cTn>
                              </p:par>
                            </p:childTnLst>
                          </p:cTn>
                        </p:par>
                        <p:par>
                          <p:cTn id="76" fill="hold">
                            <p:stCondLst>
                              <p:cond delay="3600"/>
                            </p:stCondLst>
                            <p:childTnLst>
                              <p:par>
                                <p:cTn id="77" presetID="2" presetClass="entr" presetSubtype="1" fill="hold" nodeType="afterEffect">
                                  <p:stCondLst>
                                    <p:cond delay="0"/>
                                  </p:stCondLst>
                                  <p:childTnLst>
                                    <p:set>
                                      <p:cBhvr>
                                        <p:cTn id="78" dur="1" fill="hold">
                                          <p:stCondLst>
                                            <p:cond delay="0"/>
                                          </p:stCondLst>
                                        </p:cTn>
                                        <p:tgtEl>
                                          <p:spTgt spid="9390"/>
                                        </p:tgtEl>
                                        <p:attrNameLst>
                                          <p:attrName>style.visibility</p:attrName>
                                        </p:attrNameLst>
                                      </p:cBhvr>
                                      <p:to>
                                        <p:strVal val="visible"/>
                                      </p:to>
                                    </p:set>
                                    <p:anim calcmode="lin" valueType="num">
                                      <p:cBhvr additive="base">
                                        <p:cTn id="79" dur="200"/>
                                        <p:tgtEl>
                                          <p:spTgt spid="9390"/>
                                        </p:tgtEl>
                                        <p:attrNameLst>
                                          <p:attrName>ppt_y</p:attrName>
                                        </p:attrNameLst>
                                      </p:cBhvr>
                                      <p:tavLst>
                                        <p:tav tm="0">
                                          <p:val>
                                            <p:strVal val="#ppt_y-1"/>
                                          </p:val>
                                        </p:tav>
                                        <p:tav tm="100000">
                                          <p:val>
                                            <p:strVal val="#ppt_y"/>
                                          </p:val>
                                        </p:tav>
                                      </p:tavLst>
                                    </p:anim>
                                  </p:childTnLst>
                                </p:cTn>
                              </p:par>
                            </p:childTnLst>
                          </p:cTn>
                        </p:par>
                        <p:par>
                          <p:cTn id="80" fill="hold">
                            <p:stCondLst>
                              <p:cond delay="3800"/>
                            </p:stCondLst>
                            <p:childTnLst>
                              <p:par>
                                <p:cTn id="81" presetID="2" presetClass="entr" presetSubtype="4" fill="hold" nodeType="afterEffect">
                                  <p:stCondLst>
                                    <p:cond delay="0"/>
                                  </p:stCondLst>
                                  <p:childTnLst>
                                    <p:set>
                                      <p:cBhvr>
                                        <p:cTn id="82" dur="1" fill="hold">
                                          <p:stCondLst>
                                            <p:cond delay="0"/>
                                          </p:stCondLst>
                                        </p:cTn>
                                        <p:tgtEl>
                                          <p:spTgt spid="9367"/>
                                        </p:tgtEl>
                                        <p:attrNameLst>
                                          <p:attrName>style.visibility</p:attrName>
                                        </p:attrNameLst>
                                      </p:cBhvr>
                                      <p:to>
                                        <p:strVal val="visible"/>
                                      </p:to>
                                    </p:set>
                                    <p:anim calcmode="lin" valueType="num">
                                      <p:cBhvr additive="base">
                                        <p:cTn id="83" dur="200"/>
                                        <p:tgtEl>
                                          <p:spTgt spid="9367"/>
                                        </p:tgtEl>
                                        <p:attrNameLst>
                                          <p:attrName>ppt_y</p:attrName>
                                        </p:attrNameLst>
                                      </p:cBhvr>
                                      <p:tavLst>
                                        <p:tav tm="0">
                                          <p:val>
                                            <p:strVal val="#ppt_y+1"/>
                                          </p:val>
                                        </p:tav>
                                        <p:tav tm="100000">
                                          <p:val>
                                            <p:strVal val="#ppt_y"/>
                                          </p:val>
                                        </p:tav>
                                      </p:tavLst>
                                    </p:anim>
                                  </p:childTnLst>
                                </p:cTn>
                              </p:par>
                            </p:childTnLst>
                          </p:cTn>
                        </p:par>
                        <p:par>
                          <p:cTn id="84" fill="hold">
                            <p:stCondLst>
                              <p:cond delay="4000"/>
                            </p:stCondLst>
                            <p:childTnLst>
                              <p:par>
                                <p:cTn id="85" presetID="2" presetClass="entr" presetSubtype="4" fill="hold" nodeType="afterEffect">
                                  <p:stCondLst>
                                    <p:cond delay="0"/>
                                  </p:stCondLst>
                                  <p:childTnLst>
                                    <p:set>
                                      <p:cBhvr>
                                        <p:cTn id="86" dur="1" fill="hold">
                                          <p:stCondLst>
                                            <p:cond delay="0"/>
                                          </p:stCondLst>
                                        </p:cTn>
                                        <p:tgtEl>
                                          <p:spTgt spid="9161"/>
                                        </p:tgtEl>
                                        <p:attrNameLst>
                                          <p:attrName>style.visibility</p:attrName>
                                        </p:attrNameLst>
                                      </p:cBhvr>
                                      <p:to>
                                        <p:strVal val="visible"/>
                                      </p:to>
                                    </p:set>
                                    <p:anim calcmode="lin" valueType="num">
                                      <p:cBhvr additive="base">
                                        <p:cTn id="87" dur="200"/>
                                        <p:tgtEl>
                                          <p:spTgt spid="9161"/>
                                        </p:tgtEl>
                                        <p:attrNameLst>
                                          <p:attrName>ppt_y</p:attrName>
                                        </p:attrNameLst>
                                      </p:cBhvr>
                                      <p:tavLst>
                                        <p:tav tm="0">
                                          <p:val>
                                            <p:strVal val="#ppt_y+1"/>
                                          </p:val>
                                        </p:tav>
                                        <p:tav tm="100000">
                                          <p:val>
                                            <p:strVal val="#ppt_y"/>
                                          </p:val>
                                        </p:tav>
                                      </p:tavLst>
                                    </p:anim>
                                  </p:childTnLst>
                                </p:cTn>
                              </p:par>
                            </p:childTnLst>
                          </p:cTn>
                        </p:par>
                        <p:par>
                          <p:cTn id="88" fill="hold">
                            <p:stCondLst>
                              <p:cond delay="4200"/>
                            </p:stCondLst>
                            <p:childTnLst>
                              <p:par>
                                <p:cTn id="89" presetID="2" presetClass="entr" presetSubtype="1" fill="hold" nodeType="afterEffect">
                                  <p:stCondLst>
                                    <p:cond delay="0"/>
                                  </p:stCondLst>
                                  <p:childTnLst>
                                    <p:set>
                                      <p:cBhvr>
                                        <p:cTn id="90" dur="1" fill="hold">
                                          <p:stCondLst>
                                            <p:cond delay="0"/>
                                          </p:stCondLst>
                                        </p:cTn>
                                        <p:tgtEl>
                                          <p:spTgt spid="9301"/>
                                        </p:tgtEl>
                                        <p:attrNameLst>
                                          <p:attrName>style.visibility</p:attrName>
                                        </p:attrNameLst>
                                      </p:cBhvr>
                                      <p:to>
                                        <p:strVal val="visible"/>
                                      </p:to>
                                    </p:set>
                                    <p:anim calcmode="lin" valueType="num">
                                      <p:cBhvr additive="base">
                                        <p:cTn id="91" dur="200"/>
                                        <p:tgtEl>
                                          <p:spTgt spid="9301"/>
                                        </p:tgtEl>
                                        <p:attrNameLst>
                                          <p:attrName>ppt_y</p:attrName>
                                        </p:attrNameLst>
                                      </p:cBhvr>
                                      <p:tavLst>
                                        <p:tav tm="0">
                                          <p:val>
                                            <p:strVal val="#ppt_y-1"/>
                                          </p:val>
                                        </p:tav>
                                        <p:tav tm="100000">
                                          <p:val>
                                            <p:strVal val="#ppt_y"/>
                                          </p:val>
                                        </p:tav>
                                      </p:tavLst>
                                    </p:anim>
                                  </p:childTnLst>
                                </p:cTn>
                              </p:par>
                            </p:childTnLst>
                          </p:cTn>
                        </p:par>
                        <p:par>
                          <p:cTn id="92" fill="hold">
                            <p:stCondLst>
                              <p:cond delay="4400"/>
                            </p:stCondLst>
                            <p:childTnLst>
                              <p:par>
                                <p:cTn id="93" presetID="2" presetClass="entr" presetSubtype="4" fill="hold" nodeType="afterEffect">
                                  <p:stCondLst>
                                    <p:cond delay="0"/>
                                  </p:stCondLst>
                                  <p:childTnLst>
                                    <p:set>
                                      <p:cBhvr>
                                        <p:cTn id="94" dur="1" fill="hold">
                                          <p:stCondLst>
                                            <p:cond delay="0"/>
                                          </p:stCondLst>
                                        </p:cTn>
                                        <p:tgtEl>
                                          <p:spTgt spid="9109"/>
                                        </p:tgtEl>
                                        <p:attrNameLst>
                                          <p:attrName>style.visibility</p:attrName>
                                        </p:attrNameLst>
                                      </p:cBhvr>
                                      <p:to>
                                        <p:strVal val="visible"/>
                                      </p:to>
                                    </p:set>
                                    <p:anim calcmode="lin" valueType="num">
                                      <p:cBhvr additive="base">
                                        <p:cTn id="95" dur="200"/>
                                        <p:tgtEl>
                                          <p:spTgt spid="9109"/>
                                        </p:tgtEl>
                                        <p:attrNameLst>
                                          <p:attrName>ppt_y</p:attrName>
                                        </p:attrNameLst>
                                      </p:cBhvr>
                                      <p:tavLst>
                                        <p:tav tm="0">
                                          <p:val>
                                            <p:strVal val="#ppt_y+1"/>
                                          </p:val>
                                        </p:tav>
                                        <p:tav tm="100000">
                                          <p:val>
                                            <p:strVal val="#ppt_y"/>
                                          </p:val>
                                        </p:tav>
                                      </p:tavLst>
                                    </p:anim>
                                  </p:childTnLst>
                                </p:cTn>
                              </p:par>
                            </p:childTnLst>
                          </p:cTn>
                        </p:par>
                        <p:par>
                          <p:cTn id="96" fill="hold">
                            <p:stCondLst>
                              <p:cond delay="4600"/>
                            </p:stCondLst>
                            <p:childTnLst>
                              <p:par>
                                <p:cTn id="97" presetID="2" presetClass="entr" presetSubtype="4" fill="hold" nodeType="afterEffect">
                                  <p:stCondLst>
                                    <p:cond delay="0"/>
                                  </p:stCondLst>
                                  <p:childTnLst>
                                    <p:set>
                                      <p:cBhvr>
                                        <p:cTn id="98" dur="1" fill="hold">
                                          <p:stCondLst>
                                            <p:cond delay="0"/>
                                          </p:stCondLst>
                                        </p:cTn>
                                        <p:tgtEl>
                                          <p:spTgt spid="9385"/>
                                        </p:tgtEl>
                                        <p:attrNameLst>
                                          <p:attrName>style.visibility</p:attrName>
                                        </p:attrNameLst>
                                      </p:cBhvr>
                                      <p:to>
                                        <p:strVal val="visible"/>
                                      </p:to>
                                    </p:set>
                                    <p:anim calcmode="lin" valueType="num">
                                      <p:cBhvr additive="base">
                                        <p:cTn id="99" dur="200"/>
                                        <p:tgtEl>
                                          <p:spTgt spid="9385"/>
                                        </p:tgtEl>
                                        <p:attrNameLst>
                                          <p:attrName>ppt_y</p:attrName>
                                        </p:attrNameLst>
                                      </p:cBhvr>
                                      <p:tavLst>
                                        <p:tav tm="0">
                                          <p:val>
                                            <p:strVal val="#ppt_y+1"/>
                                          </p:val>
                                        </p:tav>
                                        <p:tav tm="100000">
                                          <p:val>
                                            <p:strVal val="#ppt_y"/>
                                          </p:val>
                                        </p:tav>
                                      </p:tavLst>
                                    </p:anim>
                                  </p:childTnLst>
                                </p:cTn>
                              </p:par>
                            </p:childTnLst>
                          </p:cTn>
                        </p:par>
                        <p:par>
                          <p:cTn id="100" fill="hold">
                            <p:stCondLst>
                              <p:cond delay="4800"/>
                            </p:stCondLst>
                            <p:childTnLst>
                              <p:par>
                                <p:cTn id="101" presetID="2" presetClass="entr" presetSubtype="1" fill="hold" nodeType="afterEffect">
                                  <p:stCondLst>
                                    <p:cond delay="0"/>
                                  </p:stCondLst>
                                  <p:childTnLst>
                                    <p:set>
                                      <p:cBhvr>
                                        <p:cTn id="102" dur="1" fill="hold">
                                          <p:stCondLst>
                                            <p:cond delay="0"/>
                                          </p:stCondLst>
                                        </p:cTn>
                                        <p:tgtEl>
                                          <p:spTgt spid="9226"/>
                                        </p:tgtEl>
                                        <p:attrNameLst>
                                          <p:attrName>style.visibility</p:attrName>
                                        </p:attrNameLst>
                                      </p:cBhvr>
                                      <p:to>
                                        <p:strVal val="visible"/>
                                      </p:to>
                                    </p:set>
                                    <p:anim calcmode="lin" valueType="num">
                                      <p:cBhvr additive="base">
                                        <p:cTn id="103" dur="200"/>
                                        <p:tgtEl>
                                          <p:spTgt spid="9226"/>
                                        </p:tgtEl>
                                        <p:attrNameLst>
                                          <p:attrName>ppt_y</p:attrName>
                                        </p:attrNameLst>
                                      </p:cBhvr>
                                      <p:tavLst>
                                        <p:tav tm="0">
                                          <p:val>
                                            <p:strVal val="#ppt_y-1"/>
                                          </p:val>
                                        </p:tav>
                                        <p:tav tm="100000">
                                          <p:val>
                                            <p:strVal val="#ppt_y"/>
                                          </p:val>
                                        </p:tav>
                                      </p:tavLst>
                                    </p:anim>
                                  </p:childTnLst>
                                </p:cTn>
                              </p:par>
                            </p:childTnLst>
                          </p:cTn>
                        </p:par>
                        <p:par>
                          <p:cTn id="104" fill="hold">
                            <p:stCondLst>
                              <p:cond delay="5000"/>
                            </p:stCondLst>
                            <p:childTnLst>
                              <p:par>
                                <p:cTn id="105" presetID="2" presetClass="entr" presetSubtype="4" fill="hold" nodeType="afterEffect">
                                  <p:stCondLst>
                                    <p:cond delay="0"/>
                                  </p:stCondLst>
                                  <p:childTnLst>
                                    <p:set>
                                      <p:cBhvr>
                                        <p:cTn id="106" dur="1" fill="hold">
                                          <p:stCondLst>
                                            <p:cond delay="0"/>
                                          </p:stCondLst>
                                        </p:cTn>
                                        <p:tgtEl>
                                          <p:spTgt spid="9114"/>
                                        </p:tgtEl>
                                        <p:attrNameLst>
                                          <p:attrName>style.visibility</p:attrName>
                                        </p:attrNameLst>
                                      </p:cBhvr>
                                      <p:to>
                                        <p:strVal val="visible"/>
                                      </p:to>
                                    </p:set>
                                    <p:anim calcmode="lin" valueType="num">
                                      <p:cBhvr additive="base">
                                        <p:cTn id="107" dur="200"/>
                                        <p:tgtEl>
                                          <p:spTgt spid="9114"/>
                                        </p:tgtEl>
                                        <p:attrNameLst>
                                          <p:attrName>ppt_y</p:attrName>
                                        </p:attrNameLst>
                                      </p:cBhvr>
                                      <p:tavLst>
                                        <p:tav tm="0">
                                          <p:val>
                                            <p:strVal val="#ppt_y+1"/>
                                          </p:val>
                                        </p:tav>
                                        <p:tav tm="100000">
                                          <p:val>
                                            <p:strVal val="#ppt_y"/>
                                          </p:val>
                                        </p:tav>
                                      </p:tavLst>
                                    </p:anim>
                                  </p:childTnLst>
                                </p:cTn>
                              </p:par>
                            </p:childTnLst>
                          </p:cTn>
                        </p:par>
                        <p:par>
                          <p:cTn id="108" fill="hold">
                            <p:stCondLst>
                              <p:cond delay="5200"/>
                            </p:stCondLst>
                            <p:childTnLst>
                              <p:par>
                                <p:cTn id="109" presetID="2" presetClass="entr" presetSubtype="4" fill="hold" nodeType="afterEffect">
                                  <p:stCondLst>
                                    <p:cond delay="0"/>
                                  </p:stCondLst>
                                  <p:childTnLst>
                                    <p:set>
                                      <p:cBhvr>
                                        <p:cTn id="110" dur="1" fill="hold">
                                          <p:stCondLst>
                                            <p:cond delay="0"/>
                                          </p:stCondLst>
                                        </p:cTn>
                                        <p:tgtEl>
                                          <p:spTgt spid="9449"/>
                                        </p:tgtEl>
                                        <p:attrNameLst>
                                          <p:attrName>style.visibility</p:attrName>
                                        </p:attrNameLst>
                                      </p:cBhvr>
                                      <p:to>
                                        <p:strVal val="visible"/>
                                      </p:to>
                                    </p:set>
                                    <p:anim calcmode="lin" valueType="num">
                                      <p:cBhvr additive="base">
                                        <p:cTn id="111" dur="200"/>
                                        <p:tgtEl>
                                          <p:spTgt spid="9449"/>
                                        </p:tgtEl>
                                        <p:attrNameLst>
                                          <p:attrName>ppt_y</p:attrName>
                                        </p:attrNameLst>
                                      </p:cBhvr>
                                      <p:tavLst>
                                        <p:tav tm="0">
                                          <p:val>
                                            <p:strVal val="#ppt_y+1"/>
                                          </p:val>
                                        </p:tav>
                                        <p:tav tm="100000">
                                          <p:val>
                                            <p:strVal val="#ppt_y"/>
                                          </p:val>
                                        </p:tav>
                                      </p:tavLst>
                                    </p:anim>
                                  </p:childTnLst>
                                </p:cTn>
                              </p:par>
                            </p:childTnLst>
                          </p:cTn>
                        </p:par>
                        <p:par>
                          <p:cTn id="112" fill="hold">
                            <p:stCondLst>
                              <p:cond delay="5400"/>
                            </p:stCondLst>
                            <p:childTnLst>
                              <p:par>
                                <p:cTn id="113" presetID="2" presetClass="entr" presetSubtype="1" fill="hold" nodeType="afterEffect">
                                  <p:stCondLst>
                                    <p:cond delay="0"/>
                                  </p:stCondLst>
                                  <p:childTnLst>
                                    <p:set>
                                      <p:cBhvr>
                                        <p:cTn id="114" dur="1" fill="hold">
                                          <p:stCondLst>
                                            <p:cond delay="0"/>
                                          </p:stCondLst>
                                        </p:cTn>
                                        <p:tgtEl>
                                          <p:spTgt spid="9185"/>
                                        </p:tgtEl>
                                        <p:attrNameLst>
                                          <p:attrName>style.visibility</p:attrName>
                                        </p:attrNameLst>
                                      </p:cBhvr>
                                      <p:to>
                                        <p:strVal val="visible"/>
                                      </p:to>
                                    </p:set>
                                    <p:anim calcmode="lin" valueType="num">
                                      <p:cBhvr additive="base">
                                        <p:cTn id="115" dur="200"/>
                                        <p:tgtEl>
                                          <p:spTgt spid="9185"/>
                                        </p:tgtEl>
                                        <p:attrNameLst>
                                          <p:attrName>ppt_y</p:attrName>
                                        </p:attrNameLst>
                                      </p:cBhvr>
                                      <p:tavLst>
                                        <p:tav tm="0">
                                          <p:val>
                                            <p:strVal val="#ppt_y-1"/>
                                          </p:val>
                                        </p:tav>
                                        <p:tav tm="100000">
                                          <p:val>
                                            <p:strVal val="#ppt_y"/>
                                          </p:val>
                                        </p:tav>
                                      </p:tavLst>
                                    </p:anim>
                                  </p:childTnLst>
                                </p:cTn>
                              </p:par>
                            </p:childTnLst>
                          </p:cTn>
                        </p:par>
                        <p:par>
                          <p:cTn id="116" fill="hold">
                            <p:stCondLst>
                              <p:cond delay="5600"/>
                            </p:stCondLst>
                            <p:childTnLst>
                              <p:par>
                                <p:cTn id="117" presetID="2" presetClass="entr" presetSubtype="4" fill="hold" nodeType="afterEffect">
                                  <p:stCondLst>
                                    <p:cond delay="0"/>
                                  </p:stCondLst>
                                  <p:childTnLst>
                                    <p:set>
                                      <p:cBhvr>
                                        <p:cTn id="118" dur="1" fill="hold">
                                          <p:stCondLst>
                                            <p:cond delay="0"/>
                                          </p:stCondLst>
                                        </p:cTn>
                                        <p:tgtEl>
                                          <p:spTgt spid="9194"/>
                                        </p:tgtEl>
                                        <p:attrNameLst>
                                          <p:attrName>style.visibility</p:attrName>
                                        </p:attrNameLst>
                                      </p:cBhvr>
                                      <p:to>
                                        <p:strVal val="visible"/>
                                      </p:to>
                                    </p:set>
                                    <p:anim calcmode="lin" valueType="num">
                                      <p:cBhvr additive="base">
                                        <p:cTn id="119" dur="200"/>
                                        <p:tgtEl>
                                          <p:spTgt spid="91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499"/>
        <p:cNvGrpSpPr/>
        <p:nvPr/>
      </p:nvGrpSpPr>
      <p:grpSpPr>
        <a:xfrm>
          <a:off x="0" y="0"/>
          <a:ext cx="0" cy="0"/>
          <a:chOff x="0" y="0"/>
          <a:chExt cx="0" cy="0"/>
        </a:xfrm>
      </p:grpSpPr>
      <p:sp>
        <p:nvSpPr>
          <p:cNvPr id="9500" name="Google Shape;9500;p86"/>
          <p:cNvSpPr/>
          <p:nvPr/>
        </p:nvSpPr>
        <p:spPr>
          <a:xfrm>
            <a:off x="6479" y="1572369"/>
            <a:ext cx="12182346" cy="4612079"/>
          </a:xfrm>
          <a:prstGeom prst="roundRect">
            <a:avLst>
              <a:gd name="adj" fmla="val 0"/>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00"/>
              <a:buFont typeface="Arial"/>
              <a:buNone/>
            </a:pPr>
            <a:endParaRPr sz="1000" b="0" i="0" u="none" strike="noStrike" cap="none">
              <a:solidFill>
                <a:srgbClr val="000000"/>
              </a:solidFill>
              <a:latin typeface="Arial"/>
              <a:ea typeface="Arial"/>
              <a:cs typeface="Arial"/>
              <a:sym typeface="Arial"/>
            </a:endParaRPr>
          </a:p>
        </p:txBody>
      </p:sp>
      <p:sp>
        <p:nvSpPr>
          <p:cNvPr id="9501" name="Google Shape;9501;p86"/>
          <p:cNvSpPr/>
          <p:nvPr/>
        </p:nvSpPr>
        <p:spPr>
          <a:xfrm>
            <a:off x="1032387" y="1664175"/>
            <a:ext cx="10323871" cy="4381995"/>
          </a:xfrm>
          <a:prstGeom prst="roundRect">
            <a:avLst>
              <a:gd name="adj" fmla="val 2790"/>
            </a:avLst>
          </a:prstGeom>
          <a:solidFill>
            <a:schemeClr val="lt1"/>
          </a:solidFill>
          <a:ln w="1905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a:t>
            </a:r>
            <a:endParaRPr sz="1200" b="0" i="0" u="none" strike="noStrike" cap="none">
              <a:solidFill>
                <a:srgbClr val="FFFFFF"/>
              </a:solidFill>
              <a:latin typeface="Arial"/>
              <a:ea typeface="Arial"/>
              <a:cs typeface="Arial"/>
              <a:sym typeface="Arial"/>
            </a:endParaRPr>
          </a:p>
        </p:txBody>
      </p:sp>
      <p:sp>
        <p:nvSpPr>
          <p:cNvPr id="9502" name="Google Shape;9502;p86"/>
          <p:cNvSpPr txBox="1"/>
          <p:nvPr/>
        </p:nvSpPr>
        <p:spPr>
          <a:xfrm>
            <a:off x="579438" y="412750"/>
            <a:ext cx="11001375" cy="3810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2"/>
              </a:buClr>
              <a:buSzPts val="2800"/>
              <a:buFont typeface="Arial"/>
              <a:buNone/>
            </a:pPr>
            <a:r>
              <a:rPr lang="en-US" sz="2800" b="0">
                <a:solidFill>
                  <a:schemeClr val="accent2"/>
                </a:solidFill>
                <a:latin typeface="Arial"/>
                <a:ea typeface="Arial"/>
                <a:cs typeface="Arial"/>
                <a:sym typeface="Arial"/>
              </a:rPr>
              <a:t>Security at Every Layer of Cloud Foundation</a:t>
            </a:r>
            <a:endParaRPr/>
          </a:p>
        </p:txBody>
      </p:sp>
      <p:grpSp>
        <p:nvGrpSpPr>
          <p:cNvPr id="9503" name="Google Shape;9503;p86"/>
          <p:cNvGrpSpPr/>
          <p:nvPr/>
        </p:nvGrpSpPr>
        <p:grpSpPr>
          <a:xfrm>
            <a:off x="1752980" y="4092838"/>
            <a:ext cx="8869680" cy="396000"/>
            <a:chOff x="1654476" y="3079960"/>
            <a:chExt cx="8869680" cy="396000"/>
          </a:xfrm>
        </p:grpSpPr>
        <p:sp>
          <p:nvSpPr>
            <p:cNvPr id="9504" name="Google Shape;9504;p86"/>
            <p:cNvSpPr/>
            <p:nvPr/>
          </p:nvSpPr>
          <p:spPr>
            <a:xfrm>
              <a:off x="1654476" y="3079960"/>
              <a:ext cx="1645920" cy="396000"/>
            </a:xfrm>
            <a:prstGeom prst="rect">
              <a:avLst/>
            </a:prstGeom>
            <a:gradFill>
              <a:gsLst>
                <a:gs pos="0">
                  <a:schemeClr val="accent3"/>
                </a:gs>
                <a:gs pos="82000">
                  <a:schemeClr val="accent3"/>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ATTESTATION</a:t>
              </a:r>
              <a:endParaRPr/>
            </a:p>
          </p:txBody>
        </p:sp>
        <p:sp>
          <p:nvSpPr>
            <p:cNvPr id="9505" name="Google Shape;9505;p86"/>
            <p:cNvSpPr/>
            <p:nvPr/>
          </p:nvSpPr>
          <p:spPr>
            <a:xfrm>
              <a:off x="3451693" y="3079960"/>
              <a:ext cx="1645920" cy="396000"/>
            </a:xfrm>
            <a:prstGeom prst="rect">
              <a:avLst/>
            </a:prstGeom>
            <a:gradFill>
              <a:gsLst>
                <a:gs pos="0">
                  <a:schemeClr val="accent3"/>
                </a:gs>
                <a:gs pos="82000">
                  <a:schemeClr val="accent3"/>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VM ENCRYPTION</a:t>
              </a:r>
              <a:endParaRPr/>
            </a:p>
          </p:txBody>
        </p:sp>
        <p:sp>
          <p:nvSpPr>
            <p:cNvPr id="9506" name="Google Shape;9506;p86"/>
            <p:cNvSpPr/>
            <p:nvPr/>
          </p:nvSpPr>
          <p:spPr>
            <a:xfrm>
              <a:off x="5257377" y="3079960"/>
              <a:ext cx="1645920" cy="396000"/>
            </a:xfrm>
            <a:prstGeom prst="rect">
              <a:avLst/>
            </a:prstGeom>
            <a:gradFill>
              <a:gsLst>
                <a:gs pos="0">
                  <a:schemeClr val="accent3"/>
                </a:gs>
                <a:gs pos="82000">
                  <a:schemeClr val="accent3"/>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IDENTITY &amp; RBAC</a:t>
              </a:r>
              <a:endParaRPr/>
            </a:p>
          </p:txBody>
        </p:sp>
        <p:sp>
          <p:nvSpPr>
            <p:cNvPr id="9507" name="Google Shape;9507;p86"/>
            <p:cNvSpPr/>
            <p:nvPr/>
          </p:nvSpPr>
          <p:spPr>
            <a:xfrm>
              <a:off x="7063061" y="3079960"/>
              <a:ext cx="1645920" cy="396000"/>
            </a:xfrm>
            <a:prstGeom prst="rect">
              <a:avLst/>
            </a:prstGeom>
            <a:gradFill>
              <a:gsLst>
                <a:gs pos="0">
                  <a:schemeClr val="accent3"/>
                </a:gs>
                <a:gs pos="82000">
                  <a:schemeClr val="accent3"/>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vMOTION &amp; DRS</a:t>
              </a:r>
              <a:endParaRPr/>
            </a:p>
          </p:txBody>
        </p:sp>
        <p:sp>
          <p:nvSpPr>
            <p:cNvPr id="9508" name="Google Shape;9508;p86"/>
            <p:cNvSpPr/>
            <p:nvPr/>
          </p:nvSpPr>
          <p:spPr>
            <a:xfrm>
              <a:off x="8878236" y="3079960"/>
              <a:ext cx="1645920" cy="396000"/>
            </a:xfrm>
            <a:prstGeom prst="rect">
              <a:avLst/>
            </a:prstGeom>
            <a:gradFill>
              <a:gsLst>
                <a:gs pos="0">
                  <a:schemeClr val="accent3"/>
                </a:gs>
                <a:gs pos="82000">
                  <a:schemeClr val="accent3"/>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KEY MGMT</a:t>
              </a:r>
              <a:endParaRPr sz="1200" b="0" i="0" u="none" strike="noStrike" cap="none">
                <a:solidFill>
                  <a:srgbClr val="FFFFFF"/>
                </a:solidFill>
                <a:latin typeface="Arial"/>
                <a:ea typeface="Arial"/>
                <a:cs typeface="Arial"/>
                <a:sym typeface="Arial"/>
              </a:endParaRPr>
            </a:p>
          </p:txBody>
        </p:sp>
      </p:grpSp>
      <p:grpSp>
        <p:nvGrpSpPr>
          <p:cNvPr id="9509" name="Google Shape;9509;p86"/>
          <p:cNvGrpSpPr/>
          <p:nvPr/>
        </p:nvGrpSpPr>
        <p:grpSpPr>
          <a:xfrm>
            <a:off x="1744513" y="3379895"/>
            <a:ext cx="8869680" cy="396000"/>
            <a:chOff x="1654476" y="3938840"/>
            <a:chExt cx="8869680" cy="396000"/>
          </a:xfrm>
        </p:grpSpPr>
        <p:sp>
          <p:nvSpPr>
            <p:cNvPr id="9510" name="Google Shape;9510;p86"/>
            <p:cNvSpPr/>
            <p:nvPr/>
          </p:nvSpPr>
          <p:spPr>
            <a:xfrm>
              <a:off x="1654476" y="3938840"/>
              <a:ext cx="2103120" cy="396000"/>
            </a:xfrm>
            <a:prstGeom prst="rect">
              <a:avLst/>
            </a:prstGeom>
            <a:gradFill>
              <a:gsLst>
                <a:gs pos="0">
                  <a:schemeClr val="accent2"/>
                </a:gs>
                <a:gs pos="82000">
                  <a:schemeClr val="accent2"/>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ENCRYPTION AT REST</a:t>
              </a:r>
              <a:endParaRPr sz="1200" b="0" i="0" u="none" strike="noStrike" cap="none">
                <a:solidFill>
                  <a:srgbClr val="FFFFFF"/>
                </a:solidFill>
                <a:latin typeface="Arial"/>
                <a:ea typeface="Arial"/>
                <a:cs typeface="Arial"/>
                <a:sym typeface="Arial"/>
              </a:endParaRPr>
            </a:p>
          </p:txBody>
        </p:sp>
        <p:sp>
          <p:nvSpPr>
            <p:cNvPr id="9511" name="Google Shape;9511;p86"/>
            <p:cNvSpPr/>
            <p:nvPr/>
          </p:nvSpPr>
          <p:spPr>
            <a:xfrm>
              <a:off x="3909996" y="3938840"/>
              <a:ext cx="2103120" cy="396000"/>
            </a:xfrm>
            <a:prstGeom prst="rect">
              <a:avLst/>
            </a:prstGeom>
            <a:gradFill>
              <a:gsLst>
                <a:gs pos="0">
                  <a:schemeClr val="accent2"/>
                </a:gs>
                <a:gs pos="82000">
                  <a:schemeClr val="accent2"/>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ENCRYPTION IN FLIGHT</a:t>
              </a:r>
              <a:endParaRPr sz="1200" b="0" i="0" u="none" strike="noStrike" cap="none">
                <a:solidFill>
                  <a:srgbClr val="FFFFFF"/>
                </a:solidFill>
                <a:latin typeface="Arial"/>
                <a:ea typeface="Arial"/>
                <a:cs typeface="Arial"/>
                <a:sym typeface="Arial"/>
              </a:endParaRPr>
            </a:p>
          </p:txBody>
        </p:sp>
        <p:sp>
          <p:nvSpPr>
            <p:cNvPr id="9512" name="Google Shape;9512;p86"/>
            <p:cNvSpPr/>
            <p:nvPr/>
          </p:nvSpPr>
          <p:spPr>
            <a:xfrm>
              <a:off x="6165516" y="3938840"/>
              <a:ext cx="2103120" cy="396000"/>
            </a:xfrm>
            <a:prstGeom prst="rect">
              <a:avLst/>
            </a:prstGeom>
            <a:gradFill>
              <a:gsLst>
                <a:gs pos="0">
                  <a:schemeClr val="accent2"/>
                </a:gs>
                <a:gs pos="82000">
                  <a:schemeClr val="accent2"/>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STRETCHED CLUSTERS</a:t>
              </a:r>
              <a:endParaRPr/>
            </a:p>
          </p:txBody>
        </p:sp>
        <p:sp>
          <p:nvSpPr>
            <p:cNvPr id="9513" name="Google Shape;9513;p86"/>
            <p:cNvSpPr/>
            <p:nvPr/>
          </p:nvSpPr>
          <p:spPr>
            <a:xfrm>
              <a:off x="8421036" y="3938840"/>
              <a:ext cx="2103120" cy="396000"/>
            </a:xfrm>
            <a:prstGeom prst="rect">
              <a:avLst/>
            </a:prstGeom>
            <a:gradFill>
              <a:gsLst>
                <a:gs pos="0">
                  <a:schemeClr val="accent2"/>
                </a:gs>
                <a:gs pos="82000">
                  <a:schemeClr val="accent2"/>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FLEXIBLE</a:t>
              </a:r>
              <a:r>
                <a:rPr lang="en-US" sz="1200" b="0" i="0" u="none" strike="noStrike" cap="none">
                  <a:solidFill>
                    <a:srgbClr val="FFFFFF"/>
                  </a:solidFill>
                  <a:latin typeface="Arial"/>
                  <a:ea typeface="Arial"/>
                  <a:cs typeface="Arial"/>
                  <a:sym typeface="Arial"/>
                </a:rPr>
                <a:t> POLICIES</a:t>
              </a:r>
              <a:endParaRPr/>
            </a:p>
          </p:txBody>
        </p:sp>
      </p:grpSp>
      <p:grpSp>
        <p:nvGrpSpPr>
          <p:cNvPr id="9514" name="Google Shape;9514;p86"/>
          <p:cNvGrpSpPr/>
          <p:nvPr/>
        </p:nvGrpSpPr>
        <p:grpSpPr>
          <a:xfrm>
            <a:off x="1752980" y="4797681"/>
            <a:ext cx="8869680" cy="396000"/>
            <a:chOff x="1654476" y="4788186"/>
            <a:chExt cx="8869680" cy="396000"/>
          </a:xfrm>
        </p:grpSpPr>
        <p:sp>
          <p:nvSpPr>
            <p:cNvPr id="9515" name="Google Shape;9515;p86"/>
            <p:cNvSpPr/>
            <p:nvPr/>
          </p:nvSpPr>
          <p:spPr>
            <a:xfrm>
              <a:off x="1654476" y="4788186"/>
              <a:ext cx="1417320" cy="396000"/>
            </a:xfrm>
            <a:prstGeom prst="rect">
              <a:avLst/>
            </a:prstGeom>
            <a:gradFill>
              <a:gsLst>
                <a:gs pos="0">
                  <a:schemeClr val="accent5"/>
                </a:gs>
                <a:gs pos="80000">
                  <a:schemeClr val="accent5"/>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CODE SIGNING</a:t>
              </a:r>
              <a:endParaRPr/>
            </a:p>
          </p:txBody>
        </p:sp>
        <p:sp>
          <p:nvSpPr>
            <p:cNvPr id="9516" name="Google Shape;9516;p86"/>
            <p:cNvSpPr/>
            <p:nvPr/>
          </p:nvSpPr>
          <p:spPr>
            <a:xfrm>
              <a:off x="3150016" y="4788186"/>
              <a:ext cx="1417320" cy="396000"/>
            </a:xfrm>
            <a:prstGeom prst="rect">
              <a:avLst/>
            </a:prstGeom>
            <a:gradFill>
              <a:gsLst>
                <a:gs pos="0">
                  <a:schemeClr val="accent5"/>
                </a:gs>
                <a:gs pos="80000">
                  <a:schemeClr val="accent5"/>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ENCRYPTION</a:t>
              </a:r>
              <a:endParaRPr sz="1200" b="0" i="0" u="none" strike="noStrike" cap="none">
                <a:solidFill>
                  <a:srgbClr val="FFFFFF"/>
                </a:solidFill>
                <a:latin typeface="Arial"/>
                <a:ea typeface="Arial"/>
                <a:cs typeface="Arial"/>
                <a:sym typeface="Arial"/>
              </a:endParaRPr>
            </a:p>
          </p:txBody>
        </p:sp>
        <p:sp>
          <p:nvSpPr>
            <p:cNvPr id="9517" name="Google Shape;9517;p86"/>
            <p:cNvSpPr/>
            <p:nvPr/>
          </p:nvSpPr>
          <p:spPr>
            <a:xfrm>
              <a:off x="4641502" y="4788186"/>
              <a:ext cx="1417320" cy="396000"/>
            </a:xfrm>
            <a:prstGeom prst="rect">
              <a:avLst/>
            </a:prstGeom>
            <a:gradFill>
              <a:gsLst>
                <a:gs pos="0">
                  <a:schemeClr val="accent5"/>
                </a:gs>
                <a:gs pos="80000">
                  <a:schemeClr val="accent5"/>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LOCKDOWN</a:t>
              </a:r>
              <a:endParaRPr/>
            </a:p>
          </p:txBody>
        </p:sp>
        <p:sp>
          <p:nvSpPr>
            <p:cNvPr id="9518" name="Google Shape;9518;p86"/>
            <p:cNvSpPr/>
            <p:nvPr/>
          </p:nvSpPr>
          <p:spPr>
            <a:xfrm>
              <a:off x="6132988" y="4788186"/>
              <a:ext cx="1417320" cy="396000"/>
            </a:xfrm>
            <a:prstGeom prst="rect">
              <a:avLst/>
            </a:prstGeom>
            <a:gradFill>
              <a:gsLst>
                <a:gs pos="0">
                  <a:schemeClr val="accent5"/>
                </a:gs>
                <a:gs pos="80000">
                  <a:schemeClr val="accent5"/>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CPU &amp; MMU</a:t>
              </a:r>
              <a:endParaRPr/>
            </a:p>
          </p:txBody>
        </p:sp>
        <p:sp>
          <p:nvSpPr>
            <p:cNvPr id="9519" name="Google Shape;9519;p86"/>
            <p:cNvSpPr/>
            <p:nvPr/>
          </p:nvSpPr>
          <p:spPr>
            <a:xfrm>
              <a:off x="7624474" y="4788186"/>
              <a:ext cx="1417320" cy="396000"/>
            </a:xfrm>
            <a:prstGeom prst="rect">
              <a:avLst/>
            </a:prstGeom>
            <a:gradFill>
              <a:gsLst>
                <a:gs pos="0">
                  <a:schemeClr val="accent5"/>
                </a:gs>
                <a:gs pos="80000">
                  <a:schemeClr val="accent5"/>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VM SANDBOX</a:t>
              </a:r>
              <a:endParaRPr/>
            </a:p>
          </p:txBody>
        </p:sp>
        <p:sp>
          <p:nvSpPr>
            <p:cNvPr id="9520" name="Google Shape;9520;p86"/>
            <p:cNvSpPr/>
            <p:nvPr/>
          </p:nvSpPr>
          <p:spPr>
            <a:xfrm>
              <a:off x="9106836" y="4788186"/>
              <a:ext cx="1417320" cy="396000"/>
            </a:xfrm>
            <a:prstGeom prst="rect">
              <a:avLst/>
            </a:prstGeom>
            <a:gradFill>
              <a:gsLst>
                <a:gs pos="0">
                  <a:schemeClr val="accent5"/>
                </a:gs>
                <a:gs pos="80000">
                  <a:schemeClr val="accent5"/>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ZEROING</a:t>
              </a:r>
              <a:endParaRPr sz="1200" b="0" i="0" u="none" strike="noStrike" cap="none">
                <a:solidFill>
                  <a:srgbClr val="FFFFFF"/>
                </a:solidFill>
                <a:latin typeface="Arial"/>
                <a:ea typeface="Arial"/>
                <a:cs typeface="Arial"/>
                <a:sym typeface="Arial"/>
              </a:endParaRPr>
            </a:p>
          </p:txBody>
        </p:sp>
      </p:grpSp>
      <p:grpSp>
        <p:nvGrpSpPr>
          <p:cNvPr id="9521" name="Google Shape;9521;p86"/>
          <p:cNvGrpSpPr/>
          <p:nvPr/>
        </p:nvGrpSpPr>
        <p:grpSpPr>
          <a:xfrm>
            <a:off x="1752980" y="5393634"/>
            <a:ext cx="8869680" cy="505256"/>
            <a:chOff x="1654476" y="5539216"/>
            <a:chExt cx="8869680" cy="505256"/>
          </a:xfrm>
        </p:grpSpPr>
        <p:sp>
          <p:nvSpPr>
            <p:cNvPr id="9522" name="Google Shape;9522;p86"/>
            <p:cNvSpPr/>
            <p:nvPr/>
          </p:nvSpPr>
          <p:spPr>
            <a:xfrm>
              <a:off x="1654476" y="5539216"/>
              <a:ext cx="8869680" cy="47869"/>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9523" name="Google Shape;9523;p86"/>
            <p:cNvSpPr/>
            <p:nvPr/>
          </p:nvSpPr>
          <p:spPr>
            <a:xfrm>
              <a:off x="1654476" y="5648472"/>
              <a:ext cx="1645920" cy="396000"/>
            </a:xfrm>
            <a:prstGeom prst="rect">
              <a:avLst/>
            </a:prstGeom>
            <a:gradFill>
              <a:gsLst>
                <a:gs pos="0">
                  <a:schemeClr val="dk1"/>
                </a:gs>
                <a:gs pos="71000">
                  <a:schemeClr val="dk1"/>
                </a:gs>
                <a:gs pos="100000">
                  <a:srgbClr val="005C8A">
                    <a:alpha val="49803"/>
                  </a:srgbClr>
                </a:gs>
              </a:gsLst>
              <a:lin ang="5400000" scaled="0"/>
            </a:gradFill>
            <a:ln w="19050" cap="flat" cmpd="sng">
              <a:solidFill>
                <a:schemeClr val="dk1"/>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SECURE BOOT</a:t>
              </a:r>
              <a:endParaRPr/>
            </a:p>
          </p:txBody>
        </p:sp>
        <p:sp>
          <p:nvSpPr>
            <p:cNvPr id="9524" name="Google Shape;9524;p86"/>
            <p:cNvSpPr/>
            <p:nvPr/>
          </p:nvSpPr>
          <p:spPr>
            <a:xfrm>
              <a:off x="3451693" y="5648472"/>
              <a:ext cx="1645920" cy="396000"/>
            </a:xfrm>
            <a:prstGeom prst="rect">
              <a:avLst/>
            </a:prstGeom>
            <a:gradFill>
              <a:gsLst>
                <a:gs pos="0">
                  <a:schemeClr val="dk1"/>
                </a:gs>
                <a:gs pos="71000">
                  <a:schemeClr val="dk1"/>
                </a:gs>
                <a:gs pos="100000">
                  <a:srgbClr val="005C8A">
                    <a:alpha val="49803"/>
                  </a:srgbClr>
                </a:gs>
              </a:gsLst>
              <a:lin ang="5400000" scaled="0"/>
            </a:gradFill>
            <a:ln w="19050" cap="flat" cmpd="sng">
              <a:solidFill>
                <a:schemeClr val="dk1"/>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HARDWARE TPM</a:t>
              </a:r>
              <a:endParaRPr/>
            </a:p>
          </p:txBody>
        </p:sp>
        <p:sp>
          <p:nvSpPr>
            <p:cNvPr id="9525" name="Google Shape;9525;p86"/>
            <p:cNvSpPr/>
            <p:nvPr/>
          </p:nvSpPr>
          <p:spPr>
            <a:xfrm>
              <a:off x="5257377" y="5648472"/>
              <a:ext cx="1645920" cy="396000"/>
            </a:xfrm>
            <a:prstGeom prst="rect">
              <a:avLst/>
            </a:prstGeom>
            <a:gradFill>
              <a:gsLst>
                <a:gs pos="0">
                  <a:schemeClr val="dk1"/>
                </a:gs>
                <a:gs pos="71000">
                  <a:schemeClr val="dk1"/>
                </a:gs>
                <a:gs pos="100000">
                  <a:srgbClr val="005C8A">
                    <a:alpha val="49803"/>
                  </a:srgbClr>
                </a:gs>
              </a:gsLst>
              <a:lin ang="5400000" scaled="0"/>
            </a:gradFill>
            <a:ln w="19050" cap="flat" cmpd="sng">
              <a:solidFill>
                <a:schemeClr val="dk1"/>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RELIABLE MEMORY</a:t>
              </a:r>
              <a:endParaRPr/>
            </a:p>
          </p:txBody>
        </p:sp>
        <p:sp>
          <p:nvSpPr>
            <p:cNvPr id="9526" name="Google Shape;9526;p86"/>
            <p:cNvSpPr/>
            <p:nvPr/>
          </p:nvSpPr>
          <p:spPr>
            <a:xfrm>
              <a:off x="7063061" y="5648472"/>
              <a:ext cx="1645920" cy="396000"/>
            </a:xfrm>
            <a:prstGeom prst="rect">
              <a:avLst/>
            </a:prstGeom>
            <a:gradFill>
              <a:gsLst>
                <a:gs pos="0">
                  <a:schemeClr val="dk1"/>
                </a:gs>
                <a:gs pos="71000">
                  <a:schemeClr val="dk1"/>
                </a:gs>
                <a:gs pos="100000">
                  <a:srgbClr val="005C8A">
                    <a:alpha val="49803"/>
                  </a:srgbClr>
                </a:gs>
              </a:gsLst>
              <a:lin ang="5400000" scaled="0"/>
            </a:gradFill>
            <a:ln w="19050" cap="flat" cmpd="sng">
              <a:solidFill>
                <a:schemeClr val="dk1"/>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AMD SEV-ES</a:t>
              </a:r>
              <a:endParaRPr/>
            </a:p>
          </p:txBody>
        </p:sp>
        <p:sp>
          <p:nvSpPr>
            <p:cNvPr id="9527" name="Google Shape;9527;p86"/>
            <p:cNvSpPr/>
            <p:nvPr/>
          </p:nvSpPr>
          <p:spPr>
            <a:xfrm>
              <a:off x="8878236" y="5648472"/>
              <a:ext cx="1645920" cy="396000"/>
            </a:xfrm>
            <a:prstGeom prst="rect">
              <a:avLst/>
            </a:prstGeom>
            <a:gradFill>
              <a:gsLst>
                <a:gs pos="0">
                  <a:schemeClr val="dk1"/>
                </a:gs>
                <a:gs pos="71000">
                  <a:schemeClr val="dk1"/>
                </a:gs>
                <a:gs pos="100000">
                  <a:srgbClr val="005C8A">
                    <a:alpha val="49803"/>
                  </a:srgbClr>
                </a:gs>
              </a:gsLst>
              <a:lin ang="5400000" scaled="0"/>
            </a:gradFill>
            <a:ln w="19050" cap="flat" cmpd="sng">
              <a:solidFill>
                <a:schemeClr val="dk1"/>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INTEL TXT</a:t>
              </a:r>
              <a:endParaRPr/>
            </a:p>
          </p:txBody>
        </p:sp>
      </p:grpSp>
      <p:grpSp>
        <p:nvGrpSpPr>
          <p:cNvPr id="9528" name="Google Shape;9528;p86"/>
          <p:cNvGrpSpPr/>
          <p:nvPr/>
        </p:nvGrpSpPr>
        <p:grpSpPr>
          <a:xfrm>
            <a:off x="1744513" y="2672588"/>
            <a:ext cx="8869680" cy="396000"/>
            <a:chOff x="1654476" y="2228141"/>
            <a:chExt cx="8869680" cy="396000"/>
          </a:xfrm>
        </p:grpSpPr>
        <p:sp>
          <p:nvSpPr>
            <p:cNvPr id="9529" name="Google Shape;9529;p86"/>
            <p:cNvSpPr/>
            <p:nvPr/>
          </p:nvSpPr>
          <p:spPr>
            <a:xfrm>
              <a:off x="1654476" y="2228141"/>
              <a:ext cx="1417320" cy="396000"/>
            </a:xfrm>
            <a:prstGeom prst="rect">
              <a:avLst/>
            </a:prstGeom>
            <a:gradFill>
              <a:gsLst>
                <a:gs pos="0">
                  <a:schemeClr val="accent1"/>
                </a:gs>
                <a:gs pos="82000">
                  <a:schemeClr val="accent1"/>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vTPM</a:t>
              </a:r>
              <a:endParaRPr sz="1200" b="0" i="0" u="none" strike="noStrike" cap="none">
                <a:solidFill>
                  <a:srgbClr val="FFFFFF"/>
                </a:solidFill>
                <a:latin typeface="Arial"/>
                <a:ea typeface="Arial"/>
                <a:cs typeface="Arial"/>
                <a:sym typeface="Arial"/>
              </a:endParaRPr>
            </a:p>
          </p:txBody>
        </p:sp>
        <p:sp>
          <p:nvSpPr>
            <p:cNvPr id="9530" name="Google Shape;9530;p86"/>
            <p:cNvSpPr/>
            <p:nvPr/>
          </p:nvSpPr>
          <p:spPr>
            <a:xfrm>
              <a:off x="3150016" y="2228141"/>
              <a:ext cx="1417320" cy="396000"/>
            </a:xfrm>
            <a:prstGeom prst="rect">
              <a:avLst/>
            </a:prstGeom>
            <a:gradFill>
              <a:gsLst>
                <a:gs pos="0">
                  <a:schemeClr val="accent1"/>
                </a:gs>
                <a:gs pos="82000">
                  <a:schemeClr val="accent1"/>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VBS</a:t>
              </a:r>
              <a:endParaRPr sz="1200" b="0" i="0" u="none" strike="noStrike" cap="none">
                <a:solidFill>
                  <a:srgbClr val="FFFFFF"/>
                </a:solidFill>
                <a:latin typeface="Arial"/>
                <a:ea typeface="Arial"/>
                <a:cs typeface="Arial"/>
                <a:sym typeface="Arial"/>
              </a:endParaRPr>
            </a:p>
          </p:txBody>
        </p:sp>
        <p:sp>
          <p:nvSpPr>
            <p:cNvPr id="9531" name="Google Shape;9531;p86"/>
            <p:cNvSpPr/>
            <p:nvPr/>
          </p:nvSpPr>
          <p:spPr>
            <a:xfrm>
              <a:off x="4641502" y="2228141"/>
              <a:ext cx="1417320" cy="396000"/>
            </a:xfrm>
            <a:prstGeom prst="rect">
              <a:avLst/>
            </a:prstGeom>
            <a:gradFill>
              <a:gsLst>
                <a:gs pos="0">
                  <a:schemeClr val="accent1"/>
                </a:gs>
                <a:gs pos="82000">
                  <a:schemeClr val="accent1"/>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HA &amp; FT</a:t>
              </a:r>
              <a:endParaRPr/>
            </a:p>
          </p:txBody>
        </p:sp>
        <p:sp>
          <p:nvSpPr>
            <p:cNvPr id="9532" name="Google Shape;9532;p86"/>
            <p:cNvSpPr/>
            <p:nvPr/>
          </p:nvSpPr>
          <p:spPr>
            <a:xfrm>
              <a:off x="6132988" y="2228141"/>
              <a:ext cx="1417320" cy="396000"/>
            </a:xfrm>
            <a:prstGeom prst="rect">
              <a:avLst/>
            </a:prstGeom>
            <a:gradFill>
              <a:gsLst>
                <a:gs pos="0">
                  <a:schemeClr val="accent1"/>
                </a:gs>
                <a:gs pos="82000">
                  <a:schemeClr val="accent1"/>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INTEL SGX</a:t>
              </a:r>
              <a:endParaRPr/>
            </a:p>
          </p:txBody>
        </p:sp>
        <p:sp>
          <p:nvSpPr>
            <p:cNvPr id="9533" name="Google Shape;9533;p86"/>
            <p:cNvSpPr/>
            <p:nvPr/>
          </p:nvSpPr>
          <p:spPr>
            <a:xfrm>
              <a:off x="7624474" y="2228141"/>
              <a:ext cx="1417320" cy="396000"/>
            </a:xfrm>
            <a:prstGeom prst="rect">
              <a:avLst/>
            </a:prstGeom>
            <a:gradFill>
              <a:gsLst>
                <a:gs pos="0">
                  <a:schemeClr val="accent1"/>
                </a:gs>
                <a:gs pos="82000">
                  <a:schemeClr val="accent1"/>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AMD SEV-ES</a:t>
              </a:r>
              <a:endParaRPr/>
            </a:p>
          </p:txBody>
        </p:sp>
        <p:sp>
          <p:nvSpPr>
            <p:cNvPr id="9534" name="Google Shape;9534;p86"/>
            <p:cNvSpPr/>
            <p:nvPr/>
          </p:nvSpPr>
          <p:spPr>
            <a:xfrm>
              <a:off x="9106836" y="2228141"/>
              <a:ext cx="1417320" cy="396000"/>
            </a:xfrm>
            <a:prstGeom prst="rect">
              <a:avLst/>
            </a:prstGeom>
            <a:gradFill>
              <a:gsLst>
                <a:gs pos="0">
                  <a:schemeClr val="accent1"/>
                </a:gs>
                <a:gs pos="82000">
                  <a:schemeClr val="accent1"/>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REPLICATION</a:t>
              </a:r>
              <a:endParaRPr sz="1200" b="0" i="0" u="none" strike="noStrike" cap="none">
                <a:solidFill>
                  <a:srgbClr val="FFFFFF"/>
                </a:solidFill>
                <a:latin typeface="Arial"/>
                <a:ea typeface="Arial"/>
                <a:cs typeface="Arial"/>
                <a:sym typeface="Arial"/>
              </a:endParaRPr>
            </a:p>
          </p:txBody>
        </p:sp>
      </p:grpSp>
      <p:grpSp>
        <p:nvGrpSpPr>
          <p:cNvPr id="9535" name="Google Shape;9535;p86"/>
          <p:cNvGrpSpPr/>
          <p:nvPr/>
        </p:nvGrpSpPr>
        <p:grpSpPr>
          <a:xfrm>
            <a:off x="1747884" y="1954065"/>
            <a:ext cx="8869680" cy="396000"/>
            <a:chOff x="1654476" y="1383722"/>
            <a:chExt cx="8869680" cy="396000"/>
          </a:xfrm>
        </p:grpSpPr>
        <p:sp>
          <p:nvSpPr>
            <p:cNvPr id="9536" name="Google Shape;9536;p86"/>
            <p:cNvSpPr/>
            <p:nvPr/>
          </p:nvSpPr>
          <p:spPr>
            <a:xfrm>
              <a:off x="1654476" y="1383722"/>
              <a:ext cx="1645920" cy="396000"/>
            </a:xfrm>
            <a:prstGeom prst="rect">
              <a:avLst/>
            </a:prstGeom>
            <a:gradFill>
              <a:gsLst>
                <a:gs pos="0">
                  <a:schemeClr val="accent4"/>
                </a:gs>
                <a:gs pos="82000">
                  <a:schemeClr val="accent4"/>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LIFECYCLE</a:t>
              </a:r>
              <a:endParaRPr/>
            </a:p>
          </p:txBody>
        </p:sp>
        <p:sp>
          <p:nvSpPr>
            <p:cNvPr id="9537" name="Google Shape;9537;p86"/>
            <p:cNvSpPr/>
            <p:nvPr/>
          </p:nvSpPr>
          <p:spPr>
            <a:xfrm>
              <a:off x="3451693" y="1383722"/>
              <a:ext cx="1645920" cy="396000"/>
            </a:xfrm>
            <a:prstGeom prst="rect">
              <a:avLst/>
            </a:prstGeom>
            <a:gradFill>
              <a:gsLst>
                <a:gs pos="0">
                  <a:schemeClr val="accent4"/>
                </a:gs>
                <a:gs pos="82000">
                  <a:schemeClr val="accent4"/>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ENFORCEMENT</a:t>
              </a:r>
              <a:endParaRPr/>
            </a:p>
          </p:txBody>
        </p:sp>
        <p:sp>
          <p:nvSpPr>
            <p:cNvPr id="9538" name="Google Shape;9538;p86"/>
            <p:cNvSpPr/>
            <p:nvPr/>
          </p:nvSpPr>
          <p:spPr>
            <a:xfrm>
              <a:off x="5257377" y="1383722"/>
              <a:ext cx="1645920" cy="396000"/>
            </a:xfrm>
            <a:prstGeom prst="rect">
              <a:avLst/>
            </a:prstGeom>
            <a:gradFill>
              <a:gsLst>
                <a:gs pos="0">
                  <a:schemeClr val="accent4"/>
                </a:gs>
                <a:gs pos="82000">
                  <a:schemeClr val="accent4"/>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MONITORING</a:t>
              </a:r>
              <a:endParaRPr/>
            </a:p>
          </p:txBody>
        </p:sp>
        <p:sp>
          <p:nvSpPr>
            <p:cNvPr id="9539" name="Google Shape;9539;p86"/>
            <p:cNvSpPr/>
            <p:nvPr/>
          </p:nvSpPr>
          <p:spPr>
            <a:xfrm>
              <a:off x="7063061" y="1383722"/>
              <a:ext cx="1645920" cy="396000"/>
            </a:xfrm>
            <a:prstGeom prst="rect">
              <a:avLst/>
            </a:prstGeom>
            <a:gradFill>
              <a:gsLst>
                <a:gs pos="0">
                  <a:schemeClr val="accent4"/>
                </a:gs>
                <a:gs pos="82000">
                  <a:schemeClr val="accent4"/>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THREAT DETECTION</a:t>
              </a:r>
              <a:endParaRPr/>
            </a:p>
          </p:txBody>
        </p:sp>
        <p:sp>
          <p:nvSpPr>
            <p:cNvPr id="9540" name="Google Shape;9540;p86"/>
            <p:cNvSpPr/>
            <p:nvPr/>
          </p:nvSpPr>
          <p:spPr>
            <a:xfrm>
              <a:off x="8878236" y="1383722"/>
              <a:ext cx="1645920" cy="396000"/>
            </a:xfrm>
            <a:prstGeom prst="rect">
              <a:avLst/>
            </a:prstGeom>
            <a:gradFill>
              <a:gsLst>
                <a:gs pos="0">
                  <a:schemeClr val="accent4"/>
                </a:gs>
                <a:gs pos="82000">
                  <a:schemeClr val="accent4"/>
                </a:gs>
                <a:gs pos="100000">
                  <a:srgbClr val="005C8A">
                    <a:alpha val="49803"/>
                  </a:srgbClr>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RECOVERY</a:t>
              </a:r>
              <a:endParaRPr sz="1200" b="0" i="0" u="none" strike="noStrike" cap="none">
                <a:solidFill>
                  <a:srgbClr val="FFFFFF"/>
                </a:solidFill>
                <a:latin typeface="Arial"/>
                <a:ea typeface="Arial"/>
                <a:cs typeface="Arial"/>
                <a:sym typeface="Arial"/>
              </a:endParaRPr>
            </a:p>
          </p:txBody>
        </p:sp>
      </p:grpSp>
      <p:sp>
        <p:nvSpPr>
          <p:cNvPr id="9541" name="Google Shape;9541;p86"/>
          <p:cNvSpPr txBox="1"/>
          <p:nvPr/>
        </p:nvSpPr>
        <p:spPr>
          <a:xfrm>
            <a:off x="5481332" y="5268952"/>
            <a:ext cx="1417321"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Arial"/>
                <a:ea typeface="Arial"/>
                <a:cs typeface="Arial"/>
                <a:sym typeface="Arial"/>
              </a:rPr>
              <a:t>Hardware</a:t>
            </a:r>
            <a:endParaRPr/>
          </a:p>
        </p:txBody>
      </p:sp>
      <p:sp>
        <p:nvSpPr>
          <p:cNvPr id="9542" name="Google Shape;9542;p86"/>
          <p:cNvSpPr/>
          <p:nvPr/>
        </p:nvSpPr>
        <p:spPr>
          <a:xfrm>
            <a:off x="1752980" y="4699195"/>
            <a:ext cx="8869680" cy="47869"/>
          </a:xfrm>
          <a:prstGeom prst="rect">
            <a:avLst/>
          </a:prstGeom>
          <a:solidFill>
            <a:schemeClr val="accent5"/>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9543" name="Google Shape;9543;p86"/>
          <p:cNvSpPr txBox="1"/>
          <p:nvPr/>
        </p:nvSpPr>
        <p:spPr>
          <a:xfrm>
            <a:off x="5481332" y="4563268"/>
            <a:ext cx="1417320"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5"/>
                </a:solidFill>
                <a:latin typeface="Arial"/>
                <a:ea typeface="Arial"/>
                <a:cs typeface="Arial"/>
                <a:sym typeface="Arial"/>
              </a:rPr>
              <a:t>Hypervisor</a:t>
            </a:r>
            <a:endParaRPr/>
          </a:p>
        </p:txBody>
      </p:sp>
      <p:sp>
        <p:nvSpPr>
          <p:cNvPr id="9544" name="Google Shape;9544;p86"/>
          <p:cNvSpPr/>
          <p:nvPr/>
        </p:nvSpPr>
        <p:spPr>
          <a:xfrm>
            <a:off x="1752980" y="3992203"/>
            <a:ext cx="8869680" cy="47869"/>
          </a:xfrm>
          <a:prstGeom prst="rect">
            <a:avLst/>
          </a:prstGeom>
          <a:solidFill>
            <a:schemeClr val="accent3"/>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9545" name="Google Shape;9545;p86"/>
          <p:cNvSpPr txBox="1"/>
          <p:nvPr/>
        </p:nvSpPr>
        <p:spPr>
          <a:xfrm>
            <a:off x="5481332" y="3856276"/>
            <a:ext cx="1417320"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3"/>
                </a:solidFill>
                <a:latin typeface="Arial"/>
                <a:ea typeface="Arial"/>
                <a:cs typeface="Arial"/>
                <a:sym typeface="Arial"/>
              </a:rPr>
              <a:t>vCenter</a:t>
            </a:r>
            <a:endParaRPr/>
          </a:p>
        </p:txBody>
      </p:sp>
      <p:sp>
        <p:nvSpPr>
          <p:cNvPr id="9546" name="Google Shape;9546;p86"/>
          <p:cNvSpPr/>
          <p:nvPr/>
        </p:nvSpPr>
        <p:spPr>
          <a:xfrm>
            <a:off x="1741255" y="3285032"/>
            <a:ext cx="8869680" cy="47869"/>
          </a:xfrm>
          <a:prstGeom prst="rect">
            <a:avLst/>
          </a:prstGeom>
          <a:solidFill>
            <a:schemeClr val="accent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9547" name="Google Shape;9547;p86"/>
          <p:cNvSpPr txBox="1"/>
          <p:nvPr/>
        </p:nvSpPr>
        <p:spPr>
          <a:xfrm>
            <a:off x="5481332" y="3149467"/>
            <a:ext cx="1417320"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2"/>
                </a:solidFill>
                <a:latin typeface="Arial"/>
                <a:ea typeface="Arial"/>
                <a:cs typeface="Arial"/>
                <a:sym typeface="Arial"/>
              </a:rPr>
              <a:t>vSAN</a:t>
            </a:r>
            <a:endParaRPr sz="1200">
              <a:solidFill>
                <a:schemeClr val="accent2"/>
              </a:solidFill>
              <a:latin typeface="Arial"/>
              <a:ea typeface="Arial"/>
              <a:cs typeface="Arial"/>
              <a:sym typeface="Arial"/>
            </a:endParaRPr>
          </a:p>
        </p:txBody>
      </p:sp>
      <p:sp>
        <p:nvSpPr>
          <p:cNvPr id="9548" name="Google Shape;9548;p86"/>
          <p:cNvSpPr/>
          <p:nvPr/>
        </p:nvSpPr>
        <p:spPr>
          <a:xfrm>
            <a:off x="1747884" y="2574861"/>
            <a:ext cx="8869680" cy="47869"/>
          </a:xfrm>
          <a:prstGeom prst="rect">
            <a:avLst/>
          </a:prstGeom>
          <a:solidFill>
            <a:schemeClr val="accen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9549" name="Google Shape;9549;p86"/>
          <p:cNvSpPr txBox="1"/>
          <p:nvPr/>
        </p:nvSpPr>
        <p:spPr>
          <a:xfrm>
            <a:off x="5487961" y="2439296"/>
            <a:ext cx="1417320" cy="184666"/>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1"/>
                </a:solidFill>
                <a:latin typeface="Arial"/>
                <a:ea typeface="Arial"/>
                <a:cs typeface="Arial"/>
                <a:sym typeface="Arial"/>
              </a:rPr>
              <a:t>Workloads</a:t>
            </a:r>
            <a:endParaRPr/>
          </a:p>
        </p:txBody>
      </p:sp>
      <p:grpSp>
        <p:nvGrpSpPr>
          <p:cNvPr id="9550" name="Google Shape;9550;p86"/>
          <p:cNvGrpSpPr/>
          <p:nvPr/>
        </p:nvGrpSpPr>
        <p:grpSpPr>
          <a:xfrm>
            <a:off x="4836132" y="1539298"/>
            <a:ext cx="2689948" cy="288000"/>
            <a:chOff x="4909872" y="1209620"/>
            <a:chExt cx="2689948" cy="288000"/>
          </a:xfrm>
        </p:grpSpPr>
        <p:sp>
          <p:nvSpPr>
            <p:cNvPr id="9551" name="Google Shape;9551;p86"/>
            <p:cNvSpPr txBox="1"/>
            <p:nvPr/>
          </p:nvSpPr>
          <p:spPr>
            <a:xfrm>
              <a:off x="4909872" y="1245898"/>
              <a:ext cx="2689948" cy="215444"/>
            </a:xfrm>
            <a:prstGeom prst="rect">
              <a:avLst/>
            </a:prstGeom>
            <a:solidFill>
              <a:schemeClr val="lt1"/>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chemeClr val="accent2"/>
                  </a:solidFill>
                  <a:latin typeface="Arial"/>
                  <a:ea typeface="Arial"/>
                  <a:cs typeface="Arial"/>
                  <a:sym typeface="Arial"/>
                </a:rPr>
                <a:t>         </a:t>
              </a:r>
              <a:r>
                <a:rPr lang="en-US" sz="1400">
                  <a:solidFill>
                    <a:srgbClr val="777777"/>
                  </a:solidFill>
                  <a:latin typeface="Arial"/>
                  <a:ea typeface="Arial"/>
                  <a:cs typeface="Arial"/>
                  <a:sym typeface="Arial"/>
                </a:rPr>
                <a:t>VMware Cloud Foundation</a:t>
              </a:r>
              <a:endParaRPr/>
            </a:p>
          </p:txBody>
        </p:sp>
        <p:pic>
          <p:nvPicPr>
            <p:cNvPr id="9552" name="Google Shape;9552;p86"/>
            <p:cNvPicPr preferRelativeResize="0"/>
            <p:nvPr/>
          </p:nvPicPr>
          <p:blipFill rotWithShape="1">
            <a:blip r:embed="rId3">
              <a:alphaModFix/>
            </a:blip>
            <a:srcRect/>
            <a:stretch/>
          </p:blipFill>
          <p:spPr>
            <a:xfrm>
              <a:off x="4972447" y="1209620"/>
              <a:ext cx="288000" cy="288000"/>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521"/>
                                        </p:tgtEl>
                                        <p:attrNameLst>
                                          <p:attrName>style.visibility</p:attrName>
                                        </p:attrNameLst>
                                      </p:cBhvr>
                                      <p:to>
                                        <p:strVal val="visible"/>
                                      </p:to>
                                    </p:set>
                                    <p:animEffect transition="in" filter="fade">
                                      <p:cBhvr>
                                        <p:cTn id="7" dur="500"/>
                                        <p:tgtEl>
                                          <p:spTgt spid="9521"/>
                                        </p:tgtEl>
                                      </p:cBhvr>
                                    </p:animEffect>
                                  </p:childTnLst>
                                </p:cTn>
                              </p:par>
                              <p:par>
                                <p:cTn id="8" presetID="10" presetClass="entr" presetSubtype="0" fill="hold" nodeType="withEffect">
                                  <p:stCondLst>
                                    <p:cond delay="0"/>
                                  </p:stCondLst>
                                  <p:childTnLst>
                                    <p:set>
                                      <p:cBhvr>
                                        <p:cTn id="9" dur="1" fill="hold">
                                          <p:stCondLst>
                                            <p:cond delay="0"/>
                                          </p:stCondLst>
                                        </p:cTn>
                                        <p:tgtEl>
                                          <p:spTgt spid="9541"/>
                                        </p:tgtEl>
                                        <p:attrNameLst>
                                          <p:attrName>style.visibility</p:attrName>
                                        </p:attrNameLst>
                                      </p:cBhvr>
                                      <p:to>
                                        <p:strVal val="visible"/>
                                      </p:to>
                                    </p:set>
                                    <p:animEffect transition="in" filter="fade">
                                      <p:cBhvr>
                                        <p:cTn id="10" dur="500"/>
                                        <p:tgtEl>
                                          <p:spTgt spid="9541"/>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9514"/>
                                        </p:tgtEl>
                                        <p:attrNameLst>
                                          <p:attrName>style.visibility</p:attrName>
                                        </p:attrNameLst>
                                      </p:cBhvr>
                                      <p:to>
                                        <p:strVal val="visible"/>
                                      </p:to>
                                    </p:set>
                                    <p:animEffect transition="in" filter="fade">
                                      <p:cBhvr>
                                        <p:cTn id="14" dur="500"/>
                                        <p:tgtEl>
                                          <p:spTgt spid="9514"/>
                                        </p:tgtEl>
                                      </p:cBhvr>
                                    </p:animEffect>
                                  </p:childTnLst>
                                </p:cTn>
                              </p:par>
                              <p:par>
                                <p:cTn id="15" presetID="10" presetClass="entr" presetSubtype="0" fill="hold" nodeType="withEffect">
                                  <p:stCondLst>
                                    <p:cond delay="0"/>
                                  </p:stCondLst>
                                  <p:childTnLst>
                                    <p:set>
                                      <p:cBhvr>
                                        <p:cTn id="16" dur="1" fill="hold">
                                          <p:stCondLst>
                                            <p:cond delay="0"/>
                                          </p:stCondLst>
                                        </p:cTn>
                                        <p:tgtEl>
                                          <p:spTgt spid="9542"/>
                                        </p:tgtEl>
                                        <p:attrNameLst>
                                          <p:attrName>style.visibility</p:attrName>
                                        </p:attrNameLst>
                                      </p:cBhvr>
                                      <p:to>
                                        <p:strVal val="visible"/>
                                      </p:to>
                                    </p:set>
                                    <p:animEffect transition="in" filter="fade">
                                      <p:cBhvr>
                                        <p:cTn id="17" dur="500"/>
                                        <p:tgtEl>
                                          <p:spTgt spid="9542"/>
                                        </p:tgtEl>
                                      </p:cBhvr>
                                    </p:animEffect>
                                  </p:childTnLst>
                                </p:cTn>
                              </p:par>
                              <p:par>
                                <p:cTn id="18" presetID="10" presetClass="entr" presetSubtype="0" fill="hold" nodeType="withEffect">
                                  <p:stCondLst>
                                    <p:cond delay="0"/>
                                  </p:stCondLst>
                                  <p:childTnLst>
                                    <p:set>
                                      <p:cBhvr>
                                        <p:cTn id="19" dur="1" fill="hold">
                                          <p:stCondLst>
                                            <p:cond delay="0"/>
                                          </p:stCondLst>
                                        </p:cTn>
                                        <p:tgtEl>
                                          <p:spTgt spid="9543"/>
                                        </p:tgtEl>
                                        <p:attrNameLst>
                                          <p:attrName>style.visibility</p:attrName>
                                        </p:attrNameLst>
                                      </p:cBhvr>
                                      <p:to>
                                        <p:strVal val="visible"/>
                                      </p:to>
                                    </p:set>
                                    <p:animEffect transition="in" filter="fade">
                                      <p:cBhvr>
                                        <p:cTn id="20" dur="500"/>
                                        <p:tgtEl>
                                          <p:spTgt spid="9543"/>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9503"/>
                                        </p:tgtEl>
                                        <p:attrNameLst>
                                          <p:attrName>style.visibility</p:attrName>
                                        </p:attrNameLst>
                                      </p:cBhvr>
                                      <p:to>
                                        <p:strVal val="visible"/>
                                      </p:to>
                                    </p:set>
                                    <p:animEffect transition="in" filter="fade">
                                      <p:cBhvr>
                                        <p:cTn id="24" dur="500"/>
                                        <p:tgtEl>
                                          <p:spTgt spid="9503"/>
                                        </p:tgtEl>
                                      </p:cBhvr>
                                    </p:animEffect>
                                  </p:childTnLst>
                                </p:cTn>
                              </p:par>
                              <p:par>
                                <p:cTn id="25" presetID="10" presetClass="entr" presetSubtype="0" fill="hold" nodeType="withEffect">
                                  <p:stCondLst>
                                    <p:cond delay="0"/>
                                  </p:stCondLst>
                                  <p:childTnLst>
                                    <p:set>
                                      <p:cBhvr>
                                        <p:cTn id="26" dur="1" fill="hold">
                                          <p:stCondLst>
                                            <p:cond delay="0"/>
                                          </p:stCondLst>
                                        </p:cTn>
                                        <p:tgtEl>
                                          <p:spTgt spid="9544"/>
                                        </p:tgtEl>
                                        <p:attrNameLst>
                                          <p:attrName>style.visibility</p:attrName>
                                        </p:attrNameLst>
                                      </p:cBhvr>
                                      <p:to>
                                        <p:strVal val="visible"/>
                                      </p:to>
                                    </p:set>
                                    <p:animEffect transition="in" filter="fade">
                                      <p:cBhvr>
                                        <p:cTn id="27" dur="500"/>
                                        <p:tgtEl>
                                          <p:spTgt spid="9544"/>
                                        </p:tgtEl>
                                      </p:cBhvr>
                                    </p:animEffect>
                                  </p:childTnLst>
                                </p:cTn>
                              </p:par>
                              <p:par>
                                <p:cTn id="28" presetID="10" presetClass="entr" presetSubtype="0" fill="hold" nodeType="withEffect">
                                  <p:stCondLst>
                                    <p:cond delay="0"/>
                                  </p:stCondLst>
                                  <p:childTnLst>
                                    <p:set>
                                      <p:cBhvr>
                                        <p:cTn id="29" dur="1" fill="hold">
                                          <p:stCondLst>
                                            <p:cond delay="0"/>
                                          </p:stCondLst>
                                        </p:cTn>
                                        <p:tgtEl>
                                          <p:spTgt spid="9545"/>
                                        </p:tgtEl>
                                        <p:attrNameLst>
                                          <p:attrName>style.visibility</p:attrName>
                                        </p:attrNameLst>
                                      </p:cBhvr>
                                      <p:to>
                                        <p:strVal val="visible"/>
                                      </p:to>
                                    </p:set>
                                    <p:animEffect transition="in" filter="fade">
                                      <p:cBhvr>
                                        <p:cTn id="30" dur="500"/>
                                        <p:tgtEl>
                                          <p:spTgt spid="9545"/>
                                        </p:tgtEl>
                                      </p:cBhvr>
                                    </p:animEffect>
                                  </p:childTnLst>
                                </p:cTn>
                              </p:par>
                            </p:childTnLst>
                          </p:cTn>
                        </p:par>
                        <p:par>
                          <p:cTn id="31" fill="hold">
                            <p:stCondLst>
                              <p:cond delay="1500"/>
                            </p:stCondLst>
                            <p:childTnLst>
                              <p:par>
                                <p:cTn id="32" presetID="10" presetClass="entr" presetSubtype="0" fill="hold" nodeType="afterEffect">
                                  <p:stCondLst>
                                    <p:cond delay="0"/>
                                  </p:stCondLst>
                                  <p:childTnLst>
                                    <p:set>
                                      <p:cBhvr>
                                        <p:cTn id="33" dur="1" fill="hold">
                                          <p:stCondLst>
                                            <p:cond delay="0"/>
                                          </p:stCondLst>
                                        </p:cTn>
                                        <p:tgtEl>
                                          <p:spTgt spid="9509"/>
                                        </p:tgtEl>
                                        <p:attrNameLst>
                                          <p:attrName>style.visibility</p:attrName>
                                        </p:attrNameLst>
                                      </p:cBhvr>
                                      <p:to>
                                        <p:strVal val="visible"/>
                                      </p:to>
                                    </p:set>
                                    <p:animEffect transition="in" filter="fade">
                                      <p:cBhvr>
                                        <p:cTn id="34" dur="500"/>
                                        <p:tgtEl>
                                          <p:spTgt spid="9509"/>
                                        </p:tgtEl>
                                      </p:cBhvr>
                                    </p:animEffect>
                                  </p:childTnLst>
                                </p:cTn>
                              </p:par>
                              <p:par>
                                <p:cTn id="35" presetID="10" presetClass="entr" presetSubtype="0" fill="hold" nodeType="withEffect">
                                  <p:stCondLst>
                                    <p:cond delay="0"/>
                                  </p:stCondLst>
                                  <p:childTnLst>
                                    <p:set>
                                      <p:cBhvr>
                                        <p:cTn id="36" dur="1" fill="hold">
                                          <p:stCondLst>
                                            <p:cond delay="0"/>
                                          </p:stCondLst>
                                        </p:cTn>
                                        <p:tgtEl>
                                          <p:spTgt spid="9546"/>
                                        </p:tgtEl>
                                        <p:attrNameLst>
                                          <p:attrName>style.visibility</p:attrName>
                                        </p:attrNameLst>
                                      </p:cBhvr>
                                      <p:to>
                                        <p:strVal val="visible"/>
                                      </p:to>
                                    </p:set>
                                    <p:animEffect transition="in" filter="fade">
                                      <p:cBhvr>
                                        <p:cTn id="37" dur="500"/>
                                        <p:tgtEl>
                                          <p:spTgt spid="9546"/>
                                        </p:tgtEl>
                                      </p:cBhvr>
                                    </p:animEffect>
                                  </p:childTnLst>
                                </p:cTn>
                              </p:par>
                              <p:par>
                                <p:cTn id="38" presetID="10" presetClass="entr" presetSubtype="0" fill="hold" nodeType="withEffect">
                                  <p:stCondLst>
                                    <p:cond delay="0"/>
                                  </p:stCondLst>
                                  <p:childTnLst>
                                    <p:set>
                                      <p:cBhvr>
                                        <p:cTn id="39" dur="1" fill="hold">
                                          <p:stCondLst>
                                            <p:cond delay="0"/>
                                          </p:stCondLst>
                                        </p:cTn>
                                        <p:tgtEl>
                                          <p:spTgt spid="9547"/>
                                        </p:tgtEl>
                                        <p:attrNameLst>
                                          <p:attrName>style.visibility</p:attrName>
                                        </p:attrNameLst>
                                      </p:cBhvr>
                                      <p:to>
                                        <p:strVal val="visible"/>
                                      </p:to>
                                    </p:set>
                                    <p:animEffect transition="in" filter="fade">
                                      <p:cBhvr>
                                        <p:cTn id="40" dur="500"/>
                                        <p:tgtEl>
                                          <p:spTgt spid="9547"/>
                                        </p:tgtEl>
                                      </p:cBhvr>
                                    </p:animEffect>
                                  </p:childTnLst>
                                </p:cTn>
                              </p:par>
                            </p:childTnLst>
                          </p:cTn>
                        </p:par>
                        <p:par>
                          <p:cTn id="41" fill="hold">
                            <p:stCondLst>
                              <p:cond delay="2000"/>
                            </p:stCondLst>
                            <p:childTnLst>
                              <p:par>
                                <p:cTn id="42" presetID="10" presetClass="entr" presetSubtype="0" fill="hold" nodeType="afterEffect">
                                  <p:stCondLst>
                                    <p:cond delay="0"/>
                                  </p:stCondLst>
                                  <p:childTnLst>
                                    <p:set>
                                      <p:cBhvr>
                                        <p:cTn id="43" dur="1" fill="hold">
                                          <p:stCondLst>
                                            <p:cond delay="0"/>
                                          </p:stCondLst>
                                        </p:cTn>
                                        <p:tgtEl>
                                          <p:spTgt spid="9528"/>
                                        </p:tgtEl>
                                        <p:attrNameLst>
                                          <p:attrName>style.visibility</p:attrName>
                                        </p:attrNameLst>
                                      </p:cBhvr>
                                      <p:to>
                                        <p:strVal val="visible"/>
                                      </p:to>
                                    </p:set>
                                    <p:animEffect transition="in" filter="fade">
                                      <p:cBhvr>
                                        <p:cTn id="44" dur="500"/>
                                        <p:tgtEl>
                                          <p:spTgt spid="9528"/>
                                        </p:tgtEl>
                                      </p:cBhvr>
                                    </p:animEffect>
                                  </p:childTnLst>
                                </p:cTn>
                              </p:par>
                              <p:par>
                                <p:cTn id="45" presetID="10" presetClass="entr" presetSubtype="0" fill="hold" nodeType="withEffect">
                                  <p:stCondLst>
                                    <p:cond delay="0"/>
                                  </p:stCondLst>
                                  <p:childTnLst>
                                    <p:set>
                                      <p:cBhvr>
                                        <p:cTn id="46" dur="1" fill="hold">
                                          <p:stCondLst>
                                            <p:cond delay="0"/>
                                          </p:stCondLst>
                                        </p:cTn>
                                        <p:tgtEl>
                                          <p:spTgt spid="9548"/>
                                        </p:tgtEl>
                                        <p:attrNameLst>
                                          <p:attrName>style.visibility</p:attrName>
                                        </p:attrNameLst>
                                      </p:cBhvr>
                                      <p:to>
                                        <p:strVal val="visible"/>
                                      </p:to>
                                    </p:set>
                                    <p:animEffect transition="in" filter="fade">
                                      <p:cBhvr>
                                        <p:cTn id="47" dur="500"/>
                                        <p:tgtEl>
                                          <p:spTgt spid="9548"/>
                                        </p:tgtEl>
                                      </p:cBhvr>
                                    </p:animEffect>
                                  </p:childTnLst>
                                </p:cTn>
                              </p:par>
                              <p:par>
                                <p:cTn id="48" presetID="10" presetClass="entr" presetSubtype="0" fill="hold" nodeType="withEffect">
                                  <p:stCondLst>
                                    <p:cond delay="0"/>
                                  </p:stCondLst>
                                  <p:childTnLst>
                                    <p:set>
                                      <p:cBhvr>
                                        <p:cTn id="49" dur="1" fill="hold">
                                          <p:stCondLst>
                                            <p:cond delay="0"/>
                                          </p:stCondLst>
                                        </p:cTn>
                                        <p:tgtEl>
                                          <p:spTgt spid="9549"/>
                                        </p:tgtEl>
                                        <p:attrNameLst>
                                          <p:attrName>style.visibility</p:attrName>
                                        </p:attrNameLst>
                                      </p:cBhvr>
                                      <p:to>
                                        <p:strVal val="visible"/>
                                      </p:to>
                                    </p:set>
                                    <p:animEffect transition="in" filter="fade">
                                      <p:cBhvr>
                                        <p:cTn id="50" dur="500"/>
                                        <p:tgtEl>
                                          <p:spTgt spid="9549"/>
                                        </p:tgtEl>
                                      </p:cBhvr>
                                    </p:animEffect>
                                  </p:childTnLst>
                                </p:cTn>
                              </p:par>
                            </p:childTnLst>
                          </p:cTn>
                        </p:par>
                        <p:par>
                          <p:cTn id="51" fill="hold">
                            <p:stCondLst>
                              <p:cond delay="2500"/>
                            </p:stCondLst>
                            <p:childTnLst>
                              <p:par>
                                <p:cTn id="52" presetID="10" presetClass="entr" presetSubtype="0" fill="hold" nodeType="afterEffect">
                                  <p:stCondLst>
                                    <p:cond delay="0"/>
                                  </p:stCondLst>
                                  <p:childTnLst>
                                    <p:set>
                                      <p:cBhvr>
                                        <p:cTn id="53" dur="1" fill="hold">
                                          <p:stCondLst>
                                            <p:cond delay="0"/>
                                          </p:stCondLst>
                                        </p:cTn>
                                        <p:tgtEl>
                                          <p:spTgt spid="9535"/>
                                        </p:tgtEl>
                                        <p:attrNameLst>
                                          <p:attrName>style.visibility</p:attrName>
                                        </p:attrNameLst>
                                      </p:cBhvr>
                                      <p:to>
                                        <p:strVal val="visible"/>
                                      </p:to>
                                    </p:set>
                                    <p:animEffect transition="in" filter="fade">
                                      <p:cBhvr>
                                        <p:cTn id="54" dur="500"/>
                                        <p:tgtEl>
                                          <p:spTgt spid="9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557"/>
        <p:cNvGrpSpPr/>
        <p:nvPr/>
      </p:nvGrpSpPr>
      <p:grpSpPr>
        <a:xfrm>
          <a:off x="0" y="0"/>
          <a:ext cx="0" cy="0"/>
          <a:chOff x="0" y="0"/>
          <a:chExt cx="0" cy="0"/>
        </a:xfrm>
      </p:grpSpPr>
      <p:sp>
        <p:nvSpPr>
          <p:cNvPr id="9558" name="Google Shape;9558;p87"/>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Licensing Overview</a:t>
            </a:r>
            <a:endParaRPr/>
          </a:p>
        </p:txBody>
      </p:sp>
      <p:sp>
        <p:nvSpPr>
          <p:cNvPr id="9559" name="Google Shape;9559;p87"/>
          <p:cNvSpPr txBox="1">
            <a:spLocks noGrp="1"/>
          </p:cNvSpPr>
          <p:nvPr>
            <p:ph type="subTitle" idx="1"/>
          </p:nvPr>
        </p:nvSpPr>
        <p:spPr>
          <a:xfrm>
            <a:off x="602966" y="2267712"/>
            <a:ext cx="6542112" cy="700882"/>
          </a:xfrm>
          <a:prstGeom prst="rect">
            <a:avLst/>
          </a:prstGeom>
          <a:noFill/>
          <a:ln>
            <a:noFill/>
          </a:ln>
        </p:spPr>
        <p:txBody>
          <a:bodyPr spcFirstLastPara="1" wrap="square" lIns="0" tIns="0" rIns="0" bIns="0" anchor="t" anchorCtr="0">
            <a:noAutofit/>
          </a:bodyPr>
          <a:lstStyle/>
          <a:p>
            <a:pPr marL="342900" lvl="0" indent="-342900" algn="l" rtl="0">
              <a:lnSpc>
                <a:spcPct val="100000"/>
              </a:lnSpc>
              <a:spcBef>
                <a:spcPts val="0"/>
              </a:spcBef>
              <a:spcAft>
                <a:spcPts val="0"/>
              </a:spcAft>
              <a:buSzPts val="1800"/>
              <a:buFont typeface="Arial"/>
              <a:buChar char="•"/>
            </a:pPr>
            <a:r>
              <a:rPr lang="en-US" sz="2000">
                <a:latin typeface="Arial"/>
                <a:ea typeface="Arial"/>
                <a:cs typeface="Arial"/>
                <a:sym typeface="Arial"/>
              </a:rPr>
              <a:t>VCF Business Services Console</a:t>
            </a:r>
            <a:endParaRPr/>
          </a:p>
          <a:p>
            <a:pPr marL="342900" lvl="0" indent="-342900" algn="l" rtl="0">
              <a:lnSpc>
                <a:spcPct val="100000"/>
              </a:lnSpc>
              <a:spcBef>
                <a:spcPts val="1200"/>
              </a:spcBef>
              <a:spcAft>
                <a:spcPts val="0"/>
              </a:spcAft>
              <a:buSzPts val="1800"/>
              <a:buFont typeface="Arial"/>
              <a:buChar char="•"/>
            </a:pPr>
            <a:r>
              <a:rPr lang="en-US" sz="2000">
                <a:latin typeface="Arial"/>
                <a:ea typeface="Arial"/>
                <a:cs typeface="Arial"/>
                <a:sym typeface="Arial"/>
              </a:rPr>
              <a:t>Activation using VCF Operations</a:t>
            </a:r>
            <a:endParaRPr/>
          </a:p>
          <a:p>
            <a:pPr marL="342900" lvl="0" indent="-342900" algn="l" rtl="0">
              <a:lnSpc>
                <a:spcPct val="100000"/>
              </a:lnSpc>
              <a:spcBef>
                <a:spcPts val="1200"/>
              </a:spcBef>
              <a:spcAft>
                <a:spcPts val="0"/>
              </a:spcAft>
              <a:buSzPts val="1800"/>
              <a:buFont typeface="Arial"/>
              <a:buChar char="•"/>
            </a:pPr>
            <a:r>
              <a:rPr lang="en-US" sz="2000">
                <a:latin typeface="Arial"/>
                <a:ea typeface="Arial"/>
                <a:cs typeface="Arial"/>
                <a:sym typeface="Arial"/>
              </a:rPr>
              <a:t>Subscription Expiration Behaviour</a:t>
            </a:r>
            <a:endParaRPr/>
          </a:p>
          <a:p>
            <a:pPr marL="342900" lvl="0" indent="-342900" algn="l" rtl="0">
              <a:lnSpc>
                <a:spcPct val="100000"/>
              </a:lnSpc>
              <a:spcBef>
                <a:spcPts val="1200"/>
              </a:spcBef>
              <a:spcAft>
                <a:spcPts val="0"/>
              </a:spcAft>
              <a:buSzPts val="1800"/>
              <a:buFont typeface="Arial"/>
              <a:buChar char="•"/>
            </a:pPr>
            <a:r>
              <a:rPr lang="en-US" sz="2000">
                <a:latin typeface="Arial"/>
                <a:ea typeface="Arial"/>
                <a:cs typeface="Arial"/>
                <a:sym typeface="Arial"/>
              </a:rPr>
              <a:t>Licensing Considerations for Upgrades</a:t>
            </a:r>
            <a:endParaRPr/>
          </a:p>
          <a:p>
            <a:pPr marL="0" lvl="0" indent="0" algn="l" rtl="0">
              <a:lnSpc>
                <a:spcPct val="100000"/>
              </a:lnSpc>
              <a:spcBef>
                <a:spcPts val="1200"/>
              </a:spcBef>
              <a:spcAft>
                <a:spcPts val="0"/>
              </a:spcAft>
              <a:buSzPts val="216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564"/>
        <p:cNvGrpSpPr/>
        <p:nvPr/>
      </p:nvGrpSpPr>
      <p:grpSpPr>
        <a:xfrm>
          <a:off x="0" y="0"/>
          <a:ext cx="0" cy="0"/>
          <a:chOff x="0" y="0"/>
          <a:chExt cx="0" cy="0"/>
        </a:xfrm>
      </p:grpSpPr>
      <p:sp>
        <p:nvSpPr>
          <p:cNvPr id="9565" name="Google Shape;9565;p88"/>
          <p:cNvSpPr/>
          <p:nvPr/>
        </p:nvSpPr>
        <p:spPr>
          <a:xfrm>
            <a:off x="3281918" y="1200150"/>
            <a:ext cx="8906907" cy="4777859"/>
          </a:xfrm>
          <a:prstGeom prst="rect">
            <a:avLst/>
          </a:prstGeom>
          <a:solidFill>
            <a:srgbClr val="007295">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9566" name="Google Shape;9566;p88"/>
          <p:cNvPicPr preferRelativeResize="0"/>
          <p:nvPr/>
        </p:nvPicPr>
        <p:blipFill rotWithShape="1">
          <a:blip r:embed="rId3">
            <a:alphaModFix amt="62000"/>
          </a:blip>
          <a:srcRect t="56995" r="201" b="-38652"/>
          <a:stretch/>
        </p:blipFill>
        <p:spPr>
          <a:xfrm rot="-5400000">
            <a:off x="1116153" y="3487913"/>
            <a:ext cx="4717433" cy="399079"/>
          </a:xfrm>
          <a:prstGeom prst="rect">
            <a:avLst/>
          </a:prstGeom>
          <a:noFill/>
          <a:ln>
            <a:noFill/>
          </a:ln>
        </p:spPr>
      </p:pic>
      <p:sp>
        <p:nvSpPr>
          <p:cNvPr id="9567" name="Google Shape;9567;p8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800"/>
              <a:buNone/>
            </a:pPr>
            <a:r>
              <a:rPr lang="en-US"/>
              <a:t>Overview of License Changes with VCF 9</a:t>
            </a:r>
            <a:endParaRPr/>
          </a:p>
        </p:txBody>
      </p:sp>
      <p:sp>
        <p:nvSpPr>
          <p:cNvPr id="9568" name="Google Shape;9568;p88"/>
          <p:cNvSpPr txBox="1">
            <a:spLocks noGrp="1"/>
          </p:cNvSpPr>
          <p:nvPr>
            <p:ph type="body" idx="2"/>
          </p:nvPr>
        </p:nvSpPr>
        <p:spPr>
          <a:xfrm>
            <a:off x="3281918" y="1401452"/>
            <a:ext cx="8298895" cy="4572000"/>
          </a:xfrm>
          <a:prstGeom prst="rect">
            <a:avLst/>
          </a:prstGeom>
          <a:noFill/>
          <a:ln>
            <a:noFill/>
          </a:ln>
        </p:spPr>
        <p:txBody>
          <a:bodyPr spcFirstLastPara="1" wrap="square" lIns="0" tIns="0" rIns="0" bIns="0" anchor="t" anchorCtr="0">
            <a:noAutofit/>
          </a:bodyPr>
          <a:lstStyle/>
          <a:p>
            <a:pPr marL="914400" lvl="1" indent="-331469" algn="l" rtl="0">
              <a:lnSpc>
                <a:spcPct val="100000"/>
              </a:lnSpc>
              <a:spcBef>
                <a:spcPts val="600"/>
              </a:spcBef>
              <a:spcAft>
                <a:spcPts val="0"/>
              </a:spcAft>
              <a:buSzPts val="1620"/>
              <a:buChar char="•"/>
            </a:pPr>
            <a:r>
              <a:rPr lang="en-US"/>
              <a:t>  Transition from license keys to a digitally signed license file.</a:t>
            </a:r>
            <a:endParaRPr/>
          </a:p>
          <a:p>
            <a:pPr marL="1371600" lvl="2" indent="-320039" algn="l" rtl="0">
              <a:lnSpc>
                <a:spcPct val="100000"/>
              </a:lnSpc>
              <a:spcBef>
                <a:spcPts val="600"/>
              </a:spcBef>
              <a:spcAft>
                <a:spcPts val="0"/>
              </a:spcAft>
              <a:buSzPts val="1440"/>
              <a:buChar char="–"/>
            </a:pPr>
            <a:r>
              <a:rPr lang="en-US">
                <a:solidFill>
                  <a:schemeClr val="accent2"/>
                </a:solidFill>
              </a:rPr>
              <a:t>Single license file for all VCF components</a:t>
            </a:r>
            <a:r>
              <a:rPr lang="en-US"/>
              <a:t>.</a:t>
            </a:r>
            <a:br>
              <a:rPr lang="en-US"/>
            </a:br>
            <a:endParaRPr/>
          </a:p>
          <a:p>
            <a:pPr marL="914400" lvl="1" indent="-331469" algn="l" rtl="0">
              <a:lnSpc>
                <a:spcPct val="100000"/>
              </a:lnSpc>
              <a:spcBef>
                <a:spcPts val="400"/>
              </a:spcBef>
              <a:spcAft>
                <a:spcPts val="0"/>
              </a:spcAft>
              <a:buSzPts val="1620"/>
              <a:buChar char="•"/>
            </a:pPr>
            <a:r>
              <a:rPr lang="en-US"/>
              <a:t> Cloud Integration with VCF Business Services Console.</a:t>
            </a:r>
            <a:endParaRPr/>
          </a:p>
          <a:p>
            <a:pPr marL="1371600" lvl="2" indent="-320039" algn="l" rtl="0">
              <a:lnSpc>
                <a:spcPct val="100000"/>
              </a:lnSpc>
              <a:spcBef>
                <a:spcPts val="600"/>
              </a:spcBef>
              <a:spcAft>
                <a:spcPts val="0"/>
              </a:spcAft>
              <a:buSzPts val="1440"/>
              <a:buChar char="–"/>
            </a:pPr>
            <a:r>
              <a:rPr lang="en-US">
                <a:solidFill>
                  <a:schemeClr val="accent2"/>
                </a:solidFill>
              </a:rPr>
              <a:t>Manage entitlement, generate license codes and files, tenant &amp; user mgmt</a:t>
            </a:r>
            <a:r>
              <a:rPr lang="en-US"/>
              <a:t>.</a:t>
            </a:r>
            <a:br>
              <a:rPr lang="en-US"/>
            </a:br>
            <a:endParaRPr/>
          </a:p>
          <a:p>
            <a:pPr marL="914400" lvl="1" indent="-331469" algn="l" rtl="0">
              <a:lnSpc>
                <a:spcPct val="100000"/>
              </a:lnSpc>
              <a:spcBef>
                <a:spcPts val="400"/>
              </a:spcBef>
              <a:spcAft>
                <a:spcPts val="0"/>
              </a:spcAft>
              <a:buSzPts val="1620"/>
              <a:buChar char="•"/>
            </a:pPr>
            <a:r>
              <a:rPr lang="en-US"/>
              <a:t> Centralized licensing from VCF Operations (per-VC licensing).</a:t>
            </a:r>
            <a:endParaRPr/>
          </a:p>
          <a:p>
            <a:pPr marL="1371600" lvl="2" indent="-320039" algn="l" rtl="0">
              <a:lnSpc>
                <a:spcPct val="100000"/>
              </a:lnSpc>
              <a:spcBef>
                <a:spcPts val="600"/>
              </a:spcBef>
              <a:spcAft>
                <a:spcPts val="0"/>
              </a:spcAft>
              <a:buSzPts val="1440"/>
              <a:buChar char="–"/>
            </a:pPr>
            <a:r>
              <a:rPr lang="en-US">
                <a:solidFill>
                  <a:schemeClr val="accent2"/>
                </a:solidFill>
              </a:rPr>
              <a:t>Assign licenses to deployed VCF environments.</a:t>
            </a:r>
            <a:br>
              <a:rPr lang="en-US">
                <a:solidFill>
                  <a:schemeClr val="accent2"/>
                </a:solidFill>
              </a:rPr>
            </a:br>
            <a:endParaRPr>
              <a:solidFill>
                <a:schemeClr val="accent2"/>
              </a:solidFill>
            </a:endParaRPr>
          </a:p>
          <a:p>
            <a:pPr marL="914400" lvl="1" indent="-331469" algn="l" rtl="0">
              <a:lnSpc>
                <a:spcPct val="100000"/>
              </a:lnSpc>
              <a:spcBef>
                <a:spcPts val="400"/>
              </a:spcBef>
              <a:spcAft>
                <a:spcPts val="0"/>
              </a:spcAft>
              <a:buSzPts val="1620"/>
              <a:buChar char="•"/>
            </a:pPr>
            <a:r>
              <a:rPr lang="en-US"/>
              <a:t>Support for connected and disconnected modes of operation.</a:t>
            </a:r>
            <a:endParaRPr/>
          </a:p>
          <a:p>
            <a:pPr marL="914400" lvl="1" indent="-228599" algn="l" rtl="0">
              <a:lnSpc>
                <a:spcPct val="100000"/>
              </a:lnSpc>
              <a:spcBef>
                <a:spcPts val="400"/>
              </a:spcBef>
              <a:spcAft>
                <a:spcPts val="0"/>
              </a:spcAft>
              <a:buSzPts val="1620"/>
              <a:buNone/>
            </a:pPr>
            <a:endParaRPr/>
          </a:p>
          <a:p>
            <a:pPr marL="914400" lvl="1" indent="-331469" algn="l" rtl="0">
              <a:lnSpc>
                <a:spcPct val="100000"/>
              </a:lnSpc>
              <a:spcBef>
                <a:spcPts val="400"/>
              </a:spcBef>
              <a:spcAft>
                <a:spcPts val="0"/>
              </a:spcAft>
              <a:buSzPts val="1620"/>
              <a:buChar char="•"/>
            </a:pPr>
            <a:r>
              <a:rPr lang="en-US"/>
              <a:t>Easy to stay compliant with usage data updates every 180 days.</a:t>
            </a:r>
            <a:endParaRPr/>
          </a:p>
          <a:p>
            <a:pPr marL="914400" lvl="1" indent="-228599" algn="l" rtl="0">
              <a:lnSpc>
                <a:spcPct val="100000"/>
              </a:lnSpc>
              <a:spcBef>
                <a:spcPts val="400"/>
              </a:spcBef>
              <a:spcAft>
                <a:spcPts val="0"/>
              </a:spcAft>
              <a:buSzPts val="1620"/>
              <a:buNone/>
            </a:pPr>
            <a:endParaRPr/>
          </a:p>
          <a:p>
            <a:pPr marL="914400" lvl="1" indent="-331469" algn="l" rtl="0">
              <a:lnSpc>
                <a:spcPct val="100000"/>
              </a:lnSpc>
              <a:spcBef>
                <a:spcPts val="400"/>
              </a:spcBef>
              <a:spcAft>
                <a:spcPts val="0"/>
              </a:spcAft>
              <a:buSzPts val="1620"/>
              <a:buChar char="•"/>
            </a:pPr>
            <a:r>
              <a:rPr lang="en-US"/>
              <a:t>Automated reactivation on renewal (for connected environments).</a:t>
            </a:r>
            <a:endParaRPr/>
          </a:p>
          <a:p>
            <a:pPr marL="914400" lvl="1" indent="-228599" algn="l" rtl="0">
              <a:lnSpc>
                <a:spcPct val="100000"/>
              </a:lnSpc>
              <a:spcBef>
                <a:spcPts val="600"/>
              </a:spcBef>
              <a:spcAft>
                <a:spcPts val="0"/>
              </a:spcAft>
              <a:buSzPts val="1620"/>
              <a:buNone/>
            </a:pPr>
            <a:endParaRPr/>
          </a:p>
        </p:txBody>
      </p:sp>
      <p:sp>
        <p:nvSpPr>
          <p:cNvPr id="9569" name="Google Shape;9569;p88"/>
          <p:cNvSpPr txBox="1"/>
          <p:nvPr/>
        </p:nvSpPr>
        <p:spPr>
          <a:xfrm>
            <a:off x="1517683" y="6049448"/>
            <a:ext cx="951702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dk1"/>
                </a:solidFill>
                <a:latin typeface="Arial"/>
                <a:ea typeface="Arial"/>
                <a:cs typeface="Arial"/>
                <a:sym typeface="Arial"/>
              </a:rPr>
              <a:t>VCF 9 advanced add-on services continue to be licensed separately using license keys (e.g. Live Recovery, vDefend Firewall, Avi Load Balancer, Private AI Foundation)</a:t>
            </a:r>
            <a:endParaRPr/>
          </a:p>
          <a:p>
            <a:pPr marL="0" marR="0" lvl="0" indent="0" algn="l" rtl="0">
              <a:spcBef>
                <a:spcPts val="0"/>
              </a:spcBef>
              <a:spcAft>
                <a:spcPts val="0"/>
              </a:spcAft>
              <a:buNone/>
            </a:pPr>
            <a:endParaRPr sz="1000">
              <a:solidFill>
                <a:schemeClr val="dk2"/>
              </a:solidFill>
              <a:latin typeface="Arial"/>
              <a:ea typeface="Arial"/>
              <a:cs typeface="Arial"/>
              <a:sym typeface="Arial"/>
            </a:endParaRPr>
          </a:p>
        </p:txBody>
      </p:sp>
      <p:sp>
        <p:nvSpPr>
          <p:cNvPr id="9570" name="Google Shape;9570;p88"/>
          <p:cNvSpPr txBox="1"/>
          <p:nvPr/>
        </p:nvSpPr>
        <p:spPr>
          <a:xfrm>
            <a:off x="355038" y="3483021"/>
            <a:ext cx="266819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What’ New with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VCF Licensing</a:t>
            </a:r>
            <a:endParaRPr/>
          </a:p>
        </p:txBody>
      </p:sp>
      <p:pic>
        <p:nvPicPr>
          <p:cNvPr id="9571" name="Google Shape;9571;p88"/>
          <p:cNvPicPr preferRelativeResize="0"/>
          <p:nvPr/>
        </p:nvPicPr>
        <p:blipFill rotWithShape="1">
          <a:blip r:embed="rId4">
            <a:alphaModFix/>
          </a:blip>
          <a:srcRect/>
          <a:stretch/>
        </p:blipFill>
        <p:spPr>
          <a:xfrm>
            <a:off x="1332517" y="2652292"/>
            <a:ext cx="713232" cy="713232"/>
          </a:xfrm>
          <a:prstGeom prst="rect">
            <a:avLst/>
          </a:prstGeom>
          <a:noFill/>
          <a:ln>
            <a:noFill/>
          </a:ln>
        </p:spPr>
      </p:pic>
      <p:grpSp>
        <p:nvGrpSpPr>
          <p:cNvPr id="9572" name="Google Shape;9572;p88"/>
          <p:cNvGrpSpPr/>
          <p:nvPr/>
        </p:nvGrpSpPr>
        <p:grpSpPr>
          <a:xfrm>
            <a:off x="4259393" y="2228850"/>
            <a:ext cx="7133817" cy="3072384"/>
            <a:chOff x="4300538" y="2228850"/>
            <a:chExt cx="7280275" cy="3072384"/>
          </a:xfrm>
        </p:grpSpPr>
        <p:cxnSp>
          <p:nvCxnSpPr>
            <p:cNvPr id="9573" name="Google Shape;9573;p88"/>
            <p:cNvCxnSpPr/>
            <p:nvPr/>
          </p:nvCxnSpPr>
          <p:spPr>
            <a:xfrm>
              <a:off x="4300538" y="2228850"/>
              <a:ext cx="7280275" cy="0"/>
            </a:xfrm>
            <a:prstGeom prst="straightConnector1">
              <a:avLst/>
            </a:prstGeom>
            <a:noFill/>
            <a:ln w="9525" cap="flat" cmpd="sng">
              <a:solidFill>
                <a:schemeClr val="accent2">
                  <a:alpha val="39607"/>
                </a:schemeClr>
              </a:solidFill>
              <a:prstDash val="solid"/>
              <a:miter lim="800000"/>
              <a:headEnd type="none" w="sm" len="sm"/>
              <a:tailEnd type="none" w="sm" len="sm"/>
            </a:ln>
          </p:spPr>
        </p:cxnSp>
        <p:cxnSp>
          <p:nvCxnSpPr>
            <p:cNvPr id="9574" name="Google Shape;9574;p88"/>
            <p:cNvCxnSpPr/>
            <p:nvPr/>
          </p:nvCxnSpPr>
          <p:spPr>
            <a:xfrm>
              <a:off x="4300538" y="3124962"/>
              <a:ext cx="7280275" cy="0"/>
            </a:xfrm>
            <a:prstGeom prst="straightConnector1">
              <a:avLst/>
            </a:prstGeom>
            <a:noFill/>
            <a:ln w="9525" cap="flat" cmpd="sng">
              <a:solidFill>
                <a:schemeClr val="accent2">
                  <a:alpha val="39607"/>
                </a:schemeClr>
              </a:solidFill>
              <a:prstDash val="solid"/>
              <a:miter lim="800000"/>
              <a:headEnd type="none" w="sm" len="sm"/>
              <a:tailEnd type="none" w="sm" len="sm"/>
            </a:ln>
          </p:spPr>
        </p:cxnSp>
        <p:cxnSp>
          <p:nvCxnSpPr>
            <p:cNvPr id="9575" name="Google Shape;9575;p88"/>
            <p:cNvCxnSpPr/>
            <p:nvPr/>
          </p:nvCxnSpPr>
          <p:spPr>
            <a:xfrm>
              <a:off x="4300538" y="4021074"/>
              <a:ext cx="7280275" cy="0"/>
            </a:xfrm>
            <a:prstGeom prst="straightConnector1">
              <a:avLst/>
            </a:prstGeom>
            <a:noFill/>
            <a:ln w="9525" cap="flat" cmpd="sng">
              <a:solidFill>
                <a:schemeClr val="accent2">
                  <a:alpha val="39607"/>
                </a:schemeClr>
              </a:solidFill>
              <a:prstDash val="solid"/>
              <a:miter lim="800000"/>
              <a:headEnd type="none" w="sm" len="sm"/>
              <a:tailEnd type="none" w="sm" len="sm"/>
            </a:ln>
          </p:spPr>
        </p:cxnSp>
        <p:cxnSp>
          <p:nvCxnSpPr>
            <p:cNvPr id="9576" name="Google Shape;9576;p88"/>
            <p:cNvCxnSpPr/>
            <p:nvPr/>
          </p:nvCxnSpPr>
          <p:spPr>
            <a:xfrm>
              <a:off x="4300538" y="4615434"/>
              <a:ext cx="7280275" cy="0"/>
            </a:xfrm>
            <a:prstGeom prst="straightConnector1">
              <a:avLst/>
            </a:prstGeom>
            <a:noFill/>
            <a:ln w="9525" cap="flat" cmpd="sng">
              <a:solidFill>
                <a:schemeClr val="accent2">
                  <a:alpha val="39607"/>
                </a:schemeClr>
              </a:solidFill>
              <a:prstDash val="solid"/>
              <a:miter lim="800000"/>
              <a:headEnd type="none" w="sm" len="sm"/>
              <a:tailEnd type="none" w="sm" len="sm"/>
            </a:ln>
          </p:spPr>
        </p:cxnSp>
        <p:cxnSp>
          <p:nvCxnSpPr>
            <p:cNvPr id="9577" name="Google Shape;9577;p88"/>
            <p:cNvCxnSpPr/>
            <p:nvPr/>
          </p:nvCxnSpPr>
          <p:spPr>
            <a:xfrm>
              <a:off x="4300538" y="5301234"/>
              <a:ext cx="7280275" cy="0"/>
            </a:xfrm>
            <a:prstGeom prst="straightConnector1">
              <a:avLst/>
            </a:prstGeom>
            <a:noFill/>
            <a:ln w="9525" cap="flat" cmpd="sng">
              <a:solidFill>
                <a:schemeClr val="accent2">
                  <a:alpha val="39607"/>
                </a:schemeClr>
              </a:solidFill>
              <a:prstDash val="solid"/>
              <a:miter lim="800000"/>
              <a:headEnd type="none" w="sm" len="sm"/>
              <a:tailEnd type="none" w="sm" len="sm"/>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582"/>
        <p:cNvGrpSpPr/>
        <p:nvPr/>
      </p:nvGrpSpPr>
      <p:grpSpPr>
        <a:xfrm>
          <a:off x="0" y="0"/>
          <a:ext cx="0" cy="0"/>
          <a:chOff x="0" y="0"/>
          <a:chExt cx="0" cy="0"/>
        </a:xfrm>
      </p:grpSpPr>
      <p:grpSp>
        <p:nvGrpSpPr>
          <p:cNvPr id="9583" name="Google Shape;9583;p89"/>
          <p:cNvGrpSpPr/>
          <p:nvPr/>
        </p:nvGrpSpPr>
        <p:grpSpPr>
          <a:xfrm>
            <a:off x="592866" y="1609531"/>
            <a:ext cx="8473110" cy="4283269"/>
            <a:chOff x="642091" y="1596831"/>
            <a:chExt cx="8249748" cy="4349715"/>
          </a:xfrm>
        </p:grpSpPr>
        <p:sp>
          <p:nvSpPr>
            <p:cNvPr id="9584" name="Google Shape;9584;p89"/>
            <p:cNvSpPr/>
            <p:nvPr/>
          </p:nvSpPr>
          <p:spPr>
            <a:xfrm>
              <a:off x="642091" y="1596831"/>
              <a:ext cx="8249748" cy="4349715"/>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9585" name="Google Shape;9585;p89"/>
            <p:cNvSpPr/>
            <p:nvPr/>
          </p:nvSpPr>
          <p:spPr>
            <a:xfrm>
              <a:off x="5227800" y="5415762"/>
              <a:ext cx="1209642" cy="316199"/>
            </a:xfrm>
            <a:prstGeom prst="rect">
              <a:avLst/>
            </a:prstGeom>
            <a:solidFill>
              <a:srgbClr val="FCFEF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9586" name="Google Shape;9586;p8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Cloud Integration with the Business Services Console Portal</a:t>
            </a:r>
            <a:endParaRPr/>
          </a:p>
        </p:txBody>
      </p:sp>
      <p:sp>
        <p:nvSpPr>
          <p:cNvPr id="9587" name="Google Shape;9587;p89"/>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VCF Licensing</a:t>
            </a:r>
            <a:endParaRPr/>
          </a:p>
        </p:txBody>
      </p:sp>
      <p:sp>
        <p:nvSpPr>
          <p:cNvPr id="9588" name="Google Shape;9588;p89"/>
          <p:cNvSpPr txBox="1">
            <a:spLocks noGrp="1"/>
          </p:cNvSpPr>
          <p:nvPr>
            <p:ph type="body" idx="2"/>
          </p:nvPr>
        </p:nvSpPr>
        <p:spPr>
          <a:xfrm>
            <a:off x="9294812" y="1609531"/>
            <a:ext cx="2894013" cy="4572000"/>
          </a:xfrm>
          <a:prstGeom prst="rect">
            <a:avLst/>
          </a:prstGeom>
          <a:solidFill>
            <a:srgbClr val="F4F8FA"/>
          </a:solidFill>
          <a:ln>
            <a:noFill/>
          </a:ln>
        </p:spPr>
        <p:txBody>
          <a:bodyPr spcFirstLastPara="1" wrap="square" lIns="274300" tIns="457200" rIns="457200" bIns="457200" anchor="t" anchorCtr="0">
            <a:noAutofit/>
          </a:bodyPr>
          <a:lstStyle/>
          <a:p>
            <a:pPr marL="0" lvl="0" indent="0" algn="l" rtl="0">
              <a:lnSpc>
                <a:spcPct val="100000"/>
              </a:lnSpc>
              <a:spcBef>
                <a:spcPts val="0"/>
              </a:spcBef>
              <a:spcAft>
                <a:spcPts val="0"/>
              </a:spcAft>
              <a:buSzPts val="1620"/>
              <a:buNone/>
            </a:pPr>
            <a:r>
              <a:rPr lang="en-US" dirty="0"/>
              <a:t>Cloud Based Portal  </a:t>
            </a:r>
            <a:r>
              <a:rPr lang="en-US" u="sng" dirty="0">
                <a:solidFill>
                  <a:schemeClr val="hlink"/>
                </a:solidFill>
                <a:hlinkClick r:id="rId3"/>
              </a:rPr>
              <a:t>vcf.broadcom.com</a:t>
            </a:r>
            <a:r>
              <a:rPr lang="en-US" dirty="0"/>
              <a:t>  </a:t>
            </a:r>
            <a:endParaRPr dirty="0"/>
          </a:p>
          <a:p>
            <a:pPr marL="0" lvl="0" indent="0" algn="l" rtl="0">
              <a:lnSpc>
                <a:spcPct val="100000"/>
              </a:lnSpc>
              <a:spcBef>
                <a:spcPts val="1200"/>
              </a:spcBef>
              <a:spcAft>
                <a:spcPts val="0"/>
              </a:spcAft>
              <a:buSzPts val="1620"/>
              <a:buNone/>
            </a:pPr>
            <a:r>
              <a:rPr lang="en-US" dirty="0"/>
              <a:t>Central management of license entitlement</a:t>
            </a:r>
            <a:endParaRPr dirty="0"/>
          </a:p>
          <a:p>
            <a:pPr marL="457200" lvl="1" indent="-184150" algn="l" rtl="0">
              <a:lnSpc>
                <a:spcPct val="100000"/>
              </a:lnSpc>
              <a:spcBef>
                <a:spcPts val="1200"/>
              </a:spcBef>
              <a:spcAft>
                <a:spcPts val="0"/>
              </a:spcAft>
              <a:buSzPts val="1440"/>
              <a:buChar char="•"/>
            </a:pPr>
            <a:r>
              <a:rPr lang="en-US" dirty="0"/>
              <a:t>License Management</a:t>
            </a:r>
            <a:endParaRPr dirty="0"/>
          </a:p>
          <a:p>
            <a:pPr marL="457200" lvl="1" indent="-184150" algn="l" rtl="0">
              <a:lnSpc>
                <a:spcPct val="100000"/>
              </a:lnSpc>
              <a:spcBef>
                <a:spcPts val="1200"/>
              </a:spcBef>
              <a:spcAft>
                <a:spcPts val="0"/>
              </a:spcAft>
              <a:buSzPts val="1440"/>
              <a:buChar char="•"/>
            </a:pPr>
            <a:r>
              <a:rPr lang="en-US" dirty="0"/>
              <a:t>Tenant Management</a:t>
            </a:r>
            <a:endParaRPr dirty="0"/>
          </a:p>
          <a:p>
            <a:pPr marL="457200" lvl="1" indent="-184150" algn="l" rtl="0">
              <a:lnSpc>
                <a:spcPct val="100000"/>
              </a:lnSpc>
              <a:spcBef>
                <a:spcPts val="1200"/>
              </a:spcBef>
              <a:spcAft>
                <a:spcPts val="0"/>
              </a:spcAft>
              <a:buSzPts val="1440"/>
              <a:buChar char="•"/>
            </a:pPr>
            <a:r>
              <a:rPr lang="en-US" dirty="0"/>
              <a:t>User Management</a:t>
            </a:r>
            <a:endParaRPr dirty="0"/>
          </a:p>
          <a:p>
            <a:pPr marL="0" lvl="0" indent="0" algn="l" rtl="0">
              <a:lnSpc>
                <a:spcPct val="100000"/>
              </a:lnSpc>
              <a:spcBef>
                <a:spcPts val="1200"/>
              </a:spcBef>
              <a:spcAft>
                <a:spcPts val="0"/>
              </a:spcAft>
              <a:buSzPts val="1620"/>
              <a:buNone/>
            </a:pPr>
            <a:r>
              <a:rPr lang="en-US" dirty="0"/>
              <a:t>Supports connected &amp; disconnected environments</a:t>
            </a:r>
            <a:endParaRPr dirty="0"/>
          </a:p>
          <a:p>
            <a:pPr marL="0" lvl="0" indent="0" algn="l" rtl="0">
              <a:lnSpc>
                <a:spcPct val="100000"/>
              </a:lnSpc>
              <a:spcBef>
                <a:spcPts val="1200"/>
              </a:spcBef>
              <a:spcAft>
                <a:spcPts val="0"/>
              </a:spcAft>
              <a:buSzPts val="1620"/>
              <a:buNone/>
            </a:pPr>
            <a:endParaRPr dirty="0"/>
          </a:p>
        </p:txBody>
      </p:sp>
      <p:pic>
        <p:nvPicPr>
          <p:cNvPr id="9589" name="Google Shape;9589;p89"/>
          <p:cNvPicPr preferRelativeResize="0"/>
          <p:nvPr/>
        </p:nvPicPr>
        <p:blipFill rotWithShape="1">
          <a:blip r:embed="rId4">
            <a:alphaModFix/>
          </a:blip>
          <a:srcRect/>
          <a:stretch/>
        </p:blipFill>
        <p:spPr>
          <a:xfrm>
            <a:off x="689850" y="1694968"/>
            <a:ext cx="8309356" cy="409600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594"/>
        <p:cNvGrpSpPr/>
        <p:nvPr/>
      </p:nvGrpSpPr>
      <p:grpSpPr>
        <a:xfrm>
          <a:off x="0" y="0"/>
          <a:ext cx="0" cy="0"/>
          <a:chOff x="0" y="0"/>
          <a:chExt cx="0" cy="0"/>
        </a:xfrm>
      </p:grpSpPr>
      <p:grpSp>
        <p:nvGrpSpPr>
          <p:cNvPr id="9595" name="Google Shape;9595;p90"/>
          <p:cNvGrpSpPr/>
          <p:nvPr/>
        </p:nvGrpSpPr>
        <p:grpSpPr>
          <a:xfrm>
            <a:off x="592866" y="1609531"/>
            <a:ext cx="7672360" cy="4482512"/>
            <a:chOff x="642091" y="1596831"/>
            <a:chExt cx="8249748" cy="4455132"/>
          </a:xfrm>
        </p:grpSpPr>
        <p:sp>
          <p:nvSpPr>
            <p:cNvPr id="9596" name="Google Shape;9596;p90"/>
            <p:cNvSpPr/>
            <p:nvPr/>
          </p:nvSpPr>
          <p:spPr>
            <a:xfrm>
              <a:off x="642091" y="1596831"/>
              <a:ext cx="8249748" cy="4455132"/>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9597" name="Google Shape;9597;p90"/>
            <p:cNvSpPr/>
            <p:nvPr/>
          </p:nvSpPr>
          <p:spPr>
            <a:xfrm>
              <a:off x="5227800" y="5415762"/>
              <a:ext cx="1209642" cy="316199"/>
            </a:xfrm>
            <a:prstGeom prst="rect">
              <a:avLst/>
            </a:prstGeom>
            <a:solidFill>
              <a:srgbClr val="FCFEF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9598" name="Google Shape;9598;p9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800"/>
              <a:buNone/>
            </a:pPr>
            <a:r>
              <a:rPr lang="en-US"/>
              <a:t>Centralized License Activation with VCF Operations</a:t>
            </a:r>
            <a:endParaRPr/>
          </a:p>
        </p:txBody>
      </p:sp>
      <p:sp>
        <p:nvSpPr>
          <p:cNvPr id="9599" name="Google Shape;9599;p90"/>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VCF Licensing</a:t>
            </a:r>
            <a:endParaRPr/>
          </a:p>
        </p:txBody>
      </p:sp>
      <p:sp>
        <p:nvSpPr>
          <p:cNvPr id="9600" name="Google Shape;9600;p90"/>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457200" lvl="0" indent="-320040" algn="l" rtl="0">
              <a:lnSpc>
                <a:spcPct val="100000"/>
              </a:lnSpc>
              <a:spcBef>
                <a:spcPts val="0"/>
              </a:spcBef>
              <a:spcAft>
                <a:spcPts val="0"/>
              </a:spcAft>
              <a:buSzPts val="1440"/>
              <a:buChar char="​"/>
            </a:pPr>
            <a:r>
              <a:rPr lang="en-US"/>
              <a:t>Centralized License activation for VCF environment.</a:t>
            </a:r>
            <a:endParaRPr/>
          </a:p>
          <a:p>
            <a:pPr marL="457200" lvl="0" indent="-228600" algn="l" rtl="0">
              <a:lnSpc>
                <a:spcPct val="100000"/>
              </a:lnSpc>
              <a:spcBef>
                <a:spcPts val="0"/>
              </a:spcBef>
              <a:spcAft>
                <a:spcPts val="0"/>
              </a:spcAft>
              <a:buSzPts val="1440"/>
              <a:buNone/>
            </a:pPr>
            <a:endParaRPr/>
          </a:p>
          <a:p>
            <a:pPr marL="457200" lvl="0" indent="-320040" algn="l" rtl="0">
              <a:lnSpc>
                <a:spcPct val="100000"/>
              </a:lnSpc>
              <a:spcBef>
                <a:spcPts val="0"/>
              </a:spcBef>
              <a:spcAft>
                <a:spcPts val="0"/>
              </a:spcAft>
              <a:buSzPts val="1440"/>
              <a:buChar char="​"/>
            </a:pPr>
            <a:r>
              <a:rPr lang="en-US"/>
              <a:t>Register VCF Operations with Business Service Console. </a:t>
            </a:r>
            <a:endParaRPr/>
          </a:p>
          <a:p>
            <a:pPr marL="914400" lvl="1" indent="-308610" algn="l" rtl="0">
              <a:lnSpc>
                <a:spcPct val="100000"/>
              </a:lnSpc>
              <a:spcBef>
                <a:spcPts val="1200"/>
              </a:spcBef>
              <a:spcAft>
                <a:spcPts val="0"/>
              </a:spcAft>
              <a:buSzPts val="1260"/>
              <a:buChar char="•"/>
            </a:pPr>
            <a:r>
              <a:rPr lang="en-US"/>
              <a:t>Generate Activation Code (connected sites).</a:t>
            </a:r>
            <a:endParaRPr/>
          </a:p>
          <a:p>
            <a:pPr marL="914400" lvl="1" indent="-308610" algn="l" rtl="0">
              <a:lnSpc>
                <a:spcPct val="100000"/>
              </a:lnSpc>
              <a:spcBef>
                <a:spcPts val="1200"/>
              </a:spcBef>
              <a:spcAft>
                <a:spcPts val="0"/>
              </a:spcAft>
              <a:buSzPts val="1260"/>
              <a:buChar char="•"/>
            </a:pPr>
            <a:r>
              <a:rPr lang="en-US"/>
              <a:t>Generate License file (disconnected sites).</a:t>
            </a:r>
            <a:endParaRPr/>
          </a:p>
          <a:p>
            <a:pPr marL="457200" lvl="0" indent="-228600" algn="l" rtl="0">
              <a:lnSpc>
                <a:spcPct val="100000"/>
              </a:lnSpc>
              <a:spcBef>
                <a:spcPts val="0"/>
              </a:spcBef>
              <a:spcAft>
                <a:spcPts val="0"/>
              </a:spcAft>
              <a:buSzPts val="1440"/>
              <a:buNone/>
            </a:pPr>
            <a:endParaRPr/>
          </a:p>
          <a:p>
            <a:pPr marL="457200" lvl="0" indent="-320040" algn="l" rtl="0">
              <a:lnSpc>
                <a:spcPct val="100000"/>
              </a:lnSpc>
              <a:spcBef>
                <a:spcPts val="0"/>
              </a:spcBef>
              <a:spcAft>
                <a:spcPts val="0"/>
              </a:spcAft>
              <a:buSzPts val="1440"/>
              <a:buChar char="​"/>
            </a:pPr>
            <a:r>
              <a:rPr lang="en-US"/>
              <a:t>Activate licenses.</a:t>
            </a:r>
            <a:endParaRPr/>
          </a:p>
          <a:p>
            <a:pPr marL="457200" lvl="0" indent="-228600" algn="l" rtl="0">
              <a:lnSpc>
                <a:spcPct val="100000"/>
              </a:lnSpc>
              <a:spcBef>
                <a:spcPts val="0"/>
              </a:spcBef>
              <a:spcAft>
                <a:spcPts val="0"/>
              </a:spcAft>
              <a:buSzPts val="1440"/>
              <a:buNone/>
            </a:pPr>
            <a:endParaRPr/>
          </a:p>
          <a:p>
            <a:pPr marL="457200" lvl="0" indent="-320040" algn="l" rtl="0">
              <a:lnSpc>
                <a:spcPct val="100000"/>
              </a:lnSpc>
              <a:spcBef>
                <a:spcPts val="0"/>
              </a:spcBef>
              <a:spcAft>
                <a:spcPts val="0"/>
              </a:spcAft>
              <a:buSzPts val="1440"/>
              <a:buChar char="​"/>
            </a:pPr>
            <a:r>
              <a:rPr lang="en-US"/>
              <a:t>Stay Compliant.  </a:t>
            </a:r>
            <a:endParaRPr/>
          </a:p>
          <a:p>
            <a:pPr marL="914400" lvl="1" indent="-308610" algn="l" rtl="0">
              <a:lnSpc>
                <a:spcPct val="100000"/>
              </a:lnSpc>
              <a:spcBef>
                <a:spcPts val="1200"/>
              </a:spcBef>
              <a:spcAft>
                <a:spcPts val="0"/>
              </a:spcAft>
              <a:buSzPts val="1260"/>
              <a:buChar char="•"/>
            </a:pPr>
            <a:r>
              <a:rPr lang="en-US"/>
              <a:t>Report license usage every 180 days.</a:t>
            </a:r>
            <a:endParaRPr/>
          </a:p>
        </p:txBody>
      </p:sp>
      <p:pic>
        <p:nvPicPr>
          <p:cNvPr id="9601" name="Google Shape;9601;p90"/>
          <p:cNvPicPr preferRelativeResize="0"/>
          <p:nvPr/>
        </p:nvPicPr>
        <p:blipFill rotWithShape="1">
          <a:blip r:embed="rId3">
            <a:alphaModFix/>
          </a:blip>
          <a:srcRect/>
          <a:stretch/>
        </p:blipFill>
        <p:spPr>
          <a:xfrm>
            <a:off x="666323" y="1693810"/>
            <a:ext cx="7512939" cy="430279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605"/>
        <p:cNvGrpSpPr/>
        <p:nvPr/>
      </p:nvGrpSpPr>
      <p:grpSpPr>
        <a:xfrm>
          <a:off x="0" y="0"/>
          <a:ext cx="0" cy="0"/>
          <a:chOff x="0" y="0"/>
          <a:chExt cx="0" cy="0"/>
        </a:xfrm>
      </p:grpSpPr>
      <p:sp>
        <p:nvSpPr>
          <p:cNvPr id="9606" name="Google Shape;9606;p91"/>
          <p:cNvSpPr txBox="1">
            <a:spLocks noGrp="1"/>
          </p:cNvSpPr>
          <p:nvPr>
            <p:ph type="body" idx="2"/>
          </p:nvPr>
        </p:nvSpPr>
        <p:spPr>
          <a:xfrm>
            <a:off x="616505" y="1422401"/>
            <a:ext cx="10972800" cy="4572000"/>
          </a:xfrm>
          <a:prstGeom prst="rect">
            <a:avLst/>
          </a:prstGeom>
          <a:noFill/>
          <a:ln>
            <a:noFill/>
          </a:ln>
        </p:spPr>
        <p:txBody>
          <a:bodyPr spcFirstLastPara="1" wrap="square" lIns="0" tIns="0" rIns="0" bIns="0" anchor="t" anchorCtr="0">
            <a:noAutofit/>
          </a:bodyPr>
          <a:lstStyle/>
          <a:p>
            <a:pPr marL="457200" lvl="0" indent="-228600" algn="l" rtl="0">
              <a:lnSpc>
                <a:spcPct val="100000"/>
              </a:lnSpc>
              <a:spcBef>
                <a:spcPts val="0"/>
              </a:spcBef>
              <a:spcAft>
                <a:spcPts val="0"/>
              </a:spcAft>
              <a:buSzPts val="1800"/>
              <a:buNone/>
            </a:pPr>
            <a:endParaRPr/>
          </a:p>
          <a:p>
            <a:pPr marL="457200" lvl="0" indent="-228600" algn="l" rtl="0">
              <a:lnSpc>
                <a:spcPct val="100000"/>
              </a:lnSpc>
              <a:spcBef>
                <a:spcPts val="0"/>
              </a:spcBef>
              <a:spcAft>
                <a:spcPts val="0"/>
              </a:spcAft>
              <a:buSzPts val="1800"/>
              <a:buNone/>
            </a:pPr>
            <a:endParaRPr/>
          </a:p>
          <a:p>
            <a:pPr marL="457200" lvl="0" indent="-228600" algn="l" rtl="0">
              <a:lnSpc>
                <a:spcPct val="100000"/>
              </a:lnSpc>
              <a:spcBef>
                <a:spcPts val="0"/>
              </a:spcBef>
              <a:spcAft>
                <a:spcPts val="0"/>
              </a:spcAft>
              <a:buSzPts val="1800"/>
              <a:buNone/>
            </a:pPr>
            <a:endParaRPr/>
          </a:p>
          <a:p>
            <a:pPr marL="457200" lvl="0" indent="-342900" algn="l" rtl="0">
              <a:lnSpc>
                <a:spcPct val="100000"/>
              </a:lnSpc>
              <a:spcBef>
                <a:spcPts val="0"/>
              </a:spcBef>
              <a:spcAft>
                <a:spcPts val="0"/>
              </a:spcAft>
              <a:buSzPts val="1800"/>
              <a:buChar char="​"/>
            </a:pPr>
            <a:r>
              <a:rPr lang="en-US"/>
              <a:t>Notification provided 60 days prior to expiration</a:t>
            </a:r>
            <a:endParaRPr/>
          </a:p>
          <a:p>
            <a:pPr marL="914400" lvl="1" indent="-331469" algn="l" rtl="0">
              <a:lnSpc>
                <a:spcPct val="100000"/>
              </a:lnSpc>
              <a:spcBef>
                <a:spcPts val="600"/>
              </a:spcBef>
              <a:spcAft>
                <a:spcPts val="0"/>
              </a:spcAft>
              <a:buSzPts val="1620"/>
              <a:buChar char="•"/>
            </a:pPr>
            <a:r>
              <a:rPr lang="en-US">
                <a:solidFill>
                  <a:schemeClr val="accent2"/>
                </a:solidFill>
              </a:rPr>
              <a:t>Email.  Alerts in VCF Operations and vSphere Client</a:t>
            </a:r>
            <a:endParaRPr/>
          </a:p>
          <a:p>
            <a:pPr marL="914400" lvl="1" indent="-331469" algn="l" rtl="0">
              <a:lnSpc>
                <a:spcPct val="100000"/>
              </a:lnSpc>
              <a:spcBef>
                <a:spcPts val="600"/>
              </a:spcBef>
              <a:spcAft>
                <a:spcPts val="0"/>
              </a:spcAft>
              <a:buSzPts val="1620"/>
              <a:buChar char="•"/>
            </a:pPr>
            <a:r>
              <a:rPr lang="en-US">
                <a:solidFill>
                  <a:schemeClr val="accent2"/>
                </a:solidFill>
              </a:rPr>
              <a:t>Seamless activation on subscription renewal</a:t>
            </a:r>
            <a:endParaRPr/>
          </a:p>
          <a:p>
            <a:pPr marL="914400" lvl="1" indent="-228599" algn="l" rtl="0">
              <a:lnSpc>
                <a:spcPct val="100000"/>
              </a:lnSpc>
              <a:spcBef>
                <a:spcPts val="600"/>
              </a:spcBef>
              <a:spcAft>
                <a:spcPts val="0"/>
              </a:spcAft>
              <a:buSzPts val="1620"/>
              <a:buNone/>
            </a:pPr>
            <a:endParaRPr/>
          </a:p>
          <a:p>
            <a:pPr marL="457200" lvl="0" indent="-342900" algn="l" rtl="0">
              <a:lnSpc>
                <a:spcPct val="100000"/>
              </a:lnSpc>
              <a:spcBef>
                <a:spcPts val="0"/>
              </a:spcBef>
              <a:spcAft>
                <a:spcPts val="0"/>
              </a:spcAft>
              <a:buSzPts val="1800"/>
              <a:buChar char="​"/>
            </a:pPr>
            <a:r>
              <a:rPr lang="en-US"/>
              <a:t>Continue receiving alerts if subscription expires, no degradation of capabilities for 90 days</a:t>
            </a:r>
            <a:endParaRPr/>
          </a:p>
          <a:p>
            <a:pPr marL="457200" lvl="0" indent="-228600" algn="l" rtl="0">
              <a:lnSpc>
                <a:spcPct val="100000"/>
              </a:lnSpc>
              <a:spcBef>
                <a:spcPts val="0"/>
              </a:spcBef>
              <a:spcAft>
                <a:spcPts val="0"/>
              </a:spcAft>
              <a:buSzPts val="1800"/>
              <a:buNone/>
            </a:pPr>
            <a:endParaRPr/>
          </a:p>
          <a:p>
            <a:pPr marL="457200" lvl="0" indent="-342900" algn="l" rtl="0">
              <a:lnSpc>
                <a:spcPct val="100000"/>
              </a:lnSpc>
              <a:spcBef>
                <a:spcPts val="0"/>
              </a:spcBef>
              <a:spcAft>
                <a:spcPts val="0"/>
              </a:spcAft>
              <a:buSzPts val="1800"/>
              <a:buChar char="​"/>
            </a:pPr>
            <a:r>
              <a:rPr lang="en-US"/>
              <a:t>After 90 days:</a:t>
            </a:r>
            <a:endParaRPr/>
          </a:p>
          <a:p>
            <a:pPr marL="914400" lvl="1" indent="-331469" algn="l" rtl="0">
              <a:lnSpc>
                <a:spcPct val="100000"/>
              </a:lnSpc>
              <a:spcBef>
                <a:spcPts val="600"/>
              </a:spcBef>
              <a:spcAft>
                <a:spcPts val="0"/>
              </a:spcAft>
              <a:buSzPts val="1620"/>
              <a:buChar char="•"/>
            </a:pPr>
            <a:r>
              <a:rPr lang="en-US">
                <a:solidFill>
                  <a:schemeClr val="accent2"/>
                </a:solidFill>
              </a:rPr>
              <a:t>Hosts disconnect from vCenter.  Running VMs stay online</a:t>
            </a:r>
            <a:endParaRPr/>
          </a:p>
          <a:p>
            <a:pPr marL="914400" lvl="1" indent="-331469" algn="l" rtl="0">
              <a:lnSpc>
                <a:spcPct val="100000"/>
              </a:lnSpc>
              <a:spcBef>
                <a:spcPts val="600"/>
              </a:spcBef>
              <a:spcAft>
                <a:spcPts val="0"/>
              </a:spcAft>
              <a:buSzPts val="1620"/>
              <a:buChar char="•"/>
            </a:pPr>
            <a:r>
              <a:rPr lang="en-US">
                <a:solidFill>
                  <a:schemeClr val="accent2"/>
                </a:solidFill>
              </a:rPr>
              <a:t>Cannot power on/off VMs.  Cannot make configuration changes</a:t>
            </a:r>
            <a:endParaRPr/>
          </a:p>
          <a:p>
            <a:pPr marL="914400" lvl="1" indent="-228599" algn="l" rtl="0">
              <a:lnSpc>
                <a:spcPct val="100000"/>
              </a:lnSpc>
              <a:spcBef>
                <a:spcPts val="600"/>
              </a:spcBef>
              <a:spcAft>
                <a:spcPts val="0"/>
              </a:spcAft>
              <a:buSzPts val="1620"/>
              <a:buNone/>
            </a:pPr>
            <a:endParaRPr/>
          </a:p>
          <a:p>
            <a:pPr marL="457200" lvl="0" indent="-342900" algn="l" rtl="0">
              <a:lnSpc>
                <a:spcPct val="100000"/>
              </a:lnSpc>
              <a:spcBef>
                <a:spcPts val="0"/>
              </a:spcBef>
              <a:spcAft>
                <a:spcPts val="0"/>
              </a:spcAft>
              <a:buSzPts val="1800"/>
              <a:buChar char="​"/>
            </a:pPr>
            <a:r>
              <a:rPr lang="en-US"/>
              <a:t>On subscription renewal – hosts automatically reconnect without customer action.</a:t>
            </a:r>
            <a:endParaRPr/>
          </a:p>
        </p:txBody>
      </p:sp>
      <p:sp>
        <p:nvSpPr>
          <p:cNvPr id="9607" name="Google Shape;9607;p9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800"/>
              <a:buNone/>
            </a:pPr>
            <a:r>
              <a:rPr lang="en-US"/>
              <a:t>Subscription Expiration Behavior</a:t>
            </a:r>
            <a:endParaRPr/>
          </a:p>
        </p:txBody>
      </p:sp>
      <p:grpSp>
        <p:nvGrpSpPr>
          <p:cNvPr id="9608" name="Google Shape;9608;p91"/>
          <p:cNvGrpSpPr/>
          <p:nvPr/>
        </p:nvGrpSpPr>
        <p:grpSpPr>
          <a:xfrm>
            <a:off x="963294" y="803204"/>
            <a:ext cx="9823692" cy="1304155"/>
            <a:chOff x="963294" y="981004"/>
            <a:chExt cx="9823692" cy="1304155"/>
          </a:xfrm>
        </p:grpSpPr>
        <p:grpSp>
          <p:nvGrpSpPr>
            <p:cNvPr id="9609" name="Google Shape;9609;p91"/>
            <p:cNvGrpSpPr/>
            <p:nvPr/>
          </p:nvGrpSpPr>
          <p:grpSpPr>
            <a:xfrm>
              <a:off x="1711445" y="1603569"/>
              <a:ext cx="9075541" cy="649292"/>
              <a:chOff x="1711445" y="1603569"/>
              <a:chExt cx="9075541" cy="649292"/>
            </a:xfrm>
          </p:grpSpPr>
          <p:sp>
            <p:nvSpPr>
              <p:cNvPr id="9610" name="Google Shape;9610;p91"/>
              <p:cNvSpPr/>
              <p:nvPr/>
            </p:nvSpPr>
            <p:spPr>
              <a:xfrm>
                <a:off x="1711445" y="1603569"/>
                <a:ext cx="1825520" cy="649292"/>
              </a:xfrm>
              <a:prstGeom prst="chevron">
                <a:avLst>
                  <a:gd name="adj" fmla="val 50000"/>
                </a:avLst>
              </a:prstGeom>
              <a:gradFill>
                <a:gsLst>
                  <a:gs pos="0">
                    <a:srgbClr val="007295"/>
                  </a:gs>
                  <a:gs pos="16000">
                    <a:srgbClr val="007295"/>
                  </a:gs>
                  <a:gs pos="68000">
                    <a:schemeClr val="accent3"/>
                  </a:gs>
                  <a:gs pos="100000">
                    <a:schemeClr val="accent3"/>
                  </a:gs>
                </a:gsLst>
                <a:lin ang="18900044" scaled="0"/>
              </a:gradFill>
              <a:ln>
                <a:noFill/>
              </a:ln>
            </p:spPr>
            <p:txBody>
              <a:bodyPr spcFirstLastPara="1" wrap="square" lIns="91300" tIns="45650" rIns="91300" bIns="45650" anchor="ctr" anchorCtr="0">
                <a:noAutofit/>
              </a:bodyPr>
              <a:lstStyle/>
              <a:p>
                <a:pPr marL="0" marR="0" lvl="0" indent="0" algn="ctr" rtl="0">
                  <a:spcBef>
                    <a:spcPts val="0"/>
                  </a:spcBef>
                  <a:spcAft>
                    <a:spcPts val="0"/>
                  </a:spcAft>
                  <a:buNone/>
                </a:pPr>
                <a:endParaRPr sz="1200" b="1">
                  <a:solidFill>
                    <a:srgbClr val="FFFFFF"/>
                  </a:solidFill>
                  <a:latin typeface="Arial"/>
                  <a:ea typeface="Arial"/>
                  <a:cs typeface="Arial"/>
                  <a:sym typeface="Arial"/>
                </a:endParaRPr>
              </a:p>
            </p:txBody>
          </p:sp>
          <p:sp>
            <p:nvSpPr>
              <p:cNvPr id="9611" name="Google Shape;9611;p91"/>
              <p:cNvSpPr/>
              <p:nvPr/>
            </p:nvSpPr>
            <p:spPr>
              <a:xfrm>
                <a:off x="7533900" y="1603569"/>
                <a:ext cx="1825520" cy="649292"/>
              </a:xfrm>
              <a:prstGeom prst="chevron">
                <a:avLst>
                  <a:gd name="adj" fmla="val 50000"/>
                </a:avLst>
              </a:prstGeom>
              <a:gradFill>
                <a:gsLst>
                  <a:gs pos="0">
                    <a:srgbClr val="007295"/>
                  </a:gs>
                  <a:gs pos="16000">
                    <a:srgbClr val="007295"/>
                  </a:gs>
                  <a:gs pos="68000">
                    <a:schemeClr val="accent3"/>
                  </a:gs>
                  <a:gs pos="100000">
                    <a:schemeClr val="accent3"/>
                  </a:gs>
                </a:gsLst>
                <a:lin ang="18900044" scaled="0"/>
              </a:gradFill>
              <a:ln>
                <a:noFill/>
              </a:ln>
            </p:spPr>
            <p:txBody>
              <a:bodyPr spcFirstLastPara="1" wrap="square" lIns="91300" tIns="45650" rIns="91300" bIns="45650" anchor="ctr" anchorCtr="0">
                <a:noAutofit/>
              </a:bodyPr>
              <a:lstStyle/>
              <a:p>
                <a:pPr marL="0" marR="0" lvl="0" indent="0" algn="ctr" rtl="0">
                  <a:spcBef>
                    <a:spcPts val="0"/>
                  </a:spcBef>
                  <a:spcAft>
                    <a:spcPts val="0"/>
                  </a:spcAft>
                  <a:buNone/>
                </a:pPr>
                <a:endParaRPr sz="1200" b="1">
                  <a:solidFill>
                    <a:srgbClr val="FFFFFF"/>
                  </a:solidFill>
                  <a:latin typeface="Arial"/>
                  <a:ea typeface="Arial"/>
                  <a:cs typeface="Arial"/>
                  <a:sym typeface="Arial"/>
                </a:endParaRPr>
              </a:p>
            </p:txBody>
          </p:sp>
          <p:sp>
            <p:nvSpPr>
              <p:cNvPr id="9612" name="Google Shape;9612;p91"/>
              <p:cNvSpPr/>
              <p:nvPr/>
            </p:nvSpPr>
            <p:spPr>
              <a:xfrm>
                <a:off x="9247607" y="1603569"/>
                <a:ext cx="1539379" cy="649292"/>
              </a:xfrm>
              <a:prstGeom prst="chevron">
                <a:avLst>
                  <a:gd name="adj" fmla="val 50000"/>
                </a:avLst>
              </a:prstGeom>
              <a:gradFill>
                <a:gsLst>
                  <a:gs pos="0">
                    <a:srgbClr val="007295"/>
                  </a:gs>
                  <a:gs pos="16000">
                    <a:srgbClr val="007295"/>
                  </a:gs>
                  <a:gs pos="68000">
                    <a:schemeClr val="accent3"/>
                  </a:gs>
                  <a:gs pos="100000">
                    <a:schemeClr val="accent3"/>
                  </a:gs>
                </a:gsLst>
                <a:lin ang="18900044" scaled="0"/>
              </a:gradFill>
              <a:ln>
                <a:noFill/>
              </a:ln>
            </p:spPr>
            <p:txBody>
              <a:bodyPr spcFirstLastPara="1" wrap="square" lIns="91300" tIns="45650" rIns="91300" bIns="45650" anchor="ctr" anchorCtr="0">
                <a:noAutofit/>
              </a:bodyPr>
              <a:lstStyle/>
              <a:p>
                <a:pPr marL="0" marR="0" lvl="0" indent="0" algn="ctr" rtl="0">
                  <a:spcBef>
                    <a:spcPts val="0"/>
                  </a:spcBef>
                  <a:spcAft>
                    <a:spcPts val="0"/>
                  </a:spcAft>
                  <a:buNone/>
                </a:pPr>
                <a:endParaRPr sz="1200" b="1">
                  <a:solidFill>
                    <a:srgbClr val="FFFFFF"/>
                  </a:solidFill>
                  <a:latin typeface="Arial"/>
                  <a:ea typeface="Arial"/>
                  <a:cs typeface="Arial"/>
                  <a:sym typeface="Arial"/>
                </a:endParaRPr>
              </a:p>
            </p:txBody>
          </p:sp>
          <p:sp>
            <p:nvSpPr>
              <p:cNvPr id="9613" name="Google Shape;9613;p91"/>
              <p:cNvSpPr/>
              <p:nvPr/>
            </p:nvSpPr>
            <p:spPr>
              <a:xfrm>
                <a:off x="3417990" y="1603569"/>
                <a:ext cx="4227198" cy="649292"/>
              </a:xfrm>
              <a:prstGeom prst="chevron">
                <a:avLst>
                  <a:gd name="adj" fmla="val 50000"/>
                </a:avLst>
              </a:prstGeom>
              <a:gradFill>
                <a:gsLst>
                  <a:gs pos="0">
                    <a:srgbClr val="007295"/>
                  </a:gs>
                  <a:gs pos="16000">
                    <a:srgbClr val="007295"/>
                  </a:gs>
                  <a:gs pos="68000">
                    <a:schemeClr val="accent3"/>
                  </a:gs>
                  <a:gs pos="100000">
                    <a:schemeClr val="accent3"/>
                  </a:gs>
                </a:gsLst>
                <a:lin ang="18900044" scaled="0"/>
              </a:gradFill>
              <a:ln>
                <a:noFill/>
              </a:ln>
            </p:spPr>
            <p:txBody>
              <a:bodyPr spcFirstLastPara="1" wrap="square" lIns="91300" tIns="45650" rIns="91300" bIns="45650" anchor="ctr" anchorCtr="0">
                <a:noAutofit/>
              </a:bodyPr>
              <a:lstStyle/>
              <a:p>
                <a:pPr marL="0" marR="0" lvl="0" indent="0" algn="ctr" rtl="0">
                  <a:spcBef>
                    <a:spcPts val="0"/>
                  </a:spcBef>
                  <a:spcAft>
                    <a:spcPts val="0"/>
                  </a:spcAft>
                  <a:buNone/>
                </a:pPr>
                <a:endParaRPr sz="1200" b="1">
                  <a:solidFill>
                    <a:srgbClr val="FFFFFF"/>
                  </a:solidFill>
                  <a:latin typeface="Arial"/>
                  <a:ea typeface="Arial"/>
                  <a:cs typeface="Arial"/>
                  <a:sym typeface="Arial"/>
                </a:endParaRPr>
              </a:p>
            </p:txBody>
          </p:sp>
        </p:grpSp>
        <p:sp>
          <p:nvSpPr>
            <p:cNvPr id="9614" name="Google Shape;9614;p91"/>
            <p:cNvSpPr txBox="1"/>
            <p:nvPr/>
          </p:nvSpPr>
          <p:spPr>
            <a:xfrm>
              <a:off x="2113420" y="1603569"/>
              <a:ext cx="1201507" cy="649292"/>
            </a:xfrm>
            <a:prstGeom prst="rect">
              <a:avLst/>
            </a:prstGeom>
            <a:noFill/>
            <a:ln>
              <a:noFill/>
            </a:ln>
          </p:spPr>
          <p:txBody>
            <a:bodyPr spcFirstLastPara="1" wrap="square" lIns="47975" tIns="15975" rIns="15975" bIns="15975" anchor="ctr" anchorCtr="0">
              <a:noAutofit/>
            </a:bodyPr>
            <a:lstStyle/>
            <a:p>
              <a:pPr marL="0" marR="0" lvl="0" indent="0" algn="ctr" rtl="0">
                <a:lnSpc>
                  <a:spcPct val="9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90 Days</a:t>
              </a:r>
              <a:endParaRPr sz="1200">
                <a:solidFill>
                  <a:srgbClr val="000000"/>
                </a:solidFill>
                <a:latin typeface="Arial"/>
                <a:ea typeface="Arial"/>
                <a:cs typeface="Arial"/>
                <a:sym typeface="Arial"/>
              </a:endParaRPr>
            </a:p>
            <a:p>
              <a:pPr marL="0" marR="0" lvl="0" indent="0" algn="ctr" rtl="0">
                <a:lnSpc>
                  <a:spcPct val="90000"/>
                </a:lnSpc>
                <a:spcBef>
                  <a:spcPts val="400"/>
                </a:spcBef>
                <a:spcAft>
                  <a:spcPts val="0"/>
                </a:spcAft>
                <a:buClr>
                  <a:schemeClr val="lt1"/>
                </a:buClr>
                <a:buSzPts val="1200"/>
                <a:buFont typeface="Arial"/>
                <a:buNone/>
              </a:pPr>
              <a:r>
                <a:rPr lang="en-US" sz="1200">
                  <a:solidFill>
                    <a:schemeClr val="lt1"/>
                  </a:solidFill>
                  <a:latin typeface="Arial"/>
                  <a:ea typeface="Arial"/>
                  <a:cs typeface="Arial"/>
                  <a:sym typeface="Arial"/>
                </a:rPr>
                <a:t>Evaluation</a:t>
              </a:r>
              <a:endParaRPr sz="1200">
                <a:solidFill>
                  <a:srgbClr val="000000"/>
                </a:solidFill>
                <a:latin typeface="Arial"/>
                <a:ea typeface="Arial"/>
                <a:cs typeface="Arial"/>
                <a:sym typeface="Arial"/>
              </a:endParaRPr>
            </a:p>
          </p:txBody>
        </p:sp>
        <p:sp>
          <p:nvSpPr>
            <p:cNvPr id="9615" name="Google Shape;9615;p91"/>
            <p:cNvSpPr txBox="1"/>
            <p:nvPr/>
          </p:nvSpPr>
          <p:spPr>
            <a:xfrm>
              <a:off x="7832378" y="1603569"/>
              <a:ext cx="1199407" cy="649292"/>
            </a:xfrm>
            <a:prstGeom prst="rect">
              <a:avLst/>
            </a:prstGeom>
            <a:noFill/>
            <a:ln>
              <a:noFill/>
            </a:ln>
          </p:spPr>
          <p:txBody>
            <a:bodyPr spcFirstLastPara="1" wrap="square" lIns="47975" tIns="15975" rIns="15975" bIns="15975" anchor="ctr" anchorCtr="0">
              <a:noAutofit/>
            </a:bodyPr>
            <a:lstStyle/>
            <a:p>
              <a:pPr marL="0" marR="0" lvl="0" indent="0" algn="ctr" rtl="0">
                <a:lnSpc>
                  <a:spcPct val="9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90 Days</a:t>
              </a:r>
              <a:endParaRPr sz="1466">
                <a:solidFill>
                  <a:srgbClr val="000000"/>
                </a:solidFill>
                <a:latin typeface="Arial"/>
                <a:ea typeface="Arial"/>
                <a:cs typeface="Arial"/>
                <a:sym typeface="Arial"/>
              </a:endParaRPr>
            </a:p>
            <a:p>
              <a:pPr marL="0" marR="0" lvl="0" indent="0" algn="ctr" rtl="0">
                <a:lnSpc>
                  <a:spcPct val="90000"/>
                </a:lnSpc>
                <a:spcBef>
                  <a:spcPts val="400"/>
                </a:spcBef>
                <a:spcAft>
                  <a:spcPts val="0"/>
                </a:spcAft>
                <a:buClr>
                  <a:schemeClr val="lt1"/>
                </a:buClr>
                <a:buSzPts val="1200"/>
                <a:buFont typeface="Arial"/>
                <a:buNone/>
              </a:pPr>
              <a:r>
                <a:rPr lang="en-US" sz="1200">
                  <a:solidFill>
                    <a:schemeClr val="lt1"/>
                  </a:solidFill>
                  <a:latin typeface="Arial"/>
                  <a:ea typeface="Arial"/>
                  <a:cs typeface="Arial"/>
                  <a:sym typeface="Arial"/>
                </a:rPr>
                <a:t>Grace Period</a:t>
              </a:r>
              <a:endParaRPr sz="1466">
                <a:solidFill>
                  <a:srgbClr val="000000"/>
                </a:solidFill>
                <a:latin typeface="Arial"/>
                <a:ea typeface="Arial"/>
                <a:cs typeface="Arial"/>
                <a:sym typeface="Arial"/>
              </a:endParaRPr>
            </a:p>
          </p:txBody>
        </p:sp>
        <p:sp>
          <p:nvSpPr>
            <p:cNvPr id="9616" name="Google Shape;9616;p91"/>
            <p:cNvSpPr txBox="1"/>
            <p:nvPr/>
          </p:nvSpPr>
          <p:spPr>
            <a:xfrm>
              <a:off x="3788230" y="1603569"/>
              <a:ext cx="3166086" cy="649292"/>
            </a:xfrm>
            <a:prstGeom prst="rect">
              <a:avLst/>
            </a:prstGeom>
            <a:noFill/>
            <a:ln>
              <a:noFill/>
            </a:ln>
          </p:spPr>
          <p:txBody>
            <a:bodyPr spcFirstLastPara="1" wrap="square" lIns="47975" tIns="15975" rIns="15975" bIns="15975" anchor="ctr" anchorCtr="0">
              <a:noAutofit/>
            </a:bodyPr>
            <a:lstStyle/>
            <a:p>
              <a:pPr marL="0" marR="0" lvl="0" indent="0" algn="ctr" rtl="0">
                <a:lnSpc>
                  <a:spcPct val="9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1-5 Years</a:t>
              </a:r>
              <a:endParaRPr sz="1466">
                <a:solidFill>
                  <a:srgbClr val="000000"/>
                </a:solidFill>
                <a:latin typeface="Arial"/>
                <a:ea typeface="Arial"/>
                <a:cs typeface="Arial"/>
                <a:sym typeface="Arial"/>
              </a:endParaRPr>
            </a:p>
            <a:p>
              <a:pPr marL="0" marR="0" lvl="0" indent="0" algn="ctr" rtl="0">
                <a:lnSpc>
                  <a:spcPct val="90000"/>
                </a:lnSpc>
                <a:spcBef>
                  <a:spcPts val="400"/>
                </a:spcBef>
                <a:spcAft>
                  <a:spcPts val="0"/>
                </a:spcAft>
                <a:buClr>
                  <a:schemeClr val="lt1"/>
                </a:buClr>
                <a:buSzPts val="1200"/>
                <a:buFont typeface="Arial"/>
                <a:buNone/>
              </a:pPr>
              <a:r>
                <a:rPr lang="en-US" sz="1200">
                  <a:solidFill>
                    <a:schemeClr val="lt1"/>
                  </a:solidFill>
                  <a:latin typeface="Arial"/>
                  <a:ea typeface="Arial"/>
                  <a:cs typeface="Arial"/>
                  <a:sym typeface="Arial"/>
                </a:rPr>
                <a:t>Subscription Active</a:t>
              </a:r>
              <a:endParaRPr sz="1466">
                <a:solidFill>
                  <a:srgbClr val="000000"/>
                </a:solidFill>
                <a:latin typeface="Arial"/>
                <a:ea typeface="Arial"/>
                <a:cs typeface="Arial"/>
                <a:sym typeface="Arial"/>
              </a:endParaRPr>
            </a:p>
          </p:txBody>
        </p:sp>
        <p:sp>
          <p:nvSpPr>
            <p:cNvPr id="9617" name="Google Shape;9617;p91"/>
            <p:cNvSpPr txBox="1"/>
            <p:nvPr/>
          </p:nvSpPr>
          <p:spPr>
            <a:xfrm>
              <a:off x="9587243" y="1603569"/>
              <a:ext cx="912906" cy="649292"/>
            </a:xfrm>
            <a:prstGeom prst="rect">
              <a:avLst/>
            </a:prstGeom>
            <a:noFill/>
            <a:ln>
              <a:noFill/>
            </a:ln>
          </p:spPr>
          <p:txBody>
            <a:bodyPr spcFirstLastPara="1" wrap="square" lIns="47975" tIns="15975" rIns="15975" bIns="15975" anchor="ctr" anchorCtr="0">
              <a:noAutofit/>
            </a:bodyPr>
            <a:lstStyle/>
            <a:p>
              <a:pPr marL="0" marR="0" lvl="0" indent="0" algn="ctr" rtl="0">
                <a:lnSpc>
                  <a:spcPct val="9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Expiration Behavior</a:t>
              </a:r>
              <a:endParaRPr sz="1466">
                <a:solidFill>
                  <a:srgbClr val="000000"/>
                </a:solidFill>
                <a:latin typeface="Arial"/>
                <a:ea typeface="Arial"/>
                <a:cs typeface="Arial"/>
                <a:sym typeface="Arial"/>
              </a:endParaRPr>
            </a:p>
          </p:txBody>
        </p:sp>
        <p:sp>
          <p:nvSpPr>
            <p:cNvPr id="9618" name="Google Shape;9618;p91"/>
            <p:cNvSpPr/>
            <p:nvPr/>
          </p:nvSpPr>
          <p:spPr>
            <a:xfrm>
              <a:off x="963294" y="2249186"/>
              <a:ext cx="81179" cy="26871"/>
            </a:xfrm>
            <a:prstGeom prst="rect">
              <a:avLst/>
            </a:prstGeom>
            <a:solidFill>
              <a:schemeClr val="lt1"/>
            </a:solidFill>
            <a:ln>
              <a:noFill/>
            </a:ln>
          </p:spPr>
          <p:txBody>
            <a:bodyPr spcFirstLastPara="1" wrap="square" lIns="91400" tIns="45675" rIns="91400" bIns="45675" anchor="ctr" anchorCtr="0">
              <a:noAutofit/>
            </a:bodyPr>
            <a:lstStyle/>
            <a:p>
              <a:pPr marL="0" marR="0" lvl="0" indent="0" algn="ctr"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sp>
          <p:nvSpPr>
            <p:cNvPr id="9619" name="Google Shape;9619;p91"/>
            <p:cNvSpPr/>
            <p:nvPr/>
          </p:nvSpPr>
          <p:spPr>
            <a:xfrm>
              <a:off x="9123654" y="2258288"/>
              <a:ext cx="225541" cy="26871"/>
            </a:xfrm>
            <a:prstGeom prst="rect">
              <a:avLst/>
            </a:prstGeom>
            <a:solidFill>
              <a:schemeClr val="lt1"/>
            </a:solidFill>
            <a:ln>
              <a:noFill/>
            </a:ln>
          </p:spPr>
          <p:txBody>
            <a:bodyPr spcFirstLastPara="1" wrap="square" lIns="91400" tIns="45675" rIns="91400" bIns="45675" anchor="ctr" anchorCtr="0">
              <a:noAutofit/>
            </a:bodyPr>
            <a:lstStyle/>
            <a:p>
              <a:pPr marL="0" marR="0" lvl="0" indent="0" algn="ctr"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sp>
          <p:nvSpPr>
            <p:cNvPr id="9620" name="Google Shape;9620;p91"/>
            <p:cNvSpPr/>
            <p:nvPr/>
          </p:nvSpPr>
          <p:spPr>
            <a:xfrm rot="5400000">
              <a:off x="6805783" y="696922"/>
              <a:ext cx="172293" cy="1387050"/>
            </a:xfrm>
            <a:prstGeom prst="leftBrace">
              <a:avLst>
                <a:gd name="adj1" fmla="val 8333"/>
                <a:gd name="adj2" fmla="val 49605"/>
              </a:avLst>
            </a:prstGeom>
            <a:noFill/>
            <a:ln w="9525" cap="flat" cmpd="sng">
              <a:solidFill>
                <a:srgbClr val="007A8B"/>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rtl="0">
                <a:spcBef>
                  <a:spcPts val="0"/>
                </a:spcBef>
                <a:spcAft>
                  <a:spcPts val="0"/>
                </a:spcAft>
                <a:buClr>
                  <a:schemeClr val="dk1"/>
                </a:buClr>
                <a:buSzPts val="1466"/>
                <a:buFont typeface="Arial"/>
                <a:buNone/>
              </a:pPr>
              <a:endParaRPr sz="1466">
                <a:solidFill>
                  <a:schemeClr val="dk1"/>
                </a:solidFill>
                <a:latin typeface="Arial"/>
                <a:ea typeface="Arial"/>
                <a:cs typeface="Arial"/>
                <a:sym typeface="Arial"/>
              </a:endParaRPr>
            </a:p>
          </p:txBody>
        </p:sp>
        <p:sp>
          <p:nvSpPr>
            <p:cNvPr id="9621" name="Google Shape;9621;p91"/>
            <p:cNvSpPr txBox="1"/>
            <p:nvPr/>
          </p:nvSpPr>
          <p:spPr>
            <a:xfrm>
              <a:off x="6509558" y="981004"/>
              <a:ext cx="786195" cy="369252"/>
            </a:xfrm>
            <a:prstGeom prst="rect">
              <a:avLst/>
            </a:prstGeom>
            <a:noFill/>
            <a:ln>
              <a:noFill/>
            </a:ln>
          </p:spPr>
          <p:txBody>
            <a:bodyPr spcFirstLastPara="1" wrap="square" lIns="91400" tIns="91400" rIns="91400" bIns="91400" anchor="t" anchorCtr="0">
              <a:spAutoFit/>
            </a:bodyPr>
            <a:lstStyle/>
            <a:p>
              <a:pPr marL="0" marR="0" lvl="0" indent="0" algn="ctr"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Renewal</a:t>
              </a:r>
              <a:endParaRPr sz="12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626"/>
        <p:cNvGrpSpPr/>
        <p:nvPr/>
      </p:nvGrpSpPr>
      <p:grpSpPr>
        <a:xfrm>
          <a:off x="0" y="0"/>
          <a:ext cx="0" cy="0"/>
          <a:chOff x="0" y="0"/>
          <a:chExt cx="0" cy="0"/>
        </a:xfrm>
      </p:grpSpPr>
      <p:sp>
        <p:nvSpPr>
          <p:cNvPr id="9627" name="Google Shape;9627;p92"/>
          <p:cNvSpPr/>
          <p:nvPr/>
        </p:nvSpPr>
        <p:spPr>
          <a:xfrm>
            <a:off x="6798011" y="3570093"/>
            <a:ext cx="2514600" cy="877226"/>
          </a:xfrm>
          <a:prstGeom prst="arc">
            <a:avLst>
              <a:gd name="adj1" fmla="val 10369057"/>
              <a:gd name="adj2" fmla="val 257029"/>
            </a:avLst>
          </a:prstGeom>
          <a:noFill/>
          <a:ln w="9525" cap="flat" cmpd="sng">
            <a:solidFill>
              <a:srgbClr val="007A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9628" name="Google Shape;9628;p92"/>
          <p:cNvSpPr/>
          <p:nvPr/>
        </p:nvSpPr>
        <p:spPr>
          <a:xfrm>
            <a:off x="2890044" y="3591864"/>
            <a:ext cx="2514600" cy="877226"/>
          </a:xfrm>
          <a:prstGeom prst="arc">
            <a:avLst>
              <a:gd name="adj1" fmla="val 10369057"/>
              <a:gd name="adj2" fmla="val 257029"/>
            </a:avLst>
          </a:prstGeom>
          <a:noFill/>
          <a:ln w="9525" cap="flat" cmpd="sng">
            <a:solidFill>
              <a:srgbClr val="007A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9629" name="Google Shape;9629;p92"/>
          <p:cNvSpPr txBox="1">
            <a:spLocks noGrp="1"/>
          </p:cNvSpPr>
          <p:nvPr>
            <p:ph type="title"/>
          </p:nvPr>
        </p:nvSpPr>
        <p:spPr>
          <a:xfrm>
            <a:off x="579809" y="412751"/>
            <a:ext cx="11001134" cy="381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800"/>
              <a:buNone/>
            </a:pPr>
            <a:r>
              <a:rPr lang="en-US"/>
              <a:t>Licensing Considerations for Upgrading to VCF 9</a:t>
            </a:r>
            <a:endParaRPr/>
          </a:p>
        </p:txBody>
      </p:sp>
      <p:sp>
        <p:nvSpPr>
          <p:cNvPr id="9630" name="Google Shape;9630;p92"/>
          <p:cNvSpPr txBox="1">
            <a:spLocks noGrp="1"/>
          </p:cNvSpPr>
          <p:nvPr>
            <p:ph type="subTitle" idx="1"/>
          </p:nvPr>
        </p:nvSpPr>
        <p:spPr>
          <a:xfrm>
            <a:off x="592865" y="811831"/>
            <a:ext cx="10987938" cy="248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VCF Licensing</a:t>
            </a:r>
            <a:endParaRPr/>
          </a:p>
        </p:txBody>
      </p:sp>
      <p:sp>
        <p:nvSpPr>
          <p:cNvPr id="9631" name="Google Shape;9631;p92"/>
          <p:cNvSpPr txBox="1">
            <a:spLocks noGrp="1"/>
          </p:cNvSpPr>
          <p:nvPr>
            <p:ph type="body" idx="2"/>
          </p:nvPr>
        </p:nvSpPr>
        <p:spPr>
          <a:xfrm>
            <a:off x="616505" y="1600201"/>
            <a:ext cx="10972742" cy="4572000"/>
          </a:xfrm>
          <a:prstGeom prst="rect">
            <a:avLst/>
          </a:prstGeom>
          <a:noFill/>
          <a:ln>
            <a:noFill/>
          </a:ln>
        </p:spPr>
        <p:txBody>
          <a:bodyPr spcFirstLastPara="1" wrap="square" lIns="0" tIns="0" rIns="0" bIns="0" anchor="t" anchorCtr="0">
            <a:noAutofit/>
          </a:bodyPr>
          <a:lstStyle/>
          <a:p>
            <a:pPr marL="457200" lvl="0" indent="-342900" algn="l" rtl="0">
              <a:lnSpc>
                <a:spcPct val="100000"/>
              </a:lnSpc>
              <a:spcBef>
                <a:spcPts val="0"/>
              </a:spcBef>
              <a:spcAft>
                <a:spcPts val="0"/>
              </a:spcAft>
              <a:buSzPts val="1800"/>
              <a:buChar char="​"/>
            </a:pPr>
            <a:r>
              <a:rPr lang="en-US"/>
              <a:t>On upgrade to VCF 9</a:t>
            </a:r>
            <a:endParaRPr/>
          </a:p>
          <a:p>
            <a:pPr marL="914400" lvl="1" indent="-331469" algn="l" rtl="0">
              <a:lnSpc>
                <a:spcPct val="100000"/>
              </a:lnSpc>
              <a:spcBef>
                <a:spcPts val="600"/>
              </a:spcBef>
              <a:spcAft>
                <a:spcPts val="0"/>
              </a:spcAft>
              <a:buSzPts val="1620"/>
              <a:buChar char="•"/>
            </a:pPr>
            <a:r>
              <a:rPr lang="en-US">
                <a:solidFill>
                  <a:schemeClr val="accent2"/>
                </a:solidFill>
              </a:rPr>
              <a:t>VCF 5.2.x licenses automatically reset to ‘evaluation mode’ following upgrade</a:t>
            </a:r>
            <a:endParaRPr/>
          </a:p>
          <a:p>
            <a:pPr marL="914400" lvl="1" indent="-331469" algn="l" rtl="0">
              <a:lnSpc>
                <a:spcPct val="100000"/>
              </a:lnSpc>
              <a:spcBef>
                <a:spcPts val="600"/>
              </a:spcBef>
              <a:spcAft>
                <a:spcPts val="0"/>
              </a:spcAft>
              <a:buSzPts val="1620"/>
              <a:buChar char="•"/>
            </a:pPr>
            <a:r>
              <a:rPr lang="en-US">
                <a:solidFill>
                  <a:schemeClr val="accent2"/>
                </a:solidFill>
              </a:rPr>
              <a:t>Use VCF Operations to activate VCF 9 licenses</a:t>
            </a:r>
            <a:endParaRPr/>
          </a:p>
          <a:p>
            <a:pPr marL="457200" lvl="0" indent="-228600" algn="l" rtl="0">
              <a:lnSpc>
                <a:spcPct val="100000"/>
              </a:lnSpc>
              <a:spcBef>
                <a:spcPts val="0"/>
              </a:spcBef>
              <a:spcAft>
                <a:spcPts val="0"/>
              </a:spcAft>
              <a:buSzPts val="1800"/>
              <a:buNone/>
            </a:pPr>
            <a:endParaRPr/>
          </a:p>
        </p:txBody>
      </p:sp>
      <p:cxnSp>
        <p:nvCxnSpPr>
          <p:cNvPr id="9632" name="Google Shape;9632;p92"/>
          <p:cNvCxnSpPr/>
          <p:nvPr/>
        </p:nvCxnSpPr>
        <p:spPr>
          <a:xfrm>
            <a:off x="1164771" y="4397831"/>
            <a:ext cx="9938658" cy="0"/>
          </a:xfrm>
          <a:prstGeom prst="straightConnector1">
            <a:avLst/>
          </a:prstGeom>
          <a:noFill/>
          <a:ln w="38100" cap="flat" cmpd="sng">
            <a:solidFill>
              <a:srgbClr val="ECFCFF"/>
            </a:solidFill>
            <a:prstDash val="solid"/>
            <a:round/>
            <a:headEnd type="none" w="sm" len="sm"/>
            <a:tailEnd type="none" w="sm" len="sm"/>
          </a:ln>
        </p:spPr>
      </p:cxnSp>
      <p:sp>
        <p:nvSpPr>
          <p:cNvPr id="9633" name="Google Shape;9633;p92"/>
          <p:cNvSpPr/>
          <p:nvPr/>
        </p:nvSpPr>
        <p:spPr>
          <a:xfrm>
            <a:off x="1458686" y="4016339"/>
            <a:ext cx="1937657" cy="806035"/>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Arial"/>
                <a:ea typeface="Arial"/>
                <a:cs typeface="Arial"/>
                <a:sym typeface="Arial"/>
              </a:rPr>
              <a:t>VVF / VCF licensed w/ Solution Keys</a:t>
            </a:r>
            <a:endParaRPr/>
          </a:p>
        </p:txBody>
      </p:sp>
      <p:sp>
        <p:nvSpPr>
          <p:cNvPr id="9634" name="Google Shape;9634;p92"/>
          <p:cNvSpPr/>
          <p:nvPr/>
        </p:nvSpPr>
        <p:spPr>
          <a:xfrm>
            <a:off x="5137831" y="3990051"/>
            <a:ext cx="1937657" cy="806035"/>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Arial"/>
                <a:ea typeface="Arial"/>
                <a:cs typeface="Arial"/>
                <a:sym typeface="Arial"/>
              </a:rPr>
              <a:t>VVF / VCF licensed switched to </a:t>
            </a:r>
            <a:r>
              <a:rPr lang="en-US" sz="1200" b="1">
                <a:solidFill>
                  <a:schemeClr val="lt1"/>
                </a:solidFill>
                <a:latin typeface="Arial"/>
                <a:ea typeface="Arial"/>
                <a:cs typeface="Arial"/>
                <a:sym typeface="Arial"/>
              </a:rPr>
              <a:t>eval mode</a:t>
            </a:r>
            <a:endParaRPr/>
          </a:p>
        </p:txBody>
      </p:sp>
      <p:sp>
        <p:nvSpPr>
          <p:cNvPr id="9635" name="Google Shape;9635;p92"/>
          <p:cNvSpPr/>
          <p:nvPr/>
        </p:nvSpPr>
        <p:spPr>
          <a:xfrm>
            <a:off x="8816977" y="3990051"/>
            <a:ext cx="1937657" cy="806035"/>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Arial"/>
                <a:ea typeface="Arial"/>
                <a:cs typeface="Arial"/>
                <a:sym typeface="Arial"/>
              </a:rPr>
              <a:t>VVF / VCF licensed w/ Solution Keys</a:t>
            </a:r>
            <a:endParaRPr/>
          </a:p>
        </p:txBody>
      </p:sp>
      <p:cxnSp>
        <p:nvCxnSpPr>
          <p:cNvPr id="9636" name="Google Shape;9636;p92"/>
          <p:cNvCxnSpPr/>
          <p:nvPr/>
        </p:nvCxnSpPr>
        <p:spPr>
          <a:xfrm>
            <a:off x="1164771" y="5408388"/>
            <a:ext cx="9934368" cy="0"/>
          </a:xfrm>
          <a:prstGeom prst="straightConnector1">
            <a:avLst/>
          </a:prstGeom>
          <a:noFill/>
          <a:ln w="50800" cap="flat" cmpd="sng">
            <a:solidFill>
              <a:schemeClr val="accent2"/>
            </a:solidFill>
            <a:prstDash val="solid"/>
            <a:round/>
            <a:headEnd type="none" w="sm" len="sm"/>
            <a:tailEnd type="triangle" w="med" len="med"/>
          </a:ln>
        </p:spPr>
      </p:cxnSp>
      <p:sp>
        <p:nvSpPr>
          <p:cNvPr id="9637" name="Google Shape;9637;p92"/>
          <p:cNvSpPr txBox="1"/>
          <p:nvPr/>
        </p:nvSpPr>
        <p:spPr>
          <a:xfrm>
            <a:off x="5517895" y="5416492"/>
            <a:ext cx="116891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i="1">
                <a:solidFill>
                  <a:schemeClr val="dk1"/>
                </a:solidFill>
                <a:latin typeface="Arial"/>
                <a:ea typeface="Arial"/>
                <a:cs typeface="Arial"/>
                <a:sym typeface="Arial"/>
              </a:rPr>
              <a:t>Upgrade</a:t>
            </a:r>
            <a:endParaRPr/>
          </a:p>
        </p:txBody>
      </p:sp>
      <p:sp>
        <p:nvSpPr>
          <p:cNvPr id="9638" name="Google Shape;9638;p92"/>
          <p:cNvSpPr txBox="1"/>
          <p:nvPr/>
        </p:nvSpPr>
        <p:spPr>
          <a:xfrm>
            <a:off x="1330899" y="5426569"/>
            <a:ext cx="219322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i="1">
                <a:solidFill>
                  <a:schemeClr val="dk1"/>
                </a:solidFill>
                <a:latin typeface="Arial"/>
                <a:ea typeface="Arial"/>
                <a:cs typeface="Arial"/>
                <a:sym typeface="Arial"/>
              </a:rPr>
              <a:t>Begin:  VCF 5.2.x</a:t>
            </a:r>
            <a:endParaRPr/>
          </a:p>
        </p:txBody>
      </p:sp>
      <p:sp>
        <p:nvSpPr>
          <p:cNvPr id="9639" name="Google Shape;9639;p92"/>
          <p:cNvSpPr txBox="1"/>
          <p:nvPr/>
        </p:nvSpPr>
        <p:spPr>
          <a:xfrm>
            <a:off x="9030630" y="5426569"/>
            <a:ext cx="151035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i="1">
                <a:solidFill>
                  <a:schemeClr val="dk1"/>
                </a:solidFill>
                <a:latin typeface="Arial"/>
                <a:ea typeface="Arial"/>
                <a:cs typeface="Arial"/>
                <a:sym typeface="Arial"/>
              </a:rPr>
              <a:t>End: VCF 9</a:t>
            </a:r>
            <a:endParaRPr/>
          </a:p>
        </p:txBody>
      </p:sp>
      <p:sp>
        <p:nvSpPr>
          <p:cNvPr id="9640" name="Google Shape;9640;p92"/>
          <p:cNvSpPr txBox="1"/>
          <p:nvPr/>
        </p:nvSpPr>
        <p:spPr>
          <a:xfrm>
            <a:off x="3265532" y="3075769"/>
            <a:ext cx="1763624"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7F7F7F"/>
                </a:solidFill>
                <a:latin typeface="Arial"/>
                <a:ea typeface="Arial"/>
                <a:cs typeface="Arial"/>
                <a:sym typeface="Arial"/>
              </a:rPr>
              <a:t>Upgrade to VCF 9 and </a:t>
            </a:r>
            <a:endParaRPr/>
          </a:p>
          <a:p>
            <a:pPr marL="0" marR="0" lvl="0" indent="0" algn="ctr" rtl="0">
              <a:spcBef>
                <a:spcPts val="0"/>
              </a:spcBef>
              <a:spcAft>
                <a:spcPts val="0"/>
              </a:spcAft>
              <a:buNone/>
            </a:pPr>
            <a:r>
              <a:rPr lang="en-US" sz="1200">
                <a:solidFill>
                  <a:srgbClr val="7F7F7F"/>
                </a:solidFill>
                <a:latin typeface="Arial"/>
                <a:ea typeface="Arial"/>
                <a:cs typeface="Arial"/>
                <a:sym typeface="Arial"/>
              </a:rPr>
              <a:t>license resets to eval</a:t>
            </a:r>
            <a:endParaRPr/>
          </a:p>
        </p:txBody>
      </p:sp>
      <p:sp>
        <p:nvSpPr>
          <p:cNvPr id="9641" name="Google Shape;9641;p92"/>
          <p:cNvSpPr txBox="1"/>
          <p:nvPr/>
        </p:nvSpPr>
        <p:spPr>
          <a:xfrm>
            <a:off x="7075488" y="3027625"/>
            <a:ext cx="207621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7F7F7F"/>
                </a:solidFill>
                <a:latin typeface="Arial"/>
                <a:ea typeface="Arial"/>
                <a:cs typeface="Arial"/>
                <a:sym typeface="Arial"/>
              </a:rPr>
              <a:t>New VCF 9 License applied</a:t>
            </a:r>
            <a:endParaRPr/>
          </a:p>
          <a:p>
            <a:pPr marL="0" marR="0" lvl="0" indent="0" algn="ctr" rtl="0">
              <a:spcBef>
                <a:spcPts val="0"/>
              </a:spcBef>
              <a:spcAft>
                <a:spcPts val="0"/>
              </a:spcAft>
              <a:buNone/>
            </a:pPr>
            <a:r>
              <a:rPr lang="en-US" sz="1200">
                <a:solidFill>
                  <a:srgbClr val="7F7F7F"/>
                </a:solidFill>
                <a:latin typeface="Arial"/>
                <a:ea typeface="Arial"/>
                <a:cs typeface="Arial"/>
                <a:sym typeface="Arial"/>
              </a:rPr>
              <a:t> in VCF Operations</a:t>
            </a:r>
            <a:endParaRPr/>
          </a:p>
        </p:txBody>
      </p:sp>
      <p:cxnSp>
        <p:nvCxnSpPr>
          <p:cNvPr id="9642" name="Google Shape;9642;p92"/>
          <p:cNvCxnSpPr/>
          <p:nvPr/>
        </p:nvCxnSpPr>
        <p:spPr>
          <a:xfrm>
            <a:off x="5137831" y="4909459"/>
            <a:ext cx="1937657" cy="0"/>
          </a:xfrm>
          <a:prstGeom prst="straightConnector1">
            <a:avLst/>
          </a:prstGeom>
          <a:noFill/>
          <a:ln w="9525" cap="flat" cmpd="sng">
            <a:solidFill>
              <a:srgbClr val="777777"/>
            </a:solidFill>
            <a:prstDash val="solid"/>
            <a:round/>
            <a:headEnd type="none" w="sm" len="sm"/>
            <a:tailEnd type="triangle" w="med" len="med"/>
          </a:ln>
        </p:spPr>
      </p:cxnSp>
      <p:sp>
        <p:nvSpPr>
          <p:cNvPr id="9643" name="Google Shape;9643;p92"/>
          <p:cNvSpPr txBox="1"/>
          <p:nvPr/>
        </p:nvSpPr>
        <p:spPr>
          <a:xfrm>
            <a:off x="5635395" y="4949962"/>
            <a:ext cx="9765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i="1">
                <a:solidFill>
                  <a:srgbClr val="777777"/>
                </a:solidFill>
                <a:latin typeface="Arial"/>
                <a:ea typeface="Arial"/>
                <a:cs typeface="Arial"/>
                <a:sym typeface="Arial"/>
              </a:rPr>
              <a:t>90-day eval</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648"/>
        <p:cNvGrpSpPr/>
        <p:nvPr/>
      </p:nvGrpSpPr>
      <p:grpSpPr>
        <a:xfrm>
          <a:off x="0" y="0"/>
          <a:ext cx="0" cy="0"/>
          <a:chOff x="0" y="0"/>
          <a:chExt cx="0" cy="0"/>
        </a:xfrm>
      </p:grpSpPr>
      <p:sp>
        <p:nvSpPr>
          <p:cNvPr id="9649" name="Google Shape;9649;p93"/>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Advanced Services</a:t>
            </a:r>
            <a:endParaRPr/>
          </a:p>
        </p:txBody>
      </p:sp>
      <p:sp>
        <p:nvSpPr>
          <p:cNvPr id="9650" name="Google Shape;9650;p93"/>
          <p:cNvSpPr txBox="1">
            <a:spLocks noGrp="1"/>
          </p:cNvSpPr>
          <p:nvPr>
            <p:ph type="subTitle" idx="1"/>
          </p:nvPr>
        </p:nvSpPr>
        <p:spPr>
          <a:xfrm>
            <a:off x="602966" y="2267712"/>
            <a:ext cx="6542112" cy="700882"/>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16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655"/>
        <p:cNvGrpSpPr/>
        <p:nvPr/>
      </p:nvGrpSpPr>
      <p:grpSpPr>
        <a:xfrm>
          <a:off x="0" y="0"/>
          <a:ext cx="0" cy="0"/>
          <a:chOff x="0" y="0"/>
          <a:chExt cx="0" cy="0"/>
        </a:xfrm>
      </p:grpSpPr>
      <p:grpSp>
        <p:nvGrpSpPr>
          <p:cNvPr id="9656" name="Google Shape;9656;p94"/>
          <p:cNvGrpSpPr/>
          <p:nvPr/>
        </p:nvGrpSpPr>
        <p:grpSpPr>
          <a:xfrm>
            <a:off x="2631055" y="2194796"/>
            <a:ext cx="6926717" cy="3705254"/>
            <a:chOff x="2475853" y="2194473"/>
            <a:chExt cx="6928522" cy="3706219"/>
          </a:xfrm>
        </p:grpSpPr>
        <p:sp>
          <p:nvSpPr>
            <p:cNvPr id="9657" name="Google Shape;9657;p94"/>
            <p:cNvSpPr/>
            <p:nvPr/>
          </p:nvSpPr>
          <p:spPr>
            <a:xfrm>
              <a:off x="2680703" y="5337688"/>
              <a:ext cx="6518700" cy="519300"/>
            </a:xfrm>
            <a:prstGeom prst="round2SameRect">
              <a:avLst>
                <a:gd name="adj1" fmla="val 47157"/>
                <a:gd name="adj2" fmla="val 0"/>
              </a:avLst>
            </a:prstGeom>
            <a:gradFill>
              <a:gsLst>
                <a:gs pos="0">
                  <a:srgbClr val="6C4B8F"/>
                </a:gs>
                <a:gs pos="100000">
                  <a:srgbClr val="005B84"/>
                </a:gs>
              </a:gsLst>
              <a:lin ang="0" scaled="0"/>
            </a:gradFill>
            <a:ln>
              <a:noFill/>
            </a:ln>
          </p:spPr>
          <p:txBody>
            <a:bodyPr spcFirstLastPara="1" wrap="square" lIns="91400" tIns="45675" rIns="91400" bIns="45675"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9658" name="Google Shape;9658;p94"/>
            <p:cNvSpPr/>
            <p:nvPr/>
          </p:nvSpPr>
          <p:spPr>
            <a:xfrm>
              <a:off x="2680703" y="3912163"/>
              <a:ext cx="6518700" cy="1377000"/>
            </a:xfrm>
            <a:prstGeom prst="round2SameRect">
              <a:avLst>
                <a:gd name="adj1" fmla="val 0"/>
                <a:gd name="adj2" fmla="val 16384"/>
              </a:avLst>
            </a:prstGeom>
            <a:gradFill>
              <a:gsLst>
                <a:gs pos="0">
                  <a:schemeClr val="accent5"/>
                </a:gs>
                <a:gs pos="21000">
                  <a:schemeClr val="accent5"/>
                </a:gs>
                <a:gs pos="100000">
                  <a:schemeClr val="accent2"/>
                </a:gs>
              </a:gsLst>
              <a:lin ang="0" scaled="0"/>
            </a:gradFill>
            <a:ln>
              <a:noFill/>
            </a:ln>
          </p:spPr>
          <p:txBody>
            <a:bodyPr spcFirstLastPara="1" wrap="square" lIns="91400" tIns="45675" rIns="91400" bIns="45675"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9659" name="Google Shape;9659;p94"/>
            <p:cNvSpPr/>
            <p:nvPr/>
          </p:nvSpPr>
          <p:spPr>
            <a:xfrm>
              <a:off x="2680703" y="2475778"/>
              <a:ext cx="6518700" cy="1377000"/>
            </a:xfrm>
            <a:prstGeom prst="round2SameRect">
              <a:avLst>
                <a:gd name="adj1" fmla="val 16667"/>
                <a:gd name="adj2" fmla="val 0"/>
              </a:avLst>
            </a:prstGeom>
            <a:gradFill>
              <a:gsLst>
                <a:gs pos="0">
                  <a:srgbClr val="002060"/>
                </a:gs>
                <a:gs pos="100000">
                  <a:schemeClr val="accent3"/>
                </a:gs>
              </a:gsLst>
              <a:lin ang="0" scaled="0"/>
            </a:gradFill>
            <a:ln>
              <a:noFill/>
            </a:ln>
          </p:spPr>
          <p:txBody>
            <a:bodyPr spcFirstLastPara="1" wrap="square" lIns="91400" tIns="45675" rIns="91400" bIns="45675"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9660" name="Google Shape;9660;p94"/>
            <p:cNvSpPr/>
            <p:nvPr/>
          </p:nvSpPr>
          <p:spPr>
            <a:xfrm>
              <a:off x="2632419" y="5298892"/>
              <a:ext cx="6615300" cy="601800"/>
            </a:xfrm>
            <a:prstGeom prst="rect">
              <a:avLst/>
            </a:prstGeom>
            <a:gradFill>
              <a:gsLst>
                <a:gs pos="0">
                  <a:srgbClr val="FFFFFF">
                    <a:alpha val="76470"/>
                  </a:srgbClr>
                </a:gs>
                <a:gs pos="85000">
                  <a:schemeClr val="lt1"/>
                </a:gs>
                <a:gs pos="100000">
                  <a:schemeClr val="lt1"/>
                </a:gs>
              </a:gsLst>
              <a:lin ang="5400012" scaled="0"/>
            </a:gradFill>
            <a:ln>
              <a:noFill/>
            </a:ln>
          </p:spPr>
          <p:txBody>
            <a:bodyPr spcFirstLastPara="1" wrap="square" lIns="91400" tIns="45675" rIns="91400" bIns="45675"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9661" name="Google Shape;9661;p94"/>
            <p:cNvSpPr/>
            <p:nvPr/>
          </p:nvSpPr>
          <p:spPr>
            <a:xfrm>
              <a:off x="4012633" y="3934671"/>
              <a:ext cx="3855000" cy="351900"/>
            </a:xfrm>
            <a:prstGeom prst="rect">
              <a:avLst/>
            </a:prstGeom>
            <a:noFill/>
            <a:ln>
              <a:noFill/>
            </a:ln>
          </p:spPr>
          <p:txBody>
            <a:bodyPr spcFirstLastPara="1" wrap="square" lIns="91325" tIns="91325" rIns="91325" bIns="91325" anchor="ctr" anchorCtr="0">
              <a:noAutofit/>
            </a:bodyPr>
            <a:lstStyle/>
            <a:p>
              <a:pPr marL="0" marR="0" lvl="0" indent="0" algn="ctr" rtl="0">
                <a:spcBef>
                  <a:spcPts val="0"/>
                </a:spcBef>
                <a:spcAft>
                  <a:spcPts val="0"/>
                </a:spcAft>
                <a:buNone/>
              </a:pPr>
              <a:r>
                <a:rPr lang="en-US" sz="1200">
                  <a:solidFill>
                    <a:srgbClr val="F2F2F2"/>
                  </a:solidFill>
                  <a:latin typeface="Arial"/>
                  <a:ea typeface="Arial"/>
                  <a:cs typeface="Arial"/>
                  <a:sym typeface="Arial"/>
                </a:rPr>
                <a:t>Automation and Operations</a:t>
              </a:r>
              <a:endParaRPr sz="1466">
                <a:solidFill>
                  <a:srgbClr val="000000"/>
                </a:solidFill>
                <a:latin typeface="Arial"/>
                <a:ea typeface="Arial"/>
                <a:cs typeface="Arial"/>
                <a:sym typeface="Arial"/>
              </a:endParaRPr>
            </a:p>
          </p:txBody>
        </p:sp>
        <p:sp>
          <p:nvSpPr>
            <p:cNvPr id="9662" name="Google Shape;9662;p94"/>
            <p:cNvSpPr/>
            <p:nvPr/>
          </p:nvSpPr>
          <p:spPr>
            <a:xfrm>
              <a:off x="3291775" y="2618021"/>
              <a:ext cx="5296800" cy="0"/>
            </a:xfrm>
            <a:prstGeom prst="roundRect">
              <a:avLst>
                <a:gd name="adj" fmla="val 8857"/>
              </a:avLst>
            </a:prstGeom>
            <a:gradFill>
              <a:gsLst>
                <a:gs pos="0">
                  <a:srgbClr val="021A58"/>
                </a:gs>
                <a:gs pos="99000">
                  <a:srgbClr val="02246C"/>
                </a:gs>
                <a:gs pos="100000">
                  <a:srgbClr val="02246C"/>
                </a:gs>
              </a:gsLst>
              <a:lin ang="2700006" scaled="0"/>
            </a:gradFill>
            <a:ln>
              <a:noFill/>
            </a:ln>
          </p:spPr>
          <p:txBody>
            <a:bodyPr spcFirstLastPara="1" wrap="square" lIns="91375" tIns="45650" rIns="91375" bIns="4565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9663" name="Google Shape;9663;p94"/>
            <p:cNvSpPr/>
            <p:nvPr/>
          </p:nvSpPr>
          <p:spPr>
            <a:xfrm>
              <a:off x="3847252" y="2525796"/>
              <a:ext cx="4185600" cy="351900"/>
            </a:xfrm>
            <a:prstGeom prst="rect">
              <a:avLst/>
            </a:prstGeom>
            <a:noFill/>
            <a:ln>
              <a:noFill/>
            </a:ln>
          </p:spPr>
          <p:txBody>
            <a:bodyPr spcFirstLastPara="1" wrap="square" lIns="91325" tIns="91325" rIns="91325" bIns="91325" anchor="ctr" anchorCtr="0">
              <a:noAutofit/>
            </a:bodyPr>
            <a:lstStyle/>
            <a:p>
              <a:pPr marL="0" marR="0" lvl="0" indent="0" algn="ctr" rtl="0">
                <a:spcBef>
                  <a:spcPts val="0"/>
                </a:spcBef>
                <a:spcAft>
                  <a:spcPts val="0"/>
                </a:spcAft>
                <a:buNone/>
              </a:pPr>
              <a:r>
                <a:rPr lang="en-US" sz="1200">
                  <a:solidFill>
                    <a:srgbClr val="F2F2F2"/>
                  </a:solidFill>
                  <a:latin typeface="Arial"/>
                  <a:ea typeface="Arial"/>
                  <a:cs typeface="Arial"/>
                  <a:sym typeface="Arial"/>
                </a:rPr>
                <a:t>Modern Cloud Interface</a:t>
              </a:r>
              <a:endParaRPr sz="1466">
                <a:solidFill>
                  <a:srgbClr val="000000"/>
                </a:solidFill>
                <a:latin typeface="Arial"/>
                <a:ea typeface="Arial"/>
                <a:cs typeface="Arial"/>
                <a:sym typeface="Arial"/>
              </a:endParaRPr>
            </a:p>
          </p:txBody>
        </p:sp>
        <p:grpSp>
          <p:nvGrpSpPr>
            <p:cNvPr id="9664" name="Google Shape;9664;p94"/>
            <p:cNvGrpSpPr/>
            <p:nvPr/>
          </p:nvGrpSpPr>
          <p:grpSpPr>
            <a:xfrm>
              <a:off x="2745476" y="2956505"/>
              <a:ext cx="6389397" cy="1879314"/>
              <a:chOff x="3325785" y="2956505"/>
              <a:chExt cx="5280493" cy="1879314"/>
            </a:xfrm>
          </p:grpSpPr>
          <p:sp>
            <p:nvSpPr>
              <p:cNvPr id="9665" name="Google Shape;9665;p94"/>
              <p:cNvSpPr txBox="1"/>
              <p:nvPr/>
            </p:nvSpPr>
            <p:spPr>
              <a:xfrm>
                <a:off x="3325785" y="4392890"/>
                <a:ext cx="1112400" cy="44292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066">
                    <a:solidFill>
                      <a:srgbClr val="F2F2F2"/>
                    </a:solidFill>
                    <a:latin typeface="Arial"/>
                    <a:ea typeface="Arial"/>
                    <a:cs typeface="Arial"/>
                    <a:sym typeface="Arial"/>
                  </a:rPr>
                  <a:t>Capacity, </a:t>
                </a:r>
                <a:br>
                  <a:rPr lang="en-US" sz="1066">
                    <a:solidFill>
                      <a:srgbClr val="F2F2F2"/>
                    </a:solidFill>
                    <a:latin typeface="Arial"/>
                    <a:ea typeface="Arial"/>
                    <a:cs typeface="Arial"/>
                    <a:sym typeface="Arial"/>
                  </a:rPr>
                </a:br>
                <a:r>
                  <a:rPr lang="en-US" sz="1066">
                    <a:solidFill>
                      <a:srgbClr val="F2F2F2"/>
                    </a:solidFill>
                    <a:latin typeface="Arial"/>
                    <a:ea typeface="Arial"/>
                    <a:cs typeface="Arial"/>
                    <a:sym typeface="Arial"/>
                  </a:rPr>
                  <a:t>Configuration,</a:t>
                </a:r>
                <a:br>
                  <a:rPr lang="en-US" sz="1066">
                    <a:solidFill>
                      <a:srgbClr val="F2F2F2"/>
                    </a:solidFill>
                    <a:latin typeface="Arial"/>
                    <a:ea typeface="Arial"/>
                    <a:cs typeface="Arial"/>
                    <a:sym typeface="Arial"/>
                  </a:rPr>
                </a:br>
                <a:r>
                  <a:rPr lang="en-US" sz="1066">
                    <a:solidFill>
                      <a:srgbClr val="F2F2F2"/>
                    </a:solidFill>
                    <a:latin typeface="Arial"/>
                    <a:ea typeface="Arial"/>
                    <a:cs typeface="Arial"/>
                    <a:sym typeface="Arial"/>
                  </a:rPr>
                  <a:t>Tenancy</a:t>
                </a:r>
                <a:endParaRPr sz="1066">
                  <a:solidFill>
                    <a:srgbClr val="F2F2F2"/>
                  </a:solidFill>
                  <a:latin typeface="Arial"/>
                  <a:ea typeface="Arial"/>
                  <a:cs typeface="Arial"/>
                  <a:sym typeface="Arial"/>
                </a:endParaRPr>
              </a:p>
            </p:txBody>
          </p:sp>
          <p:sp>
            <p:nvSpPr>
              <p:cNvPr id="9666" name="Google Shape;9666;p94"/>
              <p:cNvSpPr txBox="1"/>
              <p:nvPr/>
            </p:nvSpPr>
            <p:spPr>
              <a:xfrm>
                <a:off x="7496512" y="4392890"/>
                <a:ext cx="987900" cy="44292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066">
                    <a:solidFill>
                      <a:srgbClr val="F2F2F2"/>
                    </a:solidFill>
                    <a:latin typeface="Arial"/>
                    <a:ea typeface="Arial"/>
                    <a:cs typeface="Arial"/>
                    <a:sym typeface="Arial"/>
                  </a:rPr>
                  <a:t>SRE Ops, Fleet </a:t>
                </a:r>
                <a:br>
                  <a:rPr lang="en-US" sz="1066">
                    <a:solidFill>
                      <a:srgbClr val="F2F2F2"/>
                    </a:solidFill>
                    <a:latin typeface="Arial"/>
                    <a:ea typeface="Arial"/>
                    <a:cs typeface="Arial"/>
                    <a:sym typeface="Arial"/>
                  </a:rPr>
                </a:br>
                <a:r>
                  <a:rPr lang="en-US" sz="1066">
                    <a:solidFill>
                      <a:srgbClr val="F2F2F2"/>
                    </a:solidFill>
                    <a:latin typeface="Arial"/>
                    <a:ea typeface="Arial"/>
                    <a:cs typeface="Arial"/>
                    <a:sym typeface="Arial"/>
                  </a:rPr>
                  <a:t>and Security </a:t>
                </a:r>
                <a:br>
                  <a:rPr lang="en-US" sz="1066">
                    <a:solidFill>
                      <a:srgbClr val="F2F2F2"/>
                    </a:solidFill>
                    <a:latin typeface="Arial"/>
                    <a:ea typeface="Arial"/>
                    <a:cs typeface="Arial"/>
                    <a:sym typeface="Arial"/>
                  </a:rPr>
                </a:br>
                <a:r>
                  <a:rPr lang="en-US" sz="1066">
                    <a:solidFill>
                      <a:srgbClr val="F2F2F2"/>
                    </a:solidFill>
                    <a:latin typeface="Arial"/>
                    <a:ea typeface="Arial"/>
                    <a:cs typeface="Arial"/>
                    <a:sym typeface="Arial"/>
                  </a:rPr>
                  <a:t>Management,</a:t>
                </a:r>
                <a:endParaRPr sz="1466">
                  <a:solidFill>
                    <a:srgbClr val="000000"/>
                  </a:solidFill>
                  <a:latin typeface="Arial"/>
                  <a:ea typeface="Arial"/>
                  <a:cs typeface="Arial"/>
                  <a:sym typeface="Arial"/>
                </a:endParaRPr>
              </a:p>
            </p:txBody>
          </p:sp>
          <p:sp>
            <p:nvSpPr>
              <p:cNvPr id="9667" name="Google Shape;9667;p94"/>
              <p:cNvSpPr txBox="1"/>
              <p:nvPr/>
            </p:nvSpPr>
            <p:spPr>
              <a:xfrm>
                <a:off x="3464097" y="2956505"/>
                <a:ext cx="835800" cy="44292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066">
                    <a:solidFill>
                      <a:srgbClr val="F2F2F2"/>
                    </a:solidFill>
                    <a:latin typeface="Arial"/>
                    <a:ea typeface="Arial"/>
                    <a:cs typeface="Arial"/>
                    <a:sym typeface="Arial"/>
                  </a:rPr>
                  <a:t>Tenant </a:t>
                </a:r>
                <a:br>
                  <a:rPr lang="en-US" sz="1066">
                    <a:solidFill>
                      <a:srgbClr val="F2F2F2"/>
                    </a:solidFill>
                    <a:latin typeface="Arial"/>
                    <a:ea typeface="Arial"/>
                    <a:cs typeface="Arial"/>
                    <a:sym typeface="Arial"/>
                  </a:rPr>
                </a:br>
                <a:r>
                  <a:rPr lang="en-US" sz="1066">
                    <a:solidFill>
                      <a:srgbClr val="F2F2F2"/>
                    </a:solidFill>
                    <a:latin typeface="Arial"/>
                    <a:ea typeface="Arial"/>
                    <a:cs typeface="Arial"/>
                    <a:sym typeface="Arial"/>
                  </a:rPr>
                  <a:t>Management, </a:t>
                </a:r>
                <a:br>
                  <a:rPr lang="en-US" sz="1066">
                    <a:solidFill>
                      <a:srgbClr val="F2F2F2"/>
                    </a:solidFill>
                    <a:latin typeface="Arial"/>
                    <a:ea typeface="Arial"/>
                    <a:cs typeface="Arial"/>
                    <a:sym typeface="Arial"/>
                  </a:rPr>
                </a:br>
                <a:r>
                  <a:rPr lang="en-US" sz="1066">
                    <a:solidFill>
                      <a:srgbClr val="F2F2F2"/>
                    </a:solidFill>
                    <a:latin typeface="Arial"/>
                    <a:ea typeface="Arial"/>
                    <a:cs typeface="Arial"/>
                    <a:sym typeface="Arial"/>
                  </a:rPr>
                  <a:t>Content</a:t>
                </a:r>
                <a:endParaRPr sz="1466">
                  <a:solidFill>
                    <a:srgbClr val="000000"/>
                  </a:solidFill>
                  <a:latin typeface="Arial"/>
                  <a:ea typeface="Arial"/>
                  <a:cs typeface="Arial"/>
                  <a:sym typeface="Arial"/>
                </a:endParaRPr>
              </a:p>
            </p:txBody>
          </p:sp>
          <p:sp>
            <p:nvSpPr>
              <p:cNvPr id="9668" name="Google Shape;9668;p94"/>
              <p:cNvSpPr txBox="1"/>
              <p:nvPr/>
            </p:nvSpPr>
            <p:spPr>
              <a:xfrm>
                <a:off x="7382578" y="2956505"/>
                <a:ext cx="1223700" cy="44292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066">
                    <a:solidFill>
                      <a:srgbClr val="F2F2F2"/>
                    </a:solidFill>
                    <a:latin typeface="Arial"/>
                    <a:ea typeface="Arial"/>
                    <a:cs typeface="Arial"/>
                    <a:sym typeface="Arial"/>
                  </a:rPr>
                  <a:t>Service Catalog, Orchestration, </a:t>
                </a:r>
                <a:br>
                  <a:rPr lang="en-US" sz="1066">
                    <a:solidFill>
                      <a:srgbClr val="F2F2F2"/>
                    </a:solidFill>
                    <a:latin typeface="Arial"/>
                    <a:ea typeface="Arial"/>
                    <a:cs typeface="Arial"/>
                    <a:sym typeface="Arial"/>
                  </a:rPr>
                </a:br>
                <a:r>
                  <a:rPr lang="en-US" sz="1066">
                    <a:solidFill>
                      <a:srgbClr val="F2F2F2"/>
                    </a:solidFill>
                    <a:latin typeface="Arial"/>
                    <a:ea typeface="Arial"/>
                    <a:cs typeface="Arial"/>
                    <a:sym typeface="Arial"/>
                  </a:rPr>
                  <a:t>Apps</a:t>
                </a:r>
                <a:endParaRPr sz="1466">
                  <a:solidFill>
                    <a:srgbClr val="000000"/>
                  </a:solidFill>
                  <a:latin typeface="Arial"/>
                  <a:ea typeface="Arial"/>
                  <a:cs typeface="Arial"/>
                  <a:sym typeface="Arial"/>
                </a:endParaRPr>
              </a:p>
            </p:txBody>
          </p:sp>
        </p:grpSp>
        <p:sp>
          <p:nvSpPr>
            <p:cNvPr id="9669" name="Google Shape;9669;p94"/>
            <p:cNvSpPr txBox="1"/>
            <p:nvPr/>
          </p:nvSpPr>
          <p:spPr>
            <a:xfrm>
              <a:off x="4022120" y="2194473"/>
              <a:ext cx="3836100" cy="184714"/>
            </a:xfrm>
            <a:prstGeom prst="rect">
              <a:avLst/>
            </a:prstGeom>
            <a:noFill/>
            <a:ln>
              <a:noFill/>
            </a:ln>
          </p:spPr>
          <p:txBody>
            <a:bodyPr spcFirstLastPara="1" wrap="square" lIns="0" tIns="0" rIns="0" bIns="0" anchor="b" anchorCtr="0">
              <a:spAutoFit/>
            </a:bodyPr>
            <a:lstStyle/>
            <a:p>
              <a:pPr marL="0" marR="0" lvl="0" indent="0" algn="ctr" rtl="0">
                <a:spcBef>
                  <a:spcPts val="0"/>
                </a:spcBef>
                <a:spcAft>
                  <a:spcPts val="0"/>
                </a:spcAft>
                <a:buNone/>
              </a:pPr>
              <a:r>
                <a:rPr lang="en-US" sz="1200" b="1">
                  <a:solidFill>
                    <a:srgbClr val="0098C7"/>
                  </a:solidFill>
                  <a:latin typeface="Arial"/>
                  <a:ea typeface="Arial"/>
                  <a:cs typeface="Arial"/>
                  <a:sym typeface="Arial"/>
                </a:rPr>
                <a:t>VMware Cloud Foundation 9.0</a:t>
              </a:r>
              <a:endParaRPr sz="1466">
                <a:solidFill>
                  <a:srgbClr val="000000"/>
                </a:solidFill>
                <a:latin typeface="Arial"/>
                <a:ea typeface="Arial"/>
                <a:cs typeface="Arial"/>
                <a:sym typeface="Arial"/>
              </a:endParaRPr>
            </a:p>
          </p:txBody>
        </p:sp>
        <p:grpSp>
          <p:nvGrpSpPr>
            <p:cNvPr id="9670" name="Google Shape;9670;p94"/>
            <p:cNvGrpSpPr/>
            <p:nvPr/>
          </p:nvGrpSpPr>
          <p:grpSpPr>
            <a:xfrm>
              <a:off x="3977592" y="3734175"/>
              <a:ext cx="3924943" cy="326215"/>
              <a:chOff x="3970286" y="3734175"/>
              <a:chExt cx="3924943" cy="326215"/>
            </a:xfrm>
          </p:grpSpPr>
          <p:grpSp>
            <p:nvGrpSpPr>
              <p:cNvPr id="9671" name="Google Shape;9671;p94"/>
              <p:cNvGrpSpPr/>
              <p:nvPr/>
            </p:nvGrpSpPr>
            <p:grpSpPr>
              <a:xfrm>
                <a:off x="3970286" y="3734175"/>
                <a:ext cx="313500" cy="313500"/>
                <a:chOff x="4202510" y="3734175"/>
                <a:chExt cx="313500" cy="313500"/>
              </a:xfrm>
            </p:grpSpPr>
            <p:sp>
              <p:nvSpPr>
                <p:cNvPr id="9672" name="Google Shape;9672;p94"/>
                <p:cNvSpPr/>
                <p:nvPr/>
              </p:nvSpPr>
              <p:spPr>
                <a:xfrm>
                  <a:off x="4202510" y="3734175"/>
                  <a:ext cx="313500" cy="313500"/>
                </a:xfrm>
                <a:prstGeom prst="ellipse">
                  <a:avLst/>
                </a:prstGeom>
                <a:solidFill>
                  <a:srgbClr val="FFFFFF"/>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066">
                    <a:solidFill>
                      <a:srgbClr val="041032"/>
                    </a:solidFill>
                    <a:latin typeface="Arial"/>
                    <a:ea typeface="Arial"/>
                    <a:cs typeface="Arial"/>
                    <a:sym typeface="Arial"/>
                  </a:endParaRPr>
                </a:p>
              </p:txBody>
            </p:sp>
            <p:grpSp>
              <p:nvGrpSpPr>
                <p:cNvPr id="9673" name="Google Shape;9673;p94"/>
                <p:cNvGrpSpPr/>
                <p:nvPr/>
              </p:nvGrpSpPr>
              <p:grpSpPr>
                <a:xfrm>
                  <a:off x="4288402" y="3792600"/>
                  <a:ext cx="140081" cy="191773"/>
                  <a:chOff x="5000233" y="3506447"/>
                  <a:chExt cx="283795" cy="388519"/>
                </a:xfrm>
              </p:grpSpPr>
              <p:sp>
                <p:nvSpPr>
                  <p:cNvPr id="9674" name="Google Shape;9674;p94"/>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25" tIns="45650" rIns="91325" bIns="45650" anchor="ctr" anchorCtr="0">
                    <a:noAutofit/>
                  </a:bodyPr>
                  <a:lstStyle/>
                  <a:p>
                    <a:pPr marL="0" marR="0" lvl="0" indent="0" algn="ctr" rtl="0">
                      <a:spcBef>
                        <a:spcPts val="0"/>
                      </a:spcBef>
                      <a:spcAft>
                        <a:spcPts val="0"/>
                      </a:spcAft>
                      <a:buNone/>
                    </a:pPr>
                    <a:endParaRPr sz="1066">
                      <a:solidFill>
                        <a:srgbClr val="005B84"/>
                      </a:solidFill>
                      <a:latin typeface="Arial"/>
                      <a:ea typeface="Arial"/>
                      <a:cs typeface="Arial"/>
                      <a:sym typeface="Arial"/>
                    </a:endParaRPr>
                  </a:p>
                </p:txBody>
              </p:sp>
              <p:sp>
                <p:nvSpPr>
                  <p:cNvPr id="9675" name="Google Shape;9675;p94"/>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5098"/>
                    </a:schemeClr>
                  </a:solidFill>
                  <a:ln>
                    <a:noFill/>
                  </a:ln>
                </p:spPr>
                <p:txBody>
                  <a:bodyPr spcFirstLastPara="1" wrap="square" lIns="91325" tIns="45650" rIns="91325" bIns="45650" anchor="ctr" anchorCtr="0">
                    <a:noAutofit/>
                  </a:bodyPr>
                  <a:lstStyle/>
                  <a:p>
                    <a:pPr marL="0" marR="0" lvl="0" indent="0" algn="ctr" rtl="0">
                      <a:spcBef>
                        <a:spcPts val="0"/>
                      </a:spcBef>
                      <a:spcAft>
                        <a:spcPts val="0"/>
                      </a:spcAft>
                      <a:buNone/>
                    </a:pPr>
                    <a:endParaRPr sz="1066">
                      <a:solidFill>
                        <a:srgbClr val="005B84"/>
                      </a:solidFill>
                      <a:latin typeface="Arial"/>
                      <a:ea typeface="Arial"/>
                      <a:cs typeface="Arial"/>
                      <a:sym typeface="Arial"/>
                    </a:endParaRPr>
                  </a:p>
                </p:txBody>
              </p:sp>
              <p:sp>
                <p:nvSpPr>
                  <p:cNvPr id="9676" name="Google Shape;9676;p94"/>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25" tIns="45650" rIns="91325" bIns="45650" anchor="ctr" anchorCtr="0">
                    <a:noAutofit/>
                  </a:bodyPr>
                  <a:lstStyle/>
                  <a:p>
                    <a:pPr marL="0" marR="0" lvl="0" indent="0" algn="ctr" rtl="0">
                      <a:spcBef>
                        <a:spcPts val="0"/>
                      </a:spcBef>
                      <a:spcAft>
                        <a:spcPts val="0"/>
                      </a:spcAft>
                      <a:buNone/>
                    </a:pPr>
                    <a:endParaRPr sz="1066">
                      <a:solidFill>
                        <a:srgbClr val="005B84"/>
                      </a:solidFill>
                      <a:latin typeface="Arial"/>
                      <a:ea typeface="Arial"/>
                      <a:cs typeface="Arial"/>
                      <a:sym typeface="Arial"/>
                    </a:endParaRPr>
                  </a:p>
                </p:txBody>
              </p:sp>
            </p:grpSp>
          </p:grpSp>
          <p:grpSp>
            <p:nvGrpSpPr>
              <p:cNvPr id="9677" name="Google Shape;9677;p94"/>
              <p:cNvGrpSpPr/>
              <p:nvPr/>
            </p:nvGrpSpPr>
            <p:grpSpPr>
              <a:xfrm>
                <a:off x="7581729" y="3746890"/>
                <a:ext cx="313500" cy="313500"/>
                <a:chOff x="7352926" y="3734175"/>
                <a:chExt cx="313500" cy="313500"/>
              </a:xfrm>
            </p:grpSpPr>
            <p:sp>
              <p:nvSpPr>
                <p:cNvPr id="9678" name="Google Shape;9678;p94"/>
                <p:cNvSpPr/>
                <p:nvPr/>
              </p:nvSpPr>
              <p:spPr>
                <a:xfrm>
                  <a:off x="7352926" y="3734175"/>
                  <a:ext cx="313500" cy="313500"/>
                </a:xfrm>
                <a:prstGeom prst="ellipse">
                  <a:avLst/>
                </a:prstGeom>
                <a:solidFill>
                  <a:srgbClr val="FFFFFF"/>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066">
                    <a:solidFill>
                      <a:srgbClr val="041032"/>
                    </a:solidFill>
                    <a:latin typeface="Arial"/>
                    <a:ea typeface="Arial"/>
                    <a:cs typeface="Arial"/>
                    <a:sym typeface="Arial"/>
                  </a:endParaRPr>
                </a:p>
              </p:txBody>
            </p:sp>
            <p:grpSp>
              <p:nvGrpSpPr>
                <p:cNvPr id="9679" name="Google Shape;9679;p94"/>
                <p:cNvGrpSpPr/>
                <p:nvPr/>
              </p:nvGrpSpPr>
              <p:grpSpPr>
                <a:xfrm>
                  <a:off x="7437496" y="3792600"/>
                  <a:ext cx="140081" cy="191773"/>
                  <a:chOff x="5000233" y="3506447"/>
                  <a:chExt cx="283795" cy="388519"/>
                </a:xfrm>
              </p:grpSpPr>
              <p:sp>
                <p:nvSpPr>
                  <p:cNvPr id="9680" name="Google Shape;9680;p94"/>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25" tIns="45650" rIns="91325" bIns="45650" anchor="ctr" anchorCtr="0">
                    <a:noAutofit/>
                  </a:bodyPr>
                  <a:lstStyle/>
                  <a:p>
                    <a:pPr marL="0" marR="0" lvl="0" indent="0" algn="ctr" rtl="0">
                      <a:spcBef>
                        <a:spcPts val="0"/>
                      </a:spcBef>
                      <a:spcAft>
                        <a:spcPts val="0"/>
                      </a:spcAft>
                      <a:buNone/>
                    </a:pPr>
                    <a:endParaRPr sz="1066">
                      <a:solidFill>
                        <a:srgbClr val="005B84"/>
                      </a:solidFill>
                      <a:latin typeface="Arial"/>
                      <a:ea typeface="Arial"/>
                      <a:cs typeface="Arial"/>
                      <a:sym typeface="Arial"/>
                    </a:endParaRPr>
                  </a:p>
                </p:txBody>
              </p:sp>
              <p:sp>
                <p:nvSpPr>
                  <p:cNvPr id="9681" name="Google Shape;9681;p94"/>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5098"/>
                    </a:schemeClr>
                  </a:solidFill>
                  <a:ln>
                    <a:noFill/>
                  </a:ln>
                </p:spPr>
                <p:txBody>
                  <a:bodyPr spcFirstLastPara="1" wrap="square" lIns="91325" tIns="45650" rIns="91325" bIns="45650" anchor="ctr" anchorCtr="0">
                    <a:noAutofit/>
                  </a:bodyPr>
                  <a:lstStyle/>
                  <a:p>
                    <a:pPr marL="0" marR="0" lvl="0" indent="0" algn="ctr" rtl="0">
                      <a:spcBef>
                        <a:spcPts val="0"/>
                      </a:spcBef>
                      <a:spcAft>
                        <a:spcPts val="0"/>
                      </a:spcAft>
                      <a:buNone/>
                    </a:pPr>
                    <a:endParaRPr sz="1066">
                      <a:solidFill>
                        <a:srgbClr val="005B84"/>
                      </a:solidFill>
                      <a:latin typeface="Arial"/>
                      <a:ea typeface="Arial"/>
                      <a:cs typeface="Arial"/>
                      <a:sym typeface="Arial"/>
                    </a:endParaRPr>
                  </a:p>
                </p:txBody>
              </p:sp>
              <p:sp>
                <p:nvSpPr>
                  <p:cNvPr id="9682" name="Google Shape;9682;p94"/>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25" tIns="45650" rIns="91325" bIns="45650" anchor="ctr" anchorCtr="0">
                    <a:noAutofit/>
                  </a:bodyPr>
                  <a:lstStyle/>
                  <a:p>
                    <a:pPr marL="0" marR="0" lvl="0" indent="0" algn="ctr" rtl="0">
                      <a:spcBef>
                        <a:spcPts val="0"/>
                      </a:spcBef>
                      <a:spcAft>
                        <a:spcPts val="0"/>
                      </a:spcAft>
                      <a:buNone/>
                    </a:pPr>
                    <a:endParaRPr sz="1066">
                      <a:solidFill>
                        <a:srgbClr val="005B84"/>
                      </a:solidFill>
                      <a:latin typeface="Arial"/>
                      <a:ea typeface="Arial"/>
                      <a:cs typeface="Arial"/>
                      <a:sym typeface="Arial"/>
                    </a:endParaRPr>
                  </a:p>
                </p:txBody>
              </p:sp>
            </p:grpSp>
          </p:grpSp>
        </p:grpSp>
        <p:sp>
          <p:nvSpPr>
            <p:cNvPr id="9683" name="Google Shape;9683;p94"/>
            <p:cNvSpPr/>
            <p:nvPr/>
          </p:nvSpPr>
          <p:spPr>
            <a:xfrm>
              <a:off x="2475853" y="2286720"/>
              <a:ext cx="6928522" cy="3180328"/>
            </a:xfrm>
            <a:custGeom>
              <a:avLst/>
              <a:gdLst/>
              <a:ahLst/>
              <a:cxnLst/>
              <a:rect l="l" t="t" r="r" b="b"/>
              <a:pathLst>
                <a:path w="6928522" h="3180328" extrusionOk="0">
                  <a:moveTo>
                    <a:pt x="326874" y="0"/>
                  </a:moveTo>
                  <a:lnTo>
                    <a:pt x="2315619" y="0"/>
                  </a:lnTo>
                  <a:lnTo>
                    <a:pt x="2315619" y="26610"/>
                  </a:lnTo>
                  <a:lnTo>
                    <a:pt x="337328" y="26610"/>
                  </a:lnTo>
                  <a:cubicBezTo>
                    <a:pt x="165158" y="26610"/>
                    <a:pt x="25587" y="166181"/>
                    <a:pt x="25587" y="338351"/>
                  </a:cubicBezTo>
                  <a:lnTo>
                    <a:pt x="25587" y="2841978"/>
                  </a:lnTo>
                  <a:cubicBezTo>
                    <a:pt x="25587" y="3014148"/>
                    <a:pt x="165158" y="3153719"/>
                    <a:pt x="337328" y="3153719"/>
                  </a:cubicBezTo>
                  <a:lnTo>
                    <a:pt x="6591194" y="3153719"/>
                  </a:lnTo>
                  <a:cubicBezTo>
                    <a:pt x="6763364" y="3153719"/>
                    <a:pt x="6902935" y="3014148"/>
                    <a:pt x="6902935" y="2841978"/>
                  </a:cubicBezTo>
                  <a:lnTo>
                    <a:pt x="6902935" y="338351"/>
                  </a:lnTo>
                  <a:cubicBezTo>
                    <a:pt x="6902935" y="166181"/>
                    <a:pt x="6763364" y="26610"/>
                    <a:pt x="6591194" y="26610"/>
                  </a:cubicBezTo>
                  <a:lnTo>
                    <a:pt x="4612903" y="26610"/>
                  </a:lnTo>
                  <a:lnTo>
                    <a:pt x="4612903" y="0"/>
                  </a:lnTo>
                  <a:lnTo>
                    <a:pt x="6601648" y="0"/>
                  </a:lnTo>
                  <a:cubicBezTo>
                    <a:pt x="6782176" y="0"/>
                    <a:pt x="6928522" y="146346"/>
                    <a:pt x="6928522" y="326874"/>
                  </a:cubicBezTo>
                  <a:lnTo>
                    <a:pt x="6928522" y="2853454"/>
                  </a:lnTo>
                  <a:cubicBezTo>
                    <a:pt x="6928522" y="3033982"/>
                    <a:pt x="6782176" y="3180328"/>
                    <a:pt x="6601648" y="3180328"/>
                  </a:cubicBezTo>
                  <a:lnTo>
                    <a:pt x="326874" y="3180328"/>
                  </a:lnTo>
                  <a:cubicBezTo>
                    <a:pt x="146346" y="3180328"/>
                    <a:pt x="0" y="3033982"/>
                    <a:pt x="0" y="2853454"/>
                  </a:cubicBezTo>
                  <a:lnTo>
                    <a:pt x="0" y="326874"/>
                  </a:lnTo>
                  <a:cubicBezTo>
                    <a:pt x="0" y="146346"/>
                    <a:pt x="146346" y="0"/>
                    <a:pt x="326874" y="0"/>
                  </a:cubicBezTo>
                  <a:close/>
                </a:path>
              </a:pathLst>
            </a:custGeom>
            <a:gradFill>
              <a:gsLst>
                <a:gs pos="0">
                  <a:schemeClr val="accent3"/>
                </a:gs>
                <a:gs pos="23000">
                  <a:schemeClr val="accent3"/>
                </a:gs>
                <a:gs pos="81000">
                  <a:schemeClr val="accent5"/>
                </a:gs>
                <a:gs pos="100000">
                  <a:schemeClr val="accent5"/>
                </a:gs>
              </a:gsLst>
              <a:lin ang="5400012"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066">
                <a:solidFill>
                  <a:srgbClr val="FFFFFF"/>
                </a:solidFill>
                <a:latin typeface="Arial"/>
                <a:ea typeface="Arial"/>
                <a:cs typeface="Arial"/>
                <a:sym typeface="Arial"/>
              </a:endParaRPr>
            </a:p>
          </p:txBody>
        </p:sp>
        <p:grpSp>
          <p:nvGrpSpPr>
            <p:cNvPr id="9684" name="Google Shape;9684;p94"/>
            <p:cNvGrpSpPr/>
            <p:nvPr/>
          </p:nvGrpSpPr>
          <p:grpSpPr>
            <a:xfrm>
              <a:off x="4191551" y="2949296"/>
              <a:ext cx="3497226" cy="2255992"/>
              <a:chOff x="4195572" y="2949296"/>
              <a:chExt cx="3497226" cy="2255992"/>
            </a:xfrm>
          </p:grpSpPr>
          <p:sp>
            <p:nvSpPr>
              <p:cNvPr id="9685" name="Google Shape;9685;p94"/>
              <p:cNvSpPr txBox="1"/>
              <p:nvPr/>
            </p:nvSpPr>
            <p:spPr>
              <a:xfrm>
                <a:off x="6469098" y="4928409"/>
                <a:ext cx="1223700" cy="27687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066">
                    <a:solidFill>
                      <a:srgbClr val="F2F2F2"/>
                    </a:solidFill>
                    <a:latin typeface="Arial"/>
                    <a:ea typeface="Arial"/>
                    <a:cs typeface="Arial"/>
                    <a:sym typeface="Arial"/>
                  </a:rPr>
                  <a:t>Networking </a:t>
                </a:r>
                <a:br>
                  <a:rPr lang="en-US" sz="1066">
                    <a:solidFill>
                      <a:srgbClr val="F2F2F2"/>
                    </a:solidFill>
                    <a:latin typeface="Arial"/>
                    <a:ea typeface="Arial"/>
                    <a:cs typeface="Arial"/>
                    <a:sym typeface="Arial"/>
                  </a:rPr>
                </a:br>
                <a:r>
                  <a:rPr lang="en-US" sz="933">
                    <a:solidFill>
                      <a:srgbClr val="F2F2F2"/>
                    </a:solidFill>
                    <a:latin typeface="Arial"/>
                    <a:ea typeface="Arial"/>
                    <a:cs typeface="Arial"/>
                    <a:sym typeface="Arial"/>
                  </a:rPr>
                  <a:t>(VMware NSX)</a:t>
                </a:r>
                <a:endParaRPr sz="1066">
                  <a:solidFill>
                    <a:srgbClr val="F2F2F2"/>
                  </a:solidFill>
                  <a:latin typeface="Arial"/>
                  <a:ea typeface="Arial"/>
                  <a:cs typeface="Arial"/>
                  <a:sym typeface="Arial"/>
                </a:endParaRPr>
              </a:p>
            </p:txBody>
          </p:sp>
          <p:sp>
            <p:nvSpPr>
              <p:cNvPr id="9686" name="Google Shape;9686;p94"/>
              <p:cNvSpPr txBox="1"/>
              <p:nvPr/>
            </p:nvSpPr>
            <p:spPr>
              <a:xfrm>
                <a:off x="6469096" y="3493942"/>
                <a:ext cx="1223700" cy="164062"/>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066">
                    <a:solidFill>
                      <a:srgbClr val="F2F2F2"/>
                    </a:solidFill>
                    <a:latin typeface="Arial"/>
                    <a:ea typeface="Arial"/>
                    <a:cs typeface="Arial"/>
                    <a:sym typeface="Arial"/>
                  </a:rPr>
                  <a:t>K8s</a:t>
                </a:r>
                <a:endParaRPr sz="1466">
                  <a:solidFill>
                    <a:srgbClr val="000000"/>
                  </a:solidFill>
                  <a:latin typeface="Arial"/>
                  <a:ea typeface="Arial"/>
                  <a:cs typeface="Arial"/>
                  <a:sym typeface="Arial"/>
                </a:endParaRPr>
              </a:p>
            </p:txBody>
          </p:sp>
          <p:sp>
            <p:nvSpPr>
              <p:cNvPr id="9687" name="Google Shape;9687;p94"/>
              <p:cNvSpPr/>
              <p:nvPr/>
            </p:nvSpPr>
            <p:spPr>
              <a:xfrm>
                <a:off x="4310653" y="4275153"/>
                <a:ext cx="3237900" cy="381300"/>
              </a:xfrm>
              <a:prstGeom prst="roundRect">
                <a:avLst>
                  <a:gd name="adj" fmla="val 9132"/>
                </a:avLst>
              </a:prstGeom>
              <a:noFill/>
              <a:ln w="22225" cap="rnd" cmpd="sng">
                <a:solidFill>
                  <a:schemeClr val="lt1"/>
                </a:solidFill>
                <a:prstDash val="dot"/>
                <a:round/>
                <a:headEnd type="none" w="sm" len="sm"/>
                <a:tailEnd type="none" w="sm" len="sm"/>
              </a:ln>
            </p:spPr>
            <p:txBody>
              <a:bodyPr spcFirstLastPara="1" wrap="square" lIns="91400" tIns="45675" rIns="91400" bIns="45675" anchor="ctr" anchorCtr="0">
                <a:noAutofit/>
              </a:bodyPr>
              <a:lstStyle/>
              <a:p>
                <a:pPr marL="0" marR="0" lvl="0" indent="0" algn="ctr" rtl="0">
                  <a:spcBef>
                    <a:spcPts val="0"/>
                  </a:spcBef>
                  <a:spcAft>
                    <a:spcPts val="0"/>
                  </a:spcAft>
                  <a:buNone/>
                </a:pPr>
                <a:endParaRPr sz="1200">
                  <a:solidFill>
                    <a:srgbClr val="000000"/>
                  </a:solidFill>
                  <a:latin typeface="Arial"/>
                  <a:ea typeface="Arial"/>
                  <a:cs typeface="Arial"/>
                  <a:sym typeface="Arial"/>
                </a:endParaRPr>
              </a:p>
            </p:txBody>
          </p:sp>
          <p:grpSp>
            <p:nvGrpSpPr>
              <p:cNvPr id="9688" name="Google Shape;9688;p94"/>
              <p:cNvGrpSpPr/>
              <p:nvPr/>
            </p:nvGrpSpPr>
            <p:grpSpPr>
              <a:xfrm>
                <a:off x="6829886" y="4395695"/>
                <a:ext cx="490500" cy="490500"/>
                <a:chOff x="6675070" y="4381181"/>
                <a:chExt cx="490500" cy="490500"/>
              </a:xfrm>
            </p:grpSpPr>
            <p:sp>
              <p:nvSpPr>
                <p:cNvPr id="9689" name="Google Shape;9689;p94"/>
                <p:cNvSpPr/>
                <p:nvPr/>
              </p:nvSpPr>
              <p:spPr>
                <a:xfrm>
                  <a:off x="6675070" y="4381181"/>
                  <a:ext cx="490500" cy="490500"/>
                </a:xfrm>
                <a:prstGeom prst="ellipse">
                  <a:avLst/>
                </a:prstGeom>
                <a:solidFill>
                  <a:srgbClr val="1C345E"/>
                </a:solidFill>
                <a:ln>
                  <a:noFill/>
                </a:ln>
              </p:spPr>
              <p:txBody>
                <a:bodyPr spcFirstLastPara="1" wrap="square" lIns="58475" tIns="58475" rIns="58475" bIns="58475" anchor="ctr" anchorCtr="0">
                  <a:noAutofit/>
                </a:bodyPr>
                <a:lstStyle/>
                <a:p>
                  <a:pPr marL="0" marR="0" lvl="0" indent="0" algn="ctr" rtl="0">
                    <a:spcBef>
                      <a:spcPts val="0"/>
                    </a:spcBef>
                    <a:spcAft>
                      <a:spcPts val="0"/>
                    </a:spcAft>
                    <a:buNone/>
                  </a:pPr>
                  <a:endParaRPr sz="1066">
                    <a:solidFill>
                      <a:srgbClr val="041032"/>
                    </a:solidFill>
                    <a:latin typeface="Arial"/>
                    <a:ea typeface="Arial"/>
                    <a:cs typeface="Arial"/>
                    <a:sym typeface="Arial"/>
                  </a:endParaRPr>
                </a:p>
              </p:txBody>
            </p:sp>
            <p:sp>
              <p:nvSpPr>
                <p:cNvPr id="9690" name="Google Shape;9690;p94"/>
                <p:cNvSpPr/>
                <p:nvPr/>
              </p:nvSpPr>
              <p:spPr>
                <a:xfrm>
                  <a:off x="6783315" y="4489426"/>
                  <a:ext cx="274670" cy="27467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rgbClr val="FFFFFF"/>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grpSp>
          <p:grpSp>
            <p:nvGrpSpPr>
              <p:cNvPr id="9691" name="Google Shape;9691;p94"/>
              <p:cNvGrpSpPr/>
              <p:nvPr/>
            </p:nvGrpSpPr>
            <p:grpSpPr>
              <a:xfrm>
                <a:off x="6829599" y="2949296"/>
                <a:ext cx="490534" cy="490534"/>
                <a:chOff x="7043420" y="2378119"/>
                <a:chExt cx="626400" cy="626400"/>
              </a:xfrm>
            </p:grpSpPr>
            <p:sp>
              <p:nvSpPr>
                <p:cNvPr id="9692" name="Google Shape;9692;p94"/>
                <p:cNvSpPr/>
                <p:nvPr/>
              </p:nvSpPr>
              <p:spPr>
                <a:xfrm>
                  <a:off x="7043420" y="2378119"/>
                  <a:ext cx="626400" cy="626400"/>
                </a:xfrm>
                <a:prstGeom prst="ellipse">
                  <a:avLst/>
                </a:prstGeom>
                <a:solidFill>
                  <a:srgbClr val="041032">
                    <a:alpha val="49019"/>
                  </a:srgbClr>
                </a:solidFill>
                <a:ln>
                  <a:noFill/>
                </a:ln>
              </p:spPr>
              <p:txBody>
                <a:bodyPr spcFirstLastPara="1" wrap="square" lIns="58475" tIns="58475" rIns="58475" bIns="58475" anchor="ctr" anchorCtr="0">
                  <a:noAutofit/>
                </a:bodyPr>
                <a:lstStyle/>
                <a:p>
                  <a:pPr marL="0" marR="0" lvl="0" indent="0" algn="ctr" rtl="0">
                    <a:spcBef>
                      <a:spcPts val="0"/>
                    </a:spcBef>
                    <a:spcAft>
                      <a:spcPts val="0"/>
                    </a:spcAft>
                    <a:buNone/>
                  </a:pPr>
                  <a:endParaRPr sz="1066">
                    <a:solidFill>
                      <a:srgbClr val="041032"/>
                    </a:solidFill>
                    <a:latin typeface="Arial"/>
                    <a:ea typeface="Arial"/>
                    <a:cs typeface="Arial"/>
                    <a:sym typeface="Arial"/>
                  </a:endParaRPr>
                </a:p>
              </p:txBody>
            </p:sp>
            <p:pic>
              <p:nvPicPr>
                <p:cNvPr id="9693" name="Google Shape;9693;p94"/>
                <p:cNvPicPr preferRelativeResize="0"/>
                <p:nvPr/>
              </p:nvPicPr>
              <p:blipFill rotWithShape="1">
                <a:blip r:embed="rId3">
                  <a:alphaModFix/>
                </a:blip>
                <a:srcRect/>
                <a:stretch/>
              </p:blipFill>
              <p:spPr>
                <a:xfrm>
                  <a:off x="7168838" y="2503538"/>
                  <a:ext cx="375651" cy="363292"/>
                </a:xfrm>
                <a:prstGeom prst="rect">
                  <a:avLst/>
                </a:prstGeom>
                <a:noFill/>
                <a:ln>
                  <a:noFill/>
                </a:ln>
              </p:spPr>
            </p:pic>
          </p:grpSp>
          <p:sp>
            <p:nvSpPr>
              <p:cNvPr id="9694" name="Google Shape;9694;p94"/>
              <p:cNvSpPr txBox="1"/>
              <p:nvPr/>
            </p:nvSpPr>
            <p:spPr>
              <a:xfrm>
                <a:off x="5324539" y="4928409"/>
                <a:ext cx="1223700" cy="27687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066">
                    <a:solidFill>
                      <a:srgbClr val="F2F2F2"/>
                    </a:solidFill>
                    <a:latin typeface="Arial"/>
                    <a:ea typeface="Arial"/>
                    <a:cs typeface="Arial"/>
                    <a:sym typeface="Arial"/>
                  </a:rPr>
                  <a:t>Storage </a:t>
                </a:r>
                <a:br>
                  <a:rPr lang="en-US" sz="1066">
                    <a:solidFill>
                      <a:srgbClr val="F2F2F2"/>
                    </a:solidFill>
                    <a:latin typeface="Arial"/>
                    <a:ea typeface="Arial"/>
                    <a:cs typeface="Arial"/>
                    <a:sym typeface="Arial"/>
                  </a:rPr>
                </a:br>
                <a:r>
                  <a:rPr lang="en-US" sz="933">
                    <a:solidFill>
                      <a:srgbClr val="F2F2F2"/>
                    </a:solidFill>
                    <a:latin typeface="Arial"/>
                    <a:ea typeface="Arial"/>
                    <a:cs typeface="Arial"/>
                    <a:sym typeface="Arial"/>
                  </a:rPr>
                  <a:t>(VMware vSAN)</a:t>
                </a:r>
                <a:endParaRPr sz="1066">
                  <a:solidFill>
                    <a:srgbClr val="F2F2F2"/>
                  </a:solidFill>
                  <a:latin typeface="Arial"/>
                  <a:ea typeface="Arial"/>
                  <a:cs typeface="Arial"/>
                  <a:sym typeface="Arial"/>
                </a:endParaRPr>
              </a:p>
            </p:txBody>
          </p:sp>
          <p:grpSp>
            <p:nvGrpSpPr>
              <p:cNvPr id="9695" name="Google Shape;9695;p94"/>
              <p:cNvGrpSpPr/>
              <p:nvPr/>
            </p:nvGrpSpPr>
            <p:grpSpPr>
              <a:xfrm>
                <a:off x="5692804" y="4395695"/>
                <a:ext cx="490500" cy="490500"/>
                <a:chOff x="5692804" y="4381181"/>
                <a:chExt cx="490500" cy="490500"/>
              </a:xfrm>
            </p:grpSpPr>
            <p:sp>
              <p:nvSpPr>
                <p:cNvPr id="9696" name="Google Shape;9696;p94"/>
                <p:cNvSpPr/>
                <p:nvPr/>
              </p:nvSpPr>
              <p:spPr>
                <a:xfrm>
                  <a:off x="5692804" y="4381181"/>
                  <a:ext cx="490500" cy="490500"/>
                </a:xfrm>
                <a:prstGeom prst="ellipse">
                  <a:avLst/>
                </a:prstGeom>
                <a:solidFill>
                  <a:srgbClr val="27335F"/>
                </a:solidFill>
                <a:ln>
                  <a:noFill/>
                </a:ln>
              </p:spPr>
              <p:txBody>
                <a:bodyPr spcFirstLastPara="1" wrap="square" lIns="58475" tIns="58475" rIns="58475" bIns="58475" anchor="ctr" anchorCtr="0">
                  <a:noAutofit/>
                </a:bodyPr>
                <a:lstStyle/>
                <a:p>
                  <a:pPr marL="0" marR="0" lvl="0" indent="0" algn="ctr" rtl="0">
                    <a:spcBef>
                      <a:spcPts val="0"/>
                    </a:spcBef>
                    <a:spcAft>
                      <a:spcPts val="0"/>
                    </a:spcAft>
                    <a:buNone/>
                  </a:pPr>
                  <a:endParaRPr sz="1066">
                    <a:solidFill>
                      <a:srgbClr val="041032"/>
                    </a:solidFill>
                    <a:latin typeface="Arial"/>
                    <a:ea typeface="Arial"/>
                    <a:cs typeface="Arial"/>
                    <a:sym typeface="Arial"/>
                  </a:endParaRPr>
                </a:p>
              </p:txBody>
            </p:sp>
            <p:sp>
              <p:nvSpPr>
                <p:cNvPr id="9697" name="Google Shape;9697;p94"/>
                <p:cNvSpPr/>
                <p:nvPr/>
              </p:nvSpPr>
              <p:spPr>
                <a:xfrm>
                  <a:off x="5829353" y="4504933"/>
                  <a:ext cx="217540" cy="243133"/>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rgbClr val="FFFFFF"/>
                </a:solidFill>
                <a:ln>
                  <a:noFill/>
                </a:ln>
              </p:spPr>
              <p:txBody>
                <a:bodyPr spcFirstLastPara="1" wrap="square" lIns="91375" tIns="45675" rIns="91375"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grpSp>
          <p:sp>
            <p:nvSpPr>
              <p:cNvPr id="9698" name="Google Shape;9698;p94"/>
              <p:cNvSpPr txBox="1"/>
              <p:nvPr/>
            </p:nvSpPr>
            <p:spPr>
              <a:xfrm>
                <a:off x="5324538" y="3493938"/>
                <a:ext cx="1223700" cy="164062"/>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066">
                    <a:solidFill>
                      <a:srgbClr val="F2F2F2"/>
                    </a:solidFill>
                    <a:latin typeface="Arial"/>
                    <a:ea typeface="Arial"/>
                    <a:cs typeface="Arial"/>
                    <a:sym typeface="Arial"/>
                  </a:rPr>
                  <a:t>Traditional VMs</a:t>
                </a:r>
                <a:endParaRPr sz="1466">
                  <a:solidFill>
                    <a:srgbClr val="000000"/>
                  </a:solidFill>
                  <a:latin typeface="Arial"/>
                  <a:ea typeface="Arial"/>
                  <a:cs typeface="Arial"/>
                  <a:sym typeface="Arial"/>
                </a:endParaRPr>
              </a:p>
            </p:txBody>
          </p:sp>
          <p:grpSp>
            <p:nvGrpSpPr>
              <p:cNvPr id="9699" name="Google Shape;9699;p94"/>
              <p:cNvGrpSpPr/>
              <p:nvPr/>
            </p:nvGrpSpPr>
            <p:grpSpPr>
              <a:xfrm>
                <a:off x="5691412" y="2949296"/>
                <a:ext cx="490534" cy="490534"/>
                <a:chOff x="5787677" y="2378119"/>
                <a:chExt cx="626400" cy="626400"/>
              </a:xfrm>
            </p:grpSpPr>
            <p:sp>
              <p:nvSpPr>
                <p:cNvPr id="9700" name="Google Shape;9700;p94"/>
                <p:cNvSpPr/>
                <p:nvPr/>
              </p:nvSpPr>
              <p:spPr>
                <a:xfrm>
                  <a:off x="5787677" y="2378119"/>
                  <a:ext cx="626400" cy="626400"/>
                </a:xfrm>
                <a:prstGeom prst="ellipse">
                  <a:avLst/>
                </a:prstGeom>
                <a:solidFill>
                  <a:srgbClr val="041032">
                    <a:alpha val="49019"/>
                  </a:srgbClr>
                </a:solidFill>
                <a:ln>
                  <a:noFill/>
                </a:ln>
              </p:spPr>
              <p:txBody>
                <a:bodyPr spcFirstLastPara="1" wrap="square" lIns="58475" tIns="58475" rIns="58475" bIns="58475" anchor="ctr" anchorCtr="0">
                  <a:noAutofit/>
                </a:bodyPr>
                <a:lstStyle/>
                <a:p>
                  <a:pPr marL="0" marR="0" lvl="0" indent="0" algn="ctr" rtl="0">
                    <a:spcBef>
                      <a:spcPts val="0"/>
                    </a:spcBef>
                    <a:spcAft>
                      <a:spcPts val="0"/>
                    </a:spcAft>
                    <a:buNone/>
                  </a:pPr>
                  <a:endParaRPr sz="1066">
                    <a:solidFill>
                      <a:srgbClr val="041032"/>
                    </a:solidFill>
                    <a:latin typeface="Arial"/>
                    <a:ea typeface="Arial"/>
                    <a:cs typeface="Arial"/>
                    <a:sym typeface="Arial"/>
                  </a:endParaRPr>
                </a:p>
              </p:txBody>
            </p:sp>
            <p:sp>
              <p:nvSpPr>
                <p:cNvPr id="9701" name="Google Shape;9701;p94"/>
                <p:cNvSpPr/>
                <p:nvPr/>
              </p:nvSpPr>
              <p:spPr>
                <a:xfrm>
                  <a:off x="5931763" y="2522087"/>
                  <a:ext cx="337885" cy="338122"/>
                </a:xfrm>
                <a:custGeom>
                  <a:avLst/>
                  <a:gdLst/>
                  <a:ahLst/>
                  <a:cxnLst/>
                  <a:rect l="l" t="t" r="r" b="b"/>
                  <a:pathLst>
                    <a:path w="682595" h="683075" extrusionOk="0">
                      <a:moveTo>
                        <a:pt x="205196" y="288762"/>
                      </a:moveTo>
                      <a:lnTo>
                        <a:pt x="229961" y="288762"/>
                      </a:lnTo>
                      <a:lnTo>
                        <a:pt x="258536" y="360390"/>
                      </a:lnTo>
                      <a:lnTo>
                        <a:pt x="286539" y="288762"/>
                      </a:lnTo>
                      <a:lnTo>
                        <a:pt x="311114" y="288762"/>
                      </a:lnTo>
                      <a:lnTo>
                        <a:pt x="269394" y="387250"/>
                      </a:lnTo>
                      <a:lnTo>
                        <a:pt x="247677" y="387250"/>
                      </a:lnTo>
                      <a:close/>
                      <a:moveTo>
                        <a:pt x="379376" y="286476"/>
                      </a:moveTo>
                      <a:cubicBezTo>
                        <a:pt x="394997" y="286476"/>
                        <a:pt x="407570" y="295620"/>
                        <a:pt x="412714" y="309907"/>
                      </a:cubicBezTo>
                      <a:cubicBezTo>
                        <a:pt x="415381" y="295810"/>
                        <a:pt x="427192" y="286476"/>
                        <a:pt x="442622" y="286476"/>
                      </a:cubicBezTo>
                      <a:cubicBezTo>
                        <a:pt x="463196" y="286476"/>
                        <a:pt x="478627" y="302287"/>
                        <a:pt x="478627" y="324576"/>
                      </a:cubicBezTo>
                      <a:lnTo>
                        <a:pt x="478627" y="387250"/>
                      </a:lnTo>
                      <a:lnTo>
                        <a:pt x="455957" y="387250"/>
                      </a:lnTo>
                      <a:lnTo>
                        <a:pt x="455957" y="328386"/>
                      </a:lnTo>
                      <a:cubicBezTo>
                        <a:pt x="455957" y="315432"/>
                        <a:pt x="448147" y="306288"/>
                        <a:pt x="436907" y="306288"/>
                      </a:cubicBezTo>
                      <a:cubicBezTo>
                        <a:pt x="424144" y="306288"/>
                        <a:pt x="415190" y="314860"/>
                        <a:pt x="415190" y="326862"/>
                      </a:cubicBezTo>
                      <a:lnTo>
                        <a:pt x="415190" y="387250"/>
                      </a:lnTo>
                      <a:lnTo>
                        <a:pt x="392711" y="387250"/>
                      </a:lnTo>
                      <a:lnTo>
                        <a:pt x="392711" y="328386"/>
                      </a:lnTo>
                      <a:cubicBezTo>
                        <a:pt x="392711" y="315432"/>
                        <a:pt x="384710" y="306288"/>
                        <a:pt x="373471" y="306288"/>
                      </a:cubicBezTo>
                      <a:cubicBezTo>
                        <a:pt x="360898" y="306288"/>
                        <a:pt x="351944" y="314860"/>
                        <a:pt x="351944" y="326862"/>
                      </a:cubicBezTo>
                      <a:lnTo>
                        <a:pt x="351944" y="387250"/>
                      </a:lnTo>
                      <a:lnTo>
                        <a:pt x="328703" y="387250"/>
                      </a:lnTo>
                      <a:lnTo>
                        <a:pt x="328703" y="288762"/>
                      </a:lnTo>
                      <a:lnTo>
                        <a:pt x="351944" y="288762"/>
                      </a:lnTo>
                      <a:lnTo>
                        <a:pt x="351944" y="302097"/>
                      </a:lnTo>
                      <a:cubicBezTo>
                        <a:pt x="356897" y="292572"/>
                        <a:pt x="366994" y="286476"/>
                        <a:pt x="379376" y="286476"/>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rgbClr val="FFFFFF"/>
                </a:solidFill>
                <a:ln>
                  <a:noFill/>
                </a:ln>
              </p:spPr>
              <p:txBody>
                <a:bodyPr spcFirstLastPara="1" wrap="square" lIns="91375" tIns="45675" rIns="91375" bIns="45675" anchor="ctr" anchorCtr="0">
                  <a:noAutofit/>
                </a:bodyPr>
                <a:lstStyle/>
                <a:p>
                  <a:pPr marL="0" marR="0" lvl="0" indent="0" algn="ctr" rtl="0">
                    <a:spcBef>
                      <a:spcPts val="0"/>
                    </a:spcBef>
                    <a:spcAft>
                      <a:spcPts val="0"/>
                    </a:spcAft>
                    <a:buNone/>
                  </a:pPr>
                  <a:endParaRPr sz="1066">
                    <a:solidFill>
                      <a:srgbClr val="FFFFFF"/>
                    </a:solidFill>
                    <a:latin typeface="Arial"/>
                    <a:ea typeface="Arial"/>
                    <a:cs typeface="Arial"/>
                    <a:sym typeface="Arial"/>
                  </a:endParaRPr>
                </a:p>
              </p:txBody>
            </p:sp>
          </p:grpSp>
          <p:sp>
            <p:nvSpPr>
              <p:cNvPr id="9702" name="Google Shape;9702;p94"/>
              <p:cNvSpPr txBox="1"/>
              <p:nvPr/>
            </p:nvSpPr>
            <p:spPr>
              <a:xfrm>
                <a:off x="4195573" y="4928409"/>
                <a:ext cx="1223700" cy="27687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066">
                    <a:solidFill>
                      <a:srgbClr val="F2F2F2"/>
                    </a:solidFill>
                    <a:latin typeface="Arial"/>
                    <a:ea typeface="Arial"/>
                    <a:cs typeface="Arial"/>
                    <a:sym typeface="Arial"/>
                  </a:rPr>
                  <a:t>Compute </a:t>
                </a:r>
                <a:br>
                  <a:rPr lang="en-US" sz="1066">
                    <a:solidFill>
                      <a:srgbClr val="F2F2F2"/>
                    </a:solidFill>
                    <a:latin typeface="Arial"/>
                    <a:ea typeface="Arial"/>
                    <a:cs typeface="Arial"/>
                    <a:sym typeface="Arial"/>
                  </a:rPr>
                </a:br>
                <a:r>
                  <a:rPr lang="en-US" sz="933">
                    <a:solidFill>
                      <a:srgbClr val="F2F2F2"/>
                    </a:solidFill>
                    <a:latin typeface="Arial"/>
                    <a:ea typeface="Arial"/>
                    <a:cs typeface="Arial"/>
                    <a:sym typeface="Arial"/>
                  </a:rPr>
                  <a:t>(VMware vSphere)</a:t>
                </a:r>
                <a:endParaRPr sz="1066">
                  <a:solidFill>
                    <a:srgbClr val="F2F2F2"/>
                  </a:solidFill>
                  <a:latin typeface="Arial"/>
                  <a:ea typeface="Arial"/>
                  <a:cs typeface="Arial"/>
                  <a:sym typeface="Arial"/>
                </a:endParaRPr>
              </a:p>
            </p:txBody>
          </p:sp>
          <p:sp>
            <p:nvSpPr>
              <p:cNvPr id="9703" name="Google Shape;9703;p94"/>
              <p:cNvSpPr txBox="1"/>
              <p:nvPr/>
            </p:nvSpPr>
            <p:spPr>
              <a:xfrm>
                <a:off x="4195572" y="3493940"/>
                <a:ext cx="1223700" cy="164062"/>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066">
                    <a:solidFill>
                      <a:srgbClr val="F2F2F2"/>
                    </a:solidFill>
                    <a:latin typeface="Arial"/>
                    <a:ea typeface="Arial"/>
                    <a:cs typeface="Arial"/>
                    <a:sym typeface="Arial"/>
                  </a:rPr>
                  <a:t>AI / ML</a:t>
                </a:r>
                <a:endParaRPr sz="1466">
                  <a:solidFill>
                    <a:srgbClr val="000000"/>
                  </a:solidFill>
                  <a:latin typeface="Arial"/>
                  <a:ea typeface="Arial"/>
                  <a:cs typeface="Arial"/>
                  <a:sym typeface="Arial"/>
                </a:endParaRPr>
              </a:p>
            </p:txBody>
          </p:sp>
          <p:grpSp>
            <p:nvGrpSpPr>
              <p:cNvPr id="9704" name="Google Shape;9704;p94"/>
              <p:cNvGrpSpPr/>
              <p:nvPr/>
            </p:nvGrpSpPr>
            <p:grpSpPr>
              <a:xfrm>
                <a:off x="4561873" y="2950987"/>
                <a:ext cx="490534" cy="490534"/>
                <a:chOff x="4542981" y="2380278"/>
                <a:chExt cx="626400" cy="626400"/>
              </a:xfrm>
            </p:grpSpPr>
            <p:sp>
              <p:nvSpPr>
                <p:cNvPr id="9705" name="Google Shape;9705;p94"/>
                <p:cNvSpPr/>
                <p:nvPr/>
              </p:nvSpPr>
              <p:spPr>
                <a:xfrm>
                  <a:off x="4542981" y="2380278"/>
                  <a:ext cx="626400" cy="626400"/>
                </a:xfrm>
                <a:prstGeom prst="ellipse">
                  <a:avLst/>
                </a:prstGeom>
                <a:solidFill>
                  <a:srgbClr val="041032">
                    <a:alpha val="49019"/>
                  </a:srgbClr>
                </a:solidFill>
                <a:ln>
                  <a:noFill/>
                </a:ln>
              </p:spPr>
              <p:txBody>
                <a:bodyPr spcFirstLastPara="1" wrap="square" lIns="58475" tIns="58475" rIns="58475" bIns="58475" anchor="ctr" anchorCtr="0">
                  <a:noAutofit/>
                </a:bodyPr>
                <a:lstStyle/>
                <a:p>
                  <a:pPr marL="0" marR="0" lvl="0" indent="0" algn="ctr" rtl="0">
                    <a:spcBef>
                      <a:spcPts val="0"/>
                    </a:spcBef>
                    <a:spcAft>
                      <a:spcPts val="0"/>
                    </a:spcAft>
                    <a:buNone/>
                  </a:pPr>
                  <a:endParaRPr sz="1066">
                    <a:solidFill>
                      <a:srgbClr val="041032"/>
                    </a:solidFill>
                    <a:latin typeface="Arial"/>
                    <a:ea typeface="Arial"/>
                    <a:cs typeface="Arial"/>
                    <a:sym typeface="Arial"/>
                  </a:endParaRPr>
                </a:p>
              </p:txBody>
            </p:sp>
            <p:sp>
              <p:nvSpPr>
                <p:cNvPr id="9706" name="Google Shape;9706;p94"/>
                <p:cNvSpPr/>
                <p:nvPr/>
              </p:nvSpPr>
              <p:spPr>
                <a:xfrm>
                  <a:off x="4655463" y="2511875"/>
                  <a:ext cx="400684" cy="362532"/>
                </a:xfrm>
                <a:custGeom>
                  <a:avLst/>
                  <a:gdLst/>
                  <a:ahLst/>
                  <a:cxnLst/>
                  <a:rect l="l" t="t" r="r" b="b"/>
                  <a:pathLst>
                    <a:path w="690834" h="625055" extrusionOk="0">
                      <a:moveTo>
                        <a:pt x="526283" y="456636"/>
                      </a:moveTo>
                      <a:cubicBezTo>
                        <a:pt x="515286" y="456636"/>
                        <a:pt x="506326" y="465596"/>
                        <a:pt x="506326" y="476593"/>
                      </a:cubicBezTo>
                      <a:cubicBezTo>
                        <a:pt x="506326" y="487590"/>
                        <a:pt x="515286" y="496551"/>
                        <a:pt x="526283" y="496551"/>
                      </a:cubicBezTo>
                      <a:cubicBezTo>
                        <a:pt x="537281" y="496551"/>
                        <a:pt x="546241" y="487590"/>
                        <a:pt x="546241" y="476593"/>
                      </a:cubicBezTo>
                      <a:cubicBezTo>
                        <a:pt x="546241" y="465596"/>
                        <a:pt x="537281" y="456636"/>
                        <a:pt x="526283" y="456636"/>
                      </a:cubicBezTo>
                      <a:close/>
                      <a:moveTo>
                        <a:pt x="602347" y="336736"/>
                      </a:moveTo>
                      <a:cubicBezTo>
                        <a:pt x="591350" y="336736"/>
                        <a:pt x="582390" y="345697"/>
                        <a:pt x="582390" y="356694"/>
                      </a:cubicBezTo>
                      <a:cubicBezTo>
                        <a:pt x="582390" y="367691"/>
                        <a:pt x="591350" y="376652"/>
                        <a:pt x="602347" y="376652"/>
                      </a:cubicBezTo>
                      <a:cubicBezTo>
                        <a:pt x="613344" y="376652"/>
                        <a:pt x="622305" y="367691"/>
                        <a:pt x="622305" y="356694"/>
                      </a:cubicBezTo>
                      <a:cubicBezTo>
                        <a:pt x="622305" y="345697"/>
                        <a:pt x="613344" y="336736"/>
                        <a:pt x="602347" y="336736"/>
                      </a:cubicBezTo>
                      <a:close/>
                      <a:moveTo>
                        <a:pt x="50505" y="290558"/>
                      </a:moveTo>
                      <a:cubicBezTo>
                        <a:pt x="39508" y="290558"/>
                        <a:pt x="30548" y="299519"/>
                        <a:pt x="30548" y="310516"/>
                      </a:cubicBezTo>
                      <a:cubicBezTo>
                        <a:pt x="30548" y="321513"/>
                        <a:pt x="39508" y="330474"/>
                        <a:pt x="50505" y="330474"/>
                      </a:cubicBezTo>
                      <a:cubicBezTo>
                        <a:pt x="61503" y="330474"/>
                        <a:pt x="70463" y="321513"/>
                        <a:pt x="70463" y="310516"/>
                      </a:cubicBezTo>
                      <a:cubicBezTo>
                        <a:pt x="70463" y="299519"/>
                        <a:pt x="61503" y="290558"/>
                        <a:pt x="50505" y="290558"/>
                      </a:cubicBezTo>
                      <a:close/>
                      <a:moveTo>
                        <a:pt x="640328" y="216837"/>
                      </a:moveTo>
                      <a:cubicBezTo>
                        <a:pt x="629331" y="216837"/>
                        <a:pt x="620371" y="225797"/>
                        <a:pt x="620371" y="236794"/>
                      </a:cubicBezTo>
                      <a:cubicBezTo>
                        <a:pt x="620371" y="247791"/>
                        <a:pt x="629331" y="256752"/>
                        <a:pt x="640328" y="256752"/>
                      </a:cubicBezTo>
                      <a:cubicBezTo>
                        <a:pt x="651326" y="256752"/>
                        <a:pt x="660286" y="247791"/>
                        <a:pt x="660286" y="236794"/>
                      </a:cubicBezTo>
                      <a:cubicBezTo>
                        <a:pt x="660286" y="225797"/>
                        <a:pt x="651326" y="216837"/>
                        <a:pt x="640328" y="216837"/>
                      </a:cubicBezTo>
                      <a:close/>
                      <a:moveTo>
                        <a:pt x="570628" y="96938"/>
                      </a:moveTo>
                      <a:cubicBezTo>
                        <a:pt x="559631" y="96938"/>
                        <a:pt x="550671" y="105898"/>
                        <a:pt x="550671" y="116895"/>
                      </a:cubicBezTo>
                      <a:cubicBezTo>
                        <a:pt x="550671" y="127892"/>
                        <a:pt x="559631" y="136853"/>
                        <a:pt x="570628" y="136853"/>
                      </a:cubicBezTo>
                      <a:cubicBezTo>
                        <a:pt x="581626" y="136853"/>
                        <a:pt x="590586" y="127892"/>
                        <a:pt x="590586" y="116895"/>
                      </a:cubicBezTo>
                      <a:cubicBezTo>
                        <a:pt x="590586" y="105898"/>
                        <a:pt x="581626" y="96938"/>
                        <a:pt x="570628" y="96938"/>
                      </a:cubicBezTo>
                      <a:close/>
                      <a:moveTo>
                        <a:pt x="354352" y="30548"/>
                      </a:moveTo>
                      <a:cubicBezTo>
                        <a:pt x="314831" y="30548"/>
                        <a:pt x="279147" y="51569"/>
                        <a:pt x="259329" y="83815"/>
                      </a:cubicBezTo>
                      <a:lnTo>
                        <a:pt x="252360" y="101446"/>
                      </a:lnTo>
                      <a:lnTo>
                        <a:pt x="273553" y="98974"/>
                      </a:lnTo>
                      <a:cubicBezTo>
                        <a:pt x="283125" y="99788"/>
                        <a:pt x="292646" y="101570"/>
                        <a:pt x="301810" y="104269"/>
                      </a:cubicBezTo>
                      <a:lnTo>
                        <a:pt x="293206" y="133595"/>
                      </a:lnTo>
                      <a:cubicBezTo>
                        <a:pt x="286027" y="131456"/>
                        <a:pt x="278543" y="130082"/>
                        <a:pt x="271008" y="129471"/>
                      </a:cubicBezTo>
                      <a:cubicBezTo>
                        <a:pt x="209862" y="124430"/>
                        <a:pt x="155843" y="169946"/>
                        <a:pt x="150701" y="231092"/>
                      </a:cubicBezTo>
                      <a:cubicBezTo>
                        <a:pt x="149581" y="244457"/>
                        <a:pt x="150879" y="257796"/>
                        <a:pt x="154437" y="270499"/>
                      </a:cubicBezTo>
                      <a:lnTo>
                        <a:pt x="160642" y="283270"/>
                      </a:lnTo>
                      <a:lnTo>
                        <a:pt x="186646" y="259094"/>
                      </a:lnTo>
                      <a:cubicBezTo>
                        <a:pt x="194842" y="254054"/>
                        <a:pt x="203498" y="249777"/>
                        <a:pt x="212458" y="246519"/>
                      </a:cubicBezTo>
                      <a:lnTo>
                        <a:pt x="222997" y="275183"/>
                      </a:lnTo>
                      <a:cubicBezTo>
                        <a:pt x="215971" y="277779"/>
                        <a:pt x="209149" y="281089"/>
                        <a:pt x="202683" y="285060"/>
                      </a:cubicBezTo>
                      <a:cubicBezTo>
                        <a:pt x="150447" y="317389"/>
                        <a:pt x="134256" y="386172"/>
                        <a:pt x="166586" y="438358"/>
                      </a:cubicBezTo>
                      <a:cubicBezTo>
                        <a:pt x="173637" y="449763"/>
                        <a:pt x="182623" y="459703"/>
                        <a:pt x="193048" y="467786"/>
                      </a:cubicBezTo>
                      <a:lnTo>
                        <a:pt x="222567" y="483161"/>
                      </a:lnTo>
                      <a:lnTo>
                        <a:pt x="243006" y="483161"/>
                      </a:lnTo>
                      <a:cubicBezTo>
                        <a:pt x="243006" y="544562"/>
                        <a:pt x="292951" y="594507"/>
                        <a:pt x="354352" y="594507"/>
                      </a:cubicBezTo>
                      <a:cubicBezTo>
                        <a:pt x="376397" y="594507"/>
                        <a:pt x="397526" y="588092"/>
                        <a:pt x="415803" y="575873"/>
                      </a:cubicBezTo>
                      <a:lnTo>
                        <a:pt x="415803" y="491817"/>
                      </a:lnTo>
                      <a:lnTo>
                        <a:pt x="367487" y="491817"/>
                      </a:lnTo>
                      <a:cubicBezTo>
                        <a:pt x="351654" y="491817"/>
                        <a:pt x="338773" y="506632"/>
                        <a:pt x="338773" y="524808"/>
                      </a:cubicBezTo>
                      <a:lnTo>
                        <a:pt x="308225" y="524808"/>
                      </a:lnTo>
                      <a:cubicBezTo>
                        <a:pt x="308225" y="489780"/>
                        <a:pt x="334801" y="461269"/>
                        <a:pt x="367487" y="461269"/>
                      </a:cubicBezTo>
                      <a:lnTo>
                        <a:pt x="415803" y="461269"/>
                      </a:lnTo>
                      <a:lnTo>
                        <a:pt x="415803" y="371306"/>
                      </a:lnTo>
                      <a:lnTo>
                        <a:pt x="270193" y="371306"/>
                      </a:lnTo>
                      <a:cubicBezTo>
                        <a:pt x="254360" y="371306"/>
                        <a:pt x="241479" y="386121"/>
                        <a:pt x="241479" y="404297"/>
                      </a:cubicBezTo>
                      <a:lnTo>
                        <a:pt x="210931" y="404297"/>
                      </a:lnTo>
                      <a:cubicBezTo>
                        <a:pt x="210931" y="369269"/>
                        <a:pt x="237507" y="340758"/>
                        <a:pt x="270193" y="340758"/>
                      </a:cubicBezTo>
                      <a:lnTo>
                        <a:pt x="415803" y="340758"/>
                      </a:lnTo>
                      <a:lnTo>
                        <a:pt x="415803" y="251712"/>
                      </a:lnTo>
                      <a:lnTo>
                        <a:pt x="303082" y="251712"/>
                      </a:lnTo>
                      <a:cubicBezTo>
                        <a:pt x="270396" y="251712"/>
                        <a:pt x="243820" y="225136"/>
                        <a:pt x="243820" y="192450"/>
                      </a:cubicBezTo>
                      <a:lnTo>
                        <a:pt x="274368" y="192450"/>
                      </a:lnTo>
                      <a:cubicBezTo>
                        <a:pt x="274368" y="208284"/>
                        <a:pt x="287249" y="221165"/>
                        <a:pt x="303082" y="221165"/>
                      </a:cubicBezTo>
                      <a:lnTo>
                        <a:pt x="415803" y="221165"/>
                      </a:lnTo>
                      <a:lnTo>
                        <a:pt x="415803" y="132119"/>
                      </a:lnTo>
                      <a:lnTo>
                        <a:pt x="375633" y="132119"/>
                      </a:lnTo>
                      <a:lnTo>
                        <a:pt x="375633" y="101571"/>
                      </a:lnTo>
                      <a:lnTo>
                        <a:pt x="415803" y="101571"/>
                      </a:lnTo>
                      <a:lnTo>
                        <a:pt x="415803" y="49182"/>
                      </a:lnTo>
                      <a:cubicBezTo>
                        <a:pt x="397475" y="36963"/>
                        <a:pt x="376397" y="30548"/>
                        <a:pt x="354352" y="30548"/>
                      </a:cubicBezTo>
                      <a:close/>
                      <a:moveTo>
                        <a:pt x="354352" y="0"/>
                      </a:moveTo>
                      <a:cubicBezTo>
                        <a:pt x="385612" y="0"/>
                        <a:pt x="415345" y="10081"/>
                        <a:pt x="440343" y="29173"/>
                      </a:cubicBezTo>
                      <a:lnTo>
                        <a:pt x="446351" y="33755"/>
                      </a:lnTo>
                      <a:lnTo>
                        <a:pt x="446351" y="101571"/>
                      </a:lnTo>
                      <a:lnTo>
                        <a:pt x="523214" y="101571"/>
                      </a:lnTo>
                      <a:lnTo>
                        <a:pt x="524098" y="97204"/>
                      </a:lnTo>
                      <a:cubicBezTo>
                        <a:pt x="531775" y="79083"/>
                        <a:pt x="549741" y="66339"/>
                        <a:pt x="570628" y="66339"/>
                      </a:cubicBezTo>
                      <a:cubicBezTo>
                        <a:pt x="598478" y="66339"/>
                        <a:pt x="621134" y="88995"/>
                        <a:pt x="621134" y="116844"/>
                      </a:cubicBezTo>
                      <a:cubicBezTo>
                        <a:pt x="621134" y="144694"/>
                        <a:pt x="598478" y="167350"/>
                        <a:pt x="570628" y="167350"/>
                      </a:cubicBezTo>
                      <a:cubicBezTo>
                        <a:pt x="549741" y="167350"/>
                        <a:pt x="531775" y="154606"/>
                        <a:pt x="524098" y="136485"/>
                      </a:cubicBezTo>
                      <a:lnTo>
                        <a:pt x="523214" y="132119"/>
                      </a:lnTo>
                      <a:lnTo>
                        <a:pt x="446351" y="132119"/>
                      </a:lnTo>
                      <a:lnTo>
                        <a:pt x="446351" y="221470"/>
                      </a:lnTo>
                      <a:lnTo>
                        <a:pt x="592914" y="221470"/>
                      </a:lnTo>
                      <a:lnTo>
                        <a:pt x="593798" y="217103"/>
                      </a:lnTo>
                      <a:cubicBezTo>
                        <a:pt x="601476" y="198982"/>
                        <a:pt x="619442" y="186238"/>
                        <a:pt x="640328" y="186238"/>
                      </a:cubicBezTo>
                      <a:cubicBezTo>
                        <a:pt x="668178" y="186238"/>
                        <a:pt x="690834" y="208894"/>
                        <a:pt x="690834" y="236743"/>
                      </a:cubicBezTo>
                      <a:cubicBezTo>
                        <a:pt x="690834" y="264593"/>
                        <a:pt x="668178" y="287249"/>
                        <a:pt x="640328" y="287249"/>
                      </a:cubicBezTo>
                      <a:cubicBezTo>
                        <a:pt x="619442" y="287249"/>
                        <a:pt x="601476" y="274505"/>
                        <a:pt x="593798" y="256384"/>
                      </a:cubicBezTo>
                      <a:lnTo>
                        <a:pt x="592915" y="252018"/>
                      </a:lnTo>
                      <a:lnTo>
                        <a:pt x="446351" y="252018"/>
                      </a:lnTo>
                      <a:lnTo>
                        <a:pt x="446351" y="341369"/>
                      </a:lnTo>
                      <a:lnTo>
                        <a:pt x="554933" y="341369"/>
                      </a:lnTo>
                      <a:lnTo>
                        <a:pt x="555817" y="337003"/>
                      </a:lnTo>
                      <a:cubicBezTo>
                        <a:pt x="563494" y="318882"/>
                        <a:pt x="581460" y="306138"/>
                        <a:pt x="602347" y="306138"/>
                      </a:cubicBezTo>
                      <a:cubicBezTo>
                        <a:pt x="630197" y="306138"/>
                        <a:pt x="652853" y="328794"/>
                        <a:pt x="652853" y="356643"/>
                      </a:cubicBezTo>
                      <a:cubicBezTo>
                        <a:pt x="652853" y="384493"/>
                        <a:pt x="630197" y="407149"/>
                        <a:pt x="602347" y="407149"/>
                      </a:cubicBezTo>
                      <a:cubicBezTo>
                        <a:pt x="581460" y="407149"/>
                        <a:pt x="563494" y="394405"/>
                        <a:pt x="555817" y="376284"/>
                      </a:cubicBezTo>
                      <a:lnTo>
                        <a:pt x="554933" y="371917"/>
                      </a:lnTo>
                      <a:lnTo>
                        <a:pt x="446351" y="371917"/>
                      </a:lnTo>
                      <a:lnTo>
                        <a:pt x="446351" y="461269"/>
                      </a:lnTo>
                      <a:lnTo>
                        <a:pt x="478869" y="461269"/>
                      </a:lnTo>
                      <a:lnTo>
                        <a:pt x="479753" y="456902"/>
                      </a:lnTo>
                      <a:cubicBezTo>
                        <a:pt x="487430" y="438781"/>
                        <a:pt x="505396" y="426037"/>
                        <a:pt x="526283" y="426037"/>
                      </a:cubicBezTo>
                      <a:cubicBezTo>
                        <a:pt x="554133" y="426037"/>
                        <a:pt x="576789" y="448693"/>
                        <a:pt x="576789" y="476542"/>
                      </a:cubicBezTo>
                      <a:cubicBezTo>
                        <a:pt x="576789" y="504392"/>
                        <a:pt x="554133" y="527048"/>
                        <a:pt x="526283" y="527048"/>
                      </a:cubicBezTo>
                      <a:cubicBezTo>
                        <a:pt x="505396" y="527048"/>
                        <a:pt x="487430" y="514304"/>
                        <a:pt x="479753" y="496183"/>
                      </a:cubicBezTo>
                      <a:lnTo>
                        <a:pt x="478869" y="491817"/>
                      </a:lnTo>
                      <a:lnTo>
                        <a:pt x="446351" y="491817"/>
                      </a:lnTo>
                      <a:lnTo>
                        <a:pt x="446351" y="591249"/>
                      </a:lnTo>
                      <a:lnTo>
                        <a:pt x="440343" y="595831"/>
                      </a:lnTo>
                      <a:cubicBezTo>
                        <a:pt x="415345" y="614923"/>
                        <a:pt x="385612" y="625055"/>
                        <a:pt x="354352" y="625055"/>
                      </a:cubicBezTo>
                      <a:cubicBezTo>
                        <a:pt x="295662" y="625055"/>
                        <a:pt x="245192" y="589257"/>
                        <a:pt x="223624" y="538345"/>
                      </a:cubicBezTo>
                      <a:lnTo>
                        <a:pt x="218933" y="515161"/>
                      </a:lnTo>
                      <a:lnTo>
                        <a:pt x="174395" y="491924"/>
                      </a:lnTo>
                      <a:cubicBezTo>
                        <a:pt x="161113" y="481621"/>
                        <a:pt x="149657" y="468957"/>
                        <a:pt x="140671" y="454446"/>
                      </a:cubicBezTo>
                      <a:cubicBezTo>
                        <a:pt x="120714" y="422219"/>
                        <a:pt x="114502" y="384136"/>
                        <a:pt x="123208" y="347224"/>
                      </a:cubicBezTo>
                      <a:lnTo>
                        <a:pt x="132938" y="325790"/>
                      </a:lnTo>
                      <a:lnTo>
                        <a:pt x="97909" y="325790"/>
                      </a:lnTo>
                      <a:lnTo>
                        <a:pt x="97036" y="330106"/>
                      </a:lnTo>
                      <a:cubicBezTo>
                        <a:pt x="89358" y="348227"/>
                        <a:pt x="71392" y="360971"/>
                        <a:pt x="50505" y="360971"/>
                      </a:cubicBezTo>
                      <a:cubicBezTo>
                        <a:pt x="22656" y="360971"/>
                        <a:pt x="0" y="338315"/>
                        <a:pt x="0" y="310465"/>
                      </a:cubicBezTo>
                      <a:cubicBezTo>
                        <a:pt x="0" y="282616"/>
                        <a:pt x="22656" y="259960"/>
                        <a:pt x="50505" y="259960"/>
                      </a:cubicBezTo>
                      <a:cubicBezTo>
                        <a:pt x="71392" y="259960"/>
                        <a:pt x="89358" y="272704"/>
                        <a:pt x="97036" y="290825"/>
                      </a:cubicBezTo>
                      <a:lnTo>
                        <a:pt x="97930" y="295242"/>
                      </a:lnTo>
                      <a:lnTo>
                        <a:pt x="133039" y="295242"/>
                      </a:lnTo>
                      <a:lnTo>
                        <a:pt x="125015" y="278721"/>
                      </a:lnTo>
                      <a:cubicBezTo>
                        <a:pt x="120484" y="262531"/>
                        <a:pt x="118829" y="245526"/>
                        <a:pt x="120255" y="228496"/>
                      </a:cubicBezTo>
                      <a:cubicBezTo>
                        <a:pt x="125181" y="170035"/>
                        <a:pt x="165045" y="122743"/>
                        <a:pt x="217597" y="105501"/>
                      </a:cubicBezTo>
                      <a:lnTo>
                        <a:pt x="218443" y="105402"/>
                      </a:lnTo>
                      <a:lnTo>
                        <a:pt x="233261" y="67916"/>
                      </a:lnTo>
                      <a:cubicBezTo>
                        <a:pt x="258518" y="26805"/>
                        <a:pt x="303986" y="0"/>
                        <a:pt x="354352" y="0"/>
                      </a:cubicBezTo>
                      <a:close/>
                    </a:path>
                  </a:pathLst>
                </a:custGeom>
                <a:solidFill>
                  <a:srgbClr val="FFFFFF"/>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grpSp>
          <p:grpSp>
            <p:nvGrpSpPr>
              <p:cNvPr id="9707" name="Google Shape;9707;p94"/>
              <p:cNvGrpSpPr/>
              <p:nvPr/>
            </p:nvGrpSpPr>
            <p:grpSpPr>
              <a:xfrm>
                <a:off x="4562059" y="4395695"/>
                <a:ext cx="490500" cy="490500"/>
                <a:chOff x="4716875" y="4381181"/>
                <a:chExt cx="490500" cy="490500"/>
              </a:xfrm>
            </p:grpSpPr>
            <p:sp>
              <p:nvSpPr>
                <p:cNvPr id="9708" name="Google Shape;9708;p94"/>
                <p:cNvSpPr/>
                <p:nvPr/>
              </p:nvSpPr>
              <p:spPr>
                <a:xfrm>
                  <a:off x="4716875" y="4381181"/>
                  <a:ext cx="490500" cy="490500"/>
                </a:xfrm>
                <a:prstGeom prst="ellipse">
                  <a:avLst/>
                </a:prstGeom>
                <a:solidFill>
                  <a:srgbClr val="323160"/>
                </a:solidFill>
                <a:ln>
                  <a:noFill/>
                </a:ln>
              </p:spPr>
              <p:txBody>
                <a:bodyPr spcFirstLastPara="1" wrap="square" lIns="58475" tIns="58475" rIns="58475" bIns="58475" anchor="ctr" anchorCtr="0">
                  <a:noAutofit/>
                </a:bodyPr>
                <a:lstStyle/>
                <a:p>
                  <a:pPr marL="0" marR="0" lvl="0" indent="0" algn="ctr" rtl="0">
                    <a:spcBef>
                      <a:spcPts val="0"/>
                    </a:spcBef>
                    <a:spcAft>
                      <a:spcPts val="0"/>
                    </a:spcAft>
                    <a:buNone/>
                  </a:pPr>
                  <a:endParaRPr sz="1066">
                    <a:solidFill>
                      <a:srgbClr val="041032"/>
                    </a:solidFill>
                    <a:latin typeface="Arial"/>
                    <a:ea typeface="Arial"/>
                    <a:cs typeface="Arial"/>
                    <a:sym typeface="Arial"/>
                  </a:endParaRPr>
                </a:p>
              </p:txBody>
            </p:sp>
            <p:grpSp>
              <p:nvGrpSpPr>
                <p:cNvPr id="9709" name="Google Shape;9709;p94"/>
                <p:cNvGrpSpPr/>
                <p:nvPr/>
              </p:nvGrpSpPr>
              <p:grpSpPr>
                <a:xfrm>
                  <a:off x="4840675" y="4511642"/>
                  <a:ext cx="243130" cy="243138"/>
                  <a:chOff x="3822556" y="5087301"/>
                  <a:chExt cx="611339" cy="557273"/>
                </a:xfrm>
              </p:grpSpPr>
              <p:sp>
                <p:nvSpPr>
                  <p:cNvPr id="9710" name="Google Shape;9710;p94"/>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11" name="Google Shape;9711;p94"/>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rgbClr val="FFFFFF"/>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12" name="Google Shape;9712;p94"/>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grpSp>
          </p:grpSp>
        </p:grpSp>
      </p:grpSp>
      <p:sp>
        <p:nvSpPr>
          <p:cNvPr id="9713" name="Google Shape;9713;p94"/>
          <p:cNvSpPr txBox="1">
            <a:spLocks noGrp="1"/>
          </p:cNvSpPr>
          <p:nvPr>
            <p:ph type="title"/>
          </p:nvPr>
        </p:nvSpPr>
        <p:spPr>
          <a:xfrm>
            <a:off x="581246" y="413536"/>
            <a:ext cx="10997935" cy="381101"/>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SzPts val="2100"/>
              <a:buNone/>
            </a:pPr>
            <a:r>
              <a:rPr lang="en-US">
                <a:solidFill>
                  <a:schemeClr val="accent2"/>
                </a:solidFill>
              </a:rPr>
              <a:t>Delivering the Modern Private Cloud</a:t>
            </a:r>
            <a:endParaRPr>
              <a:solidFill>
                <a:schemeClr val="accent2"/>
              </a:solidFill>
              <a:latin typeface="Arial"/>
              <a:ea typeface="Arial"/>
              <a:cs typeface="Arial"/>
              <a:sym typeface="Arial"/>
            </a:endParaRPr>
          </a:p>
        </p:txBody>
      </p:sp>
      <p:grpSp>
        <p:nvGrpSpPr>
          <p:cNvPr id="9714" name="Google Shape;9714;p94"/>
          <p:cNvGrpSpPr/>
          <p:nvPr/>
        </p:nvGrpSpPr>
        <p:grpSpPr>
          <a:xfrm>
            <a:off x="9749896" y="2760078"/>
            <a:ext cx="1147557" cy="1087054"/>
            <a:chOff x="8869328" y="2759901"/>
            <a:chExt cx="1147856" cy="1087337"/>
          </a:xfrm>
        </p:grpSpPr>
        <p:sp>
          <p:nvSpPr>
            <p:cNvPr id="9715" name="Google Shape;9715;p94"/>
            <p:cNvSpPr txBox="1"/>
            <p:nvPr/>
          </p:nvSpPr>
          <p:spPr>
            <a:xfrm>
              <a:off x="9128884" y="3623138"/>
              <a:ext cx="888300" cy="2241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667"/>
                </a:spcAft>
                <a:buNone/>
              </a:pPr>
              <a:r>
                <a:rPr lang="en-US" sz="1066">
                  <a:solidFill>
                    <a:srgbClr val="0098C7"/>
                  </a:solidFill>
                  <a:latin typeface="Arial"/>
                  <a:ea typeface="Arial"/>
                  <a:cs typeface="Arial"/>
                  <a:sym typeface="Arial"/>
                </a:rPr>
                <a:t>CONSUMER</a:t>
              </a:r>
              <a:endParaRPr sz="1466">
                <a:solidFill>
                  <a:srgbClr val="000000"/>
                </a:solidFill>
                <a:latin typeface="Arial"/>
                <a:ea typeface="Arial"/>
                <a:cs typeface="Arial"/>
                <a:sym typeface="Arial"/>
              </a:endParaRPr>
            </a:p>
          </p:txBody>
        </p:sp>
        <p:sp>
          <p:nvSpPr>
            <p:cNvPr id="9716" name="Google Shape;9716;p94"/>
            <p:cNvSpPr/>
            <p:nvPr/>
          </p:nvSpPr>
          <p:spPr>
            <a:xfrm rot="10800000">
              <a:off x="8869328" y="3006226"/>
              <a:ext cx="224339" cy="32264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83529"/>
              </a:schemeClr>
            </a:solidFill>
            <a:ln>
              <a:noFill/>
            </a:ln>
          </p:spPr>
          <p:txBody>
            <a:bodyPr spcFirstLastPara="1" wrap="square" lIns="91300" tIns="45600" rIns="91300" bIns="45600" anchor="ctr" anchorCtr="0">
              <a:noAutofit/>
            </a:bodyPr>
            <a:lstStyle/>
            <a:p>
              <a:pPr marL="0" marR="0" lvl="0" indent="0" algn="ctr" rtl="0">
                <a:spcBef>
                  <a:spcPts val="0"/>
                </a:spcBef>
                <a:spcAft>
                  <a:spcPts val="0"/>
                </a:spcAft>
                <a:buNone/>
              </a:pPr>
              <a:endParaRPr sz="1066">
                <a:solidFill>
                  <a:srgbClr val="005B84"/>
                </a:solidFill>
                <a:latin typeface="Arial"/>
                <a:ea typeface="Arial"/>
                <a:cs typeface="Arial"/>
                <a:sym typeface="Arial"/>
              </a:endParaRPr>
            </a:p>
          </p:txBody>
        </p:sp>
        <p:sp>
          <p:nvSpPr>
            <p:cNvPr id="9717" name="Google Shape;9717;p94"/>
            <p:cNvSpPr/>
            <p:nvPr/>
          </p:nvSpPr>
          <p:spPr>
            <a:xfrm>
              <a:off x="9228840" y="2837684"/>
              <a:ext cx="684600" cy="684600"/>
            </a:xfrm>
            <a:prstGeom prst="ellipse">
              <a:avLst/>
            </a:prstGeom>
            <a:solidFill>
              <a:schemeClr val="accent3">
                <a:alpha val="83529"/>
              </a:schemeClr>
            </a:solidFill>
            <a:ln>
              <a:noFill/>
            </a:ln>
          </p:spPr>
          <p:txBody>
            <a:bodyPr spcFirstLastPara="1" wrap="square" lIns="91375" tIns="45650" rIns="91375" bIns="4565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9718" name="Google Shape;9718;p94"/>
            <p:cNvSpPr/>
            <p:nvPr/>
          </p:nvSpPr>
          <p:spPr>
            <a:xfrm>
              <a:off x="9508224" y="2807656"/>
              <a:ext cx="115997" cy="285451"/>
            </a:xfrm>
            <a:custGeom>
              <a:avLst/>
              <a:gdLst/>
              <a:ahLst/>
              <a:cxnLst/>
              <a:rect l="l" t="t" r="r" b="b"/>
              <a:pathLst>
                <a:path w="129245" h="318051" extrusionOk="0">
                  <a:moveTo>
                    <a:pt x="19948" y="23405"/>
                  </a:moveTo>
                  <a:cubicBezTo>
                    <a:pt x="19948" y="23405"/>
                    <a:pt x="528" y="31598"/>
                    <a:pt x="9" y="50716"/>
                  </a:cubicBezTo>
                  <a:cubicBezTo>
                    <a:pt x="-509" y="69799"/>
                    <a:pt x="21019" y="84180"/>
                    <a:pt x="17667" y="101604"/>
                  </a:cubicBezTo>
                  <a:cubicBezTo>
                    <a:pt x="14350" y="119028"/>
                    <a:pt x="-7938" y="148724"/>
                    <a:pt x="9961" y="172578"/>
                  </a:cubicBezTo>
                  <a:cubicBezTo>
                    <a:pt x="27861" y="196467"/>
                    <a:pt x="44654" y="202275"/>
                    <a:pt x="37536" y="234530"/>
                  </a:cubicBezTo>
                  <a:cubicBezTo>
                    <a:pt x="30452" y="266784"/>
                    <a:pt x="24647" y="279057"/>
                    <a:pt x="43341" y="300353"/>
                  </a:cubicBezTo>
                  <a:cubicBezTo>
                    <a:pt x="62036" y="321649"/>
                    <a:pt x="129245" y="317777"/>
                    <a:pt x="129245" y="317777"/>
                  </a:cubicBezTo>
                  <a:lnTo>
                    <a:pt x="106888" y="0"/>
                  </a:lnTo>
                  <a:lnTo>
                    <a:pt x="19913" y="23405"/>
                  </a:lnTo>
                  <a:close/>
                </a:path>
              </a:pathLst>
            </a:custGeom>
            <a:solidFill>
              <a:srgbClr val="041032"/>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19" name="Google Shape;9719;p94"/>
            <p:cNvSpPr/>
            <p:nvPr/>
          </p:nvSpPr>
          <p:spPr>
            <a:xfrm>
              <a:off x="9593604" y="2911352"/>
              <a:ext cx="98064" cy="169286"/>
            </a:xfrm>
            <a:custGeom>
              <a:avLst/>
              <a:gdLst/>
              <a:ahLst/>
              <a:cxnLst/>
              <a:rect l="l" t="t" r="r" b="b"/>
              <a:pathLst>
                <a:path w="109263" h="188619" extrusionOk="0">
                  <a:moveTo>
                    <a:pt x="109263" y="188619"/>
                  </a:moveTo>
                  <a:lnTo>
                    <a:pt x="63409" y="0"/>
                  </a:lnTo>
                  <a:lnTo>
                    <a:pt x="0" y="88778"/>
                  </a:lnTo>
                  <a:lnTo>
                    <a:pt x="0" y="188619"/>
                  </a:lnTo>
                  <a:lnTo>
                    <a:pt x="109263" y="188619"/>
                  </a:lnTo>
                  <a:close/>
                </a:path>
              </a:pathLst>
            </a:custGeom>
            <a:solidFill>
              <a:srgbClr val="775339"/>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20" name="Google Shape;9720;p94"/>
            <p:cNvSpPr/>
            <p:nvPr/>
          </p:nvSpPr>
          <p:spPr>
            <a:xfrm>
              <a:off x="9532035" y="2814791"/>
              <a:ext cx="154551" cy="198188"/>
            </a:xfrm>
            <a:custGeom>
              <a:avLst/>
              <a:gdLst/>
              <a:ahLst/>
              <a:cxnLst/>
              <a:rect l="l" t="t" r="r" b="b"/>
              <a:pathLst>
                <a:path w="172202" h="220822" extrusionOk="0">
                  <a:moveTo>
                    <a:pt x="101302" y="216788"/>
                  </a:moveTo>
                  <a:lnTo>
                    <a:pt x="73589" y="220798"/>
                  </a:lnTo>
                  <a:cubicBezTo>
                    <a:pt x="32952" y="221455"/>
                    <a:pt x="21238" y="209009"/>
                    <a:pt x="12979" y="179209"/>
                  </a:cubicBezTo>
                  <a:cubicBezTo>
                    <a:pt x="4720" y="149409"/>
                    <a:pt x="21" y="94649"/>
                    <a:pt x="21" y="94649"/>
                  </a:cubicBezTo>
                  <a:cubicBezTo>
                    <a:pt x="-843" y="45247"/>
                    <a:pt x="25004" y="7357"/>
                    <a:pt x="70064" y="857"/>
                  </a:cubicBezTo>
                  <a:lnTo>
                    <a:pt x="70064" y="857"/>
                  </a:lnTo>
                  <a:cubicBezTo>
                    <a:pt x="115124" y="-5677"/>
                    <a:pt x="157316" y="25852"/>
                    <a:pt x="163812" y="70933"/>
                  </a:cubicBezTo>
                  <a:lnTo>
                    <a:pt x="171345" y="122997"/>
                  </a:lnTo>
                  <a:cubicBezTo>
                    <a:pt x="177876" y="168077"/>
                    <a:pt x="146362" y="210288"/>
                    <a:pt x="101302" y="216788"/>
                  </a:cubicBezTo>
                  <a:close/>
                </a:path>
              </a:pathLst>
            </a:custGeom>
            <a:solidFill>
              <a:srgbClr val="775339"/>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21" name="Google Shape;9721;p94"/>
            <p:cNvSpPr/>
            <p:nvPr/>
          </p:nvSpPr>
          <p:spPr>
            <a:xfrm>
              <a:off x="9293536" y="3071056"/>
              <a:ext cx="338725" cy="283085"/>
            </a:xfrm>
            <a:custGeom>
              <a:avLst/>
              <a:gdLst/>
              <a:ahLst/>
              <a:cxnLst/>
              <a:rect l="l" t="t" r="r" b="b"/>
              <a:pathLst>
                <a:path w="377410" h="315415" extrusionOk="0">
                  <a:moveTo>
                    <a:pt x="0" y="315415"/>
                  </a:moveTo>
                  <a:lnTo>
                    <a:pt x="245894" y="24639"/>
                  </a:lnTo>
                  <a:cubicBezTo>
                    <a:pt x="274955" y="-7201"/>
                    <a:pt x="324714" y="-8342"/>
                    <a:pt x="355192" y="22150"/>
                  </a:cubicBezTo>
                  <a:lnTo>
                    <a:pt x="355192" y="22150"/>
                  </a:lnTo>
                  <a:cubicBezTo>
                    <a:pt x="383700" y="50671"/>
                    <a:pt x="385013" y="96685"/>
                    <a:pt x="357749" y="126416"/>
                  </a:cubicBezTo>
                  <a:cubicBezTo>
                    <a:pt x="295792" y="193933"/>
                    <a:pt x="188705" y="315415"/>
                    <a:pt x="0" y="315415"/>
                  </a:cubicBezTo>
                  <a:close/>
                </a:path>
              </a:pathLst>
            </a:custGeom>
            <a:solidFill>
              <a:srgbClr val="654A44"/>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22" name="Google Shape;9722;p94"/>
            <p:cNvSpPr/>
            <p:nvPr/>
          </p:nvSpPr>
          <p:spPr>
            <a:xfrm>
              <a:off x="9183693" y="3081954"/>
              <a:ext cx="189211" cy="272172"/>
            </a:xfrm>
            <a:custGeom>
              <a:avLst/>
              <a:gdLst/>
              <a:ahLst/>
              <a:cxnLst/>
              <a:rect l="l" t="t" r="r" b="b"/>
              <a:pathLst>
                <a:path w="210820" h="303256" extrusionOk="0">
                  <a:moveTo>
                    <a:pt x="122532" y="303257"/>
                  </a:moveTo>
                  <a:lnTo>
                    <a:pt x="0" y="34329"/>
                  </a:lnTo>
                  <a:lnTo>
                    <a:pt x="17450" y="0"/>
                  </a:lnTo>
                  <a:lnTo>
                    <a:pt x="210821" y="248877"/>
                  </a:lnTo>
                  <a:lnTo>
                    <a:pt x="122532" y="303257"/>
                  </a:lnTo>
                  <a:close/>
                </a:path>
              </a:pathLst>
            </a:custGeom>
            <a:solidFill>
              <a:srgbClr val="654A44"/>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23" name="Google Shape;9723;p94"/>
            <p:cNvSpPr/>
            <p:nvPr/>
          </p:nvSpPr>
          <p:spPr>
            <a:xfrm>
              <a:off x="9484988" y="3064879"/>
              <a:ext cx="297670" cy="456892"/>
            </a:xfrm>
            <a:custGeom>
              <a:avLst/>
              <a:gdLst/>
              <a:ahLst/>
              <a:cxnLst/>
              <a:rect l="l" t="t" r="r" b="b"/>
              <a:pathLst>
                <a:path w="380409" h="583888" extrusionOk="0">
                  <a:moveTo>
                    <a:pt x="152301" y="0"/>
                  </a:moveTo>
                  <a:lnTo>
                    <a:pt x="335952" y="0"/>
                  </a:lnTo>
                  <a:cubicBezTo>
                    <a:pt x="428124" y="152904"/>
                    <a:pt x="350230" y="363947"/>
                    <a:pt x="338730" y="502630"/>
                  </a:cubicBezTo>
                  <a:lnTo>
                    <a:pt x="338939" y="517566"/>
                  </a:lnTo>
                  <a:lnTo>
                    <a:pt x="280019" y="549547"/>
                  </a:lnTo>
                  <a:cubicBezTo>
                    <a:pt x="227737" y="571660"/>
                    <a:pt x="170257" y="583888"/>
                    <a:pt x="109920" y="583888"/>
                  </a:cubicBezTo>
                  <a:cubicBezTo>
                    <a:pt x="79752" y="583888"/>
                    <a:pt x="50297" y="580831"/>
                    <a:pt x="21850" y="575010"/>
                  </a:cubicBezTo>
                  <a:lnTo>
                    <a:pt x="0" y="568227"/>
                  </a:lnTo>
                  <a:lnTo>
                    <a:pt x="3539" y="189543"/>
                  </a:lnTo>
                  <a:cubicBezTo>
                    <a:pt x="4131" y="84655"/>
                    <a:pt x="60259" y="0"/>
                    <a:pt x="152301" y="0"/>
                  </a:cubicBezTo>
                  <a:close/>
                </a:path>
              </a:pathLst>
            </a:custGeom>
            <a:solidFill>
              <a:srgbClr val="CCF3FF"/>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24" name="Google Shape;9724;p94"/>
            <p:cNvSpPr/>
            <p:nvPr/>
          </p:nvSpPr>
          <p:spPr>
            <a:xfrm>
              <a:off x="9529080" y="2773515"/>
              <a:ext cx="298400" cy="313509"/>
            </a:xfrm>
            <a:custGeom>
              <a:avLst/>
              <a:gdLst/>
              <a:ahLst/>
              <a:cxnLst/>
              <a:rect l="l" t="t" r="r" b="b"/>
              <a:pathLst>
                <a:path w="332479" h="349314" extrusionOk="0">
                  <a:moveTo>
                    <a:pt x="324334" y="248070"/>
                  </a:moveTo>
                  <a:cubicBezTo>
                    <a:pt x="292405" y="181659"/>
                    <a:pt x="234180" y="193967"/>
                    <a:pt x="198830" y="83478"/>
                  </a:cubicBezTo>
                  <a:cubicBezTo>
                    <a:pt x="178684" y="20489"/>
                    <a:pt x="117107" y="3515"/>
                    <a:pt x="117107" y="3515"/>
                  </a:cubicBezTo>
                  <a:cubicBezTo>
                    <a:pt x="24016" y="-16432"/>
                    <a:pt x="0" y="54404"/>
                    <a:pt x="0" y="68474"/>
                  </a:cubicBezTo>
                  <a:lnTo>
                    <a:pt x="0" y="68474"/>
                  </a:lnTo>
                  <a:cubicBezTo>
                    <a:pt x="7015" y="85206"/>
                    <a:pt x="30685" y="128213"/>
                    <a:pt x="92919" y="142387"/>
                  </a:cubicBezTo>
                  <a:cubicBezTo>
                    <a:pt x="112097" y="146743"/>
                    <a:pt x="128130" y="160364"/>
                    <a:pt x="134074" y="179101"/>
                  </a:cubicBezTo>
                  <a:cubicBezTo>
                    <a:pt x="141157" y="201399"/>
                    <a:pt x="145788" y="228434"/>
                    <a:pt x="146686" y="261207"/>
                  </a:cubicBezTo>
                  <a:cubicBezTo>
                    <a:pt x="148414" y="322536"/>
                    <a:pt x="181207" y="342380"/>
                    <a:pt x="260373" y="342380"/>
                  </a:cubicBezTo>
                  <a:cubicBezTo>
                    <a:pt x="285045" y="342380"/>
                    <a:pt x="295850" y="349314"/>
                    <a:pt x="320522" y="349314"/>
                  </a:cubicBezTo>
                  <a:cubicBezTo>
                    <a:pt x="325912" y="325875"/>
                    <a:pt x="342234" y="285407"/>
                    <a:pt x="324265" y="248070"/>
                  </a:cubicBezTo>
                  <a:lnTo>
                    <a:pt x="324334" y="248070"/>
                  </a:lnTo>
                  <a:close/>
                </a:path>
              </a:pathLst>
            </a:custGeom>
            <a:solidFill>
              <a:srgbClr val="002D45"/>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25" name="Google Shape;9725;p94"/>
            <p:cNvSpPr/>
            <p:nvPr/>
          </p:nvSpPr>
          <p:spPr>
            <a:xfrm>
              <a:off x="9090583" y="2895081"/>
              <a:ext cx="276984" cy="231682"/>
            </a:xfrm>
            <a:custGeom>
              <a:avLst/>
              <a:gdLst/>
              <a:ahLst/>
              <a:cxnLst/>
              <a:rect l="l" t="t" r="r" b="b"/>
              <a:pathLst>
                <a:path w="308617" h="258141" extrusionOk="0">
                  <a:moveTo>
                    <a:pt x="298065" y="258142"/>
                  </a:moveTo>
                  <a:lnTo>
                    <a:pt x="129436" y="258142"/>
                  </a:lnTo>
                  <a:cubicBezTo>
                    <a:pt x="122076" y="258142"/>
                    <a:pt x="115372" y="253889"/>
                    <a:pt x="112262" y="247217"/>
                  </a:cubicBezTo>
                  <a:lnTo>
                    <a:pt x="684" y="10095"/>
                  </a:lnTo>
                  <a:cubicBezTo>
                    <a:pt x="-1528" y="5393"/>
                    <a:pt x="1893" y="0"/>
                    <a:pt x="7077" y="0"/>
                  </a:cubicBezTo>
                  <a:lnTo>
                    <a:pt x="182859" y="0"/>
                  </a:lnTo>
                  <a:cubicBezTo>
                    <a:pt x="189182" y="0"/>
                    <a:pt x="194918" y="3665"/>
                    <a:pt x="197614" y="9369"/>
                  </a:cubicBezTo>
                  <a:lnTo>
                    <a:pt x="307603" y="243103"/>
                  </a:lnTo>
                  <a:cubicBezTo>
                    <a:pt x="310885" y="250087"/>
                    <a:pt x="305806" y="258142"/>
                    <a:pt x="298065" y="258142"/>
                  </a:cubicBezTo>
                  <a:close/>
                </a:path>
              </a:pathLst>
            </a:custGeom>
            <a:solidFill>
              <a:srgbClr val="B5B5B5"/>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26" name="Google Shape;9726;p94"/>
            <p:cNvSpPr/>
            <p:nvPr/>
          </p:nvSpPr>
          <p:spPr>
            <a:xfrm>
              <a:off x="9339039" y="3107493"/>
              <a:ext cx="193367" cy="246606"/>
            </a:xfrm>
            <a:custGeom>
              <a:avLst/>
              <a:gdLst/>
              <a:ahLst/>
              <a:cxnLst/>
              <a:rect l="l" t="t" r="r" b="b"/>
              <a:pathLst>
                <a:path w="215451" h="274770" extrusionOk="0">
                  <a:moveTo>
                    <a:pt x="125228" y="274770"/>
                  </a:moveTo>
                  <a:lnTo>
                    <a:pt x="0" y="0"/>
                  </a:lnTo>
                  <a:lnTo>
                    <a:pt x="53526" y="5842"/>
                  </a:lnTo>
                  <a:lnTo>
                    <a:pt x="215451" y="219215"/>
                  </a:lnTo>
                  <a:lnTo>
                    <a:pt x="125228" y="274770"/>
                  </a:lnTo>
                  <a:close/>
                </a:path>
              </a:pathLst>
            </a:custGeom>
            <a:solidFill>
              <a:srgbClr val="775339"/>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27" name="Google Shape;9727;p94"/>
            <p:cNvSpPr/>
            <p:nvPr/>
          </p:nvSpPr>
          <p:spPr>
            <a:xfrm>
              <a:off x="9250848" y="3037452"/>
              <a:ext cx="137704" cy="89141"/>
            </a:xfrm>
            <a:custGeom>
              <a:avLst/>
              <a:gdLst/>
              <a:ahLst/>
              <a:cxnLst/>
              <a:rect l="l" t="t" r="r" b="b"/>
              <a:pathLst>
                <a:path w="153431" h="99322" extrusionOk="0">
                  <a:moveTo>
                    <a:pt x="23532" y="0"/>
                  </a:moveTo>
                  <a:lnTo>
                    <a:pt x="103596" y="30630"/>
                  </a:lnTo>
                  <a:lnTo>
                    <a:pt x="89187" y="0"/>
                  </a:lnTo>
                  <a:lnTo>
                    <a:pt x="102076" y="0"/>
                  </a:lnTo>
                  <a:lnTo>
                    <a:pt x="138290" y="31183"/>
                  </a:lnTo>
                  <a:cubicBezTo>
                    <a:pt x="149624" y="42868"/>
                    <a:pt x="155049" y="59047"/>
                    <a:pt x="153010" y="75226"/>
                  </a:cubicBezTo>
                  <a:lnTo>
                    <a:pt x="151904" y="83973"/>
                  </a:lnTo>
                  <a:lnTo>
                    <a:pt x="108054" y="99322"/>
                  </a:lnTo>
                  <a:lnTo>
                    <a:pt x="50416" y="62228"/>
                  </a:lnTo>
                  <a:cubicBezTo>
                    <a:pt x="27402" y="47397"/>
                    <a:pt x="9745" y="25617"/>
                    <a:pt x="0" y="0"/>
                  </a:cubicBezTo>
                  <a:lnTo>
                    <a:pt x="0" y="0"/>
                  </a:lnTo>
                  <a:cubicBezTo>
                    <a:pt x="0" y="0"/>
                    <a:pt x="23532" y="0"/>
                    <a:pt x="23532" y="0"/>
                  </a:cubicBezTo>
                  <a:close/>
                </a:path>
              </a:pathLst>
            </a:custGeom>
            <a:solidFill>
              <a:srgbClr val="775339"/>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28" name="Google Shape;9728;p94"/>
            <p:cNvSpPr/>
            <p:nvPr/>
          </p:nvSpPr>
          <p:spPr>
            <a:xfrm>
              <a:off x="9520620" y="2759901"/>
              <a:ext cx="326576" cy="442274"/>
            </a:xfrm>
            <a:custGeom>
              <a:avLst/>
              <a:gdLst/>
              <a:ahLst/>
              <a:cxnLst/>
              <a:rect l="l" t="t" r="r" b="b"/>
              <a:pathLst>
                <a:path w="363873" h="492784" extrusionOk="0">
                  <a:moveTo>
                    <a:pt x="12893" y="91025"/>
                  </a:moveTo>
                  <a:cubicBezTo>
                    <a:pt x="12893" y="91025"/>
                    <a:pt x="-4626" y="77439"/>
                    <a:pt x="1179" y="53274"/>
                  </a:cubicBezTo>
                  <a:cubicBezTo>
                    <a:pt x="6535" y="30941"/>
                    <a:pt x="28650" y="24926"/>
                    <a:pt x="43751" y="21918"/>
                  </a:cubicBezTo>
                  <a:cubicBezTo>
                    <a:pt x="58852" y="18945"/>
                    <a:pt x="62445" y="0"/>
                    <a:pt x="91472" y="0"/>
                  </a:cubicBezTo>
                  <a:cubicBezTo>
                    <a:pt x="124092" y="0"/>
                    <a:pt x="126234" y="23923"/>
                    <a:pt x="149524" y="21953"/>
                  </a:cubicBezTo>
                  <a:cubicBezTo>
                    <a:pt x="172296" y="20017"/>
                    <a:pt x="211516" y="28728"/>
                    <a:pt x="217978" y="65581"/>
                  </a:cubicBezTo>
                  <a:cubicBezTo>
                    <a:pt x="224440" y="102434"/>
                    <a:pt x="232076" y="118095"/>
                    <a:pt x="257232" y="127118"/>
                  </a:cubicBezTo>
                  <a:cubicBezTo>
                    <a:pt x="282389" y="136141"/>
                    <a:pt x="286057" y="171501"/>
                    <a:pt x="303674" y="196813"/>
                  </a:cubicBezTo>
                  <a:cubicBezTo>
                    <a:pt x="321291" y="222125"/>
                    <a:pt x="357348" y="251242"/>
                    <a:pt x="362932" y="278990"/>
                  </a:cubicBezTo>
                  <a:cubicBezTo>
                    <a:pt x="368516" y="306738"/>
                    <a:pt x="347890" y="336916"/>
                    <a:pt x="337178" y="363302"/>
                  </a:cubicBezTo>
                  <a:cubicBezTo>
                    <a:pt x="340334" y="450711"/>
                    <a:pt x="308925" y="488770"/>
                    <a:pt x="293115" y="492784"/>
                  </a:cubicBezTo>
                  <a:lnTo>
                    <a:pt x="240931" y="394318"/>
                  </a:lnTo>
                  <a:lnTo>
                    <a:pt x="115487" y="98078"/>
                  </a:lnTo>
                  <a:lnTo>
                    <a:pt x="12893" y="91025"/>
                  </a:lnTo>
                  <a:close/>
                </a:path>
              </a:pathLst>
            </a:custGeom>
            <a:solidFill>
              <a:srgbClr val="002D45"/>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29" name="Google Shape;9729;p94"/>
            <p:cNvSpPr/>
            <p:nvPr/>
          </p:nvSpPr>
          <p:spPr>
            <a:xfrm>
              <a:off x="9451298" y="3064899"/>
              <a:ext cx="346080" cy="289248"/>
            </a:xfrm>
            <a:custGeom>
              <a:avLst/>
              <a:gdLst/>
              <a:ahLst/>
              <a:cxnLst/>
              <a:rect l="l" t="t" r="r" b="b"/>
              <a:pathLst>
                <a:path w="385604" h="322282" extrusionOk="0">
                  <a:moveTo>
                    <a:pt x="0" y="322283"/>
                  </a:moveTo>
                  <a:lnTo>
                    <a:pt x="251250" y="25180"/>
                  </a:lnTo>
                  <a:cubicBezTo>
                    <a:pt x="280933" y="-7352"/>
                    <a:pt x="331764" y="-8527"/>
                    <a:pt x="362898" y="22621"/>
                  </a:cubicBezTo>
                  <a:lnTo>
                    <a:pt x="362898" y="22621"/>
                  </a:lnTo>
                  <a:cubicBezTo>
                    <a:pt x="392028" y="51765"/>
                    <a:pt x="393375" y="98781"/>
                    <a:pt x="365524" y="129135"/>
                  </a:cubicBezTo>
                  <a:cubicBezTo>
                    <a:pt x="302219" y="198138"/>
                    <a:pt x="192783" y="322248"/>
                    <a:pt x="0" y="322248"/>
                  </a:cubicBezTo>
                  <a:close/>
                </a:path>
              </a:pathLst>
            </a:custGeom>
            <a:solidFill>
              <a:srgbClr val="775339"/>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grpSp>
      <p:grpSp>
        <p:nvGrpSpPr>
          <p:cNvPr id="9730" name="Google Shape;9730;p94"/>
          <p:cNvGrpSpPr/>
          <p:nvPr/>
        </p:nvGrpSpPr>
        <p:grpSpPr>
          <a:xfrm>
            <a:off x="1276894" y="3577479"/>
            <a:ext cx="1162694" cy="2072342"/>
            <a:chOff x="1838651" y="3577517"/>
            <a:chExt cx="1162998" cy="2072881"/>
          </a:xfrm>
        </p:grpSpPr>
        <p:sp>
          <p:nvSpPr>
            <p:cNvPr id="9731" name="Google Shape;9731;p94"/>
            <p:cNvSpPr/>
            <p:nvPr/>
          </p:nvSpPr>
          <p:spPr>
            <a:xfrm>
              <a:off x="2776135" y="4411191"/>
              <a:ext cx="225514" cy="324337"/>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83529"/>
              </a:schemeClr>
            </a:solidFill>
            <a:ln>
              <a:noFill/>
            </a:ln>
          </p:spPr>
          <p:txBody>
            <a:bodyPr spcFirstLastPara="1" wrap="square" lIns="182575" tIns="91275" rIns="182575" bIns="91275" anchor="ctr" anchorCtr="0">
              <a:noAutofit/>
            </a:bodyPr>
            <a:lstStyle/>
            <a:p>
              <a:pPr marL="0" marR="0" lvl="0" indent="0" algn="ctr" rtl="0">
                <a:spcBef>
                  <a:spcPts val="0"/>
                </a:spcBef>
                <a:spcAft>
                  <a:spcPts val="0"/>
                </a:spcAft>
                <a:buNone/>
              </a:pPr>
              <a:endParaRPr sz="1066">
                <a:solidFill>
                  <a:srgbClr val="3C3C3C"/>
                </a:solidFill>
                <a:latin typeface="Arial"/>
                <a:ea typeface="Arial"/>
                <a:cs typeface="Arial"/>
                <a:sym typeface="Arial"/>
              </a:endParaRPr>
            </a:p>
          </p:txBody>
        </p:sp>
        <p:sp>
          <p:nvSpPr>
            <p:cNvPr id="9732" name="Google Shape;9732;p94"/>
            <p:cNvSpPr/>
            <p:nvPr/>
          </p:nvSpPr>
          <p:spPr>
            <a:xfrm>
              <a:off x="2029073" y="4198025"/>
              <a:ext cx="684600" cy="684600"/>
            </a:xfrm>
            <a:prstGeom prst="ellipse">
              <a:avLst/>
            </a:prstGeom>
            <a:solidFill>
              <a:srgbClr val="C3B2D7">
                <a:alpha val="83529"/>
              </a:srgbClr>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066">
                <a:solidFill>
                  <a:srgbClr val="041032"/>
                </a:solidFill>
                <a:latin typeface="Arial"/>
                <a:ea typeface="Arial"/>
                <a:cs typeface="Arial"/>
                <a:sym typeface="Arial"/>
              </a:endParaRPr>
            </a:p>
          </p:txBody>
        </p:sp>
        <p:grpSp>
          <p:nvGrpSpPr>
            <p:cNvPr id="9733" name="Google Shape;9733;p94"/>
            <p:cNvGrpSpPr/>
            <p:nvPr/>
          </p:nvGrpSpPr>
          <p:grpSpPr>
            <a:xfrm>
              <a:off x="2197732" y="3839426"/>
              <a:ext cx="706955" cy="1329674"/>
              <a:chOff x="1273766" y="3865466"/>
              <a:chExt cx="932535" cy="1753956"/>
            </a:xfrm>
          </p:grpSpPr>
          <p:sp>
            <p:nvSpPr>
              <p:cNvPr id="9734" name="Google Shape;9734;p94"/>
              <p:cNvSpPr/>
              <p:nvPr/>
            </p:nvSpPr>
            <p:spPr>
              <a:xfrm flipH="1">
                <a:off x="1594702" y="3865466"/>
                <a:ext cx="253502" cy="253502"/>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B37CD8">
                  <a:alpha val="67058"/>
                </a:srgbClr>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35" name="Google Shape;9735;p94"/>
              <p:cNvSpPr/>
              <p:nvPr/>
            </p:nvSpPr>
            <p:spPr>
              <a:xfrm rot="1535207" flipH="1">
                <a:off x="1886778" y="5299899"/>
                <a:ext cx="273821" cy="273821"/>
              </a:xfrm>
              <a:custGeom>
                <a:avLst/>
                <a:gdLst/>
                <a:ahLst/>
                <a:cxnLst/>
                <a:rect l="l" t="t" r="r" b="b"/>
                <a:pathLst>
                  <a:path w="261342" h="261342" extrusionOk="0">
                    <a:moveTo>
                      <a:pt x="201362" y="-1"/>
                    </a:moveTo>
                    <a:cubicBezTo>
                      <a:pt x="234488" y="-1"/>
                      <a:pt x="261343" y="26854"/>
                      <a:pt x="261343" y="59980"/>
                    </a:cubicBezTo>
                    <a:lnTo>
                      <a:pt x="261343" y="201362"/>
                    </a:lnTo>
                    <a:cubicBezTo>
                      <a:pt x="261343" y="234488"/>
                      <a:pt x="234488" y="261342"/>
                      <a:pt x="201362" y="261342"/>
                    </a:cubicBezTo>
                    <a:lnTo>
                      <a:pt x="59980" y="261342"/>
                    </a:lnTo>
                    <a:cubicBezTo>
                      <a:pt x="26854" y="261342"/>
                      <a:pt x="0" y="234488"/>
                      <a:pt x="0" y="201362"/>
                    </a:cubicBezTo>
                    <a:lnTo>
                      <a:pt x="0" y="59980"/>
                    </a:lnTo>
                    <a:cubicBezTo>
                      <a:pt x="0" y="26854"/>
                      <a:pt x="26854" y="-1"/>
                      <a:pt x="59980" y="-1"/>
                    </a:cubicBezTo>
                    <a:close/>
                  </a:path>
                </a:pathLst>
              </a:custGeom>
              <a:solidFill>
                <a:srgbClr val="1D4287">
                  <a:alpha val="67058"/>
                </a:srgbClr>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36" name="Google Shape;9736;p94"/>
              <p:cNvSpPr/>
              <p:nvPr/>
            </p:nvSpPr>
            <p:spPr>
              <a:xfrm flipH="1">
                <a:off x="1322804" y="4129469"/>
                <a:ext cx="331166" cy="597777"/>
              </a:xfrm>
              <a:custGeom>
                <a:avLst/>
                <a:gdLst/>
                <a:ahLst/>
                <a:cxnLst/>
                <a:rect l="l" t="t" r="r" b="b"/>
                <a:pathLst>
                  <a:path w="245763" h="443619" extrusionOk="0">
                    <a:moveTo>
                      <a:pt x="245763" y="425314"/>
                    </a:moveTo>
                    <a:lnTo>
                      <a:pt x="89970" y="236805"/>
                    </a:lnTo>
                    <a:lnTo>
                      <a:pt x="66991" y="2726"/>
                    </a:lnTo>
                    <a:lnTo>
                      <a:pt x="0" y="0"/>
                    </a:lnTo>
                    <a:lnTo>
                      <a:pt x="3116" y="264458"/>
                    </a:lnTo>
                    <a:lnTo>
                      <a:pt x="110613" y="443620"/>
                    </a:lnTo>
                    <a:lnTo>
                      <a:pt x="245763" y="425314"/>
                    </a:lnTo>
                    <a:close/>
                  </a:path>
                </a:pathLst>
              </a:custGeom>
              <a:gradFill>
                <a:gsLst>
                  <a:gs pos="0">
                    <a:srgbClr val="5F2785"/>
                  </a:gs>
                  <a:gs pos="100000">
                    <a:srgbClr val="3F1A59"/>
                  </a:gs>
                </a:gsLst>
                <a:lin ang="5400012" scaled="0"/>
              </a:gra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37" name="Google Shape;9737;p94"/>
              <p:cNvSpPr/>
              <p:nvPr/>
            </p:nvSpPr>
            <p:spPr>
              <a:xfrm flipH="1">
                <a:off x="1499807" y="4641503"/>
                <a:ext cx="372101" cy="712181"/>
              </a:xfrm>
              <a:custGeom>
                <a:avLst/>
                <a:gdLst/>
                <a:ahLst/>
                <a:cxnLst/>
                <a:rect l="l" t="t" r="r" b="b"/>
                <a:pathLst>
                  <a:path w="276142" h="528520" extrusionOk="0">
                    <a:moveTo>
                      <a:pt x="0" y="495414"/>
                    </a:moveTo>
                    <a:lnTo>
                      <a:pt x="92697" y="284704"/>
                    </a:lnTo>
                    <a:lnTo>
                      <a:pt x="131645" y="56858"/>
                    </a:lnTo>
                    <a:cubicBezTo>
                      <a:pt x="139824" y="13625"/>
                      <a:pt x="185394" y="-11302"/>
                      <a:pt x="226289" y="5057"/>
                    </a:cubicBezTo>
                    <a:lnTo>
                      <a:pt x="276143" y="25310"/>
                    </a:lnTo>
                    <a:cubicBezTo>
                      <a:pt x="276143" y="25310"/>
                      <a:pt x="201362" y="289768"/>
                      <a:pt x="182277" y="328327"/>
                    </a:cubicBezTo>
                    <a:cubicBezTo>
                      <a:pt x="132813" y="408949"/>
                      <a:pt x="66602" y="528520"/>
                      <a:pt x="66602" y="528520"/>
                    </a:cubicBezTo>
                    <a:lnTo>
                      <a:pt x="0" y="495025"/>
                    </a:lnTo>
                    <a:close/>
                  </a:path>
                </a:pathLst>
              </a:custGeom>
              <a:solidFill>
                <a:srgbClr val="6C4B8F"/>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38" name="Google Shape;9738;p94"/>
              <p:cNvSpPr/>
              <p:nvPr/>
            </p:nvSpPr>
            <p:spPr>
              <a:xfrm flipH="1">
                <a:off x="1551626" y="3954594"/>
                <a:ext cx="97343" cy="177390"/>
              </a:xfrm>
              <a:custGeom>
                <a:avLst/>
                <a:gdLst/>
                <a:ahLst/>
                <a:cxnLst/>
                <a:rect l="l" t="t" r="r" b="b"/>
                <a:pathLst>
                  <a:path w="72240" h="131644" extrusionOk="0">
                    <a:moveTo>
                      <a:pt x="2523" y="130087"/>
                    </a:moveTo>
                    <a:lnTo>
                      <a:pt x="2523" y="130087"/>
                    </a:lnTo>
                    <a:cubicBezTo>
                      <a:pt x="-3709" y="108276"/>
                      <a:pt x="1744" y="84518"/>
                      <a:pt x="17323" y="67770"/>
                    </a:cubicBezTo>
                    <a:lnTo>
                      <a:pt x="28618" y="55696"/>
                    </a:lnTo>
                    <a:lnTo>
                      <a:pt x="18492" y="12853"/>
                    </a:lnTo>
                    <a:lnTo>
                      <a:pt x="35239" y="0"/>
                    </a:lnTo>
                    <a:lnTo>
                      <a:pt x="72240" y="63096"/>
                    </a:lnTo>
                    <a:lnTo>
                      <a:pt x="63672" y="131645"/>
                    </a:lnTo>
                    <a:lnTo>
                      <a:pt x="2523" y="129308"/>
                    </a:lnTo>
                    <a:close/>
                  </a:path>
                </a:pathLst>
              </a:custGeom>
              <a:solidFill>
                <a:srgbClr val="DAA874"/>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grpSp>
            <p:nvGrpSpPr>
              <p:cNvPr id="9739" name="Google Shape;9739;p94"/>
              <p:cNvGrpSpPr/>
              <p:nvPr/>
            </p:nvGrpSpPr>
            <p:grpSpPr>
              <a:xfrm flipH="1">
                <a:off x="1337842" y="4274040"/>
                <a:ext cx="254180" cy="384634"/>
                <a:chOff x="1935946" y="3808057"/>
                <a:chExt cx="188519" cy="285273"/>
              </a:xfrm>
            </p:grpSpPr>
            <p:sp>
              <p:nvSpPr>
                <p:cNvPr id="9740" name="Google Shape;9740;p94"/>
                <p:cNvSpPr/>
                <p:nvPr/>
              </p:nvSpPr>
              <p:spPr>
                <a:xfrm>
                  <a:off x="1981085" y="3943196"/>
                  <a:ext cx="124370" cy="150134"/>
                </a:xfrm>
                <a:custGeom>
                  <a:avLst/>
                  <a:gdLst/>
                  <a:ahLst/>
                  <a:cxnLst/>
                  <a:rect l="l" t="t" r="r" b="b"/>
                  <a:pathLst>
                    <a:path w="124370" h="150134" extrusionOk="0">
                      <a:moveTo>
                        <a:pt x="102044" y="149745"/>
                      </a:moveTo>
                      <a:cubicBezTo>
                        <a:pt x="102044" y="149745"/>
                        <a:pt x="83739" y="99891"/>
                        <a:pt x="118013" y="34069"/>
                      </a:cubicBezTo>
                      <a:cubicBezTo>
                        <a:pt x="155793" y="-38764"/>
                        <a:pt x="12853" y="27837"/>
                        <a:pt x="12853" y="27837"/>
                      </a:cubicBezTo>
                      <a:lnTo>
                        <a:pt x="0" y="140008"/>
                      </a:lnTo>
                      <a:lnTo>
                        <a:pt x="101655" y="150134"/>
                      </a:lnTo>
                      <a:close/>
                    </a:path>
                  </a:pathLst>
                </a:custGeom>
                <a:solidFill>
                  <a:srgbClr val="DAA874"/>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41" name="Google Shape;9741;p94"/>
                <p:cNvSpPr/>
                <p:nvPr/>
              </p:nvSpPr>
              <p:spPr>
                <a:xfrm>
                  <a:off x="1935946" y="3817192"/>
                  <a:ext cx="177451" cy="206460"/>
                </a:xfrm>
                <a:custGeom>
                  <a:avLst/>
                  <a:gdLst/>
                  <a:ahLst/>
                  <a:cxnLst/>
                  <a:rect l="l" t="t" r="r" b="b"/>
                  <a:pathLst>
                    <a:path w="177451" h="206460" extrusionOk="0">
                      <a:moveTo>
                        <a:pt x="66171" y="205253"/>
                      </a:moveTo>
                      <a:lnTo>
                        <a:pt x="66171" y="205253"/>
                      </a:lnTo>
                      <a:cubicBezTo>
                        <a:pt x="19823" y="195516"/>
                        <a:pt x="-3157" y="177600"/>
                        <a:pt x="349" y="126967"/>
                      </a:cubicBezTo>
                      <a:lnTo>
                        <a:pt x="6580" y="74387"/>
                      </a:lnTo>
                      <a:cubicBezTo>
                        <a:pt x="16318" y="19470"/>
                        <a:pt x="62666" y="-7793"/>
                        <a:pt x="109014" y="1944"/>
                      </a:cubicBezTo>
                      <a:lnTo>
                        <a:pt x="109014" y="1944"/>
                      </a:lnTo>
                      <a:cubicBezTo>
                        <a:pt x="155363" y="11681"/>
                        <a:pt x="185353" y="57250"/>
                        <a:pt x="175616" y="103598"/>
                      </a:cubicBezTo>
                      <a:lnTo>
                        <a:pt x="164321" y="156957"/>
                      </a:lnTo>
                      <a:cubicBezTo>
                        <a:pt x="163152" y="162800"/>
                        <a:pt x="112909" y="214990"/>
                        <a:pt x="66561" y="205253"/>
                      </a:cubicBezTo>
                      <a:close/>
                    </a:path>
                  </a:pathLst>
                </a:custGeom>
                <a:solidFill>
                  <a:srgbClr val="DAA874"/>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42" name="Google Shape;9742;p94"/>
                <p:cNvSpPr/>
                <p:nvPr/>
              </p:nvSpPr>
              <p:spPr>
                <a:xfrm>
                  <a:off x="1950389" y="3808057"/>
                  <a:ext cx="174076" cy="184787"/>
                </a:xfrm>
                <a:custGeom>
                  <a:avLst/>
                  <a:gdLst/>
                  <a:ahLst/>
                  <a:cxnLst/>
                  <a:rect l="l" t="t" r="r" b="b"/>
                  <a:pathLst>
                    <a:path w="174076" h="184787" extrusionOk="0">
                      <a:moveTo>
                        <a:pt x="3822" y="49637"/>
                      </a:moveTo>
                      <a:cubicBezTo>
                        <a:pt x="-6694" y="32111"/>
                        <a:pt x="5769" y="14584"/>
                        <a:pt x="25633" y="10300"/>
                      </a:cubicBezTo>
                      <a:cubicBezTo>
                        <a:pt x="48612" y="4847"/>
                        <a:pt x="75097" y="-4111"/>
                        <a:pt x="105087" y="2121"/>
                      </a:cubicBezTo>
                      <a:cubicBezTo>
                        <a:pt x="164288" y="14584"/>
                        <a:pt x="176752" y="67943"/>
                        <a:pt x="173636" y="95596"/>
                      </a:cubicBezTo>
                      <a:cubicBezTo>
                        <a:pt x="169741" y="131428"/>
                        <a:pt x="140919" y="184787"/>
                        <a:pt x="140919" y="184787"/>
                      </a:cubicBezTo>
                      <a:lnTo>
                        <a:pt x="100413" y="176219"/>
                      </a:lnTo>
                      <a:cubicBezTo>
                        <a:pt x="89897" y="173882"/>
                        <a:pt x="82497" y="164145"/>
                        <a:pt x="82887" y="153629"/>
                      </a:cubicBezTo>
                      <a:lnTo>
                        <a:pt x="84055" y="131428"/>
                      </a:lnTo>
                      <a:lnTo>
                        <a:pt x="47054" y="110396"/>
                      </a:lnTo>
                      <a:lnTo>
                        <a:pt x="51728" y="84691"/>
                      </a:lnTo>
                      <a:cubicBezTo>
                        <a:pt x="54065" y="73006"/>
                        <a:pt x="53286" y="53143"/>
                        <a:pt x="30307" y="52364"/>
                      </a:cubicBezTo>
                      <a:lnTo>
                        <a:pt x="4211" y="50027"/>
                      </a:lnTo>
                      <a:lnTo>
                        <a:pt x="4211" y="50027"/>
                      </a:lnTo>
                      <a:close/>
                    </a:path>
                  </a:pathLst>
                </a:custGeom>
                <a:solidFill>
                  <a:srgbClr val="002D45"/>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43" name="Google Shape;9743;p94"/>
                <p:cNvSpPr/>
                <p:nvPr/>
              </p:nvSpPr>
              <p:spPr>
                <a:xfrm rot="-4691101">
                  <a:off x="1989861" y="3920746"/>
                  <a:ext cx="56153" cy="41335"/>
                </a:xfrm>
                <a:custGeom>
                  <a:avLst/>
                  <a:gdLst/>
                  <a:ahLst/>
                  <a:cxnLst/>
                  <a:rect l="l" t="t" r="r" b="b"/>
                  <a:pathLst>
                    <a:path w="56085" h="41285" extrusionOk="0">
                      <a:moveTo>
                        <a:pt x="56085" y="20642"/>
                      </a:moveTo>
                      <a:cubicBezTo>
                        <a:pt x="56085" y="32043"/>
                        <a:pt x="43530" y="41285"/>
                        <a:pt x="28042" y="41285"/>
                      </a:cubicBezTo>
                      <a:cubicBezTo>
                        <a:pt x="12555" y="41285"/>
                        <a:pt x="0" y="32043"/>
                        <a:pt x="0" y="20642"/>
                      </a:cubicBezTo>
                      <a:cubicBezTo>
                        <a:pt x="0" y="9242"/>
                        <a:pt x="12555" y="0"/>
                        <a:pt x="28042" y="0"/>
                      </a:cubicBezTo>
                      <a:cubicBezTo>
                        <a:pt x="43530" y="0"/>
                        <a:pt x="56085" y="9242"/>
                        <a:pt x="56085" y="20642"/>
                      </a:cubicBezTo>
                      <a:close/>
                    </a:path>
                  </a:pathLst>
                </a:custGeom>
                <a:solidFill>
                  <a:srgbClr val="DAA874"/>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grpSp>
          <p:sp>
            <p:nvSpPr>
              <p:cNvPr id="9744" name="Google Shape;9744;p94"/>
              <p:cNvSpPr/>
              <p:nvPr/>
            </p:nvSpPr>
            <p:spPr>
              <a:xfrm flipH="1">
                <a:off x="1373682" y="4268254"/>
                <a:ext cx="232262" cy="145755"/>
              </a:xfrm>
              <a:custGeom>
                <a:avLst/>
                <a:gdLst/>
                <a:ahLst/>
                <a:cxnLst/>
                <a:rect l="l" t="t" r="r" b="b"/>
                <a:pathLst>
                  <a:path w="172365" h="108167" extrusionOk="0">
                    <a:moveTo>
                      <a:pt x="172366" y="33777"/>
                    </a:moveTo>
                    <a:cubicBezTo>
                      <a:pt x="172366" y="33777"/>
                      <a:pt x="150165" y="3787"/>
                      <a:pt x="129912" y="1450"/>
                    </a:cubicBezTo>
                    <a:cubicBezTo>
                      <a:pt x="78890" y="-4003"/>
                      <a:pt x="994" y="7682"/>
                      <a:pt x="994" y="7682"/>
                    </a:cubicBezTo>
                    <a:cubicBezTo>
                      <a:pt x="994" y="7682"/>
                      <a:pt x="-9133" y="64156"/>
                      <a:pt x="35268" y="86357"/>
                    </a:cubicBezTo>
                    <a:cubicBezTo>
                      <a:pt x="63311" y="86746"/>
                      <a:pt x="78890" y="108168"/>
                      <a:pt x="78890" y="108168"/>
                    </a:cubicBezTo>
                    <a:lnTo>
                      <a:pt x="172366" y="33387"/>
                    </a:lnTo>
                    <a:close/>
                  </a:path>
                </a:pathLst>
              </a:custGeom>
              <a:solidFill>
                <a:srgbClr val="002D45"/>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45" name="Google Shape;9745;p94"/>
              <p:cNvSpPr/>
              <p:nvPr/>
            </p:nvSpPr>
            <p:spPr>
              <a:xfrm flipH="1">
                <a:off x="1799541" y="5311588"/>
                <a:ext cx="167944" cy="183689"/>
              </a:xfrm>
              <a:custGeom>
                <a:avLst/>
                <a:gdLst/>
                <a:ahLst/>
                <a:cxnLst/>
                <a:rect l="l" t="t" r="r" b="b"/>
                <a:pathLst>
                  <a:path w="124634" h="136318" extrusionOk="0">
                    <a:moveTo>
                      <a:pt x="124634" y="25316"/>
                    </a:moveTo>
                    <a:lnTo>
                      <a:pt x="98149" y="103992"/>
                    </a:lnTo>
                    <a:lnTo>
                      <a:pt x="42843" y="136319"/>
                    </a:lnTo>
                    <a:lnTo>
                      <a:pt x="29211" y="126971"/>
                    </a:lnTo>
                    <a:lnTo>
                      <a:pt x="19085" y="128919"/>
                    </a:lnTo>
                    <a:lnTo>
                      <a:pt x="10906" y="123466"/>
                    </a:lnTo>
                    <a:lnTo>
                      <a:pt x="42843" y="79844"/>
                    </a:lnTo>
                    <a:lnTo>
                      <a:pt x="8958" y="112171"/>
                    </a:lnTo>
                    <a:lnTo>
                      <a:pt x="0" y="102823"/>
                    </a:lnTo>
                    <a:lnTo>
                      <a:pt x="47517" y="46348"/>
                    </a:lnTo>
                    <a:lnTo>
                      <a:pt x="32327" y="14800"/>
                    </a:lnTo>
                    <a:lnTo>
                      <a:pt x="50633" y="3116"/>
                    </a:lnTo>
                    <a:lnTo>
                      <a:pt x="74002" y="0"/>
                    </a:lnTo>
                    <a:lnTo>
                      <a:pt x="124634" y="25316"/>
                    </a:lnTo>
                    <a:close/>
                  </a:path>
                </a:pathLst>
              </a:custGeom>
              <a:solidFill>
                <a:srgbClr val="DAA874"/>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46" name="Google Shape;9746;p94"/>
              <p:cNvSpPr/>
              <p:nvPr/>
            </p:nvSpPr>
            <p:spPr>
              <a:xfrm flipH="1">
                <a:off x="1358429" y="4594228"/>
                <a:ext cx="193660" cy="71376"/>
              </a:xfrm>
              <a:custGeom>
                <a:avLst/>
                <a:gdLst/>
                <a:ahLst/>
                <a:cxnLst/>
                <a:rect l="l" t="t" r="r" b="b"/>
                <a:pathLst>
                  <a:path w="143718" h="52969" extrusionOk="0">
                    <a:moveTo>
                      <a:pt x="143719" y="52970"/>
                    </a:moveTo>
                    <a:lnTo>
                      <a:pt x="136319" y="3895"/>
                    </a:lnTo>
                    <a:lnTo>
                      <a:pt x="8179" y="0"/>
                    </a:lnTo>
                    <a:lnTo>
                      <a:pt x="0" y="44790"/>
                    </a:lnTo>
                    <a:lnTo>
                      <a:pt x="143719" y="52970"/>
                    </a:lnTo>
                    <a:close/>
                  </a:path>
                </a:pathLst>
              </a:custGeom>
              <a:solidFill>
                <a:srgbClr val="E5D2F2"/>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47" name="Google Shape;9747;p94"/>
              <p:cNvSpPr/>
              <p:nvPr/>
            </p:nvSpPr>
            <p:spPr>
              <a:xfrm>
                <a:off x="1273766" y="4615235"/>
                <a:ext cx="395954" cy="632618"/>
              </a:xfrm>
              <a:custGeom>
                <a:avLst/>
                <a:gdLst/>
                <a:ahLst/>
                <a:cxnLst/>
                <a:rect l="l" t="t" r="r" b="b"/>
                <a:pathLst>
                  <a:path w="437518" h="699025" extrusionOk="0">
                    <a:moveTo>
                      <a:pt x="249835" y="0"/>
                    </a:moveTo>
                    <a:lnTo>
                      <a:pt x="386378" y="31376"/>
                    </a:lnTo>
                    <a:cubicBezTo>
                      <a:pt x="386378" y="31376"/>
                      <a:pt x="412623" y="346778"/>
                      <a:pt x="434366" y="616748"/>
                    </a:cubicBezTo>
                    <a:lnTo>
                      <a:pt x="437518" y="656137"/>
                    </a:lnTo>
                    <a:lnTo>
                      <a:pt x="423858" y="663551"/>
                    </a:lnTo>
                    <a:cubicBezTo>
                      <a:pt x="369851" y="686394"/>
                      <a:pt x="310474" y="699025"/>
                      <a:pt x="248147" y="699025"/>
                    </a:cubicBezTo>
                    <a:cubicBezTo>
                      <a:pt x="185820" y="699025"/>
                      <a:pt x="126443" y="686394"/>
                      <a:pt x="72437" y="663551"/>
                    </a:cubicBezTo>
                    <a:lnTo>
                      <a:pt x="31994" y="641600"/>
                    </a:lnTo>
                    <a:lnTo>
                      <a:pt x="570" y="194066"/>
                    </a:lnTo>
                    <a:cubicBezTo>
                      <a:pt x="-5820" y="104587"/>
                      <a:pt x="42404" y="32538"/>
                      <a:pt x="101671" y="17430"/>
                    </a:cubicBezTo>
                    <a:lnTo>
                      <a:pt x="101089" y="18013"/>
                    </a:lnTo>
                    <a:lnTo>
                      <a:pt x="132465" y="47064"/>
                    </a:lnTo>
                    <a:close/>
                  </a:path>
                </a:pathLst>
              </a:custGeom>
              <a:solidFill>
                <a:srgbClr val="6C4B8F"/>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grpSp>
        <p:grpSp>
          <p:nvGrpSpPr>
            <p:cNvPr id="9748" name="Google Shape;9748;p94"/>
            <p:cNvGrpSpPr/>
            <p:nvPr/>
          </p:nvGrpSpPr>
          <p:grpSpPr>
            <a:xfrm>
              <a:off x="1838651" y="3577517"/>
              <a:ext cx="732749" cy="181872"/>
              <a:chOff x="-1988762" y="2025033"/>
              <a:chExt cx="991810" cy="246172"/>
            </a:xfrm>
          </p:grpSpPr>
          <p:sp>
            <p:nvSpPr>
              <p:cNvPr id="9749" name="Google Shape;9749;p94"/>
              <p:cNvSpPr/>
              <p:nvPr/>
            </p:nvSpPr>
            <p:spPr>
              <a:xfrm flipH="1">
                <a:off x="-1988762" y="2028810"/>
                <a:ext cx="242395" cy="242395"/>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2453AA">
                  <a:alpha val="67058"/>
                </a:srgbClr>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50" name="Google Shape;9750;p94"/>
              <p:cNvSpPr/>
              <p:nvPr/>
            </p:nvSpPr>
            <p:spPr>
              <a:xfrm flipH="1">
                <a:off x="-1632331" y="2025033"/>
                <a:ext cx="242395" cy="242395"/>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BC9EDC">
                  <a:alpha val="26666"/>
                </a:srgbClr>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sp>
            <p:nvSpPr>
              <p:cNvPr id="9751" name="Google Shape;9751;p94"/>
              <p:cNvSpPr/>
              <p:nvPr/>
            </p:nvSpPr>
            <p:spPr>
              <a:xfrm flipH="1">
                <a:off x="-1239347" y="2025033"/>
                <a:ext cx="242395" cy="242395"/>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9165C0">
                  <a:alpha val="26666"/>
                </a:srgbClr>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466">
                  <a:solidFill>
                    <a:srgbClr val="000000"/>
                  </a:solidFill>
                  <a:latin typeface="Arial"/>
                  <a:ea typeface="Arial"/>
                  <a:cs typeface="Arial"/>
                  <a:sym typeface="Arial"/>
                </a:endParaRPr>
              </a:p>
            </p:txBody>
          </p:sp>
        </p:grpSp>
        <p:sp>
          <p:nvSpPr>
            <p:cNvPr id="9752" name="Google Shape;9752;p94"/>
            <p:cNvSpPr txBox="1"/>
            <p:nvPr/>
          </p:nvSpPr>
          <p:spPr>
            <a:xfrm>
              <a:off x="2015242" y="4975398"/>
              <a:ext cx="710400" cy="6750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066">
                  <a:solidFill>
                    <a:srgbClr val="6C4B93"/>
                  </a:solidFill>
                  <a:latin typeface="Arial"/>
                  <a:ea typeface="Arial"/>
                  <a:cs typeface="Arial"/>
                  <a:sym typeface="Arial"/>
                </a:rPr>
                <a:t>CLOUD ADMIN</a:t>
              </a:r>
              <a:endParaRPr sz="1466">
                <a:solidFill>
                  <a:srgbClr val="000000"/>
                </a:solidFill>
                <a:latin typeface="Arial"/>
                <a:ea typeface="Arial"/>
                <a:cs typeface="Arial"/>
                <a:sym typeface="Arial"/>
              </a:endParaRPr>
            </a:p>
          </p:txBody>
        </p:sp>
      </p:grpSp>
      <p:sp>
        <p:nvSpPr>
          <p:cNvPr id="9753" name="Google Shape;9753;p94"/>
          <p:cNvSpPr txBox="1"/>
          <p:nvPr/>
        </p:nvSpPr>
        <p:spPr>
          <a:xfrm>
            <a:off x="7108841" y="6440943"/>
            <a:ext cx="4400854" cy="297514"/>
          </a:xfrm>
          <a:prstGeom prst="rect">
            <a:avLst/>
          </a:prstGeom>
          <a:noFill/>
          <a:ln>
            <a:noFill/>
          </a:ln>
        </p:spPr>
        <p:txBody>
          <a:bodyPr spcFirstLastPara="1" wrap="square" lIns="91375" tIns="45650" rIns="91375" bIns="45650" anchor="t" anchorCtr="0">
            <a:spAutoFit/>
          </a:bodyPr>
          <a:lstStyle/>
          <a:p>
            <a:pPr marL="0" marR="0" lvl="0" indent="0" algn="r" rtl="0">
              <a:spcBef>
                <a:spcPts val="0"/>
              </a:spcBef>
              <a:spcAft>
                <a:spcPts val="0"/>
              </a:spcAft>
              <a:buNone/>
            </a:pPr>
            <a:r>
              <a:rPr lang="en-US" sz="667">
                <a:solidFill>
                  <a:srgbClr val="000001"/>
                </a:solidFill>
                <a:latin typeface="Arial"/>
                <a:ea typeface="Arial"/>
                <a:cs typeface="Arial"/>
                <a:sym typeface="Arial"/>
              </a:rPr>
              <a:t>The information in this presentation is for informational purposes only and may not be incorporated</a:t>
            </a:r>
            <a:endParaRPr sz="1866">
              <a:solidFill>
                <a:srgbClr val="000001"/>
              </a:solidFill>
              <a:latin typeface="Arial"/>
              <a:ea typeface="Arial"/>
              <a:cs typeface="Arial"/>
              <a:sym typeface="Arial"/>
            </a:endParaRPr>
          </a:p>
          <a:p>
            <a:pPr marL="0" marR="0" lvl="0" indent="0" algn="r" rtl="0">
              <a:spcBef>
                <a:spcPts val="0"/>
              </a:spcBef>
              <a:spcAft>
                <a:spcPts val="0"/>
              </a:spcAft>
              <a:buNone/>
            </a:pPr>
            <a:r>
              <a:rPr lang="en-US" sz="667">
                <a:solidFill>
                  <a:srgbClr val="000001"/>
                </a:solidFill>
                <a:latin typeface="Arial"/>
                <a:ea typeface="Arial"/>
                <a:cs typeface="Arial"/>
                <a:sym typeface="Arial"/>
              </a:rPr>
              <a:t>into any contract. There is no commitment or obligation to deliver any items presented herein.</a:t>
            </a:r>
            <a:endParaRPr sz="1866">
              <a:solidFill>
                <a:srgbClr val="000001"/>
              </a:solidFill>
              <a:latin typeface="Arial"/>
              <a:ea typeface="Arial"/>
              <a:cs typeface="Arial"/>
              <a:sym typeface="Arial"/>
            </a:endParaRPr>
          </a:p>
        </p:txBody>
      </p:sp>
      <p:grpSp>
        <p:nvGrpSpPr>
          <p:cNvPr id="9754" name="Google Shape;9754;p94"/>
          <p:cNvGrpSpPr/>
          <p:nvPr/>
        </p:nvGrpSpPr>
        <p:grpSpPr>
          <a:xfrm>
            <a:off x="2156872" y="1175906"/>
            <a:ext cx="7875052" cy="828000"/>
            <a:chOff x="1994229" y="1233375"/>
            <a:chExt cx="7877100" cy="828215"/>
          </a:xfrm>
        </p:grpSpPr>
        <p:sp>
          <p:nvSpPr>
            <p:cNvPr id="9755" name="Google Shape;9755;p94"/>
            <p:cNvSpPr/>
            <p:nvPr/>
          </p:nvSpPr>
          <p:spPr>
            <a:xfrm>
              <a:off x="1994229" y="1233375"/>
              <a:ext cx="7877100" cy="828215"/>
            </a:xfrm>
            <a:prstGeom prst="roundRect">
              <a:avLst>
                <a:gd name="adj" fmla="val 14530"/>
              </a:avLst>
            </a:prstGeom>
            <a:gradFill>
              <a:gsLst>
                <a:gs pos="0">
                  <a:srgbClr val="002060"/>
                </a:gs>
                <a:gs pos="100000">
                  <a:srgbClr val="00A5DD"/>
                </a:gs>
              </a:gsLst>
              <a:lin ang="0"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066">
                <a:solidFill>
                  <a:srgbClr val="FFFFFF"/>
                </a:solidFill>
                <a:latin typeface="Arial"/>
                <a:ea typeface="Arial"/>
                <a:cs typeface="Arial"/>
                <a:sym typeface="Arial"/>
              </a:endParaRPr>
            </a:p>
          </p:txBody>
        </p:sp>
        <p:sp>
          <p:nvSpPr>
            <p:cNvPr id="9756" name="Google Shape;9756;p94"/>
            <p:cNvSpPr/>
            <p:nvPr/>
          </p:nvSpPr>
          <p:spPr>
            <a:xfrm>
              <a:off x="2027093" y="1269030"/>
              <a:ext cx="7814032" cy="756197"/>
            </a:xfrm>
            <a:prstGeom prst="roundRect">
              <a:avLst>
                <a:gd name="adj" fmla="val 10245"/>
              </a:avLst>
            </a:prstGeom>
            <a:solidFill>
              <a:schemeClr val="lt1">
                <a:alpha val="94117"/>
              </a:schemeClr>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066">
                <a:solidFill>
                  <a:srgbClr val="0098C7"/>
                </a:solidFill>
                <a:latin typeface="Arial"/>
                <a:ea typeface="Arial"/>
                <a:cs typeface="Arial"/>
                <a:sym typeface="Arial"/>
              </a:endParaRPr>
            </a:p>
          </p:txBody>
        </p:sp>
      </p:grpSp>
      <p:sp>
        <p:nvSpPr>
          <p:cNvPr id="9757" name="Google Shape;9757;p94"/>
          <p:cNvSpPr/>
          <p:nvPr/>
        </p:nvSpPr>
        <p:spPr>
          <a:xfrm>
            <a:off x="5008878" y="1082044"/>
            <a:ext cx="2171034" cy="274728"/>
          </a:xfrm>
          <a:prstGeom prst="roundRect">
            <a:avLst>
              <a:gd name="adj" fmla="val 50000"/>
            </a:avLst>
          </a:prstGeom>
          <a:gradFill>
            <a:gsLst>
              <a:gs pos="0">
                <a:schemeClr val="accent3"/>
              </a:gs>
              <a:gs pos="35000">
                <a:schemeClr val="accent3"/>
              </a:gs>
              <a:gs pos="100000">
                <a:schemeClr val="accent2"/>
              </a:gs>
            </a:gsLst>
            <a:lin ang="18900044"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1066" b="1">
                <a:solidFill>
                  <a:srgbClr val="FFFFFF"/>
                </a:solidFill>
                <a:latin typeface="Arial"/>
                <a:ea typeface="Arial"/>
                <a:cs typeface="Arial"/>
                <a:sym typeface="Arial"/>
              </a:rPr>
              <a:t>VCF Advanced Services</a:t>
            </a:r>
            <a:endParaRPr sz="1466">
              <a:solidFill>
                <a:srgbClr val="000000"/>
              </a:solidFill>
              <a:latin typeface="Arial"/>
              <a:ea typeface="Arial"/>
              <a:cs typeface="Arial"/>
              <a:sym typeface="Arial"/>
            </a:endParaRPr>
          </a:p>
        </p:txBody>
      </p:sp>
      <p:grpSp>
        <p:nvGrpSpPr>
          <p:cNvPr id="9758" name="Google Shape;9758;p94"/>
          <p:cNvGrpSpPr/>
          <p:nvPr/>
        </p:nvGrpSpPr>
        <p:grpSpPr>
          <a:xfrm>
            <a:off x="2339687" y="1425459"/>
            <a:ext cx="7410191" cy="449914"/>
            <a:chOff x="2717473" y="1424949"/>
            <a:chExt cx="6753026" cy="450031"/>
          </a:xfrm>
        </p:grpSpPr>
        <p:sp>
          <p:nvSpPr>
            <p:cNvPr id="9759" name="Google Shape;9759;p94"/>
            <p:cNvSpPr txBox="1"/>
            <p:nvPr/>
          </p:nvSpPr>
          <p:spPr>
            <a:xfrm>
              <a:off x="2717473" y="1487241"/>
              <a:ext cx="359100" cy="258471"/>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None/>
              </a:pPr>
              <a:r>
                <a:rPr lang="en-US" sz="933">
                  <a:solidFill>
                    <a:srgbClr val="005C8A"/>
                  </a:solidFill>
                  <a:latin typeface="Arial"/>
                  <a:ea typeface="Arial"/>
                  <a:cs typeface="Arial"/>
                  <a:sym typeface="Arial"/>
                </a:rPr>
                <a:t>Private</a:t>
              </a:r>
              <a:br>
                <a:rPr lang="en-US" sz="933">
                  <a:solidFill>
                    <a:srgbClr val="005C8A"/>
                  </a:solidFill>
                  <a:latin typeface="Arial"/>
                  <a:ea typeface="Arial"/>
                  <a:cs typeface="Arial"/>
                  <a:sym typeface="Arial"/>
                </a:rPr>
              </a:br>
              <a:r>
                <a:rPr lang="en-US" sz="933">
                  <a:solidFill>
                    <a:srgbClr val="005C8A"/>
                  </a:solidFill>
                  <a:latin typeface="Arial"/>
                  <a:ea typeface="Arial"/>
                  <a:cs typeface="Arial"/>
                  <a:sym typeface="Arial"/>
                </a:rPr>
                <a:t>AI</a:t>
              </a:r>
              <a:endParaRPr sz="933">
                <a:solidFill>
                  <a:srgbClr val="005C8A"/>
                </a:solidFill>
                <a:latin typeface="Arial"/>
                <a:ea typeface="Arial"/>
                <a:cs typeface="Arial"/>
                <a:sym typeface="Arial"/>
              </a:endParaRPr>
            </a:p>
          </p:txBody>
        </p:sp>
        <p:sp>
          <p:nvSpPr>
            <p:cNvPr id="9760" name="Google Shape;9760;p94"/>
            <p:cNvSpPr txBox="1"/>
            <p:nvPr/>
          </p:nvSpPr>
          <p:spPr>
            <a:xfrm>
              <a:off x="3345207" y="1424949"/>
              <a:ext cx="679800" cy="387707"/>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None/>
              </a:pPr>
              <a:r>
                <a:rPr lang="en-US" sz="933">
                  <a:solidFill>
                    <a:srgbClr val="005C8A"/>
                  </a:solidFill>
                  <a:latin typeface="Arial"/>
                  <a:ea typeface="Arial"/>
                  <a:cs typeface="Arial"/>
                  <a:sym typeface="Arial"/>
                </a:rPr>
                <a:t>DR and </a:t>
              </a:r>
              <a:br>
                <a:rPr lang="en-US" sz="933">
                  <a:solidFill>
                    <a:srgbClr val="005C8A"/>
                  </a:solidFill>
                  <a:latin typeface="Arial"/>
                  <a:ea typeface="Arial"/>
                  <a:cs typeface="Arial"/>
                  <a:sym typeface="Arial"/>
                </a:rPr>
              </a:br>
              <a:r>
                <a:rPr lang="en-US" sz="933">
                  <a:solidFill>
                    <a:srgbClr val="005C8A"/>
                  </a:solidFill>
                  <a:latin typeface="Arial"/>
                  <a:ea typeface="Arial"/>
                  <a:cs typeface="Arial"/>
                  <a:sym typeface="Arial"/>
                </a:rPr>
                <a:t>Ransomware</a:t>
              </a:r>
              <a:br>
                <a:rPr lang="en-US" sz="933">
                  <a:solidFill>
                    <a:srgbClr val="005C8A"/>
                  </a:solidFill>
                  <a:latin typeface="Arial"/>
                  <a:ea typeface="Arial"/>
                  <a:cs typeface="Arial"/>
                  <a:sym typeface="Arial"/>
                </a:rPr>
              </a:br>
              <a:r>
                <a:rPr lang="en-US" sz="933">
                  <a:solidFill>
                    <a:srgbClr val="005C8A"/>
                  </a:solidFill>
                  <a:latin typeface="Arial"/>
                  <a:ea typeface="Arial"/>
                  <a:cs typeface="Arial"/>
                  <a:sym typeface="Arial"/>
                </a:rPr>
                <a:t>Recovery</a:t>
              </a:r>
              <a:endParaRPr sz="933">
                <a:solidFill>
                  <a:srgbClr val="005C8A"/>
                </a:solidFill>
                <a:latin typeface="Arial"/>
                <a:ea typeface="Arial"/>
                <a:cs typeface="Arial"/>
                <a:sym typeface="Arial"/>
              </a:endParaRPr>
            </a:p>
          </p:txBody>
        </p:sp>
        <p:sp>
          <p:nvSpPr>
            <p:cNvPr id="9761" name="Google Shape;9761;p94"/>
            <p:cNvSpPr txBox="1"/>
            <p:nvPr/>
          </p:nvSpPr>
          <p:spPr>
            <a:xfrm>
              <a:off x="4198738" y="1487241"/>
              <a:ext cx="545100" cy="258471"/>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None/>
              </a:pPr>
              <a:r>
                <a:rPr lang="en-US" sz="933">
                  <a:solidFill>
                    <a:srgbClr val="005C8A"/>
                  </a:solidFill>
                  <a:latin typeface="Arial"/>
                  <a:ea typeface="Arial"/>
                  <a:cs typeface="Arial"/>
                  <a:sym typeface="Arial"/>
                </a:rPr>
                <a:t>Advanced </a:t>
              </a:r>
              <a:endParaRPr sz="933">
                <a:solidFill>
                  <a:srgbClr val="005C8A"/>
                </a:solidFill>
                <a:latin typeface="Arial"/>
                <a:ea typeface="Arial"/>
                <a:cs typeface="Arial"/>
                <a:sym typeface="Arial"/>
              </a:endParaRPr>
            </a:p>
            <a:p>
              <a:pPr marL="0" marR="0" lvl="0" indent="0" algn="ctr" rtl="0">
                <a:lnSpc>
                  <a:spcPct val="90000"/>
                </a:lnSpc>
                <a:spcBef>
                  <a:spcPts val="0"/>
                </a:spcBef>
                <a:spcAft>
                  <a:spcPts val="0"/>
                </a:spcAft>
                <a:buNone/>
              </a:pPr>
              <a:r>
                <a:rPr lang="en-US" sz="933">
                  <a:solidFill>
                    <a:srgbClr val="005C8A"/>
                  </a:solidFill>
                  <a:latin typeface="Arial"/>
                  <a:ea typeface="Arial"/>
                  <a:cs typeface="Arial"/>
                  <a:sym typeface="Arial"/>
                </a:rPr>
                <a:t>Security</a:t>
              </a:r>
              <a:endParaRPr sz="933">
                <a:solidFill>
                  <a:srgbClr val="005C8A"/>
                </a:solidFill>
                <a:latin typeface="Arial"/>
                <a:ea typeface="Arial"/>
                <a:cs typeface="Arial"/>
                <a:sym typeface="Arial"/>
              </a:endParaRPr>
            </a:p>
          </p:txBody>
        </p:sp>
        <p:sp>
          <p:nvSpPr>
            <p:cNvPr id="9762" name="Google Shape;9762;p94"/>
            <p:cNvSpPr txBox="1"/>
            <p:nvPr/>
          </p:nvSpPr>
          <p:spPr>
            <a:xfrm>
              <a:off x="6623452" y="1487241"/>
              <a:ext cx="442500" cy="258471"/>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None/>
              </a:pPr>
              <a:r>
                <a:rPr lang="en-US" sz="933">
                  <a:solidFill>
                    <a:srgbClr val="005C8A"/>
                  </a:solidFill>
                  <a:latin typeface="Arial"/>
                  <a:ea typeface="Arial"/>
                  <a:cs typeface="Arial"/>
                  <a:sym typeface="Arial"/>
                </a:rPr>
                <a:t>Data </a:t>
              </a:r>
              <a:br>
                <a:rPr lang="en-US" sz="933">
                  <a:solidFill>
                    <a:srgbClr val="005C8A"/>
                  </a:solidFill>
                  <a:latin typeface="Arial"/>
                  <a:ea typeface="Arial"/>
                  <a:cs typeface="Arial"/>
                  <a:sym typeface="Arial"/>
                </a:rPr>
              </a:br>
              <a:r>
                <a:rPr lang="en-US" sz="933">
                  <a:solidFill>
                    <a:srgbClr val="005C8A"/>
                  </a:solidFill>
                  <a:latin typeface="Arial"/>
                  <a:ea typeface="Arial"/>
                  <a:cs typeface="Arial"/>
                  <a:sym typeface="Arial"/>
                </a:rPr>
                <a:t>Services</a:t>
              </a:r>
              <a:endParaRPr sz="933">
                <a:solidFill>
                  <a:srgbClr val="005C8A"/>
                </a:solidFill>
                <a:latin typeface="Arial"/>
                <a:ea typeface="Arial"/>
                <a:cs typeface="Arial"/>
                <a:sym typeface="Arial"/>
              </a:endParaRPr>
            </a:p>
          </p:txBody>
        </p:sp>
        <p:sp>
          <p:nvSpPr>
            <p:cNvPr id="9763" name="Google Shape;9763;p94"/>
            <p:cNvSpPr txBox="1"/>
            <p:nvPr/>
          </p:nvSpPr>
          <p:spPr>
            <a:xfrm>
              <a:off x="7324396" y="1487241"/>
              <a:ext cx="666900" cy="258471"/>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None/>
              </a:pPr>
              <a:r>
                <a:rPr lang="en-US" sz="933">
                  <a:solidFill>
                    <a:srgbClr val="005C8A"/>
                  </a:solidFill>
                  <a:latin typeface="Arial"/>
                  <a:ea typeface="Arial"/>
                  <a:cs typeface="Arial"/>
                  <a:sym typeface="Arial"/>
                </a:rPr>
                <a:t>Network </a:t>
              </a:r>
              <a:endParaRPr sz="1466">
                <a:solidFill>
                  <a:srgbClr val="000000"/>
                </a:solidFill>
                <a:latin typeface="Arial"/>
                <a:ea typeface="Arial"/>
                <a:cs typeface="Arial"/>
                <a:sym typeface="Arial"/>
              </a:endParaRPr>
            </a:p>
            <a:p>
              <a:pPr marL="0" marR="0" lvl="0" indent="0" algn="ctr" rtl="0">
                <a:lnSpc>
                  <a:spcPct val="90000"/>
                </a:lnSpc>
                <a:spcBef>
                  <a:spcPts val="0"/>
                </a:spcBef>
                <a:spcAft>
                  <a:spcPts val="0"/>
                </a:spcAft>
                <a:buNone/>
              </a:pPr>
              <a:r>
                <a:rPr lang="en-US" sz="933">
                  <a:solidFill>
                    <a:srgbClr val="005C8A"/>
                  </a:solidFill>
                  <a:latin typeface="Arial"/>
                  <a:ea typeface="Arial"/>
                  <a:cs typeface="Arial"/>
                  <a:sym typeface="Arial"/>
                </a:rPr>
                <a:t>Observability</a:t>
              </a:r>
              <a:endParaRPr sz="933">
                <a:solidFill>
                  <a:srgbClr val="005C8A"/>
                </a:solidFill>
                <a:latin typeface="Arial"/>
                <a:ea typeface="Arial"/>
                <a:cs typeface="Arial"/>
                <a:sym typeface="Arial"/>
              </a:endParaRPr>
            </a:p>
          </p:txBody>
        </p:sp>
        <p:sp>
          <p:nvSpPr>
            <p:cNvPr id="9764" name="Google Shape;9764;p94"/>
            <p:cNvSpPr txBox="1"/>
            <p:nvPr/>
          </p:nvSpPr>
          <p:spPr>
            <a:xfrm>
              <a:off x="8216287" y="1487241"/>
              <a:ext cx="564300" cy="258471"/>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None/>
              </a:pPr>
              <a:r>
                <a:rPr lang="en-US" sz="933">
                  <a:solidFill>
                    <a:srgbClr val="005C8A"/>
                  </a:solidFill>
                  <a:latin typeface="Arial"/>
                  <a:ea typeface="Arial"/>
                  <a:cs typeface="Arial"/>
                  <a:sym typeface="Arial"/>
                </a:rPr>
                <a:t>Business </a:t>
              </a:r>
              <a:br>
                <a:rPr lang="en-US" sz="933">
                  <a:solidFill>
                    <a:srgbClr val="005C8A"/>
                  </a:solidFill>
                  <a:latin typeface="Arial"/>
                  <a:ea typeface="Arial"/>
                  <a:cs typeface="Arial"/>
                  <a:sym typeface="Arial"/>
                </a:rPr>
              </a:br>
              <a:r>
                <a:rPr lang="en-US" sz="933">
                  <a:solidFill>
                    <a:srgbClr val="005C8A"/>
                  </a:solidFill>
                  <a:latin typeface="Arial"/>
                  <a:ea typeface="Arial"/>
                  <a:cs typeface="Arial"/>
                  <a:sym typeface="Arial"/>
                </a:rPr>
                <a:t>Operations</a:t>
              </a:r>
              <a:endParaRPr sz="933">
                <a:solidFill>
                  <a:srgbClr val="005C8A"/>
                </a:solidFill>
                <a:latin typeface="Arial"/>
                <a:ea typeface="Arial"/>
                <a:cs typeface="Arial"/>
                <a:sym typeface="Arial"/>
              </a:endParaRPr>
            </a:p>
          </p:txBody>
        </p:sp>
        <p:sp>
          <p:nvSpPr>
            <p:cNvPr id="9765" name="Google Shape;9765;p94"/>
            <p:cNvSpPr txBox="1"/>
            <p:nvPr/>
          </p:nvSpPr>
          <p:spPr>
            <a:xfrm>
              <a:off x="5718881" y="1487242"/>
              <a:ext cx="596399" cy="258471"/>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None/>
              </a:pPr>
              <a:r>
                <a:rPr lang="en-US" sz="933">
                  <a:solidFill>
                    <a:srgbClr val="005C8A"/>
                  </a:solidFill>
                  <a:latin typeface="Arial"/>
                  <a:ea typeface="Arial"/>
                  <a:cs typeface="Arial"/>
                  <a:sym typeface="Arial"/>
                </a:rPr>
                <a:t>Application </a:t>
              </a:r>
              <a:br>
                <a:rPr lang="en-US" sz="933">
                  <a:solidFill>
                    <a:srgbClr val="005C8A"/>
                  </a:solidFill>
                  <a:latin typeface="Arial"/>
                  <a:ea typeface="Arial"/>
                  <a:cs typeface="Arial"/>
                  <a:sym typeface="Arial"/>
                </a:rPr>
              </a:br>
              <a:r>
                <a:rPr lang="en-US" sz="933">
                  <a:solidFill>
                    <a:srgbClr val="005C8A"/>
                  </a:solidFill>
                  <a:latin typeface="Arial"/>
                  <a:ea typeface="Arial"/>
                  <a:cs typeface="Arial"/>
                  <a:sym typeface="Arial"/>
                </a:rPr>
                <a:t>Services</a:t>
              </a:r>
              <a:endParaRPr sz="1466">
                <a:solidFill>
                  <a:srgbClr val="000000"/>
                </a:solidFill>
                <a:latin typeface="Arial"/>
                <a:ea typeface="Arial"/>
                <a:cs typeface="Arial"/>
                <a:sym typeface="Arial"/>
              </a:endParaRPr>
            </a:p>
          </p:txBody>
        </p:sp>
        <p:sp>
          <p:nvSpPr>
            <p:cNvPr id="9766" name="Google Shape;9766;p94"/>
            <p:cNvSpPr txBox="1"/>
            <p:nvPr/>
          </p:nvSpPr>
          <p:spPr>
            <a:xfrm>
              <a:off x="4979520" y="1487242"/>
              <a:ext cx="538500" cy="258471"/>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None/>
              </a:pPr>
              <a:r>
                <a:rPr lang="en-US" sz="933">
                  <a:solidFill>
                    <a:srgbClr val="005C8A"/>
                  </a:solidFill>
                  <a:latin typeface="Arial"/>
                  <a:ea typeface="Arial"/>
                  <a:cs typeface="Arial"/>
                  <a:sym typeface="Arial"/>
                </a:rPr>
                <a:t>Load </a:t>
              </a:r>
              <a:br>
                <a:rPr lang="en-US" sz="933">
                  <a:solidFill>
                    <a:srgbClr val="005C8A"/>
                  </a:solidFill>
                  <a:latin typeface="Arial"/>
                  <a:ea typeface="Arial"/>
                  <a:cs typeface="Arial"/>
                  <a:sym typeface="Arial"/>
                </a:rPr>
              </a:br>
              <a:r>
                <a:rPr lang="en-US" sz="933">
                  <a:solidFill>
                    <a:srgbClr val="005C8A"/>
                  </a:solidFill>
                  <a:latin typeface="Arial"/>
                  <a:ea typeface="Arial"/>
                  <a:cs typeface="Arial"/>
                  <a:sym typeface="Arial"/>
                </a:rPr>
                <a:t>Balancing </a:t>
              </a:r>
              <a:endParaRPr sz="933">
                <a:solidFill>
                  <a:srgbClr val="005C8A"/>
                </a:solidFill>
                <a:latin typeface="Arial"/>
                <a:ea typeface="Arial"/>
                <a:cs typeface="Arial"/>
                <a:sym typeface="Arial"/>
              </a:endParaRPr>
            </a:p>
          </p:txBody>
        </p:sp>
        <p:sp>
          <p:nvSpPr>
            <p:cNvPr id="9767" name="Google Shape;9767;p94"/>
            <p:cNvSpPr txBox="1"/>
            <p:nvPr/>
          </p:nvSpPr>
          <p:spPr>
            <a:xfrm>
              <a:off x="9072999" y="1487273"/>
              <a:ext cx="397500" cy="387707"/>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None/>
              </a:pPr>
              <a:r>
                <a:rPr lang="en-US" sz="933">
                  <a:solidFill>
                    <a:srgbClr val="005C8A"/>
                  </a:solidFill>
                  <a:latin typeface="Arial"/>
                  <a:ea typeface="Arial"/>
                  <a:cs typeface="Arial"/>
                  <a:sym typeface="Arial"/>
                </a:rPr>
                <a:t>Secure </a:t>
              </a:r>
              <a:br>
                <a:rPr lang="en-US" sz="933">
                  <a:solidFill>
                    <a:srgbClr val="005C8A"/>
                  </a:solidFill>
                  <a:latin typeface="Arial"/>
                  <a:ea typeface="Arial"/>
                  <a:cs typeface="Arial"/>
                  <a:sym typeface="Arial"/>
                </a:rPr>
              </a:br>
              <a:r>
                <a:rPr lang="en-US" sz="933">
                  <a:solidFill>
                    <a:srgbClr val="005C8A"/>
                  </a:solidFill>
                  <a:latin typeface="Arial"/>
                  <a:ea typeface="Arial"/>
                  <a:cs typeface="Arial"/>
                  <a:sym typeface="Arial"/>
                </a:rPr>
                <a:t>Access</a:t>
              </a:r>
              <a:endParaRPr sz="1466">
                <a:solidFill>
                  <a:srgbClr val="000000"/>
                </a:solidFill>
                <a:latin typeface="Arial"/>
                <a:ea typeface="Arial"/>
                <a:cs typeface="Arial"/>
                <a:sym typeface="Arial"/>
              </a:endParaRPr>
            </a:p>
            <a:p>
              <a:pPr marL="0" marR="0" lvl="0" indent="0" algn="ctr" rtl="0">
                <a:lnSpc>
                  <a:spcPct val="90000"/>
                </a:lnSpc>
                <a:spcBef>
                  <a:spcPts val="0"/>
                </a:spcBef>
                <a:spcAft>
                  <a:spcPts val="0"/>
                </a:spcAft>
                <a:buNone/>
              </a:pPr>
              <a:endParaRPr sz="933">
                <a:solidFill>
                  <a:srgbClr val="005C8A"/>
                </a:solidFill>
                <a:latin typeface="Arial"/>
                <a:ea typeface="Arial"/>
                <a:cs typeface="Arial"/>
                <a:sym typeface="Arial"/>
              </a:endParaRPr>
            </a:p>
          </p:txBody>
        </p:sp>
      </p:grpSp>
      <p:grpSp>
        <p:nvGrpSpPr>
          <p:cNvPr id="9768" name="Google Shape;9768;p94"/>
          <p:cNvGrpSpPr/>
          <p:nvPr/>
        </p:nvGrpSpPr>
        <p:grpSpPr>
          <a:xfrm>
            <a:off x="1356124" y="5688746"/>
            <a:ext cx="9476730" cy="337112"/>
            <a:chOff x="1331100" y="5834475"/>
            <a:chExt cx="9479199" cy="337200"/>
          </a:xfrm>
        </p:grpSpPr>
        <p:sp>
          <p:nvSpPr>
            <p:cNvPr id="9769" name="Google Shape;9769;p94"/>
            <p:cNvSpPr txBox="1"/>
            <p:nvPr/>
          </p:nvSpPr>
          <p:spPr>
            <a:xfrm>
              <a:off x="2696786" y="5859933"/>
              <a:ext cx="1022100" cy="286200"/>
            </a:xfrm>
            <a:prstGeom prst="rect">
              <a:avLst/>
            </a:prstGeom>
            <a:noFill/>
            <a:ln>
              <a:noFill/>
            </a:ln>
          </p:spPr>
          <p:txBody>
            <a:bodyPr spcFirstLastPara="1" wrap="square" lIns="0" tIns="0" rIns="0" bIns="0" anchor="ctr" anchorCtr="0">
              <a:noAutofit/>
            </a:bodyPr>
            <a:lstStyle/>
            <a:p>
              <a:pPr marL="0" marR="0" lvl="0" indent="0" algn="ctr" rtl="0">
                <a:lnSpc>
                  <a:spcPct val="130000"/>
                </a:lnSpc>
                <a:spcBef>
                  <a:spcPts val="0"/>
                </a:spcBef>
                <a:spcAft>
                  <a:spcPts val="0"/>
                </a:spcAft>
                <a:buNone/>
              </a:pPr>
              <a:r>
                <a:rPr lang="en-US" sz="1066" b="1">
                  <a:solidFill>
                    <a:srgbClr val="000000"/>
                  </a:solidFill>
                  <a:latin typeface="Arial"/>
                  <a:ea typeface="Arial"/>
                  <a:cs typeface="Arial"/>
                  <a:sym typeface="Arial"/>
                </a:rPr>
                <a:t>On Prem</a:t>
              </a:r>
              <a:endParaRPr sz="1866">
                <a:solidFill>
                  <a:srgbClr val="000000"/>
                </a:solidFill>
                <a:latin typeface="Arial"/>
                <a:ea typeface="Arial"/>
                <a:cs typeface="Arial"/>
                <a:sym typeface="Arial"/>
              </a:endParaRPr>
            </a:p>
          </p:txBody>
        </p:sp>
        <p:sp>
          <p:nvSpPr>
            <p:cNvPr id="9770" name="Google Shape;9770;p94"/>
            <p:cNvSpPr txBox="1"/>
            <p:nvPr/>
          </p:nvSpPr>
          <p:spPr>
            <a:xfrm>
              <a:off x="4320423" y="5859933"/>
              <a:ext cx="1006200" cy="286200"/>
            </a:xfrm>
            <a:prstGeom prst="rect">
              <a:avLst/>
            </a:prstGeom>
            <a:noFill/>
            <a:ln>
              <a:noFill/>
            </a:ln>
          </p:spPr>
          <p:txBody>
            <a:bodyPr spcFirstLastPara="1" wrap="square" lIns="0" tIns="0" rIns="0" bIns="0" anchor="ctr" anchorCtr="0">
              <a:noAutofit/>
            </a:bodyPr>
            <a:lstStyle/>
            <a:p>
              <a:pPr marL="0" marR="0" lvl="0" indent="0" algn="ctr" rtl="0">
                <a:lnSpc>
                  <a:spcPct val="130000"/>
                </a:lnSpc>
                <a:spcBef>
                  <a:spcPts val="0"/>
                </a:spcBef>
                <a:spcAft>
                  <a:spcPts val="0"/>
                </a:spcAft>
                <a:buNone/>
              </a:pPr>
              <a:r>
                <a:rPr lang="en-US" sz="1066" b="1">
                  <a:solidFill>
                    <a:srgbClr val="000000"/>
                  </a:solidFill>
                  <a:latin typeface="Arial"/>
                  <a:ea typeface="Arial"/>
                  <a:cs typeface="Arial"/>
                  <a:sym typeface="Arial"/>
                </a:rPr>
                <a:t>Public Cloud</a:t>
              </a:r>
              <a:endParaRPr sz="1866">
                <a:solidFill>
                  <a:srgbClr val="000000"/>
                </a:solidFill>
                <a:latin typeface="Arial"/>
                <a:ea typeface="Arial"/>
                <a:cs typeface="Arial"/>
                <a:sym typeface="Arial"/>
              </a:endParaRPr>
            </a:p>
          </p:txBody>
        </p:sp>
        <p:sp>
          <p:nvSpPr>
            <p:cNvPr id="9771" name="Google Shape;9771;p94"/>
            <p:cNvSpPr txBox="1"/>
            <p:nvPr/>
          </p:nvSpPr>
          <p:spPr>
            <a:xfrm>
              <a:off x="5976665" y="5859933"/>
              <a:ext cx="1319400" cy="286200"/>
            </a:xfrm>
            <a:prstGeom prst="rect">
              <a:avLst/>
            </a:prstGeom>
            <a:noFill/>
            <a:ln>
              <a:noFill/>
            </a:ln>
          </p:spPr>
          <p:txBody>
            <a:bodyPr spcFirstLastPara="1" wrap="square" lIns="0" tIns="0" rIns="0" bIns="0" anchor="ctr" anchorCtr="0">
              <a:noAutofit/>
            </a:bodyPr>
            <a:lstStyle/>
            <a:p>
              <a:pPr marL="0" marR="0" lvl="0" indent="0" algn="ctr" rtl="0">
                <a:lnSpc>
                  <a:spcPct val="130000"/>
                </a:lnSpc>
                <a:spcBef>
                  <a:spcPts val="0"/>
                </a:spcBef>
                <a:spcAft>
                  <a:spcPts val="0"/>
                </a:spcAft>
                <a:buNone/>
              </a:pPr>
              <a:r>
                <a:rPr lang="en-US" sz="1066" b="1">
                  <a:solidFill>
                    <a:srgbClr val="000000"/>
                  </a:solidFill>
                  <a:latin typeface="Arial"/>
                  <a:ea typeface="Arial"/>
                  <a:cs typeface="Arial"/>
                  <a:sym typeface="Arial"/>
                </a:rPr>
                <a:t>Sovereign Cloud</a:t>
              </a:r>
              <a:endParaRPr sz="1866">
                <a:solidFill>
                  <a:srgbClr val="000000"/>
                </a:solidFill>
                <a:latin typeface="Arial"/>
                <a:ea typeface="Arial"/>
                <a:cs typeface="Arial"/>
                <a:sym typeface="Arial"/>
              </a:endParaRPr>
            </a:p>
          </p:txBody>
        </p:sp>
        <p:sp>
          <p:nvSpPr>
            <p:cNvPr id="9772" name="Google Shape;9772;p94"/>
            <p:cNvSpPr txBox="1"/>
            <p:nvPr/>
          </p:nvSpPr>
          <p:spPr>
            <a:xfrm>
              <a:off x="7891538" y="5859933"/>
              <a:ext cx="496200" cy="286200"/>
            </a:xfrm>
            <a:prstGeom prst="rect">
              <a:avLst/>
            </a:prstGeom>
            <a:noFill/>
            <a:ln>
              <a:noFill/>
            </a:ln>
          </p:spPr>
          <p:txBody>
            <a:bodyPr spcFirstLastPara="1" wrap="square" lIns="0" tIns="0" rIns="0" bIns="0" anchor="ctr" anchorCtr="0">
              <a:noAutofit/>
            </a:bodyPr>
            <a:lstStyle/>
            <a:p>
              <a:pPr marL="0" marR="0" lvl="0" indent="0" algn="ctr" rtl="0">
                <a:lnSpc>
                  <a:spcPct val="130000"/>
                </a:lnSpc>
                <a:spcBef>
                  <a:spcPts val="0"/>
                </a:spcBef>
                <a:spcAft>
                  <a:spcPts val="0"/>
                </a:spcAft>
                <a:buNone/>
              </a:pPr>
              <a:r>
                <a:rPr lang="en-US" sz="1066" b="1">
                  <a:solidFill>
                    <a:srgbClr val="000000"/>
                  </a:solidFill>
                  <a:latin typeface="Arial"/>
                  <a:ea typeface="Arial"/>
                  <a:cs typeface="Arial"/>
                  <a:sym typeface="Arial"/>
                </a:rPr>
                <a:t>Edge</a:t>
              </a:r>
              <a:endParaRPr sz="1866">
                <a:solidFill>
                  <a:srgbClr val="000000"/>
                </a:solidFill>
                <a:latin typeface="Arial"/>
                <a:ea typeface="Arial"/>
                <a:cs typeface="Arial"/>
                <a:sym typeface="Arial"/>
              </a:endParaRPr>
            </a:p>
          </p:txBody>
        </p:sp>
        <p:sp>
          <p:nvSpPr>
            <p:cNvPr id="9773" name="Google Shape;9773;p94"/>
            <p:cNvSpPr txBox="1"/>
            <p:nvPr/>
          </p:nvSpPr>
          <p:spPr>
            <a:xfrm>
              <a:off x="8963199" y="5859933"/>
              <a:ext cx="491100" cy="286200"/>
            </a:xfrm>
            <a:prstGeom prst="rect">
              <a:avLst/>
            </a:prstGeom>
            <a:noFill/>
            <a:ln>
              <a:noFill/>
            </a:ln>
          </p:spPr>
          <p:txBody>
            <a:bodyPr spcFirstLastPara="1" wrap="square" lIns="0" tIns="0" rIns="0" bIns="0" anchor="ctr" anchorCtr="0">
              <a:noAutofit/>
            </a:bodyPr>
            <a:lstStyle/>
            <a:p>
              <a:pPr marL="0" marR="0" lvl="0" indent="0" algn="ctr" rtl="0">
                <a:lnSpc>
                  <a:spcPct val="130000"/>
                </a:lnSpc>
                <a:spcBef>
                  <a:spcPts val="0"/>
                </a:spcBef>
                <a:spcAft>
                  <a:spcPts val="0"/>
                </a:spcAft>
                <a:buNone/>
              </a:pPr>
              <a:r>
                <a:rPr lang="en-US" sz="1066" b="1">
                  <a:solidFill>
                    <a:srgbClr val="000000"/>
                  </a:solidFill>
                  <a:latin typeface="Arial"/>
                  <a:ea typeface="Arial"/>
                  <a:cs typeface="Arial"/>
                  <a:sym typeface="Arial"/>
                </a:rPr>
                <a:t>Telco</a:t>
              </a:r>
              <a:endParaRPr sz="1866">
                <a:solidFill>
                  <a:srgbClr val="000000"/>
                </a:solidFill>
                <a:latin typeface="Arial"/>
                <a:ea typeface="Arial"/>
                <a:cs typeface="Arial"/>
                <a:sym typeface="Arial"/>
              </a:endParaRPr>
            </a:p>
          </p:txBody>
        </p:sp>
        <p:cxnSp>
          <p:nvCxnSpPr>
            <p:cNvPr id="9774" name="Google Shape;9774;p94"/>
            <p:cNvCxnSpPr>
              <a:stCxn id="9769" idx="3"/>
              <a:endCxn id="9770" idx="1"/>
            </p:cNvCxnSpPr>
            <p:nvPr/>
          </p:nvCxnSpPr>
          <p:spPr>
            <a:xfrm>
              <a:off x="3718886" y="6003033"/>
              <a:ext cx="601500" cy="0"/>
            </a:xfrm>
            <a:prstGeom prst="straightConnector1">
              <a:avLst/>
            </a:prstGeom>
            <a:noFill/>
            <a:ln w="12700" cap="flat" cmpd="sng">
              <a:solidFill>
                <a:schemeClr val="dk1"/>
              </a:solidFill>
              <a:prstDash val="solid"/>
              <a:miter lim="800000"/>
              <a:headEnd type="none" w="sm" len="sm"/>
              <a:tailEnd type="none" w="sm" len="sm"/>
            </a:ln>
          </p:spPr>
        </p:cxnSp>
        <p:cxnSp>
          <p:nvCxnSpPr>
            <p:cNvPr id="9775" name="Google Shape;9775;p94"/>
            <p:cNvCxnSpPr>
              <a:stCxn id="9770" idx="3"/>
              <a:endCxn id="9771" idx="1"/>
            </p:cNvCxnSpPr>
            <p:nvPr/>
          </p:nvCxnSpPr>
          <p:spPr>
            <a:xfrm>
              <a:off x="5326623" y="6003033"/>
              <a:ext cx="650100" cy="0"/>
            </a:xfrm>
            <a:prstGeom prst="straightConnector1">
              <a:avLst/>
            </a:prstGeom>
            <a:noFill/>
            <a:ln w="12700" cap="flat" cmpd="sng">
              <a:solidFill>
                <a:schemeClr val="dk1"/>
              </a:solidFill>
              <a:prstDash val="solid"/>
              <a:miter lim="800000"/>
              <a:headEnd type="none" w="sm" len="sm"/>
              <a:tailEnd type="none" w="sm" len="sm"/>
            </a:ln>
          </p:spPr>
        </p:cxnSp>
        <p:cxnSp>
          <p:nvCxnSpPr>
            <p:cNvPr id="9776" name="Google Shape;9776;p94"/>
            <p:cNvCxnSpPr>
              <a:stCxn id="9771" idx="3"/>
              <a:endCxn id="9772" idx="1"/>
            </p:cNvCxnSpPr>
            <p:nvPr/>
          </p:nvCxnSpPr>
          <p:spPr>
            <a:xfrm>
              <a:off x="7296065" y="6003033"/>
              <a:ext cx="595500" cy="0"/>
            </a:xfrm>
            <a:prstGeom prst="straightConnector1">
              <a:avLst/>
            </a:prstGeom>
            <a:noFill/>
            <a:ln w="12700" cap="flat" cmpd="sng">
              <a:solidFill>
                <a:schemeClr val="dk1"/>
              </a:solidFill>
              <a:prstDash val="solid"/>
              <a:miter lim="800000"/>
              <a:headEnd type="none" w="sm" len="sm"/>
              <a:tailEnd type="none" w="sm" len="sm"/>
            </a:ln>
          </p:spPr>
        </p:cxnSp>
        <p:cxnSp>
          <p:nvCxnSpPr>
            <p:cNvPr id="9777" name="Google Shape;9777;p94"/>
            <p:cNvCxnSpPr/>
            <p:nvPr/>
          </p:nvCxnSpPr>
          <p:spPr>
            <a:xfrm>
              <a:off x="8387748" y="6000291"/>
              <a:ext cx="575400" cy="0"/>
            </a:xfrm>
            <a:prstGeom prst="straightConnector1">
              <a:avLst/>
            </a:prstGeom>
            <a:noFill/>
            <a:ln w="12700" cap="flat" cmpd="sng">
              <a:solidFill>
                <a:schemeClr val="dk1"/>
              </a:solidFill>
              <a:prstDash val="solid"/>
              <a:miter lim="800000"/>
              <a:headEnd type="none" w="sm" len="sm"/>
              <a:tailEnd type="none" w="sm" len="sm"/>
            </a:ln>
          </p:spPr>
        </p:cxnSp>
        <p:cxnSp>
          <p:nvCxnSpPr>
            <p:cNvPr id="9778" name="Google Shape;9778;p94"/>
            <p:cNvCxnSpPr>
              <a:stCxn id="9773" idx="3"/>
              <a:endCxn id="9779" idx="3"/>
            </p:cNvCxnSpPr>
            <p:nvPr/>
          </p:nvCxnSpPr>
          <p:spPr>
            <a:xfrm>
              <a:off x="9454299" y="6003033"/>
              <a:ext cx="1356000" cy="0"/>
            </a:xfrm>
            <a:prstGeom prst="straightConnector1">
              <a:avLst/>
            </a:prstGeom>
            <a:noFill/>
            <a:ln w="12700" cap="flat" cmpd="sng">
              <a:solidFill>
                <a:schemeClr val="dk1"/>
              </a:solidFill>
              <a:prstDash val="solid"/>
              <a:miter lim="800000"/>
              <a:headEnd type="none" w="sm" len="sm"/>
              <a:tailEnd type="none" w="sm" len="sm"/>
            </a:ln>
          </p:spPr>
        </p:cxnSp>
        <p:sp>
          <p:nvSpPr>
            <p:cNvPr id="9779" name="Google Shape;9779;p94"/>
            <p:cNvSpPr/>
            <p:nvPr/>
          </p:nvSpPr>
          <p:spPr>
            <a:xfrm>
              <a:off x="9406811" y="5834475"/>
              <a:ext cx="1403400" cy="337200"/>
            </a:xfrm>
            <a:prstGeom prst="rect">
              <a:avLst/>
            </a:prstGeom>
            <a:gradFill>
              <a:gsLst>
                <a:gs pos="0">
                  <a:srgbClr val="FFFFFF">
                    <a:alpha val="66274"/>
                  </a:srgbClr>
                </a:gs>
                <a:gs pos="100000">
                  <a:schemeClr val="lt1"/>
                </a:gs>
              </a:gsLst>
              <a:lin ang="0" scaled="0"/>
            </a:gradFill>
            <a:ln>
              <a:noFill/>
            </a:ln>
          </p:spPr>
          <p:txBody>
            <a:bodyPr spcFirstLastPara="1" wrap="square" lIns="91400" tIns="45675" rIns="91400" bIns="45675"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cxnSp>
          <p:nvCxnSpPr>
            <p:cNvPr id="9780" name="Google Shape;9780;p94"/>
            <p:cNvCxnSpPr>
              <a:stCxn id="9781" idx="1"/>
              <a:endCxn id="9769" idx="1"/>
            </p:cNvCxnSpPr>
            <p:nvPr/>
          </p:nvCxnSpPr>
          <p:spPr>
            <a:xfrm>
              <a:off x="1331100" y="6003075"/>
              <a:ext cx="1365600" cy="0"/>
            </a:xfrm>
            <a:prstGeom prst="straightConnector1">
              <a:avLst/>
            </a:prstGeom>
            <a:noFill/>
            <a:ln w="12700" cap="flat" cmpd="sng">
              <a:solidFill>
                <a:schemeClr val="dk1"/>
              </a:solidFill>
              <a:prstDash val="solid"/>
              <a:miter lim="800000"/>
              <a:headEnd type="none" w="sm" len="sm"/>
              <a:tailEnd type="none" w="sm" len="sm"/>
            </a:ln>
          </p:spPr>
        </p:cxnSp>
        <p:sp>
          <p:nvSpPr>
            <p:cNvPr id="9781" name="Google Shape;9781;p94"/>
            <p:cNvSpPr/>
            <p:nvPr/>
          </p:nvSpPr>
          <p:spPr>
            <a:xfrm>
              <a:off x="1331100" y="5834475"/>
              <a:ext cx="1403400" cy="337200"/>
            </a:xfrm>
            <a:prstGeom prst="rect">
              <a:avLst/>
            </a:prstGeom>
            <a:gradFill>
              <a:gsLst>
                <a:gs pos="0">
                  <a:srgbClr val="FFFFFF">
                    <a:alpha val="66274"/>
                  </a:srgbClr>
                </a:gs>
                <a:gs pos="100000">
                  <a:schemeClr val="lt1"/>
                </a:gs>
              </a:gsLst>
              <a:lin ang="10800025" scaled="0"/>
            </a:gradFill>
            <a:ln>
              <a:noFill/>
            </a:ln>
          </p:spPr>
          <p:txBody>
            <a:bodyPr spcFirstLastPara="1" wrap="square" lIns="91400" tIns="45675" rIns="91400" bIns="45675"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786"/>
        <p:cNvGrpSpPr/>
        <p:nvPr/>
      </p:nvGrpSpPr>
      <p:grpSpPr>
        <a:xfrm>
          <a:off x="0" y="0"/>
          <a:ext cx="0" cy="0"/>
          <a:chOff x="0" y="0"/>
          <a:chExt cx="0" cy="0"/>
        </a:xfrm>
      </p:grpSpPr>
      <p:grpSp>
        <p:nvGrpSpPr>
          <p:cNvPr id="9787" name="Google Shape;9787;p95"/>
          <p:cNvGrpSpPr/>
          <p:nvPr/>
        </p:nvGrpSpPr>
        <p:grpSpPr>
          <a:xfrm>
            <a:off x="1239111" y="5819793"/>
            <a:ext cx="9710679" cy="422996"/>
            <a:chOff x="1239104" y="5825991"/>
            <a:chExt cx="9710619" cy="423107"/>
          </a:xfrm>
        </p:grpSpPr>
        <p:sp>
          <p:nvSpPr>
            <p:cNvPr id="9788" name="Google Shape;9788;p95"/>
            <p:cNvSpPr/>
            <p:nvPr/>
          </p:nvSpPr>
          <p:spPr>
            <a:xfrm>
              <a:off x="1239104" y="5825991"/>
              <a:ext cx="9710619" cy="423107"/>
            </a:xfrm>
            <a:custGeom>
              <a:avLst/>
              <a:gdLst/>
              <a:ahLst/>
              <a:cxnLst/>
              <a:rect l="l" t="t" r="r" b="b"/>
              <a:pathLst>
                <a:path w="9710619" h="423107" extrusionOk="0">
                  <a:moveTo>
                    <a:pt x="531268" y="0"/>
                  </a:moveTo>
                  <a:lnTo>
                    <a:pt x="9179351" y="0"/>
                  </a:lnTo>
                  <a:cubicBezTo>
                    <a:pt x="9405711" y="0"/>
                    <a:pt x="9599926" y="137626"/>
                    <a:pt x="9682886" y="333765"/>
                  </a:cubicBezTo>
                  <a:lnTo>
                    <a:pt x="9710619" y="423107"/>
                  </a:lnTo>
                  <a:lnTo>
                    <a:pt x="0" y="423107"/>
                  </a:lnTo>
                  <a:lnTo>
                    <a:pt x="27733" y="333765"/>
                  </a:lnTo>
                  <a:cubicBezTo>
                    <a:pt x="110693" y="137626"/>
                    <a:pt x="304908" y="0"/>
                    <a:pt x="531268" y="0"/>
                  </a:cubicBezTo>
                  <a:close/>
                </a:path>
              </a:pathLst>
            </a:custGeom>
            <a:gradFill>
              <a:gsLst>
                <a:gs pos="0">
                  <a:schemeClr val="accent1"/>
                </a:gs>
                <a:gs pos="100000">
                  <a:schemeClr val="accent2"/>
                </a:gs>
              </a:gsLst>
              <a:lin ang="2700006" scaled="0"/>
            </a:gra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200">
                <a:solidFill>
                  <a:srgbClr val="041032"/>
                </a:solidFill>
                <a:latin typeface="Arial"/>
                <a:ea typeface="Arial"/>
                <a:cs typeface="Arial"/>
                <a:sym typeface="Arial"/>
              </a:endParaRPr>
            </a:p>
          </p:txBody>
        </p:sp>
        <p:sp>
          <p:nvSpPr>
            <p:cNvPr id="9789" name="Google Shape;9789;p95"/>
            <p:cNvSpPr/>
            <p:nvPr/>
          </p:nvSpPr>
          <p:spPr>
            <a:xfrm>
              <a:off x="1337024" y="5909756"/>
              <a:ext cx="9514778" cy="339342"/>
            </a:xfrm>
            <a:custGeom>
              <a:avLst/>
              <a:gdLst/>
              <a:ahLst/>
              <a:cxnLst/>
              <a:rect l="l" t="t" r="r" b="b"/>
              <a:pathLst>
                <a:path w="9514778" h="339342" extrusionOk="0">
                  <a:moveTo>
                    <a:pt x="448330" y="0"/>
                  </a:moveTo>
                  <a:lnTo>
                    <a:pt x="9066448" y="0"/>
                  </a:lnTo>
                  <a:cubicBezTo>
                    <a:pt x="9260582" y="0"/>
                    <a:pt x="9427148" y="118033"/>
                    <a:pt x="9498298" y="286250"/>
                  </a:cubicBezTo>
                  <a:lnTo>
                    <a:pt x="9514778" y="339342"/>
                  </a:lnTo>
                  <a:lnTo>
                    <a:pt x="0" y="339342"/>
                  </a:lnTo>
                  <a:lnTo>
                    <a:pt x="16481" y="286250"/>
                  </a:lnTo>
                  <a:cubicBezTo>
                    <a:pt x="87630" y="118033"/>
                    <a:pt x="254197" y="0"/>
                    <a:pt x="448330" y="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sp>
        <p:nvSpPr>
          <p:cNvPr id="9790" name="Google Shape;9790;p95"/>
          <p:cNvSpPr/>
          <p:nvPr/>
        </p:nvSpPr>
        <p:spPr>
          <a:xfrm>
            <a:off x="1044822" y="5784489"/>
            <a:ext cx="10230935" cy="495471"/>
          </a:xfrm>
          <a:prstGeom prst="rect">
            <a:avLst/>
          </a:prstGeom>
          <a:gradFill>
            <a:gsLst>
              <a:gs pos="0">
                <a:srgbClr val="FFFFFF">
                  <a:alpha val="67450"/>
                </a:srgbClr>
              </a:gs>
              <a:gs pos="69000">
                <a:schemeClr val="lt1"/>
              </a:gs>
              <a:gs pos="100000">
                <a:schemeClr val="lt1"/>
              </a:gs>
            </a:gsLst>
            <a:lin ang="5400012" scaled="0"/>
          </a:gradFill>
          <a:ln>
            <a:noFill/>
          </a:ln>
        </p:spPr>
        <p:txBody>
          <a:bodyPr spcFirstLastPara="1" wrap="square" lIns="91400" tIns="45675" rIns="91400" bIns="45675"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9791" name="Google Shape;9791;p95"/>
          <p:cNvPicPr preferRelativeResize="0"/>
          <p:nvPr/>
        </p:nvPicPr>
        <p:blipFill rotWithShape="1">
          <a:blip r:embed="rId3">
            <a:alphaModFix amt="70000"/>
          </a:blip>
          <a:srcRect/>
          <a:stretch/>
        </p:blipFill>
        <p:spPr>
          <a:xfrm>
            <a:off x="862132" y="5578520"/>
            <a:ext cx="10281872" cy="385002"/>
          </a:xfrm>
          <a:prstGeom prst="rect">
            <a:avLst/>
          </a:prstGeom>
          <a:noFill/>
          <a:ln>
            <a:noFill/>
          </a:ln>
        </p:spPr>
      </p:pic>
      <p:sp>
        <p:nvSpPr>
          <p:cNvPr id="9792" name="Google Shape;9792;p95"/>
          <p:cNvSpPr/>
          <p:nvPr/>
        </p:nvSpPr>
        <p:spPr>
          <a:xfrm>
            <a:off x="1223891" y="850553"/>
            <a:ext cx="9720000" cy="4896000"/>
          </a:xfrm>
          <a:prstGeom prst="roundRect">
            <a:avLst>
              <a:gd name="adj" fmla="val 11089"/>
            </a:avLst>
          </a:prstGeom>
          <a:gradFill>
            <a:gsLst>
              <a:gs pos="0">
                <a:schemeClr val="accent3"/>
              </a:gs>
              <a:gs pos="23000">
                <a:schemeClr val="accent3"/>
              </a:gs>
              <a:gs pos="81000">
                <a:schemeClr val="accent5"/>
              </a:gs>
              <a:gs pos="100000">
                <a:schemeClr val="accent5"/>
              </a:gs>
            </a:gsLst>
            <a:lin ang="0"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066">
              <a:solidFill>
                <a:srgbClr val="FFFFFF"/>
              </a:solidFill>
              <a:latin typeface="Arial"/>
              <a:ea typeface="Arial"/>
              <a:cs typeface="Arial"/>
              <a:sym typeface="Arial"/>
            </a:endParaRPr>
          </a:p>
        </p:txBody>
      </p:sp>
      <p:sp>
        <p:nvSpPr>
          <p:cNvPr id="9793" name="Google Shape;9793;p95"/>
          <p:cNvSpPr/>
          <p:nvPr/>
        </p:nvSpPr>
        <p:spPr>
          <a:xfrm>
            <a:off x="3979973" y="850553"/>
            <a:ext cx="4259291" cy="127567"/>
          </a:xfrm>
          <a:prstGeom prst="rect">
            <a:avLst/>
          </a:prstGeom>
          <a:gradFill>
            <a:gsLst>
              <a:gs pos="0">
                <a:srgbClr val="000000">
                  <a:alpha val="0"/>
                </a:srgbClr>
              </a:gs>
              <a:gs pos="20000">
                <a:srgbClr val="000000"/>
              </a:gs>
              <a:gs pos="80000">
                <a:schemeClr val="dk1"/>
              </a:gs>
              <a:gs pos="100000">
                <a:srgbClr val="000000">
                  <a:alpha val="0"/>
                </a:srgbClr>
              </a:gs>
            </a:gsLst>
            <a:lin ang="0"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066">
              <a:solidFill>
                <a:srgbClr val="FFFFFF"/>
              </a:solidFill>
              <a:latin typeface="Arial"/>
              <a:ea typeface="Arial"/>
              <a:cs typeface="Arial"/>
              <a:sym typeface="Arial"/>
            </a:endParaRPr>
          </a:p>
        </p:txBody>
      </p:sp>
      <p:sp>
        <p:nvSpPr>
          <p:cNvPr id="9794" name="Google Shape;9794;p95"/>
          <p:cNvSpPr/>
          <p:nvPr/>
        </p:nvSpPr>
        <p:spPr>
          <a:xfrm>
            <a:off x="1278571" y="908897"/>
            <a:ext cx="9612000" cy="4788000"/>
          </a:xfrm>
          <a:prstGeom prst="roundRect">
            <a:avLst>
              <a:gd name="adj" fmla="val 9845"/>
            </a:avLst>
          </a:prstGeom>
          <a:solidFill>
            <a:schemeClr val="lt1"/>
          </a:soli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200">
              <a:solidFill>
                <a:srgbClr val="041032"/>
              </a:solidFill>
              <a:latin typeface="Arial"/>
              <a:ea typeface="Arial"/>
              <a:cs typeface="Arial"/>
              <a:sym typeface="Arial"/>
            </a:endParaRPr>
          </a:p>
        </p:txBody>
      </p:sp>
      <p:sp>
        <p:nvSpPr>
          <p:cNvPr id="9795" name="Google Shape;9795;p95"/>
          <p:cNvSpPr/>
          <p:nvPr/>
        </p:nvSpPr>
        <p:spPr>
          <a:xfrm>
            <a:off x="4167606" y="658512"/>
            <a:ext cx="3853396" cy="466279"/>
          </a:xfrm>
          <a:prstGeom prst="roundRect">
            <a:avLst>
              <a:gd name="adj" fmla="val 50000"/>
            </a:avLst>
          </a:prstGeom>
          <a:gradFill>
            <a:gsLst>
              <a:gs pos="0">
                <a:srgbClr val="0C88BA"/>
              </a:gs>
              <a:gs pos="16000">
                <a:srgbClr val="0C88BA"/>
              </a:gs>
              <a:gs pos="77000">
                <a:srgbClr val="585999"/>
              </a:gs>
              <a:gs pos="100000">
                <a:srgbClr val="585999"/>
              </a:gs>
            </a:gsLst>
            <a:lin ang="0" scaled="0"/>
          </a:gra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V C F   A D V A N C E D   S E R V I C E S</a:t>
            </a:r>
            <a:endParaRPr sz="1466">
              <a:solidFill>
                <a:srgbClr val="000000"/>
              </a:solidFill>
              <a:latin typeface="Arial"/>
              <a:ea typeface="Arial"/>
              <a:cs typeface="Arial"/>
              <a:sym typeface="Arial"/>
            </a:endParaRPr>
          </a:p>
        </p:txBody>
      </p:sp>
      <p:grpSp>
        <p:nvGrpSpPr>
          <p:cNvPr id="9796" name="Google Shape;9796;p95"/>
          <p:cNvGrpSpPr/>
          <p:nvPr/>
        </p:nvGrpSpPr>
        <p:grpSpPr>
          <a:xfrm>
            <a:off x="2749733" y="3754905"/>
            <a:ext cx="1366508" cy="1422251"/>
            <a:chOff x="2749716" y="3754988"/>
            <a:chExt cx="1366500" cy="1422621"/>
          </a:xfrm>
        </p:grpSpPr>
        <p:sp>
          <p:nvSpPr>
            <p:cNvPr id="9797" name="Google Shape;9797;p95"/>
            <p:cNvSpPr txBox="1"/>
            <p:nvPr/>
          </p:nvSpPr>
          <p:spPr>
            <a:xfrm>
              <a:off x="2749716" y="4644504"/>
              <a:ext cx="1366500" cy="533105"/>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667"/>
                </a:spcAft>
                <a:buNone/>
              </a:pPr>
              <a:r>
                <a:rPr lang="en-US" sz="1600">
                  <a:solidFill>
                    <a:schemeClr val="dk1"/>
                  </a:solidFill>
                  <a:latin typeface="Arial"/>
                  <a:ea typeface="Arial"/>
                  <a:cs typeface="Arial"/>
                  <a:sym typeface="Arial"/>
                </a:rPr>
                <a:t>Data </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Services</a:t>
              </a:r>
              <a:endParaRPr sz="1466">
                <a:solidFill>
                  <a:srgbClr val="000000"/>
                </a:solidFill>
                <a:latin typeface="Arial"/>
                <a:ea typeface="Arial"/>
                <a:cs typeface="Arial"/>
                <a:sym typeface="Arial"/>
              </a:endParaRPr>
            </a:p>
          </p:txBody>
        </p:sp>
        <p:sp>
          <p:nvSpPr>
            <p:cNvPr id="9798" name="Google Shape;9798;p95"/>
            <p:cNvSpPr/>
            <p:nvPr/>
          </p:nvSpPr>
          <p:spPr>
            <a:xfrm>
              <a:off x="3162685" y="3754988"/>
              <a:ext cx="596514" cy="596556"/>
            </a:xfrm>
            <a:custGeom>
              <a:avLst/>
              <a:gdLst/>
              <a:ahLst/>
              <a:cxnLst/>
              <a:rect l="l" t="t" r="r" b="b"/>
              <a:pathLst>
                <a:path w="558795" h="558835" extrusionOk="0">
                  <a:moveTo>
                    <a:pt x="420277" y="382946"/>
                  </a:moveTo>
                  <a:cubicBezTo>
                    <a:pt x="424918" y="382946"/>
                    <a:pt x="429119" y="384386"/>
                    <a:pt x="432800" y="387227"/>
                  </a:cubicBezTo>
                  <a:cubicBezTo>
                    <a:pt x="436481" y="390068"/>
                    <a:pt x="439362" y="394069"/>
                    <a:pt x="441403" y="399191"/>
                  </a:cubicBezTo>
                  <a:cubicBezTo>
                    <a:pt x="443443" y="404352"/>
                    <a:pt x="444483" y="410154"/>
                    <a:pt x="444483" y="416715"/>
                  </a:cubicBezTo>
                  <a:cubicBezTo>
                    <a:pt x="444483" y="423277"/>
                    <a:pt x="443443" y="429119"/>
                    <a:pt x="441403" y="434240"/>
                  </a:cubicBezTo>
                  <a:cubicBezTo>
                    <a:pt x="439362" y="439362"/>
                    <a:pt x="436481" y="443403"/>
                    <a:pt x="432800" y="446284"/>
                  </a:cubicBezTo>
                  <a:cubicBezTo>
                    <a:pt x="429119" y="449204"/>
                    <a:pt x="424958" y="450645"/>
                    <a:pt x="420277" y="450645"/>
                  </a:cubicBezTo>
                  <a:cubicBezTo>
                    <a:pt x="415595" y="450645"/>
                    <a:pt x="411394" y="449164"/>
                    <a:pt x="407673" y="446284"/>
                  </a:cubicBezTo>
                  <a:cubicBezTo>
                    <a:pt x="403952" y="443403"/>
                    <a:pt x="401031" y="439402"/>
                    <a:pt x="398991" y="434240"/>
                  </a:cubicBezTo>
                  <a:cubicBezTo>
                    <a:pt x="396950" y="429079"/>
                    <a:pt x="395910" y="423277"/>
                    <a:pt x="395910" y="416715"/>
                  </a:cubicBezTo>
                  <a:cubicBezTo>
                    <a:pt x="395910" y="410154"/>
                    <a:pt x="396950" y="404312"/>
                    <a:pt x="398991" y="399191"/>
                  </a:cubicBezTo>
                  <a:cubicBezTo>
                    <a:pt x="401031" y="394069"/>
                    <a:pt x="403952" y="390068"/>
                    <a:pt x="407673" y="387227"/>
                  </a:cubicBezTo>
                  <a:cubicBezTo>
                    <a:pt x="411394" y="384386"/>
                    <a:pt x="415635" y="382946"/>
                    <a:pt x="420277" y="382946"/>
                  </a:cubicBezTo>
                  <a:close/>
                  <a:moveTo>
                    <a:pt x="247709" y="382946"/>
                  </a:moveTo>
                  <a:cubicBezTo>
                    <a:pt x="252350" y="382946"/>
                    <a:pt x="256551" y="384386"/>
                    <a:pt x="260232" y="387227"/>
                  </a:cubicBezTo>
                  <a:cubicBezTo>
                    <a:pt x="263913" y="390068"/>
                    <a:pt x="266794" y="394069"/>
                    <a:pt x="268835" y="399191"/>
                  </a:cubicBezTo>
                  <a:cubicBezTo>
                    <a:pt x="270875" y="404352"/>
                    <a:pt x="271915" y="410154"/>
                    <a:pt x="271915" y="416715"/>
                  </a:cubicBezTo>
                  <a:cubicBezTo>
                    <a:pt x="271915" y="423277"/>
                    <a:pt x="270875" y="429119"/>
                    <a:pt x="268835" y="434240"/>
                  </a:cubicBezTo>
                  <a:cubicBezTo>
                    <a:pt x="266794" y="439362"/>
                    <a:pt x="263913" y="443403"/>
                    <a:pt x="260232" y="446284"/>
                  </a:cubicBezTo>
                  <a:cubicBezTo>
                    <a:pt x="256551" y="449204"/>
                    <a:pt x="252390" y="450645"/>
                    <a:pt x="247709" y="450645"/>
                  </a:cubicBezTo>
                  <a:cubicBezTo>
                    <a:pt x="243027" y="450645"/>
                    <a:pt x="238826" y="449164"/>
                    <a:pt x="235105" y="446284"/>
                  </a:cubicBezTo>
                  <a:cubicBezTo>
                    <a:pt x="231384" y="443403"/>
                    <a:pt x="228463" y="439402"/>
                    <a:pt x="226423" y="434240"/>
                  </a:cubicBezTo>
                  <a:cubicBezTo>
                    <a:pt x="224382" y="429079"/>
                    <a:pt x="223342" y="423277"/>
                    <a:pt x="223342" y="416715"/>
                  </a:cubicBezTo>
                  <a:cubicBezTo>
                    <a:pt x="223342" y="410154"/>
                    <a:pt x="224382" y="404312"/>
                    <a:pt x="226423" y="399191"/>
                  </a:cubicBezTo>
                  <a:cubicBezTo>
                    <a:pt x="228463" y="394069"/>
                    <a:pt x="231384" y="390068"/>
                    <a:pt x="235105" y="387227"/>
                  </a:cubicBezTo>
                  <a:cubicBezTo>
                    <a:pt x="238826" y="384386"/>
                    <a:pt x="243067" y="382946"/>
                    <a:pt x="247709" y="382946"/>
                  </a:cubicBezTo>
                  <a:close/>
                  <a:moveTo>
                    <a:pt x="140359" y="382946"/>
                  </a:moveTo>
                  <a:cubicBezTo>
                    <a:pt x="145000" y="382946"/>
                    <a:pt x="149201" y="384386"/>
                    <a:pt x="152882" y="387227"/>
                  </a:cubicBezTo>
                  <a:cubicBezTo>
                    <a:pt x="156563" y="390068"/>
                    <a:pt x="159444" y="394029"/>
                    <a:pt x="161485" y="399191"/>
                  </a:cubicBezTo>
                  <a:cubicBezTo>
                    <a:pt x="163525" y="404352"/>
                    <a:pt x="164565" y="410154"/>
                    <a:pt x="164565" y="416715"/>
                  </a:cubicBezTo>
                  <a:cubicBezTo>
                    <a:pt x="164565" y="423277"/>
                    <a:pt x="163525" y="429119"/>
                    <a:pt x="161485" y="434240"/>
                  </a:cubicBezTo>
                  <a:cubicBezTo>
                    <a:pt x="159444" y="439362"/>
                    <a:pt x="156563" y="443403"/>
                    <a:pt x="152882" y="446284"/>
                  </a:cubicBezTo>
                  <a:cubicBezTo>
                    <a:pt x="149201" y="449204"/>
                    <a:pt x="145040" y="450645"/>
                    <a:pt x="140359" y="450645"/>
                  </a:cubicBezTo>
                  <a:cubicBezTo>
                    <a:pt x="135677" y="450645"/>
                    <a:pt x="131476" y="449164"/>
                    <a:pt x="127755" y="446284"/>
                  </a:cubicBezTo>
                  <a:cubicBezTo>
                    <a:pt x="124034" y="443403"/>
                    <a:pt x="121113" y="439362"/>
                    <a:pt x="119073" y="434240"/>
                  </a:cubicBezTo>
                  <a:cubicBezTo>
                    <a:pt x="117032" y="429079"/>
                    <a:pt x="115992" y="423277"/>
                    <a:pt x="115992" y="416715"/>
                  </a:cubicBezTo>
                  <a:cubicBezTo>
                    <a:pt x="115992" y="410154"/>
                    <a:pt x="117032" y="404312"/>
                    <a:pt x="119073" y="399191"/>
                  </a:cubicBezTo>
                  <a:cubicBezTo>
                    <a:pt x="121113" y="394069"/>
                    <a:pt x="124034" y="390068"/>
                    <a:pt x="127755" y="387227"/>
                  </a:cubicBezTo>
                  <a:cubicBezTo>
                    <a:pt x="131476" y="384386"/>
                    <a:pt x="135717" y="382946"/>
                    <a:pt x="140359" y="382946"/>
                  </a:cubicBezTo>
                  <a:close/>
                  <a:moveTo>
                    <a:pt x="335653" y="368662"/>
                  </a:moveTo>
                  <a:lnTo>
                    <a:pt x="308605" y="387027"/>
                  </a:lnTo>
                  <a:lnTo>
                    <a:pt x="315607" y="399350"/>
                  </a:lnTo>
                  <a:lnTo>
                    <a:pt x="332132" y="388828"/>
                  </a:lnTo>
                  <a:lnTo>
                    <a:pt x="332132" y="464889"/>
                  </a:lnTo>
                  <a:lnTo>
                    <a:pt x="349657" y="464889"/>
                  </a:lnTo>
                  <a:lnTo>
                    <a:pt x="349657" y="368662"/>
                  </a:lnTo>
                  <a:close/>
                  <a:moveTo>
                    <a:pt x="420236" y="366982"/>
                  </a:moveTo>
                  <a:cubicBezTo>
                    <a:pt x="412114" y="366982"/>
                    <a:pt x="404872" y="369102"/>
                    <a:pt x="398470" y="373343"/>
                  </a:cubicBezTo>
                  <a:cubicBezTo>
                    <a:pt x="392068" y="377584"/>
                    <a:pt x="387067" y="383466"/>
                    <a:pt x="383466" y="390988"/>
                  </a:cubicBezTo>
                  <a:cubicBezTo>
                    <a:pt x="379865" y="398510"/>
                    <a:pt x="378065" y="407113"/>
                    <a:pt x="378065" y="416715"/>
                  </a:cubicBezTo>
                  <a:cubicBezTo>
                    <a:pt x="378065" y="426318"/>
                    <a:pt x="379865" y="434920"/>
                    <a:pt x="383466" y="442482"/>
                  </a:cubicBezTo>
                  <a:cubicBezTo>
                    <a:pt x="387067" y="450044"/>
                    <a:pt x="392068" y="455966"/>
                    <a:pt x="398470" y="460207"/>
                  </a:cubicBezTo>
                  <a:cubicBezTo>
                    <a:pt x="404832" y="464448"/>
                    <a:pt x="412074" y="466569"/>
                    <a:pt x="420236" y="466569"/>
                  </a:cubicBezTo>
                  <a:cubicBezTo>
                    <a:pt x="428398" y="466569"/>
                    <a:pt x="435641" y="464448"/>
                    <a:pt x="442042" y="460207"/>
                  </a:cubicBezTo>
                  <a:cubicBezTo>
                    <a:pt x="448444" y="455966"/>
                    <a:pt x="453445" y="450044"/>
                    <a:pt x="457046" y="442482"/>
                  </a:cubicBezTo>
                  <a:cubicBezTo>
                    <a:pt x="460647" y="434920"/>
                    <a:pt x="462448" y="426358"/>
                    <a:pt x="462448" y="416715"/>
                  </a:cubicBezTo>
                  <a:cubicBezTo>
                    <a:pt x="462448" y="407073"/>
                    <a:pt x="460647" y="398510"/>
                    <a:pt x="457046" y="390988"/>
                  </a:cubicBezTo>
                  <a:cubicBezTo>
                    <a:pt x="453445" y="383466"/>
                    <a:pt x="448444" y="377584"/>
                    <a:pt x="442042" y="373343"/>
                  </a:cubicBezTo>
                  <a:cubicBezTo>
                    <a:pt x="435641" y="369102"/>
                    <a:pt x="428359" y="366982"/>
                    <a:pt x="420236" y="366982"/>
                  </a:cubicBezTo>
                  <a:close/>
                  <a:moveTo>
                    <a:pt x="247628" y="366982"/>
                  </a:moveTo>
                  <a:cubicBezTo>
                    <a:pt x="239506" y="366982"/>
                    <a:pt x="232264" y="369102"/>
                    <a:pt x="225862" y="373343"/>
                  </a:cubicBezTo>
                  <a:cubicBezTo>
                    <a:pt x="219461" y="377584"/>
                    <a:pt x="214459" y="383466"/>
                    <a:pt x="210858" y="390988"/>
                  </a:cubicBezTo>
                  <a:cubicBezTo>
                    <a:pt x="207257" y="398510"/>
                    <a:pt x="205457" y="407113"/>
                    <a:pt x="205457" y="416715"/>
                  </a:cubicBezTo>
                  <a:cubicBezTo>
                    <a:pt x="205457" y="426318"/>
                    <a:pt x="207257" y="434920"/>
                    <a:pt x="210858" y="442482"/>
                  </a:cubicBezTo>
                  <a:cubicBezTo>
                    <a:pt x="214459" y="450044"/>
                    <a:pt x="219461" y="455966"/>
                    <a:pt x="225862" y="460207"/>
                  </a:cubicBezTo>
                  <a:cubicBezTo>
                    <a:pt x="232224" y="464448"/>
                    <a:pt x="239466" y="466569"/>
                    <a:pt x="247628" y="466569"/>
                  </a:cubicBezTo>
                  <a:cubicBezTo>
                    <a:pt x="255791" y="466569"/>
                    <a:pt x="263033" y="464448"/>
                    <a:pt x="269435" y="460207"/>
                  </a:cubicBezTo>
                  <a:cubicBezTo>
                    <a:pt x="275836" y="455966"/>
                    <a:pt x="280838" y="450044"/>
                    <a:pt x="284439" y="442482"/>
                  </a:cubicBezTo>
                  <a:cubicBezTo>
                    <a:pt x="288040" y="434920"/>
                    <a:pt x="289840" y="426358"/>
                    <a:pt x="289840" y="416715"/>
                  </a:cubicBezTo>
                  <a:cubicBezTo>
                    <a:pt x="289840" y="407073"/>
                    <a:pt x="288040" y="398510"/>
                    <a:pt x="284439" y="390988"/>
                  </a:cubicBezTo>
                  <a:cubicBezTo>
                    <a:pt x="280838" y="383466"/>
                    <a:pt x="275836" y="377584"/>
                    <a:pt x="269435" y="373343"/>
                  </a:cubicBezTo>
                  <a:cubicBezTo>
                    <a:pt x="263033" y="369102"/>
                    <a:pt x="255751" y="366982"/>
                    <a:pt x="247628" y="366982"/>
                  </a:cubicBezTo>
                  <a:close/>
                  <a:moveTo>
                    <a:pt x="140319" y="366982"/>
                  </a:moveTo>
                  <a:cubicBezTo>
                    <a:pt x="132157" y="366982"/>
                    <a:pt x="124915" y="369102"/>
                    <a:pt x="118513" y="373343"/>
                  </a:cubicBezTo>
                  <a:cubicBezTo>
                    <a:pt x="112111" y="377584"/>
                    <a:pt x="107110" y="383466"/>
                    <a:pt x="103509" y="390988"/>
                  </a:cubicBezTo>
                  <a:cubicBezTo>
                    <a:pt x="99908" y="398510"/>
                    <a:pt x="98107" y="407113"/>
                    <a:pt x="98107" y="416715"/>
                  </a:cubicBezTo>
                  <a:cubicBezTo>
                    <a:pt x="98107" y="426318"/>
                    <a:pt x="99908" y="434920"/>
                    <a:pt x="103509" y="442482"/>
                  </a:cubicBezTo>
                  <a:cubicBezTo>
                    <a:pt x="107110" y="450044"/>
                    <a:pt x="112111" y="455966"/>
                    <a:pt x="118513" y="460207"/>
                  </a:cubicBezTo>
                  <a:cubicBezTo>
                    <a:pt x="124915" y="464448"/>
                    <a:pt x="132157" y="466569"/>
                    <a:pt x="140319" y="466569"/>
                  </a:cubicBezTo>
                  <a:cubicBezTo>
                    <a:pt x="148481" y="466569"/>
                    <a:pt x="155723" y="464448"/>
                    <a:pt x="162125" y="460207"/>
                  </a:cubicBezTo>
                  <a:cubicBezTo>
                    <a:pt x="168527" y="455966"/>
                    <a:pt x="173528" y="450044"/>
                    <a:pt x="177129" y="442482"/>
                  </a:cubicBezTo>
                  <a:cubicBezTo>
                    <a:pt x="180730" y="434920"/>
                    <a:pt x="182530" y="426358"/>
                    <a:pt x="182530" y="416715"/>
                  </a:cubicBezTo>
                  <a:cubicBezTo>
                    <a:pt x="182530" y="407073"/>
                    <a:pt x="180730" y="398510"/>
                    <a:pt x="177129" y="390988"/>
                  </a:cubicBezTo>
                  <a:cubicBezTo>
                    <a:pt x="173528" y="383466"/>
                    <a:pt x="168527" y="377584"/>
                    <a:pt x="162125" y="373343"/>
                  </a:cubicBezTo>
                  <a:cubicBezTo>
                    <a:pt x="155723" y="369102"/>
                    <a:pt x="148481" y="366982"/>
                    <a:pt x="140319" y="366982"/>
                  </a:cubicBezTo>
                  <a:close/>
                  <a:moveTo>
                    <a:pt x="345536" y="247669"/>
                  </a:moveTo>
                  <a:cubicBezTo>
                    <a:pt x="350177" y="247669"/>
                    <a:pt x="354378" y="249109"/>
                    <a:pt x="358059" y="251950"/>
                  </a:cubicBezTo>
                  <a:cubicBezTo>
                    <a:pt x="361740" y="254791"/>
                    <a:pt x="364621" y="258792"/>
                    <a:pt x="366662" y="263913"/>
                  </a:cubicBezTo>
                  <a:cubicBezTo>
                    <a:pt x="368702" y="269075"/>
                    <a:pt x="369742" y="274877"/>
                    <a:pt x="369742" y="281438"/>
                  </a:cubicBezTo>
                  <a:cubicBezTo>
                    <a:pt x="369742" y="288000"/>
                    <a:pt x="368702" y="293842"/>
                    <a:pt x="366662" y="298963"/>
                  </a:cubicBezTo>
                  <a:cubicBezTo>
                    <a:pt x="364621" y="304085"/>
                    <a:pt x="361740" y="308126"/>
                    <a:pt x="358059" y="311007"/>
                  </a:cubicBezTo>
                  <a:cubicBezTo>
                    <a:pt x="354378" y="313927"/>
                    <a:pt x="350217" y="315368"/>
                    <a:pt x="345536" y="315368"/>
                  </a:cubicBezTo>
                  <a:cubicBezTo>
                    <a:pt x="340854" y="315368"/>
                    <a:pt x="336653" y="313887"/>
                    <a:pt x="332932" y="311007"/>
                  </a:cubicBezTo>
                  <a:cubicBezTo>
                    <a:pt x="329211" y="308126"/>
                    <a:pt x="326290" y="304125"/>
                    <a:pt x="324250" y="298963"/>
                  </a:cubicBezTo>
                  <a:cubicBezTo>
                    <a:pt x="322209" y="293802"/>
                    <a:pt x="321169" y="288000"/>
                    <a:pt x="321169" y="281438"/>
                  </a:cubicBezTo>
                  <a:cubicBezTo>
                    <a:pt x="321169" y="274877"/>
                    <a:pt x="322209" y="269035"/>
                    <a:pt x="324250" y="263913"/>
                  </a:cubicBezTo>
                  <a:cubicBezTo>
                    <a:pt x="326290" y="258792"/>
                    <a:pt x="329211" y="254791"/>
                    <a:pt x="332932" y="251950"/>
                  </a:cubicBezTo>
                  <a:cubicBezTo>
                    <a:pt x="336653" y="249109"/>
                    <a:pt x="340894" y="247669"/>
                    <a:pt x="345536" y="247669"/>
                  </a:cubicBezTo>
                  <a:close/>
                  <a:moveTo>
                    <a:pt x="221422" y="247669"/>
                  </a:moveTo>
                  <a:cubicBezTo>
                    <a:pt x="226063" y="247669"/>
                    <a:pt x="230264" y="249109"/>
                    <a:pt x="233945" y="251950"/>
                  </a:cubicBezTo>
                  <a:cubicBezTo>
                    <a:pt x="237626" y="254791"/>
                    <a:pt x="240507" y="258792"/>
                    <a:pt x="242548" y="263913"/>
                  </a:cubicBezTo>
                  <a:cubicBezTo>
                    <a:pt x="244588" y="269075"/>
                    <a:pt x="245628" y="274877"/>
                    <a:pt x="245628" y="281438"/>
                  </a:cubicBezTo>
                  <a:cubicBezTo>
                    <a:pt x="245628" y="288000"/>
                    <a:pt x="244588" y="293842"/>
                    <a:pt x="242548" y="298963"/>
                  </a:cubicBezTo>
                  <a:cubicBezTo>
                    <a:pt x="240507" y="304085"/>
                    <a:pt x="237626" y="308126"/>
                    <a:pt x="233945" y="311007"/>
                  </a:cubicBezTo>
                  <a:cubicBezTo>
                    <a:pt x="230264" y="313927"/>
                    <a:pt x="226103" y="315368"/>
                    <a:pt x="221422" y="315368"/>
                  </a:cubicBezTo>
                  <a:cubicBezTo>
                    <a:pt x="216740" y="315368"/>
                    <a:pt x="212539" y="313887"/>
                    <a:pt x="208818" y="311007"/>
                  </a:cubicBezTo>
                  <a:cubicBezTo>
                    <a:pt x="205097" y="308126"/>
                    <a:pt x="202176" y="304125"/>
                    <a:pt x="200136" y="298963"/>
                  </a:cubicBezTo>
                  <a:cubicBezTo>
                    <a:pt x="198095" y="293802"/>
                    <a:pt x="197055" y="288000"/>
                    <a:pt x="197055" y="281438"/>
                  </a:cubicBezTo>
                  <a:cubicBezTo>
                    <a:pt x="197055" y="274877"/>
                    <a:pt x="198095" y="269035"/>
                    <a:pt x="200136" y="263913"/>
                  </a:cubicBezTo>
                  <a:cubicBezTo>
                    <a:pt x="202176" y="258792"/>
                    <a:pt x="205097" y="254791"/>
                    <a:pt x="208818" y="251950"/>
                  </a:cubicBezTo>
                  <a:cubicBezTo>
                    <a:pt x="212539" y="249109"/>
                    <a:pt x="216780" y="247669"/>
                    <a:pt x="221422" y="247669"/>
                  </a:cubicBezTo>
                  <a:close/>
                  <a:moveTo>
                    <a:pt x="449644" y="233385"/>
                  </a:moveTo>
                  <a:lnTo>
                    <a:pt x="422597" y="251750"/>
                  </a:lnTo>
                  <a:lnTo>
                    <a:pt x="429599" y="264073"/>
                  </a:lnTo>
                  <a:lnTo>
                    <a:pt x="446123" y="253550"/>
                  </a:lnTo>
                  <a:lnTo>
                    <a:pt x="446123" y="329611"/>
                  </a:lnTo>
                  <a:lnTo>
                    <a:pt x="463648" y="329611"/>
                  </a:lnTo>
                  <a:lnTo>
                    <a:pt x="463648" y="233385"/>
                  </a:lnTo>
                  <a:close/>
                  <a:moveTo>
                    <a:pt x="119953" y="233385"/>
                  </a:moveTo>
                  <a:lnTo>
                    <a:pt x="92906" y="251750"/>
                  </a:lnTo>
                  <a:lnTo>
                    <a:pt x="99908" y="264073"/>
                  </a:lnTo>
                  <a:lnTo>
                    <a:pt x="116432" y="253550"/>
                  </a:lnTo>
                  <a:lnTo>
                    <a:pt x="116432" y="329611"/>
                  </a:lnTo>
                  <a:lnTo>
                    <a:pt x="133957" y="329611"/>
                  </a:lnTo>
                  <a:lnTo>
                    <a:pt x="133957" y="233385"/>
                  </a:lnTo>
                  <a:close/>
                  <a:moveTo>
                    <a:pt x="345496" y="231704"/>
                  </a:moveTo>
                  <a:cubicBezTo>
                    <a:pt x="337373" y="231704"/>
                    <a:pt x="330131" y="233825"/>
                    <a:pt x="323730" y="238066"/>
                  </a:cubicBezTo>
                  <a:cubicBezTo>
                    <a:pt x="317328" y="242307"/>
                    <a:pt x="312326" y="248189"/>
                    <a:pt x="308725" y="255711"/>
                  </a:cubicBezTo>
                  <a:cubicBezTo>
                    <a:pt x="305124" y="263233"/>
                    <a:pt x="303324" y="271835"/>
                    <a:pt x="303324" y="281438"/>
                  </a:cubicBezTo>
                  <a:cubicBezTo>
                    <a:pt x="303324" y="291041"/>
                    <a:pt x="305124" y="299643"/>
                    <a:pt x="308725" y="307205"/>
                  </a:cubicBezTo>
                  <a:cubicBezTo>
                    <a:pt x="312326" y="314767"/>
                    <a:pt x="317328" y="320689"/>
                    <a:pt x="323730" y="324930"/>
                  </a:cubicBezTo>
                  <a:cubicBezTo>
                    <a:pt x="330091" y="329171"/>
                    <a:pt x="337333" y="331292"/>
                    <a:pt x="345496" y="331292"/>
                  </a:cubicBezTo>
                  <a:cubicBezTo>
                    <a:pt x="353658" y="331292"/>
                    <a:pt x="360900" y="329171"/>
                    <a:pt x="367302" y="324930"/>
                  </a:cubicBezTo>
                  <a:cubicBezTo>
                    <a:pt x="373703" y="320689"/>
                    <a:pt x="378705" y="314767"/>
                    <a:pt x="382306" y="307205"/>
                  </a:cubicBezTo>
                  <a:cubicBezTo>
                    <a:pt x="385907" y="299643"/>
                    <a:pt x="387707" y="291081"/>
                    <a:pt x="387707" y="281438"/>
                  </a:cubicBezTo>
                  <a:cubicBezTo>
                    <a:pt x="387707" y="271795"/>
                    <a:pt x="385907" y="263233"/>
                    <a:pt x="382306" y="255711"/>
                  </a:cubicBezTo>
                  <a:cubicBezTo>
                    <a:pt x="378705" y="248189"/>
                    <a:pt x="373703" y="242307"/>
                    <a:pt x="367302" y="238066"/>
                  </a:cubicBezTo>
                  <a:cubicBezTo>
                    <a:pt x="360900" y="233825"/>
                    <a:pt x="353618" y="231704"/>
                    <a:pt x="345496" y="231704"/>
                  </a:cubicBezTo>
                  <a:close/>
                  <a:moveTo>
                    <a:pt x="221381" y="231704"/>
                  </a:moveTo>
                  <a:cubicBezTo>
                    <a:pt x="213259" y="231704"/>
                    <a:pt x="206017" y="233825"/>
                    <a:pt x="199615" y="238066"/>
                  </a:cubicBezTo>
                  <a:cubicBezTo>
                    <a:pt x="193213" y="242307"/>
                    <a:pt x="188212" y="248189"/>
                    <a:pt x="184611" y="255711"/>
                  </a:cubicBezTo>
                  <a:cubicBezTo>
                    <a:pt x="181010" y="263233"/>
                    <a:pt x="179210" y="271835"/>
                    <a:pt x="179210" y="281438"/>
                  </a:cubicBezTo>
                  <a:cubicBezTo>
                    <a:pt x="179210" y="291041"/>
                    <a:pt x="181010" y="299643"/>
                    <a:pt x="184611" y="307205"/>
                  </a:cubicBezTo>
                  <a:cubicBezTo>
                    <a:pt x="188212" y="314767"/>
                    <a:pt x="193213" y="320689"/>
                    <a:pt x="199615" y="324930"/>
                  </a:cubicBezTo>
                  <a:cubicBezTo>
                    <a:pt x="205977" y="329171"/>
                    <a:pt x="213219" y="331292"/>
                    <a:pt x="221381" y="331292"/>
                  </a:cubicBezTo>
                  <a:cubicBezTo>
                    <a:pt x="229544" y="331292"/>
                    <a:pt x="236785" y="329171"/>
                    <a:pt x="243187" y="324930"/>
                  </a:cubicBezTo>
                  <a:cubicBezTo>
                    <a:pt x="249589" y="320689"/>
                    <a:pt x="254590" y="314767"/>
                    <a:pt x="258191" y="307205"/>
                  </a:cubicBezTo>
                  <a:cubicBezTo>
                    <a:pt x="261792" y="299643"/>
                    <a:pt x="263593" y="291081"/>
                    <a:pt x="263593" y="281438"/>
                  </a:cubicBezTo>
                  <a:cubicBezTo>
                    <a:pt x="263593" y="271795"/>
                    <a:pt x="261792" y="263233"/>
                    <a:pt x="258191" y="255711"/>
                  </a:cubicBezTo>
                  <a:cubicBezTo>
                    <a:pt x="254590" y="248189"/>
                    <a:pt x="249589" y="242307"/>
                    <a:pt x="243187" y="238066"/>
                  </a:cubicBezTo>
                  <a:cubicBezTo>
                    <a:pt x="236785" y="233825"/>
                    <a:pt x="229503" y="231704"/>
                    <a:pt x="221381" y="231704"/>
                  </a:cubicBezTo>
                  <a:close/>
                  <a:moveTo>
                    <a:pt x="343776" y="112391"/>
                  </a:moveTo>
                  <a:cubicBezTo>
                    <a:pt x="348417" y="112391"/>
                    <a:pt x="352618" y="113831"/>
                    <a:pt x="356299" y="116672"/>
                  </a:cubicBezTo>
                  <a:cubicBezTo>
                    <a:pt x="359980" y="119513"/>
                    <a:pt x="362861" y="123514"/>
                    <a:pt x="364902" y="128635"/>
                  </a:cubicBezTo>
                  <a:cubicBezTo>
                    <a:pt x="366942" y="133797"/>
                    <a:pt x="367982" y="139599"/>
                    <a:pt x="367982" y="146160"/>
                  </a:cubicBezTo>
                  <a:cubicBezTo>
                    <a:pt x="367982" y="152722"/>
                    <a:pt x="366942" y="158524"/>
                    <a:pt x="364902" y="163685"/>
                  </a:cubicBezTo>
                  <a:cubicBezTo>
                    <a:pt x="362861" y="168807"/>
                    <a:pt x="359980" y="172848"/>
                    <a:pt x="356299" y="175729"/>
                  </a:cubicBezTo>
                  <a:cubicBezTo>
                    <a:pt x="352618" y="178649"/>
                    <a:pt x="348457" y="180090"/>
                    <a:pt x="343776" y="180090"/>
                  </a:cubicBezTo>
                  <a:cubicBezTo>
                    <a:pt x="339094" y="180090"/>
                    <a:pt x="334893" y="178609"/>
                    <a:pt x="331172" y="175729"/>
                  </a:cubicBezTo>
                  <a:cubicBezTo>
                    <a:pt x="327451" y="172848"/>
                    <a:pt x="324530" y="168807"/>
                    <a:pt x="322490" y="163685"/>
                  </a:cubicBezTo>
                  <a:cubicBezTo>
                    <a:pt x="320449" y="158524"/>
                    <a:pt x="319409" y="152722"/>
                    <a:pt x="319409" y="146160"/>
                  </a:cubicBezTo>
                  <a:cubicBezTo>
                    <a:pt x="319409" y="139599"/>
                    <a:pt x="320449" y="133797"/>
                    <a:pt x="322490" y="128635"/>
                  </a:cubicBezTo>
                  <a:cubicBezTo>
                    <a:pt x="324530" y="123514"/>
                    <a:pt x="327451" y="119513"/>
                    <a:pt x="331172" y="116672"/>
                  </a:cubicBezTo>
                  <a:cubicBezTo>
                    <a:pt x="334893" y="113831"/>
                    <a:pt x="339134" y="112391"/>
                    <a:pt x="343776" y="112391"/>
                  </a:cubicBezTo>
                  <a:close/>
                  <a:moveTo>
                    <a:pt x="131957" y="112391"/>
                  </a:moveTo>
                  <a:cubicBezTo>
                    <a:pt x="136598" y="112391"/>
                    <a:pt x="140799" y="113831"/>
                    <a:pt x="144480" y="116672"/>
                  </a:cubicBezTo>
                  <a:cubicBezTo>
                    <a:pt x="148161" y="119513"/>
                    <a:pt x="151042" y="123514"/>
                    <a:pt x="153083" y="128635"/>
                  </a:cubicBezTo>
                  <a:cubicBezTo>
                    <a:pt x="155123" y="133797"/>
                    <a:pt x="156163" y="139599"/>
                    <a:pt x="156163" y="146160"/>
                  </a:cubicBezTo>
                  <a:cubicBezTo>
                    <a:pt x="156163" y="152722"/>
                    <a:pt x="155123" y="158524"/>
                    <a:pt x="153083" y="163685"/>
                  </a:cubicBezTo>
                  <a:cubicBezTo>
                    <a:pt x="151042" y="168807"/>
                    <a:pt x="148161" y="172848"/>
                    <a:pt x="144480" y="175729"/>
                  </a:cubicBezTo>
                  <a:cubicBezTo>
                    <a:pt x="140799" y="178649"/>
                    <a:pt x="136638" y="180090"/>
                    <a:pt x="131957" y="180090"/>
                  </a:cubicBezTo>
                  <a:cubicBezTo>
                    <a:pt x="127275" y="180090"/>
                    <a:pt x="123074" y="178609"/>
                    <a:pt x="119353" y="175729"/>
                  </a:cubicBezTo>
                  <a:cubicBezTo>
                    <a:pt x="115632" y="172848"/>
                    <a:pt x="112711" y="168807"/>
                    <a:pt x="110671" y="163685"/>
                  </a:cubicBezTo>
                  <a:cubicBezTo>
                    <a:pt x="108630" y="158524"/>
                    <a:pt x="107590" y="152722"/>
                    <a:pt x="107590" y="146160"/>
                  </a:cubicBezTo>
                  <a:cubicBezTo>
                    <a:pt x="107590" y="139599"/>
                    <a:pt x="108630" y="133797"/>
                    <a:pt x="110671" y="128635"/>
                  </a:cubicBezTo>
                  <a:cubicBezTo>
                    <a:pt x="112711" y="123514"/>
                    <a:pt x="115632" y="119513"/>
                    <a:pt x="119353" y="116672"/>
                  </a:cubicBezTo>
                  <a:cubicBezTo>
                    <a:pt x="123074" y="113831"/>
                    <a:pt x="127315" y="112391"/>
                    <a:pt x="131957" y="112391"/>
                  </a:cubicBezTo>
                  <a:close/>
                  <a:moveTo>
                    <a:pt x="451405" y="98107"/>
                  </a:moveTo>
                  <a:lnTo>
                    <a:pt x="424357" y="116472"/>
                  </a:lnTo>
                  <a:lnTo>
                    <a:pt x="431359" y="128796"/>
                  </a:lnTo>
                  <a:lnTo>
                    <a:pt x="447884" y="118313"/>
                  </a:lnTo>
                  <a:lnTo>
                    <a:pt x="447884" y="194374"/>
                  </a:lnTo>
                  <a:lnTo>
                    <a:pt x="465409" y="194374"/>
                  </a:lnTo>
                  <a:lnTo>
                    <a:pt x="465409" y="98107"/>
                  </a:lnTo>
                  <a:close/>
                  <a:moveTo>
                    <a:pt x="239546" y="98107"/>
                  </a:moveTo>
                  <a:lnTo>
                    <a:pt x="212499" y="116472"/>
                  </a:lnTo>
                  <a:lnTo>
                    <a:pt x="219501" y="128796"/>
                  </a:lnTo>
                  <a:lnTo>
                    <a:pt x="236025" y="118313"/>
                  </a:lnTo>
                  <a:lnTo>
                    <a:pt x="236025" y="194374"/>
                  </a:lnTo>
                  <a:lnTo>
                    <a:pt x="253550" y="194374"/>
                  </a:lnTo>
                  <a:lnTo>
                    <a:pt x="253550" y="98107"/>
                  </a:lnTo>
                  <a:close/>
                  <a:moveTo>
                    <a:pt x="343815" y="96427"/>
                  </a:moveTo>
                  <a:cubicBezTo>
                    <a:pt x="335653" y="96427"/>
                    <a:pt x="328411" y="98547"/>
                    <a:pt x="322009" y="102788"/>
                  </a:cubicBezTo>
                  <a:cubicBezTo>
                    <a:pt x="315607" y="107030"/>
                    <a:pt x="310606" y="112911"/>
                    <a:pt x="307005" y="120433"/>
                  </a:cubicBezTo>
                  <a:cubicBezTo>
                    <a:pt x="303404" y="127955"/>
                    <a:pt x="301603" y="136558"/>
                    <a:pt x="301603" y="146160"/>
                  </a:cubicBezTo>
                  <a:cubicBezTo>
                    <a:pt x="301603" y="155763"/>
                    <a:pt x="303404" y="164365"/>
                    <a:pt x="307005" y="171928"/>
                  </a:cubicBezTo>
                  <a:cubicBezTo>
                    <a:pt x="310606" y="179490"/>
                    <a:pt x="315607" y="185411"/>
                    <a:pt x="322009" y="189652"/>
                  </a:cubicBezTo>
                  <a:cubicBezTo>
                    <a:pt x="328411" y="193894"/>
                    <a:pt x="335653" y="196014"/>
                    <a:pt x="343815" y="196014"/>
                  </a:cubicBezTo>
                  <a:cubicBezTo>
                    <a:pt x="351977" y="196014"/>
                    <a:pt x="359219" y="193894"/>
                    <a:pt x="365621" y="189652"/>
                  </a:cubicBezTo>
                  <a:cubicBezTo>
                    <a:pt x="372023" y="185411"/>
                    <a:pt x="377024" y="179490"/>
                    <a:pt x="380625" y="171928"/>
                  </a:cubicBezTo>
                  <a:cubicBezTo>
                    <a:pt x="384226" y="164365"/>
                    <a:pt x="386027" y="155803"/>
                    <a:pt x="386027" y="146160"/>
                  </a:cubicBezTo>
                  <a:cubicBezTo>
                    <a:pt x="386027" y="136518"/>
                    <a:pt x="384226" y="127955"/>
                    <a:pt x="380625" y="120433"/>
                  </a:cubicBezTo>
                  <a:cubicBezTo>
                    <a:pt x="377024" y="112911"/>
                    <a:pt x="372023" y="107030"/>
                    <a:pt x="365621" y="102788"/>
                  </a:cubicBezTo>
                  <a:cubicBezTo>
                    <a:pt x="359219" y="98547"/>
                    <a:pt x="351977" y="96427"/>
                    <a:pt x="343815" y="96427"/>
                  </a:cubicBezTo>
                  <a:close/>
                  <a:moveTo>
                    <a:pt x="131997" y="96427"/>
                  </a:moveTo>
                  <a:cubicBezTo>
                    <a:pt x="123834" y="96427"/>
                    <a:pt x="116592" y="98547"/>
                    <a:pt x="110190" y="102788"/>
                  </a:cubicBezTo>
                  <a:cubicBezTo>
                    <a:pt x="103789" y="107030"/>
                    <a:pt x="98787" y="112911"/>
                    <a:pt x="95186" y="120433"/>
                  </a:cubicBezTo>
                  <a:cubicBezTo>
                    <a:pt x="91585" y="127955"/>
                    <a:pt x="89785" y="136558"/>
                    <a:pt x="89785" y="146160"/>
                  </a:cubicBezTo>
                  <a:cubicBezTo>
                    <a:pt x="89785" y="155763"/>
                    <a:pt x="91585" y="164365"/>
                    <a:pt x="95186" y="171928"/>
                  </a:cubicBezTo>
                  <a:cubicBezTo>
                    <a:pt x="98787" y="179490"/>
                    <a:pt x="103789" y="185411"/>
                    <a:pt x="110190" y="189652"/>
                  </a:cubicBezTo>
                  <a:cubicBezTo>
                    <a:pt x="116592" y="193894"/>
                    <a:pt x="123834" y="196014"/>
                    <a:pt x="131997" y="196014"/>
                  </a:cubicBezTo>
                  <a:cubicBezTo>
                    <a:pt x="140159" y="196014"/>
                    <a:pt x="147401" y="193894"/>
                    <a:pt x="153803" y="189652"/>
                  </a:cubicBezTo>
                  <a:cubicBezTo>
                    <a:pt x="160204" y="185411"/>
                    <a:pt x="165206" y="179490"/>
                    <a:pt x="168807" y="171928"/>
                  </a:cubicBezTo>
                  <a:cubicBezTo>
                    <a:pt x="172408" y="164365"/>
                    <a:pt x="174208" y="155803"/>
                    <a:pt x="174208" y="146160"/>
                  </a:cubicBezTo>
                  <a:cubicBezTo>
                    <a:pt x="174208" y="136518"/>
                    <a:pt x="172408" y="127955"/>
                    <a:pt x="168807" y="120433"/>
                  </a:cubicBezTo>
                  <a:cubicBezTo>
                    <a:pt x="165206" y="112911"/>
                    <a:pt x="160204" y="107030"/>
                    <a:pt x="153803" y="102788"/>
                  </a:cubicBezTo>
                  <a:cubicBezTo>
                    <a:pt x="147401" y="98547"/>
                    <a:pt x="140159" y="96427"/>
                    <a:pt x="131997" y="96427"/>
                  </a:cubicBezTo>
                  <a:close/>
                  <a:moveTo>
                    <a:pt x="516103" y="0"/>
                  </a:moveTo>
                  <a:cubicBezTo>
                    <a:pt x="539709" y="0"/>
                    <a:pt x="558795" y="19125"/>
                    <a:pt x="558795" y="42692"/>
                  </a:cubicBezTo>
                  <a:lnTo>
                    <a:pt x="558795" y="516143"/>
                  </a:lnTo>
                  <a:cubicBezTo>
                    <a:pt x="558795" y="539749"/>
                    <a:pt x="539669" y="558835"/>
                    <a:pt x="516103" y="558835"/>
                  </a:cubicBezTo>
                  <a:lnTo>
                    <a:pt x="42692" y="558835"/>
                  </a:lnTo>
                  <a:cubicBezTo>
                    <a:pt x="19085" y="558835"/>
                    <a:pt x="0" y="539709"/>
                    <a:pt x="0" y="516143"/>
                  </a:cubicBezTo>
                  <a:lnTo>
                    <a:pt x="0" y="42732"/>
                  </a:lnTo>
                  <a:cubicBezTo>
                    <a:pt x="0" y="19125"/>
                    <a:pt x="19125" y="40"/>
                    <a:pt x="42692" y="40"/>
                  </a:cubicBezTo>
                  <a:lnTo>
                    <a:pt x="516103" y="40"/>
                  </a:lnTo>
                  <a:close/>
                </a:path>
              </a:pathLst>
            </a:custGeom>
            <a:gradFill>
              <a:gsLst>
                <a:gs pos="0">
                  <a:srgbClr val="0C88BA"/>
                </a:gs>
                <a:gs pos="100000">
                  <a:srgbClr val="585999"/>
                </a:gs>
              </a:gsLst>
              <a:lin ang="2700006" scaled="0"/>
            </a:gra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p:txBody>
        </p:sp>
      </p:grpSp>
      <p:grpSp>
        <p:nvGrpSpPr>
          <p:cNvPr id="9799" name="Google Shape;9799;p95"/>
          <p:cNvGrpSpPr/>
          <p:nvPr/>
        </p:nvGrpSpPr>
        <p:grpSpPr>
          <a:xfrm>
            <a:off x="8074926" y="3730784"/>
            <a:ext cx="1527009" cy="1446369"/>
            <a:chOff x="8074876" y="3730864"/>
            <a:chExt cx="1527000" cy="1446747"/>
          </a:xfrm>
        </p:grpSpPr>
        <p:sp>
          <p:nvSpPr>
            <p:cNvPr id="9800" name="Google Shape;9800;p95"/>
            <p:cNvSpPr txBox="1"/>
            <p:nvPr/>
          </p:nvSpPr>
          <p:spPr>
            <a:xfrm>
              <a:off x="8074876" y="4644506"/>
              <a:ext cx="1527000" cy="533105"/>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667"/>
                </a:spcAft>
                <a:buNone/>
              </a:pPr>
              <a:r>
                <a:rPr lang="en-US" sz="1600">
                  <a:solidFill>
                    <a:schemeClr val="dk1"/>
                  </a:solidFill>
                  <a:latin typeface="Arial"/>
                  <a:ea typeface="Arial"/>
                  <a:cs typeface="Arial"/>
                  <a:sym typeface="Arial"/>
                </a:rPr>
                <a:t>Secure </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Access</a:t>
              </a:r>
              <a:endParaRPr sz="1466">
                <a:solidFill>
                  <a:srgbClr val="000000"/>
                </a:solidFill>
                <a:latin typeface="Arial"/>
                <a:ea typeface="Arial"/>
                <a:cs typeface="Arial"/>
                <a:sym typeface="Arial"/>
              </a:endParaRPr>
            </a:p>
          </p:txBody>
        </p:sp>
        <p:sp>
          <p:nvSpPr>
            <p:cNvPr id="9801" name="Google Shape;9801;p95"/>
            <p:cNvSpPr/>
            <p:nvPr/>
          </p:nvSpPr>
          <p:spPr>
            <a:xfrm>
              <a:off x="8539973" y="3730864"/>
              <a:ext cx="596992" cy="645325"/>
            </a:xfrm>
            <a:custGeom>
              <a:avLst/>
              <a:gdLst/>
              <a:ahLst/>
              <a:cxnLst/>
              <a:rect l="l" t="t" r="r" b="b"/>
              <a:pathLst>
                <a:path w="579604" h="626529" extrusionOk="0">
                  <a:moveTo>
                    <a:pt x="274186" y="468360"/>
                  </a:moveTo>
                  <a:lnTo>
                    <a:pt x="305374" y="468360"/>
                  </a:lnTo>
                  <a:lnTo>
                    <a:pt x="305374" y="626529"/>
                  </a:lnTo>
                  <a:lnTo>
                    <a:pt x="274186" y="626529"/>
                  </a:lnTo>
                  <a:close/>
                  <a:moveTo>
                    <a:pt x="91915" y="457043"/>
                  </a:moveTo>
                  <a:lnTo>
                    <a:pt x="123103" y="457043"/>
                  </a:lnTo>
                  <a:lnTo>
                    <a:pt x="123103" y="558583"/>
                  </a:lnTo>
                  <a:lnTo>
                    <a:pt x="91915" y="558583"/>
                  </a:lnTo>
                  <a:close/>
                  <a:moveTo>
                    <a:pt x="183786" y="344096"/>
                  </a:moveTo>
                  <a:lnTo>
                    <a:pt x="214974" y="344096"/>
                  </a:lnTo>
                  <a:lnTo>
                    <a:pt x="214974" y="601133"/>
                  </a:lnTo>
                  <a:lnTo>
                    <a:pt x="183786" y="601133"/>
                  </a:lnTo>
                  <a:close/>
                  <a:moveTo>
                    <a:pt x="364542" y="310190"/>
                  </a:moveTo>
                  <a:lnTo>
                    <a:pt x="395730" y="310190"/>
                  </a:lnTo>
                  <a:lnTo>
                    <a:pt x="395730" y="601132"/>
                  </a:lnTo>
                  <a:lnTo>
                    <a:pt x="364542" y="601132"/>
                  </a:lnTo>
                  <a:close/>
                  <a:moveTo>
                    <a:pt x="0" y="289784"/>
                  </a:moveTo>
                  <a:lnTo>
                    <a:pt x="31188" y="289784"/>
                  </a:lnTo>
                  <a:lnTo>
                    <a:pt x="31188" y="456597"/>
                  </a:lnTo>
                  <a:lnTo>
                    <a:pt x="0" y="456597"/>
                  </a:lnTo>
                  <a:close/>
                  <a:moveTo>
                    <a:pt x="274186" y="281943"/>
                  </a:moveTo>
                  <a:lnTo>
                    <a:pt x="305374" y="281943"/>
                  </a:lnTo>
                  <a:lnTo>
                    <a:pt x="305374" y="440112"/>
                  </a:lnTo>
                  <a:lnTo>
                    <a:pt x="274186" y="440112"/>
                  </a:lnTo>
                  <a:close/>
                  <a:moveTo>
                    <a:pt x="289780" y="183789"/>
                  </a:moveTo>
                  <a:cubicBezTo>
                    <a:pt x="339369" y="183789"/>
                    <a:pt x="381785" y="217472"/>
                    <a:pt x="393012" y="265681"/>
                  </a:cubicBezTo>
                  <a:lnTo>
                    <a:pt x="362626" y="272765"/>
                  </a:lnTo>
                  <a:cubicBezTo>
                    <a:pt x="354696" y="238769"/>
                    <a:pt x="324755" y="215022"/>
                    <a:pt x="289780" y="215022"/>
                  </a:cubicBezTo>
                  <a:cubicBezTo>
                    <a:pt x="248523" y="215022"/>
                    <a:pt x="214974" y="248616"/>
                    <a:pt x="214974" y="289829"/>
                  </a:cubicBezTo>
                  <a:lnTo>
                    <a:pt x="214974" y="301191"/>
                  </a:lnTo>
                  <a:lnTo>
                    <a:pt x="183786" y="301191"/>
                  </a:lnTo>
                  <a:lnTo>
                    <a:pt x="183786" y="289829"/>
                  </a:lnTo>
                  <a:cubicBezTo>
                    <a:pt x="183786" y="231373"/>
                    <a:pt x="231326" y="183834"/>
                    <a:pt x="289780" y="183834"/>
                  </a:cubicBezTo>
                  <a:close/>
                  <a:moveTo>
                    <a:pt x="383790" y="115665"/>
                  </a:moveTo>
                  <a:cubicBezTo>
                    <a:pt x="447903" y="150418"/>
                    <a:pt x="487690" y="217116"/>
                    <a:pt x="487690" y="289785"/>
                  </a:cubicBezTo>
                  <a:lnTo>
                    <a:pt x="487690" y="558718"/>
                  </a:lnTo>
                  <a:lnTo>
                    <a:pt x="456502" y="558718"/>
                  </a:lnTo>
                  <a:lnTo>
                    <a:pt x="456502" y="289785"/>
                  </a:lnTo>
                  <a:cubicBezTo>
                    <a:pt x="456502" y="228566"/>
                    <a:pt x="422953" y="172383"/>
                    <a:pt x="368953" y="143111"/>
                  </a:cubicBezTo>
                  <a:lnTo>
                    <a:pt x="383790" y="115710"/>
                  </a:lnTo>
                  <a:close/>
                  <a:moveTo>
                    <a:pt x="289780" y="91916"/>
                  </a:moveTo>
                  <a:cubicBezTo>
                    <a:pt x="306888" y="91916"/>
                    <a:pt x="323908" y="94099"/>
                    <a:pt x="340349" y="98465"/>
                  </a:cubicBezTo>
                  <a:lnTo>
                    <a:pt x="332374" y="128629"/>
                  </a:lnTo>
                  <a:cubicBezTo>
                    <a:pt x="318562" y="124975"/>
                    <a:pt x="304215" y="123104"/>
                    <a:pt x="289780" y="123104"/>
                  </a:cubicBezTo>
                  <a:cubicBezTo>
                    <a:pt x="197865" y="123104"/>
                    <a:pt x="123103" y="197867"/>
                    <a:pt x="123103" y="289783"/>
                  </a:cubicBezTo>
                  <a:lnTo>
                    <a:pt x="123103" y="414225"/>
                  </a:lnTo>
                  <a:lnTo>
                    <a:pt x="91915" y="414225"/>
                  </a:lnTo>
                  <a:lnTo>
                    <a:pt x="91915" y="289783"/>
                  </a:lnTo>
                  <a:cubicBezTo>
                    <a:pt x="91915" y="180669"/>
                    <a:pt x="180667" y="91916"/>
                    <a:pt x="289780" y="91916"/>
                  </a:cubicBezTo>
                  <a:close/>
                  <a:moveTo>
                    <a:pt x="421170" y="31545"/>
                  </a:moveTo>
                  <a:lnTo>
                    <a:pt x="421215" y="31545"/>
                  </a:lnTo>
                  <a:cubicBezTo>
                    <a:pt x="518922" y="81402"/>
                    <a:pt x="579604" y="180358"/>
                    <a:pt x="579604" y="289784"/>
                  </a:cubicBezTo>
                  <a:lnTo>
                    <a:pt x="579604" y="457043"/>
                  </a:lnTo>
                  <a:lnTo>
                    <a:pt x="548416" y="457043"/>
                  </a:lnTo>
                  <a:lnTo>
                    <a:pt x="548416" y="289784"/>
                  </a:lnTo>
                  <a:cubicBezTo>
                    <a:pt x="548416" y="192165"/>
                    <a:pt x="494239" y="103857"/>
                    <a:pt x="407002" y="59302"/>
                  </a:cubicBezTo>
                  <a:close/>
                  <a:moveTo>
                    <a:pt x="289780" y="0"/>
                  </a:moveTo>
                  <a:cubicBezTo>
                    <a:pt x="317315" y="0"/>
                    <a:pt x="344582" y="3876"/>
                    <a:pt x="370824" y="11540"/>
                  </a:cubicBezTo>
                  <a:lnTo>
                    <a:pt x="362092" y="41480"/>
                  </a:lnTo>
                  <a:cubicBezTo>
                    <a:pt x="338701" y="34663"/>
                    <a:pt x="314375" y="31188"/>
                    <a:pt x="289780" y="31188"/>
                  </a:cubicBezTo>
                  <a:lnTo>
                    <a:pt x="289825" y="31233"/>
                  </a:lnTo>
                  <a:cubicBezTo>
                    <a:pt x="162624" y="31233"/>
                    <a:pt x="55293" y="122259"/>
                    <a:pt x="34664" y="247680"/>
                  </a:cubicBezTo>
                  <a:lnTo>
                    <a:pt x="3877" y="242601"/>
                  </a:lnTo>
                  <a:cubicBezTo>
                    <a:pt x="14882" y="175635"/>
                    <a:pt x="49545" y="114238"/>
                    <a:pt x="101405" y="69773"/>
                  </a:cubicBezTo>
                  <a:cubicBezTo>
                    <a:pt x="153846" y="24773"/>
                    <a:pt x="220766" y="0"/>
                    <a:pt x="289780" y="0"/>
                  </a:cubicBezTo>
                  <a:close/>
                </a:path>
              </a:pathLst>
            </a:custGeom>
            <a:gradFill>
              <a:gsLst>
                <a:gs pos="0">
                  <a:srgbClr val="0C88BA"/>
                </a:gs>
                <a:gs pos="100000">
                  <a:srgbClr val="585999"/>
                </a:gs>
              </a:gsLst>
              <a:lin ang="2700006" scaled="0"/>
            </a:gra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p:txBody>
        </p:sp>
      </p:grpSp>
      <p:grpSp>
        <p:nvGrpSpPr>
          <p:cNvPr id="9802" name="Google Shape;9802;p95"/>
          <p:cNvGrpSpPr/>
          <p:nvPr/>
        </p:nvGrpSpPr>
        <p:grpSpPr>
          <a:xfrm>
            <a:off x="6353005" y="3689457"/>
            <a:ext cx="1527009" cy="1487695"/>
            <a:chOff x="6352966" y="3689527"/>
            <a:chExt cx="1527000" cy="1488084"/>
          </a:xfrm>
        </p:grpSpPr>
        <p:sp>
          <p:nvSpPr>
            <p:cNvPr id="9803" name="Google Shape;9803;p95"/>
            <p:cNvSpPr txBox="1"/>
            <p:nvPr/>
          </p:nvSpPr>
          <p:spPr>
            <a:xfrm>
              <a:off x="6352966" y="4644506"/>
              <a:ext cx="1527000" cy="533105"/>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667"/>
                </a:spcAft>
                <a:buNone/>
              </a:pPr>
              <a:r>
                <a:rPr lang="en-US" sz="1600">
                  <a:solidFill>
                    <a:schemeClr val="dk1"/>
                  </a:solidFill>
                  <a:latin typeface="Arial"/>
                  <a:ea typeface="Arial"/>
                  <a:cs typeface="Arial"/>
                  <a:sym typeface="Arial"/>
                </a:rPr>
                <a:t>Business </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Operations</a:t>
              </a:r>
              <a:endParaRPr sz="1466">
                <a:solidFill>
                  <a:srgbClr val="000000"/>
                </a:solidFill>
                <a:latin typeface="Arial"/>
                <a:ea typeface="Arial"/>
                <a:cs typeface="Arial"/>
                <a:sym typeface="Arial"/>
              </a:endParaRPr>
            </a:p>
          </p:txBody>
        </p:sp>
        <p:sp>
          <p:nvSpPr>
            <p:cNvPr id="9804" name="Google Shape;9804;p95"/>
            <p:cNvSpPr/>
            <p:nvPr/>
          </p:nvSpPr>
          <p:spPr>
            <a:xfrm>
              <a:off x="6771978" y="3689527"/>
              <a:ext cx="771778" cy="728060"/>
            </a:xfrm>
            <a:custGeom>
              <a:avLst/>
              <a:gdLst/>
              <a:ahLst/>
              <a:cxnLst/>
              <a:rect l="l" t="t" r="r" b="b"/>
              <a:pathLst>
                <a:path w="749299" h="706854" extrusionOk="0">
                  <a:moveTo>
                    <a:pt x="372002" y="490488"/>
                  </a:moveTo>
                  <a:cubicBezTo>
                    <a:pt x="361865" y="490132"/>
                    <a:pt x="351507" y="491774"/>
                    <a:pt x="341470" y="495655"/>
                  </a:cubicBezTo>
                  <a:cubicBezTo>
                    <a:pt x="301325" y="511181"/>
                    <a:pt x="281439" y="556643"/>
                    <a:pt x="297125" y="597213"/>
                  </a:cubicBezTo>
                  <a:cubicBezTo>
                    <a:pt x="312811" y="637783"/>
                    <a:pt x="358060" y="658148"/>
                    <a:pt x="398205" y="642622"/>
                  </a:cubicBezTo>
                  <a:cubicBezTo>
                    <a:pt x="438402" y="627096"/>
                    <a:pt x="458236" y="581634"/>
                    <a:pt x="442550" y="541064"/>
                  </a:cubicBezTo>
                  <a:cubicBezTo>
                    <a:pt x="430825" y="510596"/>
                    <a:pt x="402412" y="491554"/>
                    <a:pt x="372002" y="490488"/>
                  </a:cubicBezTo>
                  <a:close/>
                  <a:moveTo>
                    <a:pt x="390229" y="431317"/>
                  </a:moveTo>
                  <a:lnTo>
                    <a:pt x="391930" y="431583"/>
                  </a:lnTo>
                  <a:cubicBezTo>
                    <a:pt x="400650" y="433018"/>
                    <a:pt x="409264" y="435358"/>
                    <a:pt x="417559" y="438495"/>
                  </a:cubicBezTo>
                  <a:lnTo>
                    <a:pt x="419207" y="439080"/>
                  </a:lnTo>
                  <a:lnTo>
                    <a:pt x="420165" y="471515"/>
                  </a:lnTo>
                  <a:cubicBezTo>
                    <a:pt x="426226" y="474705"/>
                    <a:pt x="431969" y="478427"/>
                    <a:pt x="437233" y="482628"/>
                  </a:cubicBezTo>
                  <a:lnTo>
                    <a:pt x="466849" y="470239"/>
                  </a:lnTo>
                  <a:lnTo>
                    <a:pt x="468072" y="471515"/>
                  </a:lnTo>
                  <a:cubicBezTo>
                    <a:pt x="471210" y="474705"/>
                    <a:pt x="474187" y="478108"/>
                    <a:pt x="476952" y="481511"/>
                  </a:cubicBezTo>
                  <a:cubicBezTo>
                    <a:pt x="479717" y="484914"/>
                    <a:pt x="482376" y="488583"/>
                    <a:pt x="484875" y="492305"/>
                  </a:cubicBezTo>
                  <a:lnTo>
                    <a:pt x="485832" y="493741"/>
                  </a:lnTo>
                  <a:lnTo>
                    <a:pt x="467713" y="520361"/>
                  </a:lnTo>
                  <a:lnTo>
                    <a:pt x="467700" y="520327"/>
                  </a:lnTo>
                  <a:lnTo>
                    <a:pt x="467700" y="520380"/>
                  </a:lnTo>
                  <a:lnTo>
                    <a:pt x="467713" y="520361"/>
                  </a:lnTo>
                  <a:lnTo>
                    <a:pt x="475038" y="539415"/>
                  </a:lnTo>
                  <a:lnTo>
                    <a:pt x="506409" y="546966"/>
                  </a:lnTo>
                  <a:lnTo>
                    <a:pt x="506675" y="548720"/>
                  </a:lnTo>
                  <a:cubicBezTo>
                    <a:pt x="508005" y="557494"/>
                    <a:pt x="508536" y="566480"/>
                    <a:pt x="508111" y="575360"/>
                  </a:cubicBezTo>
                  <a:lnTo>
                    <a:pt x="508111" y="577114"/>
                  </a:lnTo>
                  <a:lnTo>
                    <a:pt x="477803" y="587855"/>
                  </a:lnTo>
                  <a:cubicBezTo>
                    <a:pt x="476686" y="594501"/>
                    <a:pt x="474985" y="601095"/>
                    <a:pt x="472645" y="607529"/>
                  </a:cubicBezTo>
                  <a:lnTo>
                    <a:pt x="493754" y="632200"/>
                  </a:lnTo>
                  <a:lnTo>
                    <a:pt x="492957" y="633742"/>
                  </a:lnTo>
                  <a:cubicBezTo>
                    <a:pt x="488916" y="641612"/>
                    <a:pt x="484130" y="649109"/>
                    <a:pt x="478654" y="656075"/>
                  </a:cubicBezTo>
                  <a:lnTo>
                    <a:pt x="477590" y="657404"/>
                  </a:lnTo>
                  <a:lnTo>
                    <a:pt x="446697" y="648099"/>
                  </a:lnTo>
                  <a:cubicBezTo>
                    <a:pt x="444251" y="650438"/>
                    <a:pt x="441752" y="652725"/>
                    <a:pt x="439147" y="654852"/>
                  </a:cubicBezTo>
                  <a:cubicBezTo>
                    <a:pt x="436541" y="656925"/>
                    <a:pt x="433830" y="658946"/>
                    <a:pt x="431012" y="660860"/>
                  </a:cubicBezTo>
                  <a:lnTo>
                    <a:pt x="433777" y="693242"/>
                  </a:lnTo>
                  <a:lnTo>
                    <a:pt x="432235" y="693986"/>
                  </a:lnTo>
                  <a:cubicBezTo>
                    <a:pt x="424365" y="697921"/>
                    <a:pt x="416070" y="701164"/>
                    <a:pt x="407563" y="703504"/>
                  </a:cubicBezTo>
                  <a:lnTo>
                    <a:pt x="405914" y="703982"/>
                  </a:lnTo>
                  <a:lnTo>
                    <a:pt x="386188" y="678141"/>
                  </a:lnTo>
                  <a:cubicBezTo>
                    <a:pt x="379435" y="679151"/>
                    <a:pt x="372682" y="679470"/>
                    <a:pt x="365982" y="679204"/>
                  </a:cubicBezTo>
                  <a:lnTo>
                    <a:pt x="349340" y="706854"/>
                  </a:lnTo>
                  <a:lnTo>
                    <a:pt x="347638" y="706588"/>
                  </a:lnTo>
                  <a:cubicBezTo>
                    <a:pt x="338918" y="705099"/>
                    <a:pt x="330304" y="702813"/>
                    <a:pt x="322009" y="699675"/>
                  </a:cubicBezTo>
                  <a:lnTo>
                    <a:pt x="320361" y="699037"/>
                  </a:lnTo>
                  <a:lnTo>
                    <a:pt x="319404" y="666603"/>
                  </a:lnTo>
                  <a:cubicBezTo>
                    <a:pt x="313342" y="663465"/>
                    <a:pt x="307600" y="659690"/>
                    <a:pt x="302336" y="655490"/>
                  </a:cubicBezTo>
                  <a:lnTo>
                    <a:pt x="272719" y="667932"/>
                  </a:lnTo>
                  <a:lnTo>
                    <a:pt x="271496" y="666656"/>
                  </a:lnTo>
                  <a:cubicBezTo>
                    <a:pt x="268359" y="663465"/>
                    <a:pt x="265381" y="660062"/>
                    <a:pt x="262616" y="656659"/>
                  </a:cubicBezTo>
                  <a:cubicBezTo>
                    <a:pt x="259798" y="653203"/>
                    <a:pt x="257140" y="649588"/>
                    <a:pt x="254694" y="645865"/>
                  </a:cubicBezTo>
                  <a:lnTo>
                    <a:pt x="253737" y="644430"/>
                  </a:lnTo>
                  <a:lnTo>
                    <a:pt x="271868" y="617791"/>
                  </a:lnTo>
                  <a:cubicBezTo>
                    <a:pt x="268891" y="611729"/>
                    <a:pt x="266392" y="605349"/>
                    <a:pt x="264531" y="598755"/>
                  </a:cubicBezTo>
                  <a:lnTo>
                    <a:pt x="233159" y="591152"/>
                  </a:lnTo>
                  <a:lnTo>
                    <a:pt x="232893" y="589450"/>
                  </a:lnTo>
                  <a:cubicBezTo>
                    <a:pt x="231564" y="580677"/>
                    <a:pt x="231032" y="571691"/>
                    <a:pt x="231458" y="562811"/>
                  </a:cubicBezTo>
                  <a:lnTo>
                    <a:pt x="231458" y="561110"/>
                  </a:lnTo>
                  <a:lnTo>
                    <a:pt x="261766" y="550369"/>
                  </a:lnTo>
                  <a:cubicBezTo>
                    <a:pt x="262882" y="543722"/>
                    <a:pt x="264584" y="537129"/>
                    <a:pt x="266923" y="530695"/>
                  </a:cubicBezTo>
                  <a:lnTo>
                    <a:pt x="245814" y="506023"/>
                  </a:lnTo>
                  <a:lnTo>
                    <a:pt x="246612" y="504482"/>
                  </a:lnTo>
                  <a:cubicBezTo>
                    <a:pt x="250653" y="496612"/>
                    <a:pt x="255438" y="489062"/>
                    <a:pt x="260915" y="482149"/>
                  </a:cubicBezTo>
                  <a:lnTo>
                    <a:pt x="261978" y="480767"/>
                  </a:lnTo>
                  <a:lnTo>
                    <a:pt x="292871" y="490072"/>
                  </a:lnTo>
                  <a:cubicBezTo>
                    <a:pt x="295317" y="487679"/>
                    <a:pt x="297869" y="485446"/>
                    <a:pt x="300422" y="483319"/>
                  </a:cubicBezTo>
                  <a:cubicBezTo>
                    <a:pt x="302974" y="481245"/>
                    <a:pt x="305739" y="479225"/>
                    <a:pt x="308557" y="477311"/>
                  </a:cubicBezTo>
                  <a:lnTo>
                    <a:pt x="305792" y="444929"/>
                  </a:lnTo>
                  <a:lnTo>
                    <a:pt x="307334" y="444185"/>
                  </a:lnTo>
                  <a:cubicBezTo>
                    <a:pt x="315203" y="440197"/>
                    <a:pt x="323498" y="436953"/>
                    <a:pt x="332006" y="434614"/>
                  </a:cubicBezTo>
                  <a:lnTo>
                    <a:pt x="333654" y="434188"/>
                  </a:lnTo>
                  <a:lnTo>
                    <a:pt x="353381" y="460030"/>
                  </a:lnTo>
                  <a:cubicBezTo>
                    <a:pt x="360134" y="459020"/>
                    <a:pt x="366886" y="458701"/>
                    <a:pt x="373586" y="458966"/>
                  </a:cubicBezTo>
                  <a:close/>
                  <a:moveTo>
                    <a:pt x="585168" y="238054"/>
                  </a:moveTo>
                  <a:cubicBezTo>
                    <a:pt x="572967" y="237622"/>
                    <a:pt x="560498" y="239592"/>
                    <a:pt x="548414" y="244258"/>
                  </a:cubicBezTo>
                  <a:cubicBezTo>
                    <a:pt x="500081" y="262975"/>
                    <a:pt x="476154" y="317689"/>
                    <a:pt x="495030" y="366554"/>
                  </a:cubicBezTo>
                  <a:cubicBezTo>
                    <a:pt x="513906" y="415419"/>
                    <a:pt x="568407" y="439878"/>
                    <a:pt x="616740" y="421214"/>
                  </a:cubicBezTo>
                  <a:cubicBezTo>
                    <a:pt x="665074" y="402551"/>
                    <a:pt x="689001" y="347784"/>
                    <a:pt x="670125" y="298919"/>
                  </a:cubicBezTo>
                  <a:cubicBezTo>
                    <a:pt x="655968" y="262270"/>
                    <a:pt x="621772" y="239350"/>
                    <a:pt x="585168" y="238054"/>
                  </a:cubicBezTo>
                  <a:close/>
                  <a:moveTo>
                    <a:pt x="607169" y="166787"/>
                  </a:moveTo>
                  <a:lnTo>
                    <a:pt x="609243" y="167106"/>
                  </a:lnTo>
                  <a:cubicBezTo>
                    <a:pt x="619718" y="168914"/>
                    <a:pt x="630086" y="171679"/>
                    <a:pt x="640083" y="175454"/>
                  </a:cubicBezTo>
                  <a:lnTo>
                    <a:pt x="642050" y="176198"/>
                  </a:lnTo>
                  <a:lnTo>
                    <a:pt x="643220" y="215280"/>
                  </a:lnTo>
                  <a:cubicBezTo>
                    <a:pt x="650504" y="219108"/>
                    <a:pt x="657364" y="223628"/>
                    <a:pt x="663744" y="228679"/>
                  </a:cubicBezTo>
                  <a:lnTo>
                    <a:pt x="699423" y="213738"/>
                  </a:lnTo>
                  <a:lnTo>
                    <a:pt x="700858" y="215227"/>
                  </a:lnTo>
                  <a:cubicBezTo>
                    <a:pt x="704633" y="219055"/>
                    <a:pt x="708196" y="223149"/>
                    <a:pt x="711546" y="227243"/>
                  </a:cubicBezTo>
                  <a:cubicBezTo>
                    <a:pt x="714896" y="231338"/>
                    <a:pt x="718086" y="235698"/>
                    <a:pt x="721064" y="240217"/>
                  </a:cubicBezTo>
                  <a:lnTo>
                    <a:pt x="722233" y="241972"/>
                  </a:lnTo>
                  <a:lnTo>
                    <a:pt x="700433" y="274088"/>
                  </a:lnTo>
                  <a:lnTo>
                    <a:pt x="700486" y="274035"/>
                  </a:lnTo>
                  <a:cubicBezTo>
                    <a:pt x="704102" y="281319"/>
                    <a:pt x="707079" y="289029"/>
                    <a:pt x="709312" y="297005"/>
                  </a:cubicBezTo>
                  <a:lnTo>
                    <a:pt x="747065" y="306097"/>
                  </a:lnTo>
                  <a:lnTo>
                    <a:pt x="747384" y="308171"/>
                  </a:lnTo>
                  <a:cubicBezTo>
                    <a:pt x="749032" y="318805"/>
                    <a:pt x="749617" y="329599"/>
                    <a:pt x="749138" y="340287"/>
                  </a:cubicBezTo>
                  <a:lnTo>
                    <a:pt x="749138" y="342361"/>
                  </a:lnTo>
                  <a:lnTo>
                    <a:pt x="712662" y="355281"/>
                  </a:lnTo>
                  <a:cubicBezTo>
                    <a:pt x="711333" y="363310"/>
                    <a:pt x="709312" y="371233"/>
                    <a:pt x="706494" y="378996"/>
                  </a:cubicBezTo>
                  <a:lnTo>
                    <a:pt x="731911" y="408719"/>
                  </a:lnTo>
                  <a:lnTo>
                    <a:pt x="730953" y="410580"/>
                  </a:lnTo>
                  <a:cubicBezTo>
                    <a:pt x="726115" y="420045"/>
                    <a:pt x="720319" y="429137"/>
                    <a:pt x="713726" y="437485"/>
                  </a:cubicBezTo>
                  <a:lnTo>
                    <a:pt x="712450" y="439133"/>
                  </a:lnTo>
                  <a:lnTo>
                    <a:pt x="675229" y="427914"/>
                  </a:lnTo>
                  <a:cubicBezTo>
                    <a:pt x="672305" y="430785"/>
                    <a:pt x="669221" y="433497"/>
                    <a:pt x="666137" y="436049"/>
                  </a:cubicBezTo>
                  <a:cubicBezTo>
                    <a:pt x="663053" y="438548"/>
                    <a:pt x="659756" y="440994"/>
                    <a:pt x="656353" y="443281"/>
                  </a:cubicBezTo>
                  <a:lnTo>
                    <a:pt x="659650" y="482256"/>
                  </a:lnTo>
                  <a:lnTo>
                    <a:pt x="657789" y="483160"/>
                  </a:lnTo>
                  <a:cubicBezTo>
                    <a:pt x="648324" y="487945"/>
                    <a:pt x="638328" y="491773"/>
                    <a:pt x="628119" y="494645"/>
                  </a:cubicBezTo>
                  <a:lnTo>
                    <a:pt x="626099" y="495230"/>
                  </a:lnTo>
                  <a:lnTo>
                    <a:pt x="602331" y="464124"/>
                  </a:lnTo>
                  <a:cubicBezTo>
                    <a:pt x="594249" y="465294"/>
                    <a:pt x="586113" y="465719"/>
                    <a:pt x="578031" y="465400"/>
                  </a:cubicBezTo>
                  <a:lnTo>
                    <a:pt x="558039" y="498686"/>
                  </a:lnTo>
                  <a:lnTo>
                    <a:pt x="555965" y="498367"/>
                  </a:lnTo>
                  <a:cubicBezTo>
                    <a:pt x="545490" y="496559"/>
                    <a:pt x="535068" y="493741"/>
                    <a:pt x="525125" y="490019"/>
                  </a:cubicBezTo>
                  <a:lnTo>
                    <a:pt x="523158" y="489274"/>
                  </a:lnTo>
                  <a:lnTo>
                    <a:pt x="521988" y="450193"/>
                  </a:lnTo>
                  <a:cubicBezTo>
                    <a:pt x="514703" y="446365"/>
                    <a:pt x="507844" y="441845"/>
                    <a:pt x="501464" y="436794"/>
                  </a:cubicBezTo>
                  <a:lnTo>
                    <a:pt x="465785" y="451735"/>
                  </a:lnTo>
                  <a:lnTo>
                    <a:pt x="464297" y="450246"/>
                  </a:lnTo>
                  <a:cubicBezTo>
                    <a:pt x="460521" y="446418"/>
                    <a:pt x="456959" y="442324"/>
                    <a:pt x="453609" y="438229"/>
                  </a:cubicBezTo>
                  <a:cubicBezTo>
                    <a:pt x="450259" y="434082"/>
                    <a:pt x="447069" y="429775"/>
                    <a:pt x="444091" y="425255"/>
                  </a:cubicBezTo>
                  <a:lnTo>
                    <a:pt x="442921" y="423501"/>
                  </a:lnTo>
                  <a:lnTo>
                    <a:pt x="464722" y="391385"/>
                  </a:lnTo>
                  <a:cubicBezTo>
                    <a:pt x="461106" y="384100"/>
                    <a:pt x="458129" y="376390"/>
                    <a:pt x="455895" y="368468"/>
                  </a:cubicBezTo>
                  <a:lnTo>
                    <a:pt x="418143" y="359322"/>
                  </a:lnTo>
                  <a:lnTo>
                    <a:pt x="417824" y="357249"/>
                  </a:lnTo>
                  <a:cubicBezTo>
                    <a:pt x="416229" y="346667"/>
                    <a:pt x="415591" y="335820"/>
                    <a:pt x="416016" y="325133"/>
                  </a:cubicBezTo>
                  <a:lnTo>
                    <a:pt x="416123" y="323059"/>
                  </a:lnTo>
                  <a:lnTo>
                    <a:pt x="452599" y="310138"/>
                  </a:lnTo>
                  <a:cubicBezTo>
                    <a:pt x="453928" y="302109"/>
                    <a:pt x="455949" y="294134"/>
                    <a:pt x="458767" y="286424"/>
                  </a:cubicBezTo>
                  <a:lnTo>
                    <a:pt x="433351" y="256701"/>
                  </a:lnTo>
                  <a:lnTo>
                    <a:pt x="434308" y="254840"/>
                  </a:lnTo>
                  <a:cubicBezTo>
                    <a:pt x="439146" y="245322"/>
                    <a:pt x="444942" y="236283"/>
                    <a:pt x="451535" y="227935"/>
                  </a:cubicBezTo>
                  <a:lnTo>
                    <a:pt x="452811" y="226286"/>
                  </a:lnTo>
                  <a:lnTo>
                    <a:pt x="490032" y="237506"/>
                  </a:lnTo>
                  <a:cubicBezTo>
                    <a:pt x="492903" y="234634"/>
                    <a:pt x="495987" y="231923"/>
                    <a:pt x="499071" y="229370"/>
                  </a:cubicBezTo>
                  <a:cubicBezTo>
                    <a:pt x="502155" y="226871"/>
                    <a:pt x="505452" y="224425"/>
                    <a:pt x="508855" y="222139"/>
                  </a:cubicBezTo>
                  <a:lnTo>
                    <a:pt x="505558" y="183164"/>
                  </a:lnTo>
                  <a:lnTo>
                    <a:pt x="507419" y="182260"/>
                  </a:lnTo>
                  <a:cubicBezTo>
                    <a:pt x="516937" y="177475"/>
                    <a:pt x="526933" y="173646"/>
                    <a:pt x="537142" y="170775"/>
                  </a:cubicBezTo>
                  <a:lnTo>
                    <a:pt x="539163" y="170243"/>
                  </a:lnTo>
                  <a:lnTo>
                    <a:pt x="562877" y="201349"/>
                  </a:lnTo>
                  <a:cubicBezTo>
                    <a:pt x="570959" y="200179"/>
                    <a:pt x="579148" y="199754"/>
                    <a:pt x="587177" y="200073"/>
                  </a:cubicBezTo>
                  <a:close/>
                  <a:moveTo>
                    <a:pt x="207742" y="93622"/>
                  </a:moveTo>
                  <a:cubicBezTo>
                    <a:pt x="141650" y="93622"/>
                    <a:pt x="88053" y="147698"/>
                    <a:pt x="88053" y="214535"/>
                  </a:cubicBezTo>
                  <a:cubicBezTo>
                    <a:pt x="88053" y="281372"/>
                    <a:pt x="141650" y="335501"/>
                    <a:pt x="207742" y="335501"/>
                  </a:cubicBezTo>
                  <a:cubicBezTo>
                    <a:pt x="273835" y="335501"/>
                    <a:pt x="327432" y="281319"/>
                    <a:pt x="327432" y="214535"/>
                  </a:cubicBezTo>
                  <a:cubicBezTo>
                    <a:pt x="327432" y="147751"/>
                    <a:pt x="273835" y="93622"/>
                    <a:pt x="207742" y="93622"/>
                  </a:cubicBezTo>
                  <a:close/>
                  <a:moveTo>
                    <a:pt x="187590" y="997"/>
                  </a:moveTo>
                  <a:cubicBezTo>
                    <a:pt x="201096" y="-332"/>
                    <a:pt x="214761" y="-332"/>
                    <a:pt x="228214" y="997"/>
                  </a:cubicBezTo>
                  <a:lnTo>
                    <a:pt x="230872" y="1263"/>
                  </a:lnTo>
                  <a:lnTo>
                    <a:pt x="244803" y="49171"/>
                  </a:lnTo>
                  <a:cubicBezTo>
                    <a:pt x="254959" y="51510"/>
                    <a:pt x="264849" y="54754"/>
                    <a:pt x="274261" y="58848"/>
                  </a:cubicBezTo>
                  <a:lnTo>
                    <a:pt x="313342" y="28487"/>
                  </a:lnTo>
                  <a:lnTo>
                    <a:pt x="315628" y="29816"/>
                  </a:lnTo>
                  <a:cubicBezTo>
                    <a:pt x="327273" y="36728"/>
                    <a:pt x="338333" y="44864"/>
                    <a:pt x="348488" y="53903"/>
                  </a:cubicBezTo>
                  <a:lnTo>
                    <a:pt x="350456" y="55658"/>
                  </a:lnTo>
                  <a:lnTo>
                    <a:pt x="333866" y="102662"/>
                  </a:lnTo>
                  <a:cubicBezTo>
                    <a:pt x="340725" y="110584"/>
                    <a:pt x="346893" y="119092"/>
                    <a:pt x="352104" y="128025"/>
                  </a:cubicBezTo>
                  <a:lnTo>
                    <a:pt x="401394" y="126642"/>
                  </a:lnTo>
                  <a:lnTo>
                    <a:pt x="402405" y="129088"/>
                  </a:lnTo>
                  <a:cubicBezTo>
                    <a:pt x="405170" y="135415"/>
                    <a:pt x="407562" y="141849"/>
                    <a:pt x="409636" y="148283"/>
                  </a:cubicBezTo>
                  <a:cubicBezTo>
                    <a:pt x="411657" y="154717"/>
                    <a:pt x="413464" y="161363"/>
                    <a:pt x="414953" y="168116"/>
                  </a:cubicBezTo>
                  <a:lnTo>
                    <a:pt x="415538" y="170722"/>
                  </a:lnTo>
                  <a:lnTo>
                    <a:pt x="374915" y="198866"/>
                  </a:lnTo>
                  <a:lnTo>
                    <a:pt x="374915" y="198850"/>
                  </a:lnTo>
                  <a:lnTo>
                    <a:pt x="374862" y="198903"/>
                  </a:lnTo>
                  <a:lnTo>
                    <a:pt x="374915" y="198866"/>
                  </a:lnTo>
                  <a:lnTo>
                    <a:pt x="374915" y="230221"/>
                  </a:lnTo>
                  <a:lnTo>
                    <a:pt x="415644" y="258402"/>
                  </a:lnTo>
                  <a:lnTo>
                    <a:pt x="415060" y="261007"/>
                  </a:lnTo>
                  <a:cubicBezTo>
                    <a:pt x="412082" y="274354"/>
                    <a:pt x="407881" y="287487"/>
                    <a:pt x="402458" y="300036"/>
                  </a:cubicBezTo>
                  <a:lnTo>
                    <a:pt x="401394" y="302481"/>
                  </a:lnTo>
                  <a:lnTo>
                    <a:pt x="352104" y="301099"/>
                  </a:lnTo>
                  <a:cubicBezTo>
                    <a:pt x="346840" y="310032"/>
                    <a:pt x="340778" y="318539"/>
                    <a:pt x="333866" y="326462"/>
                  </a:cubicBezTo>
                  <a:lnTo>
                    <a:pt x="350403" y="373519"/>
                  </a:lnTo>
                  <a:lnTo>
                    <a:pt x="348435" y="375327"/>
                  </a:lnTo>
                  <a:cubicBezTo>
                    <a:pt x="338279" y="384366"/>
                    <a:pt x="327220" y="392501"/>
                    <a:pt x="315575" y="399414"/>
                  </a:cubicBezTo>
                  <a:lnTo>
                    <a:pt x="313289" y="400743"/>
                  </a:lnTo>
                  <a:lnTo>
                    <a:pt x="274154" y="370329"/>
                  </a:lnTo>
                  <a:cubicBezTo>
                    <a:pt x="269369" y="372402"/>
                    <a:pt x="264530" y="374264"/>
                    <a:pt x="259638" y="375859"/>
                  </a:cubicBezTo>
                  <a:cubicBezTo>
                    <a:pt x="254746" y="377454"/>
                    <a:pt x="249748" y="378836"/>
                    <a:pt x="244644" y="380006"/>
                  </a:cubicBezTo>
                  <a:lnTo>
                    <a:pt x="230660" y="427861"/>
                  </a:lnTo>
                  <a:lnTo>
                    <a:pt x="228054" y="428127"/>
                  </a:lnTo>
                  <a:cubicBezTo>
                    <a:pt x="214602" y="429456"/>
                    <a:pt x="200936" y="429456"/>
                    <a:pt x="187484" y="428127"/>
                  </a:cubicBezTo>
                  <a:lnTo>
                    <a:pt x="184825" y="427861"/>
                  </a:lnTo>
                  <a:lnTo>
                    <a:pt x="170841" y="379953"/>
                  </a:lnTo>
                  <a:cubicBezTo>
                    <a:pt x="160685" y="377613"/>
                    <a:pt x="150742" y="374370"/>
                    <a:pt x="141331" y="370276"/>
                  </a:cubicBezTo>
                  <a:lnTo>
                    <a:pt x="102250" y="400690"/>
                  </a:lnTo>
                  <a:lnTo>
                    <a:pt x="99963" y="399361"/>
                  </a:lnTo>
                  <a:cubicBezTo>
                    <a:pt x="88318" y="392395"/>
                    <a:pt x="77206" y="384313"/>
                    <a:pt x="67103" y="375274"/>
                  </a:cubicBezTo>
                  <a:lnTo>
                    <a:pt x="65136" y="373466"/>
                  </a:lnTo>
                  <a:lnTo>
                    <a:pt x="81725" y="326462"/>
                  </a:lnTo>
                  <a:cubicBezTo>
                    <a:pt x="74866" y="318593"/>
                    <a:pt x="68751" y="310032"/>
                    <a:pt x="63487" y="301099"/>
                  </a:cubicBezTo>
                  <a:lnTo>
                    <a:pt x="14197" y="302481"/>
                  </a:lnTo>
                  <a:lnTo>
                    <a:pt x="13133" y="300036"/>
                  </a:lnTo>
                  <a:cubicBezTo>
                    <a:pt x="10422" y="293708"/>
                    <a:pt x="8029" y="287274"/>
                    <a:pt x="5955" y="280841"/>
                  </a:cubicBezTo>
                  <a:cubicBezTo>
                    <a:pt x="3882" y="274354"/>
                    <a:pt x="2074" y="267707"/>
                    <a:pt x="585" y="261007"/>
                  </a:cubicBezTo>
                  <a:lnTo>
                    <a:pt x="0" y="258402"/>
                  </a:lnTo>
                  <a:lnTo>
                    <a:pt x="40730" y="230221"/>
                  </a:lnTo>
                  <a:cubicBezTo>
                    <a:pt x="39773" y="219906"/>
                    <a:pt x="39773" y="209378"/>
                    <a:pt x="40730" y="198903"/>
                  </a:cubicBezTo>
                  <a:lnTo>
                    <a:pt x="0" y="170668"/>
                  </a:lnTo>
                  <a:lnTo>
                    <a:pt x="585" y="168063"/>
                  </a:lnTo>
                  <a:cubicBezTo>
                    <a:pt x="3563" y="154717"/>
                    <a:pt x="7763" y="141583"/>
                    <a:pt x="13187" y="129035"/>
                  </a:cubicBezTo>
                  <a:lnTo>
                    <a:pt x="14250" y="126589"/>
                  </a:lnTo>
                  <a:lnTo>
                    <a:pt x="63540" y="127971"/>
                  </a:lnTo>
                  <a:cubicBezTo>
                    <a:pt x="68804" y="119039"/>
                    <a:pt x="74919" y="110531"/>
                    <a:pt x="81778" y="102608"/>
                  </a:cubicBezTo>
                  <a:lnTo>
                    <a:pt x="65242" y="55551"/>
                  </a:lnTo>
                  <a:lnTo>
                    <a:pt x="67209" y="53797"/>
                  </a:lnTo>
                  <a:cubicBezTo>
                    <a:pt x="77365" y="44704"/>
                    <a:pt x="88425" y="36622"/>
                    <a:pt x="100069" y="29710"/>
                  </a:cubicBezTo>
                  <a:lnTo>
                    <a:pt x="102356" y="28327"/>
                  </a:lnTo>
                  <a:lnTo>
                    <a:pt x="141490" y="58795"/>
                  </a:lnTo>
                  <a:cubicBezTo>
                    <a:pt x="146276" y="56721"/>
                    <a:pt x="151168" y="54860"/>
                    <a:pt x="156006" y="53265"/>
                  </a:cubicBezTo>
                  <a:cubicBezTo>
                    <a:pt x="160898" y="51670"/>
                    <a:pt x="165896" y="50287"/>
                    <a:pt x="171001" y="49118"/>
                  </a:cubicBezTo>
                  <a:lnTo>
                    <a:pt x="184985" y="1263"/>
                  </a:lnTo>
                  <a:close/>
                </a:path>
              </a:pathLst>
            </a:custGeom>
            <a:gradFill>
              <a:gsLst>
                <a:gs pos="0">
                  <a:srgbClr val="0C88BA"/>
                </a:gs>
                <a:gs pos="100000">
                  <a:srgbClr val="585999"/>
                </a:gs>
              </a:gsLst>
              <a:lin ang="2700006" scaled="0"/>
            </a:gra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p:txBody>
        </p:sp>
      </p:grpSp>
      <p:grpSp>
        <p:nvGrpSpPr>
          <p:cNvPr id="9805" name="Google Shape;9805;p95"/>
          <p:cNvGrpSpPr/>
          <p:nvPr/>
        </p:nvGrpSpPr>
        <p:grpSpPr>
          <a:xfrm>
            <a:off x="4372871" y="3726915"/>
            <a:ext cx="1626910" cy="1360467"/>
            <a:chOff x="4372844" y="3726995"/>
            <a:chExt cx="1626900" cy="1360822"/>
          </a:xfrm>
        </p:grpSpPr>
        <p:sp>
          <p:nvSpPr>
            <p:cNvPr id="9806" name="Google Shape;9806;p95"/>
            <p:cNvSpPr txBox="1"/>
            <p:nvPr/>
          </p:nvSpPr>
          <p:spPr>
            <a:xfrm>
              <a:off x="4372844" y="4644504"/>
              <a:ext cx="1626900" cy="443313"/>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600">
                  <a:solidFill>
                    <a:schemeClr val="dk1"/>
                  </a:solidFill>
                  <a:latin typeface="Arial"/>
                  <a:ea typeface="Arial"/>
                  <a:cs typeface="Arial"/>
                  <a:sym typeface="Arial"/>
                </a:rPr>
                <a:t>Network Observability</a:t>
              </a:r>
              <a:endParaRPr sz="1466">
                <a:solidFill>
                  <a:srgbClr val="000000"/>
                </a:solidFill>
                <a:latin typeface="Arial"/>
                <a:ea typeface="Arial"/>
                <a:cs typeface="Arial"/>
                <a:sym typeface="Arial"/>
              </a:endParaRPr>
            </a:p>
          </p:txBody>
        </p:sp>
        <p:sp>
          <p:nvSpPr>
            <p:cNvPr id="9807" name="Google Shape;9807;p95"/>
            <p:cNvSpPr/>
            <p:nvPr/>
          </p:nvSpPr>
          <p:spPr>
            <a:xfrm>
              <a:off x="4876061" y="3726995"/>
              <a:ext cx="634350" cy="679200"/>
            </a:xfrm>
            <a:custGeom>
              <a:avLst/>
              <a:gdLst/>
              <a:ahLst/>
              <a:cxnLst/>
              <a:rect l="l" t="t" r="r" b="b"/>
              <a:pathLst>
                <a:path w="615874" h="659417" extrusionOk="0">
                  <a:moveTo>
                    <a:pt x="241372" y="551717"/>
                  </a:moveTo>
                  <a:cubicBezTo>
                    <a:pt x="271113" y="551717"/>
                    <a:pt x="295222" y="575826"/>
                    <a:pt x="295222" y="605567"/>
                  </a:cubicBezTo>
                  <a:cubicBezTo>
                    <a:pt x="295222" y="635308"/>
                    <a:pt x="271113" y="659417"/>
                    <a:pt x="241372" y="659417"/>
                  </a:cubicBezTo>
                  <a:cubicBezTo>
                    <a:pt x="211631" y="659417"/>
                    <a:pt x="187522" y="635308"/>
                    <a:pt x="187522" y="605567"/>
                  </a:cubicBezTo>
                  <a:cubicBezTo>
                    <a:pt x="187522" y="575826"/>
                    <a:pt x="211631" y="551717"/>
                    <a:pt x="241372" y="551717"/>
                  </a:cubicBezTo>
                  <a:close/>
                  <a:moveTo>
                    <a:pt x="422014" y="464089"/>
                  </a:moveTo>
                  <a:cubicBezTo>
                    <a:pt x="451876" y="464089"/>
                    <a:pt x="475864" y="488077"/>
                    <a:pt x="475864" y="517939"/>
                  </a:cubicBezTo>
                  <a:cubicBezTo>
                    <a:pt x="475864" y="547801"/>
                    <a:pt x="451876" y="571789"/>
                    <a:pt x="422014" y="571789"/>
                  </a:cubicBezTo>
                  <a:cubicBezTo>
                    <a:pt x="392152" y="571789"/>
                    <a:pt x="368164" y="547801"/>
                    <a:pt x="368164" y="517939"/>
                  </a:cubicBezTo>
                  <a:cubicBezTo>
                    <a:pt x="368164" y="488077"/>
                    <a:pt x="392152" y="464089"/>
                    <a:pt x="422014" y="464089"/>
                  </a:cubicBezTo>
                  <a:close/>
                  <a:moveTo>
                    <a:pt x="52752" y="378403"/>
                  </a:moveTo>
                  <a:cubicBezTo>
                    <a:pt x="59781" y="378265"/>
                    <a:pt x="66971" y="379520"/>
                    <a:pt x="73947" y="382335"/>
                  </a:cubicBezTo>
                  <a:cubicBezTo>
                    <a:pt x="101851" y="393105"/>
                    <a:pt x="115558" y="424436"/>
                    <a:pt x="104299" y="452340"/>
                  </a:cubicBezTo>
                  <a:cubicBezTo>
                    <a:pt x="93529" y="480244"/>
                    <a:pt x="62198" y="493951"/>
                    <a:pt x="34294" y="482692"/>
                  </a:cubicBezTo>
                  <a:cubicBezTo>
                    <a:pt x="6390" y="471922"/>
                    <a:pt x="-7318" y="440591"/>
                    <a:pt x="3942" y="412687"/>
                  </a:cubicBezTo>
                  <a:cubicBezTo>
                    <a:pt x="12020" y="391759"/>
                    <a:pt x="31663" y="378817"/>
                    <a:pt x="52752" y="378403"/>
                  </a:cubicBezTo>
                  <a:close/>
                  <a:moveTo>
                    <a:pt x="249450" y="303884"/>
                  </a:moveTo>
                  <a:cubicBezTo>
                    <a:pt x="239536" y="307066"/>
                    <a:pt x="230847" y="314042"/>
                    <a:pt x="225706" y="324078"/>
                  </a:cubicBezTo>
                  <a:cubicBezTo>
                    <a:pt x="215426" y="344150"/>
                    <a:pt x="223258" y="368627"/>
                    <a:pt x="243330" y="378907"/>
                  </a:cubicBezTo>
                  <a:cubicBezTo>
                    <a:pt x="244309" y="379397"/>
                    <a:pt x="245288" y="379397"/>
                    <a:pt x="246267" y="379397"/>
                  </a:cubicBezTo>
                  <a:cubicBezTo>
                    <a:pt x="248225" y="379397"/>
                    <a:pt x="250673" y="377928"/>
                    <a:pt x="251652" y="375970"/>
                  </a:cubicBezTo>
                  <a:cubicBezTo>
                    <a:pt x="253610" y="373033"/>
                    <a:pt x="252142" y="369117"/>
                    <a:pt x="249204" y="367648"/>
                  </a:cubicBezTo>
                  <a:cubicBezTo>
                    <a:pt x="235008" y="360305"/>
                    <a:pt x="229623" y="343171"/>
                    <a:pt x="236966" y="328974"/>
                  </a:cubicBezTo>
                  <a:cubicBezTo>
                    <a:pt x="244309" y="314777"/>
                    <a:pt x="261933" y="309392"/>
                    <a:pt x="275640" y="316735"/>
                  </a:cubicBezTo>
                  <a:cubicBezTo>
                    <a:pt x="282493" y="320162"/>
                    <a:pt x="287389" y="326037"/>
                    <a:pt x="289837" y="333380"/>
                  </a:cubicBezTo>
                  <a:cubicBezTo>
                    <a:pt x="292284" y="340233"/>
                    <a:pt x="291305" y="348066"/>
                    <a:pt x="287878" y="354920"/>
                  </a:cubicBezTo>
                  <a:cubicBezTo>
                    <a:pt x="285920" y="357857"/>
                    <a:pt x="287389" y="361773"/>
                    <a:pt x="290326" y="363242"/>
                  </a:cubicBezTo>
                  <a:lnTo>
                    <a:pt x="298226" y="360918"/>
                  </a:lnTo>
                  <a:lnTo>
                    <a:pt x="298159" y="361773"/>
                  </a:lnTo>
                  <a:lnTo>
                    <a:pt x="298648" y="360794"/>
                  </a:lnTo>
                  <a:lnTo>
                    <a:pt x="298226" y="360918"/>
                  </a:lnTo>
                  <a:lnTo>
                    <a:pt x="300607" y="330442"/>
                  </a:lnTo>
                  <a:cubicBezTo>
                    <a:pt x="297180" y="320162"/>
                    <a:pt x="290326" y="311350"/>
                    <a:pt x="280535" y="306455"/>
                  </a:cubicBezTo>
                  <a:cubicBezTo>
                    <a:pt x="270500" y="301314"/>
                    <a:pt x="259363" y="300702"/>
                    <a:pt x="249450" y="303884"/>
                  </a:cubicBezTo>
                  <a:close/>
                  <a:moveTo>
                    <a:pt x="562024" y="285405"/>
                  </a:moveTo>
                  <a:cubicBezTo>
                    <a:pt x="591886" y="285405"/>
                    <a:pt x="615874" y="309393"/>
                    <a:pt x="615874" y="339255"/>
                  </a:cubicBezTo>
                  <a:cubicBezTo>
                    <a:pt x="615874" y="369117"/>
                    <a:pt x="591886" y="393105"/>
                    <a:pt x="562024" y="393105"/>
                  </a:cubicBezTo>
                  <a:cubicBezTo>
                    <a:pt x="532162" y="393105"/>
                    <a:pt x="508174" y="369117"/>
                    <a:pt x="508174" y="339255"/>
                  </a:cubicBezTo>
                  <a:cubicBezTo>
                    <a:pt x="508174" y="309393"/>
                    <a:pt x="532162" y="285405"/>
                    <a:pt x="562024" y="285405"/>
                  </a:cubicBezTo>
                  <a:close/>
                  <a:moveTo>
                    <a:pt x="392641" y="201692"/>
                  </a:moveTo>
                  <a:lnTo>
                    <a:pt x="402432" y="212462"/>
                  </a:lnTo>
                  <a:lnTo>
                    <a:pt x="314803" y="289810"/>
                  </a:lnTo>
                  <a:cubicBezTo>
                    <a:pt x="329000" y="303517"/>
                    <a:pt x="337812" y="322120"/>
                    <a:pt x="337812" y="343171"/>
                  </a:cubicBezTo>
                  <a:cubicBezTo>
                    <a:pt x="337812" y="363242"/>
                    <a:pt x="329979" y="381355"/>
                    <a:pt x="317251" y="394573"/>
                  </a:cubicBezTo>
                  <a:lnTo>
                    <a:pt x="370122" y="448912"/>
                  </a:lnTo>
                  <a:lnTo>
                    <a:pt x="368653" y="448423"/>
                  </a:lnTo>
                  <a:lnTo>
                    <a:pt x="358373" y="458703"/>
                  </a:lnTo>
                  <a:lnTo>
                    <a:pt x="305013" y="403874"/>
                  </a:lnTo>
                  <a:cubicBezTo>
                    <a:pt x="292774" y="412686"/>
                    <a:pt x="278087" y="417581"/>
                    <a:pt x="262422" y="417581"/>
                  </a:cubicBezTo>
                  <a:cubicBezTo>
                    <a:pt x="261933" y="417581"/>
                    <a:pt x="260464" y="417581"/>
                    <a:pt x="260464" y="417581"/>
                  </a:cubicBezTo>
                  <a:lnTo>
                    <a:pt x="252631" y="531156"/>
                  </a:lnTo>
                  <a:lnTo>
                    <a:pt x="237945" y="530177"/>
                  </a:lnTo>
                  <a:lnTo>
                    <a:pt x="245778" y="415623"/>
                  </a:lnTo>
                  <a:cubicBezTo>
                    <a:pt x="224238" y="410728"/>
                    <a:pt x="206124" y="396042"/>
                    <a:pt x="196333" y="376460"/>
                  </a:cubicBezTo>
                  <a:lnTo>
                    <a:pt x="133672" y="411217"/>
                  </a:lnTo>
                  <a:lnTo>
                    <a:pt x="126818" y="398489"/>
                  </a:lnTo>
                  <a:lnTo>
                    <a:pt x="191438" y="363242"/>
                  </a:lnTo>
                  <a:cubicBezTo>
                    <a:pt x="189480" y="356878"/>
                    <a:pt x="188501" y="350514"/>
                    <a:pt x="188501" y="343660"/>
                  </a:cubicBezTo>
                  <a:cubicBezTo>
                    <a:pt x="188501" y="324078"/>
                    <a:pt x="196333" y="305965"/>
                    <a:pt x="209062" y="292747"/>
                  </a:cubicBezTo>
                  <a:lnTo>
                    <a:pt x="172346" y="251136"/>
                  </a:lnTo>
                  <a:lnTo>
                    <a:pt x="183116" y="241345"/>
                  </a:lnTo>
                  <a:lnTo>
                    <a:pt x="219832" y="282957"/>
                  </a:lnTo>
                  <a:cubicBezTo>
                    <a:pt x="232070" y="274634"/>
                    <a:pt x="246757" y="269249"/>
                    <a:pt x="262912" y="269249"/>
                  </a:cubicBezTo>
                  <a:cubicBezTo>
                    <a:pt x="278087" y="269249"/>
                    <a:pt x="291305" y="273655"/>
                    <a:pt x="303054" y="280998"/>
                  </a:cubicBezTo>
                  <a:close/>
                  <a:moveTo>
                    <a:pt x="463625" y="103294"/>
                  </a:moveTo>
                  <a:cubicBezTo>
                    <a:pt x="493487" y="103294"/>
                    <a:pt x="517475" y="127282"/>
                    <a:pt x="517475" y="157144"/>
                  </a:cubicBezTo>
                  <a:cubicBezTo>
                    <a:pt x="517475" y="175257"/>
                    <a:pt x="507684" y="190433"/>
                    <a:pt x="493977" y="200224"/>
                  </a:cubicBezTo>
                  <a:lnTo>
                    <a:pt x="534120" y="269739"/>
                  </a:lnTo>
                  <a:lnTo>
                    <a:pt x="521391" y="277083"/>
                  </a:lnTo>
                  <a:lnTo>
                    <a:pt x="481249" y="207078"/>
                  </a:lnTo>
                  <a:cubicBezTo>
                    <a:pt x="475864" y="209036"/>
                    <a:pt x="469989" y="210504"/>
                    <a:pt x="463625" y="210504"/>
                  </a:cubicBezTo>
                  <a:lnTo>
                    <a:pt x="463625" y="210994"/>
                  </a:lnTo>
                  <a:cubicBezTo>
                    <a:pt x="433763" y="210994"/>
                    <a:pt x="409775" y="187006"/>
                    <a:pt x="409775" y="157144"/>
                  </a:cubicBezTo>
                  <a:cubicBezTo>
                    <a:pt x="409775" y="127282"/>
                    <a:pt x="433763" y="103294"/>
                    <a:pt x="463625" y="103294"/>
                  </a:cubicBezTo>
                  <a:close/>
                  <a:moveTo>
                    <a:pt x="217384" y="103294"/>
                  </a:moveTo>
                  <a:lnTo>
                    <a:pt x="227175" y="114554"/>
                  </a:lnTo>
                  <a:lnTo>
                    <a:pt x="176262" y="158613"/>
                  </a:lnTo>
                  <a:cubicBezTo>
                    <a:pt x="180668" y="166445"/>
                    <a:pt x="184095" y="175257"/>
                    <a:pt x="184095" y="185048"/>
                  </a:cubicBezTo>
                  <a:cubicBezTo>
                    <a:pt x="184095" y="214910"/>
                    <a:pt x="160107" y="238898"/>
                    <a:pt x="130245" y="238898"/>
                  </a:cubicBezTo>
                  <a:lnTo>
                    <a:pt x="129755" y="238409"/>
                  </a:lnTo>
                  <a:cubicBezTo>
                    <a:pt x="99893" y="238409"/>
                    <a:pt x="75905" y="214421"/>
                    <a:pt x="75905" y="184559"/>
                  </a:cubicBezTo>
                  <a:cubicBezTo>
                    <a:pt x="75905" y="154696"/>
                    <a:pt x="99893" y="130709"/>
                    <a:pt x="129755" y="130709"/>
                  </a:cubicBezTo>
                  <a:cubicBezTo>
                    <a:pt x="144441" y="130709"/>
                    <a:pt x="157659" y="136583"/>
                    <a:pt x="167450" y="146374"/>
                  </a:cubicBezTo>
                  <a:close/>
                  <a:moveTo>
                    <a:pt x="287389" y="0"/>
                  </a:moveTo>
                  <a:cubicBezTo>
                    <a:pt x="317251" y="0"/>
                    <a:pt x="341239" y="23988"/>
                    <a:pt x="341239" y="53850"/>
                  </a:cubicBezTo>
                  <a:cubicBezTo>
                    <a:pt x="341239" y="83712"/>
                    <a:pt x="317251" y="107700"/>
                    <a:pt x="287389" y="107700"/>
                  </a:cubicBezTo>
                  <a:cubicBezTo>
                    <a:pt x="257527" y="107700"/>
                    <a:pt x="233539" y="83712"/>
                    <a:pt x="233539" y="53850"/>
                  </a:cubicBezTo>
                  <a:cubicBezTo>
                    <a:pt x="233539" y="23988"/>
                    <a:pt x="257527" y="0"/>
                    <a:pt x="287389" y="0"/>
                  </a:cubicBezTo>
                  <a:close/>
                </a:path>
              </a:pathLst>
            </a:custGeom>
            <a:gradFill>
              <a:gsLst>
                <a:gs pos="0">
                  <a:srgbClr val="0C88BA"/>
                </a:gs>
                <a:gs pos="100000">
                  <a:srgbClr val="585999"/>
                </a:gs>
              </a:gsLst>
              <a:lin ang="2700006" scaled="0"/>
            </a:gra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p:txBody>
        </p:sp>
      </p:grpSp>
      <p:grpSp>
        <p:nvGrpSpPr>
          <p:cNvPr id="9808" name="Google Shape;9808;p95"/>
          <p:cNvGrpSpPr/>
          <p:nvPr/>
        </p:nvGrpSpPr>
        <p:grpSpPr>
          <a:xfrm>
            <a:off x="7096688" y="1713058"/>
            <a:ext cx="1527009" cy="1368470"/>
            <a:chOff x="7096644" y="1712611"/>
            <a:chExt cx="1527000" cy="1368826"/>
          </a:xfrm>
        </p:grpSpPr>
        <p:sp>
          <p:nvSpPr>
            <p:cNvPr id="9809" name="Google Shape;9809;p95"/>
            <p:cNvSpPr txBox="1"/>
            <p:nvPr/>
          </p:nvSpPr>
          <p:spPr>
            <a:xfrm>
              <a:off x="7096644" y="2548332"/>
              <a:ext cx="1527000" cy="533105"/>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667"/>
                </a:spcAft>
                <a:buNone/>
              </a:pPr>
              <a:r>
                <a:rPr lang="en-US" sz="1600">
                  <a:solidFill>
                    <a:schemeClr val="dk1"/>
                  </a:solidFill>
                  <a:latin typeface="Arial"/>
                  <a:ea typeface="Arial"/>
                  <a:cs typeface="Arial"/>
                  <a:sym typeface="Arial"/>
                </a:rPr>
                <a:t>Load </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Balancing</a:t>
              </a:r>
              <a:endParaRPr sz="1466">
                <a:solidFill>
                  <a:srgbClr val="000000"/>
                </a:solidFill>
                <a:latin typeface="Arial"/>
                <a:ea typeface="Arial"/>
                <a:cs typeface="Arial"/>
                <a:sym typeface="Arial"/>
              </a:endParaRPr>
            </a:p>
          </p:txBody>
        </p:sp>
        <p:sp>
          <p:nvSpPr>
            <p:cNvPr id="9810" name="Google Shape;9810;p95"/>
            <p:cNvSpPr/>
            <p:nvPr/>
          </p:nvSpPr>
          <p:spPr>
            <a:xfrm>
              <a:off x="7499093" y="1712611"/>
              <a:ext cx="721144" cy="545339"/>
            </a:xfrm>
            <a:custGeom>
              <a:avLst/>
              <a:gdLst/>
              <a:ahLst/>
              <a:cxnLst/>
              <a:rect l="l" t="t" r="r" b="b"/>
              <a:pathLst>
                <a:path w="840984" h="635964" extrusionOk="0">
                  <a:moveTo>
                    <a:pt x="91667" y="224303"/>
                  </a:moveTo>
                  <a:cubicBezTo>
                    <a:pt x="103741" y="224303"/>
                    <a:pt x="113353" y="226706"/>
                    <a:pt x="123024" y="229109"/>
                  </a:cubicBezTo>
                  <a:cubicBezTo>
                    <a:pt x="149515" y="238780"/>
                    <a:pt x="171260" y="260465"/>
                    <a:pt x="178469" y="287016"/>
                  </a:cubicBezTo>
                  <a:cubicBezTo>
                    <a:pt x="183274" y="296688"/>
                    <a:pt x="185677" y="306299"/>
                    <a:pt x="185677" y="318373"/>
                  </a:cubicBezTo>
                  <a:cubicBezTo>
                    <a:pt x="185677" y="328044"/>
                    <a:pt x="183274" y="340058"/>
                    <a:pt x="178469" y="349730"/>
                  </a:cubicBezTo>
                  <a:cubicBezTo>
                    <a:pt x="171260" y="376221"/>
                    <a:pt x="149575" y="395503"/>
                    <a:pt x="123024" y="405175"/>
                  </a:cubicBezTo>
                  <a:cubicBezTo>
                    <a:pt x="113353" y="407577"/>
                    <a:pt x="103741" y="409980"/>
                    <a:pt x="91667" y="409980"/>
                  </a:cubicBezTo>
                  <a:cubicBezTo>
                    <a:pt x="81996" y="409980"/>
                    <a:pt x="69982" y="407577"/>
                    <a:pt x="60311" y="405175"/>
                  </a:cubicBezTo>
                  <a:cubicBezTo>
                    <a:pt x="24148" y="393161"/>
                    <a:pt x="0" y="356938"/>
                    <a:pt x="0" y="318373"/>
                  </a:cubicBezTo>
                  <a:cubicBezTo>
                    <a:pt x="0" y="277345"/>
                    <a:pt x="24148" y="243586"/>
                    <a:pt x="60311" y="229109"/>
                  </a:cubicBezTo>
                  <a:cubicBezTo>
                    <a:pt x="69982" y="226706"/>
                    <a:pt x="81996" y="224303"/>
                    <a:pt x="91667" y="224303"/>
                  </a:cubicBezTo>
                  <a:close/>
                  <a:moveTo>
                    <a:pt x="468848" y="223401"/>
                  </a:moveTo>
                  <a:cubicBezTo>
                    <a:pt x="417728" y="223401"/>
                    <a:pt x="376400" y="267072"/>
                    <a:pt x="376400" y="318072"/>
                  </a:cubicBezTo>
                  <a:cubicBezTo>
                    <a:pt x="376400" y="369072"/>
                    <a:pt x="417789" y="410340"/>
                    <a:pt x="468848" y="410340"/>
                  </a:cubicBezTo>
                  <a:cubicBezTo>
                    <a:pt x="519908" y="410340"/>
                    <a:pt x="563699" y="369072"/>
                    <a:pt x="563699" y="318072"/>
                  </a:cubicBezTo>
                  <a:cubicBezTo>
                    <a:pt x="563699" y="264670"/>
                    <a:pt x="519968" y="223401"/>
                    <a:pt x="468848" y="223401"/>
                  </a:cubicBezTo>
                  <a:close/>
                  <a:moveTo>
                    <a:pt x="661013" y="0"/>
                  </a:moveTo>
                  <a:lnTo>
                    <a:pt x="661013" y="118939"/>
                  </a:lnTo>
                  <a:lnTo>
                    <a:pt x="626953" y="97074"/>
                  </a:lnTo>
                  <a:lnTo>
                    <a:pt x="558833" y="218476"/>
                  </a:lnTo>
                  <a:cubicBezTo>
                    <a:pt x="580699" y="237878"/>
                    <a:pt x="595296" y="267012"/>
                    <a:pt x="600162" y="296146"/>
                  </a:cubicBezTo>
                  <a:lnTo>
                    <a:pt x="738804" y="296146"/>
                  </a:lnTo>
                  <a:lnTo>
                    <a:pt x="738804" y="257281"/>
                  </a:lnTo>
                  <a:lnTo>
                    <a:pt x="840984" y="317952"/>
                  </a:lnTo>
                  <a:lnTo>
                    <a:pt x="738804" y="376220"/>
                  </a:lnTo>
                  <a:lnTo>
                    <a:pt x="738804" y="337355"/>
                  </a:lnTo>
                  <a:lnTo>
                    <a:pt x="600162" y="337355"/>
                  </a:lnTo>
                  <a:cubicBezTo>
                    <a:pt x="595296" y="368952"/>
                    <a:pt x="580699" y="395623"/>
                    <a:pt x="558833" y="417488"/>
                  </a:cubicBezTo>
                  <a:lnTo>
                    <a:pt x="626953" y="536428"/>
                  </a:lnTo>
                  <a:lnTo>
                    <a:pt x="661013" y="517025"/>
                  </a:lnTo>
                  <a:lnTo>
                    <a:pt x="661013" y="635964"/>
                  </a:lnTo>
                  <a:lnTo>
                    <a:pt x="558833" y="575293"/>
                  </a:lnTo>
                  <a:lnTo>
                    <a:pt x="592893" y="555890"/>
                  </a:lnTo>
                  <a:lnTo>
                    <a:pt x="524774" y="439354"/>
                  </a:lnTo>
                  <a:cubicBezTo>
                    <a:pt x="507774" y="446622"/>
                    <a:pt x="488311" y="451488"/>
                    <a:pt x="468848" y="451488"/>
                  </a:cubicBezTo>
                  <a:cubicBezTo>
                    <a:pt x="405594" y="451488"/>
                    <a:pt x="354534" y="407817"/>
                    <a:pt x="339937" y="349549"/>
                  </a:cubicBezTo>
                  <a:lnTo>
                    <a:pt x="220758" y="349549"/>
                  </a:lnTo>
                  <a:cubicBezTo>
                    <a:pt x="225624" y="339878"/>
                    <a:pt x="225624" y="327743"/>
                    <a:pt x="225624" y="318012"/>
                  </a:cubicBezTo>
                  <a:cubicBezTo>
                    <a:pt x="225624" y="305878"/>
                    <a:pt x="225624" y="296207"/>
                    <a:pt x="220758" y="286475"/>
                  </a:cubicBezTo>
                  <a:lnTo>
                    <a:pt x="339937" y="286475"/>
                  </a:lnTo>
                  <a:cubicBezTo>
                    <a:pt x="354534" y="228207"/>
                    <a:pt x="405594" y="184536"/>
                    <a:pt x="468848" y="184536"/>
                  </a:cubicBezTo>
                  <a:cubicBezTo>
                    <a:pt x="488311" y="184536"/>
                    <a:pt x="507774" y="189402"/>
                    <a:pt x="524774" y="196670"/>
                  </a:cubicBezTo>
                  <a:lnTo>
                    <a:pt x="592893" y="77731"/>
                  </a:lnTo>
                  <a:lnTo>
                    <a:pt x="592893" y="77671"/>
                  </a:lnTo>
                  <a:lnTo>
                    <a:pt x="558833" y="58268"/>
                  </a:lnTo>
                  <a:close/>
                </a:path>
              </a:pathLst>
            </a:custGeom>
            <a:gradFill>
              <a:gsLst>
                <a:gs pos="0">
                  <a:srgbClr val="0C88BA"/>
                </a:gs>
                <a:gs pos="100000">
                  <a:srgbClr val="585999"/>
                </a:gs>
              </a:gsLst>
              <a:lin ang="2700006" scaled="0"/>
            </a:gra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p:txBody>
        </p:sp>
      </p:grpSp>
      <p:grpSp>
        <p:nvGrpSpPr>
          <p:cNvPr id="9811" name="Google Shape;9811;p95"/>
          <p:cNvGrpSpPr/>
          <p:nvPr/>
        </p:nvGrpSpPr>
        <p:grpSpPr>
          <a:xfrm>
            <a:off x="1926143" y="1660331"/>
            <a:ext cx="1366508" cy="1421195"/>
            <a:chOff x="1926132" y="1659870"/>
            <a:chExt cx="1366500" cy="1421567"/>
          </a:xfrm>
        </p:grpSpPr>
        <p:sp>
          <p:nvSpPr>
            <p:cNvPr id="9812" name="Google Shape;9812;p95"/>
            <p:cNvSpPr txBox="1"/>
            <p:nvPr/>
          </p:nvSpPr>
          <p:spPr>
            <a:xfrm>
              <a:off x="1926132" y="2548332"/>
              <a:ext cx="1366500" cy="533105"/>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667"/>
                </a:spcAft>
                <a:buNone/>
              </a:pPr>
              <a:r>
                <a:rPr lang="en-US" sz="1600">
                  <a:solidFill>
                    <a:schemeClr val="dk1"/>
                  </a:solidFill>
                  <a:latin typeface="Arial"/>
                  <a:ea typeface="Arial"/>
                  <a:cs typeface="Arial"/>
                  <a:sym typeface="Arial"/>
                </a:rPr>
                <a:t>Private </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AI</a:t>
              </a:r>
              <a:endParaRPr sz="1466">
                <a:solidFill>
                  <a:srgbClr val="000000"/>
                </a:solidFill>
                <a:latin typeface="Arial"/>
                <a:ea typeface="Arial"/>
                <a:cs typeface="Arial"/>
                <a:sym typeface="Arial"/>
              </a:endParaRPr>
            </a:p>
          </p:txBody>
        </p:sp>
        <p:sp>
          <p:nvSpPr>
            <p:cNvPr id="9813" name="Google Shape;9813;p95"/>
            <p:cNvSpPr/>
            <p:nvPr/>
          </p:nvSpPr>
          <p:spPr>
            <a:xfrm>
              <a:off x="2320555" y="1659870"/>
              <a:ext cx="647201" cy="651393"/>
            </a:xfrm>
            <a:custGeom>
              <a:avLst/>
              <a:gdLst/>
              <a:ahLst/>
              <a:cxnLst/>
              <a:rect l="l" t="t" r="r" b="b"/>
              <a:pathLst>
                <a:path w="628350" h="632420" extrusionOk="0">
                  <a:moveTo>
                    <a:pt x="217619" y="486558"/>
                  </a:moveTo>
                  <a:cubicBezTo>
                    <a:pt x="206298" y="486558"/>
                    <a:pt x="197346" y="495510"/>
                    <a:pt x="197346" y="506832"/>
                  </a:cubicBezTo>
                  <a:cubicBezTo>
                    <a:pt x="197346" y="518153"/>
                    <a:pt x="206561" y="527105"/>
                    <a:pt x="217619" y="527105"/>
                  </a:cubicBezTo>
                  <a:cubicBezTo>
                    <a:pt x="228940" y="527105"/>
                    <a:pt x="237893" y="518153"/>
                    <a:pt x="237893" y="506832"/>
                  </a:cubicBezTo>
                  <a:cubicBezTo>
                    <a:pt x="237893" y="495510"/>
                    <a:pt x="228940" y="486558"/>
                    <a:pt x="217619" y="486558"/>
                  </a:cubicBezTo>
                  <a:close/>
                  <a:moveTo>
                    <a:pt x="182075" y="362549"/>
                  </a:moveTo>
                  <a:cubicBezTo>
                    <a:pt x="170754" y="362549"/>
                    <a:pt x="161802" y="371501"/>
                    <a:pt x="161802" y="382822"/>
                  </a:cubicBezTo>
                  <a:cubicBezTo>
                    <a:pt x="161802" y="394144"/>
                    <a:pt x="171017" y="403095"/>
                    <a:pt x="182075" y="403095"/>
                  </a:cubicBezTo>
                  <a:cubicBezTo>
                    <a:pt x="193397" y="403095"/>
                    <a:pt x="202349" y="394144"/>
                    <a:pt x="202349" y="382822"/>
                  </a:cubicBezTo>
                  <a:cubicBezTo>
                    <a:pt x="202349" y="371501"/>
                    <a:pt x="193397" y="362549"/>
                    <a:pt x="182075" y="362549"/>
                  </a:cubicBezTo>
                  <a:close/>
                  <a:moveTo>
                    <a:pt x="466691" y="325162"/>
                  </a:moveTo>
                  <a:cubicBezTo>
                    <a:pt x="473537" y="325162"/>
                    <a:pt x="479065" y="330691"/>
                    <a:pt x="479065" y="337273"/>
                  </a:cubicBezTo>
                  <a:cubicBezTo>
                    <a:pt x="479065" y="340960"/>
                    <a:pt x="477486" y="344382"/>
                    <a:pt x="474590" y="346752"/>
                  </a:cubicBezTo>
                  <a:lnTo>
                    <a:pt x="474590" y="354124"/>
                  </a:lnTo>
                  <a:cubicBezTo>
                    <a:pt x="474590" y="357284"/>
                    <a:pt x="471957" y="359653"/>
                    <a:pt x="468797" y="359653"/>
                  </a:cubicBezTo>
                  <a:lnTo>
                    <a:pt x="464585" y="359653"/>
                  </a:lnTo>
                  <a:cubicBezTo>
                    <a:pt x="461425" y="359653"/>
                    <a:pt x="458792" y="357284"/>
                    <a:pt x="458792" y="354124"/>
                  </a:cubicBezTo>
                  <a:lnTo>
                    <a:pt x="458792" y="346752"/>
                  </a:lnTo>
                  <a:cubicBezTo>
                    <a:pt x="455896" y="344382"/>
                    <a:pt x="454316" y="343856"/>
                    <a:pt x="454316" y="337273"/>
                  </a:cubicBezTo>
                  <a:cubicBezTo>
                    <a:pt x="454316" y="330691"/>
                    <a:pt x="459845" y="325162"/>
                    <a:pt x="466691" y="325162"/>
                  </a:cubicBezTo>
                  <a:close/>
                  <a:moveTo>
                    <a:pt x="466691" y="301466"/>
                  </a:moveTo>
                  <a:cubicBezTo>
                    <a:pt x="442995" y="301466"/>
                    <a:pt x="423774" y="319896"/>
                    <a:pt x="423774" y="342539"/>
                  </a:cubicBezTo>
                  <a:cubicBezTo>
                    <a:pt x="423774" y="365182"/>
                    <a:pt x="442995" y="383612"/>
                    <a:pt x="466691" y="383612"/>
                  </a:cubicBezTo>
                  <a:cubicBezTo>
                    <a:pt x="490387" y="383612"/>
                    <a:pt x="509607" y="365182"/>
                    <a:pt x="509607" y="342539"/>
                  </a:cubicBezTo>
                  <a:cubicBezTo>
                    <a:pt x="509607" y="319896"/>
                    <a:pt x="490387" y="301466"/>
                    <a:pt x="466691" y="301466"/>
                  </a:cubicBezTo>
                  <a:close/>
                  <a:moveTo>
                    <a:pt x="464322" y="249335"/>
                  </a:moveTo>
                  <a:cubicBezTo>
                    <a:pt x="454579" y="249335"/>
                    <a:pt x="446944" y="258023"/>
                    <a:pt x="446944" y="268818"/>
                  </a:cubicBezTo>
                  <a:lnTo>
                    <a:pt x="447208" y="268818"/>
                  </a:lnTo>
                  <a:lnTo>
                    <a:pt x="447208" y="289091"/>
                  </a:lnTo>
                  <a:cubicBezTo>
                    <a:pt x="453526" y="286722"/>
                    <a:pt x="460109" y="285669"/>
                    <a:pt x="466954" y="285669"/>
                  </a:cubicBezTo>
                  <a:cubicBezTo>
                    <a:pt x="473800" y="285669"/>
                    <a:pt x="480382" y="286722"/>
                    <a:pt x="486701" y="289091"/>
                  </a:cubicBezTo>
                  <a:lnTo>
                    <a:pt x="486701" y="268818"/>
                  </a:lnTo>
                  <a:cubicBezTo>
                    <a:pt x="486701" y="258023"/>
                    <a:pt x="478802" y="249335"/>
                    <a:pt x="469324" y="249335"/>
                  </a:cubicBezTo>
                  <a:close/>
                  <a:moveTo>
                    <a:pt x="464058" y="233274"/>
                  </a:moveTo>
                  <a:lnTo>
                    <a:pt x="469060" y="233274"/>
                  </a:lnTo>
                  <a:cubicBezTo>
                    <a:pt x="487491" y="233274"/>
                    <a:pt x="502235" y="249072"/>
                    <a:pt x="502235" y="268555"/>
                  </a:cubicBezTo>
                  <a:lnTo>
                    <a:pt x="502235" y="297253"/>
                  </a:lnTo>
                  <a:lnTo>
                    <a:pt x="501972" y="297253"/>
                  </a:lnTo>
                  <a:cubicBezTo>
                    <a:pt x="516452" y="308049"/>
                    <a:pt x="525141" y="311208"/>
                    <a:pt x="525141" y="342539"/>
                  </a:cubicBezTo>
                  <a:cubicBezTo>
                    <a:pt x="525141" y="373871"/>
                    <a:pt x="498812" y="399410"/>
                    <a:pt x="466427" y="399410"/>
                  </a:cubicBezTo>
                  <a:cubicBezTo>
                    <a:pt x="434043" y="399410"/>
                    <a:pt x="407714" y="373871"/>
                    <a:pt x="407714" y="342539"/>
                  </a:cubicBezTo>
                  <a:cubicBezTo>
                    <a:pt x="407714" y="324899"/>
                    <a:pt x="416403" y="308049"/>
                    <a:pt x="430883" y="297253"/>
                  </a:cubicBezTo>
                  <a:lnTo>
                    <a:pt x="430883" y="268555"/>
                  </a:lnTo>
                  <a:cubicBezTo>
                    <a:pt x="430883" y="249072"/>
                    <a:pt x="445628" y="233274"/>
                    <a:pt x="464058" y="233274"/>
                  </a:cubicBezTo>
                  <a:close/>
                  <a:moveTo>
                    <a:pt x="466954" y="189568"/>
                  </a:moveTo>
                  <a:cubicBezTo>
                    <a:pt x="395866" y="189568"/>
                    <a:pt x="337942" y="247491"/>
                    <a:pt x="337942" y="318842"/>
                  </a:cubicBezTo>
                  <a:cubicBezTo>
                    <a:pt x="337942" y="390194"/>
                    <a:pt x="395866" y="448118"/>
                    <a:pt x="466954" y="448118"/>
                  </a:cubicBezTo>
                  <a:cubicBezTo>
                    <a:pt x="538042" y="448118"/>
                    <a:pt x="595965" y="390194"/>
                    <a:pt x="595965" y="318842"/>
                  </a:cubicBezTo>
                  <a:cubicBezTo>
                    <a:pt x="595965" y="247491"/>
                    <a:pt x="538042" y="189568"/>
                    <a:pt x="466954" y="189568"/>
                  </a:cubicBezTo>
                  <a:close/>
                  <a:moveTo>
                    <a:pt x="144688" y="173770"/>
                  </a:moveTo>
                  <a:cubicBezTo>
                    <a:pt x="133367" y="173770"/>
                    <a:pt x="124415" y="182722"/>
                    <a:pt x="124415" y="194043"/>
                  </a:cubicBezTo>
                  <a:cubicBezTo>
                    <a:pt x="124415" y="205365"/>
                    <a:pt x="133367" y="214317"/>
                    <a:pt x="144688" y="214317"/>
                  </a:cubicBezTo>
                  <a:cubicBezTo>
                    <a:pt x="156010" y="214317"/>
                    <a:pt x="164961" y="205365"/>
                    <a:pt x="164961" y="194043"/>
                  </a:cubicBezTo>
                  <a:cubicBezTo>
                    <a:pt x="164961" y="182722"/>
                    <a:pt x="155746" y="173770"/>
                    <a:pt x="144688" y="173770"/>
                  </a:cubicBezTo>
                  <a:close/>
                  <a:moveTo>
                    <a:pt x="144688" y="142702"/>
                  </a:moveTo>
                  <a:cubicBezTo>
                    <a:pt x="172860" y="142702"/>
                    <a:pt x="195766" y="171138"/>
                    <a:pt x="195766" y="193781"/>
                  </a:cubicBezTo>
                  <a:cubicBezTo>
                    <a:pt x="195766" y="216423"/>
                    <a:pt x="181022" y="235380"/>
                    <a:pt x="160749" y="242225"/>
                  </a:cubicBezTo>
                  <a:lnTo>
                    <a:pt x="160749" y="246438"/>
                  </a:lnTo>
                  <a:lnTo>
                    <a:pt x="322935" y="246438"/>
                  </a:lnTo>
                  <a:cubicBezTo>
                    <a:pt x="350317" y="192464"/>
                    <a:pt x="406135" y="157709"/>
                    <a:pt x="466954" y="157709"/>
                  </a:cubicBezTo>
                  <a:lnTo>
                    <a:pt x="467217" y="157709"/>
                  </a:lnTo>
                  <a:cubicBezTo>
                    <a:pt x="555946" y="157709"/>
                    <a:pt x="628350" y="230114"/>
                    <a:pt x="628350" y="319106"/>
                  </a:cubicBezTo>
                  <a:cubicBezTo>
                    <a:pt x="628350" y="408098"/>
                    <a:pt x="556209" y="480502"/>
                    <a:pt x="467217" y="480502"/>
                  </a:cubicBezTo>
                  <a:cubicBezTo>
                    <a:pt x="436412" y="480502"/>
                    <a:pt x="406397" y="471814"/>
                    <a:pt x="380595" y="455226"/>
                  </a:cubicBezTo>
                  <a:cubicBezTo>
                    <a:pt x="358479" y="441009"/>
                    <a:pt x="340048" y="421789"/>
                    <a:pt x="327148" y="399146"/>
                  </a:cubicBezTo>
                  <a:cubicBezTo>
                    <a:pt x="327148" y="399146"/>
                    <a:pt x="231047" y="399146"/>
                    <a:pt x="231047" y="399146"/>
                  </a:cubicBezTo>
                  <a:lnTo>
                    <a:pt x="230521" y="399146"/>
                  </a:lnTo>
                  <a:cubicBezTo>
                    <a:pt x="223675" y="419156"/>
                    <a:pt x="210247" y="433901"/>
                    <a:pt x="182075" y="433901"/>
                  </a:cubicBezTo>
                  <a:cubicBezTo>
                    <a:pt x="153903" y="433901"/>
                    <a:pt x="130997" y="410994"/>
                    <a:pt x="130997" y="382822"/>
                  </a:cubicBezTo>
                  <a:cubicBezTo>
                    <a:pt x="130997" y="354650"/>
                    <a:pt x="159432" y="331744"/>
                    <a:pt x="182075" y="331744"/>
                  </a:cubicBezTo>
                  <a:cubicBezTo>
                    <a:pt x="204718" y="331744"/>
                    <a:pt x="223675" y="346488"/>
                    <a:pt x="230521" y="366761"/>
                  </a:cubicBezTo>
                  <a:lnTo>
                    <a:pt x="312930" y="366761"/>
                  </a:lnTo>
                  <a:cubicBezTo>
                    <a:pt x="307927" y="351491"/>
                    <a:pt x="305558" y="333060"/>
                    <a:pt x="305558" y="319106"/>
                  </a:cubicBezTo>
                  <a:cubicBezTo>
                    <a:pt x="305558" y="305152"/>
                    <a:pt x="307401" y="291724"/>
                    <a:pt x="310823" y="278559"/>
                  </a:cubicBezTo>
                  <a:lnTo>
                    <a:pt x="128627" y="278559"/>
                  </a:lnTo>
                  <a:lnTo>
                    <a:pt x="128627" y="242225"/>
                  </a:lnTo>
                  <a:cubicBezTo>
                    <a:pt x="108354" y="235380"/>
                    <a:pt x="93610" y="221953"/>
                    <a:pt x="93610" y="193781"/>
                  </a:cubicBezTo>
                  <a:cubicBezTo>
                    <a:pt x="93610" y="165609"/>
                    <a:pt x="116516" y="142702"/>
                    <a:pt x="144688" y="142702"/>
                  </a:cubicBezTo>
                  <a:close/>
                  <a:moveTo>
                    <a:pt x="142319" y="94257"/>
                  </a:moveTo>
                  <a:cubicBezTo>
                    <a:pt x="142319" y="94257"/>
                    <a:pt x="143767" y="94422"/>
                    <a:pt x="145939" y="94669"/>
                  </a:cubicBezTo>
                  <a:lnTo>
                    <a:pt x="147846" y="94885"/>
                  </a:lnTo>
                  <a:lnTo>
                    <a:pt x="153904" y="95574"/>
                  </a:lnTo>
                  <a:cubicBezTo>
                    <a:pt x="159696" y="96232"/>
                    <a:pt x="165488" y="96890"/>
                    <a:pt x="165488" y="96890"/>
                  </a:cubicBezTo>
                  <a:lnTo>
                    <a:pt x="147846" y="94885"/>
                  </a:lnTo>
                  <a:close/>
                  <a:moveTo>
                    <a:pt x="517769" y="81620"/>
                  </a:moveTo>
                  <a:cubicBezTo>
                    <a:pt x="506447" y="81620"/>
                    <a:pt x="497495" y="90571"/>
                    <a:pt x="497495" y="101892"/>
                  </a:cubicBezTo>
                  <a:cubicBezTo>
                    <a:pt x="497495" y="113214"/>
                    <a:pt x="506447" y="122166"/>
                    <a:pt x="517769" y="122166"/>
                  </a:cubicBezTo>
                  <a:cubicBezTo>
                    <a:pt x="529090" y="122166"/>
                    <a:pt x="538042" y="113214"/>
                    <a:pt x="538042" y="101892"/>
                  </a:cubicBezTo>
                  <a:cubicBezTo>
                    <a:pt x="538042" y="90571"/>
                    <a:pt x="528827" y="81620"/>
                    <a:pt x="517769" y="81620"/>
                  </a:cubicBezTo>
                  <a:close/>
                  <a:moveTo>
                    <a:pt x="238156" y="0"/>
                  </a:moveTo>
                  <a:cubicBezTo>
                    <a:pt x="240263" y="0"/>
                    <a:pt x="242105" y="0"/>
                    <a:pt x="244212" y="0"/>
                  </a:cubicBezTo>
                  <a:cubicBezTo>
                    <a:pt x="277123" y="0"/>
                    <a:pt x="308981" y="12374"/>
                    <a:pt x="333466" y="35017"/>
                  </a:cubicBezTo>
                  <a:cubicBezTo>
                    <a:pt x="333466" y="35017"/>
                    <a:pt x="333466" y="35281"/>
                    <a:pt x="333466" y="35281"/>
                  </a:cubicBezTo>
                  <a:lnTo>
                    <a:pt x="336363" y="38177"/>
                  </a:lnTo>
                  <a:lnTo>
                    <a:pt x="338732" y="40546"/>
                  </a:lnTo>
                  <a:lnTo>
                    <a:pt x="338732" y="87149"/>
                  </a:lnTo>
                  <a:lnTo>
                    <a:pt x="468797" y="87149"/>
                  </a:lnTo>
                  <a:cubicBezTo>
                    <a:pt x="475116" y="66349"/>
                    <a:pt x="489333" y="51078"/>
                    <a:pt x="517505" y="51078"/>
                  </a:cubicBezTo>
                  <a:cubicBezTo>
                    <a:pt x="545677" y="51078"/>
                    <a:pt x="568584" y="73984"/>
                    <a:pt x="568584" y="102156"/>
                  </a:cubicBezTo>
                  <a:cubicBezTo>
                    <a:pt x="568584" y="130328"/>
                    <a:pt x="539621" y="153234"/>
                    <a:pt x="517505" y="153234"/>
                  </a:cubicBezTo>
                  <a:cubicBezTo>
                    <a:pt x="495389" y="153234"/>
                    <a:pt x="476696" y="139017"/>
                    <a:pt x="469587" y="119533"/>
                  </a:cubicBezTo>
                  <a:lnTo>
                    <a:pt x="338469" y="119533"/>
                  </a:lnTo>
                  <a:lnTo>
                    <a:pt x="338469" y="193254"/>
                  </a:lnTo>
                  <a:lnTo>
                    <a:pt x="306347" y="193254"/>
                  </a:lnTo>
                  <a:lnTo>
                    <a:pt x="306347" y="54764"/>
                  </a:lnTo>
                  <a:cubicBezTo>
                    <a:pt x="288444" y="40020"/>
                    <a:pt x="266591" y="32384"/>
                    <a:pt x="243158" y="32384"/>
                  </a:cubicBezTo>
                  <a:cubicBezTo>
                    <a:pt x="241842" y="32384"/>
                    <a:pt x="240263" y="32384"/>
                    <a:pt x="238946" y="32384"/>
                  </a:cubicBezTo>
                  <a:cubicBezTo>
                    <a:pt x="212090" y="33437"/>
                    <a:pt x="187341" y="45022"/>
                    <a:pt x="169174" y="64769"/>
                  </a:cubicBezTo>
                  <a:cubicBezTo>
                    <a:pt x="162856" y="71878"/>
                    <a:pt x="157589" y="79513"/>
                    <a:pt x="153377" y="87938"/>
                  </a:cubicBezTo>
                  <a:lnTo>
                    <a:pt x="166015" y="89255"/>
                  </a:lnTo>
                  <a:lnTo>
                    <a:pt x="173914" y="90045"/>
                  </a:lnTo>
                  <a:lnTo>
                    <a:pt x="173123" y="97943"/>
                  </a:lnTo>
                  <a:lnTo>
                    <a:pt x="171280" y="114268"/>
                  </a:lnTo>
                  <a:lnTo>
                    <a:pt x="170491" y="122166"/>
                  </a:lnTo>
                  <a:lnTo>
                    <a:pt x="162592" y="121376"/>
                  </a:lnTo>
                  <a:lnTo>
                    <a:pt x="130470" y="117690"/>
                  </a:lnTo>
                  <a:cubicBezTo>
                    <a:pt x="103089" y="117953"/>
                    <a:pt x="76496" y="129802"/>
                    <a:pt x="58066" y="150075"/>
                  </a:cubicBezTo>
                  <a:cubicBezTo>
                    <a:pt x="39899" y="169822"/>
                    <a:pt x="30684" y="195624"/>
                    <a:pt x="31737" y="222479"/>
                  </a:cubicBezTo>
                  <a:cubicBezTo>
                    <a:pt x="32790" y="249335"/>
                    <a:pt x="44375" y="274084"/>
                    <a:pt x="64122" y="292515"/>
                  </a:cubicBezTo>
                  <a:lnTo>
                    <a:pt x="64385" y="292515"/>
                  </a:lnTo>
                  <a:lnTo>
                    <a:pt x="100983" y="313314"/>
                  </a:lnTo>
                  <a:lnTo>
                    <a:pt x="107828" y="317264"/>
                  </a:lnTo>
                  <a:lnTo>
                    <a:pt x="103879" y="324109"/>
                  </a:lnTo>
                  <a:lnTo>
                    <a:pt x="95716" y="338327"/>
                  </a:lnTo>
                  <a:lnTo>
                    <a:pt x="91767" y="345172"/>
                  </a:lnTo>
                  <a:lnTo>
                    <a:pt x="84922" y="341223"/>
                  </a:lnTo>
                  <a:lnTo>
                    <a:pt x="57540" y="325689"/>
                  </a:lnTo>
                  <a:cubicBezTo>
                    <a:pt x="39899" y="345172"/>
                    <a:pt x="30684" y="370711"/>
                    <a:pt x="31737" y="397303"/>
                  </a:cubicBezTo>
                  <a:cubicBezTo>
                    <a:pt x="32790" y="424159"/>
                    <a:pt x="44375" y="448908"/>
                    <a:pt x="64122" y="467075"/>
                  </a:cubicBezTo>
                  <a:cubicBezTo>
                    <a:pt x="78340" y="479976"/>
                    <a:pt x="96507" y="488928"/>
                    <a:pt x="115726" y="492087"/>
                  </a:cubicBezTo>
                  <a:lnTo>
                    <a:pt x="121519" y="472867"/>
                  </a:lnTo>
                  <a:lnTo>
                    <a:pt x="123625" y="465232"/>
                  </a:lnTo>
                  <a:lnTo>
                    <a:pt x="131261" y="467338"/>
                  </a:lnTo>
                  <a:lnTo>
                    <a:pt x="147058" y="472078"/>
                  </a:lnTo>
                  <a:lnTo>
                    <a:pt x="154694" y="474184"/>
                  </a:lnTo>
                  <a:lnTo>
                    <a:pt x="152587" y="481819"/>
                  </a:lnTo>
                  <a:lnTo>
                    <a:pt x="143898" y="511044"/>
                  </a:lnTo>
                  <a:cubicBezTo>
                    <a:pt x="146268" y="535530"/>
                    <a:pt x="157589" y="558173"/>
                    <a:pt x="175757" y="574761"/>
                  </a:cubicBezTo>
                  <a:cubicBezTo>
                    <a:pt x="194186" y="591610"/>
                    <a:pt x="220516" y="601089"/>
                    <a:pt x="243685" y="601089"/>
                  </a:cubicBezTo>
                  <a:cubicBezTo>
                    <a:pt x="266855" y="601089"/>
                    <a:pt x="289234" y="593190"/>
                    <a:pt x="306874" y="578972"/>
                  </a:cubicBezTo>
                  <a:lnTo>
                    <a:pt x="306874" y="523682"/>
                  </a:lnTo>
                  <a:lnTo>
                    <a:pt x="265801" y="523682"/>
                  </a:lnTo>
                  <a:cubicBezTo>
                    <a:pt x="258956" y="543692"/>
                    <a:pt x="245792" y="558173"/>
                    <a:pt x="217619" y="558173"/>
                  </a:cubicBezTo>
                  <a:cubicBezTo>
                    <a:pt x="189448" y="558173"/>
                    <a:pt x="166541" y="535267"/>
                    <a:pt x="166541" y="507095"/>
                  </a:cubicBezTo>
                  <a:cubicBezTo>
                    <a:pt x="166541" y="478923"/>
                    <a:pt x="194977" y="456017"/>
                    <a:pt x="217619" y="456017"/>
                  </a:cubicBezTo>
                  <a:cubicBezTo>
                    <a:pt x="240263" y="456017"/>
                    <a:pt x="259482" y="470761"/>
                    <a:pt x="266064" y="491298"/>
                  </a:cubicBezTo>
                  <a:lnTo>
                    <a:pt x="306874" y="491298"/>
                  </a:lnTo>
                  <a:lnTo>
                    <a:pt x="306874" y="450488"/>
                  </a:lnTo>
                  <a:lnTo>
                    <a:pt x="314773" y="450488"/>
                  </a:lnTo>
                  <a:lnTo>
                    <a:pt x="315036" y="449961"/>
                  </a:lnTo>
                  <a:lnTo>
                    <a:pt x="339259" y="449961"/>
                  </a:lnTo>
                  <a:lnTo>
                    <a:pt x="339259" y="592401"/>
                  </a:lnTo>
                  <a:lnTo>
                    <a:pt x="336626" y="594770"/>
                  </a:lnTo>
                  <a:lnTo>
                    <a:pt x="333993" y="597140"/>
                  </a:lnTo>
                  <a:cubicBezTo>
                    <a:pt x="309770" y="619782"/>
                    <a:pt x="277386" y="632420"/>
                    <a:pt x="243948" y="632420"/>
                  </a:cubicBezTo>
                  <a:cubicBezTo>
                    <a:pt x="210511" y="632420"/>
                    <a:pt x="178652" y="620046"/>
                    <a:pt x="154167" y="597666"/>
                  </a:cubicBezTo>
                  <a:cubicBezTo>
                    <a:pt x="132840" y="578183"/>
                    <a:pt x="118359" y="552118"/>
                    <a:pt x="113357" y="523682"/>
                  </a:cubicBezTo>
                  <a:cubicBezTo>
                    <a:pt x="87028" y="519733"/>
                    <a:pt x="62279" y="507885"/>
                    <a:pt x="42795" y="489981"/>
                  </a:cubicBezTo>
                  <a:cubicBezTo>
                    <a:pt x="16730" y="466022"/>
                    <a:pt x="1722" y="433374"/>
                    <a:pt x="142" y="397830"/>
                  </a:cubicBezTo>
                  <a:cubicBezTo>
                    <a:pt x="-1437" y="363602"/>
                    <a:pt x="10147" y="330691"/>
                    <a:pt x="32790" y="304889"/>
                  </a:cubicBezTo>
                  <a:cubicBezTo>
                    <a:pt x="13044" y="282246"/>
                    <a:pt x="1459" y="253547"/>
                    <a:pt x="142" y="223006"/>
                  </a:cubicBezTo>
                  <a:cubicBezTo>
                    <a:pt x="-1437" y="187725"/>
                    <a:pt x="10938" y="153761"/>
                    <a:pt x="34897" y="127695"/>
                  </a:cubicBezTo>
                  <a:cubicBezTo>
                    <a:pt x="56750" y="103999"/>
                    <a:pt x="87555" y="88728"/>
                    <a:pt x="119676" y="85569"/>
                  </a:cubicBezTo>
                  <a:cubicBezTo>
                    <a:pt x="125732" y="69771"/>
                    <a:pt x="134683" y="55291"/>
                    <a:pt x="146268" y="42653"/>
                  </a:cubicBezTo>
                  <a:cubicBezTo>
                    <a:pt x="169964" y="16587"/>
                    <a:pt x="202875" y="1580"/>
                    <a:pt x="238156" y="0"/>
                  </a:cubicBezTo>
                  <a:close/>
                </a:path>
              </a:pathLst>
            </a:custGeom>
            <a:gradFill>
              <a:gsLst>
                <a:gs pos="0">
                  <a:srgbClr val="0C88BA"/>
                </a:gs>
                <a:gs pos="100000">
                  <a:srgbClr val="585999"/>
                </a:gs>
              </a:gsLst>
              <a:lin ang="2700006" scaled="0"/>
            </a:gra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p:txBody>
        </p:sp>
      </p:grpSp>
      <p:grpSp>
        <p:nvGrpSpPr>
          <p:cNvPr id="9814" name="Google Shape;9814;p95"/>
          <p:cNvGrpSpPr/>
          <p:nvPr/>
        </p:nvGrpSpPr>
        <p:grpSpPr>
          <a:xfrm>
            <a:off x="5492444" y="1655822"/>
            <a:ext cx="1187708" cy="1425704"/>
            <a:chOff x="5492410" y="1655360"/>
            <a:chExt cx="1187700" cy="1426075"/>
          </a:xfrm>
        </p:grpSpPr>
        <p:sp>
          <p:nvSpPr>
            <p:cNvPr id="9815" name="Google Shape;9815;p95"/>
            <p:cNvSpPr txBox="1"/>
            <p:nvPr/>
          </p:nvSpPr>
          <p:spPr>
            <a:xfrm>
              <a:off x="5492410" y="2548330"/>
              <a:ext cx="1187700" cy="533105"/>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667"/>
                </a:spcAft>
                <a:buNone/>
              </a:pPr>
              <a:r>
                <a:rPr lang="en-US" sz="1600">
                  <a:solidFill>
                    <a:schemeClr val="dk1"/>
                  </a:solidFill>
                  <a:latin typeface="Arial"/>
                  <a:ea typeface="Arial"/>
                  <a:cs typeface="Arial"/>
                  <a:sym typeface="Arial"/>
                </a:rPr>
                <a:t>Advanced </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Security</a:t>
              </a:r>
              <a:endParaRPr sz="1466">
                <a:solidFill>
                  <a:srgbClr val="000000"/>
                </a:solidFill>
                <a:latin typeface="Arial"/>
                <a:ea typeface="Arial"/>
                <a:cs typeface="Arial"/>
                <a:sym typeface="Arial"/>
              </a:endParaRPr>
            </a:p>
          </p:txBody>
        </p:sp>
        <p:sp>
          <p:nvSpPr>
            <p:cNvPr id="9816" name="Google Shape;9816;p95"/>
            <p:cNvSpPr/>
            <p:nvPr/>
          </p:nvSpPr>
          <p:spPr>
            <a:xfrm>
              <a:off x="5802636" y="1655360"/>
              <a:ext cx="556165" cy="660780"/>
            </a:xfrm>
            <a:custGeom>
              <a:avLst/>
              <a:gdLst/>
              <a:ahLst/>
              <a:cxnLst/>
              <a:rect l="l" t="t" r="r" b="b"/>
              <a:pathLst>
                <a:path w="491095" h="583470" extrusionOk="0">
                  <a:moveTo>
                    <a:pt x="245827" y="311377"/>
                  </a:moveTo>
                  <a:cubicBezTo>
                    <a:pt x="240519" y="311377"/>
                    <a:pt x="235711" y="313531"/>
                    <a:pt x="232230" y="317013"/>
                  </a:cubicBezTo>
                  <a:lnTo>
                    <a:pt x="227228" y="329080"/>
                  </a:lnTo>
                  <a:lnTo>
                    <a:pt x="234278" y="342574"/>
                  </a:lnTo>
                  <a:lnTo>
                    <a:pt x="234278" y="345318"/>
                  </a:lnTo>
                  <a:lnTo>
                    <a:pt x="234837" y="346388"/>
                  </a:lnTo>
                  <a:lnTo>
                    <a:pt x="234837" y="360326"/>
                  </a:lnTo>
                  <a:lnTo>
                    <a:pt x="245268" y="370757"/>
                  </a:lnTo>
                  <a:cubicBezTo>
                    <a:pt x="251346" y="370757"/>
                    <a:pt x="256258" y="365845"/>
                    <a:pt x="256258" y="359767"/>
                  </a:cubicBezTo>
                  <a:lnTo>
                    <a:pt x="256258" y="342574"/>
                  </a:lnTo>
                  <a:lnTo>
                    <a:pt x="263931" y="327887"/>
                  </a:lnTo>
                  <a:lnTo>
                    <a:pt x="259425" y="317013"/>
                  </a:lnTo>
                  <a:cubicBezTo>
                    <a:pt x="255943" y="313531"/>
                    <a:pt x="251135" y="311377"/>
                    <a:pt x="245827" y="311377"/>
                  </a:cubicBezTo>
                  <a:close/>
                  <a:moveTo>
                    <a:pt x="245268" y="271803"/>
                  </a:moveTo>
                  <a:cubicBezTo>
                    <a:pt x="283193" y="271803"/>
                    <a:pt x="313957" y="302568"/>
                    <a:pt x="313957" y="340492"/>
                  </a:cubicBezTo>
                  <a:lnTo>
                    <a:pt x="313852" y="341015"/>
                  </a:lnTo>
                  <a:lnTo>
                    <a:pt x="314516" y="344306"/>
                  </a:lnTo>
                  <a:cubicBezTo>
                    <a:pt x="314516" y="382231"/>
                    <a:pt x="283752" y="412996"/>
                    <a:pt x="245827" y="412996"/>
                  </a:cubicBezTo>
                  <a:cubicBezTo>
                    <a:pt x="207903" y="412996"/>
                    <a:pt x="177138" y="382231"/>
                    <a:pt x="177138" y="344306"/>
                  </a:cubicBezTo>
                  <a:lnTo>
                    <a:pt x="177244" y="343783"/>
                  </a:lnTo>
                  <a:lnTo>
                    <a:pt x="176579" y="340492"/>
                  </a:lnTo>
                  <a:cubicBezTo>
                    <a:pt x="176579" y="302568"/>
                    <a:pt x="207301" y="271803"/>
                    <a:pt x="245268" y="271803"/>
                  </a:cubicBezTo>
                  <a:close/>
                  <a:moveTo>
                    <a:pt x="245269" y="173056"/>
                  </a:moveTo>
                  <a:cubicBezTo>
                    <a:pt x="265001" y="173056"/>
                    <a:pt x="280987" y="189042"/>
                    <a:pt x="280987" y="208775"/>
                  </a:cubicBezTo>
                  <a:lnTo>
                    <a:pt x="280987" y="211239"/>
                  </a:lnTo>
                  <a:lnTo>
                    <a:pt x="281546" y="212589"/>
                  </a:lnTo>
                  <a:lnTo>
                    <a:pt x="281546" y="254969"/>
                  </a:lnTo>
                  <a:cubicBezTo>
                    <a:pt x="270514" y="250514"/>
                    <a:pt x="258441" y="248100"/>
                    <a:pt x="245828" y="248100"/>
                  </a:cubicBezTo>
                  <a:cubicBezTo>
                    <a:pt x="233213" y="248100"/>
                    <a:pt x="221141" y="250556"/>
                    <a:pt x="210109" y="254969"/>
                  </a:cubicBezTo>
                  <a:lnTo>
                    <a:pt x="210109" y="251047"/>
                  </a:lnTo>
                  <a:lnTo>
                    <a:pt x="209550" y="251155"/>
                  </a:lnTo>
                  <a:lnTo>
                    <a:pt x="209550" y="208775"/>
                  </a:lnTo>
                  <a:cubicBezTo>
                    <a:pt x="209550" y="189042"/>
                    <a:pt x="225536" y="173056"/>
                    <a:pt x="245269" y="173056"/>
                  </a:cubicBezTo>
                  <a:close/>
                  <a:moveTo>
                    <a:pt x="245785" y="149394"/>
                  </a:moveTo>
                  <a:cubicBezTo>
                    <a:pt x="210900" y="149394"/>
                    <a:pt x="182591" y="177661"/>
                    <a:pt x="182591" y="212588"/>
                  </a:cubicBezTo>
                  <a:lnTo>
                    <a:pt x="182591" y="271787"/>
                  </a:lnTo>
                  <a:cubicBezTo>
                    <a:pt x="172496" y="280612"/>
                    <a:pt x="164254" y="291509"/>
                    <a:pt x="158535" y="303816"/>
                  </a:cubicBezTo>
                  <a:lnTo>
                    <a:pt x="149631" y="344259"/>
                  </a:lnTo>
                  <a:lnTo>
                    <a:pt x="153388" y="369111"/>
                  </a:lnTo>
                  <a:cubicBezTo>
                    <a:pt x="161823" y="396230"/>
                    <a:pt x="181930" y="418194"/>
                    <a:pt x="207826" y="429142"/>
                  </a:cubicBezTo>
                  <a:lnTo>
                    <a:pt x="245226" y="436691"/>
                  </a:lnTo>
                  <a:lnTo>
                    <a:pt x="245185" y="436699"/>
                  </a:lnTo>
                  <a:lnTo>
                    <a:pt x="245268" y="436699"/>
                  </a:lnTo>
                  <a:lnTo>
                    <a:pt x="245226" y="436691"/>
                  </a:lnTo>
                  <a:lnTo>
                    <a:pt x="282645" y="429137"/>
                  </a:lnTo>
                  <a:cubicBezTo>
                    <a:pt x="308545" y="418180"/>
                    <a:pt x="328640" y="396206"/>
                    <a:pt x="337069" y="369096"/>
                  </a:cubicBezTo>
                  <a:lnTo>
                    <a:pt x="341278" y="341248"/>
                  </a:lnTo>
                  <a:lnTo>
                    <a:pt x="333037" y="303816"/>
                  </a:lnTo>
                  <a:cubicBezTo>
                    <a:pt x="327318" y="291509"/>
                    <a:pt x="319075" y="280612"/>
                    <a:pt x="308979" y="271787"/>
                  </a:cubicBezTo>
                  <a:lnTo>
                    <a:pt x="308979" y="268717"/>
                  </a:lnTo>
                  <a:lnTo>
                    <a:pt x="308420" y="267973"/>
                  </a:lnTo>
                  <a:lnTo>
                    <a:pt x="308420" y="209821"/>
                  </a:lnTo>
                  <a:lnTo>
                    <a:pt x="304011" y="187997"/>
                  </a:lnTo>
                  <a:cubicBezTo>
                    <a:pt x="294414" y="165318"/>
                    <a:pt x="271950" y="149394"/>
                    <a:pt x="245785" y="149394"/>
                  </a:cubicBezTo>
                  <a:close/>
                  <a:moveTo>
                    <a:pt x="245268" y="0"/>
                  </a:moveTo>
                  <a:cubicBezTo>
                    <a:pt x="245268" y="0"/>
                    <a:pt x="337270" y="64402"/>
                    <a:pt x="482599" y="64402"/>
                  </a:cubicBezTo>
                  <a:lnTo>
                    <a:pt x="482974" y="68197"/>
                  </a:lnTo>
                  <a:lnTo>
                    <a:pt x="483158" y="68216"/>
                  </a:lnTo>
                  <a:cubicBezTo>
                    <a:pt x="542897" y="473983"/>
                    <a:pt x="245827" y="583470"/>
                    <a:pt x="245827" y="583470"/>
                  </a:cubicBezTo>
                  <a:cubicBezTo>
                    <a:pt x="245827" y="583470"/>
                    <a:pt x="18383" y="499644"/>
                    <a:pt x="1542" y="206855"/>
                  </a:cubicBezTo>
                  <a:lnTo>
                    <a:pt x="1541" y="206387"/>
                  </a:lnTo>
                  <a:lnTo>
                    <a:pt x="983" y="203041"/>
                  </a:lnTo>
                  <a:cubicBezTo>
                    <a:pt x="-1423" y="161214"/>
                    <a:pt x="470" y="115123"/>
                    <a:pt x="7937" y="64402"/>
                  </a:cubicBezTo>
                  <a:cubicBezTo>
                    <a:pt x="153225" y="64402"/>
                    <a:pt x="245268" y="0"/>
                    <a:pt x="245268" y="0"/>
                  </a:cubicBezTo>
                  <a:close/>
                </a:path>
              </a:pathLst>
            </a:custGeom>
            <a:gradFill>
              <a:gsLst>
                <a:gs pos="0">
                  <a:srgbClr val="0C88BA"/>
                </a:gs>
                <a:gs pos="100000">
                  <a:srgbClr val="585999"/>
                </a:gs>
              </a:gsLst>
              <a:lin ang="2700006" scaled="0"/>
            </a:gra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p:txBody>
        </p:sp>
      </p:grpSp>
      <p:grpSp>
        <p:nvGrpSpPr>
          <p:cNvPr id="9817" name="Google Shape;9817;p95"/>
          <p:cNvGrpSpPr/>
          <p:nvPr/>
        </p:nvGrpSpPr>
        <p:grpSpPr>
          <a:xfrm>
            <a:off x="3709292" y="1699642"/>
            <a:ext cx="1366508" cy="1603484"/>
            <a:chOff x="3709270" y="1699191"/>
            <a:chExt cx="1366500" cy="1603902"/>
          </a:xfrm>
        </p:grpSpPr>
        <p:sp>
          <p:nvSpPr>
            <p:cNvPr id="9818" name="Google Shape;9818;p95"/>
            <p:cNvSpPr txBox="1"/>
            <p:nvPr/>
          </p:nvSpPr>
          <p:spPr>
            <a:xfrm>
              <a:off x="3709270" y="2548330"/>
              <a:ext cx="1366500" cy="754763"/>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667"/>
                </a:spcAft>
                <a:buNone/>
              </a:pPr>
              <a:r>
                <a:rPr lang="en-US" sz="1600">
                  <a:solidFill>
                    <a:schemeClr val="dk1"/>
                  </a:solidFill>
                  <a:latin typeface="Arial"/>
                  <a:ea typeface="Arial"/>
                  <a:cs typeface="Arial"/>
                  <a:sym typeface="Arial"/>
                </a:rPr>
                <a:t>DR and </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Ransomware</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Recovery</a:t>
              </a:r>
              <a:endParaRPr sz="1466">
                <a:solidFill>
                  <a:srgbClr val="000000"/>
                </a:solidFill>
                <a:latin typeface="Arial"/>
                <a:ea typeface="Arial"/>
                <a:cs typeface="Arial"/>
                <a:sym typeface="Arial"/>
              </a:endParaRPr>
            </a:p>
          </p:txBody>
        </p:sp>
        <p:sp>
          <p:nvSpPr>
            <p:cNvPr id="9819" name="Google Shape;9819;p95"/>
            <p:cNvSpPr/>
            <p:nvPr/>
          </p:nvSpPr>
          <p:spPr>
            <a:xfrm>
              <a:off x="4103782" y="1699191"/>
              <a:ext cx="565508" cy="568815"/>
            </a:xfrm>
            <a:custGeom>
              <a:avLst/>
              <a:gdLst/>
              <a:ahLst/>
              <a:cxnLst/>
              <a:rect l="l" t="t" r="r" b="b"/>
              <a:pathLst>
                <a:path w="549037" h="552248" extrusionOk="0">
                  <a:moveTo>
                    <a:pt x="349080" y="118261"/>
                  </a:moveTo>
                  <a:lnTo>
                    <a:pt x="348164" y="119819"/>
                  </a:lnTo>
                  <a:lnTo>
                    <a:pt x="349844" y="118261"/>
                  </a:lnTo>
                  <a:lnTo>
                    <a:pt x="280646" y="235960"/>
                  </a:lnTo>
                  <a:lnTo>
                    <a:pt x="365104" y="266401"/>
                  </a:lnTo>
                  <a:lnTo>
                    <a:pt x="203511" y="435823"/>
                  </a:lnTo>
                  <a:lnTo>
                    <a:pt x="204791" y="433680"/>
                  </a:lnTo>
                  <a:lnTo>
                    <a:pt x="202747" y="435823"/>
                  </a:lnTo>
                  <a:lnTo>
                    <a:pt x="292880" y="284906"/>
                  </a:lnTo>
                  <a:lnTo>
                    <a:pt x="205149" y="251750"/>
                  </a:lnTo>
                  <a:close/>
                  <a:moveTo>
                    <a:pt x="32731" y="22471"/>
                  </a:moveTo>
                  <a:lnTo>
                    <a:pt x="33113" y="23132"/>
                  </a:lnTo>
                  <a:lnTo>
                    <a:pt x="33495" y="22471"/>
                  </a:lnTo>
                  <a:lnTo>
                    <a:pt x="66178" y="79082"/>
                  </a:lnTo>
                  <a:lnTo>
                    <a:pt x="65414" y="79082"/>
                  </a:lnTo>
                  <a:lnTo>
                    <a:pt x="49883" y="79082"/>
                  </a:lnTo>
                  <a:lnTo>
                    <a:pt x="49883" y="519471"/>
                  </a:lnTo>
                  <a:lnTo>
                    <a:pt x="470122" y="519471"/>
                  </a:lnTo>
                  <a:lnTo>
                    <a:pt x="470886" y="519471"/>
                  </a:lnTo>
                  <a:lnTo>
                    <a:pt x="470886" y="552248"/>
                  </a:lnTo>
                  <a:lnTo>
                    <a:pt x="470122" y="552248"/>
                  </a:lnTo>
                  <a:lnTo>
                    <a:pt x="17106" y="552248"/>
                  </a:lnTo>
                  <a:lnTo>
                    <a:pt x="16342" y="552248"/>
                  </a:lnTo>
                  <a:lnTo>
                    <a:pt x="16342" y="79082"/>
                  </a:lnTo>
                  <a:lnTo>
                    <a:pt x="764" y="79082"/>
                  </a:lnTo>
                  <a:lnTo>
                    <a:pt x="0" y="79082"/>
                  </a:lnTo>
                  <a:close/>
                  <a:moveTo>
                    <a:pt x="94301" y="0"/>
                  </a:moveTo>
                  <a:lnTo>
                    <a:pt x="95065" y="0"/>
                  </a:lnTo>
                  <a:lnTo>
                    <a:pt x="531978" y="0"/>
                  </a:lnTo>
                  <a:lnTo>
                    <a:pt x="532742" y="0"/>
                  </a:lnTo>
                  <a:lnTo>
                    <a:pt x="532742" y="443755"/>
                  </a:lnTo>
                  <a:lnTo>
                    <a:pt x="548273" y="443755"/>
                  </a:lnTo>
                  <a:lnTo>
                    <a:pt x="549037" y="443755"/>
                  </a:lnTo>
                  <a:lnTo>
                    <a:pt x="516354" y="500367"/>
                  </a:lnTo>
                  <a:lnTo>
                    <a:pt x="515972" y="499706"/>
                  </a:lnTo>
                  <a:lnTo>
                    <a:pt x="515590" y="500367"/>
                  </a:lnTo>
                  <a:lnTo>
                    <a:pt x="482859" y="443755"/>
                  </a:lnTo>
                  <a:lnTo>
                    <a:pt x="483623" y="443755"/>
                  </a:lnTo>
                  <a:lnTo>
                    <a:pt x="499201" y="443755"/>
                  </a:lnTo>
                  <a:lnTo>
                    <a:pt x="499201" y="32777"/>
                  </a:lnTo>
                  <a:lnTo>
                    <a:pt x="95065" y="32777"/>
                  </a:lnTo>
                  <a:lnTo>
                    <a:pt x="94301" y="32777"/>
                  </a:lnTo>
                  <a:close/>
                </a:path>
              </a:pathLst>
            </a:custGeom>
            <a:gradFill>
              <a:gsLst>
                <a:gs pos="0">
                  <a:srgbClr val="0C88BA"/>
                </a:gs>
                <a:gs pos="100000">
                  <a:srgbClr val="585999"/>
                </a:gs>
              </a:gsLst>
              <a:lin ang="2700006" scaled="0"/>
            </a:gra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p:txBody>
        </p:sp>
      </p:grpSp>
      <p:grpSp>
        <p:nvGrpSpPr>
          <p:cNvPr id="9820" name="Google Shape;9820;p95"/>
          <p:cNvGrpSpPr/>
          <p:nvPr/>
        </p:nvGrpSpPr>
        <p:grpSpPr>
          <a:xfrm>
            <a:off x="8942502" y="1685425"/>
            <a:ext cx="1366508" cy="1427302"/>
            <a:chOff x="8942447" y="1684971"/>
            <a:chExt cx="1366500" cy="1427673"/>
          </a:xfrm>
        </p:grpSpPr>
        <p:sp>
          <p:nvSpPr>
            <p:cNvPr id="9821" name="Google Shape;9821;p95"/>
            <p:cNvSpPr txBox="1"/>
            <p:nvPr/>
          </p:nvSpPr>
          <p:spPr>
            <a:xfrm>
              <a:off x="8942447" y="2579540"/>
              <a:ext cx="1366500" cy="533104"/>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667"/>
                </a:spcAft>
                <a:buNone/>
              </a:pPr>
              <a:r>
                <a:rPr lang="en-US" sz="1600">
                  <a:solidFill>
                    <a:schemeClr val="dk1"/>
                  </a:solidFill>
                  <a:latin typeface="Arial"/>
                  <a:ea typeface="Arial"/>
                  <a:cs typeface="Arial"/>
                  <a:sym typeface="Arial"/>
                </a:rPr>
                <a:t>Application </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Services</a:t>
              </a:r>
              <a:endParaRPr sz="1466">
                <a:solidFill>
                  <a:srgbClr val="000000"/>
                </a:solidFill>
                <a:latin typeface="Arial"/>
                <a:ea typeface="Arial"/>
                <a:cs typeface="Arial"/>
                <a:sym typeface="Arial"/>
              </a:endParaRPr>
            </a:p>
          </p:txBody>
        </p:sp>
        <p:sp>
          <p:nvSpPr>
            <p:cNvPr id="9822" name="Google Shape;9822;p95"/>
            <p:cNvSpPr/>
            <p:nvPr/>
          </p:nvSpPr>
          <p:spPr>
            <a:xfrm>
              <a:off x="9305783" y="1684971"/>
              <a:ext cx="619068" cy="618628"/>
            </a:xfrm>
            <a:custGeom>
              <a:avLst/>
              <a:gdLst/>
              <a:ahLst/>
              <a:cxnLst/>
              <a:rect l="l" t="t" r="r" b="b"/>
              <a:pathLst>
                <a:path w="601037" h="600610" extrusionOk="0">
                  <a:moveTo>
                    <a:pt x="132186" y="221592"/>
                  </a:moveTo>
                  <a:lnTo>
                    <a:pt x="151437" y="267365"/>
                  </a:lnTo>
                  <a:lnTo>
                    <a:pt x="112936" y="267365"/>
                  </a:lnTo>
                  <a:close/>
                  <a:moveTo>
                    <a:pt x="361051" y="213892"/>
                  </a:moveTo>
                  <a:lnTo>
                    <a:pt x="386290" y="213892"/>
                  </a:lnTo>
                  <a:cubicBezTo>
                    <a:pt x="393135" y="213892"/>
                    <a:pt x="398696" y="215603"/>
                    <a:pt x="402974" y="218598"/>
                  </a:cubicBezTo>
                  <a:cubicBezTo>
                    <a:pt x="407252" y="221592"/>
                    <a:pt x="409391" y="226298"/>
                    <a:pt x="409391" y="231431"/>
                  </a:cubicBezTo>
                  <a:cubicBezTo>
                    <a:pt x="409391" y="236565"/>
                    <a:pt x="407252" y="240842"/>
                    <a:pt x="402974" y="244265"/>
                  </a:cubicBezTo>
                  <a:lnTo>
                    <a:pt x="402974" y="244692"/>
                  </a:lnTo>
                  <a:cubicBezTo>
                    <a:pt x="398696" y="247687"/>
                    <a:pt x="393135" y="249398"/>
                    <a:pt x="386290" y="249398"/>
                  </a:cubicBezTo>
                  <a:lnTo>
                    <a:pt x="361051" y="249398"/>
                  </a:lnTo>
                  <a:close/>
                  <a:moveTo>
                    <a:pt x="239132" y="213892"/>
                  </a:moveTo>
                  <a:lnTo>
                    <a:pt x="264371" y="213892"/>
                  </a:lnTo>
                  <a:cubicBezTo>
                    <a:pt x="271216" y="213892"/>
                    <a:pt x="276777" y="215603"/>
                    <a:pt x="281055" y="218598"/>
                  </a:cubicBezTo>
                  <a:cubicBezTo>
                    <a:pt x="285333" y="221592"/>
                    <a:pt x="287472" y="226298"/>
                    <a:pt x="287472" y="231431"/>
                  </a:cubicBezTo>
                  <a:cubicBezTo>
                    <a:pt x="287472" y="236565"/>
                    <a:pt x="285333" y="240842"/>
                    <a:pt x="281055" y="244265"/>
                  </a:cubicBezTo>
                  <a:lnTo>
                    <a:pt x="281055" y="244692"/>
                  </a:lnTo>
                  <a:cubicBezTo>
                    <a:pt x="276777" y="247687"/>
                    <a:pt x="271216" y="249398"/>
                    <a:pt x="264371" y="249398"/>
                  </a:cubicBezTo>
                  <a:lnTo>
                    <a:pt x="239132" y="249398"/>
                  </a:lnTo>
                  <a:close/>
                  <a:moveTo>
                    <a:pt x="341800" y="195498"/>
                  </a:moveTo>
                  <a:lnTo>
                    <a:pt x="341372" y="195925"/>
                  </a:lnTo>
                  <a:lnTo>
                    <a:pt x="341372" y="304583"/>
                  </a:lnTo>
                  <a:lnTo>
                    <a:pt x="361050" y="304583"/>
                  </a:lnTo>
                  <a:lnTo>
                    <a:pt x="361050" y="268221"/>
                  </a:lnTo>
                  <a:lnTo>
                    <a:pt x="388856" y="268221"/>
                  </a:lnTo>
                  <a:cubicBezTo>
                    <a:pt x="396129" y="268221"/>
                    <a:pt x="402973" y="266510"/>
                    <a:pt x="409390" y="263515"/>
                  </a:cubicBezTo>
                  <a:cubicBezTo>
                    <a:pt x="415379" y="260521"/>
                    <a:pt x="420512" y="256243"/>
                    <a:pt x="423935" y="250682"/>
                  </a:cubicBezTo>
                  <a:cubicBezTo>
                    <a:pt x="427357" y="245121"/>
                    <a:pt x="429068" y="239132"/>
                    <a:pt x="429068" y="231859"/>
                  </a:cubicBezTo>
                  <a:cubicBezTo>
                    <a:pt x="429068" y="224587"/>
                    <a:pt x="427357" y="218598"/>
                    <a:pt x="423935" y="213037"/>
                  </a:cubicBezTo>
                  <a:cubicBezTo>
                    <a:pt x="420512" y="207476"/>
                    <a:pt x="415807" y="203198"/>
                    <a:pt x="409390" y="200203"/>
                  </a:cubicBezTo>
                  <a:cubicBezTo>
                    <a:pt x="403401" y="197209"/>
                    <a:pt x="396556" y="195498"/>
                    <a:pt x="388856" y="195498"/>
                  </a:cubicBezTo>
                  <a:close/>
                  <a:moveTo>
                    <a:pt x="219881" y="195498"/>
                  </a:moveTo>
                  <a:lnTo>
                    <a:pt x="219454" y="195925"/>
                  </a:lnTo>
                  <a:lnTo>
                    <a:pt x="219454" y="304583"/>
                  </a:lnTo>
                  <a:lnTo>
                    <a:pt x="239132" y="304583"/>
                  </a:lnTo>
                  <a:lnTo>
                    <a:pt x="239132" y="268221"/>
                  </a:lnTo>
                  <a:lnTo>
                    <a:pt x="266938" y="268221"/>
                  </a:lnTo>
                  <a:cubicBezTo>
                    <a:pt x="274210" y="268221"/>
                    <a:pt x="281055" y="266510"/>
                    <a:pt x="287471" y="263515"/>
                  </a:cubicBezTo>
                  <a:cubicBezTo>
                    <a:pt x="293460" y="260521"/>
                    <a:pt x="298594" y="256243"/>
                    <a:pt x="302016" y="250682"/>
                  </a:cubicBezTo>
                  <a:cubicBezTo>
                    <a:pt x="305438" y="245121"/>
                    <a:pt x="307149" y="239132"/>
                    <a:pt x="307149" y="231859"/>
                  </a:cubicBezTo>
                  <a:cubicBezTo>
                    <a:pt x="307149" y="224587"/>
                    <a:pt x="305438" y="218598"/>
                    <a:pt x="302016" y="213037"/>
                  </a:cubicBezTo>
                  <a:cubicBezTo>
                    <a:pt x="298594" y="207476"/>
                    <a:pt x="293888" y="203198"/>
                    <a:pt x="287471" y="200203"/>
                  </a:cubicBezTo>
                  <a:cubicBezTo>
                    <a:pt x="281482" y="197209"/>
                    <a:pt x="274638" y="195498"/>
                    <a:pt x="266938" y="195498"/>
                  </a:cubicBezTo>
                  <a:close/>
                  <a:moveTo>
                    <a:pt x="121063" y="195070"/>
                  </a:moveTo>
                  <a:lnTo>
                    <a:pt x="75718" y="303727"/>
                  </a:lnTo>
                  <a:lnTo>
                    <a:pt x="97535" y="303727"/>
                  </a:lnTo>
                  <a:lnTo>
                    <a:pt x="106091" y="283193"/>
                  </a:lnTo>
                  <a:lnTo>
                    <a:pt x="157853" y="283193"/>
                  </a:lnTo>
                  <a:lnTo>
                    <a:pt x="166408" y="303727"/>
                  </a:lnTo>
                  <a:lnTo>
                    <a:pt x="188225" y="303727"/>
                  </a:lnTo>
                  <a:lnTo>
                    <a:pt x="142880" y="195070"/>
                  </a:lnTo>
                  <a:close/>
                  <a:moveTo>
                    <a:pt x="517192" y="94968"/>
                  </a:moveTo>
                  <a:lnTo>
                    <a:pt x="517192" y="477835"/>
                  </a:lnTo>
                  <a:cubicBezTo>
                    <a:pt x="517192" y="499653"/>
                    <a:pt x="499653" y="517192"/>
                    <a:pt x="477835" y="517192"/>
                  </a:cubicBezTo>
                  <a:lnTo>
                    <a:pt x="94968" y="517192"/>
                  </a:lnTo>
                  <a:lnTo>
                    <a:pt x="94968" y="545425"/>
                  </a:lnTo>
                  <a:cubicBezTo>
                    <a:pt x="94968" y="556976"/>
                    <a:pt x="104379" y="566815"/>
                    <a:pt x="116357" y="566815"/>
                  </a:cubicBezTo>
                  <a:lnTo>
                    <a:pt x="545425" y="566815"/>
                  </a:lnTo>
                  <a:cubicBezTo>
                    <a:pt x="556976" y="566815"/>
                    <a:pt x="566815" y="557403"/>
                    <a:pt x="566815" y="545425"/>
                  </a:cubicBezTo>
                  <a:lnTo>
                    <a:pt x="566815" y="116357"/>
                  </a:lnTo>
                  <a:cubicBezTo>
                    <a:pt x="566815" y="104807"/>
                    <a:pt x="557403" y="94968"/>
                    <a:pt x="545425" y="94968"/>
                  </a:cubicBezTo>
                  <a:close/>
                  <a:moveTo>
                    <a:pt x="39356" y="0"/>
                  </a:moveTo>
                  <a:lnTo>
                    <a:pt x="477835" y="0"/>
                  </a:lnTo>
                  <a:cubicBezTo>
                    <a:pt x="499653" y="0"/>
                    <a:pt x="517192" y="17539"/>
                    <a:pt x="517192" y="39356"/>
                  </a:cubicBezTo>
                  <a:lnTo>
                    <a:pt x="517192" y="60745"/>
                  </a:lnTo>
                  <a:lnTo>
                    <a:pt x="545425" y="60745"/>
                  </a:lnTo>
                  <a:lnTo>
                    <a:pt x="545425" y="61173"/>
                  </a:lnTo>
                  <a:cubicBezTo>
                    <a:pt x="576226" y="61173"/>
                    <a:pt x="601037" y="85985"/>
                    <a:pt x="601037" y="116785"/>
                  </a:cubicBezTo>
                  <a:lnTo>
                    <a:pt x="601037" y="544998"/>
                  </a:lnTo>
                  <a:cubicBezTo>
                    <a:pt x="601037" y="575798"/>
                    <a:pt x="576226" y="600610"/>
                    <a:pt x="545425" y="600610"/>
                  </a:cubicBezTo>
                  <a:lnTo>
                    <a:pt x="116357" y="600610"/>
                  </a:lnTo>
                  <a:cubicBezTo>
                    <a:pt x="85557" y="600610"/>
                    <a:pt x="60745" y="575798"/>
                    <a:pt x="60745" y="544998"/>
                  </a:cubicBezTo>
                  <a:lnTo>
                    <a:pt x="60745" y="516764"/>
                  </a:lnTo>
                  <a:lnTo>
                    <a:pt x="39356" y="516764"/>
                  </a:lnTo>
                  <a:cubicBezTo>
                    <a:pt x="17539" y="516764"/>
                    <a:pt x="0" y="499225"/>
                    <a:pt x="0" y="477408"/>
                  </a:cubicBezTo>
                  <a:lnTo>
                    <a:pt x="0" y="39356"/>
                  </a:lnTo>
                  <a:cubicBezTo>
                    <a:pt x="0" y="17539"/>
                    <a:pt x="17539" y="0"/>
                    <a:pt x="39356" y="0"/>
                  </a:cubicBezTo>
                  <a:close/>
                </a:path>
              </a:pathLst>
            </a:custGeom>
            <a:gradFill>
              <a:gsLst>
                <a:gs pos="0">
                  <a:srgbClr val="0C88BA"/>
                </a:gs>
                <a:gs pos="100000">
                  <a:srgbClr val="585999"/>
                </a:gs>
              </a:gsLst>
              <a:lin ang="2700006" scaled="0"/>
            </a:gradFill>
            <a:ln>
              <a:noFill/>
            </a:ln>
          </p:spPr>
          <p:txBody>
            <a:bodyPr spcFirstLastPara="1" wrap="square" lIns="91375" tIns="91375" rIns="91375" bIns="91375" anchor="ctr" anchorCtr="0">
              <a:no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792"/>
                                        </p:tgtEl>
                                        <p:attrNameLst>
                                          <p:attrName>style.visibility</p:attrName>
                                        </p:attrNameLst>
                                      </p:cBhvr>
                                      <p:to>
                                        <p:strVal val="visible"/>
                                      </p:to>
                                    </p:set>
                                    <p:animEffect transition="in" filter="fade">
                                      <p:cBhvr>
                                        <p:cTn id="7" dur="1000"/>
                                        <p:tgtEl>
                                          <p:spTgt spid="979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795"/>
                                        </p:tgtEl>
                                        <p:attrNameLst>
                                          <p:attrName>style.visibility</p:attrName>
                                        </p:attrNameLst>
                                      </p:cBhvr>
                                      <p:to>
                                        <p:strVal val="visible"/>
                                      </p:to>
                                    </p:set>
                                    <p:animEffect transition="in" filter="fade">
                                      <p:cBhvr>
                                        <p:cTn id="11" dur="500"/>
                                        <p:tgtEl>
                                          <p:spTgt spid="9795"/>
                                        </p:tgtEl>
                                      </p:cBhvr>
                                    </p:animEffect>
                                  </p:childTnLst>
                                </p:cTn>
                              </p:par>
                            </p:childTnLst>
                          </p:cTn>
                        </p:par>
                        <p:par>
                          <p:cTn id="12" fill="hold">
                            <p:stCondLst>
                              <p:cond delay="1500"/>
                            </p:stCondLst>
                            <p:childTnLst>
                              <p:par>
                                <p:cTn id="13" presetID="2" presetClass="entr" presetSubtype="4" fill="hold" nodeType="afterEffect">
                                  <p:stCondLst>
                                    <p:cond delay="0"/>
                                  </p:stCondLst>
                                  <p:childTnLst>
                                    <p:set>
                                      <p:cBhvr>
                                        <p:cTn id="14" dur="1" fill="hold">
                                          <p:stCondLst>
                                            <p:cond delay="0"/>
                                          </p:stCondLst>
                                        </p:cTn>
                                        <p:tgtEl>
                                          <p:spTgt spid="9811"/>
                                        </p:tgtEl>
                                        <p:attrNameLst>
                                          <p:attrName>style.visibility</p:attrName>
                                        </p:attrNameLst>
                                      </p:cBhvr>
                                      <p:to>
                                        <p:strVal val="visible"/>
                                      </p:to>
                                    </p:set>
                                    <p:anim calcmode="lin" valueType="num">
                                      <p:cBhvr additive="base">
                                        <p:cTn id="15" dur="500"/>
                                        <p:tgtEl>
                                          <p:spTgt spid="9811"/>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 presetClass="entr" presetSubtype="4" fill="hold" nodeType="afterEffect">
                                  <p:stCondLst>
                                    <p:cond delay="0"/>
                                  </p:stCondLst>
                                  <p:childTnLst>
                                    <p:set>
                                      <p:cBhvr>
                                        <p:cTn id="18" dur="1" fill="hold">
                                          <p:stCondLst>
                                            <p:cond delay="0"/>
                                          </p:stCondLst>
                                        </p:cTn>
                                        <p:tgtEl>
                                          <p:spTgt spid="9817"/>
                                        </p:tgtEl>
                                        <p:attrNameLst>
                                          <p:attrName>style.visibility</p:attrName>
                                        </p:attrNameLst>
                                      </p:cBhvr>
                                      <p:to>
                                        <p:strVal val="visible"/>
                                      </p:to>
                                    </p:set>
                                    <p:anim calcmode="lin" valueType="num">
                                      <p:cBhvr additive="base">
                                        <p:cTn id="19" dur="500"/>
                                        <p:tgtEl>
                                          <p:spTgt spid="9817"/>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2" presetClass="entr" presetSubtype="4" fill="hold" nodeType="afterEffect">
                                  <p:stCondLst>
                                    <p:cond delay="0"/>
                                  </p:stCondLst>
                                  <p:childTnLst>
                                    <p:set>
                                      <p:cBhvr>
                                        <p:cTn id="22" dur="1" fill="hold">
                                          <p:stCondLst>
                                            <p:cond delay="0"/>
                                          </p:stCondLst>
                                        </p:cTn>
                                        <p:tgtEl>
                                          <p:spTgt spid="9814"/>
                                        </p:tgtEl>
                                        <p:attrNameLst>
                                          <p:attrName>style.visibility</p:attrName>
                                        </p:attrNameLst>
                                      </p:cBhvr>
                                      <p:to>
                                        <p:strVal val="visible"/>
                                      </p:to>
                                    </p:set>
                                    <p:anim calcmode="lin" valueType="num">
                                      <p:cBhvr additive="base">
                                        <p:cTn id="23" dur="500"/>
                                        <p:tgtEl>
                                          <p:spTgt spid="9814"/>
                                        </p:tgtEl>
                                        <p:attrNameLst>
                                          <p:attrName>ppt_y</p:attrName>
                                        </p:attrNameLst>
                                      </p:cBhvr>
                                      <p:tavLst>
                                        <p:tav tm="0">
                                          <p:val>
                                            <p:strVal val="#ppt_y+1"/>
                                          </p:val>
                                        </p:tav>
                                        <p:tav tm="100000">
                                          <p:val>
                                            <p:strVal val="#ppt_y"/>
                                          </p:val>
                                        </p:tav>
                                      </p:tavLst>
                                    </p:anim>
                                  </p:childTnLst>
                                </p:cTn>
                              </p:par>
                            </p:childTnLst>
                          </p:cTn>
                        </p:par>
                        <p:par>
                          <p:cTn id="24" fill="hold">
                            <p:stCondLst>
                              <p:cond delay="3000"/>
                            </p:stCondLst>
                            <p:childTnLst>
                              <p:par>
                                <p:cTn id="25" presetID="2" presetClass="entr" presetSubtype="4" fill="hold" nodeType="afterEffect">
                                  <p:stCondLst>
                                    <p:cond delay="0"/>
                                  </p:stCondLst>
                                  <p:childTnLst>
                                    <p:set>
                                      <p:cBhvr>
                                        <p:cTn id="26" dur="1" fill="hold">
                                          <p:stCondLst>
                                            <p:cond delay="0"/>
                                          </p:stCondLst>
                                        </p:cTn>
                                        <p:tgtEl>
                                          <p:spTgt spid="9808"/>
                                        </p:tgtEl>
                                        <p:attrNameLst>
                                          <p:attrName>style.visibility</p:attrName>
                                        </p:attrNameLst>
                                      </p:cBhvr>
                                      <p:to>
                                        <p:strVal val="visible"/>
                                      </p:to>
                                    </p:set>
                                    <p:anim calcmode="lin" valueType="num">
                                      <p:cBhvr additive="base">
                                        <p:cTn id="27" dur="500"/>
                                        <p:tgtEl>
                                          <p:spTgt spid="9808"/>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2" presetClass="entr" presetSubtype="4" fill="hold" nodeType="afterEffect">
                                  <p:stCondLst>
                                    <p:cond delay="0"/>
                                  </p:stCondLst>
                                  <p:childTnLst>
                                    <p:set>
                                      <p:cBhvr>
                                        <p:cTn id="30" dur="1" fill="hold">
                                          <p:stCondLst>
                                            <p:cond delay="0"/>
                                          </p:stCondLst>
                                        </p:cTn>
                                        <p:tgtEl>
                                          <p:spTgt spid="9820"/>
                                        </p:tgtEl>
                                        <p:attrNameLst>
                                          <p:attrName>style.visibility</p:attrName>
                                        </p:attrNameLst>
                                      </p:cBhvr>
                                      <p:to>
                                        <p:strVal val="visible"/>
                                      </p:to>
                                    </p:set>
                                    <p:anim calcmode="lin" valueType="num">
                                      <p:cBhvr additive="base">
                                        <p:cTn id="31" dur="500"/>
                                        <p:tgtEl>
                                          <p:spTgt spid="9820"/>
                                        </p:tgtEl>
                                        <p:attrNameLst>
                                          <p:attrName>ppt_y</p:attrName>
                                        </p:attrNameLst>
                                      </p:cBhvr>
                                      <p:tavLst>
                                        <p:tav tm="0">
                                          <p:val>
                                            <p:strVal val="#ppt_y+1"/>
                                          </p:val>
                                        </p:tav>
                                        <p:tav tm="100000">
                                          <p:val>
                                            <p:strVal val="#ppt_y"/>
                                          </p:val>
                                        </p:tav>
                                      </p:tavLst>
                                    </p:anim>
                                  </p:childTnLst>
                                </p:cTn>
                              </p:par>
                            </p:childTnLst>
                          </p:cTn>
                        </p:par>
                        <p:par>
                          <p:cTn id="32" fill="hold">
                            <p:stCondLst>
                              <p:cond delay="4000"/>
                            </p:stCondLst>
                            <p:childTnLst>
                              <p:par>
                                <p:cTn id="33" presetID="2" presetClass="entr" presetSubtype="4" fill="hold" nodeType="afterEffect">
                                  <p:stCondLst>
                                    <p:cond delay="0"/>
                                  </p:stCondLst>
                                  <p:childTnLst>
                                    <p:set>
                                      <p:cBhvr>
                                        <p:cTn id="34" dur="1" fill="hold">
                                          <p:stCondLst>
                                            <p:cond delay="0"/>
                                          </p:stCondLst>
                                        </p:cTn>
                                        <p:tgtEl>
                                          <p:spTgt spid="9796"/>
                                        </p:tgtEl>
                                        <p:attrNameLst>
                                          <p:attrName>style.visibility</p:attrName>
                                        </p:attrNameLst>
                                      </p:cBhvr>
                                      <p:to>
                                        <p:strVal val="visible"/>
                                      </p:to>
                                    </p:set>
                                    <p:anim calcmode="lin" valueType="num">
                                      <p:cBhvr additive="base">
                                        <p:cTn id="35" dur="500"/>
                                        <p:tgtEl>
                                          <p:spTgt spid="9796"/>
                                        </p:tgtEl>
                                        <p:attrNameLst>
                                          <p:attrName>ppt_y</p:attrName>
                                        </p:attrNameLst>
                                      </p:cBhvr>
                                      <p:tavLst>
                                        <p:tav tm="0">
                                          <p:val>
                                            <p:strVal val="#ppt_y+1"/>
                                          </p:val>
                                        </p:tav>
                                        <p:tav tm="100000">
                                          <p:val>
                                            <p:strVal val="#ppt_y"/>
                                          </p:val>
                                        </p:tav>
                                      </p:tavLst>
                                    </p:anim>
                                  </p:childTnLst>
                                </p:cTn>
                              </p:par>
                            </p:childTnLst>
                          </p:cTn>
                        </p:par>
                        <p:par>
                          <p:cTn id="36" fill="hold">
                            <p:stCondLst>
                              <p:cond delay="4500"/>
                            </p:stCondLst>
                            <p:childTnLst>
                              <p:par>
                                <p:cTn id="37" presetID="2" presetClass="entr" presetSubtype="4" fill="hold" nodeType="afterEffect">
                                  <p:stCondLst>
                                    <p:cond delay="0"/>
                                  </p:stCondLst>
                                  <p:childTnLst>
                                    <p:set>
                                      <p:cBhvr>
                                        <p:cTn id="38" dur="1" fill="hold">
                                          <p:stCondLst>
                                            <p:cond delay="0"/>
                                          </p:stCondLst>
                                        </p:cTn>
                                        <p:tgtEl>
                                          <p:spTgt spid="9805"/>
                                        </p:tgtEl>
                                        <p:attrNameLst>
                                          <p:attrName>style.visibility</p:attrName>
                                        </p:attrNameLst>
                                      </p:cBhvr>
                                      <p:to>
                                        <p:strVal val="visible"/>
                                      </p:to>
                                    </p:set>
                                    <p:anim calcmode="lin" valueType="num">
                                      <p:cBhvr additive="base">
                                        <p:cTn id="39" dur="500"/>
                                        <p:tgtEl>
                                          <p:spTgt spid="9805"/>
                                        </p:tgtEl>
                                        <p:attrNameLst>
                                          <p:attrName>ppt_y</p:attrName>
                                        </p:attrNameLst>
                                      </p:cBhvr>
                                      <p:tavLst>
                                        <p:tav tm="0">
                                          <p:val>
                                            <p:strVal val="#ppt_y+1"/>
                                          </p:val>
                                        </p:tav>
                                        <p:tav tm="100000">
                                          <p:val>
                                            <p:strVal val="#ppt_y"/>
                                          </p:val>
                                        </p:tav>
                                      </p:tavLst>
                                    </p:anim>
                                  </p:childTnLst>
                                </p:cTn>
                              </p:par>
                            </p:childTnLst>
                          </p:cTn>
                        </p:par>
                        <p:par>
                          <p:cTn id="40" fill="hold">
                            <p:stCondLst>
                              <p:cond delay="5000"/>
                            </p:stCondLst>
                            <p:childTnLst>
                              <p:par>
                                <p:cTn id="41" presetID="2" presetClass="entr" presetSubtype="4" fill="hold" nodeType="afterEffect">
                                  <p:stCondLst>
                                    <p:cond delay="0"/>
                                  </p:stCondLst>
                                  <p:childTnLst>
                                    <p:set>
                                      <p:cBhvr>
                                        <p:cTn id="42" dur="1" fill="hold">
                                          <p:stCondLst>
                                            <p:cond delay="0"/>
                                          </p:stCondLst>
                                        </p:cTn>
                                        <p:tgtEl>
                                          <p:spTgt spid="9802"/>
                                        </p:tgtEl>
                                        <p:attrNameLst>
                                          <p:attrName>style.visibility</p:attrName>
                                        </p:attrNameLst>
                                      </p:cBhvr>
                                      <p:to>
                                        <p:strVal val="visible"/>
                                      </p:to>
                                    </p:set>
                                    <p:anim calcmode="lin" valueType="num">
                                      <p:cBhvr additive="base">
                                        <p:cTn id="43" dur="500"/>
                                        <p:tgtEl>
                                          <p:spTgt spid="9802"/>
                                        </p:tgtEl>
                                        <p:attrNameLst>
                                          <p:attrName>ppt_y</p:attrName>
                                        </p:attrNameLst>
                                      </p:cBhvr>
                                      <p:tavLst>
                                        <p:tav tm="0">
                                          <p:val>
                                            <p:strVal val="#ppt_y+1"/>
                                          </p:val>
                                        </p:tav>
                                        <p:tav tm="100000">
                                          <p:val>
                                            <p:strVal val="#ppt_y"/>
                                          </p:val>
                                        </p:tav>
                                      </p:tavLst>
                                    </p:anim>
                                  </p:childTnLst>
                                </p:cTn>
                              </p:par>
                            </p:childTnLst>
                          </p:cTn>
                        </p:par>
                        <p:par>
                          <p:cTn id="44" fill="hold">
                            <p:stCondLst>
                              <p:cond delay="5500"/>
                            </p:stCondLst>
                            <p:childTnLst>
                              <p:par>
                                <p:cTn id="45" presetID="2" presetClass="entr" presetSubtype="4" fill="hold" nodeType="afterEffect">
                                  <p:stCondLst>
                                    <p:cond delay="0"/>
                                  </p:stCondLst>
                                  <p:childTnLst>
                                    <p:set>
                                      <p:cBhvr>
                                        <p:cTn id="46" dur="1" fill="hold">
                                          <p:stCondLst>
                                            <p:cond delay="0"/>
                                          </p:stCondLst>
                                        </p:cTn>
                                        <p:tgtEl>
                                          <p:spTgt spid="9799"/>
                                        </p:tgtEl>
                                        <p:attrNameLst>
                                          <p:attrName>style.visibility</p:attrName>
                                        </p:attrNameLst>
                                      </p:cBhvr>
                                      <p:to>
                                        <p:strVal val="visible"/>
                                      </p:to>
                                    </p:set>
                                    <p:anim calcmode="lin" valueType="num">
                                      <p:cBhvr additive="base">
                                        <p:cTn id="47" dur="500"/>
                                        <p:tgtEl>
                                          <p:spTgt spid="97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827"/>
        <p:cNvGrpSpPr/>
        <p:nvPr/>
      </p:nvGrpSpPr>
      <p:grpSpPr>
        <a:xfrm>
          <a:off x="0" y="0"/>
          <a:ext cx="0" cy="0"/>
          <a:chOff x="0" y="0"/>
          <a:chExt cx="0" cy="0"/>
        </a:xfrm>
      </p:grpSpPr>
      <p:sp>
        <p:nvSpPr>
          <p:cNvPr id="9828" name="Google Shape;9828;p96"/>
          <p:cNvSpPr txBox="1">
            <a:spLocks noGrp="1"/>
          </p:cNvSpPr>
          <p:nvPr>
            <p:ph type="title"/>
          </p:nvPr>
        </p:nvSpPr>
        <p:spPr>
          <a:xfrm>
            <a:off x="589108" y="428046"/>
            <a:ext cx="6427626"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Resources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833"/>
        <p:cNvGrpSpPr/>
        <p:nvPr/>
      </p:nvGrpSpPr>
      <p:grpSpPr>
        <a:xfrm>
          <a:off x="0" y="0"/>
          <a:ext cx="0" cy="0"/>
          <a:chOff x="0" y="0"/>
          <a:chExt cx="0" cy="0"/>
        </a:xfrm>
      </p:grpSpPr>
      <p:grpSp>
        <p:nvGrpSpPr>
          <p:cNvPr id="9834" name="Google Shape;9834;p97"/>
          <p:cNvGrpSpPr/>
          <p:nvPr/>
        </p:nvGrpSpPr>
        <p:grpSpPr>
          <a:xfrm>
            <a:off x="7923125" y="1982445"/>
            <a:ext cx="3196561" cy="4194919"/>
            <a:chOff x="7924553" y="1981313"/>
            <a:chExt cx="3199060" cy="4198198"/>
          </a:xfrm>
        </p:grpSpPr>
        <p:sp>
          <p:nvSpPr>
            <p:cNvPr id="9835" name="Google Shape;9835;p97"/>
            <p:cNvSpPr txBox="1"/>
            <p:nvPr/>
          </p:nvSpPr>
          <p:spPr>
            <a:xfrm>
              <a:off x="7924553" y="1981313"/>
              <a:ext cx="3199059" cy="4185674"/>
            </a:xfrm>
            <a:prstGeom prst="rect">
              <a:avLst/>
            </a:prstGeom>
            <a:solidFill>
              <a:srgbClr val="F4F8FA"/>
            </a:solidFill>
            <a:ln>
              <a:noFill/>
            </a:ln>
          </p:spPr>
          <p:txBody>
            <a:bodyPr spcFirstLastPara="1" wrap="square" lIns="60825" tIns="30400" rIns="60825" bIns="30400" anchor="ctr" anchorCtr="0">
              <a:noAutofit/>
            </a:bodyPr>
            <a:lstStyle/>
            <a:p>
              <a:pPr marL="0" marR="0" lvl="0" indent="0" algn="ctr" rtl="0">
                <a:lnSpc>
                  <a:spcPct val="90000"/>
                </a:lnSpc>
                <a:spcBef>
                  <a:spcPts val="0"/>
                </a:spcBef>
                <a:spcAft>
                  <a:spcPts val="0"/>
                </a:spcAft>
                <a:buClr>
                  <a:schemeClr val="dk2"/>
                </a:buClr>
                <a:buSzPts val="1995"/>
                <a:buFont typeface="Arial"/>
                <a:buNone/>
              </a:pPr>
              <a:endParaRPr sz="1995" b="0" i="0" u="none" strike="noStrike" cap="none">
                <a:solidFill>
                  <a:srgbClr val="CC092F"/>
                </a:solidFill>
                <a:latin typeface="Arial"/>
                <a:ea typeface="Arial"/>
                <a:cs typeface="Arial"/>
                <a:sym typeface="Arial"/>
              </a:endParaRPr>
            </a:p>
            <a:p>
              <a:pPr marL="0" marR="0" lvl="0" indent="0" algn="ctr" rtl="0">
                <a:lnSpc>
                  <a:spcPct val="90000"/>
                </a:lnSpc>
                <a:spcBef>
                  <a:spcPts val="800"/>
                </a:spcBef>
                <a:spcAft>
                  <a:spcPts val="0"/>
                </a:spcAft>
                <a:buClr>
                  <a:schemeClr val="dk2"/>
                </a:buClr>
                <a:buSzPts val="1995"/>
                <a:buFont typeface="Arial"/>
                <a:buNone/>
              </a:pPr>
              <a:endParaRPr sz="1995" b="0" i="0" u="none" strike="noStrike" cap="none">
                <a:solidFill>
                  <a:srgbClr val="CC092F"/>
                </a:solidFill>
                <a:latin typeface="Arial"/>
                <a:ea typeface="Arial"/>
                <a:cs typeface="Arial"/>
                <a:sym typeface="Arial"/>
              </a:endParaRPr>
            </a:p>
          </p:txBody>
        </p:sp>
        <p:cxnSp>
          <p:nvCxnSpPr>
            <p:cNvPr id="9836" name="Google Shape;9836;p97"/>
            <p:cNvCxnSpPr/>
            <p:nvPr/>
          </p:nvCxnSpPr>
          <p:spPr>
            <a:xfrm>
              <a:off x="7924554" y="1988511"/>
              <a:ext cx="3199059" cy="0"/>
            </a:xfrm>
            <a:prstGeom prst="straightConnector1">
              <a:avLst/>
            </a:prstGeom>
            <a:noFill/>
            <a:ln w="25400" cap="flat" cmpd="sng">
              <a:solidFill>
                <a:schemeClr val="accent2"/>
              </a:solidFill>
              <a:prstDash val="solid"/>
              <a:miter lim="800000"/>
              <a:headEnd type="none" w="sm" len="sm"/>
              <a:tailEnd type="none" w="sm" len="sm"/>
            </a:ln>
          </p:spPr>
        </p:cxnSp>
        <p:cxnSp>
          <p:nvCxnSpPr>
            <p:cNvPr id="9837" name="Google Shape;9837;p97"/>
            <p:cNvCxnSpPr/>
            <p:nvPr/>
          </p:nvCxnSpPr>
          <p:spPr>
            <a:xfrm>
              <a:off x="7924554" y="6179511"/>
              <a:ext cx="3199059" cy="0"/>
            </a:xfrm>
            <a:prstGeom prst="straightConnector1">
              <a:avLst/>
            </a:prstGeom>
            <a:noFill/>
            <a:ln w="25400" cap="flat" cmpd="sng">
              <a:solidFill>
                <a:schemeClr val="accent2"/>
              </a:solidFill>
              <a:prstDash val="solid"/>
              <a:miter lim="800000"/>
              <a:headEnd type="none" w="sm" len="sm"/>
              <a:tailEnd type="none" w="sm" len="sm"/>
            </a:ln>
          </p:spPr>
        </p:cxnSp>
      </p:grpSp>
      <p:sp>
        <p:nvSpPr>
          <p:cNvPr id="9838" name="Google Shape;9838;p97"/>
          <p:cNvSpPr/>
          <p:nvPr/>
        </p:nvSpPr>
        <p:spPr>
          <a:xfrm>
            <a:off x="612301" y="1982356"/>
            <a:ext cx="6419629" cy="4195010"/>
          </a:xfrm>
          <a:prstGeom prst="rect">
            <a:avLst/>
          </a:prstGeom>
          <a:solidFill>
            <a:srgbClr val="E0D7EB">
              <a:alpha val="9803"/>
            </a:srgbClr>
          </a:solidFill>
          <a:ln>
            <a:noFill/>
          </a:ln>
        </p:spPr>
        <p:txBody>
          <a:bodyPr spcFirstLastPara="1" wrap="square" lIns="60825" tIns="30400" rIns="60825" bIns="30400" anchor="ctr" anchorCtr="0">
            <a:noAutofit/>
          </a:bodyPr>
          <a:lstStyle/>
          <a:p>
            <a:pPr marL="0" marR="0" lvl="0" indent="0" algn="ctr" rtl="0">
              <a:lnSpc>
                <a:spcPct val="90000"/>
              </a:lnSpc>
              <a:spcBef>
                <a:spcPts val="0"/>
              </a:spcBef>
              <a:spcAft>
                <a:spcPts val="0"/>
              </a:spcAft>
              <a:buClr>
                <a:schemeClr val="dk1"/>
              </a:buClr>
              <a:buSzPts val="1995"/>
              <a:buFont typeface="Arial"/>
              <a:buNone/>
            </a:pPr>
            <a:endParaRPr sz="1995" b="0" i="0" u="none" strike="noStrike" cap="none">
              <a:solidFill>
                <a:srgbClr val="CC092F"/>
              </a:solidFill>
              <a:latin typeface="Arial"/>
              <a:ea typeface="Arial"/>
              <a:cs typeface="Arial"/>
              <a:sym typeface="Arial"/>
            </a:endParaRPr>
          </a:p>
        </p:txBody>
      </p:sp>
      <p:sp>
        <p:nvSpPr>
          <p:cNvPr id="9839" name="Google Shape;9839;p9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Get hands-on experience with VMware Cloud Foundation</a:t>
            </a:r>
            <a:endParaRPr/>
          </a:p>
        </p:txBody>
      </p:sp>
      <p:sp>
        <p:nvSpPr>
          <p:cNvPr id="9840" name="Google Shape;9840;p9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VMware Cloud Accelerator Hands-On Platforms</a:t>
            </a:r>
            <a:endParaRPr/>
          </a:p>
        </p:txBody>
      </p:sp>
      <p:sp>
        <p:nvSpPr>
          <p:cNvPr id="9841" name="Google Shape;9841;p97"/>
          <p:cNvSpPr txBox="1"/>
          <p:nvPr/>
        </p:nvSpPr>
        <p:spPr>
          <a:xfrm>
            <a:off x="935646" y="2664776"/>
            <a:ext cx="2681064" cy="2736473"/>
          </a:xfrm>
          <a:prstGeom prst="rect">
            <a:avLst/>
          </a:prstGeom>
          <a:noFill/>
          <a:ln>
            <a:noFill/>
          </a:ln>
        </p:spPr>
        <p:txBody>
          <a:bodyPr spcFirstLastPara="1" wrap="square" lIns="91300" tIns="45625" rIns="91300" bIns="45625" anchor="t" anchorCtr="0">
            <a:noAutofit/>
          </a:bodyPr>
          <a:lstStyle/>
          <a:p>
            <a:pPr marL="0" marR="0" lvl="0" indent="0" algn="l" rtl="0">
              <a:lnSpc>
                <a:spcPct val="93000"/>
              </a:lnSpc>
              <a:spcBef>
                <a:spcPts val="0"/>
              </a:spcBef>
              <a:spcAft>
                <a:spcPts val="0"/>
              </a:spcAft>
              <a:buClr>
                <a:srgbClr val="000000"/>
              </a:buClr>
              <a:buSzPts val="1500"/>
              <a:buFont typeface="Arial"/>
              <a:buNone/>
            </a:pPr>
            <a:r>
              <a:rPr lang="en-US" sz="1796" b="0" i="0" u="none" strike="noStrike" cap="none">
                <a:solidFill>
                  <a:schemeClr val="dk1"/>
                </a:solidFill>
                <a:latin typeface="Arial"/>
                <a:ea typeface="Arial"/>
                <a:cs typeface="Arial"/>
                <a:sym typeface="Arial"/>
              </a:rPr>
              <a:t>Hands-on Labs</a:t>
            </a:r>
            <a:endParaRPr/>
          </a:p>
          <a:p>
            <a:pPr marL="0" marR="0" lvl="0" indent="0" algn="l" rtl="0">
              <a:lnSpc>
                <a:spcPct val="93000"/>
              </a:lnSpc>
              <a:spcBef>
                <a:spcPts val="900"/>
              </a:spcBef>
              <a:spcAft>
                <a:spcPts val="0"/>
              </a:spcAft>
              <a:buClr>
                <a:srgbClr val="000000"/>
              </a:buClr>
              <a:buSzPts val="1500"/>
              <a:buFont typeface="Arial"/>
              <a:buNone/>
            </a:pPr>
            <a:r>
              <a:rPr lang="en-US" sz="1400" b="0" i="0" u="none" strike="noStrike" cap="none">
                <a:solidFill>
                  <a:schemeClr val="dk1"/>
                </a:solidFill>
                <a:latin typeface="Arial"/>
                <a:ea typeface="Arial"/>
                <a:cs typeface="Arial"/>
                <a:sym typeface="Arial"/>
              </a:rPr>
              <a:t>Experience real VMware products, no setup needed</a:t>
            </a:r>
            <a:endParaRPr/>
          </a:p>
          <a:p>
            <a:pPr marL="0" marR="0" lvl="0" indent="0" algn="l" rtl="0">
              <a:lnSpc>
                <a:spcPct val="93000"/>
              </a:lnSpc>
              <a:spcBef>
                <a:spcPts val="900"/>
              </a:spcBef>
              <a:spcAft>
                <a:spcPts val="0"/>
              </a:spcAft>
              <a:buClr>
                <a:srgbClr val="000000"/>
              </a:buClr>
              <a:buSzPts val="1500"/>
              <a:buFont typeface="Arial"/>
              <a:buNone/>
            </a:pPr>
            <a:r>
              <a:rPr lang="en-US" sz="1400" b="0" i="0" u="none" strike="noStrike" cap="none">
                <a:solidFill>
                  <a:schemeClr val="dk1"/>
                </a:solidFill>
                <a:latin typeface="Arial"/>
                <a:ea typeface="Arial"/>
                <a:cs typeface="Arial"/>
                <a:sym typeface="Arial"/>
              </a:rPr>
              <a:t>Guided </a:t>
            </a:r>
            <a:r>
              <a:rPr lang="en-US" sz="1400">
                <a:solidFill>
                  <a:schemeClr val="dk1"/>
                </a:solidFill>
                <a:latin typeface="Arial"/>
                <a:ea typeface="Arial"/>
                <a:cs typeface="Arial"/>
                <a:sym typeface="Arial"/>
              </a:rPr>
              <a:t>and</a:t>
            </a:r>
            <a:r>
              <a:rPr lang="en-US" sz="1400" b="0" i="0" u="none" strike="noStrike" cap="none">
                <a:solidFill>
                  <a:schemeClr val="dk1"/>
                </a:solidFill>
                <a:latin typeface="Arial"/>
                <a:ea typeface="Arial"/>
                <a:cs typeface="Arial"/>
                <a:sym typeface="Arial"/>
              </a:rPr>
              <a:t> self-paced learning—follow manuals or explore freely</a:t>
            </a:r>
            <a:endParaRPr/>
          </a:p>
          <a:p>
            <a:pPr marL="0" marR="0" lvl="0" indent="0" algn="l" rtl="0">
              <a:lnSpc>
                <a:spcPct val="93000"/>
              </a:lnSpc>
              <a:spcBef>
                <a:spcPts val="900"/>
              </a:spcBef>
              <a:spcAft>
                <a:spcPts val="0"/>
              </a:spcAft>
              <a:buClr>
                <a:srgbClr val="000000"/>
              </a:buClr>
              <a:buSzPts val="1500"/>
              <a:buFont typeface="Arial"/>
              <a:buNone/>
            </a:pPr>
            <a:r>
              <a:rPr lang="en-US" sz="1400" b="0" i="0" u="none" strike="noStrike" cap="none">
                <a:solidFill>
                  <a:schemeClr val="dk1"/>
                </a:solidFill>
                <a:latin typeface="Arial"/>
                <a:ea typeface="Arial"/>
                <a:cs typeface="Arial"/>
                <a:sym typeface="Arial"/>
              </a:rPr>
              <a:t>Evaluate, learn, and test VMware solutions</a:t>
            </a:r>
            <a:endParaRPr/>
          </a:p>
          <a:p>
            <a:pPr marL="0" marR="0" lvl="0" indent="0" algn="l" rtl="0">
              <a:lnSpc>
                <a:spcPct val="93000"/>
              </a:lnSpc>
              <a:spcBef>
                <a:spcPts val="900"/>
              </a:spcBef>
              <a:spcAft>
                <a:spcPts val="0"/>
              </a:spcAft>
              <a:buClr>
                <a:srgbClr val="000000"/>
              </a:buClr>
              <a:buSzPts val="15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93000"/>
              </a:lnSpc>
              <a:spcBef>
                <a:spcPts val="900"/>
              </a:spcBef>
              <a:spcAft>
                <a:spcPts val="0"/>
              </a:spcAft>
              <a:buClr>
                <a:srgbClr val="000000"/>
              </a:buClr>
              <a:buSzPts val="1500"/>
              <a:buFont typeface="Arial"/>
              <a:buNone/>
            </a:pPr>
            <a:r>
              <a:rPr lang="en-US" sz="1100" b="0" i="0" u="none" strike="noStrike" cap="none">
                <a:solidFill>
                  <a:schemeClr val="dk1"/>
                </a:solidFill>
                <a:latin typeface="Arial"/>
                <a:ea typeface="Arial"/>
                <a:cs typeface="Arial"/>
                <a:sym typeface="Arial"/>
              </a:rPr>
              <a:t>*Performance and scale are limited</a:t>
            </a:r>
            <a:endParaRPr/>
          </a:p>
          <a:p>
            <a:pPr marL="0" marR="0" lvl="0" indent="0" algn="l" rtl="0">
              <a:lnSpc>
                <a:spcPct val="93000"/>
              </a:lnSpc>
              <a:spcBef>
                <a:spcPts val="900"/>
              </a:spcBef>
              <a:spcAft>
                <a:spcPts val="0"/>
              </a:spcAft>
              <a:buClr>
                <a:srgbClr val="000000"/>
              </a:buClr>
              <a:buSzPts val="1500"/>
              <a:buFont typeface="Arial"/>
              <a:buNone/>
            </a:pPr>
            <a:endParaRPr sz="1400" b="0" i="0" u="none" strike="noStrike" cap="none">
              <a:solidFill>
                <a:srgbClr val="5A5A5A"/>
              </a:solidFill>
              <a:latin typeface="Arial"/>
              <a:ea typeface="Arial"/>
              <a:cs typeface="Arial"/>
              <a:sym typeface="Arial"/>
            </a:endParaRPr>
          </a:p>
          <a:p>
            <a:pPr marL="0" marR="0" lvl="0" indent="0" algn="l" rtl="0">
              <a:lnSpc>
                <a:spcPct val="93000"/>
              </a:lnSpc>
              <a:spcBef>
                <a:spcPts val="900"/>
              </a:spcBef>
              <a:spcAft>
                <a:spcPts val="900"/>
              </a:spcAft>
              <a:buClr>
                <a:srgbClr val="000000"/>
              </a:buClr>
              <a:buSzPts val="1500"/>
              <a:buFont typeface="Arial"/>
              <a:buNone/>
            </a:pPr>
            <a:endParaRPr sz="1400" b="0" i="0" u="none" strike="noStrike" cap="none">
              <a:solidFill>
                <a:srgbClr val="5A5A5A"/>
              </a:solidFill>
              <a:latin typeface="Arial"/>
              <a:ea typeface="Arial"/>
              <a:cs typeface="Arial"/>
              <a:sym typeface="Arial"/>
            </a:endParaRPr>
          </a:p>
        </p:txBody>
      </p:sp>
      <p:sp>
        <p:nvSpPr>
          <p:cNvPr id="9842" name="Google Shape;9842;p97"/>
          <p:cNvSpPr txBox="1"/>
          <p:nvPr/>
        </p:nvSpPr>
        <p:spPr>
          <a:xfrm>
            <a:off x="4065796" y="2664776"/>
            <a:ext cx="2580635" cy="2736473"/>
          </a:xfrm>
          <a:prstGeom prst="rect">
            <a:avLst/>
          </a:prstGeom>
          <a:noFill/>
          <a:ln>
            <a:noFill/>
          </a:ln>
        </p:spPr>
        <p:txBody>
          <a:bodyPr spcFirstLastPara="1" wrap="square" lIns="91300" tIns="45625" rIns="91300" bIns="45625" anchor="t" anchorCtr="0">
            <a:noAutofit/>
          </a:bodyPr>
          <a:lstStyle/>
          <a:p>
            <a:pPr marL="0" marR="0" lvl="0" indent="0" algn="l" rtl="0">
              <a:lnSpc>
                <a:spcPct val="93000"/>
              </a:lnSpc>
              <a:spcBef>
                <a:spcPts val="0"/>
              </a:spcBef>
              <a:spcAft>
                <a:spcPts val="0"/>
              </a:spcAft>
              <a:buClr>
                <a:srgbClr val="000000"/>
              </a:buClr>
              <a:buSzPts val="1500"/>
              <a:buFont typeface="Arial"/>
              <a:buNone/>
            </a:pPr>
            <a:r>
              <a:rPr lang="en-US" sz="1796" b="0" i="0" u="none" strike="noStrike" cap="none">
                <a:solidFill>
                  <a:schemeClr val="dk1"/>
                </a:solidFill>
                <a:latin typeface="Arial"/>
                <a:ea typeface="Arial"/>
                <a:cs typeface="Arial"/>
                <a:sym typeface="Arial"/>
              </a:rPr>
              <a:t>VCF Experience Day</a:t>
            </a:r>
            <a:endParaRPr/>
          </a:p>
          <a:p>
            <a:pPr marL="0" marR="0" lvl="0" indent="0" algn="l" rtl="0">
              <a:lnSpc>
                <a:spcPct val="93000"/>
              </a:lnSpc>
              <a:spcBef>
                <a:spcPts val="900"/>
              </a:spcBef>
              <a:spcAft>
                <a:spcPts val="0"/>
              </a:spcAft>
              <a:buClr>
                <a:srgbClr val="000000"/>
              </a:buClr>
              <a:buSzPts val="1500"/>
              <a:buFont typeface="Arial"/>
              <a:buNone/>
            </a:pPr>
            <a:r>
              <a:rPr lang="en-US" sz="1400" b="0" i="0" u="none" strike="noStrike" cap="none">
                <a:solidFill>
                  <a:schemeClr val="dk1"/>
                </a:solidFill>
                <a:latin typeface="Arial"/>
                <a:ea typeface="Arial"/>
                <a:cs typeface="Arial"/>
                <a:sym typeface="Arial"/>
              </a:rPr>
              <a:t>8-10 hours of lecture and hands-on exercises</a:t>
            </a:r>
            <a:endParaRPr sz="1400" b="0" i="0" u="none" strike="noStrike" cap="none">
              <a:solidFill>
                <a:schemeClr val="dk1"/>
              </a:solidFill>
              <a:latin typeface="Arial"/>
              <a:ea typeface="Arial"/>
              <a:cs typeface="Arial"/>
              <a:sym typeface="Arial"/>
            </a:endParaRPr>
          </a:p>
          <a:p>
            <a:pPr marL="0" marR="0" lvl="0" indent="0" algn="l" rtl="0">
              <a:lnSpc>
                <a:spcPct val="93000"/>
              </a:lnSpc>
              <a:spcBef>
                <a:spcPts val="900"/>
              </a:spcBef>
              <a:spcAft>
                <a:spcPts val="0"/>
              </a:spcAft>
              <a:buClr>
                <a:srgbClr val="000000"/>
              </a:buClr>
              <a:buSzPts val="1500"/>
              <a:buFont typeface="Arial"/>
              <a:buNone/>
            </a:pPr>
            <a:r>
              <a:rPr lang="en-US" sz="1400" b="0" i="0" u="none" strike="noStrike" cap="none">
                <a:solidFill>
                  <a:schemeClr val="dk1"/>
                </a:solidFill>
                <a:latin typeface="Arial"/>
                <a:ea typeface="Arial"/>
                <a:cs typeface="Arial"/>
                <a:sym typeface="Arial"/>
              </a:rPr>
              <a:t>Facilitated by a local VCF SME</a:t>
            </a:r>
            <a:endParaRPr/>
          </a:p>
          <a:p>
            <a:pPr marL="0" marR="0" lvl="0" indent="0" algn="l" rtl="0">
              <a:lnSpc>
                <a:spcPct val="93000"/>
              </a:lnSpc>
              <a:spcBef>
                <a:spcPts val="900"/>
              </a:spcBef>
              <a:spcAft>
                <a:spcPts val="900"/>
              </a:spcAft>
              <a:buClr>
                <a:srgbClr val="000000"/>
              </a:buClr>
              <a:buSzPts val="1500"/>
              <a:buFont typeface="Arial"/>
              <a:buNone/>
            </a:pPr>
            <a:r>
              <a:rPr lang="en-US" sz="1400" b="0" i="0" u="none" strike="noStrike" cap="none">
                <a:solidFill>
                  <a:schemeClr val="dk1"/>
                </a:solidFill>
                <a:latin typeface="Arial"/>
                <a:ea typeface="Arial"/>
                <a:cs typeface="Arial"/>
                <a:sym typeface="Arial"/>
              </a:rPr>
              <a:t>Lab capacity booked in advance</a:t>
            </a:r>
            <a:endParaRPr/>
          </a:p>
        </p:txBody>
      </p:sp>
      <p:sp>
        <p:nvSpPr>
          <p:cNvPr id="9843" name="Google Shape;9843;p97"/>
          <p:cNvSpPr txBox="1"/>
          <p:nvPr/>
        </p:nvSpPr>
        <p:spPr>
          <a:xfrm>
            <a:off x="8165366" y="2728547"/>
            <a:ext cx="2793122" cy="2736473"/>
          </a:xfrm>
          <a:prstGeom prst="rect">
            <a:avLst/>
          </a:prstGeom>
          <a:noFill/>
          <a:ln>
            <a:noFill/>
          </a:ln>
        </p:spPr>
        <p:txBody>
          <a:bodyPr spcFirstLastPara="1" wrap="square" lIns="91300" tIns="45625" rIns="91300" bIns="45625" anchor="t" anchorCtr="0">
            <a:noAutofit/>
          </a:bodyPr>
          <a:lstStyle/>
          <a:p>
            <a:pPr marL="0" marR="0" lvl="0" indent="0" algn="l" rtl="0">
              <a:lnSpc>
                <a:spcPct val="93000"/>
              </a:lnSpc>
              <a:spcBef>
                <a:spcPts val="0"/>
              </a:spcBef>
              <a:spcAft>
                <a:spcPts val="0"/>
              </a:spcAft>
              <a:buClr>
                <a:srgbClr val="000000"/>
              </a:buClr>
              <a:buSzPts val="1500"/>
              <a:buFont typeface="Arial"/>
              <a:buNone/>
            </a:pPr>
            <a:r>
              <a:rPr lang="en-US" sz="1796" b="0" i="0" u="none" strike="noStrike" cap="none">
                <a:solidFill>
                  <a:schemeClr val="dk1"/>
                </a:solidFill>
                <a:latin typeface="Arial"/>
                <a:ea typeface="Arial"/>
                <a:cs typeface="Arial"/>
                <a:sym typeface="Arial"/>
              </a:rPr>
              <a:t>Holodeck Toolkit</a:t>
            </a:r>
            <a:endParaRPr/>
          </a:p>
          <a:p>
            <a:pPr marL="0" marR="0" lvl="0" indent="0" algn="l" rtl="0">
              <a:lnSpc>
                <a:spcPct val="93000"/>
              </a:lnSpc>
              <a:spcBef>
                <a:spcPts val="900"/>
              </a:spcBef>
              <a:spcAft>
                <a:spcPts val="0"/>
              </a:spcAft>
              <a:buClr>
                <a:srgbClr val="000000"/>
              </a:buClr>
              <a:buSzPts val="1500"/>
              <a:buFont typeface="Arial"/>
              <a:buNone/>
            </a:pPr>
            <a:r>
              <a:rPr lang="en-US" sz="1400" b="0" i="0" u="none" strike="noStrike" cap="none">
                <a:solidFill>
                  <a:schemeClr val="dk1"/>
                </a:solidFill>
                <a:latin typeface="Arial"/>
                <a:ea typeface="Arial"/>
                <a:cs typeface="Arial"/>
                <a:sym typeface="Arial"/>
              </a:rPr>
              <a:t>Long-running nested sandbox</a:t>
            </a:r>
            <a:r>
              <a:rPr lang="en-US" sz="1400">
                <a:solidFill>
                  <a:schemeClr val="dk1"/>
                </a:solidFill>
                <a:latin typeface="Arial"/>
                <a:ea typeface="Arial"/>
                <a:cs typeface="Arial"/>
                <a:sym typeface="Arial"/>
              </a:rPr>
              <a:t> </a:t>
            </a:r>
            <a:r>
              <a:rPr lang="en-US" sz="1400" b="0" i="0" u="none" strike="noStrike" cap="none">
                <a:solidFill>
                  <a:schemeClr val="dk1"/>
                </a:solidFill>
                <a:latin typeface="Arial"/>
                <a:ea typeface="Arial"/>
                <a:cs typeface="Arial"/>
                <a:sym typeface="Arial"/>
              </a:rPr>
              <a:t>on a physical vSphere host</a:t>
            </a:r>
            <a:endParaRPr/>
          </a:p>
          <a:p>
            <a:pPr marL="0" marR="0" lvl="0" indent="0" algn="l" rtl="0">
              <a:lnSpc>
                <a:spcPct val="93000"/>
              </a:lnSpc>
              <a:spcBef>
                <a:spcPts val="900"/>
              </a:spcBef>
              <a:spcAft>
                <a:spcPts val="0"/>
              </a:spcAft>
              <a:buClr>
                <a:srgbClr val="000000"/>
              </a:buClr>
              <a:buSzPts val="1500"/>
              <a:buFont typeface="Arial"/>
              <a:buNone/>
            </a:pPr>
            <a:r>
              <a:rPr lang="en-US" sz="1400" b="0" i="0" u="none" strike="noStrike" cap="none">
                <a:solidFill>
                  <a:schemeClr val="dk1"/>
                </a:solidFill>
                <a:latin typeface="Arial"/>
                <a:ea typeface="Arial"/>
                <a:cs typeface="Arial"/>
                <a:sym typeface="Arial"/>
              </a:rPr>
              <a:t>Deployable to the customer datacenter</a:t>
            </a:r>
            <a:endParaRPr/>
          </a:p>
          <a:p>
            <a:pPr marL="0" marR="0" lvl="0" indent="0" algn="l" rtl="0">
              <a:lnSpc>
                <a:spcPct val="93000"/>
              </a:lnSpc>
              <a:spcBef>
                <a:spcPts val="900"/>
              </a:spcBef>
              <a:spcAft>
                <a:spcPts val="0"/>
              </a:spcAft>
              <a:buClr>
                <a:srgbClr val="000000"/>
              </a:buClr>
              <a:buSzPts val="1500"/>
              <a:buFont typeface="Arial"/>
              <a:buNone/>
            </a:pPr>
            <a:r>
              <a:rPr lang="en-US" sz="1400" b="0" i="0" u="none" strike="noStrike" cap="none">
                <a:solidFill>
                  <a:schemeClr val="dk1"/>
                </a:solidFill>
                <a:latin typeface="Arial"/>
                <a:ea typeface="Arial"/>
                <a:cs typeface="Arial"/>
                <a:sym typeface="Arial"/>
              </a:rPr>
              <a:t>Augment the need for POC</a:t>
            </a:r>
            <a:endParaRPr/>
          </a:p>
          <a:p>
            <a:pPr marL="0" marR="0" lvl="0" indent="0" algn="l" rtl="0">
              <a:lnSpc>
                <a:spcPct val="93000"/>
              </a:lnSpc>
              <a:spcBef>
                <a:spcPts val="900"/>
              </a:spcBef>
              <a:spcAft>
                <a:spcPts val="0"/>
              </a:spcAft>
              <a:buClr>
                <a:srgbClr val="000000"/>
              </a:buClr>
              <a:buSzPts val="1500"/>
              <a:buFont typeface="Arial"/>
              <a:buNone/>
            </a:pPr>
            <a:r>
              <a:rPr lang="en-US" sz="1400" b="0" i="0" u="none" strike="noStrike" cap="none">
                <a:solidFill>
                  <a:schemeClr val="dk1"/>
                </a:solidFill>
                <a:latin typeface="Arial"/>
                <a:ea typeface="Arial"/>
                <a:cs typeface="Arial"/>
                <a:sym typeface="Arial"/>
              </a:rPr>
              <a:t>Available in standalone and scalable partner design</a:t>
            </a:r>
            <a:endParaRPr/>
          </a:p>
          <a:p>
            <a:pPr marL="0" marR="0" lvl="0" indent="0" algn="l" rtl="0">
              <a:lnSpc>
                <a:spcPct val="93000"/>
              </a:lnSpc>
              <a:spcBef>
                <a:spcPts val="900"/>
              </a:spcBef>
              <a:spcAft>
                <a:spcPts val="900"/>
              </a:spcAft>
              <a:buClr>
                <a:srgbClr val="000000"/>
              </a:buClr>
              <a:buSzPts val="1500"/>
              <a:buFont typeface="Arial"/>
              <a:buNone/>
            </a:pPr>
            <a:r>
              <a:rPr lang="en-US" sz="1400" b="0" i="0" u="none" strike="noStrike" cap="none">
                <a:solidFill>
                  <a:schemeClr val="dk1"/>
                </a:solidFill>
                <a:latin typeface="Arial"/>
                <a:ea typeface="Arial"/>
                <a:cs typeface="Arial"/>
                <a:sym typeface="Arial"/>
              </a:rPr>
              <a:t>Hands-on for multiple teams within a datacenter</a:t>
            </a:r>
            <a:endParaRPr/>
          </a:p>
        </p:txBody>
      </p:sp>
      <p:cxnSp>
        <p:nvCxnSpPr>
          <p:cNvPr id="9844" name="Google Shape;9844;p97"/>
          <p:cNvCxnSpPr/>
          <p:nvPr/>
        </p:nvCxnSpPr>
        <p:spPr>
          <a:xfrm>
            <a:off x="612872" y="1989636"/>
            <a:ext cx="6420397" cy="0"/>
          </a:xfrm>
          <a:prstGeom prst="straightConnector1">
            <a:avLst/>
          </a:prstGeom>
          <a:noFill/>
          <a:ln w="25400" cap="flat" cmpd="sng">
            <a:solidFill>
              <a:schemeClr val="accent5"/>
            </a:solidFill>
            <a:prstDash val="solid"/>
            <a:miter lim="800000"/>
            <a:headEnd type="none" w="sm" len="sm"/>
            <a:tailEnd type="none" w="sm" len="sm"/>
          </a:ln>
        </p:spPr>
      </p:cxnSp>
      <p:grpSp>
        <p:nvGrpSpPr>
          <p:cNvPr id="9845" name="Google Shape;9845;p97"/>
          <p:cNvGrpSpPr/>
          <p:nvPr/>
        </p:nvGrpSpPr>
        <p:grpSpPr>
          <a:xfrm>
            <a:off x="3097053" y="1264580"/>
            <a:ext cx="1450120" cy="1450121"/>
            <a:chOff x="3956668" y="1442473"/>
            <a:chExt cx="1451254" cy="1451255"/>
          </a:xfrm>
        </p:grpSpPr>
        <p:sp>
          <p:nvSpPr>
            <p:cNvPr id="9846" name="Google Shape;9846;p97"/>
            <p:cNvSpPr/>
            <p:nvPr/>
          </p:nvSpPr>
          <p:spPr>
            <a:xfrm>
              <a:off x="3956668" y="1442473"/>
              <a:ext cx="1451254" cy="1451255"/>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chemeClr val="lt1"/>
                </a:buClr>
                <a:buSzPts val="1796"/>
                <a:buFont typeface="Arial"/>
                <a:buNone/>
              </a:pPr>
              <a:endParaRPr sz="1795" b="0" i="0" u="none" strike="noStrike" cap="none">
                <a:solidFill>
                  <a:srgbClr val="6C4B94"/>
                </a:solidFill>
                <a:latin typeface="Arial"/>
                <a:ea typeface="Arial"/>
                <a:cs typeface="Arial"/>
                <a:sym typeface="Arial"/>
              </a:endParaRPr>
            </a:p>
          </p:txBody>
        </p:sp>
        <p:sp>
          <p:nvSpPr>
            <p:cNvPr id="9847" name="Google Shape;9847;p97" descr="Public Cloud&#10;"/>
            <p:cNvSpPr/>
            <p:nvPr/>
          </p:nvSpPr>
          <p:spPr>
            <a:xfrm>
              <a:off x="4255332" y="1924057"/>
              <a:ext cx="853925" cy="488086"/>
            </a:xfrm>
            <a:custGeom>
              <a:avLst/>
              <a:gdLst/>
              <a:ahLst/>
              <a:cxnLst/>
              <a:rect l="l" t="t" r="r" b="b"/>
              <a:pathLst>
                <a:path w="600835" h="343425" extrusionOk="0">
                  <a:moveTo>
                    <a:pt x="387848" y="15875"/>
                  </a:moveTo>
                  <a:lnTo>
                    <a:pt x="390694" y="15875"/>
                  </a:lnTo>
                  <a:cubicBezTo>
                    <a:pt x="448185" y="17266"/>
                    <a:pt x="495936" y="66472"/>
                    <a:pt x="501754" y="130224"/>
                  </a:cubicBezTo>
                  <a:lnTo>
                    <a:pt x="502956" y="143252"/>
                  </a:lnTo>
                  <a:lnTo>
                    <a:pt x="515985" y="144517"/>
                  </a:lnTo>
                  <a:cubicBezTo>
                    <a:pt x="555893" y="148312"/>
                    <a:pt x="586188" y="188789"/>
                    <a:pt x="584986" y="237299"/>
                  </a:cubicBezTo>
                  <a:cubicBezTo>
                    <a:pt x="583784" y="285809"/>
                    <a:pt x="549821" y="326476"/>
                    <a:pt x="509091" y="326476"/>
                  </a:cubicBezTo>
                  <a:lnTo>
                    <a:pt x="496821" y="326476"/>
                  </a:lnTo>
                  <a:cubicBezTo>
                    <a:pt x="467918" y="326476"/>
                    <a:pt x="382978" y="326476"/>
                    <a:pt x="300442" y="327045"/>
                  </a:cubicBezTo>
                  <a:cubicBezTo>
                    <a:pt x="217906" y="327614"/>
                    <a:pt x="131639" y="327678"/>
                    <a:pt x="102293" y="327678"/>
                  </a:cubicBezTo>
                  <a:lnTo>
                    <a:pt x="92363" y="327678"/>
                  </a:lnTo>
                  <a:cubicBezTo>
                    <a:pt x="52075" y="326602"/>
                    <a:pt x="14887" y="288339"/>
                    <a:pt x="15835" y="249000"/>
                  </a:cubicBezTo>
                  <a:cubicBezTo>
                    <a:pt x="16823" y="209758"/>
                    <a:pt x="48746" y="178366"/>
                    <a:pt x="87999" y="178038"/>
                  </a:cubicBezTo>
                  <a:lnTo>
                    <a:pt x="89833" y="178038"/>
                  </a:lnTo>
                  <a:cubicBezTo>
                    <a:pt x="95862" y="178115"/>
                    <a:pt x="101856" y="178966"/>
                    <a:pt x="107668" y="180567"/>
                  </a:cubicBezTo>
                  <a:lnTo>
                    <a:pt x="123859" y="185058"/>
                  </a:lnTo>
                  <a:lnTo>
                    <a:pt x="127338" y="168614"/>
                  </a:lnTo>
                  <a:cubicBezTo>
                    <a:pt x="136664" y="124728"/>
                    <a:pt x="175194" y="93190"/>
                    <a:pt x="220057" y="92719"/>
                  </a:cubicBezTo>
                  <a:lnTo>
                    <a:pt x="222333" y="92719"/>
                  </a:lnTo>
                  <a:cubicBezTo>
                    <a:pt x="235658" y="93005"/>
                    <a:pt x="248768" y="96131"/>
                    <a:pt x="260787" y="101889"/>
                  </a:cubicBezTo>
                  <a:lnTo>
                    <a:pt x="276219" y="109416"/>
                  </a:lnTo>
                  <a:lnTo>
                    <a:pt x="282544" y="93414"/>
                  </a:lnTo>
                  <a:cubicBezTo>
                    <a:pt x="300695" y="46359"/>
                    <a:pt x="341995" y="15875"/>
                    <a:pt x="387848" y="15875"/>
                  </a:cubicBezTo>
                  <a:moveTo>
                    <a:pt x="387848" y="63"/>
                  </a:moveTo>
                  <a:cubicBezTo>
                    <a:pt x="334152" y="63"/>
                    <a:pt x="287667" y="36177"/>
                    <a:pt x="267681" y="87785"/>
                  </a:cubicBezTo>
                  <a:cubicBezTo>
                    <a:pt x="253654" y="81031"/>
                    <a:pt x="238341" y="77365"/>
                    <a:pt x="222776" y="77034"/>
                  </a:cubicBezTo>
                  <a:lnTo>
                    <a:pt x="220057" y="77034"/>
                  </a:lnTo>
                  <a:cubicBezTo>
                    <a:pt x="167607" y="77270"/>
                    <a:pt x="122491" y="114208"/>
                    <a:pt x="111906" y="165578"/>
                  </a:cubicBezTo>
                  <a:cubicBezTo>
                    <a:pt x="104812" y="163637"/>
                    <a:pt x="97503" y="162596"/>
                    <a:pt x="90149" y="162479"/>
                  </a:cubicBezTo>
                  <a:lnTo>
                    <a:pt x="87999" y="162479"/>
                  </a:lnTo>
                  <a:cubicBezTo>
                    <a:pt x="40266" y="162767"/>
                    <a:pt x="1353" y="200841"/>
                    <a:pt x="24" y="248557"/>
                  </a:cubicBezTo>
                  <a:cubicBezTo>
                    <a:pt x="-1178" y="297446"/>
                    <a:pt x="43347" y="342098"/>
                    <a:pt x="91983" y="343426"/>
                  </a:cubicBezTo>
                  <a:lnTo>
                    <a:pt x="102293" y="343426"/>
                  </a:lnTo>
                  <a:cubicBezTo>
                    <a:pt x="160858" y="343426"/>
                    <a:pt x="438951" y="342224"/>
                    <a:pt x="496821" y="342224"/>
                  </a:cubicBezTo>
                  <a:lnTo>
                    <a:pt x="509091" y="342224"/>
                  </a:lnTo>
                  <a:cubicBezTo>
                    <a:pt x="558486" y="342224"/>
                    <a:pt x="599469" y="295612"/>
                    <a:pt x="600798" y="237552"/>
                  </a:cubicBezTo>
                  <a:cubicBezTo>
                    <a:pt x="602189" y="180631"/>
                    <a:pt x="565253" y="133259"/>
                    <a:pt x="517503" y="128706"/>
                  </a:cubicBezTo>
                  <a:cubicBezTo>
                    <a:pt x="511178" y="57680"/>
                    <a:pt x="457545" y="1581"/>
                    <a:pt x="391011"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7"/>
                <a:buFont typeface="Arial"/>
                <a:buNone/>
              </a:pPr>
              <a:endParaRPr sz="1796" b="0" i="0" u="none" strike="noStrike" cap="none">
                <a:solidFill>
                  <a:srgbClr val="000000"/>
                </a:solidFill>
                <a:latin typeface="Arial"/>
                <a:ea typeface="Arial"/>
                <a:cs typeface="Arial"/>
                <a:sym typeface="Arial"/>
              </a:endParaRPr>
            </a:p>
          </p:txBody>
        </p:sp>
      </p:grpSp>
      <p:cxnSp>
        <p:nvCxnSpPr>
          <p:cNvPr id="9848" name="Google Shape;9848;p97"/>
          <p:cNvCxnSpPr/>
          <p:nvPr/>
        </p:nvCxnSpPr>
        <p:spPr>
          <a:xfrm>
            <a:off x="612301" y="6177363"/>
            <a:ext cx="6420968" cy="0"/>
          </a:xfrm>
          <a:prstGeom prst="straightConnector1">
            <a:avLst/>
          </a:prstGeom>
          <a:noFill/>
          <a:ln w="25400" cap="flat" cmpd="sng">
            <a:solidFill>
              <a:schemeClr val="accent5"/>
            </a:solidFill>
            <a:prstDash val="solid"/>
            <a:miter lim="800000"/>
            <a:headEnd type="none" w="sm" len="sm"/>
            <a:tailEnd type="none" w="sm" len="sm"/>
          </a:ln>
        </p:spPr>
      </p:cxnSp>
      <p:sp>
        <p:nvSpPr>
          <p:cNvPr id="9849" name="Google Shape;9849;p97"/>
          <p:cNvSpPr/>
          <p:nvPr/>
        </p:nvSpPr>
        <p:spPr>
          <a:xfrm>
            <a:off x="8796342" y="1264580"/>
            <a:ext cx="1450120" cy="1450121"/>
          </a:xfrm>
          <a:prstGeom prst="ellipse">
            <a:avLst/>
          </a:prstGeom>
          <a:solidFill>
            <a:schemeClr val="lt1"/>
          </a:solidFill>
          <a:ln w="25400" cap="flat" cmpd="sng">
            <a:solidFill>
              <a:schemeClr val="accent2"/>
            </a:solidFill>
            <a:prstDash val="solid"/>
            <a:round/>
            <a:headEnd type="none" w="sm" len="sm"/>
            <a:tailEnd type="none" w="sm" len="sm"/>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chemeClr val="lt1"/>
              </a:buClr>
              <a:buSzPts val="1796"/>
              <a:buFont typeface="Arial"/>
              <a:buNone/>
            </a:pPr>
            <a:endParaRPr sz="1795" b="0" i="0" u="none" strike="noStrike" cap="none">
              <a:solidFill>
                <a:srgbClr val="6C4B94"/>
              </a:solidFill>
              <a:latin typeface="Arial"/>
              <a:ea typeface="Arial"/>
              <a:cs typeface="Arial"/>
              <a:sym typeface="Arial"/>
            </a:endParaRPr>
          </a:p>
        </p:txBody>
      </p:sp>
      <p:cxnSp>
        <p:nvCxnSpPr>
          <p:cNvPr id="9850" name="Google Shape;9850;p97"/>
          <p:cNvCxnSpPr/>
          <p:nvPr/>
        </p:nvCxnSpPr>
        <p:spPr>
          <a:xfrm rot="10800000">
            <a:off x="3822113" y="3048156"/>
            <a:ext cx="0" cy="2557914"/>
          </a:xfrm>
          <a:prstGeom prst="straightConnector1">
            <a:avLst/>
          </a:prstGeom>
          <a:noFill/>
          <a:ln w="25400" cap="flat" cmpd="sng">
            <a:solidFill>
              <a:schemeClr val="accent5">
                <a:alpha val="20000"/>
              </a:schemeClr>
            </a:solidFill>
            <a:prstDash val="solid"/>
            <a:miter lim="800000"/>
            <a:headEnd type="none" w="sm" len="sm"/>
            <a:tailEnd type="none" w="sm" len="sm"/>
          </a:ln>
        </p:spPr>
      </p:cxnSp>
      <p:grpSp>
        <p:nvGrpSpPr>
          <p:cNvPr id="9851" name="Google Shape;9851;p97"/>
          <p:cNvGrpSpPr/>
          <p:nvPr/>
        </p:nvGrpSpPr>
        <p:grpSpPr>
          <a:xfrm>
            <a:off x="9074504" y="1534454"/>
            <a:ext cx="906542" cy="906544"/>
            <a:chOff x="5126086" y="3679258"/>
            <a:chExt cx="1946038" cy="1946038"/>
          </a:xfrm>
        </p:grpSpPr>
        <p:sp>
          <p:nvSpPr>
            <p:cNvPr id="9852" name="Google Shape;9852;p97"/>
            <p:cNvSpPr/>
            <p:nvPr/>
          </p:nvSpPr>
          <p:spPr>
            <a:xfrm>
              <a:off x="5492186" y="3906456"/>
              <a:ext cx="1180618" cy="1504710"/>
            </a:xfrm>
            <a:custGeom>
              <a:avLst/>
              <a:gdLst/>
              <a:ahLst/>
              <a:cxnLst/>
              <a:rect l="l" t="t" r="r" b="b"/>
              <a:pathLst>
                <a:path w="1180618" h="1504710" extrusionOk="0">
                  <a:moveTo>
                    <a:pt x="0" y="0"/>
                  </a:moveTo>
                  <a:lnTo>
                    <a:pt x="602225" y="0"/>
                  </a:lnTo>
                  <a:lnTo>
                    <a:pt x="602225" y="625034"/>
                  </a:lnTo>
                  <a:lnTo>
                    <a:pt x="1180618" y="625034"/>
                  </a:lnTo>
                  <a:lnTo>
                    <a:pt x="1180618" y="1504710"/>
                  </a:lnTo>
                  <a:lnTo>
                    <a:pt x="0" y="1504710"/>
                  </a:lnTo>
                  <a:lnTo>
                    <a:pt x="0" y="821804"/>
                  </a:lnTo>
                  <a:lnTo>
                    <a:pt x="0" y="625034"/>
                  </a:lnTo>
                  <a:close/>
                </a:path>
              </a:pathLst>
            </a:custGeom>
            <a:solidFill>
              <a:schemeClr val="lt1"/>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9853" name="Google Shape;9853;p97"/>
            <p:cNvPicPr preferRelativeResize="0"/>
            <p:nvPr/>
          </p:nvPicPr>
          <p:blipFill rotWithShape="1">
            <a:blip r:embed="rId3">
              <a:alphaModFix/>
            </a:blip>
            <a:srcRect/>
            <a:stretch/>
          </p:blipFill>
          <p:spPr>
            <a:xfrm>
              <a:off x="5126086" y="3679258"/>
              <a:ext cx="1946038" cy="1946038"/>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858"/>
        <p:cNvGrpSpPr/>
        <p:nvPr/>
      </p:nvGrpSpPr>
      <p:grpSpPr>
        <a:xfrm>
          <a:off x="0" y="0"/>
          <a:ext cx="0" cy="0"/>
          <a:chOff x="0" y="0"/>
          <a:chExt cx="0" cy="0"/>
        </a:xfrm>
      </p:grpSpPr>
      <p:sp>
        <p:nvSpPr>
          <p:cNvPr id="9859" name="Google Shape;9859;p9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VMware Cloud Foundation Resources</a:t>
            </a:r>
            <a:endParaRPr/>
          </a:p>
        </p:txBody>
      </p:sp>
      <p:graphicFrame>
        <p:nvGraphicFramePr>
          <p:cNvPr id="9860" name="Google Shape;9860;p98"/>
          <p:cNvGraphicFramePr/>
          <p:nvPr/>
        </p:nvGraphicFramePr>
        <p:xfrm>
          <a:off x="572013" y="1404730"/>
          <a:ext cx="8399725" cy="4114125"/>
        </p:xfrm>
        <a:graphic>
          <a:graphicData uri="http://schemas.openxmlformats.org/drawingml/2006/table">
            <a:tbl>
              <a:tblPr>
                <a:noFill/>
                <a:tableStyleId>{F117D872-F00E-4F84-AD6C-63B9452FA8F9}</a:tableStyleId>
              </a:tblPr>
              <a:tblGrid>
                <a:gridCol w="1574850">
                  <a:extLst>
                    <a:ext uri="{9D8B030D-6E8A-4147-A177-3AD203B41FA5}">
                      <a16:colId xmlns:a16="http://schemas.microsoft.com/office/drawing/2014/main" val="20000"/>
                    </a:ext>
                  </a:extLst>
                </a:gridCol>
                <a:gridCol w="6824875">
                  <a:extLst>
                    <a:ext uri="{9D8B030D-6E8A-4147-A177-3AD203B41FA5}">
                      <a16:colId xmlns:a16="http://schemas.microsoft.com/office/drawing/2014/main" val="20001"/>
                    </a:ext>
                  </a:extLst>
                </a:gridCol>
              </a:tblGrid>
              <a:tr h="457125">
                <a:tc>
                  <a:txBody>
                    <a:bodyPr/>
                    <a:lstStyle/>
                    <a:p>
                      <a:pPr marL="60325" marR="0" lvl="0" indent="0" algn="l" rtl="0">
                        <a:lnSpc>
                          <a:spcPct val="192857"/>
                        </a:lnSpc>
                        <a:spcBef>
                          <a:spcPts val="0"/>
                        </a:spcBef>
                        <a:spcAft>
                          <a:spcPts val="0"/>
                        </a:spcAft>
                        <a:buNone/>
                      </a:pPr>
                      <a:r>
                        <a:rPr lang="en-US" sz="1400" b="0">
                          <a:solidFill>
                            <a:srgbClr val="3B3B3B"/>
                          </a:solidFill>
                          <a:latin typeface="Arial"/>
                          <a:ea typeface="Arial"/>
                          <a:cs typeface="Arial"/>
                          <a:sym typeface="Arial"/>
                        </a:rPr>
                        <a:t>Product Page</a:t>
                      </a:r>
                      <a:endParaRPr sz="1400" b="0">
                        <a:solidFill>
                          <a:srgbClr val="3B3B3B"/>
                        </a:solidFill>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60325" marR="0" lvl="0" indent="0" algn="l" rtl="0">
                        <a:lnSpc>
                          <a:spcPct val="192857"/>
                        </a:lnSpc>
                        <a:spcBef>
                          <a:spcPts val="0"/>
                        </a:spcBef>
                        <a:spcAft>
                          <a:spcPts val="0"/>
                        </a:spcAft>
                        <a:buNone/>
                      </a:pPr>
                      <a:r>
                        <a:rPr lang="en-US" sz="1400" b="0" u="sng">
                          <a:solidFill>
                            <a:schemeClr val="accent2"/>
                          </a:solidFill>
                          <a:latin typeface="Arial"/>
                          <a:ea typeface="Arial"/>
                          <a:cs typeface="Arial"/>
                          <a:sym typeface="Arial"/>
                          <a:hlinkClick r:id="rId3">
                            <a:extLst>
                              <a:ext uri="{A12FA001-AC4F-418D-AE19-62706E023703}">
                                <ahyp:hlinkClr xmlns:ahyp="http://schemas.microsoft.com/office/drawing/2018/hyperlinkcolor" val="tx"/>
                              </a:ext>
                            </a:extLst>
                          </a:hlinkClick>
                        </a:rPr>
                        <a:t>https://www.vmware.com/products/cloud-infrastructure/vmware-cloud-foundation</a:t>
                      </a:r>
                      <a:endParaRPr sz="1400" b="0">
                        <a:solidFill>
                          <a:schemeClr val="accent2"/>
                        </a:solidFill>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457125">
                <a:tc>
                  <a:txBody>
                    <a:bodyPr/>
                    <a:lstStyle/>
                    <a:p>
                      <a:pPr marL="60325" marR="0" lvl="0" indent="0" algn="l" rtl="0">
                        <a:lnSpc>
                          <a:spcPct val="192857"/>
                        </a:lnSpc>
                        <a:spcBef>
                          <a:spcPts val="0"/>
                        </a:spcBef>
                        <a:spcAft>
                          <a:spcPts val="0"/>
                        </a:spcAft>
                        <a:buNone/>
                      </a:pPr>
                      <a:r>
                        <a:rPr lang="en-US" sz="1400" b="0">
                          <a:solidFill>
                            <a:srgbClr val="3B3B3B"/>
                          </a:solidFill>
                          <a:latin typeface="Arial"/>
                          <a:ea typeface="Arial"/>
                          <a:cs typeface="Arial"/>
                          <a:sym typeface="Arial"/>
                        </a:rPr>
                        <a:t>Documentation</a:t>
                      </a:r>
                      <a:endParaRPr sz="1400" b="0">
                        <a:solidFill>
                          <a:srgbClr val="3B3B3B"/>
                        </a:solidFill>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60325" marR="0" lvl="0" indent="0" algn="l" rtl="0">
                        <a:lnSpc>
                          <a:spcPct val="192857"/>
                        </a:lnSpc>
                        <a:spcBef>
                          <a:spcPts val="0"/>
                        </a:spcBef>
                        <a:spcAft>
                          <a:spcPts val="0"/>
                        </a:spcAft>
                        <a:buClr>
                          <a:schemeClr val="accent2"/>
                        </a:buClr>
                        <a:buSzPts val="1400"/>
                        <a:buFont typeface="Arial"/>
                        <a:buNone/>
                      </a:pPr>
                      <a:r>
                        <a:rPr lang="en-US" sz="1400" b="0" u="sng">
                          <a:solidFill>
                            <a:schemeClr val="accent2"/>
                          </a:solidFill>
                          <a:latin typeface="Arial"/>
                          <a:ea typeface="Arial"/>
                          <a:cs typeface="Arial"/>
                          <a:sym typeface="Arial"/>
                          <a:hlinkClick r:id="rId4">
                            <a:extLst>
                              <a:ext uri="{A12FA001-AC4F-418D-AE19-62706E023703}">
                                <ahyp:hlinkClr xmlns:ahyp="http://schemas.microsoft.com/office/drawing/2018/hyperlinkcolor" val="tx"/>
                              </a:ext>
                            </a:extLst>
                          </a:hlinkClick>
                        </a:rPr>
                        <a:t>https://techdocs.broadcom.com/us/en/vmware-cis/vcf.html</a:t>
                      </a:r>
                      <a:endParaRPr sz="1400" b="0">
                        <a:solidFill>
                          <a:schemeClr val="accent2"/>
                        </a:solidFill>
                        <a:highlight>
                          <a:srgbClr val="FFFF00"/>
                        </a:highlight>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57125">
                <a:tc>
                  <a:txBody>
                    <a:bodyPr/>
                    <a:lstStyle/>
                    <a:p>
                      <a:pPr marL="60325" marR="0" lvl="0" indent="0" algn="l" rtl="0">
                        <a:lnSpc>
                          <a:spcPct val="192857"/>
                        </a:lnSpc>
                        <a:spcBef>
                          <a:spcPts val="0"/>
                        </a:spcBef>
                        <a:spcAft>
                          <a:spcPts val="0"/>
                        </a:spcAft>
                        <a:buNone/>
                      </a:pPr>
                      <a:r>
                        <a:rPr lang="en-US" sz="1400" b="0">
                          <a:solidFill>
                            <a:srgbClr val="3B3B3B"/>
                          </a:solidFill>
                          <a:latin typeface="Arial"/>
                          <a:ea typeface="Arial"/>
                          <a:cs typeface="Arial"/>
                          <a:sym typeface="Arial"/>
                        </a:rPr>
                        <a:t>Blogs</a:t>
                      </a:r>
                      <a:endParaRPr sz="1400" b="0">
                        <a:solidFill>
                          <a:srgbClr val="3B3B3B"/>
                        </a:solidFill>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60325" marR="0" lvl="0" indent="0" algn="l" rtl="0">
                        <a:lnSpc>
                          <a:spcPct val="192857"/>
                        </a:lnSpc>
                        <a:spcBef>
                          <a:spcPts val="0"/>
                        </a:spcBef>
                        <a:spcAft>
                          <a:spcPts val="0"/>
                        </a:spcAft>
                        <a:buClr>
                          <a:schemeClr val="accent2"/>
                        </a:buClr>
                        <a:buSzPts val="1400"/>
                        <a:buFont typeface="Arial"/>
                        <a:buNone/>
                      </a:pPr>
                      <a:r>
                        <a:rPr lang="en-US" sz="1400" b="0" u="sng">
                          <a:solidFill>
                            <a:schemeClr val="accent2"/>
                          </a:solidFill>
                          <a:latin typeface="Arial"/>
                          <a:ea typeface="Arial"/>
                          <a:cs typeface="Arial"/>
                          <a:sym typeface="Arial"/>
                          <a:hlinkClick r:id="rId5">
                            <a:extLst>
                              <a:ext uri="{A12FA001-AC4F-418D-AE19-62706E023703}">
                                <ahyp:hlinkClr xmlns:ahyp="http://schemas.microsoft.com/office/drawing/2018/hyperlinkcolor" val="tx"/>
                              </a:ext>
                            </a:extLst>
                          </a:hlinkClick>
                        </a:rPr>
                        <a:t>https://blogs.vmware.com/cloud-foundation/</a:t>
                      </a:r>
                      <a:endParaRPr sz="1400" b="0">
                        <a:solidFill>
                          <a:schemeClr val="accent2"/>
                        </a:solidFill>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457125">
                <a:tc>
                  <a:txBody>
                    <a:bodyPr/>
                    <a:lstStyle/>
                    <a:p>
                      <a:pPr marL="60325" marR="0" lvl="0" indent="0" algn="l" rtl="0">
                        <a:lnSpc>
                          <a:spcPct val="192857"/>
                        </a:lnSpc>
                        <a:spcBef>
                          <a:spcPts val="0"/>
                        </a:spcBef>
                        <a:spcAft>
                          <a:spcPts val="0"/>
                        </a:spcAft>
                        <a:buNone/>
                      </a:pPr>
                      <a:r>
                        <a:rPr lang="en-US" sz="1400" b="0">
                          <a:solidFill>
                            <a:srgbClr val="3B3B3B"/>
                          </a:solidFill>
                          <a:latin typeface="Arial"/>
                          <a:ea typeface="Arial"/>
                          <a:cs typeface="Arial"/>
                          <a:sym typeface="Arial"/>
                        </a:rPr>
                        <a:t>Hands-On Labs</a:t>
                      </a:r>
                      <a:endParaRPr sz="1400" b="0">
                        <a:solidFill>
                          <a:srgbClr val="3B3B3B"/>
                        </a:solidFill>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60325" marR="0" lvl="0" indent="0" algn="l" rtl="0">
                        <a:lnSpc>
                          <a:spcPct val="192857"/>
                        </a:lnSpc>
                        <a:spcBef>
                          <a:spcPts val="0"/>
                        </a:spcBef>
                        <a:spcAft>
                          <a:spcPts val="0"/>
                        </a:spcAft>
                        <a:buClr>
                          <a:schemeClr val="accent2"/>
                        </a:buClr>
                        <a:buSzPts val="1400"/>
                        <a:buFont typeface="Arial"/>
                        <a:buNone/>
                      </a:pPr>
                      <a:r>
                        <a:rPr lang="en-US" sz="1400" b="0" u="sng">
                          <a:solidFill>
                            <a:schemeClr val="accent2"/>
                          </a:solidFill>
                          <a:latin typeface="Arial"/>
                          <a:ea typeface="Arial"/>
                          <a:cs typeface="Arial"/>
                          <a:sym typeface="Arial"/>
                          <a:hlinkClick r:id="rId6">
                            <a:extLst>
                              <a:ext uri="{A12FA001-AC4F-418D-AE19-62706E023703}">
                                <ahyp:hlinkClr xmlns:ahyp="http://schemas.microsoft.com/office/drawing/2018/hyperlinkcolor" val="tx"/>
                              </a:ext>
                            </a:extLst>
                          </a:hlinkClick>
                        </a:rPr>
                        <a:t>https://www.vmware.com/resources/hands-on-labs</a:t>
                      </a:r>
                      <a:endParaRPr sz="1400" b="0">
                        <a:solidFill>
                          <a:schemeClr val="accent2"/>
                        </a:solidFill>
                        <a:highlight>
                          <a:srgbClr val="00FF00"/>
                        </a:highlight>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57125">
                <a:tc>
                  <a:txBody>
                    <a:bodyPr/>
                    <a:lstStyle/>
                    <a:p>
                      <a:pPr marL="60325" marR="0" lvl="0" indent="0" algn="l" rtl="0">
                        <a:lnSpc>
                          <a:spcPct val="192857"/>
                        </a:lnSpc>
                        <a:spcBef>
                          <a:spcPts val="0"/>
                        </a:spcBef>
                        <a:spcAft>
                          <a:spcPts val="0"/>
                        </a:spcAft>
                        <a:buNone/>
                      </a:pPr>
                      <a:r>
                        <a:rPr lang="en-US" sz="1400" b="0">
                          <a:solidFill>
                            <a:srgbClr val="3B3B3B"/>
                          </a:solidFill>
                          <a:latin typeface="Arial"/>
                          <a:ea typeface="Arial"/>
                          <a:cs typeface="Arial"/>
                          <a:sym typeface="Arial"/>
                        </a:rPr>
                        <a:t>Holodeck</a:t>
                      </a:r>
                      <a:endParaRPr sz="1400" b="0">
                        <a:solidFill>
                          <a:srgbClr val="3B3B3B"/>
                        </a:solidFill>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60325" marR="0" lvl="0" indent="0" algn="l" rtl="0">
                        <a:lnSpc>
                          <a:spcPct val="192857"/>
                        </a:lnSpc>
                        <a:spcBef>
                          <a:spcPts val="0"/>
                        </a:spcBef>
                        <a:spcAft>
                          <a:spcPts val="0"/>
                        </a:spcAft>
                        <a:buClr>
                          <a:schemeClr val="accent2"/>
                        </a:buClr>
                        <a:buSzPts val="1400"/>
                        <a:buFont typeface="Arial"/>
                        <a:buNone/>
                      </a:pPr>
                      <a:r>
                        <a:rPr lang="en-US" sz="1400" b="0" u="sng">
                          <a:solidFill>
                            <a:schemeClr val="accent2"/>
                          </a:solidFill>
                          <a:latin typeface="Arial"/>
                          <a:ea typeface="Arial"/>
                          <a:cs typeface="Arial"/>
                          <a:sym typeface="Arial"/>
                          <a:hlinkClick r:id="rId7">
                            <a:extLst>
                              <a:ext uri="{A12FA001-AC4F-418D-AE19-62706E023703}">
                                <ahyp:hlinkClr xmlns:ahyp="http://schemas.microsoft.com/office/drawing/2018/hyperlinkcolor" val="tx"/>
                              </a:ext>
                            </a:extLst>
                          </a:hlinkClick>
                        </a:rPr>
                        <a:t>https://www.vmware.com/resources/resource-center?category[]=Hands-on%20Labs</a:t>
                      </a:r>
                      <a:endParaRPr sz="1400" b="0">
                        <a:solidFill>
                          <a:schemeClr val="accent2"/>
                        </a:solidFill>
                        <a:highlight>
                          <a:srgbClr val="FF0000"/>
                        </a:highlight>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4"/>
                  </a:ext>
                </a:extLst>
              </a:tr>
              <a:tr h="457125">
                <a:tc>
                  <a:txBody>
                    <a:bodyPr/>
                    <a:lstStyle/>
                    <a:p>
                      <a:pPr marL="60325" marR="0" lvl="0" indent="0" algn="l" rtl="0">
                        <a:lnSpc>
                          <a:spcPct val="192857"/>
                        </a:lnSpc>
                        <a:spcBef>
                          <a:spcPts val="0"/>
                        </a:spcBef>
                        <a:spcAft>
                          <a:spcPts val="0"/>
                        </a:spcAft>
                        <a:buNone/>
                      </a:pPr>
                      <a:r>
                        <a:rPr lang="en-US" sz="1400" b="0">
                          <a:solidFill>
                            <a:srgbClr val="3B3B3B"/>
                          </a:solidFill>
                          <a:latin typeface="Arial"/>
                          <a:ea typeface="Arial"/>
                          <a:cs typeface="Arial"/>
                          <a:sym typeface="Arial"/>
                        </a:rPr>
                        <a:t>Community</a:t>
                      </a:r>
                      <a:endParaRPr sz="1400" b="0">
                        <a:solidFill>
                          <a:srgbClr val="3B3B3B"/>
                        </a:solidFill>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60325" marR="0" lvl="0" indent="0" algn="l" rtl="0">
                        <a:lnSpc>
                          <a:spcPct val="192857"/>
                        </a:lnSpc>
                        <a:spcBef>
                          <a:spcPts val="0"/>
                        </a:spcBef>
                        <a:spcAft>
                          <a:spcPts val="0"/>
                        </a:spcAft>
                        <a:buClr>
                          <a:schemeClr val="accent2"/>
                        </a:buClr>
                        <a:buSzPts val="1400"/>
                        <a:buFont typeface="Arial"/>
                        <a:buNone/>
                      </a:pPr>
                      <a:r>
                        <a:rPr lang="en-US" sz="1400" b="0" u="sng">
                          <a:solidFill>
                            <a:schemeClr val="accent2"/>
                          </a:solidFill>
                          <a:latin typeface="Arial"/>
                          <a:ea typeface="Arial"/>
                          <a:cs typeface="Arial"/>
                          <a:sym typeface="Arial"/>
                          <a:hlinkClick r:id="rId8">
                            <a:extLst>
                              <a:ext uri="{A12FA001-AC4F-418D-AE19-62706E023703}">
                                <ahyp:hlinkClr xmlns:ahyp="http://schemas.microsoft.com/office/drawing/2018/hyperlinkcolor" val="tx"/>
                              </a:ext>
                            </a:extLst>
                          </a:hlinkClick>
                        </a:rPr>
                        <a:t>https://community.broadcom.com/vmware-cloud-foundation/home</a:t>
                      </a:r>
                      <a:endParaRPr sz="1400" b="0">
                        <a:solidFill>
                          <a:schemeClr val="accent2"/>
                        </a:solidFill>
                        <a:highlight>
                          <a:srgbClr val="00FF00"/>
                        </a:highlight>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57125">
                <a:tc>
                  <a:txBody>
                    <a:bodyPr/>
                    <a:lstStyle/>
                    <a:p>
                      <a:pPr marL="60325" marR="0" lvl="0" indent="0" algn="l" rtl="0">
                        <a:lnSpc>
                          <a:spcPct val="192857"/>
                        </a:lnSpc>
                        <a:spcBef>
                          <a:spcPts val="0"/>
                        </a:spcBef>
                        <a:spcAft>
                          <a:spcPts val="0"/>
                        </a:spcAft>
                        <a:buNone/>
                      </a:pPr>
                      <a:r>
                        <a:rPr lang="en-US" sz="1400" b="0">
                          <a:solidFill>
                            <a:srgbClr val="3B3B3B"/>
                          </a:solidFill>
                          <a:latin typeface="Arial"/>
                          <a:ea typeface="Arial"/>
                          <a:cs typeface="Arial"/>
                          <a:sym typeface="Arial"/>
                        </a:rPr>
                        <a:t>FAQ</a:t>
                      </a:r>
                      <a:endParaRPr sz="1400" b="0">
                        <a:solidFill>
                          <a:srgbClr val="3B3B3B"/>
                        </a:solidFill>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60325" marR="0" lvl="0" indent="0" algn="l" rtl="0">
                        <a:lnSpc>
                          <a:spcPct val="192857"/>
                        </a:lnSpc>
                        <a:spcBef>
                          <a:spcPts val="0"/>
                        </a:spcBef>
                        <a:spcAft>
                          <a:spcPts val="0"/>
                        </a:spcAft>
                        <a:buClr>
                          <a:schemeClr val="accent2"/>
                        </a:buClr>
                        <a:buSzPts val="1400"/>
                        <a:buFont typeface="Arial"/>
                        <a:buNone/>
                      </a:pPr>
                      <a:r>
                        <a:rPr lang="en-US" sz="1400" b="0" i="0" u="sng">
                          <a:solidFill>
                            <a:schemeClr val="accent2"/>
                          </a:solidFill>
                          <a:latin typeface="Arial"/>
                          <a:ea typeface="Arial"/>
                          <a:cs typeface="Arial"/>
                          <a:sym typeface="Arial"/>
                          <a:hlinkClick r:id="rId9">
                            <a:extLst>
                              <a:ext uri="{A12FA001-AC4F-418D-AE19-62706E023703}">
                                <ahyp:hlinkClr xmlns:ahyp="http://schemas.microsoft.com/office/drawing/2018/hyperlinkcolor" val="tx"/>
                              </a:ext>
                            </a:extLst>
                          </a:hlinkClick>
                        </a:rPr>
                        <a:t>https://www.vmware.com/docs/vmw-cloud-foundation-faqs</a:t>
                      </a:r>
                      <a:endParaRPr sz="1400" b="0" i="0">
                        <a:solidFill>
                          <a:schemeClr val="accent2"/>
                        </a:solidFill>
                        <a:highlight>
                          <a:srgbClr val="00FF00"/>
                        </a:highlight>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6"/>
                  </a:ext>
                </a:extLst>
              </a:tr>
              <a:tr h="457125">
                <a:tc>
                  <a:txBody>
                    <a:bodyPr/>
                    <a:lstStyle/>
                    <a:p>
                      <a:pPr marL="60325" marR="0" lvl="0" indent="0" algn="l" rtl="0">
                        <a:lnSpc>
                          <a:spcPct val="192857"/>
                        </a:lnSpc>
                        <a:spcBef>
                          <a:spcPts val="0"/>
                        </a:spcBef>
                        <a:spcAft>
                          <a:spcPts val="0"/>
                        </a:spcAft>
                        <a:buNone/>
                      </a:pPr>
                      <a:r>
                        <a:rPr lang="en-US" sz="1400" b="0">
                          <a:solidFill>
                            <a:srgbClr val="3B3B3B"/>
                          </a:solidFill>
                          <a:latin typeface="Arial"/>
                          <a:ea typeface="Arial"/>
                          <a:cs typeface="Arial"/>
                          <a:sym typeface="Arial"/>
                        </a:rPr>
                        <a:t>YouTube</a:t>
                      </a:r>
                      <a:endParaRPr sz="1400" b="0">
                        <a:solidFill>
                          <a:srgbClr val="3B3B3B"/>
                        </a:solidFill>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60325" marR="0" lvl="0" indent="0" algn="l" rtl="0">
                        <a:lnSpc>
                          <a:spcPct val="192857"/>
                        </a:lnSpc>
                        <a:spcBef>
                          <a:spcPts val="0"/>
                        </a:spcBef>
                        <a:spcAft>
                          <a:spcPts val="0"/>
                        </a:spcAft>
                        <a:buClr>
                          <a:schemeClr val="accent2"/>
                        </a:buClr>
                        <a:buSzPts val="1400"/>
                        <a:buFont typeface="Arial"/>
                        <a:buNone/>
                      </a:pPr>
                      <a:r>
                        <a:rPr lang="en-US" sz="1400" b="0" u="sng">
                          <a:solidFill>
                            <a:schemeClr val="accent2"/>
                          </a:solidFill>
                          <a:latin typeface="Arial"/>
                          <a:ea typeface="Arial"/>
                          <a:cs typeface="Arial"/>
                          <a:sym typeface="Arial"/>
                          <a:hlinkClick r:id="rId10">
                            <a:extLst>
                              <a:ext uri="{A12FA001-AC4F-418D-AE19-62706E023703}">
                                <ahyp:hlinkClr xmlns:ahyp="http://schemas.microsoft.com/office/drawing/2018/hyperlinkcolor" val="tx"/>
                              </a:ext>
                            </a:extLst>
                          </a:hlinkClick>
                        </a:rPr>
                        <a:t>https://www.youtube.com/c/VMwareCloudFoundation</a:t>
                      </a:r>
                      <a:endParaRPr sz="1400" b="0">
                        <a:solidFill>
                          <a:schemeClr val="accent2"/>
                        </a:solidFill>
                        <a:highlight>
                          <a:srgbClr val="00FF00"/>
                        </a:highlight>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457125">
                <a:tc>
                  <a:txBody>
                    <a:bodyPr/>
                    <a:lstStyle/>
                    <a:p>
                      <a:pPr marL="60325" marR="0" lvl="0" indent="0" algn="l" rtl="0">
                        <a:lnSpc>
                          <a:spcPct val="192857"/>
                        </a:lnSpc>
                        <a:spcBef>
                          <a:spcPts val="0"/>
                        </a:spcBef>
                        <a:spcAft>
                          <a:spcPts val="0"/>
                        </a:spcAft>
                        <a:buNone/>
                      </a:pPr>
                      <a:r>
                        <a:rPr lang="en-US" sz="1400" b="0">
                          <a:solidFill>
                            <a:srgbClr val="3B3B3B"/>
                          </a:solidFill>
                          <a:latin typeface="Arial"/>
                          <a:ea typeface="Arial"/>
                          <a:cs typeface="Arial"/>
                          <a:sym typeface="Arial"/>
                        </a:rPr>
                        <a:t>VCF Posters</a:t>
                      </a:r>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tc>
                  <a:txBody>
                    <a:bodyPr/>
                    <a:lstStyle/>
                    <a:p>
                      <a:pPr marL="60325" marR="0" lvl="0" indent="0" algn="l" rtl="0">
                        <a:lnSpc>
                          <a:spcPct val="192857"/>
                        </a:lnSpc>
                        <a:spcBef>
                          <a:spcPts val="0"/>
                        </a:spcBef>
                        <a:spcAft>
                          <a:spcPts val="0"/>
                        </a:spcAft>
                        <a:buNone/>
                      </a:pPr>
                      <a:r>
                        <a:rPr lang="en-US" sz="1400" b="0" u="sng">
                          <a:solidFill>
                            <a:schemeClr val="accent2"/>
                          </a:solidFill>
                          <a:latin typeface="Arial"/>
                          <a:ea typeface="Arial"/>
                          <a:cs typeface="Arial"/>
                          <a:sym typeface="Arial"/>
                          <a:hlinkClick r:id="rId11">
                            <a:extLst>
                              <a:ext uri="{A12FA001-AC4F-418D-AE19-62706E023703}">
                                <ahyp:hlinkClr xmlns:ahyp="http://schemas.microsoft.com/office/drawing/2018/hyperlinkcolor" val="tx"/>
                              </a:ext>
                            </a:extLst>
                          </a:hlinkClick>
                        </a:rPr>
                        <a:t>https://www.vmware.com/info/vmware-cloud-foundation/resources#infographics</a:t>
                      </a:r>
                      <a:endParaRPr sz="1400" b="0">
                        <a:solidFill>
                          <a:schemeClr val="accent2"/>
                        </a:solidFill>
                        <a:highlight>
                          <a:srgbClr val="00FF00"/>
                        </a:highlight>
                        <a:latin typeface="Arial"/>
                        <a:ea typeface="Arial"/>
                        <a:cs typeface="Arial"/>
                        <a:sym typeface="Arial"/>
                      </a:endParaRPr>
                    </a:p>
                  </a:txBody>
                  <a:tcPr marL="91450" marR="0" marT="0" marB="914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8"/>
                  </a:ext>
                </a:extLst>
              </a:tr>
            </a:tbl>
          </a:graphicData>
        </a:graphic>
      </p:graphicFrame>
      <p:sp>
        <p:nvSpPr>
          <p:cNvPr id="9861" name="Google Shape;9861;p98"/>
          <p:cNvSpPr txBox="1"/>
          <p:nvPr/>
        </p:nvSpPr>
        <p:spPr>
          <a:xfrm>
            <a:off x="8966200" y="1600200"/>
            <a:ext cx="3004127" cy="4008572"/>
          </a:xfrm>
          <a:prstGeom prst="rect">
            <a:avLst/>
          </a:prstGeom>
          <a:noFill/>
          <a:ln>
            <a:noFill/>
          </a:ln>
        </p:spPr>
        <p:txBody>
          <a:bodyPr spcFirstLastPara="1" wrap="square" lIns="0" tIns="457200" rIns="594350" bIns="457200" anchor="t" anchorCtr="0">
            <a:noAutofit/>
          </a:bodyPr>
          <a:lstStyle/>
          <a:p>
            <a:pPr marL="0" marR="0" lvl="0" indent="0" algn="ctr" rtl="0">
              <a:lnSpc>
                <a:spcPct val="100000"/>
              </a:lnSpc>
              <a:spcBef>
                <a:spcPts val="0"/>
              </a:spcBef>
              <a:spcAft>
                <a:spcPts val="0"/>
              </a:spcAft>
              <a:buClr>
                <a:srgbClr val="666666"/>
              </a:buClr>
              <a:buSzPts val="1440"/>
              <a:buFont typeface="Arial"/>
              <a:buNone/>
            </a:pPr>
            <a:r>
              <a:rPr lang="en-US" sz="1400" i="0" u="none" strike="noStrike" cap="none">
                <a:solidFill>
                  <a:srgbClr val="000000"/>
                </a:solidFill>
                <a:latin typeface="Arial"/>
                <a:ea typeface="Arial"/>
                <a:cs typeface="Arial"/>
                <a:sym typeface="Arial"/>
              </a:rPr>
              <a:t>VMware</a:t>
            </a:r>
            <a:endParaRPr/>
          </a:p>
          <a:p>
            <a:pPr marL="0" marR="0" lvl="0" indent="0" algn="ctr" rtl="0">
              <a:lnSpc>
                <a:spcPct val="100000"/>
              </a:lnSpc>
              <a:spcBef>
                <a:spcPts val="0"/>
              </a:spcBef>
              <a:spcAft>
                <a:spcPts val="0"/>
              </a:spcAft>
              <a:buClr>
                <a:srgbClr val="666666"/>
              </a:buClr>
              <a:buSzPts val="1440"/>
              <a:buFont typeface="Arial"/>
              <a:buNone/>
            </a:pPr>
            <a:r>
              <a:rPr lang="en-US" sz="1400" i="0" u="none" strike="noStrike" cap="none">
                <a:solidFill>
                  <a:srgbClr val="000000"/>
                </a:solidFill>
                <a:latin typeface="Arial"/>
                <a:ea typeface="Arial"/>
                <a:cs typeface="Arial"/>
                <a:sym typeface="Arial"/>
              </a:rPr>
              <a:t>Feature Request</a:t>
            </a:r>
            <a:endParaRPr/>
          </a:p>
          <a:p>
            <a:pPr marL="0" marR="0" lvl="0" indent="0" algn="ctr" rtl="0">
              <a:lnSpc>
                <a:spcPct val="100000"/>
              </a:lnSpc>
              <a:spcBef>
                <a:spcPts val="0"/>
              </a:spcBef>
              <a:spcAft>
                <a:spcPts val="0"/>
              </a:spcAft>
              <a:buClr>
                <a:srgbClr val="666666"/>
              </a:buClr>
              <a:buSzPts val="1440"/>
              <a:buFont typeface="Arial"/>
              <a:buNone/>
            </a:pPr>
            <a:r>
              <a:rPr lang="en-US" sz="1400" i="0" u="none" strike="noStrike" cap="none">
                <a:solidFill>
                  <a:srgbClr val="000000"/>
                </a:solidFill>
                <a:latin typeface="Arial"/>
                <a:ea typeface="Arial"/>
                <a:cs typeface="Arial"/>
                <a:sym typeface="Arial"/>
              </a:rPr>
              <a:t>Portal</a:t>
            </a:r>
            <a:endParaRPr/>
          </a:p>
          <a:p>
            <a:pPr marL="0" marR="0" lvl="0" indent="-91440" algn="ctr" rtl="0">
              <a:lnSpc>
                <a:spcPct val="100000"/>
              </a:lnSpc>
              <a:spcBef>
                <a:spcPts val="1200"/>
              </a:spcBef>
              <a:spcAft>
                <a:spcPts val="0"/>
              </a:spcAft>
              <a:buClr>
                <a:srgbClr val="666666"/>
              </a:buClr>
              <a:buSzPts val="1440"/>
              <a:buFont typeface="Arial"/>
              <a:buChar char="​"/>
            </a:pPr>
            <a:r>
              <a:rPr lang="en-US" sz="1400" b="0" i="0" u="sng" strike="noStrike" cap="none">
                <a:solidFill>
                  <a:srgbClr val="005B84"/>
                </a:solidFill>
                <a:latin typeface="Arial"/>
                <a:ea typeface="Arial"/>
                <a:cs typeface="Arial"/>
                <a:sym typeface="Arial"/>
                <a:hlinkClick r:id="rId12">
                  <a:extLst>
                    <a:ext uri="{A12FA001-AC4F-418D-AE19-62706E023703}">
                      <ahyp:hlinkClr xmlns:ahyp="http://schemas.microsoft.com/office/drawing/2018/hyperlinkcolor" val="tx"/>
                    </a:ext>
                  </a:extLst>
                </a:hlinkClick>
              </a:rPr>
              <a:t>https://vcf.ideas.aha.io/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66666"/>
              </a:buClr>
              <a:buSzPts val="144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66666"/>
              </a:buClr>
              <a:buSzPts val="1440"/>
              <a:buFont typeface="Arial"/>
              <a:buNone/>
            </a:pPr>
            <a:endParaRPr sz="1400" b="0" i="0" u="none" strike="noStrike" cap="none">
              <a:solidFill>
                <a:srgbClr val="000000"/>
              </a:solidFill>
              <a:latin typeface="Arial"/>
              <a:ea typeface="Arial"/>
              <a:cs typeface="Arial"/>
              <a:sym typeface="Arial"/>
            </a:endParaRPr>
          </a:p>
        </p:txBody>
      </p:sp>
      <p:pic>
        <p:nvPicPr>
          <p:cNvPr id="9862" name="Google Shape;9862;p98"/>
          <p:cNvPicPr preferRelativeResize="0"/>
          <p:nvPr/>
        </p:nvPicPr>
        <p:blipFill rotWithShape="1">
          <a:blip r:embed="rId13">
            <a:alphaModFix/>
          </a:blip>
          <a:srcRect/>
          <a:stretch/>
        </p:blipFill>
        <p:spPr>
          <a:xfrm>
            <a:off x="9641204" y="3536214"/>
            <a:ext cx="1113537" cy="108461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867"/>
        <p:cNvGrpSpPr/>
        <p:nvPr/>
      </p:nvGrpSpPr>
      <p:grpSpPr>
        <a:xfrm>
          <a:off x="0" y="0"/>
          <a:ext cx="0" cy="0"/>
          <a:chOff x="0" y="0"/>
          <a:chExt cx="0" cy="0"/>
        </a:xfrm>
      </p:grpSpPr>
      <p:sp>
        <p:nvSpPr>
          <p:cNvPr id="9868" name="Google Shape;9868;p9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VMware Cloud Foundation Training Path</a:t>
            </a:r>
            <a:endParaRPr/>
          </a:p>
        </p:txBody>
      </p:sp>
      <p:sp>
        <p:nvSpPr>
          <p:cNvPr id="9869" name="Google Shape;9869;p99"/>
          <p:cNvSpPr txBox="1"/>
          <p:nvPr/>
        </p:nvSpPr>
        <p:spPr>
          <a:xfrm>
            <a:off x="796066" y="1145449"/>
            <a:ext cx="3593592" cy="914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666666"/>
              </a:buClr>
              <a:buSzPts val="1800"/>
              <a:buFont typeface="Arial"/>
              <a:buNone/>
            </a:pPr>
            <a:r>
              <a:rPr lang="en-US" sz="1400" i="0" u="none" strike="noStrike" cap="none">
                <a:solidFill>
                  <a:srgbClr val="777777"/>
                </a:solidFill>
                <a:latin typeface="Arial"/>
                <a:ea typeface="Arial"/>
                <a:cs typeface="Arial"/>
                <a:sym typeface="Arial"/>
              </a:rPr>
              <a:t>Level 100</a:t>
            </a:r>
            <a:endParaRPr/>
          </a:p>
        </p:txBody>
      </p:sp>
      <p:sp>
        <p:nvSpPr>
          <p:cNvPr id="9870" name="Google Shape;9870;p99"/>
          <p:cNvSpPr txBox="1"/>
          <p:nvPr/>
        </p:nvSpPr>
        <p:spPr>
          <a:xfrm>
            <a:off x="4500816" y="1145449"/>
            <a:ext cx="3593592" cy="914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666666"/>
              </a:buClr>
              <a:buSzPts val="1800"/>
              <a:buFont typeface="Arial"/>
              <a:buNone/>
            </a:pPr>
            <a:r>
              <a:rPr lang="en-US" sz="1400" i="0" u="none" strike="noStrike" cap="none">
                <a:solidFill>
                  <a:srgbClr val="777777"/>
                </a:solidFill>
                <a:latin typeface="Arial"/>
                <a:ea typeface="Arial"/>
                <a:cs typeface="Arial"/>
                <a:sym typeface="Arial"/>
              </a:rPr>
              <a:t>Level 200</a:t>
            </a:r>
            <a:endParaRPr sz="1400" i="0" u="none" strike="noStrike" cap="none">
              <a:solidFill>
                <a:srgbClr val="777777"/>
              </a:solidFill>
              <a:latin typeface="Arial"/>
              <a:ea typeface="Arial"/>
              <a:cs typeface="Arial"/>
              <a:sym typeface="Arial"/>
            </a:endParaRPr>
          </a:p>
        </p:txBody>
      </p:sp>
      <p:sp>
        <p:nvSpPr>
          <p:cNvPr id="9871" name="Google Shape;9871;p99"/>
          <p:cNvSpPr txBox="1"/>
          <p:nvPr/>
        </p:nvSpPr>
        <p:spPr>
          <a:xfrm>
            <a:off x="8205059" y="1145449"/>
            <a:ext cx="3593592" cy="914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666666"/>
              </a:buClr>
              <a:buSzPts val="1800"/>
              <a:buFont typeface="Arial"/>
              <a:buNone/>
            </a:pPr>
            <a:r>
              <a:rPr lang="en-US" sz="1400" i="0" u="none" strike="noStrike" cap="none">
                <a:solidFill>
                  <a:srgbClr val="777777"/>
                </a:solidFill>
                <a:latin typeface="Arial"/>
                <a:ea typeface="Arial"/>
                <a:cs typeface="Arial"/>
                <a:sym typeface="Arial"/>
              </a:rPr>
              <a:t>Level 300</a:t>
            </a:r>
            <a:endParaRPr sz="1400" i="0" u="none" strike="noStrike" cap="none">
              <a:solidFill>
                <a:srgbClr val="777777"/>
              </a:solidFill>
              <a:latin typeface="Arial"/>
              <a:ea typeface="Arial"/>
              <a:cs typeface="Arial"/>
              <a:sym typeface="Arial"/>
            </a:endParaRPr>
          </a:p>
        </p:txBody>
      </p:sp>
      <p:sp>
        <p:nvSpPr>
          <p:cNvPr id="9872" name="Google Shape;9872;p99"/>
          <p:cNvSpPr txBox="1"/>
          <p:nvPr/>
        </p:nvSpPr>
        <p:spPr>
          <a:xfrm>
            <a:off x="4462716" y="2100158"/>
            <a:ext cx="3322384" cy="35226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666666"/>
              </a:buClr>
              <a:buSzPts val="1260"/>
              <a:buFont typeface="Arial"/>
              <a:buNone/>
            </a:pPr>
            <a:r>
              <a:rPr lang="en-US" sz="1400" i="0" u="sng" strike="noStrike" cap="none">
                <a:solidFill>
                  <a:schemeClr val="accent3"/>
                </a:solidFill>
                <a:latin typeface="Arial"/>
                <a:ea typeface="Arial"/>
                <a:cs typeface="Arial"/>
                <a:sym typeface="Arial"/>
                <a:hlinkClick r:id="rId3">
                  <a:extLst>
                    <a:ext uri="{A12FA001-AC4F-418D-AE19-62706E023703}">
                      <ahyp:hlinkClr xmlns:ahyp="http://schemas.microsoft.com/office/drawing/2018/hyperlinkcolor" val="tx"/>
                    </a:ext>
                  </a:extLst>
                </a:hlinkClick>
              </a:rPr>
              <a:t>Hands-on Labs (HOLs)</a:t>
            </a:r>
            <a:endParaRPr sz="1400" i="0" u="none" strike="noStrike" cap="none">
              <a:solidFill>
                <a:schemeClr val="accent3"/>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b="0" i="0" u="none" strike="noStrike" cap="none">
                <a:solidFill>
                  <a:srgbClr val="000000"/>
                </a:solidFill>
                <a:latin typeface="Arial"/>
                <a:ea typeface="Arial"/>
                <a:cs typeface="Arial"/>
                <a:sym typeface="Arial"/>
              </a:rPr>
              <a:t>Self-paced online environments with guided exercises.</a:t>
            </a:r>
            <a:br>
              <a:rPr lang="en-US" sz="1400" b="0" i="0" u="none" strike="noStrike" cap="none">
                <a:solidFill>
                  <a:srgbClr val="000000"/>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u="sng">
                <a:solidFill>
                  <a:schemeClr val="accent3"/>
                </a:solidFill>
                <a:latin typeface="Arial"/>
                <a:ea typeface="Arial"/>
                <a:cs typeface="Arial"/>
                <a:sym typeface="Arial"/>
                <a:hlinkClick r:id="rId4">
                  <a:extLst>
                    <a:ext uri="{A12FA001-AC4F-418D-AE19-62706E023703}">
                      <ahyp:hlinkClr xmlns:ahyp="http://schemas.microsoft.com/office/drawing/2018/hyperlinkcolor" val="tx"/>
                    </a:ext>
                  </a:extLst>
                </a:hlinkClick>
              </a:rPr>
              <a:t>VMware Resource Center</a:t>
            </a:r>
            <a:endParaRPr sz="1400">
              <a:solidFill>
                <a:schemeClr val="accent3"/>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a:solidFill>
                  <a:srgbClr val="000000"/>
                </a:solidFill>
                <a:latin typeface="Arial"/>
                <a:ea typeface="Arial"/>
                <a:cs typeface="Arial"/>
                <a:sym typeface="Arial"/>
              </a:rPr>
              <a:t>Technical</a:t>
            </a:r>
            <a:r>
              <a:rPr lang="en-US" sz="1400" b="0" i="0" u="none" strike="noStrike" cap="none">
                <a:solidFill>
                  <a:srgbClr val="000000"/>
                </a:solidFill>
                <a:latin typeface="Arial"/>
                <a:ea typeface="Arial"/>
                <a:cs typeface="Arial"/>
                <a:sym typeface="Arial"/>
              </a:rPr>
              <a:t> papers, demos, and </a:t>
            </a:r>
            <a:r>
              <a:rPr lang="en-US" sz="1400">
                <a:solidFill>
                  <a:srgbClr val="000000"/>
                </a:solidFill>
                <a:latin typeface="Arial"/>
                <a:ea typeface="Arial"/>
                <a:cs typeface="Arial"/>
                <a:sym typeface="Arial"/>
              </a:rPr>
              <a:t>more.</a:t>
            </a:r>
            <a:endParaRPr/>
          </a:p>
          <a:p>
            <a:pPr marL="0" marR="0" lvl="0" indent="0" algn="l" rtl="0">
              <a:lnSpc>
                <a:spcPct val="100000"/>
              </a:lnSpc>
              <a:spcBef>
                <a:spcPts val="0"/>
              </a:spcBef>
              <a:spcAft>
                <a:spcPts val="0"/>
              </a:spcAft>
              <a:buClr>
                <a:srgbClr val="666666"/>
              </a:buClr>
              <a:buSzPts val="126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i="0" u="sng" strike="noStrike" cap="none">
                <a:solidFill>
                  <a:schemeClr val="accent3"/>
                </a:solidFill>
                <a:latin typeface="Arial"/>
                <a:ea typeface="Arial"/>
                <a:cs typeface="Arial"/>
                <a:sym typeface="Arial"/>
                <a:hlinkClick r:id="rId5">
                  <a:extLst>
                    <a:ext uri="{A12FA001-AC4F-418D-AE19-62706E023703}">
                      <ahyp:hlinkClr xmlns:ahyp="http://schemas.microsoft.com/office/drawing/2018/hyperlinkcolor" val="tx"/>
                    </a:ext>
                  </a:extLst>
                </a:hlinkClick>
              </a:rPr>
              <a:t>Cloud Foundation YouTube Channel</a:t>
            </a:r>
            <a:endParaRPr sz="1400" i="0" u="none" strike="noStrike" cap="none">
              <a:solidFill>
                <a:schemeClr val="accent3"/>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a:solidFill>
                  <a:srgbClr val="000000"/>
                </a:solidFill>
                <a:latin typeface="Arial"/>
                <a:ea typeface="Arial"/>
                <a:cs typeface="Arial"/>
                <a:sym typeface="Arial"/>
              </a:rPr>
              <a:t>Demos, how-to guides, and more.</a:t>
            </a:r>
            <a:endParaRPr/>
          </a:p>
          <a:p>
            <a:pPr marL="0" marR="0" lvl="0" indent="0" algn="l" rtl="0">
              <a:lnSpc>
                <a:spcPct val="100000"/>
              </a:lnSpc>
              <a:spcBef>
                <a:spcPts val="0"/>
              </a:spcBef>
              <a:spcAft>
                <a:spcPts val="0"/>
              </a:spcAft>
              <a:buClr>
                <a:srgbClr val="666666"/>
              </a:buClr>
              <a:buSzPts val="1260"/>
              <a:buFont typeface="Arial"/>
              <a:buNone/>
            </a:pPr>
            <a:endParaRPr sz="1400" b="0" i="0" u="sng" strike="noStrike" cap="none">
              <a:solidFill>
                <a:srgbClr val="000000"/>
              </a:solidFill>
              <a:latin typeface="Arial"/>
              <a:ea typeface="Arial"/>
              <a:cs typeface="Arial"/>
              <a:sym typeface="Arial"/>
              <a:hlinkClick r:id="rId6">
                <a:extLst>
                  <a:ext uri="{A12FA001-AC4F-418D-AE19-62706E023703}">
                    <ahyp:hlinkClr xmlns:ahyp="http://schemas.microsoft.com/office/drawing/2018/hyperlinkcolor" val="tx"/>
                  </a:ext>
                </a:extLst>
              </a:hlinkClick>
            </a:endParaRPr>
          </a:p>
          <a:p>
            <a:pPr marL="0" marR="0" lvl="0" indent="0" algn="l" rtl="0">
              <a:lnSpc>
                <a:spcPct val="100000"/>
              </a:lnSpc>
              <a:spcBef>
                <a:spcPts val="0"/>
              </a:spcBef>
              <a:spcAft>
                <a:spcPts val="0"/>
              </a:spcAft>
              <a:buClr>
                <a:srgbClr val="666666"/>
              </a:buClr>
              <a:buSzPts val="1260"/>
              <a:buFont typeface="Arial"/>
              <a:buNone/>
            </a:pPr>
            <a:r>
              <a:rPr lang="en-US" sz="1400" i="0" u="sng" strike="noStrike" cap="none">
                <a:solidFill>
                  <a:srgbClr val="0098C7"/>
                </a:solidFill>
                <a:latin typeface="Arial"/>
                <a:ea typeface="Arial"/>
                <a:cs typeface="Arial"/>
                <a:sym typeface="Arial"/>
                <a:hlinkClick r:id="rId6">
                  <a:extLst>
                    <a:ext uri="{A12FA001-AC4F-418D-AE19-62706E023703}">
                      <ahyp:hlinkClr xmlns:ahyp="http://schemas.microsoft.com/office/drawing/2018/hyperlinkcolor" val="tx"/>
                    </a:ext>
                  </a:extLst>
                </a:hlinkClick>
              </a:rPr>
              <a:t>Cloud Foundation </a:t>
            </a:r>
            <a:r>
              <a:rPr lang="en-US" sz="1400" i="0" u="sng" strike="noStrike" cap="none">
                <a:solidFill>
                  <a:schemeClr val="accent3"/>
                </a:solidFill>
                <a:latin typeface="Arial"/>
                <a:ea typeface="Arial"/>
                <a:cs typeface="Arial"/>
                <a:sym typeface="Arial"/>
                <a:hlinkClick r:id="rId6">
                  <a:extLst>
                    <a:ext uri="{A12FA001-AC4F-418D-AE19-62706E023703}">
                      <ahyp:hlinkClr xmlns:ahyp="http://schemas.microsoft.com/office/drawing/2018/hyperlinkcolor" val="tx"/>
                    </a:ext>
                  </a:extLst>
                </a:hlinkClick>
              </a:rPr>
              <a:t>Webinars</a:t>
            </a:r>
            <a:endParaRPr sz="1400" i="0" strike="noStrike" cap="none">
              <a:solidFill>
                <a:schemeClr val="accent3"/>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b="0" i="0" u="none" strike="noStrike" cap="none">
                <a:solidFill>
                  <a:srgbClr val="000000"/>
                </a:solidFill>
                <a:latin typeface="Arial"/>
                <a:ea typeface="Arial"/>
                <a:cs typeface="Arial"/>
                <a:sym typeface="Arial"/>
              </a:rPr>
              <a:t>Register for webinars and</a:t>
            </a:r>
            <a:r>
              <a:rPr lang="en-US" sz="1400">
                <a:solidFill>
                  <a:srgbClr val="000000"/>
                </a:solidFill>
                <a:latin typeface="Arial"/>
                <a:ea typeface="Arial"/>
                <a:cs typeface="Arial"/>
                <a:sym typeface="Arial"/>
              </a:rPr>
              <a:t> watch</a:t>
            </a:r>
            <a:r>
              <a:rPr lang="en-US" sz="1400" b="0" i="0" u="none" strike="noStrike" cap="none">
                <a:solidFill>
                  <a:srgbClr val="000000"/>
                </a:solidFill>
                <a:latin typeface="Arial"/>
                <a:ea typeface="Arial"/>
                <a:cs typeface="Arial"/>
                <a:sym typeface="Arial"/>
              </a:rPr>
              <a:t> replays.</a:t>
            </a:r>
            <a:endParaRPr/>
          </a:p>
          <a:p>
            <a:pPr marL="0" marR="0" lvl="0" indent="0" algn="l" rtl="0">
              <a:lnSpc>
                <a:spcPct val="100000"/>
              </a:lnSpc>
              <a:spcBef>
                <a:spcPts val="0"/>
              </a:spcBef>
              <a:spcAft>
                <a:spcPts val="0"/>
              </a:spcAft>
              <a:buClr>
                <a:srgbClr val="666666"/>
              </a:buClr>
              <a:buSzPts val="1260"/>
              <a:buFont typeface="Arial"/>
              <a:buNone/>
            </a:pPr>
            <a:endParaRPr sz="14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b="0" i="0" u="sng" strike="noStrike" cap="none">
                <a:solidFill>
                  <a:schemeClr val="accent3"/>
                </a:solidFill>
                <a:latin typeface="Arial"/>
                <a:ea typeface="Arial"/>
                <a:cs typeface="Arial"/>
                <a:sym typeface="Arial"/>
                <a:hlinkClick r:id="rId7">
                  <a:extLst>
                    <a:ext uri="{A12FA001-AC4F-418D-AE19-62706E023703}">
                      <ahyp:hlinkClr xmlns:ahyp="http://schemas.microsoft.com/office/drawing/2018/hyperlinkcolor" val="tx"/>
                    </a:ext>
                  </a:extLst>
                </a:hlinkClick>
              </a:rPr>
              <a:t>Frequently Asked Questions</a:t>
            </a:r>
            <a:endParaRPr sz="1400" b="0" i="0" u="none" strike="noStrike" cap="none">
              <a:solidFill>
                <a:schemeClr val="accent3"/>
              </a:solidFill>
              <a:latin typeface="Arial"/>
              <a:ea typeface="Arial"/>
              <a:cs typeface="Arial"/>
              <a:sym typeface="Arial"/>
            </a:endParaRPr>
          </a:p>
          <a:p>
            <a:pPr marL="0" marR="0" lvl="0" indent="0" algn="l" rtl="0">
              <a:lnSpc>
                <a:spcPct val="100000"/>
              </a:lnSpc>
              <a:spcBef>
                <a:spcPts val="1200"/>
              </a:spcBef>
              <a:spcAft>
                <a:spcPts val="0"/>
              </a:spcAft>
              <a:buClr>
                <a:srgbClr val="666666"/>
              </a:buClr>
              <a:buSzPts val="126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66666"/>
              </a:buClr>
              <a:buSzPts val="1260"/>
              <a:buFont typeface="Arial"/>
              <a:buNone/>
            </a:pPr>
            <a:endParaRPr sz="1400" b="0" i="0" u="none" strike="noStrike" cap="none">
              <a:solidFill>
                <a:srgbClr val="000000"/>
              </a:solidFill>
              <a:latin typeface="Arial"/>
              <a:ea typeface="Arial"/>
              <a:cs typeface="Arial"/>
              <a:sym typeface="Arial"/>
            </a:endParaRPr>
          </a:p>
        </p:txBody>
      </p:sp>
      <p:sp>
        <p:nvSpPr>
          <p:cNvPr id="9873" name="Google Shape;9873;p99"/>
          <p:cNvSpPr txBox="1"/>
          <p:nvPr/>
        </p:nvSpPr>
        <p:spPr>
          <a:xfrm>
            <a:off x="8154260" y="2100158"/>
            <a:ext cx="3279144" cy="35226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666666"/>
              </a:buClr>
              <a:buSzPts val="1260"/>
              <a:buFont typeface="Arial"/>
              <a:buNone/>
            </a:pPr>
            <a:r>
              <a:rPr lang="en-US" sz="1400" i="0" u="none" strike="noStrike" cap="none">
                <a:solidFill>
                  <a:schemeClr val="accent3"/>
                </a:solidFill>
                <a:latin typeface="Arial"/>
                <a:ea typeface="Arial"/>
                <a:cs typeface="Arial"/>
                <a:sym typeface="Arial"/>
              </a:rPr>
              <a:t>VCF Experience Day</a:t>
            </a:r>
            <a:endParaRPr/>
          </a:p>
          <a:p>
            <a:pPr marL="0" marR="0" lvl="0" indent="0" algn="l" rtl="0">
              <a:lnSpc>
                <a:spcPct val="100000"/>
              </a:lnSpc>
              <a:spcBef>
                <a:spcPts val="0"/>
              </a:spcBef>
              <a:spcAft>
                <a:spcPts val="0"/>
              </a:spcAft>
              <a:buClr>
                <a:srgbClr val="666666"/>
              </a:buClr>
              <a:buSzPts val="1260"/>
              <a:buFont typeface="Arial"/>
              <a:buNone/>
            </a:pPr>
            <a:r>
              <a:rPr lang="en-US" sz="1400" i="0" u="none" strike="noStrike" cap="none">
                <a:solidFill>
                  <a:schemeClr val="dk1"/>
                </a:solidFill>
                <a:latin typeface="Arial"/>
                <a:ea typeface="Arial"/>
                <a:cs typeface="Arial"/>
                <a:sym typeface="Arial"/>
              </a:rPr>
              <a:t>Unlock the power of VMware Cloud Foundation with our exclusive, expert-led hands-on workshops. These invite-only events offer a deep dive experience to understand VCF comprehensively.</a:t>
            </a:r>
            <a:endParaRPr/>
          </a:p>
          <a:p>
            <a:pPr marL="0" marR="0" lvl="0" indent="0" algn="l" rtl="0">
              <a:lnSpc>
                <a:spcPct val="100000"/>
              </a:lnSpc>
              <a:spcBef>
                <a:spcPts val="0"/>
              </a:spcBef>
              <a:spcAft>
                <a:spcPts val="0"/>
              </a:spcAft>
              <a:buClr>
                <a:srgbClr val="666666"/>
              </a:buClr>
              <a:buSzPts val="126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i="0" u="none" strike="noStrike" cap="none">
                <a:solidFill>
                  <a:schemeClr val="accent3"/>
                </a:solidFill>
                <a:latin typeface="Arial"/>
                <a:ea typeface="Arial"/>
                <a:cs typeface="Arial"/>
                <a:sym typeface="Arial"/>
              </a:rPr>
              <a:t>VCF Holodeck</a:t>
            </a:r>
            <a:endParaRPr/>
          </a:p>
          <a:p>
            <a:pPr marL="0" marR="0" lvl="0" indent="0" algn="l" rtl="0">
              <a:lnSpc>
                <a:spcPct val="100000"/>
              </a:lnSpc>
              <a:spcBef>
                <a:spcPts val="0"/>
              </a:spcBef>
              <a:spcAft>
                <a:spcPts val="0"/>
              </a:spcAft>
              <a:buClr>
                <a:srgbClr val="666666"/>
              </a:buClr>
              <a:buSzPts val="1260"/>
              <a:buFont typeface="Arial"/>
              <a:buNone/>
            </a:pPr>
            <a:r>
              <a:rPr lang="en-US" sz="1400" b="0" i="0" u="none" strike="noStrike" cap="none">
                <a:solidFill>
                  <a:srgbClr val="000000"/>
                </a:solidFill>
                <a:latin typeface="Arial"/>
                <a:ea typeface="Arial"/>
                <a:cs typeface="Arial"/>
                <a:sym typeface="Arial"/>
              </a:rPr>
              <a:t>Experience VCF using a nested deployment on a single vSphere host. Holodeck automates the deployment and configuration of VCF for hands-on experience using self-paced lab modules.</a:t>
            </a:r>
            <a:endParaRPr sz="1400" b="0" i="0" u="none" strike="noStrike" cap="none">
              <a:solidFill>
                <a:srgbClr val="000000"/>
              </a:solidFill>
              <a:latin typeface="Arial"/>
              <a:ea typeface="Arial"/>
              <a:cs typeface="Arial"/>
              <a:sym typeface="Arial"/>
            </a:endParaRPr>
          </a:p>
        </p:txBody>
      </p:sp>
      <p:sp>
        <p:nvSpPr>
          <p:cNvPr id="9874" name="Google Shape;9874;p99"/>
          <p:cNvSpPr txBox="1"/>
          <p:nvPr/>
        </p:nvSpPr>
        <p:spPr>
          <a:xfrm>
            <a:off x="831622" y="2100158"/>
            <a:ext cx="3181578" cy="35226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666666"/>
              </a:buClr>
              <a:buSzPts val="1260"/>
              <a:buFont typeface="Arial"/>
              <a:buNone/>
            </a:pPr>
            <a:r>
              <a:rPr lang="en-US" sz="1400" b="0" i="0" u="sng" strike="noStrike" cap="none">
                <a:solidFill>
                  <a:schemeClr val="accent3"/>
                </a:solidFill>
                <a:latin typeface="Arial"/>
                <a:ea typeface="Arial"/>
                <a:cs typeface="Arial"/>
                <a:sym typeface="Arial"/>
                <a:hlinkClick r:id="rId8">
                  <a:extLst>
                    <a:ext uri="{A12FA001-AC4F-418D-AE19-62706E023703}">
                      <ahyp:hlinkClr xmlns:ahyp="http://schemas.microsoft.com/office/drawing/2018/hyperlinkcolor" val="tx"/>
                    </a:ext>
                  </a:extLst>
                </a:hlinkClick>
              </a:rPr>
              <a:t>VCF Overview</a:t>
            </a:r>
            <a:endParaRPr sz="1400" b="0" i="0" u="none" strike="noStrike" cap="none">
              <a:solidFill>
                <a:schemeClr val="accent3"/>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b="0" i="0" u="none" strike="noStrike" cap="none">
                <a:solidFill>
                  <a:srgbClr val="000000"/>
                </a:solidFill>
                <a:latin typeface="Arial"/>
                <a:ea typeface="Arial"/>
                <a:cs typeface="Arial"/>
                <a:sym typeface="Arial"/>
              </a:rPr>
              <a:t>Get started with documentation and videos to learn about VCF.</a:t>
            </a:r>
            <a:endParaRPr/>
          </a:p>
          <a:p>
            <a:pPr marL="0" marR="0" lvl="0" indent="0" algn="l" rtl="0">
              <a:lnSpc>
                <a:spcPct val="100000"/>
              </a:lnSpc>
              <a:spcBef>
                <a:spcPts val="0"/>
              </a:spcBef>
              <a:spcAft>
                <a:spcPts val="0"/>
              </a:spcAft>
              <a:buClr>
                <a:srgbClr val="666666"/>
              </a:buClr>
              <a:buSzPts val="1260"/>
              <a:buFont typeface="Arial"/>
              <a:buNone/>
            </a:pPr>
            <a:endParaRPr sz="14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u="sng">
                <a:solidFill>
                  <a:schemeClr val="accent3"/>
                </a:solidFill>
                <a:latin typeface="Arial"/>
                <a:ea typeface="Arial"/>
                <a:cs typeface="Arial"/>
                <a:sym typeface="Arial"/>
                <a:hlinkClick r:id="rId9">
                  <a:extLst>
                    <a:ext uri="{A12FA001-AC4F-418D-AE19-62706E023703}">
                      <ahyp:hlinkClr xmlns:ahyp="http://schemas.microsoft.com/office/drawing/2018/hyperlinkcolor" val="tx"/>
                    </a:ext>
                  </a:extLst>
                </a:hlinkClick>
              </a:rPr>
              <a:t>VCF Data Sheet</a:t>
            </a:r>
            <a:endParaRPr sz="1400">
              <a:solidFill>
                <a:schemeClr val="accent3"/>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a:solidFill>
                  <a:srgbClr val="000000"/>
                </a:solidFill>
                <a:latin typeface="Arial"/>
                <a:ea typeface="Arial"/>
                <a:cs typeface="Arial"/>
                <a:sym typeface="Arial"/>
              </a:rPr>
              <a:t>T</a:t>
            </a:r>
            <a:r>
              <a:rPr lang="en-US" sz="1400" b="0" i="0" u="none" strike="noStrike" cap="none">
                <a:solidFill>
                  <a:srgbClr val="000000"/>
                </a:solidFill>
                <a:latin typeface="Arial"/>
                <a:ea typeface="Arial"/>
                <a:cs typeface="Arial"/>
                <a:sym typeface="Arial"/>
              </a:rPr>
              <a:t>his datasheet describes VCF and its key use cases.</a:t>
            </a:r>
            <a:endParaRPr/>
          </a:p>
          <a:p>
            <a:pPr marL="0" marR="0" lvl="0" indent="0" algn="l" rtl="0">
              <a:lnSpc>
                <a:spcPct val="100000"/>
              </a:lnSpc>
              <a:spcBef>
                <a:spcPts val="0"/>
              </a:spcBef>
              <a:spcAft>
                <a:spcPts val="0"/>
              </a:spcAft>
              <a:buClr>
                <a:srgbClr val="666666"/>
              </a:buClr>
              <a:buSzPts val="126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u="sng">
                <a:solidFill>
                  <a:schemeClr val="accent3"/>
                </a:solidFill>
                <a:latin typeface="Arial"/>
                <a:ea typeface="Arial"/>
                <a:cs typeface="Arial"/>
                <a:sym typeface="Arial"/>
                <a:hlinkClick r:id="rId10">
                  <a:extLst>
                    <a:ext uri="{A12FA001-AC4F-418D-AE19-62706E023703}">
                      <ahyp:hlinkClr xmlns:ahyp="http://schemas.microsoft.com/office/drawing/2018/hyperlinkcolor" val="tx"/>
                    </a:ext>
                  </a:extLst>
                </a:hlinkClick>
              </a:rPr>
              <a:t>TCO White Paper</a:t>
            </a:r>
            <a:endParaRPr sz="1400">
              <a:solidFill>
                <a:schemeClr val="accent3"/>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b="0" i="0" u="none" strike="noStrike" cap="none">
                <a:solidFill>
                  <a:srgbClr val="000000"/>
                </a:solidFill>
                <a:latin typeface="Arial"/>
                <a:ea typeface="Arial"/>
                <a:cs typeface="Arial"/>
                <a:sym typeface="Arial"/>
              </a:rPr>
              <a:t>Learn how to save with VCF in this total cost of ownership whitepaper.</a:t>
            </a:r>
            <a:endParaRPr/>
          </a:p>
          <a:p>
            <a:pPr marL="0" marR="0" lvl="0" indent="0" algn="l" rtl="0">
              <a:lnSpc>
                <a:spcPct val="100000"/>
              </a:lnSpc>
              <a:spcBef>
                <a:spcPts val="0"/>
              </a:spcBef>
              <a:spcAft>
                <a:spcPts val="0"/>
              </a:spcAft>
              <a:buClr>
                <a:srgbClr val="666666"/>
              </a:buClr>
              <a:buSzPts val="126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u="sng">
                <a:solidFill>
                  <a:schemeClr val="accent3"/>
                </a:solidFill>
                <a:latin typeface="Arial"/>
                <a:ea typeface="Arial"/>
                <a:cs typeface="Arial"/>
                <a:sym typeface="Arial"/>
                <a:hlinkClick r:id="rId11">
                  <a:extLst>
                    <a:ext uri="{A12FA001-AC4F-418D-AE19-62706E023703}">
                      <ahyp:hlinkClr xmlns:ahyp="http://schemas.microsoft.com/office/drawing/2018/hyperlinkcolor" val="tx"/>
                    </a:ext>
                  </a:extLst>
                </a:hlinkClick>
              </a:rPr>
              <a:t>Total Economic Impact Study</a:t>
            </a:r>
            <a:endParaRPr sz="1400">
              <a:solidFill>
                <a:schemeClr val="accent3"/>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260"/>
              <a:buFont typeface="Arial"/>
              <a:buNone/>
            </a:pPr>
            <a:r>
              <a:rPr lang="en-US" sz="1400" b="0" i="0" u="none" strike="noStrike" cap="none">
                <a:solidFill>
                  <a:srgbClr val="000000"/>
                </a:solidFill>
                <a:latin typeface="Arial"/>
                <a:ea typeface="Arial"/>
                <a:cs typeface="Arial"/>
                <a:sym typeface="Arial"/>
              </a:rPr>
              <a:t>Forester's study on the total economic impact of VCF.</a:t>
            </a:r>
            <a:endParaRPr sz="1400" b="0" i="0" u="none" strike="noStrike" cap="none">
              <a:solidFill>
                <a:srgbClr val="000000"/>
              </a:solidFill>
              <a:latin typeface="Arial"/>
              <a:ea typeface="Arial"/>
              <a:cs typeface="Arial"/>
              <a:sym typeface="Arial"/>
            </a:endParaRPr>
          </a:p>
        </p:txBody>
      </p:sp>
      <p:sp>
        <p:nvSpPr>
          <p:cNvPr id="9875" name="Google Shape;9875;p99"/>
          <p:cNvSpPr/>
          <p:nvPr/>
        </p:nvSpPr>
        <p:spPr>
          <a:xfrm>
            <a:off x="3873500" y="1752600"/>
            <a:ext cx="246555" cy="5334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9876" name="Google Shape;9876;p99"/>
          <p:cNvSpPr/>
          <p:nvPr/>
        </p:nvSpPr>
        <p:spPr>
          <a:xfrm>
            <a:off x="7552907" y="1744710"/>
            <a:ext cx="246555" cy="5334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9877" name="Google Shape;9877;p99"/>
          <p:cNvSpPr/>
          <p:nvPr/>
        </p:nvSpPr>
        <p:spPr>
          <a:xfrm>
            <a:off x="11273830" y="1716949"/>
            <a:ext cx="246555" cy="5334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9878" name="Google Shape;9878;p99"/>
          <p:cNvSpPr/>
          <p:nvPr/>
        </p:nvSpPr>
        <p:spPr>
          <a:xfrm>
            <a:off x="676594" y="1100321"/>
            <a:ext cx="3503889" cy="577577"/>
          </a:xfrm>
          <a:custGeom>
            <a:avLst/>
            <a:gdLst/>
            <a:ahLst/>
            <a:cxnLst/>
            <a:rect l="l" t="t" r="r" b="b"/>
            <a:pathLst>
              <a:path w="3267697" h="577877" extrusionOk="0">
                <a:moveTo>
                  <a:pt x="0" y="262671"/>
                </a:moveTo>
                <a:cubicBezTo>
                  <a:pt x="0" y="117602"/>
                  <a:pt x="136729" y="0"/>
                  <a:pt x="305392" y="0"/>
                </a:cubicBezTo>
                <a:lnTo>
                  <a:pt x="2962305" y="0"/>
                </a:lnTo>
                <a:cubicBezTo>
                  <a:pt x="3130973" y="0"/>
                  <a:pt x="3267697" y="117602"/>
                  <a:pt x="3267697" y="262671"/>
                </a:cubicBezTo>
                <a:lnTo>
                  <a:pt x="3267697" y="577877"/>
                </a:lnTo>
                <a:lnTo>
                  <a:pt x="0" y="577877"/>
                </a:lnTo>
                <a:lnTo>
                  <a:pt x="0" y="262671"/>
                </a:lnTo>
                <a:close/>
              </a:path>
            </a:pathLst>
          </a:custGeom>
          <a:solidFill>
            <a:schemeClr val="accent2"/>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798">
              <a:solidFill>
                <a:srgbClr val="000001"/>
              </a:solidFill>
              <a:latin typeface="Arial"/>
              <a:ea typeface="Arial"/>
              <a:cs typeface="Arial"/>
              <a:sym typeface="Arial"/>
            </a:endParaRPr>
          </a:p>
        </p:txBody>
      </p:sp>
      <p:sp>
        <p:nvSpPr>
          <p:cNvPr id="9879" name="Google Shape;9879;p99"/>
          <p:cNvSpPr txBox="1"/>
          <p:nvPr/>
        </p:nvSpPr>
        <p:spPr>
          <a:xfrm>
            <a:off x="1243039" y="1219795"/>
            <a:ext cx="2371011" cy="320088"/>
          </a:xfrm>
          <a:prstGeom prst="rect">
            <a:avLst/>
          </a:prstGeom>
          <a:noFill/>
          <a:ln>
            <a:noFill/>
          </a:ln>
        </p:spPr>
        <p:txBody>
          <a:bodyPr spcFirstLastPara="1" wrap="square" lIns="0" tIns="0" rIns="0" bIns="0" anchor="ctr" anchorCtr="0">
            <a:spAutoFit/>
          </a:bodyPr>
          <a:lstStyle/>
          <a:p>
            <a:pPr marL="0" marR="0" lvl="0" indent="0" algn="ctr" rtl="0">
              <a:lnSpc>
                <a:spcPct val="130000"/>
              </a:lnSpc>
              <a:spcBef>
                <a:spcPts val="0"/>
              </a:spcBef>
              <a:spcAft>
                <a:spcPts val="0"/>
              </a:spcAft>
              <a:buNone/>
            </a:pPr>
            <a:r>
              <a:rPr lang="en-US" sz="1600">
                <a:solidFill>
                  <a:srgbClr val="FFFFFF"/>
                </a:solidFill>
                <a:latin typeface="Arial"/>
                <a:ea typeface="Arial"/>
                <a:cs typeface="Arial"/>
                <a:sym typeface="Arial"/>
              </a:rPr>
              <a:t>Basic</a:t>
            </a:r>
            <a:endParaRPr sz="1400">
              <a:solidFill>
                <a:srgbClr val="000000"/>
              </a:solidFill>
              <a:latin typeface="Arial"/>
              <a:ea typeface="Arial"/>
              <a:cs typeface="Arial"/>
              <a:sym typeface="Arial"/>
            </a:endParaRPr>
          </a:p>
        </p:txBody>
      </p:sp>
      <p:grpSp>
        <p:nvGrpSpPr>
          <p:cNvPr id="9880" name="Google Shape;9880;p99"/>
          <p:cNvGrpSpPr/>
          <p:nvPr/>
        </p:nvGrpSpPr>
        <p:grpSpPr>
          <a:xfrm>
            <a:off x="8076924" y="1091050"/>
            <a:ext cx="3503889" cy="577577"/>
            <a:chOff x="676594" y="1455921"/>
            <a:chExt cx="3265995" cy="577577"/>
          </a:xfrm>
        </p:grpSpPr>
        <p:sp>
          <p:nvSpPr>
            <p:cNvPr id="9881" name="Google Shape;9881;p99"/>
            <p:cNvSpPr/>
            <p:nvPr/>
          </p:nvSpPr>
          <p:spPr>
            <a:xfrm>
              <a:off x="676594" y="1455921"/>
              <a:ext cx="3265995" cy="577577"/>
            </a:xfrm>
            <a:custGeom>
              <a:avLst/>
              <a:gdLst/>
              <a:ahLst/>
              <a:cxnLst/>
              <a:rect l="l" t="t" r="r" b="b"/>
              <a:pathLst>
                <a:path w="3267697" h="577877" extrusionOk="0">
                  <a:moveTo>
                    <a:pt x="0" y="262671"/>
                  </a:moveTo>
                  <a:cubicBezTo>
                    <a:pt x="0" y="117602"/>
                    <a:pt x="136729" y="0"/>
                    <a:pt x="305392" y="0"/>
                  </a:cubicBezTo>
                  <a:lnTo>
                    <a:pt x="2962305" y="0"/>
                  </a:lnTo>
                  <a:cubicBezTo>
                    <a:pt x="3130973" y="0"/>
                    <a:pt x="3267697" y="117602"/>
                    <a:pt x="3267697" y="262671"/>
                  </a:cubicBezTo>
                  <a:lnTo>
                    <a:pt x="3267697" y="577877"/>
                  </a:lnTo>
                  <a:lnTo>
                    <a:pt x="0" y="577877"/>
                  </a:lnTo>
                  <a:lnTo>
                    <a:pt x="0" y="262671"/>
                  </a:lnTo>
                  <a:close/>
                </a:path>
              </a:pathLst>
            </a:custGeom>
            <a:solidFill>
              <a:schemeClr val="accent4"/>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798">
                <a:solidFill>
                  <a:srgbClr val="000001"/>
                </a:solidFill>
                <a:latin typeface="Arial"/>
                <a:ea typeface="Arial"/>
                <a:cs typeface="Arial"/>
                <a:sym typeface="Arial"/>
              </a:endParaRPr>
            </a:p>
          </p:txBody>
        </p:sp>
        <p:sp>
          <p:nvSpPr>
            <p:cNvPr id="9882" name="Google Shape;9882;p99"/>
            <p:cNvSpPr txBox="1"/>
            <p:nvPr/>
          </p:nvSpPr>
          <p:spPr>
            <a:xfrm>
              <a:off x="1204581" y="1575395"/>
              <a:ext cx="2210033" cy="320088"/>
            </a:xfrm>
            <a:prstGeom prst="rect">
              <a:avLst/>
            </a:prstGeom>
            <a:noFill/>
            <a:ln>
              <a:noFill/>
            </a:ln>
          </p:spPr>
          <p:txBody>
            <a:bodyPr spcFirstLastPara="1" wrap="square" lIns="0" tIns="0" rIns="0" bIns="0" anchor="ctr" anchorCtr="0">
              <a:spAutoFit/>
            </a:bodyPr>
            <a:lstStyle/>
            <a:p>
              <a:pPr marL="0" marR="0" lvl="0" indent="0" algn="ctr" rtl="0">
                <a:lnSpc>
                  <a:spcPct val="130000"/>
                </a:lnSpc>
                <a:spcBef>
                  <a:spcPts val="0"/>
                </a:spcBef>
                <a:spcAft>
                  <a:spcPts val="0"/>
                </a:spcAft>
                <a:buNone/>
              </a:pPr>
              <a:r>
                <a:rPr lang="en-US" sz="1600">
                  <a:solidFill>
                    <a:srgbClr val="FFFFFF"/>
                  </a:solidFill>
                  <a:latin typeface="Arial"/>
                  <a:ea typeface="Arial"/>
                  <a:cs typeface="Arial"/>
                  <a:sym typeface="Arial"/>
                </a:rPr>
                <a:t>Advanced</a:t>
              </a:r>
              <a:endParaRPr sz="1400">
                <a:solidFill>
                  <a:srgbClr val="000000"/>
                </a:solidFill>
                <a:latin typeface="Arial"/>
                <a:ea typeface="Arial"/>
                <a:cs typeface="Arial"/>
                <a:sym typeface="Arial"/>
              </a:endParaRPr>
            </a:p>
          </p:txBody>
        </p:sp>
      </p:grpSp>
      <p:grpSp>
        <p:nvGrpSpPr>
          <p:cNvPr id="9883" name="Google Shape;9883;p99"/>
          <p:cNvGrpSpPr/>
          <p:nvPr/>
        </p:nvGrpSpPr>
        <p:grpSpPr>
          <a:xfrm>
            <a:off x="4372174" y="1098823"/>
            <a:ext cx="3503889" cy="577577"/>
            <a:chOff x="676594" y="1455921"/>
            <a:chExt cx="3265995" cy="577577"/>
          </a:xfrm>
        </p:grpSpPr>
        <p:sp>
          <p:nvSpPr>
            <p:cNvPr id="9884" name="Google Shape;9884;p99"/>
            <p:cNvSpPr/>
            <p:nvPr/>
          </p:nvSpPr>
          <p:spPr>
            <a:xfrm>
              <a:off x="676594" y="1455921"/>
              <a:ext cx="3265995" cy="577577"/>
            </a:xfrm>
            <a:custGeom>
              <a:avLst/>
              <a:gdLst/>
              <a:ahLst/>
              <a:cxnLst/>
              <a:rect l="l" t="t" r="r" b="b"/>
              <a:pathLst>
                <a:path w="3267697" h="577877" extrusionOk="0">
                  <a:moveTo>
                    <a:pt x="0" y="262671"/>
                  </a:moveTo>
                  <a:cubicBezTo>
                    <a:pt x="0" y="117602"/>
                    <a:pt x="136729" y="0"/>
                    <a:pt x="305392" y="0"/>
                  </a:cubicBezTo>
                  <a:lnTo>
                    <a:pt x="2962305" y="0"/>
                  </a:lnTo>
                  <a:cubicBezTo>
                    <a:pt x="3130973" y="0"/>
                    <a:pt x="3267697" y="117602"/>
                    <a:pt x="3267697" y="262671"/>
                  </a:cubicBezTo>
                  <a:lnTo>
                    <a:pt x="3267697" y="577877"/>
                  </a:lnTo>
                  <a:lnTo>
                    <a:pt x="0" y="577877"/>
                  </a:lnTo>
                  <a:lnTo>
                    <a:pt x="0" y="262671"/>
                  </a:lnTo>
                  <a:close/>
                </a:path>
              </a:pathLst>
            </a:custGeom>
            <a:solidFill>
              <a:srgbClr val="0098C7"/>
            </a:solidFill>
            <a:ln>
              <a:noFill/>
            </a:ln>
          </p:spPr>
          <p:txBody>
            <a:bodyPr spcFirstLastPara="1" wrap="square" lIns="91400" tIns="45675" rIns="91400" bIns="45675" anchor="ctr" anchorCtr="0">
              <a:noAutofit/>
            </a:bodyPr>
            <a:lstStyle/>
            <a:p>
              <a:pPr marL="0" marR="0" lvl="0" indent="0" algn="l" rtl="0">
                <a:spcBef>
                  <a:spcPts val="0"/>
                </a:spcBef>
                <a:spcAft>
                  <a:spcPts val="0"/>
                </a:spcAft>
                <a:buNone/>
              </a:pPr>
              <a:endParaRPr sz="1798">
                <a:solidFill>
                  <a:srgbClr val="000001"/>
                </a:solidFill>
                <a:latin typeface="Arial"/>
                <a:ea typeface="Arial"/>
                <a:cs typeface="Arial"/>
                <a:sym typeface="Arial"/>
              </a:endParaRPr>
            </a:p>
          </p:txBody>
        </p:sp>
        <p:sp>
          <p:nvSpPr>
            <p:cNvPr id="9885" name="Google Shape;9885;p99"/>
            <p:cNvSpPr txBox="1"/>
            <p:nvPr/>
          </p:nvSpPr>
          <p:spPr>
            <a:xfrm>
              <a:off x="1204581" y="1575395"/>
              <a:ext cx="2210033" cy="320088"/>
            </a:xfrm>
            <a:prstGeom prst="rect">
              <a:avLst/>
            </a:prstGeom>
            <a:noFill/>
            <a:ln>
              <a:noFill/>
            </a:ln>
          </p:spPr>
          <p:txBody>
            <a:bodyPr spcFirstLastPara="1" wrap="square" lIns="0" tIns="0" rIns="0" bIns="0" anchor="ctr" anchorCtr="0">
              <a:spAutoFit/>
            </a:bodyPr>
            <a:lstStyle/>
            <a:p>
              <a:pPr marL="0" marR="0" lvl="0" indent="0" algn="ctr" rtl="0">
                <a:lnSpc>
                  <a:spcPct val="130000"/>
                </a:lnSpc>
                <a:spcBef>
                  <a:spcPts val="0"/>
                </a:spcBef>
                <a:spcAft>
                  <a:spcPts val="0"/>
                </a:spcAft>
                <a:buNone/>
              </a:pPr>
              <a:r>
                <a:rPr lang="en-US" sz="1600">
                  <a:solidFill>
                    <a:srgbClr val="FFFFFF"/>
                  </a:solidFill>
                  <a:latin typeface="Arial"/>
                  <a:ea typeface="Arial"/>
                  <a:cs typeface="Arial"/>
                  <a:sym typeface="Arial"/>
                </a:rPr>
                <a:t>Intermediate</a:t>
              </a:r>
              <a:endParaRPr sz="1400">
                <a:solidFill>
                  <a:srgbClr val="000000"/>
                </a:solidFill>
                <a:latin typeface="Arial"/>
                <a:ea typeface="Arial"/>
                <a:cs typeface="Arial"/>
                <a:sym typeface="Arial"/>
              </a:endParaRPr>
            </a:p>
          </p:txBody>
        </p:sp>
      </p:grpSp>
      <p:cxnSp>
        <p:nvCxnSpPr>
          <p:cNvPr id="9886" name="Google Shape;9886;p99"/>
          <p:cNvCxnSpPr/>
          <p:nvPr/>
        </p:nvCxnSpPr>
        <p:spPr>
          <a:xfrm>
            <a:off x="685777" y="1629383"/>
            <a:ext cx="0" cy="4215240"/>
          </a:xfrm>
          <a:prstGeom prst="straightConnector1">
            <a:avLst/>
          </a:prstGeom>
          <a:noFill/>
          <a:ln w="25400" cap="flat" cmpd="sng">
            <a:solidFill>
              <a:srgbClr val="ECFCFF"/>
            </a:solidFill>
            <a:prstDash val="solid"/>
            <a:miter lim="800000"/>
            <a:headEnd type="none" w="sm" len="sm"/>
            <a:tailEnd type="none" w="sm" len="sm"/>
          </a:ln>
        </p:spPr>
      </p:cxnSp>
      <p:cxnSp>
        <p:nvCxnSpPr>
          <p:cNvPr id="9887" name="Google Shape;9887;p99"/>
          <p:cNvCxnSpPr/>
          <p:nvPr/>
        </p:nvCxnSpPr>
        <p:spPr>
          <a:xfrm>
            <a:off x="4381355" y="1668623"/>
            <a:ext cx="0" cy="4176000"/>
          </a:xfrm>
          <a:prstGeom prst="straightConnector1">
            <a:avLst/>
          </a:prstGeom>
          <a:noFill/>
          <a:ln w="25400" cap="flat" cmpd="sng">
            <a:solidFill>
              <a:srgbClr val="ECFCFF"/>
            </a:solidFill>
            <a:prstDash val="solid"/>
            <a:miter lim="800000"/>
            <a:headEnd type="none" w="sm" len="sm"/>
            <a:tailEnd type="none" w="sm" len="sm"/>
          </a:ln>
        </p:spPr>
      </p:cxnSp>
      <p:cxnSp>
        <p:nvCxnSpPr>
          <p:cNvPr id="9888" name="Google Shape;9888;p99"/>
          <p:cNvCxnSpPr/>
          <p:nvPr/>
        </p:nvCxnSpPr>
        <p:spPr>
          <a:xfrm>
            <a:off x="8087374" y="1663860"/>
            <a:ext cx="0" cy="4176000"/>
          </a:xfrm>
          <a:prstGeom prst="straightConnector1">
            <a:avLst/>
          </a:prstGeom>
          <a:noFill/>
          <a:ln w="25400" cap="flat" cmpd="sng">
            <a:solidFill>
              <a:srgbClr val="ECFCFF"/>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893"/>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VMware">
      <a:dk1>
        <a:srgbClr val="717074"/>
      </a:dk1>
      <a:lt1>
        <a:srgbClr val="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TaxCatchAll xmlns="78c16552-cbf3-4f1f-97ed-388b5d2a083d"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Props1.xml><?xml version="1.0" encoding="utf-8"?>
<ds:datastoreItem xmlns:ds="http://schemas.openxmlformats.org/officeDocument/2006/customXml" ds:itemID="{F2BB74EB-629E-404E-B8BE-B0483BB864DE}"/>
</file>

<file path=customXml/itemProps2.xml><?xml version="1.0" encoding="utf-8"?>
<ds:datastoreItem xmlns:ds="http://schemas.openxmlformats.org/officeDocument/2006/customXml" ds:itemID="{8C1B7D30-5A00-49FB-8844-CB8CC646AAA9}"/>
</file>

<file path=customXml/itemProps3.xml><?xml version="1.0" encoding="utf-8"?>
<ds:datastoreItem xmlns:ds="http://schemas.openxmlformats.org/officeDocument/2006/customXml" ds:itemID="{B6127039-F059-471C-99CD-D753890BC113}"/>
</file>

<file path=docProps/app.xml><?xml version="1.0" encoding="utf-8"?>
<Properties xmlns="http://schemas.openxmlformats.org/officeDocument/2006/extended-properties" xmlns:vt="http://schemas.openxmlformats.org/officeDocument/2006/docPropsVTypes">
  <TotalTime>175</TotalTime>
  <Words>22503</Words>
  <Application>Microsoft Macintosh PowerPoint</Application>
  <PresentationFormat>Custom</PresentationFormat>
  <Paragraphs>1940</Paragraphs>
  <Slides>52</Slides>
  <Notes>52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52</vt:i4>
      </vt:variant>
    </vt:vector>
  </HeadingPairs>
  <TitlesOfParts>
    <vt:vector size="64" baseType="lpstr">
      <vt:lpstr>Arial</vt:lpstr>
      <vt:lpstr>Helvetica Neue</vt:lpstr>
      <vt:lpstr>Roboto</vt:lpstr>
      <vt:lpstr>Open Sans</vt:lpstr>
      <vt:lpstr>Calibri</vt:lpstr>
      <vt:lpstr>Open Sans Light</vt:lpstr>
      <vt:lpstr>Courier New</vt:lpstr>
      <vt:lpstr>Metropolis</vt:lpstr>
      <vt:lpstr>Arial Rounded</vt:lpstr>
      <vt:lpstr>NTR</vt:lpstr>
      <vt:lpstr>Helvetica Neue Light</vt:lpstr>
      <vt:lpstr>VMware 2025 Light</vt:lpstr>
      <vt:lpstr>VMware Cloud Foundation 9.0</vt:lpstr>
      <vt:lpstr>Deliver Self-service IaaS </vt:lpstr>
      <vt:lpstr>PowerPoint Presentation</vt:lpstr>
      <vt:lpstr>Supervisor Services</vt:lpstr>
      <vt:lpstr>Modern Service Provider Experience</vt:lpstr>
      <vt:lpstr>Streamlined Processes for Efficient Organization Management</vt:lpstr>
      <vt:lpstr>Provide Out-of-the-Box IaaS Services </vt:lpstr>
      <vt:lpstr>Balancing Access and Efficiency for Optimal Resource Management</vt:lpstr>
      <vt:lpstr>Enforce Best Practices for Resource and Security Configurations</vt:lpstr>
      <vt:lpstr>Application Operations visibility</vt:lpstr>
      <vt:lpstr>Enforce Infrastructure Governance and Enable Self-service</vt:lpstr>
      <vt:lpstr>Simplify the Content Management Experience</vt:lpstr>
      <vt:lpstr>Build a Secure, Compliant and Efficient Private Cloud</vt:lpstr>
      <vt:lpstr>Support Network Governance and Enable Self-service Networking</vt:lpstr>
      <vt:lpstr>Migrations </vt:lpstr>
      <vt:lpstr>Seamless Migration Planning and Execution </vt:lpstr>
      <vt:lpstr>Non-Disruptive Workload Migration to VPC</vt:lpstr>
      <vt:lpstr>Workload Migration to Supervisor Cluster</vt:lpstr>
      <vt:lpstr>Non-Disruptive Workload Migration to a Federated Environment</vt:lpstr>
      <vt:lpstr>Non-Disruptive Workload Migration from NSX VLAN Segments</vt:lpstr>
      <vt:lpstr>Simplified Deployment Experience with HCX Unified Manager</vt:lpstr>
      <vt:lpstr>What’s New in VMware Cloud Foundation 9</vt:lpstr>
      <vt:lpstr>Infrastructure for Kubernetes</vt:lpstr>
      <vt:lpstr>Unlock Cloud Experience with vSphere Supervisor</vt:lpstr>
      <vt:lpstr>Enable vSphere Supervisor during Workload Domain creation</vt:lpstr>
      <vt:lpstr>Provide workload isolation with VPC based vSphere Namespace</vt:lpstr>
      <vt:lpstr>Creating Isolation between Control Plane and Workloads</vt:lpstr>
      <vt:lpstr>Empower Platform Operators </vt:lpstr>
      <vt:lpstr>Update vSphere Supervisor independently</vt:lpstr>
      <vt:lpstr>Private AI</vt:lpstr>
      <vt:lpstr>PowerPoint Presentation</vt:lpstr>
      <vt:lpstr>Private AI Services (PAIS)</vt:lpstr>
      <vt:lpstr>What’s New in VMware Cloud Foundation 9</vt:lpstr>
      <vt:lpstr>One-Stop Dashboard for Baseline Security Operations</vt:lpstr>
      <vt:lpstr>Extend VM-Level Data Protection to Remote vSAN Clusters</vt:lpstr>
      <vt:lpstr>Unique Approach for Protecting VMs and Data across Clusters</vt:lpstr>
      <vt:lpstr>PowerPoint Presentation</vt:lpstr>
      <vt:lpstr>PowerPoint Presentation</vt:lpstr>
      <vt:lpstr>Licensing Overview</vt:lpstr>
      <vt:lpstr>Overview of License Changes with VCF 9</vt:lpstr>
      <vt:lpstr>Cloud Integration with the Business Services Console Portal</vt:lpstr>
      <vt:lpstr>Centralized License Activation with VCF Operations</vt:lpstr>
      <vt:lpstr>Subscription Expiration Behavior</vt:lpstr>
      <vt:lpstr>Licensing Considerations for Upgrading to VCF 9</vt:lpstr>
      <vt:lpstr>Advanced Services</vt:lpstr>
      <vt:lpstr>Delivering the Modern Private Cloud</vt:lpstr>
      <vt:lpstr>PowerPoint Presentation</vt:lpstr>
      <vt:lpstr>Resources</vt:lpstr>
      <vt:lpstr>Get hands-on experience with VMware Cloud Foundation</vt:lpstr>
      <vt:lpstr>VMware Cloud Foundation Resources</vt:lpstr>
      <vt:lpstr>VMware Cloud Foundation Training Path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Andrew Firth</dc:creator>
  <cp:lastModifiedBy>Jonathan McDonald</cp:lastModifiedBy>
  <cp:revision>11</cp:revision>
  <dcterms:created xsi:type="dcterms:W3CDTF">2025-05-08T02:40:33Z</dcterms:created>
  <dcterms:modified xsi:type="dcterms:W3CDTF">2025-05-29T11:07:41Z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MediaServiceImageTags">
    <vt:lpwstr/>
  </property>
</Properties>
</file>